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package/2006/relationships/metadata/core-properties" Target="docProps/core.xml" TargetMode="Internal"></Relationship><Relationship Id="rId2" Type="http://schemas.openxmlformats.org/officeDocument/2006/relationships/extended-properties" Target="docProps/app.xml" TargetMode="Internal"></Relationship><Relationship Id="rId3" Type="http://schemas.openxmlformats.org/officeDocument/2006/relationships/officeDocument" Target="ppt/presentation.xml" TargetMode="Interna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</p:sldIdLst>
  <p:sldSz cx="7772400" cy="10058400" type="custom"/>
  <p:notesSz cx="6858000" cy="9144000"/>
  <p:defaultTextStyle>
    <a:defPPr>
      <a:defRPr lang="ko-KR"/>
    </a:defPPr>
    <a:lvl1pPr algn="l" marL="0" indent="0" defTabSz="914400">
      <a:buNone/>
      <a:defRPr lang="ko-KR" smtClean="0" sz="1800" baseline="0">
        <a:solidFill>
          <a:srgbClr val="000000"/>
        </a:solidFill>
        <a:latin typeface="SimSun"/>
        <a:ea typeface="SimSun"/>
      </a:defRPr>
    </a:lvl1pPr>
    <a:lvl2pPr lvl="1" marL="457200" indent="0" defTabSz="914400">
      <a:defRPr lang="ko-KR" smtClean="0"/>
    </a:lvl2pPr>
    <a:lvl3pPr lvl="2" marL="914400" indent="0" defTabSz="914400">
      <a:defRPr lang="ko-KR" smtClean="0"/>
    </a:lvl3pPr>
    <a:lvl4pPr lvl="3" marL="1371600" indent="0" defTabSz="914400">
      <a:defRPr lang="ko-KR" smtClean="0"/>
    </a:lvl4pPr>
    <a:lvl5pPr lvl="4" marL="1828800" indent="0" defTabSz="914400">
      <a:defRPr lang="ko-KR" smtClean="0"/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6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slideMaster" Target="slideMasters/slideMaster1.xml" TargetMode="Internal"></Relationship><Relationship Id="rId2" Type="http://schemas.openxmlformats.org/officeDocument/2006/relationships/slide" Target="slides/slide1.xml" TargetMode="Internal"></Relationship><Relationship Id="rId3" Type="http://schemas.openxmlformats.org/officeDocument/2006/relationships/slide" Target="slides/slide2.xml" TargetMode="Internal"></Relationship><Relationship Id="rId4" Type="http://schemas.openxmlformats.org/officeDocument/2006/relationships/slide" Target="slides/slide3.xml" TargetMode="Internal"></Relationship><Relationship Id="rId5" Type="http://schemas.openxmlformats.org/officeDocument/2006/relationships/slide" Target="slides/slide4.xml" TargetMode="Internal"></Relationship><Relationship Id="rId6" Type="http://schemas.openxmlformats.org/officeDocument/2006/relationships/slide" Target="slides/slide5.xml" TargetMode="Internal"></Relationship><Relationship Id="rId7" Type="http://schemas.openxmlformats.org/officeDocument/2006/relationships/slide" Target="slides/slide6.xml" TargetMode="Internal"></Relationship><Relationship Id="rId8" Type="http://schemas.openxmlformats.org/officeDocument/2006/relationships/slide" Target="slides/slide7.xml" TargetMode="Internal"></Relationship><Relationship Id="rId9" Type="http://schemas.openxmlformats.org/officeDocument/2006/relationships/slide" Target="slides/slide8.xml" TargetMode="Internal"></Relationship><Relationship Id="rId10" Type="http://schemas.openxmlformats.org/officeDocument/2006/relationships/slide" Target="slides/slide9.xml" TargetMode="Internal"></Relationship><Relationship Id="rId11" Type="http://schemas.openxmlformats.org/officeDocument/2006/relationships/slide" Target="slides/slide10.xml" TargetMode="Internal"></Relationship><Relationship Id="rId12" Type="http://schemas.openxmlformats.org/officeDocument/2006/relationships/slide" Target="slides/slide11.xml" TargetMode="Internal"></Relationship><Relationship Id="rId13" Type="http://schemas.openxmlformats.org/officeDocument/2006/relationships/slide" Target="slides/slide12.xml" TargetMode="Internal"></Relationship><Relationship Id="rId14" Type="http://schemas.openxmlformats.org/officeDocument/2006/relationships/slide" Target="slides/slide13.xml" TargetMode="Internal"></Relationship><Relationship Id="rId15" Type="http://schemas.openxmlformats.org/officeDocument/2006/relationships/slide" Target="slides/slide14.xml" TargetMode="Internal"></Relationship><Relationship Id="rId16" Type="http://schemas.openxmlformats.org/officeDocument/2006/relationships/slide" Target="slides/slide15.xml" TargetMode="Internal"></Relationship><Relationship Id="rId17" Type="http://schemas.openxmlformats.org/officeDocument/2006/relationships/slide" Target="slides/slide16.xml" TargetMode="Internal"></Relationship><Relationship Id="rId18" Type="http://schemas.openxmlformats.org/officeDocument/2006/relationships/slide" Target="slides/slide17.xml" TargetMode="Internal"></Relationship><Relationship Id="rId19" Type="http://schemas.openxmlformats.org/officeDocument/2006/relationships/slide" Target="slides/slide18.xml" TargetMode="Internal"></Relationship><Relationship Id="rId20" Type="http://schemas.openxmlformats.org/officeDocument/2006/relationships/slide" Target="slides/slide19.xml" TargetMode="Internal"></Relationship><Relationship Id="rId21" Type="http://schemas.openxmlformats.org/officeDocument/2006/relationships/slide" Target="slides/slide20.xml" TargetMode="Internal"></Relationship><Relationship Id="rId22" Type="http://schemas.openxmlformats.org/officeDocument/2006/relationships/slide" Target="slides/slide21.xml" TargetMode="Internal"></Relationship><Relationship Id="rId23" Type="http://schemas.openxmlformats.org/officeDocument/2006/relationships/slide" Target="slides/slide22.xml" TargetMode="Internal"></Relationship><Relationship Id="rId24" Type="http://schemas.openxmlformats.org/officeDocument/2006/relationships/slide" Target="slides/slide23.xml" TargetMode="Internal"></Relationship><Relationship Id="rId25" Type="http://schemas.openxmlformats.org/officeDocument/2006/relationships/slide" Target="slides/slide24.xml" TargetMode="Internal"></Relationship><Relationship Id="rId26" Type="http://schemas.openxmlformats.org/officeDocument/2006/relationships/slide" Target="slides/slide25.xml" TargetMode="Internal"></Relationship><Relationship Id="rId27" Type="http://schemas.openxmlformats.org/officeDocument/2006/relationships/slide" Target="slides/slide26.xml" TargetMode="Internal"></Relationship><Relationship Id="rId28" Type="http://schemas.openxmlformats.org/officeDocument/2006/relationships/slide" Target="slides/slide27.xml" TargetMode="Internal"></Relationship><Relationship Id="rId29" Type="http://schemas.openxmlformats.org/officeDocument/2006/relationships/slide" Target="slides/slide28.xml" TargetMode="Internal"></Relationship><Relationship Id="rId30" Type="http://schemas.openxmlformats.org/officeDocument/2006/relationships/slide" Target="slides/slide29.xml" TargetMode="Internal"></Relationship><Relationship Id="rId31" Type="http://schemas.openxmlformats.org/officeDocument/2006/relationships/slide" Target="slides/slide30.xml" TargetMode="Internal"></Relationship><Relationship Id="rId32" Type="http://schemas.openxmlformats.org/officeDocument/2006/relationships/slide" Target="slides/slide31.xml" TargetMode="Internal"></Relationship><Relationship Id="rId33" Type="http://schemas.openxmlformats.org/officeDocument/2006/relationships/slide" Target="slides/slide32.xml" TargetMode="Internal"></Relationship><Relationship Id="rId34" Type="http://schemas.openxmlformats.org/officeDocument/2006/relationships/slide" Target="slides/slide33.xml" TargetMode="Internal"></Relationship><Relationship Id="rId35" Type="http://schemas.openxmlformats.org/officeDocument/2006/relationships/slide" Target="slides/slide34.xml" TargetMode="Internal"></Relationship><Relationship Id="rId36" Type="http://schemas.openxmlformats.org/officeDocument/2006/relationships/slide" Target="slides/slide35.xml" TargetMode="Internal"></Relationship><Relationship Id="rId37" Type="http://schemas.openxmlformats.org/officeDocument/2006/relationships/slide" Target="slides/slide36.xml" TargetMode="Internal"></Relationship><Relationship Id="rId38" Type="http://schemas.openxmlformats.org/officeDocument/2006/relationships/slide" Target="slides/slide37.xml" TargetMode="Internal"></Relationship><Relationship Id="rId39" Type="http://schemas.openxmlformats.org/officeDocument/2006/relationships/slide" Target="slides/slide38.xml" TargetMode="Internal"></Relationship><Relationship Id="rId40" Type="http://schemas.openxmlformats.org/officeDocument/2006/relationships/slide" Target="slides/slide39.xml" TargetMode="Internal"></Relationship><Relationship Id="rId41" Type="http://schemas.openxmlformats.org/officeDocument/2006/relationships/slide" Target="slides/slide40.xml" TargetMode="Internal"></Relationship><Relationship Id="rId42" Type="http://schemas.openxmlformats.org/officeDocument/2006/relationships/slide" Target="slides/slide41.xml" TargetMode="Internal"></Relationship><Relationship Id="rId43" Type="http://schemas.openxmlformats.org/officeDocument/2006/relationships/slide" Target="slides/slide42.xml" TargetMode="Internal"></Relationship><Relationship Id="rId44" Type="http://schemas.openxmlformats.org/officeDocument/2006/relationships/slide" Target="slides/slide43.xml" TargetMode="Internal"></Relationship><Relationship Id="rId45" Type="http://schemas.openxmlformats.org/officeDocument/2006/relationships/slide" Target="slides/slide44.xml" TargetMode="Internal"></Relationship><Relationship Id="rId46" Type="http://schemas.openxmlformats.org/officeDocument/2006/relationships/slide" Target="slides/slide45.xml" TargetMode="Internal"></Relationship><Relationship Id="rId47" Type="http://schemas.openxmlformats.org/officeDocument/2006/relationships/slide" Target="slides/slide46.xml" TargetMode="Internal"></Relationship><Relationship Id="rId48" Type="http://schemas.openxmlformats.org/officeDocument/2006/relationships/slide" Target="slides/slide47.xml" TargetMode="Internal"></Relationship><Relationship Id="rId49" Type="http://schemas.openxmlformats.org/officeDocument/2006/relationships/slide" Target="slides/slide48.xml" TargetMode="Internal"></Relationship><Relationship Id="rId50" Type="http://schemas.openxmlformats.org/officeDocument/2006/relationships/slide" Target="slides/slide49.xml" TargetMode="Internal"></Relationship><Relationship Id="rId51" Type="http://schemas.openxmlformats.org/officeDocument/2006/relationships/slide" Target="slides/slide50.xml" TargetMode="Internal"></Relationship><Relationship Id="rId52" Type="http://schemas.openxmlformats.org/officeDocument/2006/relationships/slide" Target="slides/slide51.xml" TargetMode="Internal"></Relationship><Relationship Id="rId53" Type="http://schemas.openxmlformats.org/officeDocument/2006/relationships/slide" Target="slides/slide52.xml" TargetMode="Internal"></Relationship><Relationship Id="rId54" Type="http://schemas.openxmlformats.org/officeDocument/2006/relationships/slide" Target="slides/slide53.xml" TargetMode="Internal"></Relationship><Relationship Id="rId55" Type="http://schemas.openxmlformats.org/officeDocument/2006/relationships/slide" Target="slides/slide54.xml" TargetMode="Internal"></Relationship><Relationship Id="rId56" Type="http://schemas.openxmlformats.org/officeDocument/2006/relationships/slide" Target="slides/slide55.xml" TargetMode="Internal"></Relationship><Relationship Id="rId57" Type="http://schemas.openxmlformats.org/officeDocument/2006/relationships/slide" Target="slides/slide56.xml" TargetMode="Internal"></Relationship><Relationship Id="rId58" Type="http://schemas.openxmlformats.org/officeDocument/2006/relationships/slide" Target="slides/slide57.xml" TargetMode="Internal"></Relationship><Relationship Id="rId59" Type="http://schemas.openxmlformats.org/officeDocument/2006/relationships/slide" Target="slides/slide58.xml" TargetMode="Internal"></Relationship><Relationship Id="rId60" Type="http://schemas.openxmlformats.org/officeDocument/2006/relationships/slide" Target="slides/slide59.xml" TargetMode="Internal"></Relationship><Relationship Id="rId61" Type="http://schemas.openxmlformats.org/officeDocument/2006/relationships/slide" Target="slides/slide60.xml" TargetMode="Internal"></Relationship><Relationship Id="rId62" Type="http://schemas.openxmlformats.org/officeDocument/2006/relationships/slide" Target="slides/slide61.xml" TargetMode="Internal"></Relationship><Relationship Id="rId63" Type="http://schemas.openxmlformats.org/officeDocument/2006/relationships/slide" Target="slides/slide62.xml" TargetMode="Internal"></Relationship><Relationship Id="rId64" Type="http://schemas.openxmlformats.org/officeDocument/2006/relationships/slide" Target="slides/slide63.xml" TargetMode="Internal"></Relationship><Relationship Id="rId65" Type="http://schemas.openxmlformats.org/officeDocument/2006/relationships/slide" Target="slides/slide64.xml" TargetMode="Internal"></Relationship><Relationship Id="rId66" Type="http://schemas.openxmlformats.org/officeDocument/2006/relationships/slide" Target="slides/slide65.xml" TargetMode="Internal"></Relationship><Relationship Id="rId67" Type="http://schemas.openxmlformats.org/officeDocument/2006/relationships/slide" Target="slides/slide66.xml" TargetMode="Internal"></Relationship><Relationship Id="rId68" Type="http://schemas.openxmlformats.org/officeDocument/2006/relationships/slide" Target="slides/slide67.xml" TargetMode="Internal"></Relationship><Relationship Id="rId69" Type="http://schemas.openxmlformats.org/officeDocument/2006/relationships/slide" Target="slides/slide68.xml" TargetMode="Internal"></Relationship><Relationship Id="rId70" Type="http://schemas.openxmlformats.org/officeDocument/2006/relationships/slide" Target="slides/slide69.xml" TargetMode="Internal"></Relationship><Relationship Id="rId71" Type="http://schemas.openxmlformats.org/officeDocument/2006/relationships/slide" Target="slides/slide70.xml" TargetMode="Internal"></Relationship><Relationship Id="rId72" Type="http://schemas.openxmlformats.org/officeDocument/2006/relationships/slide" Target="slides/slide71.xml" TargetMode="Internal"></Relationship><Relationship Id="rId73" Type="http://schemas.openxmlformats.org/officeDocument/2006/relationships/slide" Target="slides/slide72.xml" TargetMode="Internal"></Relationship><Relationship Id="rId74" Type="http://schemas.openxmlformats.org/officeDocument/2006/relationships/slide" Target="slides/slide73.xml" TargetMode="Internal"></Relationship><Relationship Id="rId75" Type="http://schemas.openxmlformats.org/officeDocument/2006/relationships/slide" Target="slides/slide74.xml" TargetMode="Internal"></Relationship><Relationship Id="rId76" Type="http://schemas.openxmlformats.org/officeDocument/2006/relationships/slide" Target="slides/slide75.xml" TargetMode="Internal"></Relationship><Relationship Id="rId77" Type="http://schemas.openxmlformats.org/officeDocument/2006/relationships/slide" Target="slides/slide76.xml" TargetMode="Internal"></Relationship><Relationship Id="rId78" Type="http://schemas.openxmlformats.org/officeDocument/2006/relationships/slide" Target="slides/slide77.xml" TargetMode="Internal"></Relationship><Relationship Id="rId79" Type="http://schemas.openxmlformats.org/officeDocument/2006/relationships/slide" Target="slides/slide78.xml" TargetMode="Internal"></Relationship><Relationship Id="rId80" Type="http://schemas.openxmlformats.org/officeDocument/2006/relationships/slide" Target="slides/slide79.xml" TargetMode="Internal"></Relationship><Relationship Id="rId81" Type="http://schemas.openxmlformats.org/officeDocument/2006/relationships/slide" Target="slides/slide80.xml" TargetMode="Internal"></Relationship><Relationship Id="rId82" Type="http://schemas.openxmlformats.org/officeDocument/2006/relationships/slide" Target="slides/slide81.xml" TargetMode="Internal"></Relationship><Relationship Id="rId83" Type="http://schemas.openxmlformats.org/officeDocument/2006/relationships/slide" Target="slides/slide82.xml" TargetMode="Internal"></Relationship><Relationship Id="rId84" Type="http://schemas.openxmlformats.org/officeDocument/2006/relationships/slide" Target="slides/slide83.xml" TargetMode="Internal"></Relationship><Relationship Id="rId85" Type="http://schemas.openxmlformats.org/officeDocument/2006/relationships/slide" Target="slides/slide84.xml" TargetMode="Internal"></Relationship><Relationship Id="rId86" Type="http://schemas.openxmlformats.org/officeDocument/2006/relationships/slide" Target="slides/slide85.xml" TargetMode="Internal"></Relationship><Relationship Id="rId87" Type="http://schemas.openxmlformats.org/officeDocument/2006/relationships/slide" Target="slides/slide86.xml" TargetMode="Internal"></Relationship><Relationship Id="rId88" Type="http://schemas.openxmlformats.org/officeDocument/2006/relationships/slide" Target="slides/slide87.xml" TargetMode="Internal"></Relationship><Relationship Id="rId89" Type="http://schemas.openxmlformats.org/officeDocument/2006/relationships/slide" Target="slides/slide88.xml" TargetMode="Internal"></Relationship><Relationship Id="rId90" Type="http://schemas.openxmlformats.org/officeDocument/2006/relationships/slide" Target="slides/slide89.xml" TargetMode="Internal"></Relationship><Relationship Id="rId91" Type="http://schemas.openxmlformats.org/officeDocument/2006/relationships/slide" Target="slides/slide90.xml" TargetMode="Internal"></Relationship><Relationship Id="rId92" Type="http://schemas.openxmlformats.org/officeDocument/2006/relationships/slide" Target="slides/slide91.xml" TargetMode="Internal"></Relationship><Relationship Id="rId93" Type="http://schemas.openxmlformats.org/officeDocument/2006/relationships/slide" Target="slides/slide92.xml" TargetMode="Internal"></Relationship><Relationship Id="rId94" Type="http://schemas.openxmlformats.org/officeDocument/2006/relationships/slide" Target="slides/slide93.xml" TargetMode="Internal"></Relationship><Relationship Id="rId95" Type="http://schemas.openxmlformats.org/officeDocument/2006/relationships/slide" Target="slides/slide94.xml" TargetMode="Internal"></Relationship><Relationship Id="rId96" Type="http://schemas.openxmlformats.org/officeDocument/2006/relationships/slide" Target="slides/slide95.xml" TargetMode="Internal"></Relationship><Relationship Id="rId97" Type="http://schemas.openxmlformats.org/officeDocument/2006/relationships/slide" Target="slides/slide96.xml" TargetMode="Internal"></Relationship><Relationship Id="rId98" Type="http://schemas.openxmlformats.org/officeDocument/2006/relationships/slide" Target="slides/slide97.xml" TargetMode="Internal"></Relationship><Relationship Id="rId99" Type="http://schemas.openxmlformats.org/officeDocument/2006/relationships/slide" Target="slides/slide98.xml" TargetMode="Internal"></Relationship><Relationship Id="rId100" Type="http://schemas.openxmlformats.org/officeDocument/2006/relationships/slide" Target="slides/slide99.xml" TargetMode="Internal"></Relationship><Relationship Id="rId101" Type="http://schemas.openxmlformats.org/officeDocument/2006/relationships/slide" Target="slides/slide100.xml" TargetMode="Internal"></Relationship><Relationship Id="rId102" Type="http://schemas.openxmlformats.org/officeDocument/2006/relationships/slide" Target="slides/slide101.xml" TargetMode="Internal"></Relationship><Relationship Id="rId103" Type="http://schemas.openxmlformats.org/officeDocument/2006/relationships/slide" Target="slides/slide102.xml" TargetMode="Internal"></Relationship><Relationship Id="rId104" Type="http://schemas.openxmlformats.org/officeDocument/2006/relationships/slide" Target="slides/slide103.xml" TargetMode="Internal"></Relationship><Relationship Id="rId105" Type="http://schemas.openxmlformats.org/officeDocument/2006/relationships/slide" Target="slides/slide104.xml" TargetMode="Internal"></Relationship><Relationship Id="rId106" Type="http://schemas.openxmlformats.org/officeDocument/2006/relationships/slide" Target="slides/slide105.xml" TargetMode="Internal"></Relationship><Relationship Id="rId107" Type="http://schemas.openxmlformats.org/officeDocument/2006/relationships/slide" Target="slides/slide106.xml" TargetMode="Internal"></Relationship><Relationship Id="rId108" Type="http://schemas.openxmlformats.org/officeDocument/2006/relationships/slide" Target="slides/slide107.xml" TargetMode="Internal"></Relationship><Relationship Id="rId109" Type="http://schemas.openxmlformats.org/officeDocument/2006/relationships/slide" Target="slides/slide108.xml" TargetMode="Internal"></Relationship><Relationship Id="rId110" Type="http://schemas.openxmlformats.org/officeDocument/2006/relationships/slide" Target="slides/slide109.xml" TargetMode="Internal"></Relationship><Relationship Id="rId111" Type="http://schemas.openxmlformats.org/officeDocument/2006/relationships/slide" Target="slides/slide110.xml" TargetMode="Internal"></Relationship><Relationship Id="rId112" Type="http://schemas.openxmlformats.org/officeDocument/2006/relationships/slide" Target="slides/slide111.xml" TargetMode="Internal"></Relationship><Relationship Id="rId113" Type="http://schemas.openxmlformats.org/officeDocument/2006/relationships/slide" Target="slides/slide112.xml" TargetMode="Internal"></Relationship><Relationship Id="rId114" Type="http://schemas.openxmlformats.org/officeDocument/2006/relationships/slide" Target="slides/slide113.xml" TargetMode="Internal"></Relationship><Relationship Id="rId115" Type="http://schemas.openxmlformats.org/officeDocument/2006/relationships/slide" Target="slides/slide114.xml" TargetMode="Internal"></Relationship><Relationship Id="rId116" Type="http://schemas.openxmlformats.org/officeDocument/2006/relationships/slide" Target="slides/slide115.xml" TargetMode="Internal"></Relationship><Relationship Id="rId117" Type="http://schemas.openxmlformats.org/officeDocument/2006/relationships/slide" Target="slides/slide116.xml" TargetMode="Internal"></Relationship><Relationship Id="rId118" Type="http://schemas.openxmlformats.org/officeDocument/2006/relationships/slide" Target="slides/slide117.xml" TargetMode="Internal"></Relationship><Relationship Id="rId119" Type="http://schemas.openxmlformats.org/officeDocument/2006/relationships/slide" Target="slides/slide118.xml" TargetMode="Internal"></Relationship><Relationship Id="rId120" Type="http://schemas.openxmlformats.org/officeDocument/2006/relationships/slide" Target="slides/slide119.xml" TargetMode="Internal"></Relationship><Relationship Id="rId121" Type="http://schemas.openxmlformats.org/officeDocument/2006/relationships/slide" Target="slides/slide120.xml" TargetMode="Internal"></Relationship><Relationship Id="rId122" Type="http://schemas.openxmlformats.org/officeDocument/2006/relationships/slide" Target="slides/slide121.xml" TargetMode="Internal"></Relationship><Relationship Id="rId123" Type="http://schemas.openxmlformats.org/officeDocument/2006/relationships/slide" Target="slides/slide122.xml" TargetMode="Internal"></Relationship><Relationship Id="rId124" Type="http://schemas.openxmlformats.org/officeDocument/2006/relationships/slide" Target="slides/slide123.xml" TargetMode="Internal"></Relationship><Relationship Id="rId125" Type="http://schemas.openxmlformats.org/officeDocument/2006/relationships/slide" Target="slides/slide124.xml" TargetMode="Internal"></Relationship><Relationship Id="rId126" Type="http://schemas.openxmlformats.org/officeDocument/2006/relationships/slide" Target="slides/slide125.xml" TargetMode="Internal"></Relationship><Relationship Id="rId127" Type="http://schemas.openxmlformats.org/officeDocument/2006/relationships/slide" Target="slides/slide126.xml" TargetMode="Internal"></Relationship><Relationship Id="rId128" Type="http://schemas.openxmlformats.org/officeDocument/2006/relationships/slide" Target="slides/slide127.xml" TargetMode="Internal"></Relationship><Relationship Id="rId129" Type="http://schemas.openxmlformats.org/officeDocument/2006/relationships/slide" Target="slides/slide128.xml" TargetMode="Internal"></Relationship><Relationship Id="rId130" Type="http://schemas.openxmlformats.org/officeDocument/2006/relationships/slide" Target="slides/slide129.xml" TargetMode="Internal"></Relationship><Relationship Id="rId131" Type="http://schemas.openxmlformats.org/officeDocument/2006/relationships/slide" Target="slides/slide130.xml" TargetMode="Internal"></Relationship><Relationship Id="rId132" Type="http://schemas.openxmlformats.org/officeDocument/2006/relationships/slide" Target="slides/slide131.xml" TargetMode="Internal"></Relationship><Relationship Id="rId133" Type="http://schemas.openxmlformats.org/officeDocument/2006/relationships/slide" Target="slides/slide132.xml" TargetMode="Internal"></Relationship><Relationship Id="rId134" Type="http://schemas.openxmlformats.org/officeDocument/2006/relationships/slide" Target="slides/slide133.xml" TargetMode="Internal"></Relationship><Relationship Id="rId135" Type="http://schemas.openxmlformats.org/officeDocument/2006/relationships/slide" Target="slides/slide134.xml" TargetMode="Internal"></Relationship><Relationship Id="rId136" Type="http://schemas.openxmlformats.org/officeDocument/2006/relationships/slide" Target="slides/slide135.xml" TargetMode="Internal"></Relationship><Relationship Id="rId137" Type="http://schemas.openxmlformats.org/officeDocument/2006/relationships/slide" Target="slides/slide136.xml" TargetMode="Internal"></Relationship><Relationship Id="rId138" Type="http://schemas.openxmlformats.org/officeDocument/2006/relationships/slide" Target="slides/slide137.xml" TargetMode="Internal"></Relationship><Relationship Id="rId139" Type="http://schemas.openxmlformats.org/officeDocument/2006/relationships/slide" Target="slides/slide138.xml" TargetMode="Internal"></Relationship><Relationship Id="rId140" Type="http://schemas.openxmlformats.org/officeDocument/2006/relationships/slide" Target="slides/slide139.xml" TargetMode="Internal"></Relationship><Relationship Id="rId141" Type="http://schemas.openxmlformats.org/officeDocument/2006/relationships/slide" Target="slides/slide140.xml" TargetMode="Internal"></Relationship><Relationship Id="rId142" Type="http://schemas.openxmlformats.org/officeDocument/2006/relationships/slide" Target="slides/slide141.xml" TargetMode="Internal"></Relationship><Relationship Id="rId143" Type="http://schemas.openxmlformats.org/officeDocument/2006/relationships/slide" Target="slides/slide142.xml" TargetMode="Internal"></Relationship><Relationship Id="rId144" Type="http://schemas.openxmlformats.org/officeDocument/2006/relationships/slide" Target="slides/slide143.xml" TargetMode="Internal"></Relationship><Relationship Id="rId145" Type="http://schemas.openxmlformats.org/officeDocument/2006/relationships/slide" Target="slides/slide144.xml" TargetMode="Internal"></Relationship><Relationship Id="rId146" Type="http://schemas.openxmlformats.org/officeDocument/2006/relationships/slide" Target="slides/slide145.xml" TargetMode="Internal"></Relationship><Relationship Id="rId147" Type="http://schemas.openxmlformats.org/officeDocument/2006/relationships/slide" Target="slides/slide146.xml" TargetMode="Internal"></Relationship><Relationship Id="rId148" Type="http://schemas.openxmlformats.org/officeDocument/2006/relationships/slide" Target="slides/slide147.xml" TargetMode="Internal"></Relationship><Relationship Id="rId149" Type="http://schemas.openxmlformats.org/officeDocument/2006/relationships/slide" Target="slides/slide148.xml" TargetMode="Internal"></Relationship><Relationship Id="rId150" Type="http://schemas.openxmlformats.org/officeDocument/2006/relationships/slide" Target="slides/slide149.xml" TargetMode="Internal"></Relationship><Relationship Id="rId151" Type="http://schemas.openxmlformats.org/officeDocument/2006/relationships/slide" Target="slides/slide150.xml" TargetMode="Internal"></Relationship><Relationship Id="rId152" Type="http://schemas.openxmlformats.org/officeDocument/2006/relationships/slide" Target="slides/slide151.xml" TargetMode="Internal"></Relationship><Relationship Id="rId153" Type="http://schemas.openxmlformats.org/officeDocument/2006/relationships/slide" Target="slides/slide152.xml" TargetMode="Internal"></Relationship><Relationship Id="rId154" Type="http://schemas.openxmlformats.org/officeDocument/2006/relationships/slide" Target="slides/slide153.xml" TargetMode="Internal"></Relationship><Relationship Id="rId155" Type="http://schemas.openxmlformats.org/officeDocument/2006/relationships/slide" Target="slides/slide154.xml" TargetMode="Internal"></Relationship><Relationship Id="rId156" Type="http://schemas.openxmlformats.org/officeDocument/2006/relationships/slide" Target="slides/slide155.xml" TargetMode="Internal"></Relationship><Relationship Id="rId157" Type="http://schemas.openxmlformats.org/officeDocument/2006/relationships/slide" Target="slides/slide156.xml" TargetMode="Internal"></Relationship><Relationship Id="rId158" Type="http://schemas.openxmlformats.org/officeDocument/2006/relationships/slide" Target="slides/slide157.xml" TargetMode="Internal"></Relationship><Relationship Id="rId159" Type="http://schemas.openxmlformats.org/officeDocument/2006/relationships/slide" Target="slides/slide158.xml" TargetMode="Internal"></Relationship><Relationship Id="rId160" Type="http://schemas.openxmlformats.org/officeDocument/2006/relationships/slide" Target="slides/slide159.xml" TargetMode="Internal"></Relationship><Relationship Id="rId161" Type="http://schemas.openxmlformats.org/officeDocument/2006/relationships/slide" Target="slides/slide160.xml" TargetMode="Internal"></Relationship><Relationship Id="rId162" Type="http://schemas.openxmlformats.org/officeDocument/2006/relationships/slide" Target="slides/slide161.xml" TargetMode="Internal"></Relationship><Relationship Id="rId163" Type="http://schemas.openxmlformats.org/officeDocument/2006/relationships/slide" Target="slides/slide162.xml" TargetMode="Internal"></Relationship><Relationship Id="rId164" Type="http://schemas.openxmlformats.org/officeDocument/2006/relationships/slide" Target="slides/slide163.xml" TargetMode="Internal"></Relationship><Relationship Id="rId165" Type="http://schemas.openxmlformats.org/officeDocument/2006/relationships/slide" Target="slides/slide164.xml" TargetMode="Internal"></Relationship><Relationship Id="rId166" Type="http://schemas.openxmlformats.org/officeDocument/2006/relationships/slide" Target="slides/slide165.xml" TargetMode="Internal"></Relationship><Relationship Id="rId167" Type="http://schemas.openxmlformats.org/officeDocument/2006/relationships/slide" Target="slides/slide166.xml" TargetMode="Internal"></Relationship><Relationship Id="rId168" Type="http://schemas.openxmlformats.org/officeDocument/2006/relationships/slide" Target="slides/slide167.xml" TargetMode="Internal"></Relationship><Relationship Id="rId169" Type="http://schemas.openxmlformats.org/officeDocument/2006/relationships/slide" Target="slides/slide168.xml" TargetMode="Internal"></Relationship><Relationship Id="rId170" Type="http://schemas.openxmlformats.org/officeDocument/2006/relationships/slide" Target="slides/slide169.xml" TargetMode="Internal"></Relationship><Relationship Id="rId171" Type="http://schemas.openxmlformats.org/officeDocument/2006/relationships/slide" Target="slides/slide170.xml" TargetMode="Internal"></Relationship><Relationship Id="rId172" Type="http://schemas.openxmlformats.org/officeDocument/2006/relationships/slide" Target="slides/slide171.xml" TargetMode="Internal"></Relationship><Relationship Id="rId173" Type="http://schemas.openxmlformats.org/officeDocument/2006/relationships/slide" Target="slides/slide172.xml" TargetMode="Internal"></Relationship><Relationship Id="rId174" Type="http://schemas.openxmlformats.org/officeDocument/2006/relationships/slide" Target="slides/slide173.xml" TargetMode="Internal"></Relationship><Relationship Id="rId175" Type="http://schemas.openxmlformats.org/officeDocument/2006/relationships/slide" Target="slides/slide174.xml" TargetMode="Internal"></Relationship><Relationship Id="rId176" Type="http://schemas.openxmlformats.org/officeDocument/2006/relationships/slide" Target="slides/slide175.xml" TargetMode="Internal"></Relationship><Relationship Id="rId177" Type="http://schemas.openxmlformats.org/officeDocument/2006/relationships/slide" Target="slides/slide176.xml" TargetMode="Internal"></Relationship><Relationship Id="rId178" Type="http://schemas.openxmlformats.org/officeDocument/2006/relationships/slide" Target="slides/slide177.xml" TargetMode="Internal"></Relationship><Relationship Id="rId179" Type="http://schemas.openxmlformats.org/officeDocument/2006/relationships/slide" Target="slides/slide178.xml" TargetMode="Internal"></Relationship><Relationship Id="rId180" Type="http://schemas.openxmlformats.org/officeDocument/2006/relationships/slide" Target="slides/slide179.xml" TargetMode="Internal"></Relationship><Relationship Id="rId181" Type="http://schemas.openxmlformats.org/officeDocument/2006/relationships/slide" Target="slides/slide180.xml" TargetMode="Internal"></Relationship><Relationship Id="rId182" Type="http://schemas.openxmlformats.org/officeDocument/2006/relationships/slide" Target="slides/slide181.xml" TargetMode="Internal"></Relationship><Relationship Id="rId183" Type="http://schemas.openxmlformats.org/officeDocument/2006/relationships/slide" Target="slides/slide182.xml" TargetMode="Internal"></Relationship><Relationship Id="rId184" Type="http://schemas.openxmlformats.org/officeDocument/2006/relationships/slide" Target="slides/slide183.xml" TargetMode="Internal"></Relationship><Relationship Id="rId185" Type="http://schemas.openxmlformats.org/officeDocument/2006/relationships/slide" Target="slides/slide184.xml" TargetMode="Internal"></Relationship><Relationship Id="rId186" Type="http://schemas.openxmlformats.org/officeDocument/2006/relationships/slide" Target="slides/slide185.xml" TargetMode="Internal"></Relationship><Relationship Id="rId187" Type="http://schemas.openxmlformats.org/officeDocument/2006/relationships/slide" Target="slides/slide186.xml" TargetMode="Internal"></Relationship><Relationship Id="rId188" Type="http://schemas.openxmlformats.org/officeDocument/2006/relationships/slide" Target="slides/slide187.xml" TargetMode="Internal"></Relationship><Relationship Id="rId189" Type="http://schemas.openxmlformats.org/officeDocument/2006/relationships/slide" Target="slides/slide188.xml" TargetMode="Internal"></Relationship><Relationship Id="rId190" Type="http://schemas.openxmlformats.org/officeDocument/2006/relationships/slide" Target="slides/slide189.xml" TargetMode="Internal"></Relationship><Relationship Id="rId191" Type="http://schemas.openxmlformats.org/officeDocument/2006/relationships/slide" Target="slides/slide190.xml" TargetMode="Internal"></Relationship><Relationship Id="rId192" Type="http://schemas.openxmlformats.org/officeDocument/2006/relationships/slide" Target="slides/slide191.xml" TargetMode="Internal"></Relationship><Relationship Id="rId193" Type="http://schemas.openxmlformats.org/officeDocument/2006/relationships/slide" Target="slides/slide192.xml" TargetMode="Internal"></Relationship><Relationship Id="rId194" Type="http://schemas.openxmlformats.org/officeDocument/2006/relationships/slide" Target="slides/slide193.xml" TargetMode="Internal"></Relationship><Relationship Id="rId195" Type="http://schemas.openxmlformats.org/officeDocument/2006/relationships/slide" Target="slides/slide194.xml" TargetMode="Internal"></Relationship><Relationship Id="rId196" Type="http://schemas.openxmlformats.org/officeDocument/2006/relationships/slide" Target="slides/slide195.xml" TargetMode="Internal"></Relationship><Relationship Id="rId197" Type="http://schemas.openxmlformats.org/officeDocument/2006/relationships/slide" Target="slides/slide196.xml" TargetMode="Internal"></Relationship><Relationship Id="rId198" Type="http://schemas.openxmlformats.org/officeDocument/2006/relationships/slide" Target="slides/slide197.xml" TargetMode="Internal"></Relationship><Relationship Id="rId199" Type="http://schemas.openxmlformats.org/officeDocument/2006/relationships/slide" Target="slides/slide198.xml" TargetMode="Internal"></Relationship><Relationship Id="rId200" Type="http://schemas.openxmlformats.org/officeDocument/2006/relationships/slide" Target="slides/slide199.xml" TargetMode="Internal"></Relationship><Relationship Id="rId201" Type="http://schemas.openxmlformats.org/officeDocument/2006/relationships/slide" Target="slides/slide200.xml" TargetMode="Internal"></Relationship><Relationship Id="rId202" Type="http://schemas.openxmlformats.org/officeDocument/2006/relationships/slide" Target="slides/slide201.xml" TargetMode="Internal"></Relationship><Relationship Id="rId203" Type="http://schemas.openxmlformats.org/officeDocument/2006/relationships/slide" Target="slides/slide202.xml" TargetMode="Internal"></Relationship><Relationship Id="rId204" Type="http://schemas.openxmlformats.org/officeDocument/2006/relationships/slide" Target="slides/slide203.xml" TargetMode="Internal"></Relationship><Relationship Id="rId205" Type="http://schemas.openxmlformats.org/officeDocument/2006/relationships/theme" Target="theme/theme1.xml" TargetMode="Internal"></Relationship><Relationship Id="rId206" Type="http://schemas.openxmlformats.org/officeDocument/2006/relationships/presProps" Target="presProps.xml" TargetMode="Internal"></Relationship><Relationship Id="rId207" Type="http://schemas.openxmlformats.org/officeDocument/2006/relationships/viewProps" Target="viewProps.xml" TargetMode="Internal"></Relationship><Relationship Id="rId208" Type="http://schemas.openxmlformats.org/officeDocument/2006/relationships/tableStyles" Target="tableStyles.xml" TargetMode="Interna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marL="0" indent="0">
              <a:buNone/>
              <a:defRPr>
                <a:solidFill>
                  <a:srgbClr val="000000"/>
                </a:solidFill>
              </a:defRPr>
            </a:lvl1pPr>
            <a:lvl2pPr algn="ctr" marL="457200" indent="0">
              <a:buNone/>
              <a:defRPr>
                <a:solidFill>
                  <a:srgbClr val="000000"/>
                </a:solidFill>
              </a:defRPr>
            </a:lvl2pPr>
            <a:lvl3pPr algn="ctr" marL="914400" indent="0">
              <a:buNone/>
              <a:defRPr>
                <a:solidFill>
                  <a:srgbClr val="000000"/>
                </a:solidFill>
              </a:defRPr>
            </a:lvl3pPr>
            <a:lvl4pPr algn="ctr" marL="1371600" indent="0">
              <a:buNone/>
              <a:defRPr>
                <a:solidFill>
                  <a:srgbClr val="000000"/>
                </a:solidFill>
              </a:defRPr>
            </a:lvl4pPr>
            <a:lvl5pPr algn="ctr" marL="1828800" indent="0">
              <a:buNone/>
              <a:defRPr>
                <a:solidFill>
                  <a:srgbClr val="000000"/>
                </a:solidFill>
              </a:defRPr>
            </a:lvl5pPr>
            <a:lvl6pPr algn="ctr" marL="2286000" indent="0">
              <a:buNone/>
              <a:defRPr>
                <a:solidFill>
                  <a:srgbClr val="000000"/>
                </a:solidFill>
              </a:defRPr>
            </a:lvl6pPr>
            <a:lvl7pPr algn="ctr" marL="2743200" indent="0">
              <a:buNone/>
              <a:defRPr>
                <a:solidFill>
                  <a:srgbClr val="000000"/>
                </a:solidFill>
              </a:defRPr>
            </a:lvl7pPr>
            <a:lvl8pPr algn="ctr" marL="3200400" indent="0">
              <a:buNone/>
              <a:defRPr>
                <a:solidFill>
                  <a:srgbClr val="000000"/>
                </a:solidFill>
              </a:defRPr>
            </a:lvl8pPr>
            <a:lvl9pPr algn="ctr" marL="3657600" indent="0">
              <a:buNone/>
              <a:defRPr>
                <a:solidFill>
                  <a:srgbClr val="000000"/>
                </a:solidFill>
              </a:defRPr>
            </a:lvl9pPr>
          </a:lstStyle>
          <a:p>
            <a:r>
              <a:rPr lang="ko-KR" altLang="en-US" dirty="0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 marL="457200" indent="0">
              <a:buNone/>
              <a:defRPr sz="1800">
                <a:solidFill>
                  <a:srgbClr val="000000"/>
                </a:solidFill>
              </a:defRPr>
            </a:lvl2pPr>
            <a:lvl3pPr marL="914400" indent="0">
              <a:buNone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rgbClr val="000000"/>
                </a:solidFill>
              </a:defRPr>
            </a:lvl4pPr>
            <a:lvl5pPr marL="1828800" indent="0">
              <a:buNone/>
              <a:defRPr sz="1400">
                <a:solidFill>
                  <a:srgbClr val="000000"/>
                </a:solidFill>
              </a:defRPr>
            </a:lvl5pPr>
            <a:lvl6pPr marL="2286000" indent="0">
              <a:buNone/>
              <a:defRPr sz="1400">
                <a:solidFill>
                  <a:srgbClr val="000000"/>
                </a:solidFill>
              </a:defRPr>
            </a:lvl6pPr>
            <a:lvl7pPr marL="2743200" indent="0">
              <a:buNone/>
              <a:defRPr sz="1400">
                <a:solidFill>
                  <a:srgbClr val="000000"/>
                </a:solidFill>
              </a:defRPr>
            </a:lvl7pPr>
            <a:lvl8pPr marL="3200400" indent="0">
              <a:buNone/>
              <a:defRPr sz="1400">
                <a:solidFill>
                  <a:srgbClr val="000000"/>
                </a:solidFill>
              </a:defRPr>
            </a:lvl8pPr>
            <a:lvl9pPr marL="3657600" indent="0">
              <a:buNone/>
              <a:defRPr sz="1400">
                <a:solidFill>
                  <a:srgbClr val="000000"/>
                </a:solidFill>
              </a:defRPr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 marL="0" defTabSz="0">
              <a:defRPr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pic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defTabSz="0">
              <a:defRPr sz="3200"/>
            </a:lvl1pPr>
            <a:lvl2pPr marL="0" defTabSz="0">
              <a:defRPr sz="2800"/>
            </a:lvl2pPr>
            <a:lvl3pPr marL="0" defTabSz="0">
              <a:defRPr sz="2400"/>
            </a:lvl3pPr>
            <a:lvl4pPr marL="0" defTabSz="0">
              <a:defRPr sz="2000"/>
            </a:lvl4pPr>
            <a:lvl5pPr marL="0" defTabSz="0">
              <a:defRPr sz="2000"/>
            </a:lvl5pPr>
            <a:lvl6pPr marL="0" defTabSz="0">
              <a:defRPr sz="2000"/>
            </a:lvl6pPr>
            <a:lvl7pPr marL="0" defTabSz="0">
              <a:defRPr sz="2000"/>
            </a:lvl7pPr>
            <a:lvl8pPr marL="0" defTabSz="0">
              <a:defRPr sz="2000"/>
            </a:lvl8pPr>
            <a:lvl9pPr marL="0" defTabSz="0">
              <a:defRPr sz="20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 TargetMode="Internal"></Relationship><Relationship Id="rId2" Type="http://schemas.openxmlformats.org/officeDocument/2006/relationships/slideLayout" Target="../slideLayouts/slideLayout2.xml" TargetMode="Internal"></Relationship><Relationship Id="rId3" Type="http://schemas.openxmlformats.org/officeDocument/2006/relationships/slideLayout" Target="../slideLayouts/slideLayout3.xml" TargetMode="Internal"></Relationship><Relationship Id="rId4" Type="http://schemas.openxmlformats.org/officeDocument/2006/relationships/slideLayout" Target="../slideLayouts/slideLayout4.xml" TargetMode="Internal"></Relationship><Relationship Id="rId5" Type="http://schemas.openxmlformats.org/officeDocument/2006/relationships/slideLayout" Target="../slideLayouts/slideLayout5.xml" TargetMode="Internal"></Relationship><Relationship Id="rId6" Type="http://schemas.openxmlformats.org/officeDocument/2006/relationships/slideLayout" Target="../slideLayouts/slideLayout6.xml" TargetMode="Internal"></Relationship><Relationship Id="rId7" Type="http://schemas.openxmlformats.org/officeDocument/2006/relationships/slideLayout" Target="../slideLayouts/slideLayout7.xml" TargetMode="Internal"></Relationship><Relationship Id="rId8" Type="http://schemas.openxmlformats.org/officeDocument/2006/relationships/slideLayout" Target="../slideLayouts/slideLayout8.xml" TargetMode="Internal"></Relationship><Relationship Id="rId9" Type="http://schemas.openxmlformats.org/officeDocument/2006/relationships/slideLayout" Target="../slideLayouts/slideLayout9.xml" TargetMode="Internal"></Relationship><Relationship Id="rId10" Type="http://schemas.openxmlformats.org/officeDocument/2006/relationships/slideLayout" Target="../slideLayouts/slideLayout10.xml" TargetMode="Internal"></Relationship><Relationship Id="rId11" Type="http://schemas.openxmlformats.org/officeDocument/2006/relationships/slideLayout" Target="../slideLayouts/slideLayout11.xml" TargetMode="Internal"></Relationship><Relationship Id="rId12" Type="http://schemas.openxmlformats.org/officeDocument/2006/relationships/theme" Target="../theme/theme1.xml" TargetMode="Interna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fld id="{5C1A2B81-1DA3-497E-83CD-70D401AD2C06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9CD56DC7-0AF8-4C3E-9120-C82FF52A6C0B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marL="0" indent="0" defTabSz="914400">
        <a:buNone/>
        <a:defRPr lang="ko-KR" smtClean="0" sz="4400" baseline="0">
          <a:solidFill>
            <a:srgbClr val="000000"/>
          </a:solidFill>
          <a:latin typeface="SimSun"/>
          <a:ea typeface="SimSun"/>
        </a:defRPr>
      </a:lvl1pPr>
    </p:titleStyle>
    <p:bodyStyle>
      <a:lvl1pPr algn="l" marL="342900" indent="-342900" defTabSz="914400">
        <a:spcBef>
          <a:spcPct val="20000"/>
        </a:spcBef>
        <a:buFont typeface="SimSun"/>
        <a:buChar char="●"/>
        <a:defRPr lang="ko-KR" smtClean="0" sz="3200" baseline="0">
          <a:solidFill>
            <a:srgbClr val="000000"/>
          </a:solidFill>
          <a:latin typeface="SimSun"/>
          <a:ea typeface="SimSun"/>
        </a:defRPr>
      </a:lvl1pPr>
      <a:lvl2pPr lvl="1" marL="742950" indent="-285750" defTabSz="914400">
        <a:buChar char="-"/>
        <a:defRPr lang="ko-KR" smtClean="0" sz="2800"/>
      </a:lvl2pPr>
      <a:lvl3pPr lvl="2" marL="1143000" indent="-228600" defTabSz="914400">
        <a:buChar char="●"/>
        <a:defRPr lang="ko-KR" smtClean="0" sz="2400"/>
      </a:lvl3pPr>
      <a:lvl4pPr lvl="3" marL="1600200" indent="-228600" defTabSz="914400">
        <a:buChar char="-"/>
        <a:defRPr lang="ko-KR" smtClean="0" sz="2000"/>
      </a:lvl4pPr>
      <a:lvl5pPr lvl="4" marL="2057400" indent="-228600" defTabSz="914400">
        <a:buChar char="»"/>
        <a:defRPr lang="ko-KR" smtClean="0"/>
      </a:lvl5pPr>
    </p:bodyStyle>
    <p:otherStyle>
      <a:lvl1pPr algn="l" marL="0" indent="0" defTabSz="914400">
        <a:buNone/>
        <a:defRPr lang="ko-KR" smtClean="0" sz="1800" baseline="0">
          <a:solidFill>
            <a:srgbClr val="000000"/>
          </a:solidFill>
          <a:latin typeface="SimSun"/>
          <a:ea typeface="SimSun"/>
        </a:defRPr>
      </a:lvl1pPr>
      <a:lvl2pPr lvl="1" marL="457200" indent="0" defTabSz="914400">
        <a:defRPr lang="ko-KR" smtClean="0"/>
      </a:lvl2pPr>
      <a:lvl3pPr lvl="2" marL="914400" indent="0" defTabSz="914400">
        <a:defRPr lang="ko-KR" smtClean="0"/>
      </a:lvl3pPr>
      <a:lvl4pPr lvl="3" marL="1371600" indent="0" defTabSz="914400">
        <a:defRPr lang="ko-KR" smtClean="0"/>
      </a:lvl4pPr>
      <a:lvl5pPr lvl="4" marL="1828800" indent="0" defTabSz="914400">
        <a:defRPr lang="ko-KR" smtClean="0"/>
      </a:lvl5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.jpeg" TargetMode="Interna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.jpeg" TargetMode="Interna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.jpeg" TargetMode="Internal"></Relationship><Relationship Id="rId3" Type="http://schemas.openxmlformats.org/officeDocument/2006/relationships/image" Target="../media/fImage4.jpeg" TargetMode="Interna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.jpeg" TargetMode="Internal"></Relationship><Relationship Id="rId3" Type="http://schemas.openxmlformats.org/officeDocument/2006/relationships/image" Target="../media/fImage6.jpeg" TargetMode="Internal"></Relationship><Relationship Id="rId4" Type="http://schemas.openxmlformats.org/officeDocument/2006/relationships/image" Target="../media/fImage7.jpeg" TargetMode="Interna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.jpeg" TargetMode="Internal"></Relationship><Relationship Id="rId3" Type="http://schemas.openxmlformats.org/officeDocument/2006/relationships/image" Target="../media/fImage9.jpeg" TargetMode="Internal"></Relationship><Relationship Id="rId4" Type="http://schemas.openxmlformats.org/officeDocument/2006/relationships/image" Target="../media/fImage10.jpeg" TargetMode="Internal"></Relationship><Relationship Id="rId5" Type="http://schemas.openxmlformats.org/officeDocument/2006/relationships/image" Target="../media/fImage11.jpeg" TargetMode="Internal"></Relationship><Relationship Id="rId6" Type="http://schemas.openxmlformats.org/officeDocument/2006/relationships/image" Target="../media/fImage12.jpeg" TargetMode="Internal"></Relationship><Relationship Id="rId7" Type="http://schemas.openxmlformats.org/officeDocument/2006/relationships/image" Target="../media/fImage13.jpeg" TargetMode="Internal"></Relationship><Relationship Id="rId8" Type="http://schemas.openxmlformats.org/officeDocument/2006/relationships/image" Target="../media/fImage14.jpeg" TargetMode="Interna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.jpeg" TargetMode="Internal"></Relationship><Relationship Id="rId3" Type="http://schemas.openxmlformats.org/officeDocument/2006/relationships/image" Target="../media/fImage16.jpeg" TargetMode="Internal"></Relationship><Relationship Id="rId4" Type="http://schemas.openxmlformats.org/officeDocument/2006/relationships/image" Target="../media/fImage17.jpeg" TargetMode="Internal"></Relationship><Relationship Id="rId5" Type="http://schemas.openxmlformats.org/officeDocument/2006/relationships/image" Target="../media/fImage18.jpeg" TargetMode="Internal"></Relationship><Relationship Id="rId6" Type="http://schemas.openxmlformats.org/officeDocument/2006/relationships/image" Target="../media/fImage19.jpeg" TargetMode="Internal"></Relationship><Relationship Id="rId7" Type="http://schemas.openxmlformats.org/officeDocument/2006/relationships/image" Target="../media/fImage20.jpeg" TargetMode="Interna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.jpeg" TargetMode="Internal"></Relationship><Relationship Id="rId3" Type="http://schemas.openxmlformats.org/officeDocument/2006/relationships/image" Target="../media/fImage22.jpeg" TargetMode="Internal"></Relationship><Relationship Id="rId4" Type="http://schemas.openxmlformats.org/officeDocument/2006/relationships/image" Target="../media/fImage23.jpeg" TargetMode="Internal"></Relationship><Relationship Id="rId5" Type="http://schemas.openxmlformats.org/officeDocument/2006/relationships/image" Target="../media/fImage24.jpeg" TargetMode="Interna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.jpeg" TargetMode="Internal"></Relationship><Relationship Id="rId3" Type="http://schemas.openxmlformats.org/officeDocument/2006/relationships/image" Target="../media/fImage26.jpeg" TargetMode="Interna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.jpeg" TargetMode="Internal"></Relationship><Relationship Id="rId3" Type="http://schemas.openxmlformats.org/officeDocument/2006/relationships/image" Target="../media/fImage28.jpeg" TargetMode="Internal"></Relationship><Relationship Id="rId4" Type="http://schemas.openxmlformats.org/officeDocument/2006/relationships/image" Target="../media/fImage29.jpeg" TargetMode="Internal"></Relationship><Relationship Id="rId5" Type="http://schemas.openxmlformats.org/officeDocument/2006/relationships/image" Target="../media/fImage30.jpeg" TargetMode="Interna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.jpeg" TargetMode="Internal"></Relationship><Relationship Id="rId3" Type="http://schemas.openxmlformats.org/officeDocument/2006/relationships/image" Target="../media/fImage32.jpeg" TargetMode="Internal"></Relationship><Relationship Id="rId4" Type="http://schemas.openxmlformats.org/officeDocument/2006/relationships/image" Target="../media/fImage33.jpeg" TargetMode="Internal"></Relationship><Relationship Id="rId5" Type="http://schemas.openxmlformats.org/officeDocument/2006/relationships/image" Target="../media/fImage34.jpeg" TargetMode="Internal"></Relationship><Relationship Id="rId6" Type="http://schemas.openxmlformats.org/officeDocument/2006/relationships/image" Target="../media/fImage35.jpeg" TargetMode="Interna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.jpeg" TargetMode="Internal"></Relationship><Relationship Id="rId3" Type="http://schemas.openxmlformats.org/officeDocument/2006/relationships/image" Target="../media/fImage37.jpeg" TargetMode="Internal"></Relationship><Relationship Id="rId4" Type="http://schemas.openxmlformats.org/officeDocument/2006/relationships/image" Target="../media/fImage38.jpeg" TargetMode="Interna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.jpeg" TargetMode="Internal"></Relationship><Relationship Id="rId3" Type="http://schemas.openxmlformats.org/officeDocument/2006/relationships/image" Target="../media/fImage40.jpeg" TargetMode="Internal"></Relationship><Relationship Id="rId4" Type="http://schemas.openxmlformats.org/officeDocument/2006/relationships/image" Target="../media/fImage41.jpeg" TargetMode="Interna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.jpeg" TargetMode="Internal"></Relationship><Relationship Id="rId3" Type="http://schemas.openxmlformats.org/officeDocument/2006/relationships/image" Target="../media/fImage43.jpeg" TargetMode="Internal"></Relationship><Relationship Id="rId4" Type="http://schemas.openxmlformats.org/officeDocument/2006/relationships/image" Target="../media/fImage44.jpeg" TargetMode="Internal"></Relationship><Relationship Id="rId5" Type="http://schemas.openxmlformats.org/officeDocument/2006/relationships/image" Target="../media/fImage45.jpeg" TargetMode="Internal"></Relationship><Relationship Id="rId6" Type="http://schemas.openxmlformats.org/officeDocument/2006/relationships/image" Target="../media/fImage46.jpeg" TargetMode="Internal"></Relationship><Relationship Id="rId7" Type="http://schemas.openxmlformats.org/officeDocument/2006/relationships/image" Target="../media/fImage47.jpeg" TargetMode="Interna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.jpeg" TargetMode="Internal"></Relationship><Relationship Id="rId3" Type="http://schemas.openxmlformats.org/officeDocument/2006/relationships/image" Target="../media/fImage49.jpeg" TargetMode="Interna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.jpeg" TargetMode="Internal"></Relationship><Relationship Id="rId3" Type="http://schemas.openxmlformats.org/officeDocument/2006/relationships/image" Target="../media/fImage51.jpeg" TargetMode="Internal"></Relationship><Relationship Id="rId4" Type="http://schemas.openxmlformats.org/officeDocument/2006/relationships/image" Target="../media/fImage52.jpeg" TargetMode="Internal"></Relationship><Relationship Id="rId5" Type="http://schemas.openxmlformats.org/officeDocument/2006/relationships/image" Target="../media/fImage53.jpeg" TargetMode="Interna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.jpeg" TargetMode="Internal"></Relationship><Relationship Id="rId3" Type="http://schemas.openxmlformats.org/officeDocument/2006/relationships/image" Target="../media/fImage55.jpeg" TargetMode="Interna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6.jpeg" TargetMode="Internal"></Relationship><Relationship Id="rId3" Type="http://schemas.openxmlformats.org/officeDocument/2006/relationships/image" Target="../media/fImage57.jpeg" TargetMode="Internal"></Relationship><Relationship Id="rId4" Type="http://schemas.openxmlformats.org/officeDocument/2006/relationships/image" Target="../media/fImage58.jpeg" TargetMode="Internal"></Relationship><Relationship Id="rId5" Type="http://schemas.openxmlformats.org/officeDocument/2006/relationships/image" Target="../media/fImage59.jpeg" TargetMode="Internal"></Relationship><Relationship Id="rId6" Type="http://schemas.openxmlformats.org/officeDocument/2006/relationships/image" Target="../media/fImage60.jpeg" TargetMode="Interna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1.jpeg" TargetMode="Internal"></Relationship><Relationship Id="rId3" Type="http://schemas.openxmlformats.org/officeDocument/2006/relationships/image" Target="../media/fImage62.jpeg" TargetMode="Internal"></Relationship><Relationship Id="rId4" Type="http://schemas.openxmlformats.org/officeDocument/2006/relationships/image" Target="../media/fImage63.jpeg" TargetMode="Interna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4.jpeg" TargetMode="Internal"></Relationship><Relationship Id="rId3" Type="http://schemas.openxmlformats.org/officeDocument/2006/relationships/image" Target="../media/fImage65.jpeg" TargetMode="Internal"></Relationship><Relationship Id="rId4" Type="http://schemas.openxmlformats.org/officeDocument/2006/relationships/image" Target="../media/fImage66.jpeg" TargetMode="Internal"></Relationship><Relationship Id="rId5" Type="http://schemas.openxmlformats.org/officeDocument/2006/relationships/image" Target="../media/fImage67.jpeg" TargetMode="Interna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8.jpeg" TargetMode="Internal"></Relationship><Relationship Id="rId3" Type="http://schemas.openxmlformats.org/officeDocument/2006/relationships/image" Target="../media/fImage69.jpeg" TargetMode="Internal"></Relationship><Relationship Id="rId4" Type="http://schemas.openxmlformats.org/officeDocument/2006/relationships/image" Target="../media/fImage70.jpeg" TargetMode="Interna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1.jpeg" TargetMode="Internal"></Relationship><Relationship Id="rId3" Type="http://schemas.openxmlformats.org/officeDocument/2006/relationships/image" Target="../media/fImage72.jpeg" TargetMode="Internal"></Relationship><Relationship Id="rId4" Type="http://schemas.openxmlformats.org/officeDocument/2006/relationships/image" Target="../media/fImage73.jpeg" TargetMode="Interna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4.jpeg" TargetMode="Internal"></Relationship><Relationship Id="rId3" Type="http://schemas.openxmlformats.org/officeDocument/2006/relationships/image" Target="../media/fImage75.jpeg" TargetMode="Internal"></Relationship><Relationship Id="rId4" Type="http://schemas.openxmlformats.org/officeDocument/2006/relationships/image" Target="../media/fImage76.jpeg" TargetMode="Interna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7.jpeg" TargetMode="Internal"></Relationship><Relationship Id="rId3" Type="http://schemas.openxmlformats.org/officeDocument/2006/relationships/image" Target="../media/fImage78.jpeg" TargetMode="Internal"></Relationship><Relationship Id="rId4" Type="http://schemas.openxmlformats.org/officeDocument/2006/relationships/image" Target="../media/fImage79.jpeg" TargetMode="Interna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0.jpeg" TargetMode="Internal"></Relationship><Relationship Id="rId3" Type="http://schemas.openxmlformats.org/officeDocument/2006/relationships/image" Target="../media/fImage81.jpeg" TargetMode="Internal"></Relationship><Relationship Id="rId4" Type="http://schemas.openxmlformats.org/officeDocument/2006/relationships/image" Target="../media/fImage82.jpeg" TargetMode="Internal"></Relationship><Relationship Id="rId5" Type="http://schemas.openxmlformats.org/officeDocument/2006/relationships/image" Target="../media/fImage83.jpeg" TargetMode="Interna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4.jpeg" TargetMode="Internal"></Relationship><Relationship Id="rId3" Type="http://schemas.openxmlformats.org/officeDocument/2006/relationships/image" Target="../media/fImage85.jpeg" TargetMode="Internal"></Relationship><Relationship Id="rId4" Type="http://schemas.openxmlformats.org/officeDocument/2006/relationships/image" Target="../media/fImage86.jpeg" TargetMode="Internal"></Relationship><Relationship Id="rId5" Type="http://schemas.openxmlformats.org/officeDocument/2006/relationships/image" Target="../media/fImage87.jpeg" TargetMode="Interna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8.jpeg" TargetMode="Internal"></Relationship><Relationship Id="rId3" Type="http://schemas.openxmlformats.org/officeDocument/2006/relationships/image" Target="../media/fImage89.jpeg" TargetMode="Internal"></Relationship><Relationship Id="rId4" Type="http://schemas.openxmlformats.org/officeDocument/2006/relationships/image" Target="../media/fImage90.jpeg" TargetMode="Interna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1.jpeg" TargetMode="Internal"></Relationship><Relationship Id="rId3" Type="http://schemas.openxmlformats.org/officeDocument/2006/relationships/image" Target="../media/fImage92.jpeg" TargetMode="Interna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3.jpeg" TargetMode="Internal"></Relationship><Relationship Id="rId3" Type="http://schemas.openxmlformats.org/officeDocument/2006/relationships/image" Target="../media/fImage94.jpeg" TargetMode="Interna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5.jpeg" TargetMode="Internal"></Relationship><Relationship Id="rId3" Type="http://schemas.openxmlformats.org/officeDocument/2006/relationships/image" Target="../media/fImage96.jpeg" TargetMode="Internal"></Relationship><Relationship Id="rId4" Type="http://schemas.openxmlformats.org/officeDocument/2006/relationships/image" Target="../media/fImage97.jpeg" TargetMode="Interna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8.jpeg" TargetMode="Internal"></Relationship><Relationship Id="rId3" Type="http://schemas.openxmlformats.org/officeDocument/2006/relationships/image" Target="../media/fImage99.jpeg" TargetMode="Internal"></Relationship><Relationship Id="rId4" Type="http://schemas.openxmlformats.org/officeDocument/2006/relationships/image" Target="../media/fImage100.jpeg" TargetMode="Interna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1.jpeg" TargetMode="Internal"></Relationship><Relationship Id="rId3" Type="http://schemas.openxmlformats.org/officeDocument/2006/relationships/image" Target="../media/fImage102.jpeg" TargetMode="Internal"></Relationship><Relationship Id="rId4" Type="http://schemas.openxmlformats.org/officeDocument/2006/relationships/image" Target="../media/fImage103.jpeg" TargetMode="Internal"></Relationship><Relationship Id="rId5" Type="http://schemas.openxmlformats.org/officeDocument/2006/relationships/image" Target="../media/fImage104.jpeg" TargetMode="Interna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5.jpeg" TargetMode="Internal"></Relationship><Relationship Id="rId3" Type="http://schemas.openxmlformats.org/officeDocument/2006/relationships/image" Target="../media/fImage106.jpeg" TargetMode="Internal"></Relationship><Relationship Id="rId4" Type="http://schemas.openxmlformats.org/officeDocument/2006/relationships/image" Target="../media/fImage107.jpeg" TargetMode="Internal"></Relationship><Relationship Id="rId5" Type="http://schemas.openxmlformats.org/officeDocument/2006/relationships/image" Target="../media/fImage108.jpeg" TargetMode="Interna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9.jpeg" TargetMode="Internal"></Relationship><Relationship Id="rId3" Type="http://schemas.openxmlformats.org/officeDocument/2006/relationships/image" Target="../media/fImage110.jpeg" TargetMode="Internal"></Relationship><Relationship Id="rId4" Type="http://schemas.openxmlformats.org/officeDocument/2006/relationships/image" Target="../media/fImage111.jpeg" TargetMode="Interna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2.jpeg" TargetMode="Internal"></Relationship><Relationship Id="rId3" Type="http://schemas.openxmlformats.org/officeDocument/2006/relationships/image" Target="../media/fImage113.jpeg" TargetMode="Interna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4.jpeg" TargetMode="Internal"></Relationship><Relationship Id="rId3" Type="http://schemas.openxmlformats.org/officeDocument/2006/relationships/image" Target="../media/fImage115.jpeg" TargetMode="Internal"></Relationship><Relationship Id="rId4" Type="http://schemas.openxmlformats.org/officeDocument/2006/relationships/image" Target="../media/fImage116.jpeg" TargetMode="Internal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7.jpeg" TargetMode="Internal"></Relationship><Relationship Id="rId3" Type="http://schemas.openxmlformats.org/officeDocument/2006/relationships/image" Target="../media/fImage118.jpeg" TargetMode="Internal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9.jpeg" TargetMode="Internal"></Relationship><Relationship Id="rId3" Type="http://schemas.openxmlformats.org/officeDocument/2006/relationships/image" Target="../media/fImage120.jpeg" TargetMode="Internal"></Relationship><Relationship Id="rId4" Type="http://schemas.openxmlformats.org/officeDocument/2006/relationships/image" Target="../media/fImage121.jpeg" TargetMode="Internal"></Relationship><Relationship Id="rId5" Type="http://schemas.openxmlformats.org/officeDocument/2006/relationships/image" Target="../media/fImage122.jpeg" TargetMode="Interna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3.jpeg" TargetMode="Internal"></Relationship><Relationship Id="rId3" Type="http://schemas.openxmlformats.org/officeDocument/2006/relationships/image" Target="../media/fImage124.jpeg" TargetMode="Internal"></Relationship><Relationship Id="rId4" Type="http://schemas.openxmlformats.org/officeDocument/2006/relationships/image" Target="../media/fImage125.jpeg" TargetMode="Internal"></Relationship><Relationship Id="rId5" Type="http://schemas.openxmlformats.org/officeDocument/2006/relationships/image" Target="../media/fImage126.jpeg" TargetMode="Internal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7.jpeg" TargetMode="Internal"></Relationship><Relationship Id="rId3" Type="http://schemas.openxmlformats.org/officeDocument/2006/relationships/image" Target="../media/fImage128.jpeg" TargetMode="Interna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9.jpeg" TargetMode="Internal"></Relationship><Relationship Id="rId3" Type="http://schemas.openxmlformats.org/officeDocument/2006/relationships/image" Target="../media/fImage130.jpeg" TargetMode="Internal"></Relationship><Relationship Id="rId4" Type="http://schemas.openxmlformats.org/officeDocument/2006/relationships/image" Target="../media/fImage131.jpeg" TargetMode="Internal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2.jpeg" TargetMode="Internal"></Relationship><Relationship Id="rId3" Type="http://schemas.openxmlformats.org/officeDocument/2006/relationships/image" Target="../media/fImage133.jpeg" TargetMode="Internal"></Relationship><Relationship Id="rId4" Type="http://schemas.openxmlformats.org/officeDocument/2006/relationships/image" Target="../media/fImage134.jpeg" TargetMode="Internal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5.jpeg" TargetMode="Internal"></Relationship><Relationship Id="rId3" Type="http://schemas.openxmlformats.org/officeDocument/2006/relationships/image" Target="../media/fImage136.jpeg" TargetMode="Interna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7.jpeg" TargetMode="Internal"></Relationship><Relationship Id="rId3" Type="http://schemas.openxmlformats.org/officeDocument/2006/relationships/image" Target="../media/fImage138.jpeg" TargetMode="Interna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9.jpeg" TargetMode="Internal"></Relationship><Relationship Id="rId3" Type="http://schemas.openxmlformats.org/officeDocument/2006/relationships/image" Target="../media/fImage140.jpeg" TargetMode="Internal"></Relationship><Relationship Id="rId4" Type="http://schemas.openxmlformats.org/officeDocument/2006/relationships/image" Target="../media/fImage141.jpeg" TargetMode="Internal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2.jpeg" TargetMode="Interna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3.jpeg" TargetMode="Internal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4.jpeg" TargetMode="Internal"></Relationship><Relationship Id="rId3" Type="http://schemas.openxmlformats.org/officeDocument/2006/relationships/image" Target="../media/fImage145.jpeg" TargetMode="Internal"></Relationship><Relationship Id="rId4" Type="http://schemas.openxmlformats.org/officeDocument/2006/relationships/image" Target="../media/fImage146.jpeg" TargetMode="Internal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7.jpeg" TargetMode="Internal"></Relationship><Relationship Id="rId3" Type="http://schemas.openxmlformats.org/officeDocument/2006/relationships/image" Target="../media/fImage148.jpeg" TargetMode="Internal"></Relationship><Relationship Id="rId4" Type="http://schemas.openxmlformats.org/officeDocument/2006/relationships/image" Target="../media/fImage149.jpeg" TargetMode="Internal"></Relationship></Relationships>
</file>

<file path=ppt/slides/_rels/slide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0.jpeg" TargetMode="Internal"></Relationship><Relationship Id="rId3" Type="http://schemas.openxmlformats.org/officeDocument/2006/relationships/image" Target="../media/fImage151.jpeg" TargetMode="Internal"></Relationship><Relationship Id="rId4" Type="http://schemas.openxmlformats.org/officeDocument/2006/relationships/image" Target="../media/fImage152.jpeg" TargetMode="Internal"></Relationship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3.jpeg" TargetMode="Internal"></Relationship><Relationship Id="rId3" Type="http://schemas.openxmlformats.org/officeDocument/2006/relationships/image" Target="../media/fImage154.jpeg" TargetMode="Internal"></Relationship><Relationship Id="rId4" Type="http://schemas.openxmlformats.org/officeDocument/2006/relationships/image" Target="../media/fImage155.jpeg" TargetMode="Internal"></Relationship><Relationship Id="rId5" Type="http://schemas.openxmlformats.org/officeDocument/2006/relationships/image" Target="../media/fImage156.jpeg" TargetMode="Internal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7.jpeg" TargetMode="Internal"></Relationship><Relationship Id="rId3" Type="http://schemas.openxmlformats.org/officeDocument/2006/relationships/image" Target="../media/fImage158.jpeg" TargetMode="Internal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9.jpeg" TargetMode="Internal"></Relationship><Relationship Id="rId3" Type="http://schemas.openxmlformats.org/officeDocument/2006/relationships/image" Target="../media/fImage160.jpeg" TargetMode="Internal"></Relationship><Relationship Id="rId4" Type="http://schemas.openxmlformats.org/officeDocument/2006/relationships/image" Target="../media/fImage161.jpeg" TargetMode="Internal"></Relationship></Relationships>
</file>

<file path=ppt/slides/_rels/slide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2.jpeg" TargetMode="Internal"></Relationship><Relationship Id="rId3" Type="http://schemas.openxmlformats.org/officeDocument/2006/relationships/image" Target="../media/fImage163.jpeg" TargetMode="Internal"></Relationship><Relationship Id="rId4" Type="http://schemas.openxmlformats.org/officeDocument/2006/relationships/image" Target="../media/fImage164.jpeg" TargetMode="Internal"></Relationship></Relationships>
</file>

<file path=ppt/slides/_rels/slide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5.jpeg" TargetMode="Internal"></Relationship><Relationship Id="rId3" Type="http://schemas.openxmlformats.org/officeDocument/2006/relationships/image" Target="../media/fImage166.jpeg" TargetMode="Internal"></Relationship><Relationship Id="rId4" Type="http://schemas.openxmlformats.org/officeDocument/2006/relationships/image" Target="../media/fImage167.jpeg" TargetMode="Internal"></Relationship></Relationships>
</file>

<file path=ppt/slides/_rels/slide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8.jpeg" TargetMode="Internal"></Relationship><Relationship Id="rId3" Type="http://schemas.openxmlformats.org/officeDocument/2006/relationships/image" Target="../media/fImage169.jpeg" TargetMode="Internal"></Relationship><Relationship Id="rId4" Type="http://schemas.openxmlformats.org/officeDocument/2006/relationships/image" Target="../media/fImage170.jpeg" TargetMode="Internal"></Relationship></Relationships>
</file>

<file path=ppt/slides/_rels/slide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1.jpeg" TargetMode="Internal"></Relationship><Relationship Id="rId3" Type="http://schemas.openxmlformats.org/officeDocument/2006/relationships/image" Target="../media/fImage172.jpeg" TargetMode="Internal"></Relationship></Relationships>
</file>

<file path=ppt/slides/_rels/slide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3.jpeg" TargetMode="Internal"></Relationship><Relationship Id="rId3" Type="http://schemas.openxmlformats.org/officeDocument/2006/relationships/image" Target="../media/fImage174.jpeg" TargetMode="Internal"></Relationship></Relationships>
</file>

<file path=ppt/slides/_rels/slide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5.jpeg" TargetMode="Internal"></Relationship><Relationship Id="rId3" Type="http://schemas.openxmlformats.org/officeDocument/2006/relationships/image" Target="../media/fImage176.jpeg" TargetMode="Internal"></Relationship><Relationship Id="rId4" Type="http://schemas.openxmlformats.org/officeDocument/2006/relationships/image" Target="../media/fImage177.jpeg" TargetMode="Internal"></Relationship></Relationships>
</file>

<file path=ppt/slides/_rels/slide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8.jpeg" TargetMode="Internal"></Relationship><Relationship Id="rId3" Type="http://schemas.openxmlformats.org/officeDocument/2006/relationships/image" Target="../media/fImage179.jpeg" TargetMode="Internal"></Relationship><Relationship Id="rId4" Type="http://schemas.openxmlformats.org/officeDocument/2006/relationships/image" Target="../media/fImage180.jpeg" TargetMode="Internal"></Relationship></Relationships>
</file>

<file path=ppt/slides/_rels/slide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1.jpeg" TargetMode="Internal"></Relationship><Relationship Id="rId3" Type="http://schemas.openxmlformats.org/officeDocument/2006/relationships/image" Target="../media/fImage182.jpeg" TargetMode="Internal"></Relationship><Relationship Id="rId4" Type="http://schemas.openxmlformats.org/officeDocument/2006/relationships/image" Target="../media/fImage183.jpeg" TargetMode="Internal"></Relationship></Relationships>
</file>

<file path=ppt/slides/_rels/slide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4.jpeg" TargetMode="Internal"></Relationship><Relationship Id="rId3" Type="http://schemas.openxmlformats.org/officeDocument/2006/relationships/image" Target="../media/fImage185.jpeg" TargetMode="Internal"></Relationship><Relationship Id="rId4" Type="http://schemas.openxmlformats.org/officeDocument/2006/relationships/image" Target="../media/fImage186.jpeg" TargetMode="Internal"></Relationship></Relationships>
</file>

<file path=ppt/slides/_rels/slide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7.jpeg" TargetMode="Internal"></Relationship><Relationship Id="rId3" Type="http://schemas.openxmlformats.org/officeDocument/2006/relationships/image" Target="../media/fImage188.jpeg" TargetMode="Internal"></Relationship><Relationship Id="rId4" Type="http://schemas.openxmlformats.org/officeDocument/2006/relationships/image" Target="../media/fImage189.jpeg" TargetMode="Internal"></Relationship><Relationship Id="rId5" Type="http://schemas.openxmlformats.org/officeDocument/2006/relationships/image" Target="../media/fImage190.jpeg" TargetMode="Internal"></Relationship><Relationship Id="rId6" Type="http://schemas.openxmlformats.org/officeDocument/2006/relationships/image" Target="../media/fImage191.jpeg" TargetMode="Internal"></Relationship></Relationships>
</file>

<file path=ppt/slides/_rels/slide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2.jpeg" TargetMode="Internal"></Relationship><Relationship Id="rId3" Type="http://schemas.openxmlformats.org/officeDocument/2006/relationships/image" Target="../media/fImage193.jpeg" TargetMode="Internal"></Relationship></Relationships>
</file>

<file path=ppt/slides/_rels/slide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4.jpeg" TargetMode="Internal"></Relationship><Relationship Id="rId3" Type="http://schemas.openxmlformats.org/officeDocument/2006/relationships/image" Target="../media/fImage195.jpeg" TargetMode="Internal"></Relationship><Relationship Id="rId4" Type="http://schemas.openxmlformats.org/officeDocument/2006/relationships/image" Target="../media/fImage196.jpeg" TargetMode="Internal"></Relationship><Relationship Id="rId5" Type="http://schemas.openxmlformats.org/officeDocument/2006/relationships/image" Target="../media/fImage197.jpeg" TargetMode="Internal"></Relationship></Relationships>
</file>

<file path=ppt/slides/_rels/slide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8.jpeg" TargetMode="Internal"></Relationship><Relationship Id="rId3" Type="http://schemas.openxmlformats.org/officeDocument/2006/relationships/image" Target="../media/fImage199.jpeg" TargetMode="Internal"></Relationship><Relationship Id="rId4" Type="http://schemas.openxmlformats.org/officeDocument/2006/relationships/image" Target="../media/fImage200.jpeg" TargetMode="Internal"></Relationship></Relationships>
</file>

<file path=ppt/slides/_rels/slide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1.jpeg" TargetMode="Internal"></Relationship><Relationship Id="rId3" Type="http://schemas.openxmlformats.org/officeDocument/2006/relationships/image" Target="../media/fImage202.jpeg" TargetMode="Internal"></Relationship></Relationships>
</file>

<file path=ppt/slides/_rels/slide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3.jpeg" TargetMode="Internal"></Relationship></Relationships>
</file>

<file path=ppt/slides/_rels/slide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4.jpeg" TargetMode="Internal"></Relationship></Relationships>
</file>

<file path=ppt/slides/_rels/slide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5.jpeg" TargetMode="Internal"></Relationship><Relationship Id="rId3" Type="http://schemas.openxmlformats.org/officeDocument/2006/relationships/image" Target="../media/fImage206.jpeg" TargetMode="Internal"></Relationship><Relationship Id="rId4" Type="http://schemas.openxmlformats.org/officeDocument/2006/relationships/image" Target="../media/fImage207.jpeg" TargetMode="Internal"></Relationship></Relationships>
</file>

<file path=ppt/slides/_rels/slide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8.jpeg" TargetMode="Internal"></Relationship><Relationship Id="rId3" Type="http://schemas.openxmlformats.org/officeDocument/2006/relationships/image" Target="../media/fImage209.jpeg" TargetMode="Internal"></Relationship><Relationship Id="rId4" Type="http://schemas.openxmlformats.org/officeDocument/2006/relationships/image" Target="../media/fImage210.jpeg" TargetMode="Internal"></Relationship></Relationships>
</file>

<file path=ppt/slides/_rels/slide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1.jpeg" TargetMode="Internal"></Relationship><Relationship Id="rId3" Type="http://schemas.openxmlformats.org/officeDocument/2006/relationships/image" Target="../media/fImage212.jpeg" TargetMode="Internal"></Relationship><Relationship Id="rId4" Type="http://schemas.openxmlformats.org/officeDocument/2006/relationships/image" Target="../media/fImage213.jpeg" TargetMode="Internal"></Relationship></Relationships>
</file>

<file path=ppt/slides/_rels/slide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4.jpeg" TargetMode="Internal"></Relationship></Relationships>
</file>

<file path=ppt/slides/_rels/slide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5.jpeg" TargetMode="Internal"></Relationship></Relationships>
</file>

<file path=ppt/slides/_rels/slide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6.jpeg" TargetMode="Internal"></Relationship><Relationship Id="rId3" Type="http://schemas.openxmlformats.org/officeDocument/2006/relationships/image" Target="../media/fImage217.jpeg" TargetMode="Internal"></Relationship></Relationships>
</file>

<file path=ppt/slides/_rels/slide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8.jpeg" TargetMode="Internal"></Relationship></Relationships>
</file>

<file path=ppt/slides/_rels/slide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9.jpeg" TargetMode="Internal"></Relationship><Relationship Id="rId3" Type="http://schemas.openxmlformats.org/officeDocument/2006/relationships/image" Target="../media/fImage220.jpeg" TargetMode="Internal"></Relationship></Relationships>
</file>

<file path=ppt/slides/_rels/slide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1.jpeg" TargetMode="Internal"></Relationship><Relationship Id="rId3" Type="http://schemas.openxmlformats.org/officeDocument/2006/relationships/image" Target="../media/fImage222.jpeg" TargetMode="Internal"></Relationship></Relationships>
</file>

<file path=ppt/slides/_rels/slide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3.jpeg" TargetMode="Internal"></Relationship></Relationships>
</file>

<file path=ppt/slides/_rels/slide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4.jpeg" TargetMode="Internal"></Relationship><Relationship Id="rId3" Type="http://schemas.openxmlformats.org/officeDocument/2006/relationships/image" Target="../media/fImage225.jpeg" TargetMode="Internal"></Relationship><Relationship Id="rId4" Type="http://schemas.openxmlformats.org/officeDocument/2006/relationships/image" Target="../media/fImage226.jpeg" TargetMode="Internal"></Relationship></Relationships>
</file>

<file path=ppt/slides/_rels/slide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7.jpeg" TargetMode="Internal"></Relationship></Relationships>
</file>

<file path=ppt/slides/_rels/slide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8.jpeg" TargetMode="Internal"></Relationship><Relationship Id="rId3" Type="http://schemas.openxmlformats.org/officeDocument/2006/relationships/image" Target="../media/fImage229.jpeg" TargetMode="Internal"></Relationship><Relationship Id="rId4" Type="http://schemas.openxmlformats.org/officeDocument/2006/relationships/image" Target="../media/fImage230.jpeg" TargetMode="Internal"></Relationship></Relationships>
</file>

<file path=ppt/slides/_rels/slide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1.jpeg" TargetMode="Internal"></Relationship><Relationship Id="rId3" Type="http://schemas.openxmlformats.org/officeDocument/2006/relationships/image" Target="../media/fImage232.jpeg" TargetMode="Internal"></Relationship><Relationship Id="rId4" Type="http://schemas.openxmlformats.org/officeDocument/2006/relationships/image" Target="../media/fImage233.jpeg" TargetMode="Internal"></Relationship><Relationship Id="rId5" Type="http://schemas.openxmlformats.org/officeDocument/2006/relationships/image" Target="../media/fImage234.jpeg" TargetMode="Internal"></Relationship></Relationships>
</file>

<file path=ppt/slides/_rels/slide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5.jpeg" TargetMode="Internal"></Relationship></Relationships>
</file>

<file path=ppt/slides/_rels/slide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6.jpeg" TargetMode="Internal"></Relationship><Relationship Id="rId3" Type="http://schemas.openxmlformats.org/officeDocument/2006/relationships/image" Target="../media/fImage237.jpeg" TargetMode="Internal"></Relationship></Relationships>
</file>

<file path=ppt/slides/_rels/slide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8.jpeg" TargetMode="Internal"></Relationship><Relationship Id="rId3" Type="http://schemas.openxmlformats.org/officeDocument/2006/relationships/image" Target="../media/fImage239.jpeg" TargetMode="Internal"></Relationship><Relationship Id="rId4" Type="http://schemas.openxmlformats.org/officeDocument/2006/relationships/image" Target="../media/fImage240.jpeg" TargetMode="Internal"></Relationship></Relationships>
</file>

<file path=ppt/slides/_rels/slide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1.jpeg" TargetMode="Internal"></Relationship><Relationship Id="rId3" Type="http://schemas.openxmlformats.org/officeDocument/2006/relationships/image" Target="../media/fImage242.jpeg" TargetMode="Internal"></Relationship><Relationship Id="rId4" Type="http://schemas.openxmlformats.org/officeDocument/2006/relationships/image" Target="../media/fImage243.jpeg" TargetMode="Internal"></Relationship></Relationships>
</file>

<file path=ppt/slides/_rels/slide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4.jpeg" TargetMode="Internal"></Relationship><Relationship Id="rId3" Type="http://schemas.openxmlformats.org/officeDocument/2006/relationships/image" Target="../media/fImage245.jpeg" TargetMode="Internal"></Relationship></Relationships>
</file>

<file path=ppt/slides/_rels/slide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6.jpeg" TargetMode="Internal"></Relationship><Relationship Id="rId3" Type="http://schemas.openxmlformats.org/officeDocument/2006/relationships/image" Target="../media/fImage247.jpeg" TargetMode="Internal"></Relationship><Relationship Id="rId4" Type="http://schemas.openxmlformats.org/officeDocument/2006/relationships/image" Target="../media/fImage248.jpeg" TargetMode="Internal"></Relationship></Relationships>
</file>

<file path=ppt/slides/_rels/slide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9.jpeg" TargetMode="Internal"></Relationship><Relationship Id="rId3" Type="http://schemas.openxmlformats.org/officeDocument/2006/relationships/image" Target="../media/fImage250.jpeg" TargetMode="Internal"></Relationship><Relationship Id="rId4" Type="http://schemas.openxmlformats.org/officeDocument/2006/relationships/image" Target="../media/fImage251.jpeg" TargetMode="Internal"></Relationship></Relationships>
</file>

<file path=ppt/slides/_rels/slide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2.jpeg" TargetMode="Internal"></Relationship><Relationship Id="rId3" Type="http://schemas.openxmlformats.org/officeDocument/2006/relationships/image" Target="../media/fImage253.jpeg" TargetMode="Internal"></Relationship></Relationships>
</file>

<file path=ppt/slides/_rels/slide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4.jpeg" TargetMode="Internal"></Relationship></Relationships>
</file>

<file path=ppt/slides/_rels/slide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5.jpeg" TargetMode="Internal"></Relationship></Relationships>
</file>

<file path=ppt/slides/_rels/slide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6.jpeg" TargetMode="Internal"></Relationship><Relationship Id="rId3" Type="http://schemas.openxmlformats.org/officeDocument/2006/relationships/image" Target="../media/fImage257.jpeg" TargetMode="Internal"></Relationship><Relationship Id="rId4" Type="http://schemas.openxmlformats.org/officeDocument/2006/relationships/image" Target="../media/fImage258.jpeg" TargetMode="Internal"></Relationship><Relationship Id="rId5" Type="http://schemas.openxmlformats.org/officeDocument/2006/relationships/image" Target="../media/fImage259.jpeg" TargetMode="Internal"></Relationship><Relationship Id="rId6" Type="http://schemas.openxmlformats.org/officeDocument/2006/relationships/image" Target="../media/fImage260.jpeg" TargetMode="Internal"></Relationship><Relationship Id="rId7" Type="http://schemas.openxmlformats.org/officeDocument/2006/relationships/image" Target="../media/fImage261.jpeg" TargetMode="Internal"></Relationship><Relationship Id="rId8" Type="http://schemas.openxmlformats.org/officeDocument/2006/relationships/image" Target="../media/fImage262.jpeg" TargetMode="Internal"></Relationship><Relationship Id="rId9" Type="http://schemas.openxmlformats.org/officeDocument/2006/relationships/image" Target="../media/fImage263.jpeg" TargetMode="Internal"></Relationship><Relationship Id="rId10" Type="http://schemas.openxmlformats.org/officeDocument/2006/relationships/image" Target="../media/fImage264.jpeg" TargetMode="Internal"></Relationship></Relationships>
</file>

<file path=ppt/slides/_rels/slide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5.jpeg" TargetMode="Internal"></Relationship></Relationships>
</file>

<file path=ppt/slides/_rels/slide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6.jpeg" TargetMode="Internal"></Relationship><Relationship Id="rId3" Type="http://schemas.openxmlformats.org/officeDocument/2006/relationships/image" Target="../media/fImage267.jpeg" TargetMode="Internal"></Relationship><Relationship Id="rId4" Type="http://schemas.openxmlformats.org/officeDocument/2006/relationships/image" Target="../media/fImage268.jpeg" TargetMode="Internal"></Relationship><Relationship Id="rId5" Type="http://schemas.openxmlformats.org/officeDocument/2006/relationships/image" Target="../media/fImage269.jpeg" TargetMode="Internal"></Relationship><Relationship Id="rId6" Type="http://schemas.openxmlformats.org/officeDocument/2006/relationships/image" Target="../media/fImage270.jpeg" TargetMode="Internal"></Relationship><Relationship Id="rId7" Type="http://schemas.openxmlformats.org/officeDocument/2006/relationships/image" Target="../media/fImage271.jpeg" TargetMode="Internal"></Relationship><Relationship Id="rId8" Type="http://schemas.openxmlformats.org/officeDocument/2006/relationships/image" Target="../media/fImage272.jpeg" TargetMode="Internal"></Relationship><Relationship Id="rId9" Type="http://schemas.openxmlformats.org/officeDocument/2006/relationships/image" Target="../media/fImage273.jpeg" TargetMode="Internal"></Relationship><Relationship Id="rId10" Type="http://schemas.openxmlformats.org/officeDocument/2006/relationships/image" Target="../media/fImage274.jpeg" TargetMode="Internal"></Relationship><Relationship Id="rId11" Type="http://schemas.openxmlformats.org/officeDocument/2006/relationships/image" Target="../media/fImage275.jpeg" TargetMode="Internal"></Relationship></Relationships>
</file>

<file path=ppt/slides/_rels/slide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6.jpeg" TargetMode="Internal"></Relationship><Relationship Id="rId3" Type="http://schemas.openxmlformats.org/officeDocument/2006/relationships/image" Target="../media/fImage277.jpeg" TargetMode="Internal"></Relationship></Relationships>
</file>

<file path=ppt/slides/_rels/slide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8.jpeg" TargetMode="Internal"></Relationship><Relationship Id="rId3" Type="http://schemas.openxmlformats.org/officeDocument/2006/relationships/image" Target="../media/fImage279.jpeg" TargetMode="Internal"></Relationship><Relationship Id="rId4" Type="http://schemas.openxmlformats.org/officeDocument/2006/relationships/image" Target="../media/fImage280.jpeg" TargetMode="Internal"></Relationship></Relationships>
</file>

<file path=ppt/slides/_rels/slide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1.jpeg" TargetMode="Internal"></Relationship><Relationship Id="rId3" Type="http://schemas.openxmlformats.org/officeDocument/2006/relationships/image" Target="../media/fImage282.jpeg" TargetMode="Internal"></Relationship><Relationship Id="rId4" Type="http://schemas.openxmlformats.org/officeDocument/2006/relationships/image" Target="../media/fImage283.jpeg" TargetMode="Internal"></Relationship><Relationship Id="rId5" Type="http://schemas.openxmlformats.org/officeDocument/2006/relationships/image" Target="../media/fImage284.jpeg" TargetMode="Internal"></Relationship><Relationship Id="rId6" Type="http://schemas.openxmlformats.org/officeDocument/2006/relationships/image" Target="../media/fImage285.jpeg" TargetMode="Internal"></Relationship><Relationship Id="rId7" Type="http://schemas.openxmlformats.org/officeDocument/2006/relationships/image" Target="../media/fImage286.jpeg" TargetMode="Internal"></Relationship></Relationships>
</file>

<file path=ppt/slides/_rels/slide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7.jpeg" TargetMode="Internal"></Relationship><Relationship Id="rId3" Type="http://schemas.openxmlformats.org/officeDocument/2006/relationships/image" Target="../media/fImage288.jpeg" TargetMode="Internal"></Relationship><Relationship Id="rId4" Type="http://schemas.openxmlformats.org/officeDocument/2006/relationships/image" Target="../media/fImage289.jpeg" TargetMode="Internal"></Relationship></Relationships>
</file>

<file path=ppt/slides/_rels/slide1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0.jpeg" TargetMode="Internal"></Relationship><Relationship Id="rId3" Type="http://schemas.openxmlformats.org/officeDocument/2006/relationships/image" Target="../media/fImage291.jpeg" TargetMode="Internal"></Relationship><Relationship Id="rId4" Type="http://schemas.openxmlformats.org/officeDocument/2006/relationships/image" Target="../media/fImage292.jpeg" TargetMode="Internal"></Relationship></Relationships>
</file>

<file path=ppt/slides/_rels/slide10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3.jpeg" TargetMode="Internal"></Relationship></Relationships>
</file>

<file path=ppt/slides/_rels/slide10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4.jpeg" TargetMode="Internal"></Relationship><Relationship Id="rId3" Type="http://schemas.openxmlformats.org/officeDocument/2006/relationships/image" Target="../media/fImage295.jpeg" TargetMode="Internal"></Relationship><Relationship Id="rId4" Type="http://schemas.openxmlformats.org/officeDocument/2006/relationships/image" Target="../media/fImage296.jpeg" TargetMode="Internal"></Relationship></Relationships>
</file>

<file path=ppt/slides/_rels/slide10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7.jpeg" TargetMode="Internal"></Relationship><Relationship Id="rId3" Type="http://schemas.openxmlformats.org/officeDocument/2006/relationships/image" Target="../media/fImage298.jpeg" TargetMode="Internal"></Relationship></Relationships>
</file>

<file path=ppt/slides/_rels/slide10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9.jpeg" TargetMode="Internal"></Relationship><Relationship Id="rId3" Type="http://schemas.openxmlformats.org/officeDocument/2006/relationships/image" Target="../media/fImage300.jpeg" TargetMode="Internal"></Relationship></Relationships>
</file>

<file path=ppt/slides/_rels/slide10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1.jpeg" TargetMode="Internal"></Relationship><Relationship Id="rId3" Type="http://schemas.openxmlformats.org/officeDocument/2006/relationships/image" Target="../media/fImage302.jpeg" TargetMode="Internal"></Relationship><Relationship Id="rId4" Type="http://schemas.openxmlformats.org/officeDocument/2006/relationships/image" Target="../media/fImage303.jpeg" TargetMode="Internal"></Relationship></Relationships>
</file>

<file path=ppt/slides/_rels/slide10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4.jpeg" TargetMode="Internal"></Relationship><Relationship Id="rId3" Type="http://schemas.openxmlformats.org/officeDocument/2006/relationships/image" Target="../media/fImage305.jpeg" TargetMode="Internal"></Relationship></Relationships>
</file>

<file path=ppt/slides/_rels/slide10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6.jpeg" TargetMode="Internal"></Relationship><Relationship Id="rId3" Type="http://schemas.openxmlformats.org/officeDocument/2006/relationships/image" Target="../media/fImage307.jpeg" TargetMode="Internal"></Relationship></Relationships>
</file>

<file path=ppt/slides/_rels/slide10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8.jpeg" TargetMode="Internal"></Relationship><Relationship Id="rId3" Type="http://schemas.openxmlformats.org/officeDocument/2006/relationships/image" Target="../media/fImage309.jpeg" TargetMode="Internal"></Relationship><Relationship Id="rId4" Type="http://schemas.openxmlformats.org/officeDocument/2006/relationships/image" Target="../media/fImage310.jpeg" TargetMode="Internal"></Relationship></Relationships>
</file>

<file path=ppt/slides/_rels/slide10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1.jpeg" TargetMode="Internal"></Relationship></Relationships>
</file>

<file path=ppt/slides/_rels/slide1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2.jpeg" TargetMode="Internal"></Relationship><Relationship Id="rId3" Type="http://schemas.openxmlformats.org/officeDocument/2006/relationships/image" Target="../media/fImage313.jpeg" TargetMode="Internal"></Relationship><Relationship Id="rId4" Type="http://schemas.openxmlformats.org/officeDocument/2006/relationships/image" Target="../media/fImage314.jpeg" TargetMode="Internal"></Relationship></Relationships>
</file>

<file path=ppt/slides/_rels/slide1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5.jpeg" TargetMode="Internal"></Relationship><Relationship Id="rId3" Type="http://schemas.openxmlformats.org/officeDocument/2006/relationships/image" Target="../media/fImage316.jpeg" TargetMode="Internal"></Relationship></Relationships>
</file>

<file path=ppt/slides/_rels/slide1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7.jpeg" TargetMode="Internal"></Relationship></Relationships>
</file>

<file path=ppt/slides/_rels/slide1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8.jpeg" TargetMode="Internal"></Relationship></Relationships>
</file>

<file path=ppt/slides/_rels/slide1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9.jpeg" TargetMode="Internal"></Relationship><Relationship Id="rId3" Type="http://schemas.openxmlformats.org/officeDocument/2006/relationships/image" Target="../media/fImage320.jpeg" TargetMode="Internal"></Relationship><Relationship Id="rId4" Type="http://schemas.openxmlformats.org/officeDocument/2006/relationships/image" Target="../media/fImage321.jpeg" TargetMode="Internal"></Relationship><Relationship Id="rId5" Type="http://schemas.openxmlformats.org/officeDocument/2006/relationships/image" Target="../media/fImage322.jpeg" TargetMode="Internal"></Relationship></Relationships>
</file>

<file path=ppt/slides/_rels/slide1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3.jpeg" TargetMode="Internal"></Relationship></Relationships>
</file>

<file path=ppt/slides/_rels/slide1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4.jpeg" TargetMode="Internal"></Relationship><Relationship Id="rId3" Type="http://schemas.openxmlformats.org/officeDocument/2006/relationships/image" Target="../media/fImage325.jpeg" TargetMode="Internal"></Relationship><Relationship Id="rId4" Type="http://schemas.openxmlformats.org/officeDocument/2006/relationships/image" Target="../media/fImage326.jpeg" TargetMode="Internal"></Relationship></Relationships>
</file>

<file path=ppt/slides/_rels/slide1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7.jpeg" TargetMode="Internal"></Relationship><Relationship Id="rId3" Type="http://schemas.openxmlformats.org/officeDocument/2006/relationships/image" Target="../media/fImage328.jpeg" TargetMode="Internal"></Relationship><Relationship Id="rId4" Type="http://schemas.openxmlformats.org/officeDocument/2006/relationships/image" Target="../media/fImage329.jpeg" TargetMode="Internal"></Relationship></Relationships>
</file>

<file path=ppt/slides/_rels/slide1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0.jpeg" TargetMode="Internal"></Relationship><Relationship Id="rId3" Type="http://schemas.openxmlformats.org/officeDocument/2006/relationships/image" Target="../media/fImage331.jpeg" TargetMode="Internal"></Relationship><Relationship Id="rId4" Type="http://schemas.openxmlformats.org/officeDocument/2006/relationships/image" Target="../media/fImage332.jpeg" TargetMode="Internal"></Relationship></Relationships>
</file>

<file path=ppt/slides/_rels/slide1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3.jpeg" TargetMode="Internal"></Relationship><Relationship Id="rId3" Type="http://schemas.openxmlformats.org/officeDocument/2006/relationships/image" Target="../media/fImage334.jpeg" TargetMode="Internal"></Relationship><Relationship Id="rId4" Type="http://schemas.openxmlformats.org/officeDocument/2006/relationships/image" Target="../media/fImage335.jpeg" TargetMode="Internal"></Relationship></Relationships>
</file>

<file path=ppt/slides/_rels/slide1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6.jpeg" TargetMode="Internal"></Relationship><Relationship Id="rId3" Type="http://schemas.openxmlformats.org/officeDocument/2006/relationships/image" Target="../media/fImage337.jpeg" TargetMode="Internal"></Relationship></Relationships>
</file>

<file path=ppt/slides/_rels/slide1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8.jpeg" TargetMode="Internal"></Relationship><Relationship Id="rId3" Type="http://schemas.openxmlformats.org/officeDocument/2006/relationships/image" Target="../media/fImage339.jpeg" TargetMode="Internal"></Relationship></Relationships>
</file>

<file path=ppt/slides/_rels/slide1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0.jpeg" TargetMode="Internal"></Relationship><Relationship Id="rId3" Type="http://schemas.openxmlformats.org/officeDocument/2006/relationships/image" Target="../media/fImage341.jpeg" TargetMode="Internal"></Relationship><Relationship Id="rId4" Type="http://schemas.openxmlformats.org/officeDocument/2006/relationships/image" Target="../media/fImage342.jpeg" TargetMode="Internal"></Relationship></Relationships>
</file>

<file path=ppt/slides/_rels/slide1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3.jpeg" TargetMode="Internal"></Relationship><Relationship Id="rId3" Type="http://schemas.openxmlformats.org/officeDocument/2006/relationships/image" Target="../media/fImage344.jpeg" TargetMode="Internal"></Relationship><Relationship Id="rId4" Type="http://schemas.openxmlformats.org/officeDocument/2006/relationships/image" Target="../media/fImage345.jpeg" TargetMode="Internal"></Relationship></Relationships>
</file>

<file path=ppt/slides/_rels/slide1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6.jpeg" TargetMode="Internal"></Relationship><Relationship Id="rId3" Type="http://schemas.openxmlformats.org/officeDocument/2006/relationships/image" Target="../media/fImage347.jpeg" TargetMode="Internal"></Relationship></Relationships>
</file>

<file path=ppt/slides/_rels/slide1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8.jpeg" TargetMode="Internal"></Relationship><Relationship Id="rId3" Type="http://schemas.openxmlformats.org/officeDocument/2006/relationships/image" Target="../media/fImage349.jpeg" TargetMode="Internal"></Relationship><Relationship Id="rId4" Type="http://schemas.openxmlformats.org/officeDocument/2006/relationships/image" Target="../media/fImage350.jpeg" TargetMode="Internal"></Relationship></Relationships>
</file>

<file path=ppt/slides/_rels/slide1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1.jpeg" TargetMode="Internal"></Relationship></Relationships>
</file>

<file path=ppt/slides/_rels/slide1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2.jpeg" TargetMode="Internal"></Relationship><Relationship Id="rId3" Type="http://schemas.openxmlformats.org/officeDocument/2006/relationships/image" Target="../media/fImage353.jpeg" TargetMode="Internal"></Relationship><Relationship Id="rId4" Type="http://schemas.openxmlformats.org/officeDocument/2006/relationships/image" Target="../media/fImage354.jpeg" TargetMode="Internal"></Relationship></Relationships>
</file>

<file path=ppt/slides/_rels/slide1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5.jpeg" TargetMode="Internal"></Relationship><Relationship Id="rId3" Type="http://schemas.openxmlformats.org/officeDocument/2006/relationships/image" Target="../media/fImage356.jpeg" TargetMode="Internal"></Relationship><Relationship Id="rId4" Type="http://schemas.openxmlformats.org/officeDocument/2006/relationships/image" Target="../media/fImage357.jpeg" TargetMode="Internal"></Relationship><Relationship Id="rId5" Type="http://schemas.openxmlformats.org/officeDocument/2006/relationships/image" Target="../media/fImage358.jpeg" TargetMode="Internal"></Relationship></Relationships>
</file>

<file path=ppt/slides/_rels/slide1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9.jpeg" TargetMode="Internal"></Relationship><Relationship Id="rId3" Type="http://schemas.openxmlformats.org/officeDocument/2006/relationships/image" Target="../media/fImage360.jpeg" TargetMode="Internal"></Relationship><Relationship Id="rId4" Type="http://schemas.openxmlformats.org/officeDocument/2006/relationships/image" Target="../media/fImage361.jpeg" TargetMode="Internal"></Relationship></Relationships>
</file>

<file path=ppt/slides/_rels/slide1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2.jpeg" TargetMode="Internal"></Relationship></Relationships>
</file>

<file path=ppt/slides/_rels/slide1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3.jpeg" TargetMode="Internal"></Relationship><Relationship Id="rId3" Type="http://schemas.openxmlformats.org/officeDocument/2006/relationships/image" Target="../media/fImage364.jpeg" TargetMode="Internal"></Relationship><Relationship Id="rId4" Type="http://schemas.openxmlformats.org/officeDocument/2006/relationships/image" Target="../media/fImage365.jpeg" TargetMode="Internal"></Relationship></Relationships>
</file>

<file path=ppt/slides/_rels/slide1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6.jpeg" TargetMode="Internal"></Relationship><Relationship Id="rId3" Type="http://schemas.openxmlformats.org/officeDocument/2006/relationships/image" Target="../media/fImage367.jpeg" TargetMode="Internal"></Relationship></Relationships>
</file>

<file path=ppt/slides/_rels/slide1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8.jpeg" TargetMode="Internal"></Relationship><Relationship Id="rId3" Type="http://schemas.openxmlformats.org/officeDocument/2006/relationships/image" Target="../media/fImage369.jpeg" TargetMode="Internal"></Relationship><Relationship Id="rId4" Type="http://schemas.openxmlformats.org/officeDocument/2006/relationships/image" Target="../media/fImage370.jpeg" TargetMode="Internal"></Relationship></Relationships>
</file>

<file path=ppt/slides/_rels/slide1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1.jpeg" TargetMode="Internal"></Relationship><Relationship Id="rId3" Type="http://schemas.openxmlformats.org/officeDocument/2006/relationships/image" Target="../media/fImage372.jpeg" TargetMode="Internal"></Relationship><Relationship Id="rId4" Type="http://schemas.openxmlformats.org/officeDocument/2006/relationships/image" Target="../media/fImage373.jpeg" TargetMode="Internal"></Relationship></Relationships>
</file>

<file path=ppt/slides/_rels/slide1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4.jpeg" TargetMode="Internal"></Relationship><Relationship Id="rId3" Type="http://schemas.openxmlformats.org/officeDocument/2006/relationships/image" Target="../media/fImage375.jpeg" TargetMode="Internal"></Relationship><Relationship Id="rId4" Type="http://schemas.openxmlformats.org/officeDocument/2006/relationships/image" Target="../media/fImage376.jpeg" TargetMode="Internal"></Relationship></Relationships>
</file>

<file path=ppt/slides/_rels/slide1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7.jpeg" TargetMode="Internal"></Relationship><Relationship Id="rId3" Type="http://schemas.openxmlformats.org/officeDocument/2006/relationships/image" Target="../media/fImage378.jpeg" TargetMode="Internal"></Relationship><Relationship Id="rId4" Type="http://schemas.openxmlformats.org/officeDocument/2006/relationships/image" Target="../media/fImage379.jpeg" TargetMode="Internal"></Relationship></Relationships>
</file>

<file path=ppt/slides/_rels/slide1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0.jpeg" TargetMode="Internal"></Relationship><Relationship Id="rId3" Type="http://schemas.openxmlformats.org/officeDocument/2006/relationships/image" Target="../media/fImage381.jpeg" TargetMode="Internal"></Relationship></Relationships>
</file>

<file path=ppt/slides/_rels/slide1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2.jpeg" TargetMode="Internal"></Relationship><Relationship Id="rId3" Type="http://schemas.openxmlformats.org/officeDocument/2006/relationships/image" Target="../media/fImage383.jpeg" TargetMode="Internal"></Relationship><Relationship Id="rId4" Type="http://schemas.openxmlformats.org/officeDocument/2006/relationships/image" Target="../media/fImage384.jpeg" TargetMode="Internal"></Relationship></Relationships>
</file>

<file path=ppt/slides/_rels/slide1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5.jpeg" TargetMode="Internal"></Relationship><Relationship Id="rId3" Type="http://schemas.openxmlformats.org/officeDocument/2006/relationships/image" Target="../media/fImage386.jpeg" TargetMode="Internal"></Relationship><Relationship Id="rId4" Type="http://schemas.openxmlformats.org/officeDocument/2006/relationships/image" Target="../media/fImage387.jpeg" TargetMode="Internal"></Relationship></Relationships>
</file>

<file path=ppt/slides/_rels/slide1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8.jpeg" TargetMode="Internal"></Relationship><Relationship Id="rId3" Type="http://schemas.openxmlformats.org/officeDocument/2006/relationships/image" Target="../media/fImage389.jpeg" TargetMode="Internal"></Relationship><Relationship Id="rId4" Type="http://schemas.openxmlformats.org/officeDocument/2006/relationships/image" Target="../media/fImage390.jpeg" TargetMode="Internal"></Relationship></Relationships>
</file>

<file path=ppt/slides/_rels/slide1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1.jpeg" TargetMode="Internal"></Relationship><Relationship Id="rId3" Type="http://schemas.openxmlformats.org/officeDocument/2006/relationships/image" Target="../media/fImage392.jpeg" TargetMode="Internal"></Relationship></Relationships>
</file>

<file path=ppt/slides/_rels/slide1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3.jpeg" TargetMode="Internal"></Relationship><Relationship Id="rId3" Type="http://schemas.openxmlformats.org/officeDocument/2006/relationships/image" Target="../media/fImage394.jpeg" TargetMode="Internal"></Relationship></Relationships>
</file>

<file path=ppt/slides/_rels/slide1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5.jpeg" TargetMode="Internal"></Relationship><Relationship Id="rId3" Type="http://schemas.openxmlformats.org/officeDocument/2006/relationships/image" Target="../media/fImage396.jpeg" TargetMode="Internal"></Relationship></Relationships>
</file>

<file path=ppt/slides/_rels/slide1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7.jpeg" TargetMode="Internal"></Relationship><Relationship Id="rId3" Type="http://schemas.openxmlformats.org/officeDocument/2006/relationships/image" Target="../media/fImage398.jpeg" TargetMode="Internal"></Relationship><Relationship Id="rId4" Type="http://schemas.openxmlformats.org/officeDocument/2006/relationships/image" Target="../media/fImage399.jpeg" TargetMode="Internal"></Relationship></Relationships>
</file>

<file path=ppt/slides/_rels/slide1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0.jpeg" TargetMode="Internal"></Relationship><Relationship Id="rId3" Type="http://schemas.openxmlformats.org/officeDocument/2006/relationships/image" Target="../media/fImage401.jpeg" TargetMode="Internal"></Relationship></Relationships>
</file>

<file path=ppt/slides/_rels/slide1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2.jpeg" TargetMode="Internal"></Relationship><Relationship Id="rId3" Type="http://schemas.openxmlformats.org/officeDocument/2006/relationships/image" Target="../media/fImage403.jpeg" TargetMode="Internal"></Relationship><Relationship Id="rId4" Type="http://schemas.openxmlformats.org/officeDocument/2006/relationships/image" Target="../media/fImage404.jpeg" TargetMode="Internal"></Relationship><Relationship Id="rId5" Type="http://schemas.openxmlformats.org/officeDocument/2006/relationships/image" Target="../media/fImage405.jpeg" TargetMode="Internal"></Relationship><Relationship Id="rId6" Type="http://schemas.openxmlformats.org/officeDocument/2006/relationships/image" Target="../media/fImage406.jpeg" TargetMode="Internal"></Relationship><Relationship Id="rId7" Type="http://schemas.openxmlformats.org/officeDocument/2006/relationships/image" Target="../media/fImage407.jpeg" TargetMode="Internal"></Relationship><Relationship Id="rId8" Type="http://schemas.openxmlformats.org/officeDocument/2006/relationships/image" Target="../media/fImage408.jpeg" TargetMode="Internal"></Relationship><Relationship Id="rId9" Type="http://schemas.openxmlformats.org/officeDocument/2006/relationships/image" Target="../media/fImage409.jpeg" TargetMode="Internal"></Relationship></Relationships>
</file>

<file path=ppt/slides/_rels/slide1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0.jpeg" TargetMode="Internal"></Relationship><Relationship Id="rId3" Type="http://schemas.openxmlformats.org/officeDocument/2006/relationships/image" Target="../media/fImage411.jpeg" TargetMode="Internal"></Relationship><Relationship Id="rId4" Type="http://schemas.openxmlformats.org/officeDocument/2006/relationships/image" Target="../media/fImage412.jpeg" TargetMode="Internal"></Relationship><Relationship Id="rId5" Type="http://schemas.openxmlformats.org/officeDocument/2006/relationships/image" Target="../media/fImage413.jpeg" TargetMode="Internal"></Relationship><Relationship Id="rId6" Type="http://schemas.openxmlformats.org/officeDocument/2006/relationships/image" Target="../media/fImage414.jpeg" TargetMode="Internal"></Relationship></Relationships>
</file>

<file path=ppt/slides/_rels/slide1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5.jpeg" TargetMode="Internal"></Relationship><Relationship Id="rId3" Type="http://schemas.openxmlformats.org/officeDocument/2006/relationships/image" Target="../media/fImage416.jpeg" TargetMode="Internal"></Relationship><Relationship Id="rId4" Type="http://schemas.openxmlformats.org/officeDocument/2006/relationships/image" Target="../media/fImage417.jpeg" TargetMode="Internal"></Relationship><Relationship Id="rId5" Type="http://schemas.openxmlformats.org/officeDocument/2006/relationships/image" Target="../media/fImage418.jpeg" TargetMode="Internal"></Relationship><Relationship Id="rId6" Type="http://schemas.openxmlformats.org/officeDocument/2006/relationships/image" Target="../media/fImage419.jpeg" TargetMode="Internal"></Relationship></Relationships>
</file>

<file path=ppt/slides/_rels/slide1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0.jpeg" TargetMode="Internal"></Relationship><Relationship Id="rId3" Type="http://schemas.openxmlformats.org/officeDocument/2006/relationships/image" Target="../media/fImage421.jpeg" TargetMode="Internal"></Relationship></Relationships>
</file>

<file path=ppt/slides/_rels/slide1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2.jpeg" TargetMode="Internal"></Relationship><Relationship Id="rId3" Type="http://schemas.openxmlformats.org/officeDocument/2006/relationships/image" Target="../media/fImage423.jpeg" TargetMode="Internal"></Relationship><Relationship Id="rId4" Type="http://schemas.openxmlformats.org/officeDocument/2006/relationships/image" Target="../media/fImage424.jpeg" TargetMode="Internal"></Relationship></Relationships>
</file>

<file path=ppt/slides/_rels/slide1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5.jpeg" TargetMode="Internal"></Relationship><Relationship Id="rId3" Type="http://schemas.openxmlformats.org/officeDocument/2006/relationships/image" Target="../media/fImage426.jpeg" TargetMode="Internal"></Relationship><Relationship Id="rId4" Type="http://schemas.openxmlformats.org/officeDocument/2006/relationships/image" Target="../media/fImage427.jpeg" TargetMode="Internal"></Relationship><Relationship Id="rId5" Type="http://schemas.openxmlformats.org/officeDocument/2006/relationships/image" Target="../media/fImage428.jpeg" TargetMode="Internal"></Relationship></Relationships>
</file>

<file path=ppt/slides/_rels/slide1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9.jpeg" TargetMode="Internal"></Relationship></Relationships>
</file>

<file path=ppt/slides/_rels/slide1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0.jpeg" TargetMode="Internal"></Relationship><Relationship Id="rId3" Type="http://schemas.openxmlformats.org/officeDocument/2006/relationships/image" Target="../media/fImage431.jpeg" TargetMode="Internal"></Relationship></Relationships>
</file>

<file path=ppt/slides/_rels/slide1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2.jpeg" TargetMode="Internal"></Relationship><Relationship Id="rId3" Type="http://schemas.openxmlformats.org/officeDocument/2006/relationships/image" Target="../media/fImage433.jpeg" TargetMode="Internal"></Relationship><Relationship Id="rId4" Type="http://schemas.openxmlformats.org/officeDocument/2006/relationships/image" Target="../media/fImage434.jpeg" TargetMode="Internal"></Relationship></Relationships>
</file>

<file path=ppt/slides/_rels/slide1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5.jpeg" TargetMode="Internal"></Relationship><Relationship Id="rId3" Type="http://schemas.openxmlformats.org/officeDocument/2006/relationships/image" Target="../media/fImage436.jpeg" TargetMode="Internal"></Relationship><Relationship Id="rId4" Type="http://schemas.openxmlformats.org/officeDocument/2006/relationships/image" Target="../media/fImage437.jpeg" TargetMode="Internal"></Relationship></Relationships>
</file>

<file path=ppt/slides/_rels/slide1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8.jpeg" TargetMode="Internal"></Relationship><Relationship Id="rId3" Type="http://schemas.openxmlformats.org/officeDocument/2006/relationships/image" Target="../media/fImage439.jpeg" TargetMode="Internal"></Relationship><Relationship Id="rId4" Type="http://schemas.openxmlformats.org/officeDocument/2006/relationships/image" Target="../media/fImage440.jpeg" TargetMode="Internal"></Relationship><Relationship Id="rId5" Type="http://schemas.openxmlformats.org/officeDocument/2006/relationships/image" Target="../media/fImage441.jpeg" TargetMode="Internal"></Relationship></Relationships>
</file>

<file path=ppt/slides/_rels/slide1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2.jpeg" TargetMode="Internal"></Relationship></Relationships>
</file>

<file path=ppt/slides/_rels/slide1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3.jpeg" TargetMode="Internal"></Relationship><Relationship Id="rId3" Type="http://schemas.openxmlformats.org/officeDocument/2006/relationships/image" Target="../media/fImage444.jpeg" TargetMode="Internal"></Relationship><Relationship Id="rId4" Type="http://schemas.openxmlformats.org/officeDocument/2006/relationships/image" Target="../media/fImage445.jpeg" TargetMode="Internal"></Relationship></Relationships>
</file>

<file path=ppt/slides/_rels/slide1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6.jpeg" TargetMode="Internal"></Relationship><Relationship Id="rId3" Type="http://schemas.openxmlformats.org/officeDocument/2006/relationships/image" Target="../media/fImage447.jpeg" TargetMode="Internal"></Relationship></Relationships>
</file>

<file path=ppt/slides/_rels/slide1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8.jpeg" TargetMode="Internal"></Relationship><Relationship Id="rId3" Type="http://schemas.openxmlformats.org/officeDocument/2006/relationships/image" Target="../media/fImage449.jpeg" TargetMode="Internal"></Relationship></Relationships>
</file>

<file path=ppt/slides/_rels/slide1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0.jpeg" TargetMode="Internal"></Relationship><Relationship Id="rId3" Type="http://schemas.openxmlformats.org/officeDocument/2006/relationships/image" Target="../media/fImage451.jpeg" TargetMode="Internal"></Relationship><Relationship Id="rId4" Type="http://schemas.openxmlformats.org/officeDocument/2006/relationships/image" Target="../media/fImage452.jpeg" TargetMode="Internal"></Relationship></Relationships>
</file>

<file path=ppt/slides/_rels/slide1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3.jpeg" TargetMode="Internal"></Relationship><Relationship Id="rId3" Type="http://schemas.openxmlformats.org/officeDocument/2006/relationships/image" Target="../media/fImage454.jpeg" TargetMode="Internal"></Relationship><Relationship Id="rId4" Type="http://schemas.openxmlformats.org/officeDocument/2006/relationships/image" Target="../media/fImage455.jpeg" TargetMode="Internal"></Relationship><Relationship Id="rId5" Type="http://schemas.openxmlformats.org/officeDocument/2006/relationships/image" Target="../media/fImage456.jpeg" TargetMode="Internal"></Relationship></Relationships>
</file>

<file path=ppt/slides/_rels/slide1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7.jpeg" TargetMode="Internal"></Relationship><Relationship Id="rId3" Type="http://schemas.openxmlformats.org/officeDocument/2006/relationships/image" Target="../media/fImage458.jpeg" TargetMode="Internal"></Relationship><Relationship Id="rId4" Type="http://schemas.openxmlformats.org/officeDocument/2006/relationships/image" Target="../media/fImage459.jpeg" TargetMode="Internal"></Relationship><Relationship Id="rId5" Type="http://schemas.openxmlformats.org/officeDocument/2006/relationships/image" Target="../media/fImage460.jpeg" TargetMode="Internal"></Relationship></Relationships>
</file>

<file path=ppt/slides/_rels/slide1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1.jpeg" TargetMode="Internal"></Relationship><Relationship Id="rId3" Type="http://schemas.openxmlformats.org/officeDocument/2006/relationships/image" Target="../media/fImage462.jpeg" TargetMode="Internal"></Relationship><Relationship Id="rId4" Type="http://schemas.openxmlformats.org/officeDocument/2006/relationships/image" Target="../media/fImage463.jpeg" TargetMode="Internal"></Relationship><Relationship Id="rId5" Type="http://schemas.openxmlformats.org/officeDocument/2006/relationships/image" Target="../media/fImage464.jpeg" TargetMode="Internal"></Relationship></Relationships>
</file>

<file path=ppt/slides/_rels/slide1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5.jpeg" TargetMode="Internal"></Relationship><Relationship Id="rId3" Type="http://schemas.openxmlformats.org/officeDocument/2006/relationships/image" Target="../media/fImage466.jpeg" TargetMode="Internal"></Relationship></Relationships>
</file>

<file path=ppt/slides/_rels/slide1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7.jpeg" TargetMode="Internal"></Relationship></Relationships>
</file>

<file path=ppt/slides/_rels/slide1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8.jpeg" TargetMode="Internal"></Relationship><Relationship Id="rId3" Type="http://schemas.openxmlformats.org/officeDocument/2006/relationships/image" Target="../media/fImage469.jpeg" TargetMode="Internal"></Relationship></Relationships>
</file>

<file path=ppt/slides/_rels/slide1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0.jpeg" TargetMode="Internal"></Relationship><Relationship Id="rId3" Type="http://schemas.openxmlformats.org/officeDocument/2006/relationships/image" Target="../media/fImage471.jpeg" TargetMode="Internal"></Relationship></Relationships>
</file>

<file path=ppt/slides/_rels/slide1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2.jpeg" TargetMode="Internal"></Relationship><Relationship Id="rId3" Type="http://schemas.openxmlformats.org/officeDocument/2006/relationships/image" Target="../media/fImage473.jpeg" TargetMode="Internal"></Relationship><Relationship Id="rId4" Type="http://schemas.openxmlformats.org/officeDocument/2006/relationships/image" Target="../media/fImage474.jpeg" TargetMode="Internal"></Relationship></Relationships>
</file>

<file path=ppt/slides/_rels/slide1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5.jpeg" TargetMode="Internal"></Relationship><Relationship Id="rId3" Type="http://schemas.openxmlformats.org/officeDocument/2006/relationships/image" Target="../media/fImage476.jpeg" TargetMode="Internal"></Relationship></Relationships>
</file>

<file path=ppt/slides/_rels/slide1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7.jpeg" TargetMode="Internal"></Relationship></Relationships>
</file>

<file path=ppt/slides/_rels/slide1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8.jpeg" TargetMode="Internal"></Relationship><Relationship Id="rId3" Type="http://schemas.openxmlformats.org/officeDocument/2006/relationships/image" Target="../media/fImage479.jpeg" TargetMode="Internal"></Relationship><Relationship Id="rId4" Type="http://schemas.openxmlformats.org/officeDocument/2006/relationships/image" Target="../media/fImage480.jpeg" TargetMode="Internal"></Relationship><Relationship Id="rId5" Type="http://schemas.openxmlformats.org/officeDocument/2006/relationships/image" Target="../media/fImage481.jpeg" TargetMode="Internal"></Relationship></Relationships>
</file>

<file path=ppt/slides/_rels/slide1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2.jpeg" TargetMode="Internal"></Relationship><Relationship Id="rId3" Type="http://schemas.openxmlformats.org/officeDocument/2006/relationships/image" Target="../media/fImage483.jpeg" TargetMode="Internal"></Relationship><Relationship Id="rId4" Type="http://schemas.openxmlformats.org/officeDocument/2006/relationships/image" Target="../media/fImage484.jpeg" TargetMode="Internal"></Relationship><Relationship Id="rId5" Type="http://schemas.openxmlformats.org/officeDocument/2006/relationships/image" Target="../media/fImage485.jpeg" TargetMode="Internal"></Relationship></Relationships>
</file>

<file path=ppt/slides/_rels/slide1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6.jpeg" TargetMode="Internal"></Relationship><Relationship Id="rId3" Type="http://schemas.openxmlformats.org/officeDocument/2006/relationships/image" Target="../media/fImage487.jpeg" TargetMode="Internal"></Relationship></Relationships>
</file>

<file path=ppt/slides/_rels/slide1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8.jpeg" TargetMode="Internal"></Relationship><Relationship Id="rId3" Type="http://schemas.openxmlformats.org/officeDocument/2006/relationships/image" Target="../media/fImage489.jpeg" TargetMode="Internal"></Relationship></Relationships>
</file>

<file path=ppt/slides/_rels/slide1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0.jpeg" TargetMode="Internal"></Relationship><Relationship Id="rId3" Type="http://schemas.openxmlformats.org/officeDocument/2006/relationships/image" Target="../media/fImage491.jpeg" TargetMode="Internal"></Relationship></Relationships>
</file>

<file path=ppt/slides/_rels/slide1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2.jpeg" TargetMode="Internal"></Relationship><Relationship Id="rId3" Type="http://schemas.openxmlformats.org/officeDocument/2006/relationships/image" Target="../media/fImage493.jpeg" TargetMode="Internal"></Relationship><Relationship Id="rId4" Type="http://schemas.openxmlformats.org/officeDocument/2006/relationships/image" Target="../media/fImage494.jpeg" TargetMode="Internal"></Relationship><Relationship Id="rId5" Type="http://schemas.openxmlformats.org/officeDocument/2006/relationships/image" Target="../media/fImage495.jpeg" TargetMode="Internal"></Relationship><Relationship Id="rId6" Type="http://schemas.openxmlformats.org/officeDocument/2006/relationships/image" Target="../media/fImage496.jpeg" TargetMode="Internal"></Relationship></Relationships>
</file>

<file path=ppt/slides/_rels/slide1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7.jpeg" TargetMode="Internal"></Relationship></Relationships>
</file>

<file path=ppt/slides/_rels/slide1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8.jpeg" TargetMode="Internal"></Relationship><Relationship Id="rId3" Type="http://schemas.openxmlformats.org/officeDocument/2006/relationships/image" Target="../media/fImage499.jpeg" TargetMode="Internal"></Relationship></Relationships>
</file>

<file path=ppt/slides/_rels/slide1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0.jpeg" TargetMode="Internal"></Relationship><Relationship Id="rId3" Type="http://schemas.openxmlformats.org/officeDocument/2006/relationships/image" Target="../media/fImage501.jpeg" TargetMode="Internal"></Relationship></Relationships>
</file>

<file path=ppt/slides/_rels/slide1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2.jpeg" TargetMode="Internal"></Relationship></Relationships>
</file>

<file path=ppt/slides/_rels/slide1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3.jpeg" TargetMode="Internal"></Relationship></Relationships>
</file>

<file path=ppt/slides/_rels/slide1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4.jpeg" TargetMode="Internal"></Relationship><Relationship Id="rId3" Type="http://schemas.openxmlformats.org/officeDocument/2006/relationships/image" Target="../media/fImage505.jpeg" TargetMode="Internal"></Relationship><Relationship Id="rId4" Type="http://schemas.openxmlformats.org/officeDocument/2006/relationships/image" Target="../media/fImage506.jpeg" TargetMode="Internal"></Relationship></Relationships>
</file>

<file path=ppt/slides/_rels/slide1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7.jpeg" TargetMode="Internal"></Relationship><Relationship Id="rId3" Type="http://schemas.openxmlformats.org/officeDocument/2006/relationships/image" Target="../media/fImage508.jpeg" TargetMode="Internal"></Relationship><Relationship Id="rId4" Type="http://schemas.openxmlformats.org/officeDocument/2006/relationships/image" Target="../media/fImage509.jpeg" TargetMode="Internal"></Relationship></Relationships>
</file>

<file path=ppt/slides/_rels/slide1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0.jpeg" TargetMode="Internal"></Relationship></Relationships>
</file>

<file path=ppt/slides/_rels/slide1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1.jpeg" TargetMode="Internal"></Relationship><Relationship Id="rId3" Type="http://schemas.openxmlformats.org/officeDocument/2006/relationships/image" Target="../media/fImage512.jpeg" TargetMode="Internal"></Relationship></Relationships>
</file>

<file path=ppt/slides/_rels/slide1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3.jpeg" TargetMode="Internal"></Relationship><Relationship Id="rId3" Type="http://schemas.openxmlformats.org/officeDocument/2006/relationships/image" Target="../media/fImage514.jpeg" TargetMode="Internal"></Relationship></Relationships>
</file>

<file path=ppt/slides/_rels/slide1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5.jpeg" TargetMode="Internal"></Relationship><Relationship Id="rId3" Type="http://schemas.openxmlformats.org/officeDocument/2006/relationships/image" Target="../media/fImage516.jpeg" TargetMode="Internal"></Relationship></Relationships>
</file>

<file path=ppt/slides/_rels/slide1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7.jpeg" TargetMode="Internal"></Relationship><Relationship Id="rId3" Type="http://schemas.openxmlformats.org/officeDocument/2006/relationships/image" Target="../media/fImage518.jpeg" TargetMode="Internal"></Relationship><Relationship Id="rId4" Type="http://schemas.openxmlformats.org/officeDocument/2006/relationships/image" Target="../media/fImage519.jpeg" TargetMode="Internal"></Relationship></Relationships>
</file>

<file path=ppt/slides/_rels/slide1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0.jpeg" TargetMode="Internal"></Relationship><Relationship Id="rId3" Type="http://schemas.openxmlformats.org/officeDocument/2006/relationships/image" Target="../media/fImage521.jpeg" TargetMode="Internal"></Relationship></Relationships>
</file>

<file path=ppt/slides/_rels/slide1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2.jpeg" TargetMode="Internal"></Relationship><Relationship Id="rId3" Type="http://schemas.openxmlformats.org/officeDocument/2006/relationships/image" Target="../media/fImage523.jpeg" TargetMode="Internal"></Relationship><Relationship Id="rId4" Type="http://schemas.openxmlformats.org/officeDocument/2006/relationships/image" Target="../media/fImage524.jpeg" TargetMode="Internal"></Relationship></Relationships>
</file>

<file path=ppt/slides/_rels/slide1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5.jpeg" TargetMode="Internal"></Relationship><Relationship Id="rId3" Type="http://schemas.openxmlformats.org/officeDocument/2006/relationships/image" Target="../media/fImage526.jpeg" TargetMode="Internal"></Relationship></Relationships>
</file>

<file path=ppt/slides/_rels/slide1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7.jpeg" TargetMode="Internal"></Relationship><Relationship Id="rId3" Type="http://schemas.openxmlformats.org/officeDocument/2006/relationships/image" Target="../media/fImage528.jpeg" TargetMode="Internal"></Relationship></Relationships>
</file>

<file path=ppt/slides/_rels/slide1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9.jpeg" TargetMode="Internal"></Relationship><Relationship Id="rId3" Type="http://schemas.openxmlformats.org/officeDocument/2006/relationships/image" Target="../media/fImage530.jpeg" TargetMode="Internal"></Relationship><Relationship Id="rId4" Type="http://schemas.openxmlformats.org/officeDocument/2006/relationships/image" Target="../media/fImage531.jpeg" TargetMode="Internal"></Relationship></Relationships>
</file>

<file path=ppt/slides/_rels/slide1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32.jpeg" TargetMode="Internal"></Relationship><Relationship Id="rId3" Type="http://schemas.openxmlformats.org/officeDocument/2006/relationships/image" Target="../media/fImage533.jpeg" TargetMode="Internal"></Relationship><Relationship Id="rId4" Type="http://schemas.openxmlformats.org/officeDocument/2006/relationships/image" Target="../media/fImage534.jpeg" TargetMode="Internal"></Relationship></Relationships>
</file>

<file path=ppt/slides/_rels/slide1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35.jpeg" TargetMode="Internal"></Relationship><Relationship Id="rId3" Type="http://schemas.openxmlformats.org/officeDocument/2006/relationships/image" Target="../media/fImage536.jpeg" TargetMode="Internal"></Relationship></Relationships>
</file>

<file path=ppt/slides/_rels/slide1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37.jpeg" TargetMode="Internal"></Relationship><Relationship Id="rId3" Type="http://schemas.openxmlformats.org/officeDocument/2006/relationships/image" Target="../media/fImage538.jpeg" TargetMode="Internal"></Relationship><Relationship Id="rId4" Type="http://schemas.openxmlformats.org/officeDocument/2006/relationships/image" Target="../media/fImage539.jpeg" TargetMode="Internal"></Relationship></Relationships>
</file>

<file path=ppt/slides/_rels/slide1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0.jpeg" TargetMode="Internal"></Relationship><Relationship Id="rId3" Type="http://schemas.openxmlformats.org/officeDocument/2006/relationships/image" Target="../media/fImage541.jpeg" TargetMode="Internal"></Relationship><Relationship Id="rId4" Type="http://schemas.openxmlformats.org/officeDocument/2006/relationships/image" Target="../media/fImage542.jpeg" TargetMode="Internal"></Relationship></Relationships>
</file>

<file path=ppt/slides/_rels/slide1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3.jpeg" TargetMode="Internal"></Relationship><Relationship Id="rId3" Type="http://schemas.openxmlformats.org/officeDocument/2006/relationships/image" Target="../media/fImage544.jpeg" TargetMode="Internal"></Relationship></Relationships>
</file>

<file path=ppt/slides/_rels/slide2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5.jpeg" TargetMode="Internal"></Relationship><Relationship Id="rId3" Type="http://schemas.openxmlformats.org/officeDocument/2006/relationships/image" Target="../media/fImage546.jpeg" TargetMode="Internal"></Relationship><Relationship Id="rId4" Type="http://schemas.openxmlformats.org/officeDocument/2006/relationships/image" Target="../media/fImage547.jpeg" TargetMode="Internal"></Relationship><Relationship Id="rId5" Type="http://schemas.openxmlformats.org/officeDocument/2006/relationships/image" Target="../media/fImage548.jpeg" TargetMode="Internal"></Relationship></Relationships>
</file>

<file path=ppt/slides/_rels/slide20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9.jpeg" TargetMode="Internal"></Relationship><Relationship Id="rId3" Type="http://schemas.openxmlformats.org/officeDocument/2006/relationships/image" Target="../media/fImage550.jpeg" TargetMode="Internal"></Relationship></Relationships>
</file>

<file path=ppt/slides/_rels/slide20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51.jpeg" TargetMode="Internal"></Relationship><Relationship Id="rId3" Type="http://schemas.openxmlformats.org/officeDocument/2006/relationships/image" Target="../media/fImage552.jpeg" TargetMode="Internal"></Relationship><Relationship Id="rId4" Type="http://schemas.openxmlformats.org/officeDocument/2006/relationships/image" Target="../media/fImage553.jpeg" TargetMode="Internal"></Relationship></Relationships>
</file>

<file path=ppt/slides/_rels/slide20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54.jpeg" TargetMode="Internal"></Relationship><Relationship Id="rId3" Type="http://schemas.openxmlformats.org/officeDocument/2006/relationships/image" Target="../media/fImage555.jpeg" TargetMode="Internal"></Relationship><Relationship Id="rId4" Type="http://schemas.openxmlformats.org/officeDocument/2006/relationships/image" Target="../media/fImage556.jpeg" TargetMode="Internal"></Relationship><Relationship Id="rId5" Type="http://schemas.openxmlformats.org/officeDocument/2006/relationships/image" Target="../media/fImage557.jpeg" TargetMode="In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Economics is the study of how societies use scarce resources to produce valuable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commodities and distribute them among different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Microeconomics deals with: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Behavior of individual units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Consuming; How we choose what to buy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Producing; How we choose what to produce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Markets: The interaction of consumers and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Analysis of aggregate issues: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growth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Microeconomics vs. Macroeconomics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Microeconomics is the foundation of macroeconomic analysis.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Themes of Microeconomics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According to Mick Jagger &amp; the Rolling Stones, “You can’t always get what you want”.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Why Not?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Limited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Unlimited Wants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Allocation of Scarce Resources and Trade-offs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 a planned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 a market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Microeconomics and Optimal Trade-offs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Consumer Theory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Workers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Theory of the Firm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Microeconomics and Prices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role of prices in a market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How price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determined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Theories and Models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Microeconomic Analysis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Theories are used to explain observed phenomena in terms of a set of basic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rules and assumptions. For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Theory of the Firm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Theory of Consumer Behavior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Models: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mathematical representation of a theory used to make a prediction.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Validating a Theory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validity of a theory is determined by the quality of its prediction, given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assumptions.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Evolving the Theory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Testing and refining theories is central to the development of the science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Positive versus Normative Economics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Positive Economics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 economics deals with the observations or predictions of the facts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life. For example: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will be the impact of an increase in wages on the price of a product?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Normative Economics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Normative Economics is the value judgments about how economics should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operate, based on certain moral principles or preferences?” For example: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wage rate should be paid to the auto workers to make them an active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member of the society?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a Market?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geographically defined area where buyers and sellers interact to determine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a product or a set of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Markets vs. Industries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Industries are the supply side of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Defining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parameters must be set before an analysis of the market can take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place.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Arbitrage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Buying a product at a low price in one location and selling at a high price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Competitive vs. Noncompetitive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Competitive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Because of the large number of buyers and sellers, no individual buyer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seller can influence the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Example: Most agricultural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Noncompetitive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Markets where individual producers can influence the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Example: OPEC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Competitive markets establish one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Noncompetitive markets may set many prices for the same product.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 Definition - The Extent of a Market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 Definition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buyers and sellers should be included in a given market?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 Extent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Defines the boundaries of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Geographic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Range of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Geographic boundaries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Gold: Lahore vs. Karachi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Housing: Islamabad vs. Rawalpindi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Range of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Gasoline: regular, super, &amp; diesel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Cameras: Polaroid, point &amp; shoot, digital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Markets for Prescription Drugs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Well-defined markets - therapeutic drugs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Ambiguous markets – painkillers </a:t>
            </a:r>
            <a:endParaRPr lang="ko-KR" altLang="en-US" dirty="0" smtClean="0" sz="1097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9080" y="5800090"/>
            <a:ext cx="2889250" cy="26492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Economics; Another Perspective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Economics is the study of the choices made by people who are faced with scarcity.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Scarcity is a situation in which resources are limited but can be used in different ways;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 one good or service must be sacrificed for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Society’s Choices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decisions of producers, consumers and government determine how an economic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system answers three fundamental questions: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What products do we produce?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How do we produce these products?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Who consumes the products?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Factors of Production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 of production are the resources that are used to produce goods and services: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Natural resources: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things created by acts of nature such as land, water, mineral, oil and gas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deposits, renewable and nonrenewable resources.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Labor: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human effort, physical and mental, used by workers in the production of goods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Physical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the machines, buildings, equipment, roads and other objects made by human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beings to produce goods and 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 Human capital: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knowledge and skills acquired by a worker through education and experience.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5. Entrepreneurship: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effort to coordinate the production and sale of goods and services.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Entrepreneurs take risk and commit time and money to a business without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guarantee of profit.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Production Possibilities Frontier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(PPF)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PPF curve shows the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combinations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 to an economy, given that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productive resources are fully and efficiently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employed.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economy is at point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not fully employed and/or they are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used efficiently. Point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g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desirable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yields more of both goods, but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attainable given the amount of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available. Point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		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one of the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combinations of goods produced when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resources are fully and efficiently employed. </a:t>
            </a:r>
            <a:endParaRPr lang="ko-KR" altLang="en-US" dirty="0" smtClean="0" sz="1097"/>
          </a:p>
          <a:p>
            <a:pPr marL="0" indent="0" defTabSz="15240" algn="l">
              <a:lnSpc>
                <a:spcPts val="10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72510" y="807720"/>
            <a:ext cx="2889250" cy="26485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510" y="3785870"/>
            <a:ext cx="2889250" cy="26543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Scarcity and the PPF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increase the amount of farm goods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tons, we must sacrifice 100 tons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factory goods.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PPF curve is bowed out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resources are not perfectly adaptable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of the two goods. As we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the production of one good, we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sacrifice progressively more of the other. </a:t>
            </a:r>
            <a:endParaRPr lang="ko-KR" altLang="en-US" dirty="0" smtClean="0" sz="1097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Shifting the PPF Curve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increase the production of one good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without decreasing the production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other, the PPF curve must shift outward.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PPF curve shifts outward as a result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in the economy’s resources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technological innovation that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output obtained from a given amount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resources. From point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an additional 200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tons of factory goods or 20 tons of farm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possible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combination in between). </a:t>
            </a:r>
            <a:endParaRPr lang="ko-KR" altLang="en-US" dirty="0" smtClean="0" sz="1097"/>
          </a:p>
          <a:p>
            <a:pPr marL="0" indent="0" defTabSz="15240" algn="l">
              <a:lnSpc>
                <a:spcPts val="3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695" y="6967855"/>
            <a:ext cx="5632450" cy="16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9945" y="8945880"/>
            <a:ext cx="4648200" cy="328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46630" y="3813175"/>
            <a:ext cx="3736340" cy="460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46630" y="4270375"/>
            <a:ext cx="3736340" cy="5822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576070" y="2459990"/>
            <a:ext cx="5077460" cy="10420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771015" y="5144770"/>
            <a:ext cx="4321810" cy="17405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REAL VERSUS NOMINAL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Nominal price is the absolute or current dollar price of a good or service when it is sold.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Real price is the price relative to an aggregate measure of prices or constant dollar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Consumer Price Index (CPI) is an aggregate measure. Real prices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emphasized to permit the analysis of relative prices.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Calculating Real Prices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Real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Price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 x </a:t>
            </a:r>
            <a:endParaRPr lang="ko-KR" altLang="en-US" dirty="0" smtClean="0" sz="1599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32">
                <a:solidFill>
                  <a:srgbClr val="000000"/>
                </a:solidFill>
                <a:latin typeface="Times New Roman"/>
                <a:ea typeface="Times New Roman"/>
              </a:rPr>
              <a:t>current year</a:t>
            </a:r>
            <a:endParaRPr lang="ko-KR" altLang="en-US" dirty="0" smtClean="0" sz="932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Calculating the Real Price of Milk 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Nominal 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Real Price of Milk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Year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Milk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CPI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1970 dollars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38.8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.40=38.8/38.8x .40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.65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82.4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.31=38.8/82.4x .65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1999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1.05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167.0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.24=38.8/167.0x 1.05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Calculating Real Prices: An Example - Eggs &amp; College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Times New Roman"/>
                <a:ea typeface="Times New Roman"/>
              </a:rPr>
              <a:t>Real 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</a:rPr>
              <a:t>Price</a:t>
            </a:r>
            <a:endParaRPr lang="ko-KR" altLang="en-US" dirty="0" smtClean="0" sz="1602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Real Price of   </a:t>
            </a:r>
            <a:endParaRPr lang="ko-KR" altLang="en-US" dirty="0" smtClean="0" sz="16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College Education  </a:t>
            </a:r>
            <a:endParaRPr lang="ko-KR" altLang="en-US" dirty="0" smtClean="0" sz="1602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1975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1980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1985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1990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1998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Index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38.3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53.8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82.4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107.6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130.7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163.0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(1983 = 100)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Nominal Prices ($)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Grade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Large Eggs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College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Education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Real Prices ($1970)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Grade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Large Eggs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College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Education </a:t>
            </a:r>
            <a:endParaRPr lang="ko-KR" altLang="en-US" dirty="0" smtClean="0" sz="1097" u="sng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1200"/>
          </a:p>
        </p:txBody>
      </p:sp>
      <p:sp>
        <p:nvSpPr>
          <p:cNvPr id="11" name="Rect 3"/>
          <p:cNvSpPr>
            <a:spLocks noGrp="1" noChangeArrowheads="1"/>
          </p:cNvSpPr>
          <p:nvPr/>
        </p:nvSpPr>
        <p:spPr>
          <a:xfrm rot="0">
            <a:off x="5208905" y="6330950"/>
            <a:ext cx="147320" cy="271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741">
                <a:solidFill>
                  <a:srgbClr val="000000"/>
                </a:solidFill>
                <a:latin typeface="Symbol"/>
              </a:rPr>
              <a:t>=</a:t>
            </a:r>
            <a:endParaRPr lang="ko-KR" altLang="en-US" dirty="0" smtClean="0" sz="1741"/>
          </a:p>
        </p:txBody>
      </p:sp>
      <p:sp>
        <p:nvSpPr>
          <p:cNvPr id="12" name="Rect 3"/>
          <p:cNvSpPr>
            <a:spLocks noGrp="1" noChangeArrowheads="1"/>
          </p:cNvSpPr>
          <p:nvPr/>
        </p:nvSpPr>
        <p:spPr>
          <a:xfrm rot="0">
            <a:off x="4297680" y="5394960"/>
            <a:ext cx="1704975" cy="1207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741">
                <a:solidFill>
                  <a:srgbClr val="000000"/>
                </a:solidFill>
                <a:latin typeface="Times New Roman"/>
                <a:ea typeface="Times New Roman"/>
              </a:rPr>
              <a:t>x $19,213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741">
                <a:solidFill>
                  <a:srgbClr val="000000"/>
                </a:solidFill>
                <a:latin typeface="Times New Roman"/>
                <a:ea typeface="Times New Roman"/>
              </a:rPr>
              <a:t>$4,573</a:t>
            </a:r>
            <a:endParaRPr lang="ko-KR" altLang="en-US" dirty="0" smtClean="0" sz="1741"/>
          </a:p>
        </p:txBody>
      </p:sp>
      <p:sp>
        <p:nvSpPr>
          <p:cNvPr id="13" name="Rect 3"/>
          <p:cNvSpPr>
            <a:spLocks noGrp="1" noChangeArrowheads="1"/>
          </p:cNvSpPr>
          <p:nvPr/>
        </p:nvSpPr>
        <p:spPr>
          <a:xfrm rot="0">
            <a:off x="3806825" y="2813050"/>
            <a:ext cx="1823720" cy="396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Nominal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Price</a:t>
            </a:r>
            <a:endParaRPr lang="ko-KR" altLang="en-US" dirty="0" smtClean="0" sz="1599"/>
          </a:p>
          <a:p>
            <a:pPr marL="0" indent="0" defTabSz="15240" algn="l">
              <a:lnSpc>
                <a:spcPts val="1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38.8</a:t>
            </a:r>
            <a:endParaRPr lang="ko-KR" altLang="en-US" dirty="0" smtClean="0" sz="160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163</a:t>
            </a:r>
            <a:endParaRPr lang="ko-KR" altLang="en-US" dirty="0" smtClean="0" sz="1602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741">
                <a:solidFill>
                  <a:srgbClr val="000000"/>
                </a:solidFill>
                <a:latin typeface="Times New Roman"/>
                <a:ea typeface="Times New Roman"/>
              </a:rPr>
              <a:t>38.8</a:t>
            </a:r>
            <a:endParaRPr lang="ko-KR" altLang="en-US" dirty="0" smtClean="0" sz="174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741">
                <a:solidFill>
                  <a:srgbClr val="000000"/>
                </a:solidFill>
                <a:latin typeface="Times New Roman"/>
              </a:rPr>
              <a:t>163.0</a:t>
            </a:r>
            <a:endParaRPr lang="ko-KR" altLang="en-US" dirty="0" smtClean="0" sz="1741"/>
          </a:p>
        </p:txBody>
      </p:sp>
      <p:sp>
        <p:nvSpPr>
          <p:cNvPr id="14" name="Rect 3"/>
          <p:cNvSpPr>
            <a:spLocks noGrp="1" noChangeArrowheads="1"/>
          </p:cNvSpPr>
          <p:nvPr/>
        </p:nvSpPr>
        <p:spPr>
          <a:xfrm rot="0">
            <a:off x="3654425" y="2736850"/>
            <a:ext cx="2582545" cy="3865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932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32">
                <a:solidFill>
                  <a:srgbClr val="000000"/>
                </a:solidFill>
                <a:latin typeface="Times New Roman"/>
                <a:ea typeface="Times New Roman"/>
              </a:rPr>
              <a:t>year</a:t>
            </a:r>
            <a:endParaRPr lang="ko-KR" altLang="en-US" dirty="0" smtClean="0" sz="93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32">
                <a:solidFill>
                  <a:srgbClr val="000000"/>
                </a:solidFill>
                <a:latin typeface="Times New Roman"/>
                <a:ea typeface="Times New Roman"/>
              </a:rPr>
              <a:t>current year</a:t>
            </a:r>
            <a:endParaRPr lang="ko-KR" altLang="en-US" dirty="0" smtClean="0" sz="932"/>
          </a:p>
          <a:p>
            <a:pPr marL="0" indent="0" defTabSz="15240" algn="l">
              <a:lnSpc>
                <a:spcPts val="1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2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1.04</a:t>
            </a:r>
            <a:endParaRPr lang="ko-KR" altLang="en-US" dirty="0" smtClean="0" sz="1602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7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741"/>
          </a:p>
        </p:txBody>
      </p:sp>
      <p:sp>
        <p:nvSpPr>
          <p:cNvPr id="15" name="Rect 3"/>
          <p:cNvSpPr>
            <a:spLocks noGrp="1" noChangeArrowheads="1"/>
          </p:cNvSpPr>
          <p:nvPr/>
        </p:nvSpPr>
        <p:spPr>
          <a:xfrm rot="0">
            <a:off x="2182495" y="2609215"/>
            <a:ext cx="4417695" cy="6574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CPI</a:t>
            </a:r>
            <a:endParaRPr lang="ko-KR" altLang="en-US" dirty="0" smtClean="0" sz="1599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CPI</a:t>
            </a:r>
            <a:endParaRPr lang="ko-KR" altLang="en-US" dirty="0" smtClean="0" sz="1599"/>
          </a:p>
          <a:p>
            <a:pPr marL="0" indent="0" defTabSz="15240" algn="l">
              <a:lnSpc>
                <a:spcPts val="1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97">
                <a:solidFill>
                  <a:srgbClr val="000000"/>
                </a:solidFill>
                <a:latin typeface="Times New Roman"/>
                <a:ea typeface="Times New Roman"/>
              </a:rPr>
              <a:t>Eggs</a:t>
            </a:r>
            <a:endParaRPr lang="ko-KR" altLang="en-US" dirty="0" smtClean="0" sz="13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1998 (1970 = 100)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1998		(1970 = 100)</a:t>
            </a:r>
            <a:endParaRPr lang="ko-KR" altLang="en-US" dirty="0" smtClean="0" sz="900" b="1"/>
          </a:p>
          <a:p>
            <a:pPr marL="0" indent="0" defTabSz="15240" algn="l">
              <a:lnSpc>
                <a:spcPts val="9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0.61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0.77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0.84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0.98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1.04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3403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4912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8156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12800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19213 </a:t>
            </a:r>
            <a:endParaRPr lang="ko-KR" altLang="en-US" dirty="0" smtClean="0" sz="1097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0.61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0.29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0.25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2454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2313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2941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3800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4573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9490" y="7171690"/>
            <a:ext cx="2654935" cy="21463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49495" y="3660775"/>
            <a:ext cx="2103120" cy="21088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17065" y="2286000"/>
            <a:ext cx="1627505" cy="4965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33290" y="1073150"/>
            <a:ext cx="2350135" cy="21850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52270" y="7976870"/>
            <a:ext cx="1703705" cy="5302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AND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The Supply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supply curve shows how much of 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 unit)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producers are willing to sell at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price, holding constant other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 that might affect quantity supplied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This price-quantity relationship can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shown by the equation: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6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960" i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ko-KR" dirty="0" smtClean="0" sz="1646">
                <a:solidFill>
                  <a:srgbClr val="000000"/>
                </a:solidFill>
                <a:latin typeface="Symbol"/>
                <a:ea typeface="Symbol"/>
              </a:rPr>
              <a:t>			 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6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646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1646" i="1">
                <a:solidFill>
                  <a:srgbClr val="000000"/>
                </a:solidFill>
                <a:latin typeface="Times New Roman"/>
              </a:rPr>
              <a:t> P</a:t>
            </a:r>
            <a:endParaRPr lang="ko-KR" altLang="en-US" dirty="0" smtClean="0" sz="1646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output. </a:t>
            </a:r>
            <a:endParaRPr lang="ko-KR" altLang="en-US" dirty="0" smtClean="0" sz="70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</a:t>
            </a:r>
            <a:endParaRPr lang="ko-KR" altLang="en-US" dirty="0" smtClean="0" sz="798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Non-price Determining Variables of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Change in Supply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Costs of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Raw Materials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cost of raw materials falls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At P1, produce Q2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At P2, produce Q1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Supply curve shifts right  to S’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More produced at any price on S’ than on S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- A Review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Supply is determined by non-price supply-determining variables as such as the cost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labor, capital, and raw materials.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Changes in supply are shown by shifting the entire supply curve.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Changes in quantity supplied are shown by movements along the supply curve and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caused by a change in the price of the product.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The Demand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demand curve shows how much of a good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are willing to buy as the price per unit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changes holding non-price factors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This price-quantity relationship can be shown by the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product becomes relatively </a:t>
            </a:r>
            <a:endParaRPr lang="ko-KR" altLang="en-US" dirty="0" smtClean="0" sz="70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equation: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real income increases </a:t>
            </a:r>
            <a:endParaRPr lang="ko-KR" altLang="en-US" dirty="0" smtClean="0" sz="70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83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68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1831">
                <a:solidFill>
                  <a:srgbClr val="000000"/>
                </a:solidFill>
                <a:latin typeface="Symbol"/>
                <a:ea typeface="Symbol"/>
              </a:rPr>
              <a:t>				 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83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31" i="1">
                <a:solidFill>
                  <a:srgbClr val="000000"/>
                </a:solidFill>
                <a:latin typeface="Times New Roman"/>
                <a:ea typeface="Times New Roman"/>
              </a:rPr>
              <a:t>(P)</a:t>
            </a:r>
            <a:endParaRPr lang="ko-KR" altLang="en-US" dirty="0" smtClean="0" sz="1831" i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lang="ko-KR" altLang="en-US" dirty="0" smtClean="0" sz="1200"/>
          </a:p>
        </p:txBody>
      </p:sp>
      <p:sp>
        <p:nvSpPr>
          <p:cNvPr id="18" name="Rect 3"/>
          <p:cNvSpPr>
            <a:spLocks noGrp="1" noChangeArrowheads="1"/>
          </p:cNvSpPr>
          <p:nvPr/>
        </p:nvSpPr>
        <p:spPr>
          <a:xfrm rot="0">
            <a:off x="6214745" y="2340610"/>
            <a:ext cx="695960" cy="231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demonstrating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that at higher </a:t>
            </a:r>
            <a:endParaRPr lang="ko-KR" altLang="en-US" dirty="0" smtClean="0" sz="798"/>
          </a:p>
        </p:txBody>
      </p:sp>
      <p:sp>
        <p:nvSpPr>
          <p:cNvPr id="19" name="Rect 3"/>
          <p:cNvSpPr>
            <a:spLocks noGrp="1" noChangeArrowheads="1"/>
          </p:cNvSpPr>
          <p:nvPr/>
        </p:nvSpPr>
        <p:spPr>
          <a:xfrm rot="0">
            <a:off x="4617720" y="2377440"/>
            <a:ext cx="2308225" cy="295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irms will increase </a:t>
            </a:r>
            <a:endParaRPr lang="ko-KR" altLang="en-US" dirty="0" smtClean="0" sz="701"/>
          </a:p>
        </p:txBody>
      </p:sp>
      <p:sp>
        <p:nvSpPr>
          <p:cNvPr id="20" name="Rect 3"/>
          <p:cNvSpPr>
            <a:spLocks noGrp="1" noChangeArrowheads="1"/>
          </p:cNvSpPr>
          <p:nvPr/>
        </p:nvSpPr>
        <p:spPr>
          <a:xfrm rot="0">
            <a:off x="3295015" y="1203960"/>
            <a:ext cx="4018280" cy="640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supply curve </a:t>
            </a:r>
            <a:endParaRPr lang="ko-KR" altLang="en-US" dirty="0" smtClean="0" sz="79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46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646"/>
          </a:p>
          <a:p>
            <a:pPr marL="0" indent="0" defTabSz="15240" algn="l">
              <a:lnSpc>
                <a:spcPts val="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The demand curve slopes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downward demonstrating that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consumers are willing to buy </a:t>
            </a:r>
            <a:endParaRPr lang="ko-KR" altLang="en-US" dirty="0" smtClean="0" sz="701"/>
          </a:p>
        </p:txBody>
      </p:sp>
      <p:sp>
        <p:nvSpPr>
          <p:cNvPr id="21" name="Rect 3"/>
          <p:cNvSpPr>
            <a:spLocks noGrp="1" noChangeArrowheads="1"/>
          </p:cNvSpPr>
          <p:nvPr/>
        </p:nvSpPr>
        <p:spPr>
          <a:xfrm rot="0">
            <a:off x="2675890" y="1167130"/>
            <a:ext cx="4615815" cy="71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($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Curve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Graphically</a:t>
            </a:r>
            <a:endParaRPr lang="ko-KR" altLang="en-US" dirty="0" smtClean="0" sz="798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 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slopes upward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60" i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endParaRPr lang="ko-KR" altLang="en-US" dirty="0" smtClean="0" sz="960" i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Q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($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unit)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more at a lower price as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cheaper and the consumer’s </a:t>
            </a:r>
            <a:endParaRPr lang="ko-KR" altLang="en-US" dirty="0" smtClean="0" sz="70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68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1068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37430" y="4480560"/>
            <a:ext cx="2453640" cy="2030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85360" y="926465"/>
            <a:ext cx="2319655" cy="21304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91710" y="6708775"/>
            <a:ext cx="2947035" cy="18224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Non-price Determining Variables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Consumer Tastes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of Related Goods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Complements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produce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produce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Q1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Curve shifts right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More purchased at any price on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D’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on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97" i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- A Review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is determined by non-price demand-determining variables, such as,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income, price of related goods, and tastes.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Changes in demand are shown by shifting the entire demand curve.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Changes in quantity demanded				are shown by movements along the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Market Mechanism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749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Characteristics of the equilibrium or market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clearing price: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QD = QS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The curves intersect </a:t>
            </a:r>
            <a:endParaRPr lang="ko-KR" altLang="en-US" dirty="0" smtClean="0" sz="749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 shortage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 excess supply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 pressure on the price to change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demanded at 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 .  </a:t>
            </a:r>
            <a:endParaRPr lang="ko-KR" altLang="en-US" dirty="0" smtClean="0" sz="749" i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Quantity  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market price is above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There is excess supply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Producers lower prices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Quantity demanded increases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supplied decreases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1) Qs : Q1 &gt; Qd : Q2 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market continues to adjust until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equilibrium price is reached.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4) Quantity supplied decreases </a:t>
            </a:r>
            <a:endParaRPr lang="ko-KR" altLang="en-US" dirty="0" smtClean="0" sz="70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increases.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5) Equilibrium at 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P2Q3</a:t>
            </a:r>
            <a:endParaRPr lang="ko-KR" altLang="en-US" dirty="0" smtClean="0" sz="701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01" i="1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lang="ko-KR" altLang="en-US" dirty="0" smtClean="0" sz="1200"/>
          </a:p>
        </p:txBody>
      </p:sp>
      <p:sp>
        <p:nvSpPr>
          <p:cNvPr id="24" name="Rect 3"/>
          <p:cNvSpPr>
            <a:spLocks noGrp="1" noChangeArrowheads="1"/>
          </p:cNvSpPr>
          <p:nvPr/>
        </p:nvSpPr>
        <p:spPr>
          <a:xfrm rot="0">
            <a:off x="6226810" y="6873240"/>
            <a:ext cx="924560" cy="17405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Surplus</a:t>
            </a:r>
            <a:endParaRPr lang="ko-KR" altLang="en-US" dirty="0" smtClean="0" sz="900"/>
          </a:p>
          <a:p>
            <a:pPr marL="0" indent="0" defTabSz="15240" algn="l">
              <a:lnSpc>
                <a:spcPts val="1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648"/>
          </a:p>
        </p:txBody>
      </p:sp>
      <p:sp>
        <p:nvSpPr>
          <p:cNvPr id="25" name="Rect 3"/>
          <p:cNvSpPr>
            <a:spLocks noGrp="1" noChangeArrowheads="1"/>
          </p:cNvSpPr>
          <p:nvPr/>
        </p:nvSpPr>
        <p:spPr>
          <a:xfrm rot="0">
            <a:off x="6053455" y="1063625"/>
            <a:ext cx="1375410" cy="752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648">
                <a:solidFill>
                  <a:srgbClr val="000000"/>
                </a:solidFill>
                <a:latin typeface="Arial"/>
              </a:rPr>
              <a:t>Change in Demand</a:t>
            </a:r>
            <a:endParaRPr lang="ko-KR" altLang="en-US" dirty="0" smtClean="0" sz="648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price. At 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the </a:t>
            </a:r>
            <a:endParaRPr lang="ko-KR" altLang="en-US" dirty="0" smtClean="0" sz="749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quantity supplied is </a:t>
            </a:r>
            <a:endParaRPr lang="ko-KR" altLang="en-US" dirty="0" smtClean="0" sz="749"/>
          </a:p>
          <a:p>
            <a:pPr marL="0" indent="0" defTabSz="15240" algn="l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2) Excess supply is Q1:Q2. </a:t>
            </a:r>
            <a:endParaRPr lang="ko-KR" altLang="en-US" dirty="0" smtClean="0" sz="70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01" i="1"/>
          </a:p>
        </p:txBody>
      </p:sp>
      <p:sp>
        <p:nvSpPr>
          <p:cNvPr id="26" name="Rect 3"/>
          <p:cNvSpPr>
            <a:spLocks noGrp="1" noChangeArrowheads="1"/>
          </p:cNvSpPr>
          <p:nvPr/>
        </p:nvSpPr>
        <p:spPr>
          <a:xfrm rot="0">
            <a:off x="4523105" y="1094105"/>
            <a:ext cx="2963545" cy="75164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D’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unit)</a:t>
            </a:r>
            <a:endParaRPr lang="ko-KR" altLang="en-US" dirty="0" smtClean="0" sz="749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at equilibrium, or </a:t>
            </a:r>
            <a:endParaRPr lang="ko-KR" altLang="en-US" dirty="0" smtClean="0" sz="749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market clearing, </a:t>
            </a:r>
            <a:endParaRPr lang="ko-KR" altLang="en-US" dirty="0" smtClean="0" sz="749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equal to the quantity </a:t>
            </a:r>
            <a:endParaRPr lang="ko-KR" altLang="en-US" dirty="0" smtClean="0" sz="749"/>
          </a:p>
          <a:p>
            <a:pPr marL="0" indent="0" defTabSz="15240" algn="l">
              <a:lnSpc>
                <a:spcPts val="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648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64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648">
                <a:solidFill>
                  <a:srgbClr val="000000"/>
                </a:solidFill>
                <a:latin typeface="Arial"/>
              </a:rPr>
              <a:t>($ per</a:t>
            </a:r>
            <a:endParaRPr lang="ko-KR" altLang="en-US" dirty="0" smtClean="0" sz="64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648">
                <a:solidFill>
                  <a:srgbClr val="000000"/>
                </a:solidFill>
                <a:latin typeface="Arial"/>
              </a:rPr>
              <a:t> unit)</a:t>
            </a:r>
            <a:endParaRPr lang="ko-KR" altLang="en-US" dirty="0" smtClean="0" sz="64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Arial"/>
              </a:rPr>
              <a:t>Surplus </a:t>
            </a:r>
            <a:endParaRPr lang="ko-KR" altLang="en-US" dirty="0" smtClean="0" sz="64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Assume the price is P1,then: </a:t>
            </a:r>
            <a:endParaRPr lang="ko-KR" altLang="en-US" dirty="0" smtClean="0" sz="70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01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3) Producers lower price.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and quantity demanded </a:t>
            </a:r>
            <a:endParaRPr lang="ko-KR" altLang="en-US" dirty="0" smtClean="0" sz="70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1850" y="853440"/>
            <a:ext cx="2670175" cy="1974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market price is below equilibrium: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There is a shortage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($ per</a:t>
            </a:r>
            <a:endParaRPr lang="ko-KR" altLang="en-US" dirty="0" smtClean="0" sz="70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Producers raise  prices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Quantity demanded decreases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supplied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market continues to adjust until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new equilibrium price is reached.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3) Producers raise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price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.</a:t>
            </a:r>
            <a:endParaRPr lang="ko-KR" altLang="en-US" dirty="0" smtClean="0" sz="4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4) Quantity supplied </a:t>
            </a:r>
            <a:endParaRPr lang="ko-KR" altLang="en-US" dirty="0" smtClean="0" sz="70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increases and quantity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demanded decreases. </a:t>
            </a:r>
            <a:endParaRPr lang="ko-KR" altLang="en-US" dirty="0" smtClean="0" sz="70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Shortage </a:t>
            </a:r>
            <a:endParaRPr lang="ko-KR" altLang="en-US" dirty="0" smtClean="0" sz="798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01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Market Mechanism Summary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Supply and demand interacts to determine the market-clearing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When not in equilibrium, the market will adjust to alleviate a shortage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and return the market to equilibrium.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Markets must be competitive for the mechanism to be efficient. </a:t>
            </a:r>
            <a:endParaRPr lang="ko-KR" altLang="en-US" dirty="0" smtClean="0" sz="1097"/>
          </a:p>
          <a:p>
            <a:pPr marL="0" indent="0" defTabSz="15240" algn="l">
              <a:lnSpc>
                <a:spcPts val="4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lang="ko-KR" altLang="en-US" dirty="0" smtClean="0" sz="1200"/>
          </a:p>
        </p:txBody>
      </p:sp>
      <p:sp>
        <p:nvSpPr>
          <p:cNvPr id="29" name="Rect 3"/>
          <p:cNvSpPr>
            <a:spLocks noGrp="1" noChangeArrowheads="1"/>
          </p:cNvSpPr>
          <p:nvPr/>
        </p:nvSpPr>
        <p:spPr>
          <a:xfrm rot="0">
            <a:off x="6998335" y="2334895"/>
            <a:ext cx="147320" cy="9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, Q</a:t>
            </a:r>
            <a:endParaRPr lang="ko-KR" altLang="en-US" dirty="0" smtClean="0" sz="701"/>
          </a:p>
        </p:txBody>
      </p:sp>
      <p:sp>
        <p:nvSpPr>
          <p:cNvPr id="30" name="Rect 3"/>
          <p:cNvSpPr>
            <a:spLocks noGrp="1" noChangeArrowheads="1"/>
          </p:cNvSpPr>
          <p:nvPr/>
        </p:nvSpPr>
        <p:spPr>
          <a:xfrm rot="0">
            <a:off x="6440170" y="1024255"/>
            <a:ext cx="751205" cy="1414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Shortage</a:t>
            </a:r>
            <a:endParaRPr lang="ko-KR" altLang="en-US" dirty="0" smtClean="0" sz="798"/>
          </a:p>
          <a:p>
            <a:pPr marL="0" indent="0" defTabSz="15240" algn="l">
              <a:lnSpc>
                <a:spcPts val="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50"/>
          </a:p>
        </p:txBody>
      </p:sp>
      <p:sp>
        <p:nvSpPr>
          <p:cNvPr id="31" name="Rect 3"/>
          <p:cNvSpPr>
            <a:spLocks noGrp="1" noChangeArrowheads="1"/>
          </p:cNvSpPr>
          <p:nvPr/>
        </p:nvSpPr>
        <p:spPr>
          <a:xfrm rot="0">
            <a:off x="6184265" y="923290"/>
            <a:ext cx="936625" cy="1628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i="1" b="1">
                <a:solidFill>
                  <a:srgbClr val="FFFFFF"/>
                </a:solidFill>
                <a:latin typeface="Arial"/>
              </a:rPr>
              <a:t>S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1) Q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 : Q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 &gt; Q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 : Q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2) Shortage is Q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:Q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0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50" i="1" b="1">
                <a:solidFill>
                  <a:srgbClr val="FFFFFF"/>
                </a:solidFill>
                <a:latin typeface="Arial"/>
              </a:rPr>
              <a:t>D</a:t>
            </a:r>
            <a:endParaRPr lang="ko-KR" altLang="en-US" dirty="0" smtClean="0" sz="1050" i="1" b="1"/>
          </a:p>
        </p:txBody>
      </p:sp>
      <p:sp>
        <p:nvSpPr>
          <p:cNvPr id="32" name="Rect 3"/>
          <p:cNvSpPr>
            <a:spLocks noGrp="1" noChangeArrowheads="1"/>
          </p:cNvSpPr>
          <p:nvPr/>
        </p:nvSpPr>
        <p:spPr>
          <a:xfrm rot="0">
            <a:off x="4441190" y="868680"/>
            <a:ext cx="2625090" cy="1969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70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 unit</a:t>
            </a:r>
            <a:r>
              <a:rPr lang="en-US" altLang="ko-KR" dirty="0" smtClean="0" sz="551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55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Assume the price is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,: </a:t>
            </a:r>
            <a:endParaRPr lang="ko-KR" altLang="en-US" dirty="0" smtClean="0" sz="70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5) Equilibrium at P</a:t>
            </a:r>
            <a:endParaRPr lang="ko-KR" altLang="en-US" dirty="0" smtClean="0" sz="70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97425" y="2133600"/>
            <a:ext cx="1850390" cy="19113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97425" y="4687570"/>
            <a:ext cx="1804670" cy="18688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37430" y="6836410"/>
            <a:ext cx="1700530" cy="17132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Changes in Market Equilibrium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prices are determined by the relative level of supply and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Supply and demand are determined by particular values of supply and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determining variables.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Changes in any one or combination of these variables can cause a change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price and/or quantity.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Raw material prices fall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											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shifts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S’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Surplus @ 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P3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Q3</a:t>
            </a:r>
            <a:endParaRPr lang="ko-KR" altLang="en-US" dirty="0" smtClean="0" sz="1097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FFFFFF"/>
                </a:solidFill>
                <a:latin typeface="Arial"/>
              </a:rPr>
              <a:t>P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Raw		material prices Rise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											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shifts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S’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Shortage @ 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P3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Q3</a:t>
            </a:r>
            <a:endParaRPr lang="ko-KR" altLang="en-US" dirty="0" smtClean="0" sz="1097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shifts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D’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Shortage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P3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Q3</a:t>
            </a:r>
            <a:endParaRPr lang="ko-KR" altLang="en-US" dirty="0" smtClean="0" sz="1097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lang="ko-KR" altLang="en-US" dirty="0" smtClean="0" sz="1200"/>
          </a:p>
        </p:txBody>
      </p:sp>
      <p:sp>
        <p:nvSpPr>
          <p:cNvPr id="35" name="Rect 3"/>
          <p:cNvSpPr>
            <a:spLocks noGrp="1" noChangeArrowheads="1"/>
          </p:cNvSpPr>
          <p:nvPr/>
        </p:nvSpPr>
        <p:spPr>
          <a:xfrm rot="0">
            <a:off x="5303520" y="2270760"/>
            <a:ext cx="1317625" cy="4721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D’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648" i="1" b="1"/>
          </a:p>
        </p:txBody>
      </p:sp>
      <p:sp>
        <p:nvSpPr>
          <p:cNvPr id="36" name="Rect 3"/>
          <p:cNvSpPr>
            <a:spLocks noGrp="1" noChangeArrowheads="1"/>
          </p:cNvSpPr>
          <p:nvPr/>
        </p:nvSpPr>
        <p:spPr>
          <a:xfrm rot="0">
            <a:off x="4733290" y="2206625"/>
            <a:ext cx="1799590" cy="4736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648" i="1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3625" y="755650"/>
            <a:ext cx="1828800" cy="18415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85360" y="3148330"/>
            <a:ext cx="1822450" cy="18688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36465" y="5239385"/>
            <a:ext cx="1984375" cy="19602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73295" y="7486015"/>
            <a:ext cx="1801495" cy="18561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Decreases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shifts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D’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Surplus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P3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Increases &amp; raw material prices fall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increase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greater than the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price and quantity increase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Increases &amp; raw material prices fall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increase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less than the increase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price decrease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Decreases &amp; raw material prices Fall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decrease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greater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price and quantity decrease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P2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200"/>
          </a:p>
        </p:txBody>
      </p:sp>
      <p:sp>
        <p:nvSpPr>
          <p:cNvPr id="39" name="Rect 3"/>
          <p:cNvSpPr>
            <a:spLocks noGrp="1" noChangeArrowheads="1"/>
          </p:cNvSpPr>
          <p:nvPr/>
        </p:nvSpPr>
        <p:spPr>
          <a:xfrm rot="0">
            <a:off x="5276215" y="819785"/>
            <a:ext cx="1263015" cy="68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D’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D’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701" i="1" b="1"/>
          </a:p>
        </p:txBody>
      </p:sp>
      <p:sp>
        <p:nvSpPr>
          <p:cNvPr id="40" name="Rect 3"/>
          <p:cNvSpPr>
            <a:spLocks noGrp="1" noChangeArrowheads="1"/>
          </p:cNvSpPr>
          <p:nvPr/>
        </p:nvSpPr>
        <p:spPr>
          <a:xfrm rot="0">
            <a:off x="4584065" y="765175"/>
            <a:ext cx="2077085" cy="86467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D’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D’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701" i="1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85690" y="871855"/>
            <a:ext cx="1990725" cy="19291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70505" y="5193665"/>
            <a:ext cx="3225165" cy="225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decreases &amp; raw material prices fall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decrease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less than the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S’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 price decrease 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increase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Q2</a:t>
            </a:r>
            <a:endParaRPr lang="ko-KR" altLang="en-US" dirty="0" smtClean="0" sz="1097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Shifts in Supply and Demand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When supply and demand change simultaneously, the impact on the equilibrium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quantity is determined by: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The relative size and direction of the change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The shape of the supply and demand curves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Prices of Eggs &amp; Education Revisited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real price of eggs fell 59% from 1970 to 1998.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Supply increased due to the increased mechanization of poultry farming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reduced cost of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decreased due to the increasing consumer concern over the health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cholesterol consequences of eating eggs.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Market for Eggs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70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(1970 </a:t>
            </a:r>
            <a:endParaRPr lang="ko-KR" altLang="en-US" dirty="0" smtClean="0" sz="70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dollars per </a:t>
            </a:r>
            <a:endParaRPr lang="ko-KR" altLang="en-US" dirty="0" smtClean="0" sz="70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dozen) </a:t>
            </a:r>
            <a:endParaRPr lang="ko-KR" altLang="en-US" dirty="0" smtClean="0" sz="70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1998 </a:t>
            </a:r>
            <a:endParaRPr lang="ko-KR" altLang="en-US" dirty="0" smtClean="0" sz="4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$0.61 </a:t>
            </a:r>
            <a:endParaRPr lang="ko-KR" altLang="en-US" dirty="0" smtClean="0" sz="70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$0.26 </a:t>
            </a:r>
            <a:endParaRPr lang="ko-KR" altLang="en-US" dirty="0" smtClean="0" sz="70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1970 </a:t>
            </a:r>
            <a:endParaRPr lang="ko-KR" altLang="en-US" dirty="0" smtClean="0" sz="4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50" b="1">
                <a:solidFill>
                  <a:srgbClr val="000000"/>
                </a:solidFill>
                <a:latin typeface="Arial"/>
              </a:rPr>
              <a:t>1998 </a:t>
            </a:r>
            <a:endParaRPr lang="ko-KR" altLang="en-US" dirty="0" smtClean="0" sz="45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5,300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5,500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Q (million dozens)</a:t>
            </a:r>
            <a:endParaRPr lang="ko-KR" altLang="en-US" dirty="0" smtClean="0" sz="70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of College Education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real price of a college education rose 68 percent from 1970 to 1995.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Supply decreased due to higher costs of equipping and maintaining modern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classrooms, laboratories and libraries, and higher faculty salaries.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Demand increased due a larger percentage of a larger number of high school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graduates attending college. </a:t>
            </a:r>
            <a:endParaRPr lang="ko-KR" altLang="en-US" dirty="0" smtClean="0" sz="1097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lang="ko-KR" altLang="en-US" dirty="0" smtClean="0" sz="1200"/>
          </a:p>
        </p:txBody>
      </p:sp>
      <p:sp>
        <p:nvSpPr>
          <p:cNvPr id="43" name="Rect 3"/>
          <p:cNvSpPr>
            <a:spLocks noGrp="1" noChangeArrowheads="1"/>
          </p:cNvSpPr>
          <p:nvPr/>
        </p:nvSpPr>
        <p:spPr>
          <a:xfrm rot="0">
            <a:off x="5626735" y="972185"/>
            <a:ext cx="113665" cy="1009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01" i="1" b="1"/>
          </a:p>
        </p:txBody>
      </p:sp>
      <p:sp>
        <p:nvSpPr>
          <p:cNvPr id="44" name="Rect 3"/>
          <p:cNvSpPr>
            <a:spLocks noGrp="1" noChangeArrowheads="1"/>
          </p:cNvSpPr>
          <p:nvPr/>
        </p:nvSpPr>
        <p:spPr>
          <a:xfrm rot="0">
            <a:off x="4888865" y="938530"/>
            <a:ext cx="1522095" cy="4691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D’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was reached at $0.26 </a:t>
            </a:r>
            <a:endParaRPr lang="ko-KR" altLang="en-US" dirty="0" smtClean="0" sz="701" b="1"/>
          </a:p>
        </p:txBody>
      </p:sp>
      <p:sp>
        <p:nvSpPr>
          <p:cNvPr id="45" name="Rect 3"/>
          <p:cNvSpPr>
            <a:spLocks noGrp="1" noChangeArrowheads="1"/>
          </p:cNvSpPr>
          <p:nvPr/>
        </p:nvSpPr>
        <p:spPr>
          <a:xfrm rot="0">
            <a:off x="4416425" y="880745"/>
            <a:ext cx="2244725" cy="4956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Prices fell until </a:t>
            </a:r>
            <a:endParaRPr lang="ko-KR" altLang="en-US" dirty="0" smtClean="0" sz="70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a new equilibrium 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and a  quantity </a:t>
            </a:r>
            <a:endParaRPr lang="ko-KR" altLang="en-US" dirty="0" smtClean="0" sz="70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of 5,300 million dozen </a:t>
            </a:r>
            <a:endParaRPr lang="ko-KR" altLang="en-US" dirty="0" smtClean="0" sz="701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69465" y="5212080"/>
            <a:ext cx="2505710" cy="20662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77110" y="1106170"/>
            <a:ext cx="3510915" cy="2365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Market for College Education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(annual cost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in 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new equilibrium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dollars)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was reached at $4,573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a  quantity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$4,573 </a:t>
            </a:r>
            <a:endParaRPr lang="ko-KR" altLang="en-US" dirty="0" smtClean="0" sz="749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1970 </a:t>
            </a:r>
            <a:endParaRPr lang="ko-KR" altLang="en-US" dirty="0" smtClean="0" sz="498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$2,530 </a:t>
            </a:r>
            <a:endParaRPr lang="ko-KR" altLang="en-US" dirty="0" smtClean="0" sz="749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1995 </a:t>
            </a:r>
            <a:endParaRPr lang="ko-KR" altLang="en-US" dirty="0" smtClean="0" sz="4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1970 </a:t>
            </a:r>
            <a:endParaRPr lang="ko-KR" altLang="en-US" dirty="0" smtClean="0" sz="4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8.6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12.3 </a:t>
            </a:r>
            <a:endParaRPr lang="ko-KR" altLang="en-US" dirty="0" smtClean="0" sz="749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Long-Run Behavior of Natural Resource Prices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Consumption of copper has increased about a hundred fold from 1880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1998 indicating a large increase in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real price for copper has remained relatively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Changes in Market Equilibrium</a:t>
            </a:r>
            <a:endParaRPr lang="ko-KR" altLang="en-US" dirty="0" smtClean="0" sz="109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1900 </a:t>
            </a:r>
            <a:endParaRPr lang="ko-KR" altLang="en-US" dirty="0" smtClean="0" sz="600" b="1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Long-Run Path of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and </a:t>
            </a:r>
            <a:endParaRPr lang="ko-KR" altLang="en-US" dirty="0" smtClean="0" sz="798" b="1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1998 </a:t>
            </a:r>
            <a:endParaRPr lang="ko-KR" altLang="en-US" dirty="0" smtClean="0" sz="4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       Quantity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Conclusion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Decreases in the costs of production have increased the supply by more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enough to offset the increase in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lang="ko-KR" altLang="en-US" dirty="0" smtClean="0" sz="1200"/>
          </a:p>
        </p:txBody>
      </p:sp>
      <p:sp>
        <p:nvSpPr>
          <p:cNvPr id="48" name="Rect 3"/>
          <p:cNvSpPr>
            <a:spLocks noGrp="1" noChangeArrowheads="1"/>
          </p:cNvSpPr>
          <p:nvPr/>
        </p:nvSpPr>
        <p:spPr>
          <a:xfrm rot="0">
            <a:off x="4705985" y="1240790"/>
            <a:ext cx="775335" cy="1123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Prices rose until </a:t>
            </a:r>
            <a:endParaRPr lang="ko-KR" altLang="en-US" dirty="0" smtClean="0" sz="798"/>
          </a:p>
        </p:txBody>
      </p:sp>
      <p:sp>
        <p:nvSpPr>
          <p:cNvPr id="49" name="Rect 3"/>
          <p:cNvSpPr>
            <a:spLocks noGrp="1" noChangeArrowheads="1"/>
          </p:cNvSpPr>
          <p:nvPr/>
        </p:nvSpPr>
        <p:spPr>
          <a:xfrm rot="0">
            <a:off x="3983990" y="1179830"/>
            <a:ext cx="689610" cy="4291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1995 </a:t>
            </a:r>
            <a:endParaRPr lang="ko-KR" altLang="en-US" dirty="0" smtClean="0" sz="498" b="1"/>
          </a:p>
          <a:p>
            <a:pPr marL="0" indent="0" defTabSz="15240" algn="l">
              <a:lnSpc>
                <a:spcPts val="3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1998 </a:t>
            </a:r>
            <a:endParaRPr lang="ko-KR" altLang="en-US" dirty="0" smtClean="0" sz="600" b="1"/>
          </a:p>
        </p:txBody>
      </p:sp>
      <p:sp>
        <p:nvSpPr>
          <p:cNvPr id="50" name="Rect 3"/>
          <p:cNvSpPr>
            <a:spLocks noGrp="1" noChangeArrowheads="1"/>
          </p:cNvSpPr>
          <p:nvPr/>
        </p:nvSpPr>
        <p:spPr>
          <a:xfrm rot="0">
            <a:off x="2145665" y="1136650"/>
            <a:ext cx="3494405" cy="427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749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12.3 million students </a:t>
            </a:r>
            <a:endParaRPr lang="ko-KR" altLang="en-US" dirty="0" smtClean="0" sz="798"/>
          </a:p>
          <a:p>
            <a:pPr marL="0" indent="0" defTabSz="15240" algn="l">
              <a:lnSpc>
                <a:spcPts val="1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 (millions of students enrolled) </a:t>
            </a:r>
            <a:endParaRPr lang="ko-KR" altLang="en-US" dirty="0" smtClean="0" sz="749" b="1"/>
          </a:p>
          <a:p>
            <a:pPr marL="0" indent="0" defTabSz="15240"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195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648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695" y="960120"/>
            <a:ext cx="5632450" cy="4908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75890" y="5059680"/>
            <a:ext cx="802005" cy="328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77895" y="5059680"/>
            <a:ext cx="1143000" cy="328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620895" y="5059680"/>
            <a:ext cx="2127250" cy="328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15695" y="5867400"/>
            <a:ext cx="5672455" cy="24752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Factors Shifting Demand Curve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Factors Changing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Direction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Demand Curve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(normal good)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income(normal good)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(inferior good)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income(inferior good)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Substitute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substitute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complement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complement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taste 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preference for good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taste 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preference for good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consumers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consumers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Factors Shifting Supply Curve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Factors Changing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Direction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 in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Curve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resource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resource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Improved technology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Decline in technology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Decrease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Expect a price 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Decrease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Expect a price 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suppliers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suppliers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5625" y="6394450"/>
            <a:ext cx="3651885" cy="25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OF SUPPLY AND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Generally, elasticity is a measure of the sensitivity of one variable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It tells us the percentage change in one variable in response to a one percent 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another variable.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Elasticity of Demand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Measures the sensitivity of quantity demanded to price changes.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It measures the percentage change in the quantity demanded for a good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 that results from a one percent change in the price of that good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price elasticity of demand is: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Percentage change in Quantity Demanded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Percentage change in Price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23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713">
                <a:solidFill>
                  <a:srgbClr val="000000"/>
                </a:solidFill>
                <a:latin typeface="Times New Roman"/>
              </a:rPr>
              <a:t> 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23">
                <a:solidFill>
                  <a:srgbClr val="000000"/>
                </a:solidFill>
                <a:latin typeface="Times New Roman"/>
                <a:ea typeface="Times New Roman"/>
              </a:rPr>
              <a:t>(%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23">
                <a:solidFill>
                  <a:srgbClr val="000000"/>
                </a:solidFill>
                <a:latin typeface="Times New Roman"/>
                <a:ea typeface="Times New Roman"/>
              </a:rPr>
              <a:t>Q)/(%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23">
                <a:solidFill>
                  <a:srgbClr val="000000"/>
                </a:solidFill>
                <a:latin typeface="Times New Roman"/>
                <a:ea typeface="Times New Roman"/>
              </a:rPr>
              <a:t>P)</a:t>
            </a:r>
            <a:endParaRPr lang="ko-KR" altLang="en-US" dirty="0" smtClean="0" sz="122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percentage change in a variable is the absolute change in the variable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divided by the original level of the variable.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So the price elasticity of demand is also: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E  </a:t>
            </a:r>
            <a:endParaRPr lang="ko-KR" altLang="en-US" dirty="0" smtClean="0" sz="1099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Interpreting Price Elasticity of Demand Values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Because of the inverse relationship between P and Q; EP is 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If IEPI &gt; 1, the percent change in quantity is greater than the percent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price.  We say the demand is price elastic.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If IEPI &lt; 1, the percent change in quantity is less than the percent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price.  We say the demand is price inelastic.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primary determinant of price elasticity of demand is the availability of substitutes.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Many substitutes demand is price elastic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Few substitutes demand is price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endParaRPr lang="ko-KR" altLang="en-US" dirty="0" smtClean="0" sz="1099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Price Elasticities of Demand 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749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curve is less elastic than the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 = 8 - 2P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 = -1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 = a - bP </a:t>
            </a:r>
            <a:endParaRPr lang="ko-KR" altLang="en-US" dirty="0" smtClean="0" sz="900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 = 8 - 2P</a:t>
            </a:r>
            <a:endParaRPr lang="ko-KR" altLang="en-US" dirty="0" smtClean="0" sz="900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 = 0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8</a:t>
            </a:r>
            <a:endParaRPr lang="ko-KR" altLang="en-US" dirty="0" smtClean="0" sz="749" b="1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lang="ko-KR" altLang="en-US" dirty="0" smtClean="0" sz="1200"/>
          </a:p>
        </p:txBody>
      </p:sp>
      <p:sp>
        <p:nvSpPr>
          <p:cNvPr id="55" name="Rect 3"/>
          <p:cNvSpPr>
            <a:spLocks noGrp="1" noChangeArrowheads="1"/>
          </p:cNvSpPr>
          <p:nvPr/>
        </p:nvSpPr>
        <p:spPr>
          <a:xfrm rot="0">
            <a:off x="4324985" y="4017010"/>
            <a:ext cx="111125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>
                <a:solidFill>
                  <a:srgbClr val="000000"/>
                </a:solidFill>
                <a:latin typeface="Symbol"/>
              </a:rPr>
              <a:t>Δ</a:t>
            </a:r>
            <a:endParaRPr lang="ko-KR" altLang="en-US" dirty="0" smtClean="0" sz="1099"/>
          </a:p>
        </p:txBody>
      </p:sp>
      <p:sp>
        <p:nvSpPr>
          <p:cNvPr id="56" name="Rect 3"/>
          <p:cNvSpPr>
            <a:spLocks noGrp="1" noChangeArrowheads="1"/>
          </p:cNvSpPr>
          <p:nvPr/>
        </p:nvSpPr>
        <p:spPr>
          <a:xfrm rot="0">
            <a:off x="3285490" y="4017010"/>
            <a:ext cx="1272540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99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P/P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099"/>
          </a:p>
        </p:txBody>
      </p:sp>
      <p:sp>
        <p:nvSpPr>
          <p:cNvPr id="57" name="Rect 3"/>
          <p:cNvSpPr>
            <a:spLocks noGrp="1" noChangeArrowheads="1"/>
          </p:cNvSpPr>
          <p:nvPr/>
        </p:nvSpPr>
        <p:spPr>
          <a:xfrm rot="0">
            <a:off x="3051175" y="4114800"/>
            <a:ext cx="882015" cy="170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9"/>
          </a:p>
        </p:txBody>
      </p:sp>
      <p:sp>
        <p:nvSpPr>
          <p:cNvPr id="58" name="Rect 3"/>
          <p:cNvSpPr>
            <a:spLocks noGrp="1" noChangeArrowheads="1"/>
          </p:cNvSpPr>
          <p:nvPr/>
        </p:nvSpPr>
        <p:spPr>
          <a:xfrm rot="0">
            <a:off x="2541905" y="4035425"/>
            <a:ext cx="2787015" cy="467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Q/Q</a:t>
            </a:r>
            <a:endParaRPr lang="ko-KR" altLang="en-US" dirty="0" smtClean="0" sz="1099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600"/>
          </a:p>
          <a:p>
            <a:pPr marL="0" indent="0" defTabSz="15240" algn="l">
              <a:lnSpc>
                <a:spcPts val="1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  <a:ea typeface="Arial"/>
              </a:rPr>
              <a:t>Ep = ∞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lower portion of a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_ </a:t>
            </a:r>
            <a:endParaRPr lang="ko-KR" altLang="en-US" dirty="0" smtClean="0" sz="749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downward sloping demand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upper portion. </a:t>
            </a:r>
            <a:endParaRPr lang="ko-KR" altLang="en-US" dirty="0" smtClean="0" sz="900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Linear Demand Curve</a:t>
            </a:r>
            <a:endParaRPr lang="ko-KR" altLang="en-US" dirty="0" smtClean="0" sz="900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749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11350" y="777240"/>
            <a:ext cx="2486660" cy="2246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1055" y="3249295"/>
            <a:ext cx="2843530" cy="25203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09470" y="6720840"/>
            <a:ext cx="2346960" cy="211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12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9 </a:t>
            </a:r>
            <a:endParaRPr lang="ko-KR" altLang="en-US" dirty="0" smtClean="0" sz="9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Ep = -1</a:t>
            </a:r>
            <a:endParaRPr lang="ko-KR" altLang="en-US" dirty="0" smtClean="0" sz="12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Ep = -0.4</a:t>
            </a:r>
            <a:endParaRPr lang="ko-KR" altLang="en-US" dirty="0" smtClean="0" sz="12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349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2 3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9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1002" b="1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Infinitely Elastic Demand </a:t>
            </a:r>
            <a:endParaRPr lang="ko-KR" altLang="en-US" dirty="0" smtClean="0" sz="1200" b="1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  </a:t>
            </a:r>
            <a:endParaRPr lang="ko-KR" altLang="en-US" dirty="0" smtClean="0" sz="1002" b="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798" b="1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907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1113" i="1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altLang="ko-KR" dirty="0" smtClean="0" sz="1907">
                <a:solidFill>
                  <a:srgbClr val="000000"/>
                </a:solidFill>
                <a:latin typeface="Symbol"/>
                <a:ea typeface="Symbol"/>
              </a:rPr>
              <a:t> 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907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lang="ko-KR" altLang="en-US" dirty="0" smtClean="0" sz="1907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</a:rPr>
              <a:t>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  </a:t>
            </a:r>
            <a:endParaRPr lang="ko-KR" altLang="en-US" dirty="0" smtClean="0" sz="1002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endParaRPr lang="ko-KR" altLang="en-US" dirty="0" smtClean="0" sz="1200"/>
          </a:p>
        </p:txBody>
      </p:sp>
      <p:sp>
        <p:nvSpPr>
          <p:cNvPr id="61" name="Rect 3"/>
          <p:cNvSpPr>
            <a:spLocks noGrp="1" noChangeArrowheads="1"/>
          </p:cNvSpPr>
          <p:nvPr/>
        </p:nvSpPr>
        <p:spPr>
          <a:xfrm rot="0">
            <a:off x="2459990" y="1383665"/>
            <a:ext cx="494665" cy="170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</a:rPr>
              <a:t>Ep = -3</a:t>
            </a:r>
            <a:endParaRPr lang="ko-KR" altLang="en-US" dirty="0" smtClean="0" sz="1200" b="1"/>
          </a:p>
        </p:txBody>
      </p:sp>
      <p:sp>
        <p:nvSpPr>
          <p:cNvPr id="62" name="Rect 3"/>
          <p:cNvSpPr>
            <a:spLocks noGrp="1" noChangeArrowheads="1"/>
          </p:cNvSpPr>
          <p:nvPr/>
        </p:nvSpPr>
        <p:spPr>
          <a:xfrm rot="0">
            <a:off x="2209800" y="1353185"/>
            <a:ext cx="2329815" cy="5459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4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94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94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94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b="1"/>
          </a:p>
          <a:p>
            <a:pPr marL="0" indent="0" defTabSz="15240" algn="l">
              <a:lnSpc>
                <a:spcPts val="2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Completely Inelastic Demand</a:t>
            </a:r>
            <a:endParaRPr lang="ko-KR" altLang="en-US" dirty="0" smtClean="0" sz="12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18230" y="2399030"/>
            <a:ext cx="3620770" cy="26238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of supply and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Other Demand Elasticities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	Income elasticity		of demand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measures the percentage change in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 resulting from a one percent change in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income elasticity of demand is: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E  </a:t>
            </a:r>
            <a:endParaRPr lang="ko-KR" altLang="en-US" dirty="0" smtClean="0" sz="1349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Elasticity of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Normal goods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less than 1 (but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Superior goods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greater than 0)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Inferior goods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Negative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Elasticity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Inferior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goods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goods  </a:t>
            </a:r>
            <a:endParaRPr lang="ko-KR" altLang="en-US" dirty="0" smtClean="0" sz="9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Money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Other Demand Elasticities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	Cross elasticity of demand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measures the percentage change in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 of one good that results from a one percent change in the price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another good.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For example consider the substitute goods, butter and margarine.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cross elasticity of demand is: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63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636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954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 Cross elasticity for substitutes is positive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 Cross elasticity for complements is  negative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♦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elasticity of supply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 measures the percentage change in quantity supplied resulting from a 1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 change in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elasticity is usually positive because price and quantity supplied are directly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can refer to elasticity of supply with respect to interest rates, wage rates,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and the cost of raw materials.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Price ($)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Quantity Demanded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Quantity Supplied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14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16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18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lang="ko-KR" altLang="en-US" dirty="0" smtClean="0" sz="1200"/>
          </a:p>
        </p:txBody>
      </p:sp>
      <p:sp>
        <p:nvSpPr>
          <p:cNvPr id="65" name="Rect 3"/>
          <p:cNvSpPr>
            <a:spLocks noGrp="1" noChangeArrowheads="1"/>
          </p:cNvSpPr>
          <p:nvPr/>
        </p:nvSpPr>
        <p:spPr>
          <a:xfrm rot="0">
            <a:off x="4047490" y="6306185"/>
            <a:ext cx="86360" cy="133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</a:rPr>
              <a:t>b</a:t>
            </a:r>
            <a:endParaRPr lang="ko-KR" altLang="en-US" dirty="0" smtClean="0" sz="954" i="1"/>
          </a:p>
        </p:txBody>
      </p:sp>
      <p:sp>
        <p:nvSpPr>
          <p:cNvPr id="66" name="Rect 3"/>
          <p:cNvSpPr>
            <a:spLocks noGrp="1" noChangeArrowheads="1"/>
          </p:cNvSpPr>
          <p:nvPr/>
        </p:nvSpPr>
        <p:spPr>
          <a:xfrm rot="0">
            <a:off x="3520440" y="6205855"/>
            <a:ext cx="552450" cy="25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636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636" i="1"/>
          </a:p>
        </p:txBody>
      </p:sp>
      <p:sp>
        <p:nvSpPr>
          <p:cNvPr id="67" name="Rect 3"/>
          <p:cNvSpPr>
            <a:spLocks noGrp="1" noChangeArrowheads="1"/>
          </p:cNvSpPr>
          <p:nvPr/>
        </p:nvSpPr>
        <p:spPr>
          <a:xfrm rot="0">
            <a:off x="3349625" y="6336665"/>
            <a:ext cx="1416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36">
                <a:solidFill>
                  <a:srgbClr val="000000"/>
                </a:solidFill>
                <a:latin typeface="Symbol"/>
              </a:rPr>
              <a:t>=</a:t>
            </a:r>
            <a:endParaRPr lang="ko-KR" altLang="en-US" dirty="0" smtClean="0" sz="1636"/>
          </a:p>
        </p:txBody>
      </p:sp>
      <p:sp>
        <p:nvSpPr>
          <p:cNvPr id="68" name="Rect 3"/>
          <p:cNvSpPr>
            <a:spLocks noGrp="1" noChangeArrowheads="1"/>
          </p:cNvSpPr>
          <p:nvPr/>
        </p:nvSpPr>
        <p:spPr>
          <a:xfrm rot="0">
            <a:off x="2978150" y="2099945"/>
            <a:ext cx="774700" cy="4340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349" i="1"/>
          </a:p>
          <a:p>
            <a:pPr marL="0" indent="0" defTabSz="15240" algn="l">
              <a:lnSpc>
                <a:spcPts val="3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endParaRPr lang="ko-KR" altLang="en-US" dirty="0" smtClean="0" sz="954" i="1"/>
          </a:p>
        </p:txBody>
      </p:sp>
      <p:sp>
        <p:nvSpPr>
          <p:cNvPr id="69" name="Rect 3"/>
          <p:cNvSpPr>
            <a:spLocks noGrp="1" noChangeArrowheads="1"/>
          </p:cNvSpPr>
          <p:nvPr/>
        </p:nvSpPr>
        <p:spPr>
          <a:xfrm rot="0">
            <a:off x="2712720" y="2200910"/>
            <a:ext cx="1336040" cy="4550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49"/>
          </a:p>
          <a:p>
            <a:pPr marL="0" indent="0" defTabSz="15240" algn="l">
              <a:lnSpc>
                <a:spcPts val="2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636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/Q</a:t>
            </a:r>
            <a:endParaRPr lang="ko-KR" altLang="en-US" dirty="0" smtClean="0" sz="1636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36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/P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636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636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636" i="1"/>
          </a:p>
        </p:txBody>
      </p:sp>
      <p:sp>
        <p:nvSpPr>
          <p:cNvPr id="70" name="Rect 3"/>
          <p:cNvSpPr>
            <a:spLocks noGrp="1" noChangeArrowheads="1"/>
          </p:cNvSpPr>
          <p:nvPr/>
        </p:nvSpPr>
        <p:spPr>
          <a:xfrm rot="0">
            <a:off x="2377440" y="2081530"/>
            <a:ext cx="3253105" cy="44900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Q/Q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349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I/I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Q I</a:t>
            </a:r>
            <a:endParaRPr lang="ko-KR" altLang="en-US" dirty="0" smtClean="0" sz="1349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Income Elasticity </a:t>
            </a:r>
            <a:endParaRPr lang="ko-KR" altLang="en-US" dirty="0" smtClean="0" sz="900" b="1"/>
          </a:p>
          <a:p>
            <a:pPr marL="0" indent="0" defTabSz="15240" algn="l">
              <a:lnSpc>
                <a:spcPts val="2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954" i="1"/>
          </a:p>
        </p:txBody>
      </p:sp>
      <p:sp>
        <p:nvSpPr>
          <p:cNvPr id="71" name="Rect 3"/>
          <p:cNvSpPr>
            <a:spLocks noGrp="1" noChangeArrowheads="1"/>
          </p:cNvSpPr>
          <p:nvPr/>
        </p:nvSpPr>
        <p:spPr>
          <a:xfrm rot="0">
            <a:off x="2221865" y="2289175"/>
            <a:ext cx="4942205" cy="4443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36" i="1">
                <a:solidFill>
                  <a:srgbClr val="000000"/>
                </a:solidFill>
                <a:latin typeface="Times New Roman"/>
              </a:rPr>
              <a:t>I</a:t>
            </a:r>
            <a:endParaRPr lang="ko-KR" altLang="en-US" dirty="0" smtClean="0" sz="736" i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Demanded </a:t>
            </a:r>
            <a:endParaRPr lang="ko-KR" altLang="en-US" dirty="0" smtClean="0" sz="70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Normal goods </a:t>
            </a:r>
            <a:endParaRPr lang="ko-KR" altLang="en-US" dirty="0" smtClean="0" sz="9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Elasticity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greater than 1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superior </a:t>
            </a:r>
            <a:endParaRPr lang="ko-KR" altLang="en-US" dirty="0" smtClean="0" sz="900" b="1"/>
          </a:p>
          <a:p>
            <a:pPr marL="0" indent="0" defTabSz="15240" algn="l">
              <a:lnSpc>
                <a:spcPts val="1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81" i="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681" i="1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endParaRPr lang="ko-KR" altLang="en-US" dirty="0" smtClean="0" sz="681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54" i="1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endParaRPr lang="ko-KR" altLang="en-US" dirty="0" smtClean="0" sz="954"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6973570"/>
            <a:ext cx="4876800" cy="3295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" y="7796530"/>
            <a:ext cx="527050" cy="3295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00910" y="7796530"/>
            <a:ext cx="1033145" cy="3295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230880" y="7796530"/>
            <a:ext cx="1151890" cy="3295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Recall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E  </a:t>
            </a:r>
            <a:endParaRPr lang="ko-KR" altLang="en-US" dirty="0" smtClean="0" sz="1099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Elasticity of demand when price is $80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Ep = 80/20 x -2/20 = -0.40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Elasticity of demand when price is $100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Ep = 100/18 x -2/20 = -0.56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Elasticity of supply when price is $80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Ep = 80/16 x 2/20 = 0.50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Elasticity of supply when price is $100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Ep = 100/18 x 2/20 = 0.56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Market for Wheat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1981 Supply Curve for Wheat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								QS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1,800 + 240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1981 Demand Curve for Wheat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								QD = 3,550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- 266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Equilibrium: Q S = Q D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3">
                <a:solidFill>
                  <a:srgbClr val="000000"/>
                </a:solidFill>
                <a:latin typeface="Times New Roman"/>
                <a:ea typeface="Times New Roman"/>
              </a:rPr>
              <a:t>1,800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3">
                <a:solidFill>
                  <a:srgbClr val="000000"/>
                </a:solidFill>
                <a:latin typeface="Times New Roman"/>
                <a:ea typeface="Times New Roman"/>
              </a:rPr>
              <a:t>240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3">
                <a:solidFill>
                  <a:srgbClr val="000000"/>
                </a:solidFill>
                <a:latin typeface="Times New Roman"/>
                <a:ea typeface="Times New Roman"/>
              </a:rPr>
              <a:t>3,550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3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3">
                <a:solidFill>
                  <a:srgbClr val="000000"/>
                </a:solidFill>
                <a:latin typeface="Times New Roman"/>
                <a:ea typeface="Times New Roman"/>
              </a:rPr>
              <a:t>266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093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506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8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 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1,750</a:t>
            </a:r>
            <a:endParaRPr lang="ko-KR" altLang="en-US" dirty="0" smtClean="0" sz="10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6" i="1">
                <a:solidFill>
                  <a:srgbClr val="000000"/>
                </a:solidFill>
                <a:latin typeface="Times New Roman"/>
                <a:ea typeface="Times New Roman"/>
              </a:rPr>
              <a:t>bushel</a:t>
            </a:r>
            <a:endParaRPr lang="ko-KR" altLang="en-US" dirty="0" smtClean="0" sz="1106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 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1,800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(240)(3.46)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2,630 million bushels</a:t>
            </a:r>
            <a:endParaRPr lang="ko-KR" altLang="en-US" dirty="0" smtClean="0" sz="1098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099" i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099" i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Assume the price of wheat is $4.00/bushel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 =</a:t>
            </a:r>
            <a:endParaRPr lang="ko-KR" altLang="en-US" dirty="0" smtClean="0" sz="10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 =</a:t>
            </a:r>
            <a:endParaRPr lang="ko-KR" altLang="en-US" dirty="0" smtClean="0" sz="10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(Qs)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(Qd)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Qs = Qd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1981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1800 + 240P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3550 – 266P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1800 + 240P = 3550 – 266P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506P = 1750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u="sng">
                <a:solidFill>
                  <a:srgbClr val="000000"/>
                </a:solidFill>
                <a:latin typeface="Arial"/>
              </a:rPr>
              <a:t>1981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 = $3.46 / bushel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1998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1944 + 207P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3244 – 283P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1944 +207P = 3244 – 283P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u="sng">
                <a:solidFill>
                  <a:srgbClr val="000000"/>
                </a:solidFill>
                <a:latin typeface="Arial"/>
              </a:rPr>
              <a:t>1998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 = $2.65 / bushel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Short-Run Versus Long-Run Elasticities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elasticity of demand varies with the amount of time consumers have to respond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a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Most goods and services: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Short-run elasticity is less than long-run elasticity. (e.g. gasoline, Drs.)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Other Goods (durables):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Short-run elasticity is greater than long-run elasticity (e.g. automobiles)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lang="ko-KR" altLang="en-US" dirty="0" smtClean="0" sz="1200"/>
          </a:p>
        </p:txBody>
      </p:sp>
      <p:sp>
        <p:nvSpPr>
          <p:cNvPr id="74" name="Rect 3"/>
          <p:cNvSpPr>
            <a:spLocks noGrp="1" noChangeArrowheads="1"/>
          </p:cNvSpPr>
          <p:nvPr/>
        </p:nvSpPr>
        <p:spPr>
          <a:xfrm rot="0">
            <a:off x="4212590" y="5510530"/>
            <a:ext cx="915035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.032  Inelastic</a:t>
            </a:r>
            <a:endParaRPr lang="ko-KR" altLang="en-US" dirty="0" smtClean="0" sz="1098"/>
          </a:p>
        </p:txBody>
      </p:sp>
      <p:sp>
        <p:nvSpPr>
          <p:cNvPr id="75" name="Rect 3"/>
          <p:cNvSpPr>
            <a:spLocks noGrp="1" noChangeArrowheads="1"/>
          </p:cNvSpPr>
          <p:nvPr/>
        </p:nvSpPr>
        <p:spPr>
          <a:xfrm rot="0">
            <a:off x="3514090" y="5431790"/>
            <a:ext cx="68707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Times New Roman"/>
              </a:rPr>
              <a:t>3.46(2.40)</a:t>
            </a:r>
            <a:endParaRPr lang="ko-KR" altLang="en-US" dirty="0" smtClean="0" sz="1098"/>
          </a:p>
        </p:txBody>
      </p:sp>
      <p:sp>
        <p:nvSpPr>
          <p:cNvPr id="76" name="Rect 3"/>
          <p:cNvSpPr>
            <a:spLocks noGrp="1" noChangeArrowheads="1"/>
          </p:cNvSpPr>
          <p:nvPr/>
        </p:nvSpPr>
        <p:spPr>
          <a:xfrm rot="0">
            <a:off x="3346450" y="4931410"/>
            <a:ext cx="2043430" cy="7531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.035  Inelastic</a:t>
            </a:r>
            <a:endParaRPr lang="ko-KR" altLang="en-US" dirty="0" smtClean="0" sz="1098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8"/>
          </a:p>
        </p:txBody>
      </p:sp>
      <p:sp>
        <p:nvSpPr>
          <p:cNvPr id="77" name="Rect 3"/>
          <p:cNvSpPr>
            <a:spLocks noGrp="1" noChangeArrowheads="1"/>
          </p:cNvSpPr>
          <p:nvPr/>
        </p:nvSpPr>
        <p:spPr>
          <a:xfrm rot="0">
            <a:off x="3090545" y="804545"/>
            <a:ext cx="1287145" cy="49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099"/>
          </a:p>
          <a:p>
            <a:pPr marL="0" indent="0" defTabSz="15240" algn="l">
              <a:lnSpc>
                <a:spcPts val="3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00" i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endParaRPr lang="ko-KR" altLang="en-US" dirty="0" smtClean="0" sz="600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098"/>
          </a:p>
        </p:txBody>
      </p:sp>
      <p:sp>
        <p:nvSpPr>
          <p:cNvPr id="78" name="Rect 3"/>
          <p:cNvSpPr>
            <a:spLocks noGrp="1" noChangeArrowheads="1"/>
          </p:cNvSpPr>
          <p:nvPr/>
        </p:nvSpPr>
        <p:spPr>
          <a:xfrm rot="0">
            <a:off x="3054350" y="902335"/>
            <a:ext cx="1326515" cy="4742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9"/>
          </a:p>
          <a:p>
            <a:pPr marL="0" indent="0" defTabSz="15240" algn="l">
              <a:lnSpc>
                <a:spcPts val="2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3.46( 2.66)</a:t>
            </a:r>
            <a:endParaRPr lang="ko-KR" altLang="en-US" dirty="0" smtClean="0" sz="1098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098"/>
          </a:p>
        </p:txBody>
      </p:sp>
      <p:sp>
        <p:nvSpPr>
          <p:cNvPr id="79" name="Rect 3"/>
          <p:cNvSpPr>
            <a:spLocks noGrp="1" noChangeArrowheads="1"/>
          </p:cNvSpPr>
          <p:nvPr/>
        </p:nvSpPr>
        <p:spPr>
          <a:xfrm rot="0">
            <a:off x="2904490" y="804545"/>
            <a:ext cx="1577340" cy="6022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Q/Q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99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P/P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099"/>
          </a:p>
          <a:p>
            <a:pPr marL="0" indent="0" defTabSz="15240" algn="l">
              <a:lnSpc>
                <a:spcPts val="2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99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2,630</a:t>
            </a:r>
            <a:endParaRPr lang="ko-KR" altLang="en-US" dirty="0" smtClean="0" sz="1098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99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2,630</a:t>
            </a:r>
            <a:endParaRPr lang="ko-KR" altLang="en-US" dirty="0" smtClean="0" sz="1098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0.43</a:t>
            </a:r>
            <a:endParaRPr lang="ko-KR" altLang="en-US" dirty="0" smtClean="0" sz="1098"/>
          </a:p>
        </p:txBody>
      </p:sp>
      <p:sp>
        <p:nvSpPr>
          <p:cNvPr id="80" name="Rect 3"/>
          <p:cNvSpPr>
            <a:spLocks noGrp="1" noChangeArrowheads="1"/>
          </p:cNvSpPr>
          <p:nvPr/>
        </p:nvSpPr>
        <p:spPr>
          <a:xfrm rot="0">
            <a:off x="2590800" y="902335"/>
            <a:ext cx="1607185" cy="60439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9"/>
          </a:p>
          <a:p>
            <a:pPr marL="0" indent="0" defTabSz="15240" algn="l">
              <a:lnSpc>
                <a:spcPts val="3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8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8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3,550 (266)(4.00)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2,486</a:t>
            </a:r>
            <a:endParaRPr lang="ko-KR" altLang="en-US" dirty="0" smtClean="0" sz="10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4.00( 266)</a:t>
            </a:r>
            <a:endParaRPr lang="ko-KR" altLang="en-US" dirty="0" smtClean="0" sz="1098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2,486</a:t>
            </a:r>
            <a:endParaRPr lang="ko-KR" altLang="en-US" dirty="0" smtClean="0" sz="1098"/>
          </a:p>
        </p:txBody>
      </p:sp>
      <p:sp>
        <p:nvSpPr>
          <p:cNvPr id="81" name="Rect 3"/>
          <p:cNvSpPr>
            <a:spLocks noGrp="1" noChangeArrowheads="1"/>
          </p:cNvSpPr>
          <p:nvPr/>
        </p:nvSpPr>
        <p:spPr>
          <a:xfrm rot="0">
            <a:off x="2374265" y="975360"/>
            <a:ext cx="1613535" cy="587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600"/>
          </a:p>
          <a:p>
            <a:pPr marL="0" indent="0" defTabSz="15240" algn="l">
              <a:lnSpc>
                <a:spcPts val="2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6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6">
                <a:solidFill>
                  <a:srgbClr val="000000"/>
                </a:solidFill>
                <a:latin typeface="Times New Roman"/>
                <a:ea typeface="Times New Roman"/>
              </a:rPr>
              <a:t>3.46/</a:t>
            </a:r>
            <a:endParaRPr lang="ko-KR" altLang="en-US" dirty="0" smtClean="0" sz="1106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0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600" i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endParaRPr lang="ko-KR" altLang="en-US" dirty="0" smtClean="0" sz="60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600" i="1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</a:rPr>
              <a:t>D</a:t>
            </a:r>
            <a:endParaRPr lang="ko-KR" altLang="en-US" dirty="0" smtClean="0" sz="6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0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600"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25040" y="3794760"/>
            <a:ext cx="3361690" cy="22891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95855" y="975360"/>
            <a:ext cx="3392170" cy="21977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Gasoline: Short-Run and Long-Run Demand Curves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SR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People tend to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drive smaller and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more fuel efficient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cars in the long-run </a:t>
            </a:r>
            <a:endParaRPr lang="ko-KR" altLang="en-US" dirty="0" smtClean="0" sz="900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Gasoline </a:t>
            </a:r>
            <a:endParaRPr lang="ko-KR" altLang="en-US" dirty="0" smtClean="0" sz="749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 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Automobiles: Short-Run and Long-Run Demand Curves</a:t>
            </a:r>
            <a:endParaRPr lang="ko-KR" altLang="en-US" dirty="0" smtClean="0" sz="1097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immediate consumption,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but eventually older cars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must be replaced. </a:t>
            </a:r>
            <a:endParaRPr lang="ko-KR" altLang="en-US" dirty="0" smtClean="0" sz="852" b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Automobiles </a:t>
            </a:r>
            <a:endParaRPr lang="ko-KR" altLang="en-US" dirty="0" smtClean="0" sz="852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  </a:t>
            </a:r>
            <a:endParaRPr lang="ko-KR" altLang="en-US" dirty="0" smtClean="0" sz="85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elasticity also varies with the amount of time consumers have to respond to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Most goods and services: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elasticity is greater in the long-run than in the short run.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Higher incomes may be converted into bigger cars so the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of demand for gasoline increases with time.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Other Goods (durables):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elasticity is less in the long-run than in the short-run.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Originally, consumers will want to hold more cars.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Later, purchases will only to be to replace old cars.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Gasoline and Automobiles are complementary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Gasoline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long-run price and income elasticities are larger than the short-run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Automobiles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long-run price and income elasticities are smaller than the short-run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elasticities.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endParaRPr lang="ko-KR" altLang="en-US" dirty="0" smtClean="0" sz="1200"/>
          </a:p>
        </p:txBody>
      </p:sp>
      <p:sp>
        <p:nvSpPr>
          <p:cNvPr id="84" name="Rect 3"/>
          <p:cNvSpPr>
            <a:spLocks noGrp="1" noChangeArrowheads="1"/>
          </p:cNvSpPr>
          <p:nvPr/>
        </p:nvSpPr>
        <p:spPr>
          <a:xfrm rot="0">
            <a:off x="2834640" y="2575560"/>
            <a:ext cx="2487930" cy="29502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9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People may put off </a:t>
            </a:r>
            <a:endParaRPr lang="ko-KR" altLang="en-US" dirty="0" smtClean="0" sz="852" b="1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SR </a:t>
            </a:r>
            <a:endParaRPr lang="ko-KR" altLang="en-US" dirty="0" smtClean="0" sz="551" i="1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695" y="2277110"/>
            <a:ext cx="5632450" cy="1701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4455" y="4319270"/>
            <a:ext cx="2858770" cy="23069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73350" y="6955790"/>
            <a:ext cx="3766820" cy="24015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The Demand for Gasoline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Years Following price or income 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-0.22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-0.32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-0.49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-0.82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-1.17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0.07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0.13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0.32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0.54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0.78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The Demand for Automobiles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Years Following price or income 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-1.20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-0.93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-0.55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-0.42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-0.40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3.00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2.33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1.88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1.38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1.02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1.00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Most goods and services: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price elasticity of supply is greater than short-run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of supply.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Other Goods (durables, recyclables):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price elasticity of supply is less than short-run price elasticity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Primary Copper: </a:t>
            </a:r>
            <a:endParaRPr lang="ko-KR" altLang="en-US" dirty="0" smtClean="0" sz="70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 Long-Run </a:t>
            </a:r>
            <a:endParaRPr lang="ko-KR" altLang="en-US" dirty="0" smtClean="0" sz="70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Supply Curves </a:t>
            </a:r>
            <a:endParaRPr lang="ko-KR" altLang="en-US" dirty="0" smtClean="0" sz="70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LR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Due to limited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capacity, firms are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limited by output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constraints in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short-run. In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long-run, they can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expand.  </a:t>
            </a:r>
            <a:endParaRPr lang="ko-KR" altLang="en-US" dirty="0" smtClean="0" sz="798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Quantity  </a:t>
            </a:r>
            <a:endParaRPr lang="ko-KR" altLang="en-US" dirty="0" smtClean="0" sz="1002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 Long-Run Supply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Curves </a:t>
            </a:r>
            <a:endParaRPr lang="ko-KR" altLang="en-US" dirty="0" smtClean="0" sz="94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Price increases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provide an incentive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to convert scrap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copper into new supply.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In the long-run, this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stock of scrap copper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begins to fall.  </a:t>
            </a:r>
            <a:endParaRPr lang="ko-KR" altLang="en-US" dirty="0" smtClean="0" sz="94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85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lang="ko-KR" altLang="en-US" dirty="0" smtClean="0" sz="1200"/>
          </a:p>
        </p:txBody>
      </p:sp>
      <p:sp>
        <p:nvSpPr>
          <p:cNvPr id="87" name="Rect 3"/>
          <p:cNvSpPr>
            <a:spLocks noGrp="1" noChangeArrowheads="1"/>
          </p:cNvSpPr>
          <p:nvPr/>
        </p:nvSpPr>
        <p:spPr>
          <a:xfrm rot="0">
            <a:off x="4806950" y="7089775"/>
            <a:ext cx="1536700" cy="307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Secondary </a:t>
            </a:r>
            <a:endParaRPr lang="ko-KR" altLang="en-US" dirty="0" smtClean="0" sz="94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Copper: Short-Run </a:t>
            </a:r>
            <a:endParaRPr lang="ko-KR" altLang="en-US" dirty="0" smtClean="0" sz="947"/>
          </a:p>
        </p:txBody>
      </p:sp>
      <p:sp>
        <p:nvSpPr>
          <p:cNvPr id="88" name="Rect 3"/>
          <p:cNvSpPr>
            <a:spLocks noGrp="1" noChangeArrowheads="1"/>
          </p:cNvSpPr>
          <p:nvPr/>
        </p:nvSpPr>
        <p:spPr>
          <a:xfrm rot="0">
            <a:off x="4178935" y="4550410"/>
            <a:ext cx="1759585" cy="29508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Short-Run and </a:t>
            </a:r>
            <a:endParaRPr lang="ko-KR" altLang="en-US" dirty="0" smtClean="0" sz="701" b="1"/>
          </a:p>
          <a:p>
            <a:pPr marL="0" indent="0" defTabSz="15240" algn="l">
              <a:lnSpc>
                <a:spcPts val="1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and </a:t>
            </a:r>
            <a:endParaRPr lang="ko-KR" altLang="en-US" dirty="0" smtClean="0" sz="947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6520" y="5398135"/>
            <a:ext cx="2919730" cy="22523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22120" y="2328545"/>
            <a:ext cx="3575050" cy="25571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of Copper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Price Elasticity of: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Short Run Long run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Primary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1.60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Secondary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0.43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0.31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Total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0.25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1.50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Weather in Brazil and the price of Coffee in New York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Elasticity explains why coffee prices are very volatile.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Due to the differences in supply elasticity in the long-run and short run. </a:t>
            </a:r>
            <a:endParaRPr lang="ko-KR" altLang="en-US" dirty="0" smtClean="0" sz="1097"/>
          </a:p>
          <a:p>
            <a:pPr marL="0" indent="0" defTabSz="15240" algn="l">
              <a:lnSpc>
                <a:spcPts val="2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S’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Coffee </a:t>
            </a:r>
            <a:endParaRPr lang="ko-KR" altLang="en-US" dirty="0" smtClean="0" sz="749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Short-Run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2) Demand is relatively inelastic </a:t>
            </a:r>
            <a:endParaRPr lang="ko-KR" altLang="en-US" dirty="0" smtClean="0" sz="798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00"/>
          </a:p>
        </p:txBody>
      </p:sp>
      <p:sp>
        <p:nvSpPr>
          <p:cNvPr id="91" name="Rect 3"/>
          <p:cNvSpPr>
            <a:spLocks noGrp="1" noChangeArrowheads="1"/>
          </p:cNvSpPr>
          <p:nvPr/>
        </p:nvSpPr>
        <p:spPr>
          <a:xfrm rot="0">
            <a:off x="3953510" y="5464810"/>
            <a:ext cx="1064260" cy="128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freeze or drought  </a:t>
            </a:r>
            <a:endParaRPr lang="ko-KR" altLang="en-US" dirty="0" smtClean="0" sz="900"/>
          </a:p>
        </p:txBody>
      </p:sp>
      <p:sp>
        <p:nvSpPr>
          <p:cNvPr id="92" name="Rect 3"/>
          <p:cNvSpPr>
            <a:spLocks noGrp="1" noChangeArrowheads="1"/>
          </p:cNvSpPr>
          <p:nvPr/>
        </p:nvSpPr>
        <p:spPr>
          <a:xfrm rot="0">
            <a:off x="3627120" y="5342890"/>
            <a:ext cx="1771650" cy="2350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decreases the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supply</a:t>
            </a:r>
            <a:endParaRPr lang="ko-KR" altLang="en-US" dirty="0" smtClean="0" sz="900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1) Supply is completely inelastic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3) Very large change in price</a:t>
            </a:r>
            <a:endParaRPr lang="ko-KR" altLang="en-US" dirty="0" smtClean="0" sz="798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3200" y="3343910"/>
            <a:ext cx="3063240" cy="24441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30170" y="795655"/>
            <a:ext cx="3411220" cy="22459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900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1) Supply and demand are 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    more elastic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2) Price falls back to 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3) Quantity falls to 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749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Long-Run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1 Supply is extremely elastic.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2) Price falls back 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3) Quantity increase to 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0. </a:t>
            </a:r>
            <a:endParaRPr lang="ko-KR" altLang="en-US" dirty="0" smtClean="0" sz="498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Quantity</a:t>
            </a:r>
            <a:endParaRPr lang="ko-KR" altLang="en-US" dirty="0" smtClean="0" sz="900"/>
          </a:p>
          <a:p>
            <a:pPr marL="0" indent="0" defTabSz="15240" algn="l">
              <a:lnSpc>
                <a:spcPts val="3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21</a:t>
            </a:r>
            <a:endParaRPr lang="ko-KR" altLang="en-US" dirty="0" smtClean="0" sz="1200"/>
          </a:p>
        </p:txBody>
      </p:sp>
      <p:sp>
        <p:nvSpPr>
          <p:cNvPr id="95" name="Rect 3"/>
          <p:cNvSpPr>
            <a:spLocks noGrp="1" noChangeArrowheads="1"/>
          </p:cNvSpPr>
          <p:nvPr/>
        </p:nvSpPr>
        <p:spPr>
          <a:xfrm rot="0">
            <a:off x="3724910" y="770890"/>
            <a:ext cx="1661795" cy="2295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S’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Intermediate-Run</a:t>
            </a:r>
            <a:endParaRPr lang="ko-KR" altLang="en-US" dirty="0" smtClean="0" sz="749" b="1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2785" y="4651375"/>
            <a:ext cx="3389630" cy="16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9945" y="6391910"/>
            <a:ext cx="4172585" cy="27184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6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Behavior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explanation of how consumers allocate their resources (income) to the purchase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goods and services to maximize their well being.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There are three steps involved in the study of consumer behavior.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We will study consumer preferences.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describe how and why people prefer one good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Then we will turn to budget constraints.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have limited incomes.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Finally, we will combine consumer preferences and budget constraints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determine consumer choices.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combination of goods will consumers buy to maximize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satisfaction?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Preferences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Baskets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basket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collection of one or more commodities.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market basket may be preferred over another market basket containing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combination of goods.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Three Basic Assumptions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Preferences are complete.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Preferences are transitive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.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Consumers always prefer more of any good to less.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Market Basket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Units of Food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Units of Clothing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50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Indifference curves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represent all combinations of market baskets that provide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level of satisfaction to a person.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105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50 </a:t>
            </a:r>
            <a:endParaRPr lang="ko-KR" altLang="en-US" dirty="0" smtClean="0" sz="11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box are preferred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A.</a:t>
            </a:r>
            <a:endParaRPr lang="ko-KR" altLang="en-US" dirty="0" smtClean="0" sz="900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152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15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1152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22</a:t>
            </a:r>
            <a:endParaRPr lang="ko-KR" altLang="en-US" dirty="0" smtClean="0" sz="1200"/>
          </a:p>
        </p:txBody>
      </p:sp>
      <p:sp>
        <p:nvSpPr>
          <p:cNvPr id="98" name="Rect 3"/>
          <p:cNvSpPr>
            <a:spLocks noGrp="1" noChangeArrowheads="1"/>
          </p:cNvSpPr>
          <p:nvPr/>
        </p:nvSpPr>
        <p:spPr>
          <a:xfrm rot="0">
            <a:off x="4956175" y="6827520"/>
            <a:ext cx="1122680" cy="16129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9" name="Rect 3"/>
          <p:cNvSpPr>
            <a:spLocks noGrp="1" noChangeArrowheads="1"/>
          </p:cNvSpPr>
          <p:nvPr/>
        </p:nvSpPr>
        <p:spPr>
          <a:xfrm rot="0">
            <a:off x="4946650" y="6690360"/>
            <a:ext cx="1141095" cy="3898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to all combinations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all those in the yellow </a:t>
            </a:r>
            <a:endParaRPr lang="ko-KR" altLang="en-US" dirty="0" smtClean="0" sz="900"/>
          </a:p>
        </p:txBody>
      </p:sp>
      <p:sp>
        <p:nvSpPr>
          <p:cNvPr id="100" name="Rect 3"/>
          <p:cNvSpPr>
            <a:spLocks noGrp="1" noChangeArrowheads="1"/>
          </p:cNvSpPr>
          <p:nvPr/>
        </p:nvSpPr>
        <p:spPr>
          <a:xfrm rot="0">
            <a:off x="2813050" y="6559550"/>
            <a:ext cx="3293110" cy="2645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consumer prefers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105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9730" y="676910"/>
            <a:ext cx="3179445" cy="22002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0990" y="4919345"/>
            <a:ext cx="3218180" cy="222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week) 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50 </a:t>
            </a:r>
            <a:endParaRPr lang="ko-KR" altLang="en-US" dirty="0" smtClean="0" sz="105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10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0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5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Indifference Curves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Indifference curves slope downward to the right.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it sloped upward it would violate the assumption that more of any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commodity is preferred to less.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Any market basket lying above and to the right of an indifference curve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preferred to any market basket that lies on the indifference curve.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An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indifference map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set of indifference curves that describes a person’s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preferences for all combinations of two commodities.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Each indifference curve in the map shows the market baskets among which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person is indifferent.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week) </a:t>
            </a:r>
            <a:endParaRPr lang="ko-KR" altLang="en-US" dirty="0" smtClean="0" sz="7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basket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is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798"/>
          </a:p>
          <a:p>
            <a:pPr marL="0" indent="0" defTabSz="15240" algn="l">
              <a:lnSpc>
                <a:spcPts val="1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23</a:t>
            </a:r>
            <a:endParaRPr lang="ko-KR" altLang="en-US" dirty="0" smtClean="0" sz="1200"/>
          </a:p>
        </p:txBody>
      </p:sp>
      <p:sp>
        <p:nvSpPr>
          <p:cNvPr id="103" name="Rect 3"/>
          <p:cNvSpPr>
            <a:spLocks noGrp="1" noChangeArrowheads="1"/>
          </p:cNvSpPr>
          <p:nvPr/>
        </p:nvSpPr>
        <p:spPr>
          <a:xfrm rot="0">
            <a:off x="4724400" y="1258570"/>
            <a:ext cx="115633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	is preferred 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H &amp; G</a:t>
            </a:r>
            <a:endParaRPr lang="ko-KR" altLang="en-US" dirty="0" smtClean="0" sz="798" i="1"/>
          </a:p>
        </p:txBody>
      </p:sp>
      <p:sp>
        <p:nvSpPr>
          <p:cNvPr id="104" name="Rect 3"/>
          <p:cNvSpPr>
            <a:spLocks noGrp="1" noChangeArrowheads="1"/>
          </p:cNvSpPr>
          <p:nvPr/>
        </p:nvSpPr>
        <p:spPr>
          <a:xfrm rot="0">
            <a:off x="4370705" y="926465"/>
            <a:ext cx="1601470" cy="1393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yield the same satisfaction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 preferred 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 i="1" b="1"/>
          </a:p>
        </p:txBody>
      </p:sp>
      <p:sp>
        <p:nvSpPr>
          <p:cNvPr id="105" name="Rect 3"/>
          <p:cNvSpPr>
            <a:spLocks noGrp="1" noChangeArrowheads="1"/>
          </p:cNvSpPr>
          <p:nvPr/>
        </p:nvSpPr>
        <p:spPr>
          <a:xfrm rot="0">
            <a:off x="3212465" y="810895"/>
            <a:ext cx="2811145" cy="52152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Combination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B,A, &amp; D</a:t>
            </a:r>
            <a:endParaRPr lang="ko-KR" altLang="en-US" dirty="0" smtClean="0" sz="798" i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H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Food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900" b="1"/>
          </a:p>
          <a:p>
            <a:pPr marL="0" indent="0" defTabSz="15240" algn="l">
              <a:lnSpc>
                <a:spcPts val="1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basket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preferred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B. </a:t>
            </a:r>
            <a:endParaRPr lang="ko-KR" altLang="en-US" dirty="0" smtClean="0" sz="900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preferred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D. </a:t>
            </a:r>
            <a:endParaRPr lang="ko-KR" altLang="en-US" dirty="0" smtClean="0" sz="900" i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02" i="1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0800" y="1444625"/>
            <a:ext cx="2995930" cy="19145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36520" y="3557270"/>
            <a:ext cx="2353310" cy="21818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92095" y="6522720"/>
            <a:ext cx="3185160" cy="24447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Indifference Curves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Finally, indifference curves cannot cross.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would violate the assumption that more is preferred to less.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consumer should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 indifferent between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,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 However,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(units per week)</a:t>
            </a:r>
            <a:endParaRPr lang="ko-KR" altLang="en-US" dirty="0" smtClean="0" sz="798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(units 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per week)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14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12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-4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05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marginal rate of substitution (MRS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quantifies the amount of one good a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give up to obtain more of another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It is measured by the slope of the indifference curve.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(units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per week)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12 </a:t>
            </a:r>
            <a:endParaRPr lang="ko-KR" altLang="en-US" dirty="0" smtClean="0" sz="12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8 </a:t>
            </a:r>
            <a:endParaRPr lang="ko-KR" altLang="en-US" dirty="0" smtClean="0" sz="12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900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24</a:t>
            </a:r>
            <a:endParaRPr lang="ko-KR" altLang="en-US" dirty="0" smtClean="0" sz="1200"/>
          </a:p>
        </p:txBody>
      </p:sp>
      <p:sp>
        <p:nvSpPr>
          <p:cNvPr id="108" name="Rect 3"/>
          <p:cNvSpPr>
            <a:spLocks noGrp="1" noChangeArrowheads="1"/>
          </p:cNvSpPr>
          <p:nvPr/>
        </p:nvSpPr>
        <p:spPr>
          <a:xfrm rot="0">
            <a:off x="5641975" y="6925310"/>
            <a:ext cx="205105" cy="1765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25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25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1125" i="1"/>
          </a:p>
        </p:txBody>
      </p:sp>
      <p:sp>
        <p:nvSpPr>
          <p:cNvPr id="109" name="Rect 3"/>
          <p:cNvSpPr>
            <a:spLocks noGrp="1" noChangeArrowheads="1"/>
          </p:cNvSpPr>
          <p:nvPr/>
        </p:nvSpPr>
        <p:spPr>
          <a:xfrm rot="0">
            <a:off x="5416550" y="6815455"/>
            <a:ext cx="213995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25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2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125" i="1"/>
          </a:p>
        </p:txBody>
      </p:sp>
      <p:sp>
        <p:nvSpPr>
          <p:cNvPr id="110" name="Rect 3"/>
          <p:cNvSpPr>
            <a:spLocks noGrp="1" noChangeArrowheads="1"/>
          </p:cNvSpPr>
          <p:nvPr/>
        </p:nvSpPr>
        <p:spPr>
          <a:xfrm rot="0">
            <a:off x="3023870" y="1471930"/>
            <a:ext cx="2125345" cy="68827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Cannot Cross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Observation: The amount </a:t>
            </a:r>
            <a:endParaRPr lang="ko-KR" altLang="en-US" dirty="0" smtClean="0" sz="85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of clothing given up for  </a:t>
            </a:r>
            <a:endParaRPr lang="ko-KR" altLang="en-US" dirty="0" smtClean="0" sz="852"/>
          </a:p>
          <a:p>
            <a:pPr marL="0" indent="0" defTabSz="15240" algn="l">
              <a:lnSpc>
                <a:spcPts val="9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MRS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= 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125" i="1">
                <a:solidFill>
                  <a:srgbClr val="000000"/>
                </a:solidFill>
                <a:latin typeface="Times New Roman"/>
                <a:ea typeface="Times New Roman"/>
              </a:rPr>
              <a:t>MRS</a:t>
            </a:r>
            <a:endParaRPr lang="ko-KR" altLang="en-US" dirty="0" smtClean="0" sz="1125" i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200" i="1" b="1"/>
          </a:p>
        </p:txBody>
      </p:sp>
      <p:sp>
        <p:nvSpPr>
          <p:cNvPr id="111" name="Rect 3"/>
          <p:cNvSpPr>
            <a:spLocks noGrp="1" noChangeArrowheads="1"/>
          </p:cNvSpPr>
          <p:nvPr/>
        </p:nvSpPr>
        <p:spPr>
          <a:xfrm rot="0">
            <a:off x="2493010" y="1307465"/>
            <a:ext cx="3220085" cy="76568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Indifference Curves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contains more of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both goods than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/>
          </a:p>
          <a:p>
            <a:pPr marL="0" indent="0" defTabSz="15240" algn="l">
              <a:lnSpc>
                <a:spcPts val="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16 </a:t>
            </a:r>
            <a:endParaRPr lang="ko-KR" altLang="en-US" dirty="0" smtClean="0" sz="105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 unit of food decreases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from 6 to 1 </a:t>
            </a:r>
            <a:endParaRPr lang="ko-KR" altLang="en-US" dirty="0" smtClean="0" sz="85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-6 </a:t>
            </a:r>
            <a:endParaRPr lang="ko-KR" altLang="en-US" dirty="0" smtClean="0" sz="94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9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-2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-1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(units per week)</a:t>
            </a:r>
            <a:endParaRPr lang="ko-KR" altLang="en-US" dirty="0" smtClean="0" sz="900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16 </a:t>
            </a:r>
            <a:endParaRPr lang="ko-KR" altLang="en-US" dirty="0" smtClean="0" sz="12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12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2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125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-6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-4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MRS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= 2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-2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-1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53385" y="2773680"/>
            <a:ext cx="2246630" cy="19443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33345" y="5291455"/>
            <a:ext cx="2072640" cy="2069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70120" y="5660390"/>
            <a:ext cx="1195070" cy="7251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We will now add a fourth assumption regarding consumer preference: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Along an indifference curve there is a diminishing marginal rate of substitution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 the MRS for AB was 6, while that for DE was 2.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Marginal Rate of Substitution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Indifference curves are convex because as more of one good is consumed,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would prefer to give up fewer units of a second good to get additional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units of the first one.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Consumers prefer a balanced market basket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Perfect Substitutes and Perfect Complements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goods are perfect substitutes when the marginal rate of substitution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one good for the other is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Apple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Juice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(glasses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1002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002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100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Orange Juice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4</a:t>
            </a:r>
            <a:endParaRPr lang="ko-KR" altLang="en-US" dirty="0" smtClean="0" sz="100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goods are complements when the indifference curves for the goods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shaped as right angles.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Left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Shoes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Perfect </a:t>
            </a:r>
            <a:endParaRPr lang="ko-KR" altLang="en-US" dirty="0" smtClean="0" sz="105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105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05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105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Right Shoes</a:t>
            </a:r>
            <a:endParaRPr lang="ko-KR" altLang="en-US" dirty="0" smtClean="0" sz="105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BADS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Things for which less is preferred to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Air pollution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Designing New Automobiles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Automobile executives must regularly decide when to introduce new models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how much money to invest in restyling.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An analysis of consumer preferences would help to determine when and if car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companies should change the styling of their cars.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lang="ko-KR" altLang="en-US" dirty="0" smtClean="0" sz="1200"/>
          </a:p>
        </p:txBody>
      </p:sp>
      <p:sp>
        <p:nvSpPr>
          <p:cNvPr id="114" name="Rect 3"/>
          <p:cNvSpPr>
            <a:spLocks noGrp="1" noChangeArrowheads="1"/>
          </p:cNvSpPr>
          <p:nvPr/>
        </p:nvSpPr>
        <p:spPr>
          <a:xfrm rot="0">
            <a:off x="4541520" y="2917190"/>
            <a:ext cx="412750" cy="127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Perfect</a:t>
            </a:r>
            <a:endParaRPr lang="ko-KR" altLang="en-US" dirty="0" smtClean="0" sz="900" b="1"/>
          </a:p>
        </p:txBody>
      </p:sp>
      <p:sp>
        <p:nvSpPr>
          <p:cNvPr id="115" name="Rect 3"/>
          <p:cNvSpPr>
            <a:spLocks noGrp="1" noChangeArrowheads="1"/>
          </p:cNvSpPr>
          <p:nvPr/>
        </p:nvSpPr>
        <p:spPr>
          <a:xfrm rot="0">
            <a:off x="2853055" y="2837815"/>
            <a:ext cx="3018155" cy="3267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10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Substitutes</a:t>
            </a:r>
            <a:endParaRPr lang="ko-KR" altLang="en-US" dirty="0" smtClean="0" sz="900" b="1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(glasses) </a:t>
            </a:r>
            <a:endParaRPr lang="ko-KR" altLang="en-US" dirty="0" smtClean="0" sz="798"/>
          </a:p>
          <a:p>
            <a:pPr marL="0" indent="0" defTabSz="15240"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Complements </a:t>
            </a:r>
            <a:endParaRPr lang="ko-KR" altLang="en-US" dirty="0" smtClean="0" sz="105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46960" y="640080"/>
            <a:ext cx="3237230" cy="2246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34895" y="3093720"/>
            <a:ext cx="3251835" cy="22675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9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High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MRS</a:t>
            </a:r>
            <a:endParaRPr lang="ko-KR" altLang="en-US" dirty="0" smtClean="0" sz="900" i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These consumers are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willing to give up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considerable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styling for additional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performance</a:t>
            </a:r>
            <a:endParaRPr lang="ko-KR" altLang="en-US" dirty="0" smtClean="0" sz="798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Performance</a:t>
            </a:r>
            <a:endParaRPr lang="ko-KR" altLang="en-US" dirty="0" smtClean="0" sz="9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Styling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Preference B: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Low MRS </a:t>
            </a:r>
            <a:endParaRPr lang="ko-KR" altLang="en-US" dirty="0" smtClean="0" sz="9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These consumers are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willing to give up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considerable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performance for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additional styling</a:t>
            </a:r>
            <a:endParaRPr lang="ko-KR" altLang="en-US" dirty="0" smtClean="0" sz="798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Performance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Designing New Automobiles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What Do You Think?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can we determine the consumers preference?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Designing New Automobiles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recent study of automobile demand in the USA shows that over the past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decades most consumers have preferred styling over performance.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 Growth of Japanese Imports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1970’s and 1980’s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15% of domestic cars underwent a style change each year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compares to 23% for imports </a:t>
            </a:r>
            <a:endParaRPr lang="ko-KR" altLang="en-US" dirty="0" smtClean="0" sz="1097"/>
          </a:p>
          <a:p>
            <a:pPr marL="0" indent="0" defTabSz="15240" algn="l">
              <a:lnSpc>
                <a:spcPts val="1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lang="ko-KR" altLang="en-US" dirty="0" smtClean="0" sz="1200"/>
          </a:p>
        </p:txBody>
      </p:sp>
      <p:sp>
        <p:nvSpPr>
          <p:cNvPr id="118" name="Rect 3"/>
          <p:cNvSpPr>
            <a:spLocks noGrp="1" noChangeArrowheads="1"/>
          </p:cNvSpPr>
          <p:nvPr/>
        </p:nvSpPr>
        <p:spPr>
          <a:xfrm rot="0">
            <a:off x="4312920" y="774065"/>
            <a:ext cx="72326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Preference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: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4785" y="3931920"/>
            <a:ext cx="2807335" cy="21977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PREFERENCES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Numerical score representing the satisfaction that a consumer gets from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market basket.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If buying 3 copies of Microeconomics makes you happier than buying one shirt,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we say that the books give you more utility than the shirt.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Utility Functions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Assume: The utility function for food (F) and clothing (C)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U(F,C) = F + 2C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Market Baskets: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F units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C units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U (F, C) = F + 2C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  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8 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3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8 + 2(3) = 14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 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6 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4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6 + 2(4) = 14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   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4                       4                     4 + 2(4) = 12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consumer is indifferent to A &amp; 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consumer prefers A &amp; B to C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week)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Assume: U = FC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               25 = 5(5) </a:t>
            </a:r>
            <a:endParaRPr lang="ko-KR" altLang="en-US" dirty="0" smtClean="0" sz="9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900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25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15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Ordinal Versus Cardinal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	Ordinal Utility Function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places market baskets in the order of most preferred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least preferred, but it does not indicate how much one market basket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preferred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	Cardinal Utility Function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utility function describing the extent to which one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basket is preferred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Ordinal Versus Cardinal Rankings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actual unit of measurement for utility is not important.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Therefore, an ordinal ranking is sufficient to explain how most individual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decisions are made.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Budget Constraints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Preferences do not explain all of consumer behavior.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Budget constraints also limit an individual’s ability to consume in light of the prices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pay for various goods and 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indicates all combinations of two commodities for which total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spent equals total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27</a:t>
            </a:r>
            <a:endParaRPr lang="ko-KR" altLang="en-US" dirty="0" smtClean="0" sz="1200"/>
          </a:p>
        </p:txBody>
      </p:sp>
      <p:sp>
        <p:nvSpPr>
          <p:cNvPr id="121" name="Rect 3"/>
          <p:cNvSpPr>
            <a:spLocks noGrp="1" noChangeArrowheads="1"/>
          </p:cNvSpPr>
          <p:nvPr/>
        </p:nvSpPr>
        <p:spPr>
          <a:xfrm rot="0">
            <a:off x="4182110" y="4876800"/>
            <a:ext cx="1732280" cy="969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                25 = 10(2.5) </a:t>
            </a:r>
            <a:endParaRPr lang="ko-KR" altLang="en-US" dirty="0" smtClean="0" sz="900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		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100 (Preferred to </a:t>
            </a:r>
            <a:endParaRPr lang="ko-KR" altLang="en-US" dirty="0" smtClean="0" sz="900" b="1"/>
          </a:p>
        </p:txBody>
      </p:sp>
      <p:sp>
        <p:nvSpPr>
          <p:cNvPr id="122" name="Rect 3"/>
          <p:cNvSpPr>
            <a:spLocks noGrp="1" noChangeArrowheads="1"/>
          </p:cNvSpPr>
          <p:nvPr/>
        </p:nvSpPr>
        <p:spPr>
          <a:xfrm rot="0">
            <a:off x="3108960" y="4065905"/>
            <a:ext cx="2531110" cy="22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Utility Functions &amp; Indifference Curves</a:t>
            </a:r>
            <a:endParaRPr lang="ko-KR" altLang="en-US" dirty="0" smtClean="0" sz="90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Basket       U  =  FC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                25 = 2.5(10) </a:t>
            </a:r>
            <a:endParaRPr lang="ko-KR" altLang="en-US" dirty="0" smtClean="0" sz="90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14270" y="3420110"/>
            <a:ext cx="2886075" cy="21456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Let F equal the amount of food purchased, and C is the amount of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of food = Pf  and price of         clothing = Pc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Then Pf F is the amount of money spent on food, and Pc C is the amount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spent on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then can be written: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202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2025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Basket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Food (F)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Clothing (C)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Spending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Pf  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($1)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Pc 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($2)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PfF + PcC = I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$80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20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$80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40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$80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60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$80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80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$80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week)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I/P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) = 40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94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94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60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As consumption moves along a budget line from the intercept, the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spends less on one item and more on the 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slope of the line measures the relative cost of food and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slope is the negative of the ratio of the prices of the two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slope indicates the rate at which the two goods can be substituted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changing the amount of money spent.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vertical intercept (I/PC), illustrates the maximum amount of C that can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purchased with income I.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horizontal intercept (I/PF), illustrates the maximum amount of F that can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purchased with income I.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The Effects of Changes in Income and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Income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An increase in income causes the budget line to shift outward, parallel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original line (holding prices constant).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decrease in income causes the budget line to shift inward, parallel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original line (holding prices constant). </a:t>
            </a:r>
            <a:endParaRPr lang="ko-KR" altLang="en-US" dirty="0" smtClean="0" sz="1097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</a:t>
            </a:r>
            <a:endParaRPr lang="ko-KR" altLang="en-US" dirty="0" smtClean="0" sz="1200"/>
          </a:p>
        </p:txBody>
      </p:sp>
      <p:sp>
        <p:nvSpPr>
          <p:cNvPr id="125" name="Rect 3"/>
          <p:cNvSpPr>
            <a:spLocks noGrp="1" noChangeArrowheads="1"/>
          </p:cNvSpPr>
          <p:nvPr/>
        </p:nvSpPr>
        <p:spPr>
          <a:xfrm rot="0">
            <a:off x="3684905" y="1603375"/>
            <a:ext cx="314960" cy="3168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025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025" i="1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endParaRPr lang="ko-KR" altLang="en-US" dirty="0" smtClean="0" sz="2025" i="1"/>
          </a:p>
        </p:txBody>
      </p:sp>
      <p:sp>
        <p:nvSpPr>
          <p:cNvPr id="126" name="Rect 3"/>
          <p:cNvSpPr>
            <a:spLocks noGrp="1" noChangeArrowheads="1"/>
          </p:cNvSpPr>
          <p:nvPr/>
        </p:nvSpPr>
        <p:spPr>
          <a:xfrm rot="0">
            <a:off x="3343910" y="1728470"/>
            <a:ext cx="1851025" cy="28587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81" i="1">
                <a:solidFill>
                  <a:srgbClr val="000000"/>
                </a:solidFill>
                <a:latin typeface="Times New Roman"/>
              </a:rPr>
              <a:t>C</a:t>
            </a:r>
            <a:endParaRPr lang="ko-KR" altLang="en-US" dirty="0" smtClean="0" sz="1181" i="1"/>
          </a:p>
          <a:p>
            <a:pPr marL="0" indent="0" defTabSz="15240" algn="l">
              <a:lnSpc>
                <a:spcPts val="2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548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548" i="1"/>
          </a:p>
        </p:txBody>
      </p:sp>
      <p:sp>
        <p:nvSpPr>
          <p:cNvPr id="127" name="Rect 3"/>
          <p:cNvSpPr>
            <a:spLocks noGrp="1" noChangeArrowheads="1"/>
          </p:cNvSpPr>
          <p:nvPr/>
        </p:nvSpPr>
        <p:spPr>
          <a:xfrm rot="0">
            <a:off x="2740025" y="1603375"/>
            <a:ext cx="2610485" cy="4059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025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202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02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202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2025" i="1"/>
          </a:p>
          <a:p>
            <a:pPr marL="0" indent="0" defTabSz="15240" algn="l">
              <a:lnSpc>
                <a:spcPts val="1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4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94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4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940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798" b="1"/>
          </a:p>
        </p:txBody>
      </p:sp>
      <p:sp>
        <p:nvSpPr>
          <p:cNvPr id="128" name="Rect 3"/>
          <p:cNvSpPr>
            <a:spLocks noGrp="1" noChangeArrowheads="1"/>
          </p:cNvSpPr>
          <p:nvPr/>
        </p:nvSpPr>
        <p:spPr>
          <a:xfrm rot="0">
            <a:off x="2578735" y="1728470"/>
            <a:ext cx="2570480" cy="3925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181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1181" i="1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Pc	= $2     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$1        I = $80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Budget Line F + 2C = $80</a:t>
            </a:r>
            <a:endParaRPr lang="ko-KR" altLang="en-US" dirty="0" smtClean="0" sz="90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40">
                <a:solidFill>
                  <a:srgbClr val="000000"/>
                </a:solidFill>
                <a:latin typeface="Times New Roman"/>
                <a:ea typeface="Times New Roman"/>
              </a:rPr>
              <a:t>Slope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4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4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40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4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dirty="0" smtClean="0" sz="94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40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4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94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94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4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4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548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940" i="1">
                <a:solidFill>
                  <a:srgbClr val="000000"/>
                </a:solidFill>
                <a:latin typeface="Times New Roman"/>
              </a:rPr>
              <a:t>/P</a:t>
            </a:r>
            <a:endParaRPr lang="ko-KR" altLang="en-US" dirty="0" smtClean="0" sz="940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94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80 = (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I/P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4895" y="740410"/>
            <a:ext cx="3038475" cy="22193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13305" y="4160520"/>
            <a:ext cx="4465320" cy="25025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week)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80 </a:t>
            </a:r>
            <a:endParaRPr lang="ko-KR" altLang="en-US" dirty="0" smtClean="0" sz="798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60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decrease in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shifts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798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price of one good increases, the budget line shifts inward, pivoting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other good’s intercept.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price of one good decreases, the budget line shifts outward,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pivoting from the other good’s intercept.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(units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per week) </a:t>
            </a:r>
            <a:endParaRPr lang="ko-KR" altLang="en-US" dirty="0" smtClean="0" sz="100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the slope of the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budget line and </a:t>
            </a:r>
            <a:endParaRPr lang="ko-KR" altLang="en-US" dirty="0" smtClean="0" sz="100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100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$.50 changes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the slope of the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budget line and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rotates it outward. </a:t>
            </a:r>
            <a:endParaRPr lang="ko-KR" altLang="en-US" dirty="0" smtClean="0" sz="100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= 1)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= 1/2) </a:t>
            </a:r>
            <a:endParaRPr lang="ko-KR" altLang="en-US" dirty="0" smtClean="0" sz="100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2)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160</a:t>
            </a:r>
            <a:endParaRPr lang="ko-KR" altLang="en-US" dirty="0" smtClean="0" sz="100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Effects of Changes in Income and Prices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two goods increase in price, but the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	ratio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of the two prices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unchanged, the slope will not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the budget line will shift inward to a point parallel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original budget line.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two goods decrease in price, but the ratio				of the two prices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unchanged, the slope will not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the budget line will shift outward to a point parallel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original budget line.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Choice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Consumers choose a combination of goods that will maximize the satisfaction they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achieve, given the limited budget available to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maximizing market basket must satisfy two conditions: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It must be located on the budget line.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</a:t>
            </a:r>
            <a:endParaRPr lang="ko-KR" altLang="en-US" dirty="0" smtClean="0" sz="1200"/>
          </a:p>
        </p:txBody>
      </p:sp>
      <p:sp>
        <p:nvSpPr>
          <p:cNvPr id="131" name="Rect 3"/>
          <p:cNvSpPr>
            <a:spLocks noGrp="1" noChangeArrowheads="1"/>
          </p:cNvSpPr>
          <p:nvPr/>
        </p:nvSpPr>
        <p:spPr>
          <a:xfrm rot="0">
            <a:off x="4639310" y="2837815"/>
            <a:ext cx="1878330" cy="2444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1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A decrease in the </a:t>
            </a:r>
            <a:endParaRPr lang="ko-KR" altLang="en-US" dirty="0" smtClean="0" sz="1002"/>
          </a:p>
        </p:txBody>
      </p:sp>
      <p:sp>
        <p:nvSpPr>
          <p:cNvPr id="132" name="Rect 3"/>
          <p:cNvSpPr>
            <a:spLocks noGrp="1" noChangeArrowheads="1"/>
          </p:cNvSpPr>
          <p:nvPr/>
        </p:nvSpPr>
        <p:spPr>
          <a:xfrm rot="0">
            <a:off x="2401570" y="875030"/>
            <a:ext cx="3997325" cy="5946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increase in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shifts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budget line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outward</a:t>
            </a:r>
            <a:endParaRPr lang="ko-KR" altLang="en-US" dirty="0" smtClean="0" sz="798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budget line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inward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</a:t>
            </a:r>
            <a:endParaRPr lang="ko-KR" altLang="en-US" dirty="0" smtClean="0" sz="798" b="1"/>
          </a:p>
          <a:p>
            <a:pPr marL="0" indent="0" defTabSz="15240" algn="l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An increase in the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price of food to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$2.00 changes </a:t>
            </a:r>
            <a:endParaRPr lang="ko-KR" altLang="en-US" dirty="0" smtClean="0" sz="1002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rotates it inward. </a:t>
            </a:r>
            <a:endParaRPr lang="ko-KR" altLang="en-US" dirty="0" smtClean="0" sz="1002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(units per week)</a:t>
            </a:r>
            <a:endParaRPr lang="ko-KR" altLang="en-US" dirty="0" smtClean="0" sz="1002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07210" y="3925570"/>
            <a:ext cx="3371215" cy="22345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81530" y="6559550"/>
            <a:ext cx="3130550" cy="21272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Must give the consumer the most preferred combination of goods and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Recall, the slope of an indifference curve is: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3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330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33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30" i="1">
                <a:solidFill>
                  <a:srgbClr val="000000"/>
                </a:solidFill>
                <a:latin typeface="Times New Roman"/>
                <a:ea typeface="Times New Roman"/>
              </a:rPr>
              <a:t>MRS</a:t>
            </a:r>
            <a:endParaRPr lang="ko-KR" altLang="en-US" dirty="0" smtClean="0" sz="1330" i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Further, the slope of the budget line is: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8" i="1">
                <a:solidFill>
                  <a:srgbClr val="000000"/>
                </a:solidFill>
                <a:latin typeface="Times New Roman"/>
                <a:ea typeface="Times New Roman"/>
              </a:rPr>
              <a:t>Slope</a:t>
            </a:r>
            <a:endParaRPr lang="ko-KR" altLang="en-US" dirty="0" smtClean="0" sz="1158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31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631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Therefore, it can be said that satisfaction is maximized where: 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45" i="1">
                <a:solidFill>
                  <a:srgbClr val="000000"/>
                </a:solidFill>
                <a:latin typeface="Times New Roman"/>
                <a:ea typeface="Times New Roman"/>
              </a:rPr>
              <a:t>M R 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1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45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24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624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It can be said that satisfaction is maximized when marginal rate of substitution (of 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C) is equal to the ratio of the prices (of F and C).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week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MRS (-(-10/10) = 1  </a:t>
            </a:r>
            <a:endParaRPr lang="ko-KR" altLang="en-US" dirty="0" smtClean="0" sz="79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9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-10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900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+10</a:t>
            </a:r>
            <a:endParaRPr lang="ko-KR" altLang="en-US" dirty="0" smtClean="0" sz="9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week)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basket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0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budget constraint.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94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Budget </a:t>
            </a:r>
            <a:endParaRPr lang="ko-KR" altLang="en-US" dirty="0" smtClean="0" sz="85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852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1200"/>
          </a:p>
        </p:txBody>
      </p:sp>
      <p:sp>
        <p:nvSpPr>
          <p:cNvPr id="135" name="Rect 3"/>
          <p:cNvSpPr>
            <a:spLocks noGrp="1" noChangeArrowheads="1"/>
          </p:cNvSpPr>
          <p:nvPr/>
        </p:nvSpPr>
        <p:spPr>
          <a:xfrm rot="0">
            <a:off x="3361690" y="2160905"/>
            <a:ext cx="74295" cy="88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31" i="1">
                <a:solidFill>
                  <a:srgbClr val="000000"/>
                </a:solidFill>
                <a:latin typeface="Times New Roman"/>
              </a:rPr>
              <a:t>F</a:t>
            </a:r>
            <a:endParaRPr lang="ko-KR" altLang="en-US" dirty="0" smtClean="0" sz="631" i="1"/>
          </a:p>
        </p:txBody>
      </p:sp>
      <p:sp>
        <p:nvSpPr>
          <p:cNvPr id="136" name="Rect 3"/>
          <p:cNvSpPr>
            <a:spLocks noGrp="1" noChangeArrowheads="1"/>
          </p:cNvSpPr>
          <p:nvPr/>
        </p:nvSpPr>
        <p:spPr>
          <a:xfrm rot="0">
            <a:off x="3261360" y="1566545"/>
            <a:ext cx="1744345" cy="4697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1330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1330" i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58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58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8" i="1">
                <a:solidFill>
                  <a:srgbClr val="000000"/>
                </a:solidFill>
                <a:latin typeface="Times New Roman"/>
              </a:rPr>
              <a:t>P</a:t>
            </a:r>
            <a:endParaRPr lang="ko-KR" altLang="en-US" dirty="0" smtClean="0" sz="1158" i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624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624" i="1"/>
          </a:p>
          <a:p>
            <a:pPr marL="0" indent="0" defTabSz="15240" algn="l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Point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does not  </a:t>
            </a:r>
            <a:endParaRPr lang="ko-KR" altLang="en-US" dirty="0" smtClean="0" sz="798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is greater than the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ratio (1/2). </a:t>
            </a:r>
            <a:endParaRPr lang="ko-KR" altLang="en-US" dirty="0" smtClean="0" sz="798"/>
          </a:p>
          <a:p>
            <a:pPr marL="0" indent="0" defTabSz="15240" algn="l">
              <a:lnSpc>
                <a:spcPts val="10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(units per week)</a:t>
            </a:r>
            <a:endParaRPr lang="ko-KR" altLang="en-US" dirty="0" smtClean="0" sz="798" b="1"/>
          </a:p>
        </p:txBody>
      </p:sp>
      <p:sp>
        <p:nvSpPr>
          <p:cNvPr id="137" name="Rect 3"/>
          <p:cNvSpPr>
            <a:spLocks noGrp="1" noChangeArrowheads="1"/>
          </p:cNvSpPr>
          <p:nvPr/>
        </p:nvSpPr>
        <p:spPr>
          <a:xfrm rot="0">
            <a:off x="2200910" y="1405255"/>
            <a:ext cx="2844800" cy="7458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330">
                <a:solidFill>
                  <a:srgbClr val="000000"/>
                </a:solidFill>
                <a:latin typeface="Symbol"/>
                <a:ea typeface="Symbol"/>
              </a:rPr>
              <a:t>= −Δ</a:t>
            </a:r>
            <a:endParaRPr lang="ko-KR" altLang="en-US" dirty="0" smtClean="0" sz="1330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58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endParaRPr lang="ko-KR" altLang="en-US" dirty="0" smtClean="0" sz="1158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4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45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4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45" i="1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  <a:ea typeface="Arial"/>
              </a:rPr>
              <a:t>Pc= $2     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 = $1     I = $80</a:t>
            </a:r>
            <a:endParaRPr lang="ko-KR" altLang="en-US" dirty="0" smtClean="0" sz="9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maximize satisfaction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because the </a:t>
            </a:r>
            <a:endParaRPr lang="ko-KR" altLang="en-US" dirty="0" smtClean="0" sz="7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Budget </a:t>
            </a:r>
            <a:endParaRPr lang="ko-KR" altLang="en-US" dirty="0" smtClean="0" sz="900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900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Pc= $2     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		= $1     I = $80</a:t>
            </a:r>
            <a:endParaRPr lang="ko-KR" altLang="en-US" dirty="0" smtClean="0" sz="900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cannot be attained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given the current </a:t>
            </a:r>
            <a:endParaRPr lang="ko-KR" altLang="en-US" dirty="0" smtClean="0" sz="900"/>
          </a:p>
          <a:p>
            <a:pPr marL="0" indent="0" defTabSz="15240" algn="l">
              <a:lnSpc>
                <a:spcPts val="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Food (units per week)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26590" y="953770"/>
            <a:ext cx="3099435" cy="21615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75230" y="4547870"/>
            <a:ext cx="2718435" cy="21697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36190" y="6866890"/>
            <a:ext cx="3099435" cy="2161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week)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tangent and no higher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level of satisfaction 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852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Budget 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852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Designing New Automobiles (II)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Consider two groups of consumers, each wishing to spend $10,000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styling and performance of cars.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Each group has different preferences.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By finding the point of tangency between a group’s indifference curve and the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budget constraint auto companies can design a production and marketing plan.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$10,000 </a:t>
            </a:r>
            <a:endParaRPr lang="ko-KR" altLang="en-US" dirty="0" smtClean="0" sz="100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off a considerable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amount of styling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for some additional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performance </a:t>
            </a:r>
            <a:endParaRPr lang="ko-KR" altLang="en-US" dirty="0" smtClean="0" sz="852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$3,000 </a:t>
            </a:r>
            <a:endParaRPr lang="ko-KR" altLang="en-US" dirty="0" smtClean="0" sz="1002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$7,000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$10,000</a:t>
            </a:r>
            <a:endParaRPr lang="ko-KR" altLang="en-US" dirty="0" smtClean="0" sz="100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$10,000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off a considerable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$7,000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some  additional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798"/>
          </a:p>
          <a:p>
            <a:pPr marL="0" indent="0" defTabSz="15240" algn="l">
              <a:lnSpc>
                <a:spcPts val="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$3,000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$10,000</a:t>
            </a:r>
            <a:endParaRPr lang="ko-KR" altLang="en-US" dirty="0" smtClean="0" sz="900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31</a:t>
            </a:r>
            <a:endParaRPr lang="ko-KR" altLang="en-US" dirty="0" smtClean="0" sz="1200"/>
          </a:p>
        </p:txBody>
      </p:sp>
      <p:sp>
        <p:nvSpPr>
          <p:cNvPr id="140" name="Rect 3"/>
          <p:cNvSpPr>
            <a:spLocks noGrp="1" noChangeArrowheads="1"/>
          </p:cNvSpPr>
          <p:nvPr/>
        </p:nvSpPr>
        <p:spPr>
          <a:xfrm rot="0">
            <a:off x="3846830" y="1176655"/>
            <a:ext cx="881380" cy="115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At market basket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98" i="1"/>
          </a:p>
        </p:txBody>
      </p:sp>
      <p:sp>
        <p:nvSpPr>
          <p:cNvPr id="141" name="Rect 3"/>
          <p:cNvSpPr>
            <a:spLocks noGrp="1" noChangeArrowheads="1"/>
          </p:cNvSpPr>
          <p:nvPr/>
        </p:nvSpPr>
        <p:spPr>
          <a:xfrm rot="0">
            <a:off x="2091055" y="1088390"/>
            <a:ext cx="3423920" cy="801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Pc	= $2     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$1     I = $80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budget line and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indifference curve are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can be attained. </a:t>
            </a:r>
            <a:endParaRPr lang="ko-KR" altLang="en-US" dirty="0" smtClean="0" sz="798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At A: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MRS =P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= .5 </a:t>
            </a:r>
            <a:endParaRPr lang="ko-KR" altLang="en-US" dirty="0" smtClean="0" sz="798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(units per week)</a:t>
            </a:r>
            <a:endParaRPr lang="ko-KR" altLang="en-US" dirty="0" smtClean="0" sz="798" b="1"/>
          </a:p>
          <a:p>
            <a:pPr marL="0" indent="0" defTabSz="15240" algn="l">
              <a:lnSpc>
                <a:spcPts val="1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These consumers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are willing to trade </a:t>
            </a:r>
            <a:endParaRPr lang="ko-KR" altLang="en-US" dirty="0" smtClean="0" sz="852"/>
          </a:p>
          <a:p>
            <a:pPr marL="0" indent="0" defTabSz="15240" algn="l">
              <a:lnSpc>
                <a:spcPts val="1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Performance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These consumers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are willing to trade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amount of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performance for </a:t>
            </a:r>
            <a:endParaRPr lang="ko-KR" altLang="en-US" dirty="0" smtClean="0" sz="798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Performance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9505" y="1316990"/>
            <a:ext cx="3630295" cy="24136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65375" y="4032250"/>
            <a:ext cx="3676015" cy="24358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37105" y="6748145"/>
            <a:ext cx="3593465" cy="26396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Decision making &amp; Public Policy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Choosing between a non-matching and matching grant to fund police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Private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Non-matching Grant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Before Grant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: Preference maximizing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     market basket  </a:t>
            </a:r>
            <a:endParaRPr lang="ko-KR" altLang="en-US" dirty="0" smtClean="0" sz="9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After Grant </a:t>
            </a:r>
            <a:endParaRPr lang="ko-KR" altLang="en-US" dirty="0" smtClean="0" sz="85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B: Preference maximizing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Z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V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852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      market basket  </a:t>
            </a:r>
            <a:endParaRPr lang="ko-KR" altLang="en-US" dirty="0" smtClean="0" sz="85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     market basket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Expenditures </a:t>
            </a:r>
            <a:endParaRPr lang="ko-KR" altLang="en-US" dirty="0" smtClean="0" sz="85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W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Police ($) 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</a:t>
            </a:r>
            <a:endParaRPr lang="ko-KR" altLang="en-US" dirty="0" smtClean="0" sz="1200"/>
          </a:p>
        </p:txBody>
      </p:sp>
      <p:sp>
        <p:nvSpPr>
          <p:cNvPr id="144" name="Rect 3"/>
          <p:cNvSpPr>
            <a:spLocks noGrp="1" noChangeArrowheads="1"/>
          </p:cNvSpPr>
          <p:nvPr/>
        </p:nvSpPr>
        <p:spPr>
          <a:xfrm rot="0">
            <a:off x="4446905" y="8363585"/>
            <a:ext cx="6381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OX: Police </a:t>
            </a:r>
            <a:endParaRPr lang="ko-KR" altLang="en-US" dirty="0" smtClean="0" sz="852"/>
          </a:p>
        </p:txBody>
      </p:sp>
      <p:sp>
        <p:nvSpPr>
          <p:cNvPr id="145" name="Rect 3"/>
          <p:cNvSpPr>
            <a:spLocks noGrp="1" noChangeArrowheads="1"/>
          </p:cNvSpPr>
          <p:nvPr/>
        </p:nvSpPr>
        <p:spPr>
          <a:xfrm rot="0">
            <a:off x="3862070" y="2538730"/>
            <a:ext cx="1759585" cy="6038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Expenditure </a:t>
            </a:r>
            <a:endParaRPr lang="ko-KR" altLang="en-US" dirty="0" smtClean="0" sz="9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OR: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900"/>
          </a:p>
          <a:p>
            <a:pPr marL="0" indent="0" defTabSz="15240" algn="l">
              <a:lnSpc>
                <a:spcPts val="1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     market basket  </a:t>
            </a:r>
            <a:endParaRPr lang="ko-KR" altLang="en-US" dirty="0" smtClean="0" sz="85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Expenditure </a:t>
            </a:r>
            <a:endParaRPr lang="ko-KR" altLang="en-US" dirty="0" smtClean="0" sz="852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OU: 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852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Budget line: 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PQ </a:t>
            </a:r>
            <a:endParaRPr lang="ko-KR" altLang="en-US" dirty="0" smtClean="0" sz="852" i="1"/>
          </a:p>
          <a:p>
            <a:pPr marL="0" indent="0" defTabSz="15240" algn="l">
              <a:lnSpc>
                <a:spcPts val="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551" i="1" b="1"/>
          </a:p>
        </p:txBody>
      </p:sp>
      <p:sp>
        <p:nvSpPr>
          <p:cNvPr id="146" name="Rect 3"/>
          <p:cNvSpPr>
            <a:spLocks noGrp="1" noChangeArrowheads="1"/>
          </p:cNvSpPr>
          <p:nvPr/>
        </p:nvSpPr>
        <p:spPr>
          <a:xfrm rot="0">
            <a:off x="2633345" y="1978025"/>
            <a:ext cx="3155950" cy="65170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Budget line: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PQ </a:t>
            </a:r>
            <a:endParaRPr lang="ko-KR" altLang="en-US" dirty="0" smtClean="0" sz="900" i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OS: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Police </a:t>
            </a:r>
            <a:endParaRPr lang="ko-KR" altLang="en-US" dirty="0" smtClean="0" sz="900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Police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Non-matching Grant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Budget line: 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TV </a:t>
            </a:r>
            <a:endParaRPr lang="ko-KR" altLang="en-US" dirty="0" smtClean="0" sz="852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OZ: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Police </a:t>
            </a:r>
            <a:endParaRPr lang="ko-KR" altLang="en-US" dirty="0" smtClean="0" sz="900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Police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9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Before Grant </a:t>
            </a:r>
            <a:endParaRPr lang="ko-KR" altLang="en-US" dirty="0" smtClean="0" sz="85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Matching Grant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A: Preference maximizing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After Grant </a:t>
            </a:r>
            <a:endParaRPr lang="ko-KR" altLang="en-US" dirty="0" smtClean="0" sz="85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C: Preference maximizing </a:t>
            </a:r>
            <a:endParaRPr lang="ko-KR" altLang="en-US" dirty="0" smtClean="0" sz="852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OW: Private </a:t>
            </a:r>
            <a:endParaRPr lang="ko-KR" altLang="en-US" dirty="0" smtClean="0" sz="85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852" i="1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25750" y="902335"/>
            <a:ext cx="368173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04160" y="5108575"/>
            <a:ext cx="2167255" cy="21577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100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100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Police ($) </a:t>
            </a:r>
            <a:endParaRPr lang="ko-KR" altLang="en-US" dirty="0" smtClean="0" sz="100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Corner Solution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corner solution exists if a consumer buys in extremes, and buys all of one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category of good and none of another.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exists where the indifference curves are tangent to the horizontal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vertical axis.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MRS is not equal to PA/PB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Frozen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Yogurt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(cups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monthly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Ice Cream (cup/month)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Corner Solution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At point B, the MRS of ice cream for frozen yogurt is greater than the slope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budget line.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This suggests that if the consumer could give up more frozen yogurt for ice cream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 would do so.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However, there is no more frozen yogurt to give up!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When a corner solution arises,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the consumer’s MRS does not necessarily equal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price ratio.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 this instance it can be said that: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68" i="1">
                <a:solidFill>
                  <a:srgbClr val="000000"/>
                </a:solidFill>
                <a:latin typeface="Times New Roman"/>
                <a:ea typeface="Times New Roman"/>
              </a:rPr>
              <a:t>MRS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868">
                <a:solidFill>
                  <a:srgbClr val="000000"/>
                </a:solidFill>
                <a:latin typeface="Symbol"/>
                <a:ea typeface="Symbol"/>
              </a:rPr>
              <a:t>≥</a:t>
            </a:r>
            <a:endParaRPr lang="ko-KR" altLang="en-US" dirty="0" smtClean="0" sz="186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33</a:t>
            </a:r>
            <a:endParaRPr lang="ko-KR" altLang="en-US" dirty="0" smtClean="0" sz="1200"/>
          </a:p>
        </p:txBody>
      </p:sp>
      <p:sp>
        <p:nvSpPr>
          <p:cNvPr id="149" name="Rect 3"/>
          <p:cNvSpPr>
            <a:spLocks noGrp="1" noChangeArrowheads="1"/>
          </p:cNvSpPr>
          <p:nvPr/>
        </p:nvSpPr>
        <p:spPr>
          <a:xfrm rot="0">
            <a:off x="4898390" y="2459990"/>
            <a:ext cx="1302385" cy="20383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0" name="Rect 3"/>
          <p:cNvSpPr>
            <a:spLocks noGrp="1" noChangeArrowheads="1"/>
          </p:cNvSpPr>
          <p:nvPr/>
        </p:nvSpPr>
        <p:spPr>
          <a:xfrm rot="0">
            <a:off x="4468495" y="2237105"/>
            <a:ext cx="796290" cy="7065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Point C </a:t>
            </a:r>
            <a:endParaRPr lang="ko-KR" altLang="en-US" dirty="0" smtClean="0" sz="852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5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868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endParaRPr lang="ko-KR" altLang="en-US" dirty="0" smtClean="0" sz="1868"/>
          </a:p>
        </p:txBody>
      </p:sp>
      <p:sp>
        <p:nvSpPr>
          <p:cNvPr id="151" name="Rect 3"/>
          <p:cNvSpPr>
            <a:spLocks noGrp="1" noChangeArrowheads="1"/>
          </p:cNvSpPr>
          <p:nvPr/>
        </p:nvSpPr>
        <p:spPr>
          <a:xfrm rot="0">
            <a:off x="4373880" y="1901825"/>
            <a:ext cx="1747520" cy="7443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OZ: Police expenditure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Matching Grant </a:t>
            </a:r>
            <a:endParaRPr lang="ko-KR" altLang="en-US" dirty="0" smtClean="0" sz="85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19" i="1">
                <a:solidFill>
                  <a:srgbClr val="000000"/>
                </a:solidFill>
                <a:latin typeface="Times New Roman"/>
                <a:ea typeface="Times New Roman"/>
              </a:rPr>
              <a:t>IceCream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19" i="1">
                <a:solidFill>
                  <a:srgbClr val="000000"/>
                </a:solidFill>
                <a:latin typeface="Times New Roman"/>
                <a:ea typeface="Times New Roman"/>
              </a:rPr>
              <a:t>Frozen Yogurt</a:t>
            </a:r>
            <a:endParaRPr lang="ko-KR" altLang="en-US" dirty="0" smtClean="0" sz="1019" i="1"/>
          </a:p>
        </p:txBody>
      </p:sp>
      <p:sp>
        <p:nvSpPr>
          <p:cNvPr id="152" name="Rect 3"/>
          <p:cNvSpPr>
            <a:spLocks noGrp="1" noChangeArrowheads="1"/>
          </p:cNvSpPr>
          <p:nvPr/>
        </p:nvSpPr>
        <p:spPr>
          <a:xfrm rot="0">
            <a:off x="3486785" y="1042670"/>
            <a:ext cx="2689225" cy="826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Matching Grant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Non-matching Grant </a:t>
            </a:r>
            <a:endParaRPr lang="ko-KR" altLang="en-US" dirty="0" smtClean="0" sz="85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Point B </a:t>
            </a:r>
            <a:endParaRPr lang="ko-KR" altLang="en-US" dirty="0" smtClean="0" sz="852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OU: Private expenditure </a:t>
            </a:r>
            <a:endParaRPr lang="ko-KR" altLang="en-US" dirty="0" smtClean="0" sz="85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OX: Police expenditure </a:t>
            </a:r>
            <a:endParaRPr lang="ko-KR" altLang="en-US" dirty="0" smtClean="0" sz="852"/>
          </a:p>
          <a:p>
            <a:pPr marL="0" indent="0" defTabSz="15240" algn="l">
              <a:lnSpc>
                <a:spcPts val="1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A corner solution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exists at point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B.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868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868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868" i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01240" y="2057400"/>
            <a:ext cx="2121535" cy="20967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If the MRS is, in fact, significantly greater than the price ratio, then a small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 in the price of frozen yogurt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will not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alter the consumer’s 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college Trust Fund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Suppose Jane Doe’s parents set up a trust fund for her college education.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Originally, the money must be used for education.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If part of the money could be used for the purchase of other goods, 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preferences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Other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Consumption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($)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The trust fund shifts the budget line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4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lang="ko-KR" altLang="en-US" dirty="0" smtClean="0" sz="1200"/>
          </a:p>
        </p:txBody>
      </p:sp>
      <p:sp>
        <p:nvSpPr>
          <p:cNvPr id="155" name="Rect 3"/>
          <p:cNvSpPr>
            <a:spLocks noGrp="1" noChangeArrowheads="1"/>
          </p:cNvSpPr>
          <p:nvPr/>
        </p:nvSpPr>
        <p:spPr>
          <a:xfrm rot="0">
            <a:off x="3745865" y="3121025"/>
            <a:ext cx="890905" cy="133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     other goods</a:t>
            </a:r>
            <a:endParaRPr lang="ko-KR" altLang="en-US" dirty="0" smtClean="0" sz="947" b="1"/>
          </a:p>
        </p:txBody>
      </p:sp>
      <p:sp>
        <p:nvSpPr>
          <p:cNvPr id="156" name="Rect 3"/>
          <p:cNvSpPr>
            <a:spLocks noGrp="1" noChangeArrowheads="1"/>
          </p:cNvSpPr>
          <p:nvPr/>
        </p:nvSpPr>
        <p:spPr>
          <a:xfrm rot="0">
            <a:off x="3364865" y="2944495"/>
            <a:ext cx="2292985" cy="438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C: If the trust could be spent on 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200" i="1" b="1"/>
          </a:p>
        </p:txBody>
      </p:sp>
      <p:sp>
        <p:nvSpPr>
          <p:cNvPr id="157" name="Rect 3"/>
          <p:cNvSpPr>
            <a:spLocks noGrp="1" noChangeArrowheads="1"/>
          </p:cNvSpPr>
          <p:nvPr/>
        </p:nvSpPr>
        <p:spPr>
          <a:xfrm rot="0">
            <a:off x="2886710" y="2038985"/>
            <a:ext cx="2740660" cy="2216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College Trust Fund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A: Consumption before the trust fund</a:t>
            </a:r>
            <a:endParaRPr lang="ko-KR" altLang="en-US" dirty="0" smtClean="0" sz="94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B: Requirement that the trust fund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must be spent on education</a:t>
            </a:r>
            <a:endParaRPr lang="ko-KR" altLang="en-US" dirty="0" smtClean="0" sz="94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Education ($)</a:t>
            </a:r>
            <a:endParaRPr lang="ko-KR" altLang="en-US" dirty="0" smtClean="0" sz="852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40610" y="2206625"/>
            <a:ext cx="2987040" cy="20389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73350" y="6873240"/>
            <a:ext cx="2922905" cy="23837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8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Note it  is repeated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Preferences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		Indifference curves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represent all combinations of market baskets that provide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level of satisfaction to a person.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Preferences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9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798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Budget Constraints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indicates all combinations of two commodities for which total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spent equals total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Let F equal the amount of food purchased, and C is the amount of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Price of food = Pf  and price of clothing = Pc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Then Pf F is the amount of money spent on food, and PcC is the amount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spent on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budget line then can be written: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979" i="1" b="1">
                <a:solidFill>
                  <a:srgbClr val="000000"/>
                </a:solidFill>
                <a:latin typeface="Times New Roman"/>
                <a:ea typeface="Times New Roman"/>
              </a:rPr>
              <a:t>P 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979" i="1" b="1">
                <a:solidFill>
                  <a:srgbClr val="000000"/>
                </a:solidFill>
                <a:latin typeface="Times New Roman"/>
                <a:ea typeface="Times New Roman"/>
              </a:rPr>
              <a:t>P 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979" i="1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endParaRPr lang="ko-KR" altLang="en-US" dirty="0" smtClean="0" sz="1979" i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week)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I/P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) = 40 </a:t>
            </a:r>
            <a:endParaRPr lang="ko-KR" altLang="en-US" dirty="0" smtClean="0" sz="100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00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0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0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0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80 = (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I/P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35</a:t>
            </a:r>
            <a:endParaRPr lang="ko-KR" altLang="en-US" dirty="0" smtClean="0" sz="1200"/>
          </a:p>
        </p:txBody>
      </p:sp>
      <p:sp>
        <p:nvSpPr>
          <p:cNvPr id="160" name="Rect 3"/>
          <p:cNvSpPr>
            <a:spLocks noGrp="1" noChangeArrowheads="1"/>
          </p:cNvSpPr>
          <p:nvPr/>
        </p:nvSpPr>
        <p:spPr>
          <a:xfrm rot="0">
            <a:off x="5410200" y="7818120"/>
            <a:ext cx="77470" cy="85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09" i="1">
                <a:solidFill>
                  <a:srgbClr val="000000"/>
                </a:solidFill>
                <a:latin typeface="Times New Roman"/>
              </a:rPr>
              <a:t>C</a:t>
            </a:r>
            <a:endParaRPr lang="ko-KR" altLang="en-US" dirty="0" smtClean="0" sz="609" i="1"/>
          </a:p>
        </p:txBody>
      </p:sp>
      <p:sp>
        <p:nvSpPr>
          <p:cNvPr id="161" name="Rect 3"/>
          <p:cNvSpPr>
            <a:spLocks noGrp="1" noChangeArrowheads="1"/>
          </p:cNvSpPr>
          <p:nvPr/>
        </p:nvSpPr>
        <p:spPr>
          <a:xfrm rot="0">
            <a:off x="4001770" y="2736850"/>
            <a:ext cx="1202055" cy="52825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is  preferred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	is preferred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H &amp; </a:t>
            </a:r>
            <a:endParaRPr lang="ko-KR" altLang="en-US" dirty="0" smtClean="0" sz="900" i="1"/>
          </a:p>
          <a:p>
            <a:pPr marL="0" indent="0" defTabSz="15240" algn="l">
              <a:lnSpc>
                <a:spcPts val="3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4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045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4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045"/>
          </a:p>
        </p:txBody>
      </p:sp>
      <p:sp>
        <p:nvSpPr>
          <p:cNvPr id="162" name="Rect 3"/>
          <p:cNvSpPr>
            <a:spLocks noGrp="1" noChangeArrowheads="1"/>
          </p:cNvSpPr>
          <p:nvPr/>
        </p:nvSpPr>
        <p:spPr>
          <a:xfrm rot="0">
            <a:off x="3679190" y="2472055"/>
            <a:ext cx="1116330" cy="54438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yield the same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satisfaction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900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45">
                <a:solidFill>
                  <a:srgbClr val="000000"/>
                </a:solidFill>
                <a:latin typeface="Times New Roman"/>
                <a:ea typeface="Times New Roman"/>
              </a:rPr>
              <a:t>Slope</a:t>
            </a:r>
            <a:endParaRPr lang="ko-KR" altLang="en-US" dirty="0" smtClean="0" sz="1045"/>
          </a:p>
        </p:txBody>
      </p:sp>
      <p:sp>
        <p:nvSpPr>
          <p:cNvPr id="163" name="Rect 3"/>
          <p:cNvSpPr>
            <a:spLocks noGrp="1" noChangeArrowheads="1"/>
          </p:cNvSpPr>
          <p:nvPr/>
        </p:nvSpPr>
        <p:spPr>
          <a:xfrm rot="0">
            <a:off x="2609215" y="2340610"/>
            <a:ext cx="3195320" cy="69894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Combination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B,A, &amp; D</a:t>
            </a:r>
            <a:endParaRPr lang="ko-KR" altLang="en-US" dirty="0" smtClean="0" sz="900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H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</a:t>
            </a:r>
            <a:endParaRPr lang="ko-KR" altLang="en-US" dirty="0" smtClean="0" sz="798" b="1"/>
          </a:p>
          <a:p>
            <a:pPr marL="0" indent="0" defTabSz="15240"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979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97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979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Pc= $2      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		= $1        I = $80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Budget Line  F + 2C = $80</a:t>
            </a:r>
            <a:endParaRPr lang="ko-KR" altLang="en-US" dirty="0" smtClean="0" sz="9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4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4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1045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dirty="0" smtClean="0" sz="104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45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45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45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4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609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045" i="1">
                <a:solidFill>
                  <a:srgbClr val="000000"/>
                </a:solidFill>
                <a:latin typeface="Times New Roman"/>
              </a:rPr>
              <a:t>/P</a:t>
            </a:r>
            <a:endParaRPr lang="ko-KR" altLang="en-US" dirty="0" smtClean="0" sz="1045" i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1002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8070" y="4245610"/>
            <a:ext cx="2898140" cy="233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Choice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Consumers choose a combination of goods that will maximize the satisfaction they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achieve, given the limited budget available to them.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maximizing market basket must satisfy two conditions: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must be located on the budget line.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give the consumer the most preferred combination of goods and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Recall, the slope of an indifference curve is: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Times New Roman"/>
                <a:ea typeface="Times New Roman"/>
              </a:rPr>
              <a:t>MRS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94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94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Further, the slope of the budget line is: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374" i="1">
                <a:solidFill>
                  <a:srgbClr val="000000"/>
                </a:solidFill>
                <a:latin typeface="Times New Roman"/>
                <a:ea typeface="Times New Roman"/>
              </a:rPr>
              <a:t>Slope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37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374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374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02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802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Therefore, it can be said that satisfaction is maximized where: 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24" i="1">
                <a:solidFill>
                  <a:srgbClr val="000000"/>
                </a:solidFill>
                <a:latin typeface="Times New Roman"/>
                <a:ea typeface="Times New Roman"/>
              </a:rPr>
              <a:t>MRS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2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24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5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655" i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week)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indifference curve are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tangent and no higher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Budget Line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900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Designing New Automobiles (II)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Consider two groups of consumers, each wishing to spend $10,000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styling and performance of cars.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Each group has different preferences.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By finding the point of tangency between a group’s indifference curve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budget constraint auto companies can design a production and marketing plan. </a:t>
            </a:r>
            <a:endParaRPr lang="ko-KR" altLang="en-US" dirty="0" smtClean="0" sz="1097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36</a:t>
            </a:r>
            <a:endParaRPr lang="ko-KR" altLang="en-US" dirty="0" smtClean="0" sz="1200"/>
          </a:p>
        </p:txBody>
      </p:sp>
      <p:sp>
        <p:nvSpPr>
          <p:cNvPr id="166" name="Rect 3"/>
          <p:cNvSpPr>
            <a:spLocks noGrp="1" noChangeArrowheads="1"/>
          </p:cNvSpPr>
          <p:nvPr/>
        </p:nvSpPr>
        <p:spPr>
          <a:xfrm rot="0">
            <a:off x="2947670" y="2965450"/>
            <a:ext cx="1604010" cy="2822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802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802" i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55" i="1">
                <a:solidFill>
                  <a:srgbClr val="000000"/>
                </a:solidFill>
                <a:latin typeface="Times New Roman"/>
              </a:rPr>
              <a:t>F</a:t>
            </a:r>
            <a:endParaRPr lang="ko-KR" altLang="en-US" dirty="0" smtClean="0" sz="655" i="1"/>
          </a:p>
          <a:p>
            <a:pPr marL="0" indent="0" defTabSz="15240"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At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A:</a:t>
            </a:r>
            <a:endParaRPr lang="ko-KR" altLang="en-US" dirty="0" smtClean="0" sz="900" i="1" b="1"/>
          </a:p>
        </p:txBody>
      </p:sp>
      <p:sp>
        <p:nvSpPr>
          <p:cNvPr id="167" name="Rect 3"/>
          <p:cNvSpPr>
            <a:spLocks noGrp="1" noChangeArrowheads="1"/>
          </p:cNvSpPr>
          <p:nvPr/>
        </p:nvSpPr>
        <p:spPr>
          <a:xfrm rot="0">
            <a:off x="2517775" y="2301240"/>
            <a:ext cx="2673985" cy="4352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947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947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37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374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37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374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2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24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2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24" i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Pc	= $2     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 = $1     I =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$80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At market basket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98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budget line and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level of satisfaction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can be attained.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MRS =P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 =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Food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week)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65120" y="758825"/>
            <a:ext cx="2889250" cy="21367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34640" y="3242945"/>
            <a:ext cx="2934970" cy="21367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65450" y="6647815"/>
            <a:ext cx="3295015" cy="24352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$10,000 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off a considerable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amount of styling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for some additional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performance </a:t>
            </a:r>
            <a:endParaRPr lang="ko-KR" altLang="en-US" dirty="0" smtClean="0" sz="852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$3,000 </a:t>
            </a:r>
            <a:endParaRPr lang="ko-KR" altLang="en-US" dirty="0" smtClean="0" sz="947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$7,000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$10,000</a:t>
            </a:r>
            <a:endParaRPr lang="ko-KR" altLang="en-US" dirty="0" smtClean="0" sz="94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$10,000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off a considerable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$7,000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some additional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styling </a:t>
            </a:r>
            <a:endParaRPr lang="ko-KR" altLang="en-US" dirty="0" smtClean="0" sz="900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$3,00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$10,000</a:t>
            </a:r>
            <a:endParaRPr lang="ko-KR" altLang="en-US" dirty="0" smtClean="0" sz="9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Choice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Decision making &amp; Public Policy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Choosing between a non-matching and matching grant to fund police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expenditures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Expenditures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($)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Before Grant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: Preference maximizing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     market basket 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37</a:t>
            </a:r>
            <a:endParaRPr lang="ko-KR" altLang="en-US" dirty="0" smtClean="0" sz="1200"/>
          </a:p>
        </p:txBody>
      </p:sp>
      <p:sp>
        <p:nvSpPr>
          <p:cNvPr id="170" name="Rect 3"/>
          <p:cNvSpPr>
            <a:spLocks noGrp="1" noChangeArrowheads="1"/>
          </p:cNvSpPr>
          <p:nvPr/>
        </p:nvSpPr>
        <p:spPr>
          <a:xfrm rot="0">
            <a:off x="4819015" y="8043545"/>
            <a:ext cx="665480" cy="22288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1" name="Rect 3"/>
          <p:cNvSpPr>
            <a:spLocks noGrp="1" noChangeArrowheads="1"/>
          </p:cNvSpPr>
          <p:nvPr/>
        </p:nvSpPr>
        <p:spPr>
          <a:xfrm rot="0">
            <a:off x="3636010" y="990600"/>
            <a:ext cx="2494280" cy="821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These consumers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are willing to trade </a:t>
            </a:r>
            <a:endParaRPr lang="ko-KR" altLang="en-US" dirty="0" smtClean="0" sz="852"/>
          </a:p>
          <a:p>
            <a:pPr marL="0" indent="0" defTabSz="15240" algn="l">
              <a:lnSpc>
                <a:spcPts val="1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Performance </a:t>
            </a:r>
            <a:endParaRPr lang="ko-KR" altLang="en-US" dirty="0" smtClean="0" sz="852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These consumers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are willing to trade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amount of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performance for </a:t>
            </a:r>
            <a:endParaRPr lang="ko-KR" altLang="en-US" dirty="0" smtClean="0" sz="900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Performance </a:t>
            </a:r>
            <a:endParaRPr lang="ko-KR" altLang="en-US" dirty="0" smtClean="0" sz="852" b="1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397" b="1">
                <a:solidFill>
                  <a:srgbClr val="000000"/>
                </a:solidFill>
                <a:latin typeface="Arial"/>
              </a:rPr>
              <a:t>Non-matching Grant</a:t>
            </a:r>
            <a:endParaRPr lang="ko-KR" altLang="en-US" dirty="0" smtClean="0" sz="1397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Budget line: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PQ </a:t>
            </a:r>
            <a:endParaRPr lang="ko-KR" altLang="en-US" dirty="0" smtClean="0" sz="798" i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OR: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798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OS: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Police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Police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52345" y="3694430"/>
            <a:ext cx="3968750" cy="284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18690" y="6824345"/>
            <a:ext cx="374904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60905" y="542290"/>
            <a:ext cx="3676015" cy="27222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Expenditures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After Grant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B: Preference maximizing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Z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V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After Grant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C: Preference maximizing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     market basket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Expenditures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W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Police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Non-matching Grant </a:t>
            </a:r>
            <a:endParaRPr lang="ko-KR" altLang="en-US" dirty="0" smtClean="0" sz="94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OU: Private expenditure </a:t>
            </a:r>
            <a:endParaRPr lang="ko-KR" altLang="en-US" dirty="0" smtClean="0" sz="94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U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Z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Police ($) </a:t>
            </a:r>
            <a:endParaRPr lang="ko-KR" altLang="en-US" dirty="0" smtClean="0" sz="105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lang="ko-KR" altLang="en-US" dirty="0" smtClean="0" sz="1200"/>
          </a:p>
        </p:txBody>
      </p:sp>
      <p:sp>
        <p:nvSpPr>
          <p:cNvPr id="174" name="Rect 3"/>
          <p:cNvSpPr>
            <a:spLocks noGrp="1" noChangeArrowheads="1"/>
          </p:cNvSpPr>
          <p:nvPr/>
        </p:nvSpPr>
        <p:spPr>
          <a:xfrm rot="0">
            <a:off x="4580890" y="5352415"/>
            <a:ext cx="66865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OX: Police </a:t>
            </a:r>
            <a:endParaRPr lang="ko-KR" altLang="en-US" dirty="0" smtClean="0" sz="900"/>
          </a:p>
        </p:txBody>
      </p:sp>
      <p:sp>
        <p:nvSpPr>
          <p:cNvPr id="175" name="Rect 3"/>
          <p:cNvSpPr>
            <a:spLocks noGrp="1" noChangeArrowheads="1"/>
          </p:cNvSpPr>
          <p:nvPr/>
        </p:nvSpPr>
        <p:spPr>
          <a:xfrm rot="0">
            <a:off x="3943985" y="5556250"/>
            <a:ext cx="177800" cy="165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i="1" b="1"/>
          </a:p>
        </p:txBody>
      </p:sp>
      <p:sp>
        <p:nvSpPr>
          <p:cNvPr id="176" name="Rect 3"/>
          <p:cNvSpPr>
            <a:spLocks noGrp="1" noChangeArrowheads="1"/>
          </p:cNvSpPr>
          <p:nvPr/>
        </p:nvSpPr>
        <p:spPr>
          <a:xfrm rot="0">
            <a:off x="3227705" y="2057400"/>
            <a:ext cx="2098040" cy="6226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Expenditure </a:t>
            </a:r>
            <a:endParaRPr lang="ko-KR" altLang="en-US" dirty="0" smtClean="0" sz="900"/>
          </a:p>
          <a:p>
            <a:pPr marL="0" indent="0" defTabSz="15240" algn="l">
              <a:lnSpc>
                <a:spcPts val="2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OW: Private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Matching Grant </a:t>
            </a:r>
            <a:endParaRPr lang="ko-KR" altLang="en-US" dirty="0" smtClean="0" sz="947"/>
          </a:p>
        </p:txBody>
      </p:sp>
      <p:sp>
        <p:nvSpPr>
          <p:cNvPr id="177" name="Rect 3"/>
          <p:cNvSpPr>
            <a:spLocks noGrp="1" noChangeArrowheads="1"/>
          </p:cNvSpPr>
          <p:nvPr/>
        </p:nvSpPr>
        <p:spPr>
          <a:xfrm rot="0">
            <a:off x="3087370" y="1923415"/>
            <a:ext cx="2842260" cy="64281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     market basket 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OU: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Private </a:t>
            </a:r>
            <a:endParaRPr lang="ko-KR" altLang="en-US" dirty="0" smtClean="0" sz="900"/>
          </a:p>
          <a:p>
            <a:pPr marL="0" indent="0" defTabSz="15240" algn="l">
              <a:lnSpc>
                <a:spcPts val="1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Budget line: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PQ </a:t>
            </a:r>
            <a:endParaRPr lang="ko-KR" altLang="en-US" dirty="0" smtClean="0" sz="900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A: Preference maximizing </a:t>
            </a:r>
            <a:endParaRPr lang="ko-KR" altLang="en-US" dirty="0" smtClean="0" sz="900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OZ: Police expenditure </a:t>
            </a:r>
            <a:endParaRPr lang="ko-KR" altLang="en-US" dirty="0" smtClean="0" sz="94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50" i="1" b="1"/>
          </a:p>
        </p:txBody>
      </p:sp>
      <p:sp>
        <p:nvSpPr>
          <p:cNvPr id="178" name="Rect 3"/>
          <p:cNvSpPr>
            <a:spLocks noGrp="1" noChangeArrowheads="1"/>
          </p:cNvSpPr>
          <p:nvPr/>
        </p:nvSpPr>
        <p:spPr>
          <a:xfrm rot="0">
            <a:off x="2136775" y="688975"/>
            <a:ext cx="3725545" cy="826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397" b="1">
                <a:solidFill>
                  <a:srgbClr val="000000"/>
                </a:solidFill>
                <a:latin typeface="Arial"/>
              </a:rPr>
              <a:t>Non-matching Grant </a:t>
            </a:r>
            <a:endParaRPr lang="ko-KR" altLang="en-US" dirty="0" smtClean="0" sz="1397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Budget line: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TV </a:t>
            </a:r>
            <a:endParaRPr lang="ko-KR" altLang="en-US" dirty="0" smtClean="0" sz="900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OZ: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Police</a:t>
            </a:r>
            <a:endParaRPr lang="ko-KR" altLang="en-US" dirty="0" smtClean="0" sz="900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Police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Expenditures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Before Grant 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1397" b="1">
                <a:solidFill>
                  <a:srgbClr val="000000"/>
                </a:solidFill>
                <a:latin typeface="Arial"/>
              </a:rPr>
              <a:t>Matching Grant</a:t>
            </a:r>
            <a:endParaRPr lang="ko-KR" altLang="en-US" dirty="0" smtClean="0" sz="13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      market basket  </a:t>
            </a:r>
            <a:endParaRPr lang="ko-KR" altLang="en-US" dirty="0" smtClean="0" sz="900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397" b="1">
                <a:solidFill>
                  <a:srgbClr val="000000"/>
                </a:solidFill>
                <a:latin typeface="Arial"/>
              </a:rPr>
              <a:t>Matching Grant</a:t>
            </a:r>
            <a:endParaRPr lang="ko-KR" altLang="en-US" dirty="0" smtClean="0" sz="139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Point B </a:t>
            </a:r>
            <a:endParaRPr lang="ko-KR" altLang="en-US" dirty="0" smtClean="0" sz="94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Point C </a:t>
            </a:r>
            <a:endParaRPr lang="ko-KR" altLang="en-US" dirty="0" smtClean="0" sz="94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OW: Private expenditure </a:t>
            </a:r>
            <a:endParaRPr lang="ko-KR" altLang="en-US" dirty="0" smtClean="0" sz="94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OX: Police expenditure </a:t>
            </a:r>
            <a:endParaRPr lang="ko-KR" altLang="en-US" dirty="0" smtClean="0" sz="947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78735" y="1676400"/>
            <a:ext cx="3194050" cy="53098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Revealed Preferences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If we know the choices a consumer has made, we can determine what her preferences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if we have information about a sufficient number of choices that are made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and incomes vary.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Revealed Preferences--Two Budget Lines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Food (units per month)</a:t>
            </a:r>
            <a:endParaRPr lang="ko-KR" altLang="en-US" dirty="0" smtClean="0" sz="798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105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shaded area are  </a:t>
            </a:r>
            <a:endParaRPr lang="ko-KR" altLang="en-US" dirty="0" smtClean="0" sz="105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preferred to 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A.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B is preferred to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all market baskets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in the pink area</a:t>
            </a:r>
            <a:endParaRPr lang="ko-KR" altLang="en-US" dirty="0" smtClean="0" sz="105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Food (units per month)</a:t>
            </a:r>
            <a:endParaRPr lang="ko-KR" altLang="en-US" dirty="0" smtClean="0" sz="9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Revealed Preferences--Four Budget Lines</a:t>
            </a:r>
            <a:endParaRPr lang="ko-KR" altLang="en-US" dirty="0" smtClean="0" sz="1097" b="1"/>
          </a:p>
          <a:p>
            <a:pPr marL="0" indent="0" defTabSz="15240" algn="l">
              <a:lnSpc>
                <a:spcPts val="1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39</a:t>
            </a:r>
            <a:endParaRPr lang="ko-KR" altLang="en-US" dirty="0" smtClean="0" sz="1200"/>
          </a:p>
        </p:txBody>
      </p:sp>
      <p:sp>
        <p:nvSpPr>
          <p:cNvPr id="181" name="Rect 3"/>
          <p:cNvSpPr>
            <a:spLocks noGrp="1" noChangeArrowheads="1"/>
          </p:cNvSpPr>
          <p:nvPr/>
        </p:nvSpPr>
        <p:spPr>
          <a:xfrm rot="0">
            <a:off x="3496310" y="1810385"/>
            <a:ext cx="175958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: Chose A over B </a:t>
            </a:r>
            <a:endParaRPr lang="ko-KR" altLang="en-US" dirty="0" smtClean="0" sz="947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       A is revealed preferred to B </a:t>
            </a:r>
            <a:endParaRPr lang="ko-KR" altLang="en-US" dirty="0" smtClean="0" sz="947" i="1"/>
          </a:p>
        </p:txBody>
      </p:sp>
      <p:sp>
        <p:nvSpPr>
          <p:cNvPr id="182" name="Rect 3"/>
          <p:cNvSpPr>
            <a:spLocks noGrp="1" noChangeArrowheads="1"/>
          </p:cNvSpPr>
          <p:nvPr/>
        </p:nvSpPr>
        <p:spPr>
          <a:xfrm rot="0">
            <a:off x="2697480" y="1852930"/>
            <a:ext cx="3366135" cy="45478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: Choose B over D </a:t>
            </a:r>
            <a:endParaRPr lang="ko-KR" altLang="en-US" dirty="0" smtClean="0" sz="947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        B is revealed preferred to D</a:t>
            </a:r>
            <a:endParaRPr lang="ko-KR" altLang="en-US" dirty="0" smtClean="0" sz="947" i="1"/>
          </a:p>
          <a:p>
            <a:pPr marL="0" indent="0" defTabSz="15240" algn="l">
              <a:lnSpc>
                <a:spcPts val="1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All market baskets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in the blue </a:t>
            </a:r>
            <a:endParaRPr lang="ko-KR" altLang="en-US" dirty="0" smtClean="0" sz="1050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1870" y="1136650"/>
            <a:ext cx="2660650" cy="26428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68550" y="4041775"/>
            <a:ext cx="3190875" cy="26485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1302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revealed preferred to A</a:t>
            </a:r>
            <a:endParaRPr lang="ko-KR" altLang="en-US" dirty="0" smtClean="0" sz="100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month)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All market baskets in the  </a:t>
            </a:r>
            <a:endParaRPr lang="ko-KR" altLang="en-US" dirty="0" smtClean="0" sz="100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blue area preferred to A</a:t>
            </a:r>
            <a:endParaRPr lang="ko-KR" altLang="en-US" dirty="0" smtClean="0" sz="100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A: preferred to all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market baskets in  </a:t>
            </a:r>
            <a:endParaRPr lang="ko-KR" altLang="en-US" dirty="0" smtClean="0" sz="100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the pink area</a:t>
            </a:r>
            <a:endParaRPr lang="ko-KR" altLang="en-US" dirty="0" smtClean="0" sz="100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Food (units per month)</a:t>
            </a:r>
            <a:endParaRPr lang="ko-KR" altLang="en-US" dirty="0" smtClean="0" sz="100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Scenario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Other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Recreational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($)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100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combination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90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75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(hours) </a:t>
            </a:r>
            <a:endParaRPr lang="ko-KR" altLang="en-US" dirty="0" smtClean="0" sz="701" b="1"/>
          </a:p>
          <a:p>
            <a:pPr marL="0" indent="0" defTabSz="15240" algn="l">
              <a:lnSpc>
                <a:spcPts val="2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40</a:t>
            </a:r>
            <a:endParaRPr lang="ko-KR" altLang="en-US" dirty="0" smtClean="0" sz="1200"/>
          </a:p>
        </p:txBody>
      </p:sp>
      <p:sp>
        <p:nvSpPr>
          <p:cNvPr id="185" name="Rect 3"/>
          <p:cNvSpPr>
            <a:spLocks noGrp="1" noChangeArrowheads="1"/>
          </p:cNvSpPr>
          <p:nvPr/>
        </p:nvSpPr>
        <p:spPr>
          <a:xfrm rot="0">
            <a:off x="3032760" y="4507865"/>
            <a:ext cx="2418080" cy="17405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of exercise = $4/hr/week </a:t>
            </a:r>
            <a:endParaRPr lang="ko-KR" altLang="en-US" dirty="0" smtClean="0" sz="798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Exercises 10 hrs/wk at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given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 &amp;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rate changes to $1/hr + </a:t>
            </a:r>
            <a:endParaRPr lang="ko-KR" altLang="en-US" dirty="0" smtClean="0" sz="900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Reveal preference of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A </a:t>
            </a:r>
            <a:endParaRPr lang="ko-KR" altLang="en-US" dirty="0" smtClean="0" sz="9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Would the Club’s </a:t>
            </a:r>
            <a:endParaRPr lang="ko-KR" altLang="en-US" dirty="0" smtClean="0" sz="1002" b="1"/>
          </a:p>
        </p:txBody>
      </p:sp>
      <p:sp>
        <p:nvSpPr>
          <p:cNvPr id="186" name="Rect 3"/>
          <p:cNvSpPr>
            <a:spLocks noGrp="1" noChangeArrowheads="1"/>
          </p:cNvSpPr>
          <p:nvPr/>
        </p:nvSpPr>
        <p:spPr>
          <a:xfrm rot="0">
            <a:off x="1835150" y="1210310"/>
            <a:ext cx="4338320" cy="5461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3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G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1302" i="1" b="1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G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revealed preferred to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 A</a:t>
            </a:r>
            <a:endParaRPr lang="ko-KR" altLang="en-US" dirty="0" smtClean="0" sz="1302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Roberta’s recreation budget = $100/wk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Activities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$30/wk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New budget line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&amp;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4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profits increase?</a:t>
            </a:r>
            <a:endParaRPr lang="ko-KR" altLang="en-US" dirty="0" smtClean="0" sz="100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Amount of Exercise </a:t>
            </a:r>
            <a:endParaRPr lang="ko-KR" altLang="en-US" dirty="0" smtClean="0" sz="701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34185" y="4358640"/>
            <a:ext cx="4041775" cy="359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34185" y="5623560"/>
            <a:ext cx="4041775" cy="27552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9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UTILITY AND CONSUMER CHOICE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Marginal utility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measures the additional satisfaction obtained from consuming one additional unit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Marginal Utility:		An Example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utility derived from increasing from 0 to 1 units of food might be 9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from 1 to 2 might be 7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from 2 to 3 might be 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Observation: Marginal utility is diminishing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Diminishing Marginal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principle of diminishing marginal utility states that as more and more of a good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consumed, consuming additional amounts will yield smaller and smaller additions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Relationship of Total and Marginal Utility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Diminishing Marginal Utility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Quantity of good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Total utility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Marginal utility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consumed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20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Utility 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endParaRPr lang="ko-KR" altLang="en-US" dirty="0" smtClean="0" sz="90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70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sum of the </a:t>
            </a:r>
            <a:endParaRPr lang="ko-KR" altLang="en-US" dirty="0" smtClean="0" sz="90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endParaRPr lang="ko-KR" altLang="en-US" dirty="0" smtClean="0" sz="9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Total utility increases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at a decreasing rate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70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701" b="1"/>
          </a:p>
          <a:p>
            <a:pPr marL="0" indent="0" defTabSz="15240" algn="l">
              <a:lnSpc>
                <a:spcPts val="1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41</a:t>
            </a:r>
            <a:endParaRPr lang="ko-KR" altLang="en-US" dirty="0" smtClean="0" sz="1200"/>
          </a:p>
        </p:txBody>
      </p:sp>
      <p:sp>
        <p:nvSpPr>
          <p:cNvPr id="189" name="Rect 3"/>
          <p:cNvSpPr>
            <a:spLocks noGrp="1" noChangeArrowheads="1"/>
          </p:cNvSpPr>
          <p:nvPr/>
        </p:nvSpPr>
        <p:spPr>
          <a:xfrm rot="0">
            <a:off x="4364990" y="6818630"/>
            <a:ext cx="1036955" cy="1414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marginal utilities up </a:t>
            </a:r>
            <a:endParaRPr lang="ko-KR" altLang="en-US" dirty="0" smtClean="0" sz="900"/>
          </a:p>
          <a:p>
            <a:pPr marL="0" indent="0" defTabSz="15240" algn="l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01" b="1"/>
          </a:p>
        </p:txBody>
      </p:sp>
      <p:sp>
        <p:nvSpPr>
          <p:cNvPr id="190" name="Rect 3"/>
          <p:cNvSpPr>
            <a:spLocks noGrp="1" noChangeArrowheads="1"/>
          </p:cNvSpPr>
          <p:nvPr/>
        </p:nvSpPr>
        <p:spPr>
          <a:xfrm rot="0">
            <a:off x="3258185" y="6148070"/>
            <a:ext cx="2186305" cy="2063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TU</a:t>
            </a:r>
            <a:endParaRPr lang="ko-KR" altLang="en-US" dirty="0" smtClean="0" sz="85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Total utility of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consuming a certain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amount is equal to </a:t>
            </a:r>
            <a:endParaRPr lang="ko-KR" altLang="en-US" dirty="0" smtClean="0" sz="9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the point </a:t>
            </a:r>
            <a:endParaRPr lang="ko-KR" altLang="en-US" dirty="0" smtClean="0" sz="900"/>
          </a:p>
          <a:p>
            <a:pPr marL="0" indent="0" defTabSz="15240"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endParaRPr lang="ko-KR" altLang="en-US" dirty="0" smtClean="0" sz="701"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51760" y="835025"/>
            <a:ext cx="3252470" cy="21520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Marginal Utility </a:t>
            </a:r>
            <a:endParaRPr lang="ko-KR" altLang="en-US" dirty="0" smtClean="0" sz="100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endParaRPr lang="ko-KR" altLang="en-US" dirty="0" smtClean="0" sz="130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130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curve 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130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130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1002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Utility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Choice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Marginal Utility and the Indifference Curve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consumption moves along an indifference curve, the additional utility derived from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the consumption of one good, food (F),  must balance the loss of utility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decrease in the consumption in the other good, clothing (C).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Formally: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0 = MU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</a:rPr>
              <a:t>F 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(ΔF) + MU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</a:rPr>
              <a:t>C 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(ΔC) </a:t>
            </a:r>
            <a:endParaRPr lang="ko-KR" altLang="en-US" dirty="0" smtClean="0" sz="120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Rearranging:  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- (ΔC/ ΔF) = MU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/ MU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</a:rPr>
              <a:t>C </a:t>
            </a:r>
            <a:endParaRPr lang="ko-KR" altLang="en-US" dirty="0" smtClean="0" sz="7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: </a:t>
            </a:r>
            <a:endParaRPr lang="ko-KR" altLang="en-US" dirty="0" smtClean="0" sz="1097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− Δ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MRS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 of F for C</a:t>
            </a:r>
            <a:endParaRPr lang="ko-KR" altLang="en-US" dirty="0" smtClean="0" sz="10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85" i="1">
                <a:solidFill>
                  <a:srgbClr val="000000"/>
                </a:solidFill>
                <a:latin typeface="Times New Roman"/>
                <a:ea typeface="Times New Roman"/>
              </a:rPr>
              <a:t>MRS  MU /MU</a:t>
            </a:r>
            <a:endParaRPr lang="ko-KR" altLang="en-US" dirty="0" smtClean="0" sz="1385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When consumers maximize satisfaction the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: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23" i="1">
                <a:solidFill>
                  <a:srgbClr val="000000"/>
                </a:solidFill>
                <a:latin typeface="Times New Roman"/>
                <a:ea typeface="Times New Roman"/>
              </a:rPr>
              <a:t>MRS  P /P</a:t>
            </a:r>
            <a:endParaRPr lang="ko-KR" altLang="en-US" dirty="0" smtClean="0" sz="1523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Since the MRS is also equal to the ratio of the marginal utilities of consuming F and C,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follows that: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84" i="1">
                <a:solidFill>
                  <a:srgbClr val="000000"/>
                </a:solidFill>
                <a:latin typeface="Times New Roman"/>
                <a:ea typeface="Times New Roman"/>
              </a:rPr>
              <a:t>MU/MU   P/P</a:t>
            </a:r>
            <a:endParaRPr lang="ko-KR" altLang="en-US" dirty="0" smtClean="0" sz="1584" i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Which gives the equation for utility maximization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? </a:t>
            </a:r>
            <a:endParaRPr lang="ko-KR" altLang="en-US" dirty="0" smtClean="0" sz="1097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MU</a:t>
            </a:r>
            <a:endParaRPr lang="ko-KR" altLang="en-US" dirty="0" smtClean="0" sz="1099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Total utility is maximized when the budget is allocated so that the marginal utility per dollar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expenditure is the same for each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This is referred to as the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equal marginal principle. </a:t>
            </a:r>
            <a:endParaRPr lang="ko-KR" altLang="en-US" dirty="0" smtClean="0" sz="1097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42</a:t>
            </a:r>
            <a:endParaRPr lang="ko-KR" altLang="en-US" dirty="0" smtClean="0" sz="1200"/>
          </a:p>
        </p:txBody>
      </p:sp>
      <p:sp>
        <p:nvSpPr>
          <p:cNvPr id="193" name="Rect 3"/>
          <p:cNvSpPr>
            <a:spLocks noGrp="1" noChangeArrowheads="1"/>
          </p:cNvSpPr>
          <p:nvPr/>
        </p:nvSpPr>
        <p:spPr>
          <a:xfrm rot="0">
            <a:off x="3773170" y="8028305"/>
            <a:ext cx="86360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</a:rPr>
              <a:t>P</a:t>
            </a:r>
            <a:endParaRPr lang="ko-KR" altLang="en-US" dirty="0" smtClean="0" sz="1099" i="1"/>
          </a:p>
        </p:txBody>
      </p:sp>
      <p:sp>
        <p:nvSpPr>
          <p:cNvPr id="194" name="Rect 3"/>
          <p:cNvSpPr>
            <a:spLocks noGrp="1" noChangeArrowheads="1"/>
          </p:cNvSpPr>
          <p:nvPr/>
        </p:nvSpPr>
        <p:spPr>
          <a:xfrm rot="0">
            <a:off x="3611880" y="8126095"/>
            <a:ext cx="299720" cy="81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600" i="1"/>
          </a:p>
        </p:txBody>
      </p:sp>
      <p:sp>
        <p:nvSpPr>
          <p:cNvPr id="195" name="Rect 3"/>
          <p:cNvSpPr>
            <a:spLocks noGrp="1" noChangeArrowheads="1"/>
          </p:cNvSpPr>
          <p:nvPr/>
        </p:nvSpPr>
        <p:spPr>
          <a:xfrm rot="0">
            <a:off x="3029585" y="8013065"/>
            <a:ext cx="738505" cy="170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MU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8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endParaRPr lang="ko-KR" altLang="en-US" dirty="0" smtClean="0" sz="1098"/>
          </a:p>
        </p:txBody>
      </p:sp>
      <p:sp>
        <p:nvSpPr>
          <p:cNvPr id="196" name="Rect 3"/>
          <p:cNvSpPr>
            <a:spLocks noGrp="1" noChangeArrowheads="1"/>
          </p:cNvSpPr>
          <p:nvPr/>
        </p:nvSpPr>
        <p:spPr>
          <a:xfrm rot="0">
            <a:off x="2934970" y="993775"/>
            <a:ext cx="2722880" cy="72142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The fact that total utility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increases at a decreasing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rate is shown by negative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slope of marginal utility </a:t>
            </a:r>
            <a:endParaRPr lang="ko-KR" altLang="en-US" dirty="0" smtClean="0" sz="1200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MU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endParaRPr lang="ko-KR" altLang="en-US" dirty="0" smtClean="0" sz="1002" b="1"/>
          </a:p>
          <a:p>
            <a:pPr marL="0" indent="0" defTabSz="15240" algn="l">
              <a:lnSpc>
                <a:spcPts val="2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320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32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755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75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755" i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830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830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830" i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864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864" i="1">
                <a:solidFill>
                  <a:srgbClr val="000000"/>
                </a:solidFill>
                <a:latin typeface="Times New Roman"/>
                <a:ea typeface="Times New Roman"/>
              </a:rPr>
              <a:t>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864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864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864" i="1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600" i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47670" y="2435225"/>
            <a:ext cx="3395345" cy="24047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Gasoline Rationing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1974 and again in 1979, the government imposed price controls on gasoline.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resulted in shortages and gasoline was rationed.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Non-price rationing is an alternative to market rationing.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 one form everyone has an equal chance to purchase a rationed good.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Gasoline is rationed by long lines at the gas pumps.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Rationing hurts some by limiting the amount of gasoline they can buy.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This can be seen in the following model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It applies to a woman with an annual income of $20,000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Spending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on other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goods ($) 20,000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18,00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the consumer moves </a:t>
            </a:r>
            <a:endParaRPr lang="ko-KR" altLang="en-US" dirty="0" smtClean="0" sz="94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15,00</a:t>
            </a:r>
            <a:endParaRPr lang="ko-KR" altLang="en-US" dirty="0" smtClean="0" sz="900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20,00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COST-OF-LIVING INDEXES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CPI is calculated each year as the ratio of the cost of a typical bundle of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and services today in comparison to the cost during a base period.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sisters, Raheela and Sarah, have identical preferences.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Sarah began college in 1987 with a $500 discretionary budget.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1997, Raheela started college and her parents promised her a budget that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equivalent in purchasing power.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books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$20/book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$100/book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Number of books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food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$2.00/lb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$2.20/lb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Pounds of food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$500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$1,260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Sarah’ Expenditure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$500=100 lbs of food x $2.00/lb +15 books x $20/book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Raheela’ Expenditure for Equal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$1,260=300 lbs of food x $2.20/lb +6 books x $100/book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43</a:t>
            </a:r>
            <a:endParaRPr lang="ko-KR" altLang="en-US" dirty="0" smtClean="0" sz="1200"/>
          </a:p>
        </p:txBody>
      </p:sp>
      <p:sp>
        <p:nvSpPr>
          <p:cNvPr id="199" name="Rect 3"/>
          <p:cNvSpPr>
            <a:spLocks noGrp="1" noChangeArrowheads="1"/>
          </p:cNvSpPr>
          <p:nvPr/>
        </p:nvSpPr>
        <p:spPr>
          <a:xfrm rot="0">
            <a:off x="5139055" y="2572385"/>
            <a:ext cx="1009650" cy="688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With a limit of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2,000 gallons,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to a lower 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indifference curve </a:t>
            </a:r>
            <a:endParaRPr lang="ko-KR" altLang="en-US" dirty="0" smtClean="0" sz="947"/>
          </a:p>
        </p:txBody>
      </p:sp>
      <p:sp>
        <p:nvSpPr>
          <p:cNvPr id="200" name="Rect 3"/>
          <p:cNvSpPr>
            <a:spLocks noGrp="1" noChangeArrowheads="1"/>
          </p:cNvSpPr>
          <p:nvPr/>
        </p:nvSpPr>
        <p:spPr>
          <a:xfrm rot="0">
            <a:off x="3267710" y="2621280"/>
            <a:ext cx="3018155" cy="2313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(lower level of utility). </a:t>
            </a:r>
            <a:endParaRPr lang="ko-KR" altLang="en-US" dirty="0" smtClean="0" sz="947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Gasoline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(gallons per year)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585" y="1432560"/>
            <a:ext cx="3139440" cy="19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06370" y="6821170"/>
            <a:ext cx="3005455" cy="19786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ideal cost-of-living adjustment for Raheela is $760.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																This implies a 152% increase in the cost of living. </a:t>
            </a:r>
            <a:endParaRPr lang="ko-KR" altLang="en-US" dirty="0" smtClean="0" sz="12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Books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quarter)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the same level of utility </a:t>
            </a:r>
            <a:endParaRPr lang="ko-KR" altLang="en-US" dirty="0" smtClean="0" sz="10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as Sarah, with the higher  </a:t>
            </a:r>
            <a:endParaRPr lang="ko-KR" altLang="en-US" dirty="0" smtClean="0" sz="10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0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70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0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70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50 100 200 250 300 350 400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450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600</a:t>
            </a:r>
            <a:endParaRPr lang="ko-KR" altLang="en-US" dirty="0" smtClean="0" sz="70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ideal cost of living index represents the cost of attaining a given level of utility at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(1997) prices relative to the cost of attaining the same utility at base (1987)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 do this on an economy-wide basis would entail large amounts of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indexes, like the CPI, use a fixed consumption bundle in the base period. Called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Laspeyres price index.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Laspeyres index tells us: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amount of money at current year prices that an individual requires to purchase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bundle of goods and services that was chosen in the base year divided by the cost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purchasing the same bundle at base year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Calculating Raheela’s Laspeyres cost of living index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Setting the quantities of goods in 1997 equal to what were bought by her sister,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setting their prices at their 1997 levels result in an expenditure of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$1,720 (100 x 2.20 + 15 x $100)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Her cost of living adjustment would now be $1,220.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Laspeyres index is: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$1,720/$500 = 344.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This overstates the true cost-of-living 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Books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(per quarter) </a:t>
            </a:r>
            <a:endParaRPr lang="ko-KR" altLang="en-US" dirty="0" smtClean="0" sz="852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budget line shifting </a:t>
            </a:r>
            <a:endParaRPr lang="ko-KR" altLang="en-US" dirty="0" smtClean="0" sz="10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49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749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49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749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50 100 200 250 300 350 400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600</a:t>
            </a:r>
            <a:endParaRPr lang="ko-KR" altLang="en-US" dirty="0" smtClean="0" sz="749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44</a:t>
            </a:r>
            <a:endParaRPr lang="ko-KR" altLang="en-US" dirty="0" smtClean="0" sz="1200"/>
          </a:p>
        </p:txBody>
      </p:sp>
      <p:sp>
        <p:nvSpPr>
          <p:cNvPr id="203" name="Rect 3"/>
          <p:cNvSpPr>
            <a:spLocks noGrp="1" noChangeArrowheads="1"/>
          </p:cNvSpPr>
          <p:nvPr/>
        </p:nvSpPr>
        <p:spPr>
          <a:xfrm rot="0">
            <a:off x="4209415" y="2343785"/>
            <a:ext cx="1445895" cy="6419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to consume the bundle  </a:t>
            </a:r>
            <a:endParaRPr lang="ko-KR" altLang="en-US" dirty="0" smtClean="0" sz="1050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3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852"/>
          </a:p>
        </p:txBody>
      </p:sp>
      <p:sp>
        <p:nvSpPr>
          <p:cNvPr id="204" name="Rect 3"/>
          <p:cNvSpPr>
            <a:spLocks noGrp="1" noChangeArrowheads="1"/>
          </p:cNvSpPr>
          <p:nvPr/>
        </p:nvSpPr>
        <p:spPr>
          <a:xfrm rot="0">
            <a:off x="1417320" y="807720"/>
            <a:ext cx="4314190" cy="8080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The ideal cost-of-living index is $1,260/$500 = 2.52 or 252. </a:t>
            </a:r>
            <a:endParaRPr lang="ko-KR" altLang="en-US" dirty="0" smtClean="0" sz="1097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For Raheela to achieve </a:t>
            </a:r>
            <a:endParaRPr lang="ko-KR" altLang="en-US" dirty="0" smtClean="0" sz="105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prices, her budget must  </a:t>
            </a:r>
            <a:endParaRPr lang="ko-KR" altLang="en-US" dirty="0" smtClean="0" sz="10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be sufficient to allow her  </a:t>
            </a:r>
            <a:endParaRPr lang="ko-KR" altLang="en-US" dirty="0" smtClean="0" sz="105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shown by point 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B. </a:t>
            </a:r>
            <a:endParaRPr lang="ko-KR" altLang="en-US" dirty="0" smtClean="0" sz="105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(lb./quarter) </a:t>
            </a:r>
            <a:endParaRPr lang="ko-KR" altLang="en-US" dirty="0" smtClean="0" sz="798" b="1"/>
          </a:p>
          <a:p>
            <a:pPr marL="0" indent="0" defTabSz="15240" algn="l">
              <a:lnSpc>
                <a:spcPts val="2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Using the Laspeyres  </a:t>
            </a:r>
            <a:endParaRPr lang="ko-KR" altLang="en-US" dirty="0" smtClean="0" sz="10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index results in the </a:t>
            </a:r>
            <a:endParaRPr lang="ko-KR" altLang="en-US" dirty="0" smtClean="0" sz="10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up from 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 to 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5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(lb./quarter) </a:t>
            </a:r>
            <a:endParaRPr lang="ko-KR" altLang="en-US" dirty="0" smtClean="0" sz="852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Do You Think?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Does the Laspeyres index always overstate the true cost-of-living index?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Yes!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Laspeyres index assumes that consumers do not alter their consumption patterns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prices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increasing purchases of those items that have become relatively cheaper,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decreasing purchases of the relatively more expensive items consumers can achieve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same level of utility without having to consume the same bundle of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Paasche Index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Calculates the amount of money at current-year prices that an individual requires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 a current bundle of goods and services divided by the cost of purchasing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bundle in the base year.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Comparing the Two Indexes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goods: Food (F) and Clothing (C)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Comparing the Two Indexes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Let: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Ft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&amp;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be current year prices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Fb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&amp;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be base year prices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&amp;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be current year quantities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&amp;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be base year quantities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indexes involve ratios that involve today’s current year prices,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the Laspeyres index relies on base year consumption, F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Whereas, the Paasche index relies on today’s current consumption, F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Then a comparison of the Laspeyres and Paasche indexes gives the following equations: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LI = ----------------------- </a:t>
            </a:r>
            <a:endParaRPr lang="ko-KR" altLang="en-US" dirty="0" smtClean="0" sz="18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Fb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152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PI = ------------------------ </a:t>
            </a:r>
            <a:endParaRPr lang="ko-KR" altLang="en-US" dirty="0" smtClean="0" sz="18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Sarah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(1990)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base-year bundle at current prices equals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$1,720 (100 lbs x $2.20/lb + 15 books x $100/book)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same bundle at base year prices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$500 (100 lbs x $2.00/lb + 15 books x $20/book)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Sarah (1990)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9" i="1">
                <a:solidFill>
                  <a:srgbClr val="000000"/>
                </a:solidFill>
                <a:latin typeface="Times New Roman"/>
                <a:ea typeface="Times New Roman"/>
              </a:rPr>
              <a:t>LI</a:t>
            </a:r>
            <a:endParaRPr lang="ko-KR" altLang="en-US" dirty="0" smtClean="0" sz="1109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buying current year bundle at current year prices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$1,260 (300 lbs x $2.20/lb + 6 books x $100/book) </a:t>
            </a:r>
            <a:endParaRPr lang="ko-KR" altLang="en-US" dirty="0" smtClean="0" sz="1097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45</a:t>
            </a:r>
            <a:endParaRPr lang="ko-KR" altLang="en-US" dirty="0" smtClean="0" sz="1200"/>
          </a:p>
        </p:txBody>
      </p:sp>
      <p:sp>
        <p:nvSpPr>
          <p:cNvPr id="207" name="Rect 3"/>
          <p:cNvSpPr>
            <a:spLocks noGrp="1" noChangeArrowheads="1"/>
          </p:cNvSpPr>
          <p:nvPr/>
        </p:nvSpPr>
        <p:spPr>
          <a:xfrm rot="0">
            <a:off x="3374390" y="8479790"/>
            <a:ext cx="360680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9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9">
                <a:solidFill>
                  <a:srgbClr val="000000"/>
                </a:solidFill>
                <a:latin typeface="Times New Roman"/>
                <a:ea typeface="Times New Roman"/>
              </a:rPr>
              <a:t>344</a:t>
            </a:r>
            <a:endParaRPr lang="ko-KR" altLang="en-US" dirty="0" smtClean="0" sz="1109"/>
          </a:p>
        </p:txBody>
      </p:sp>
      <p:sp>
        <p:nvSpPr>
          <p:cNvPr id="208" name="Rect 3"/>
          <p:cNvSpPr>
            <a:spLocks noGrp="1" noChangeArrowheads="1"/>
          </p:cNvSpPr>
          <p:nvPr/>
        </p:nvSpPr>
        <p:spPr>
          <a:xfrm rot="0">
            <a:off x="2910840" y="5662930"/>
            <a:ext cx="1424305" cy="31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Ct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15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Cb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152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			+ P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Cb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			C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t</a:t>
            </a:r>
            <a:endParaRPr lang="ko-KR" altLang="en-US" dirty="0" smtClean="0" sz="1152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9" i="1">
                <a:solidFill>
                  <a:srgbClr val="000000"/>
                </a:solidFill>
                <a:latin typeface="Times New Roman"/>
              </a:rPr>
              <a:t>$1 720</a:t>
            </a:r>
            <a:endParaRPr lang="ko-KR" altLang="en-US" dirty="0" smtClean="0" sz="1109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09" i="1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9">
                <a:solidFill>
                  <a:srgbClr val="000000"/>
                </a:solidFill>
                <a:latin typeface="Times New Roman"/>
                <a:ea typeface="Times New Roman"/>
              </a:rPr>
              <a:t>500</a:t>
            </a:r>
            <a:endParaRPr lang="ko-KR" altLang="en-US" dirty="0" smtClean="0" sz="1109"/>
          </a:p>
        </p:txBody>
      </p:sp>
      <p:sp>
        <p:nvSpPr>
          <p:cNvPr id="209" name="Rect 3"/>
          <p:cNvSpPr>
            <a:spLocks noGrp="1" noChangeArrowheads="1"/>
          </p:cNvSpPr>
          <p:nvPr/>
        </p:nvSpPr>
        <p:spPr>
          <a:xfrm rot="0">
            <a:off x="2780030" y="5559425"/>
            <a:ext cx="1482090" cy="3093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+ 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8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 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 + 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 C</a:t>
            </a:r>
            <a:endParaRPr lang="ko-KR" altLang="en-US" dirty="0" smtClean="0" sz="18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 F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 + P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Ct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 C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t </a:t>
            </a:r>
            <a:endParaRPr lang="ko-KR" altLang="en-US" dirty="0" smtClean="0" sz="1152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1152">
                <a:solidFill>
                  <a:srgbClr val="000000"/>
                </a:solidFill>
                <a:latin typeface="Times New Roman"/>
              </a:rPr>
              <a:t>Fb</a:t>
            </a:r>
            <a:endParaRPr lang="ko-KR" altLang="en-US" dirty="0" smtClean="0" sz="1152"/>
          </a:p>
          <a:p>
            <a:pPr marL="0" indent="0" defTabSz="15240" algn="l">
              <a:lnSpc>
                <a:spcPts val="1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09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the same bundle at base year prices is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$720 (300 lbs x $2/lb + 6 books x $20/book)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37" i="1">
                <a:solidFill>
                  <a:srgbClr val="000000"/>
                </a:solidFill>
                <a:latin typeface="Times New Roman"/>
                <a:ea typeface="Times New Roman"/>
              </a:rPr>
              <a:t>PI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3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23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3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Paasche index will understate the cost of living because it assumes that the individual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buy the current year bundle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in the base year. </a:t>
            </a:r>
            <a:endParaRPr lang="ko-KR" altLang="en-US" dirty="0" smtClean="0" sz="1200"/>
          </a:p>
          <a:p>
            <a:pPr marL="0" indent="0" defTabSz="15240" algn="l">
              <a:lnSpc>
                <a:spcPts val="5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lang="ko-KR" altLang="en-US" dirty="0" smtClean="0" sz="1200"/>
          </a:p>
        </p:txBody>
      </p:sp>
      <p:sp>
        <p:nvSpPr>
          <p:cNvPr id="212" name="Rect 3"/>
          <p:cNvSpPr>
            <a:spLocks noGrp="1" noChangeArrowheads="1"/>
          </p:cNvSpPr>
          <p:nvPr/>
        </p:nvSpPr>
        <p:spPr>
          <a:xfrm rot="0">
            <a:off x="3462655" y="1337945"/>
            <a:ext cx="250825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37">
                <a:solidFill>
                  <a:srgbClr val="000000"/>
                </a:solidFill>
                <a:latin typeface="Times New Roman"/>
              </a:rPr>
              <a:t>175</a:t>
            </a:r>
            <a:endParaRPr lang="ko-KR" altLang="en-US" dirty="0" smtClean="0" sz="1237"/>
          </a:p>
        </p:txBody>
      </p:sp>
      <p:sp>
        <p:nvSpPr>
          <p:cNvPr id="213" name="Rect 3"/>
          <p:cNvSpPr>
            <a:spLocks noGrp="1" noChangeArrowheads="1"/>
          </p:cNvSpPr>
          <p:nvPr/>
        </p:nvSpPr>
        <p:spPr>
          <a:xfrm rot="0">
            <a:off x="2907665" y="1228090"/>
            <a:ext cx="436880" cy="4178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37" i="1">
                <a:solidFill>
                  <a:srgbClr val="000000"/>
                </a:solidFill>
                <a:latin typeface="Times New Roman"/>
              </a:rPr>
              <a:t>1 260</a:t>
            </a:r>
            <a:endParaRPr lang="ko-KR" altLang="en-US" dirty="0" smtClean="0" sz="1237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37" i="1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1237">
                <a:solidFill>
                  <a:srgbClr val="000000"/>
                </a:solidFill>
                <a:latin typeface="Times New Roman"/>
              </a:rPr>
              <a:t>720</a:t>
            </a:r>
            <a:endParaRPr lang="ko-KR" altLang="en-US" dirty="0" smtClean="0" sz="1237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20950" y="3359150"/>
            <a:ext cx="2590800" cy="21913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78735" y="6498590"/>
            <a:ext cx="2462530" cy="20783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Review of Consumer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Consumer Preferences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Budget Constraint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Consumer Choices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INDIVIDUAL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the figures developed in the previous chapter, the impact of a change in the price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food can be illustrated using indifference curves.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a Price Change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are tangent to </a:t>
            </a:r>
            <a:endParaRPr lang="ko-KR" altLang="en-US" dirty="0" smtClean="0" sz="9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(units 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1050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Effect of a Price Change </a:t>
            </a:r>
            <a:endParaRPr lang="ko-KR" altLang="en-US" dirty="0" smtClean="0" sz="12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various prices for food.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947" b="1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47</a:t>
            </a:r>
            <a:endParaRPr lang="ko-KR" altLang="en-US" dirty="0" smtClean="0" sz="1200"/>
          </a:p>
        </p:txBody>
      </p:sp>
      <p:sp>
        <p:nvSpPr>
          <p:cNvPr id="216" name="Rect 3"/>
          <p:cNvSpPr>
            <a:spLocks noGrp="1" noChangeArrowheads="1"/>
          </p:cNvSpPr>
          <p:nvPr/>
        </p:nvSpPr>
        <p:spPr>
          <a:xfrm rot="0">
            <a:off x="3349625" y="3154680"/>
            <a:ext cx="2229485" cy="4370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Assume: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I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$20 </a:t>
            </a:r>
            <a:endParaRPr lang="ko-KR" altLang="en-US" dirty="0" smtClean="0" sz="900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Three separate </a:t>
            </a:r>
            <a:endParaRPr lang="ko-KR" altLang="en-US" dirty="0" smtClean="0" sz="900"/>
          </a:p>
          <a:p>
            <a:pPr marL="0" indent="0" defTabSz="15240" algn="l">
              <a:lnSpc>
                <a:spcPts val="2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Price-Consumption Curve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49" i="1" b="1"/>
          </a:p>
        </p:txBody>
      </p:sp>
      <p:sp>
        <p:nvSpPr>
          <p:cNvPr id="217" name="Rect 3"/>
          <p:cNvSpPr>
            <a:spLocks noGrp="1" noChangeArrowheads="1"/>
          </p:cNvSpPr>
          <p:nvPr/>
        </p:nvSpPr>
        <p:spPr>
          <a:xfrm rot="0">
            <a:off x="2072640" y="3270250"/>
            <a:ext cx="3695065" cy="541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		 = $2</a:t>
            </a:r>
            <a:endParaRPr lang="ko-KR" altLang="en-US" dirty="0" smtClean="0" sz="900" i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indifference curves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each budget line. </a:t>
            </a:r>
            <a:endParaRPr lang="ko-KR" altLang="en-US" dirty="0" smtClean="0" sz="900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price-consumption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curve traces out the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utility maximizing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basket for the </a:t>
            </a:r>
            <a:endParaRPr lang="ko-KR" altLang="en-US" dirty="0" smtClean="0" sz="9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Food (units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09470" y="1356360"/>
            <a:ext cx="2541905" cy="214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16480" y="6019800"/>
            <a:ext cx="2523490" cy="21062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Effect of a Price Change 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 Food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$2.00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of that good. </a:t>
            </a:r>
            <a:endParaRPr lang="ko-KR" altLang="en-US" dirty="0" smtClean="0" sz="900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$1.00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Demand Curve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$.50 </a:t>
            </a:r>
            <a:endParaRPr lang="ko-KR" altLang="en-US" dirty="0" smtClean="0" sz="798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98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Individual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Individual Demand Curve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Important Properties of Demand Curves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The level of utility that can be attained changes as we move along the curve.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At every point on the demand curve, the consumer is maximizing utility by satisfying  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condition that the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food for clothing equals the ratio of the prices of food and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a Price Change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When the price falls: P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&amp; MRS also fall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$2.00</a:t>
            </a:r>
            <a:endParaRPr lang="ko-KR" altLang="en-US" dirty="0" smtClean="0" sz="798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9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E: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2/2 = 1 = MRS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$1.00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Demand Curve </a:t>
            </a:r>
            <a:endParaRPr lang="ko-KR" altLang="en-US" dirty="0" smtClean="0" sz="64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$.50</a:t>
            </a:r>
            <a:endParaRPr lang="ko-KR" altLang="en-US" dirty="0" smtClean="0" sz="798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98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Individual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Income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the figures developed in the previous chapter, the impact of a change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can be illustrated using indifference curves.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48</a:t>
            </a:r>
            <a:endParaRPr lang="ko-KR" altLang="en-US" dirty="0" smtClean="0" sz="1200"/>
          </a:p>
        </p:txBody>
      </p:sp>
      <p:sp>
        <p:nvSpPr>
          <p:cNvPr id="220" name="Rect 3"/>
          <p:cNvSpPr>
            <a:spLocks noGrp="1" noChangeArrowheads="1"/>
          </p:cNvSpPr>
          <p:nvPr/>
        </p:nvSpPr>
        <p:spPr>
          <a:xfrm rot="0">
            <a:off x="3554095" y="1499870"/>
            <a:ext cx="1778000" cy="5781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Individual Demand relates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quantity of a good that </a:t>
            </a:r>
            <a:endParaRPr lang="ko-KR" altLang="en-US" dirty="0" smtClean="0" sz="900"/>
          </a:p>
          <a:p>
            <a:pPr marL="0" indent="0" defTabSz="15240" algn="l">
              <a:lnSpc>
                <a:spcPts val="4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9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G: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1/2 = .5 = MRS </a:t>
            </a:r>
            <a:endParaRPr lang="ko-KR" altLang="en-US" dirty="0" smtClean="0" sz="900"/>
          </a:p>
        </p:txBody>
      </p:sp>
      <p:sp>
        <p:nvSpPr>
          <p:cNvPr id="221" name="Rect 3"/>
          <p:cNvSpPr>
            <a:spLocks noGrp="1" noChangeArrowheads="1"/>
          </p:cNvSpPr>
          <p:nvPr/>
        </p:nvSpPr>
        <p:spPr>
          <a:xfrm rot="0">
            <a:off x="2350135" y="1584960"/>
            <a:ext cx="3201035" cy="66871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consumer will buy to the </a:t>
            </a:r>
            <a:endParaRPr lang="ko-KR" altLang="en-US" dirty="0" smtClean="0" sz="900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H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Food (units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per month)</a:t>
            </a:r>
            <a:endParaRPr lang="ko-KR" altLang="en-US" dirty="0" smtClean="0" sz="900"/>
          </a:p>
          <a:p>
            <a:pPr marL="0" indent="0" defTabSz="15240" algn="l">
              <a:lnSpc>
                <a:spcPts val="2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9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H:P 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.5/2 = .25 = MRS 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H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Food (units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3640" y="1134110"/>
            <a:ext cx="2078990" cy="21513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33015" y="4072255"/>
            <a:ext cx="2319655" cy="24320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Effects of Income Changes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Clothing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$20, $30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Income-Consumption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</a:t>
            </a:r>
            <a:endParaRPr lang="ko-KR" altLang="en-US" dirty="0" smtClean="0" sz="798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7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9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(units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month)</a:t>
            </a:r>
            <a:endParaRPr lang="ko-KR" altLang="en-US" dirty="0" smtClean="0" sz="798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Effects of Income Changes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shifts the consumer’s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demand curve to the right.  </a:t>
            </a:r>
            <a:endParaRPr lang="ko-KR" altLang="en-US" dirty="0" smtClean="0" sz="9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H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$100 </a:t>
            </a:r>
            <a:endParaRPr lang="ko-KR" altLang="en-US" dirty="0" smtClean="0" sz="798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16 </a:t>
            </a:r>
            <a:endParaRPr lang="ko-KR" altLang="en-US" dirty="0" smtClean="0" sz="648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income-consumption curve traces out the utility-maximizing combinations of food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clothing associated with every income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in income shifts the budget line to the right, increasing consumption along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income-consumption curve.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Simultaneously, the increase in income shifts the demand curve to the right.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Normal Good vs. Inferior Good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income-consumption curve has a positive slope: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quantity demanded increases with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 elasticity of demand is positive.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good is a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normal good.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income-consumption curve has a negative slope: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49</a:t>
            </a:r>
            <a:endParaRPr lang="ko-KR" altLang="en-US" dirty="0" smtClean="0" sz="1200"/>
          </a:p>
        </p:txBody>
      </p:sp>
      <p:sp>
        <p:nvSpPr>
          <p:cNvPr id="224" name="Rect 3"/>
          <p:cNvSpPr>
            <a:spLocks noGrp="1" noChangeArrowheads="1"/>
          </p:cNvSpPr>
          <p:nvPr/>
        </p:nvSpPr>
        <p:spPr>
          <a:xfrm rot="0">
            <a:off x="4267200" y="2313305"/>
            <a:ext cx="1214120" cy="255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 increase in income,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with the prices fixed, </a:t>
            </a:r>
            <a:endParaRPr lang="ko-KR" altLang="en-US" dirty="0" smtClean="0" sz="900"/>
          </a:p>
        </p:txBody>
      </p:sp>
      <p:sp>
        <p:nvSpPr>
          <p:cNvPr id="225" name="Rect 3"/>
          <p:cNvSpPr>
            <a:spLocks noGrp="1" noChangeArrowheads="1"/>
          </p:cNvSpPr>
          <p:nvPr/>
        </p:nvSpPr>
        <p:spPr>
          <a:xfrm rot="0">
            <a:off x="3834130" y="2334895"/>
            <a:ext cx="1735455" cy="499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causes consumers to alter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their choice of </a:t>
            </a:r>
            <a:endParaRPr lang="ko-KR" altLang="en-US" dirty="0" smtClean="0" sz="900"/>
          </a:p>
        </p:txBody>
      </p:sp>
      <p:sp>
        <p:nvSpPr>
          <p:cNvPr id="226" name="Rect 3"/>
          <p:cNvSpPr>
            <a:spLocks noGrp="1" noChangeArrowheads="1"/>
          </p:cNvSpPr>
          <p:nvPr/>
        </p:nvSpPr>
        <p:spPr>
          <a:xfrm rot="0">
            <a:off x="3060065" y="1182370"/>
            <a:ext cx="2470150" cy="5407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Assume: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$1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c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$2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I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$10,           </a:t>
            </a:r>
            <a:endParaRPr lang="ko-KR" altLang="en-US" dirty="0" smtClean="0" sz="900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basket. </a:t>
            </a:r>
            <a:endParaRPr lang="ko-KR" altLang="en-US" dirty="0" smtClean="0" sz="900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 increase in income,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from $10 to $20 to $30,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with the prices fixed, </a:t>
            </a:r>
            <a:endParaRPr lang="ko-KR" altLang="en-US" dirty="0" smtClean="0" sz="900"/>
          </a:p>
          <a:p>
            <a:pPr marL="0" indent="0" defTabSz="15240" algn="l">
              <a:lnSpc>
                <a:spcPts val="1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(units 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month)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38730" y="1908175"/>
            <a:ext cx="2176780" cy="23101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98905" y="5547360"/>
            <a:ext cx="2167255" cy="21247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61230" y="5516880"/>
            <a:ext cx="2185035" cy="21704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quantity demanded decreases with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 elasticity of demand is negative.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good is an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inferior good. 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Inferior Good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Coffee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(units per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month)</a:t>
            </a:r>
            <a:endParaRPr lang="ko-KR" altLang="en-US" dirty="0" smtClean="0" sz="79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…but Tea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becomes an inferior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85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bends backward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C. </a:t>
            </a:r>
            <a:endParaRPr lang="ko-KR" altLang="en-US" dirty="0" smtClean="0" sz="798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Engel Curves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Engel Curves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Engel curves relate the quantity of good consumed to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good is a normal good, the Engel curve is upward sloping.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good is an inferior good, the Engel curve is downward sloping.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($ 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month)</a:t>
            </a:r>
            <a:endParaRPr lang="ko-KR" altLang="en-US" dirty="0" smtClean="0" sz="64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798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Engel curves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normal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goods. </a:t>
            </a:r>
            <a:endParaRPr lang="ko-KR" altLang="en-US" dirty="0" smtClean="0" sz="798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94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798"/>
          </a:p>
          <a:p>
            <a:pPr marL="0" indent="0" defTabSz="15240" algn="l">
              <a:lnSpc>
                <a:spcPts val="1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lang="ko-KR" altLang="en-US" dirty="0" smtClean="0" sz="1200"/>
          </a:p>
        </p:txBody>
      </p:sp>
      <p:sp>
        <p:nvSpPr>
          <p:cNvPr id="229" name="Rect 3"/>
          <p:cNvSpPr>
            <a:spLocks noGrp="1" noChangeArrowheads="1"/>
          </p:cNvSpPr>
          <p:nvPr/>
        </p:nvSpPr>
        <p:spPr>
          <a:xfrm rot="0">
            <a:off x="4602480" y="5708650"/>
            <a:ext cx="1464310" cy="692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94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backward bending </a:t>
            </a:r>
            <a:endParaRPr lang="ko-KR" altLang="en-US" dirty="0" smtClean="0" sz="798"/>
          </a:p>
        </p:txBody>
      </p:sp>
      <p:sp>
        <p:nvSpPr>
          <p:cNvPr id="230" name="Rect 3"/>
          <p:cNvSpPr>
            <a:spLocks noGrp="1" noChangeArrowheads="1"/>
          </p:cNvSpPr>
          <p:nvPr/>
        </p:nvSpPr>
        <p:spPr>
          <a:xfrm rot="0">
            <a:off x="4184650" y="2264410"/>
            <a:ext cx="3293110" cy="5447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Both Tea </a:t>
            </a:r>
            <a:endParaRPr lang="ko-KR" altLang="en-US" dirty="0" smtClean="0" sz="798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good when the income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consumption curve </a:t>
            </a:r>
            <a:endParaRPr lang="ko-KR" altLang="en-US" dirty="0" smtClean="0" sz="798"/>
          </a:p>
          <a:p>
            <a:pPr marL="0" indent="0" defTabSz="15240" algn="l">
              <a:lnSpc>
                <a:spcPts val="1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($ per</a:t>
            </a:r>
            <a:endParaRPr lang="ko-KR" altLang="en-US" dirty="0" smtClean="0" sz="648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for inferior goods. </a:t>
            </a:r>
            <a:endParaRPr lang="ko-KR" altLang="en-US" dirty="0" smtClean="0" sz="798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Food (units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798" b="1"/>
          </a:p>
        </p:txBody>
      </p:sp>
      <p:sp>
        <p:nvSpPr>
          <p:cNvPr id="231" name="Rect 3"/>
          <p:cNvSpPr>
            <a:spLocks noGrp="1" noChangeArrowheads="1"/>
          </p:cNvSpPr>
          <p:nvPr/>
        </p:nvSpPr>
        <p:spPr>
          <a:xfrm rot="0">
            <a:off x="1246505" y="1917065"/>
            <a:ext cx="6146165" cy="5879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Income-Consumption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Curve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Coffee behave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as a normal good,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 B... </a:t>
            </a:r>
            <a:endParaRPr lang="ko-KR" altLang="en-US" dirty="0" smtClean="0" sz="798" i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Tea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(units per 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Income</a:t>
            </a:r>
            <a:endParaRPr lang="ko-KR" altLang="en-US" dirty="0" smtClean="0" sz="64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94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Inferior </a:t>
            </a:r>
            <a:endParaRPr lang="ko-KR" altLang="en-US" dirty="0" smtClean="0" sz="749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Engel curves slope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slope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upward for </a:t>
            </a:r>
            <a:endParaRPr lang="ko-KR" altLang="en-US" dirty="0" smtClean="0" sz="798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Normal</a:t>
            </a:r>
            <a:endParaRPr lang="ko-KR" altLang="en-US" dirty="0" smtClean="0" sz="749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Food (units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16</a:t>
            </a:r>
            <a:endParaRPr lang="ko-KR" altLang="en-US" dirty="0" smtClean="0" sz="947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76655" y="1444625"/>
            <a:ext cx="4980305" cy="5581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Expenditures in US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Group (1997 $)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Expenditure     Less than 1,000-   20,000- 30,000- 40,000-  50,000-     70,000-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($) on                   $10,000   19,000  29,000  39,000  49,000    69,000    and above </a:t>
            </a:r>
            <a:endParaRPr lang="ko-KR" altLang="en-US" dirty="0" smtClean="0" sz="109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Entertainment     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947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1274   1514    2054       2654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4300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Owned Res.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1116        1725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253   3243    4454       5793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9898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Rented Res.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1957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2170      2371     2536    2137       1540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1266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Health Care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1031         1697  1918    820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2052       2214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2642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Food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656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3385    4109   4888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5429       6220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8279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Clothing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859        978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1363   1772    1778       2614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3442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Individual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Substitutes and Complements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Two goods are considered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substitutes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if an increase (decrease) in the price of one leads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(decrease) in the quantity demanded of the other.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e.g. movie tickets and video rentals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Two goods are considered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complements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an increase (decrease) in the price of one leads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a decrease (increase) in the quantity demanded of the other.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e.g. gasoline and motor oil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Two goods are independent when a change in the price of one good has no effect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demanded of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price consumption curve is downward-sloping, the two goods are considered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price consumption curve is upward-sloping, the two goods are considered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complements.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They could be both! </a:t>
            </a:r>
            <a:endParaRPr lang="ko-KR" altLang="en-US" dirty="0" smtClean="0" sz="1097"/>
          </a:p>
          <a:p>
            <a:pPr marL="0" indent="0" defTabSz="15240" algn="l">
              <a:lnSpc>
                <a:spcPts val="1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8175" y="5187950"/>
            <a:ext cx="2825115" cy="252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53310" y="7772400"/>
            <a:ext cx="1228090" cy="7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&amp; Substitution Effects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 fall in the price of a good has two effects: Substitution &amp; Income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Substitution Effect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will tend to buy more of the good that has become relatively cheaper,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less of the good that is now relatively more expensive.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Income Effect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	Consumers experience an increase in real purchasing power when the price of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falls.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Substitution Effect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substitution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change in an item’s consumption associated with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the price of the item, with the level of utility held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When the price of an item declines, the substitution effect always leads to an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quantity of the item demanded.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Income Effect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income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change in an item’s consumption brought about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purchasing power, with the price of the item held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When a person’s income increases, the quantity demanded for the product may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or decrease.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Even with inferior goods, the income effect is rarely large enough to outweigh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substitution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&amp; Substitution Effects: Normal Good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Clothing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(units per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month) </a:t>
            </a:r>
            <a:endParaRPr lang="ko-KR" altLang="en-US" dirty="0" smtClean="0" sz="100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The substitution effect,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E,  </a:t>
            </a:r>
            <a:endParaRPr lang="ko-KR" altLang="en-US" dirty="0" smtClean="0" sz="1002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(from point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A to D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,  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changes the 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55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The income effect,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EF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,  </a:t>
            </a:r>
            <a:endParaRPr lang="ko-KR" altLang="en-US" dirty="0" smtClean="0" sz="1002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( from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D 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to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 B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) keeps relative </a:t>
            </a:r>
            <a:endParaRPr lang="ko-KR" altLang="en-US" dirty="0" smtClean="0" sz="100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D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55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Substitution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Effect </a:t>
            </a:r>
            <a:endParaRPr lang="ko-KR" altLang="en-US" dirty="0" smtClean="0" sz="100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 </a:t>
            </a:r>
            <a:endParaRPr lang="ko-KR" altLang="en-US" dirty="0" smtClean="0" sz="852" b="1"/>
          </a:p>
          <a:p>
            <a:pPr marL="0" indent="0" defTabSz="15240" algn="l">
              <a:lnSpc>
                <a:spcPts val="1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52</a:t>
            </a:r>
            <a:endParaRPr lang="ko-KR" altLang="en-US" dirty="0" smtClean="0" sz="1200"/>
          </a:p>
        </p:txBody>
      </p:sp>
      <p:sp>
        <p:nvSpPr>
          <p:cNvPr id="236" name="Rect 3"/>
          <p:cNvSpPr>
            <a:spLocks noGrp="1" noChangeArrowheads="1"/>
          </p:cNvSpPr>
          <p:nvPr/>
        </p:nvSpPr>
        <p:spPr>
          <a:xfrm rot="0">
            <a:off x="4584065" y="7620000"/>
            <a:ext cx="586105" cy="143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per month)</a:t>
            </a:r>
            <a:endParaRPr lang="ko-KR" altLang="en-US" dirty="0" smtClean="0" sz="1002"/>
          </a:p>
        </p:txBody>
      </p:sp>
      <p:sp>
        <p:nvSpPr>
          <p:cNvPr id="237" name="Rect 3"/>
          <p:cNvSpPr>
            <a:spLocks noGrp="1" noChangeArrowheads="1"/>
          </p:cNvSpPr>
          <p:nvPr/>
        </p:nvSpPr>
        <p:spPr>
          <a:xfrm rot="0">
            <a:off x="4312920" y="7595870"/>
            <a:ext cx="120015" cy="12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</a:rPr>
              <a:t>T </a:t>
            </a:r>
            <a:endParaRPr lang="ko-KR" altLang="en-US" dirty="0" smtClean="0" sz="852" b="1"/>
          </a:p>
        </p:txBody>
      </p:sp>
      <p:sp>
        <p:nvSpPr>
          <p:cNvPr id="238" name="Rect 3"/>
          <p:cNvSpPr>
            <a:spLocks noGrp="1" noChangeArrowheads="1"/>
          </p:cNvSpPr>
          <p:nvPr/>
        </p:nvSpPr>
        <p:spPr>
          <a:xfrm rot="0">
            <a:off x="3669665" y="7708265"/>
            <a:ext cx="616585" cy="9779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9" name="Rect 3"/>
          <p:cNvSpPr>
            <a:spLocks noGrp="1" noChangeArrowheads="1"/>
          </p:cNvSpPr>
          <p:nvPr/>
        </p:nvSpPr>
        <p:spPr>
          <a:xfrm rot="0">
            <a:off x="2572385" y="5434330"/>
            <a:ext cx="2969895" cy="22834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consumption increases by F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 as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the consumer moves from  A to B. </a:t>
            </a:r>
            <a:endParaRPr lang="ko-KR" altLang="en-US" dirty="0" smtClean="0" sz="90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relative prices but keeps real income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(satisfaction) constant. </a:t>
            </a:r>
            <a:endParaRPr lang="ko-KR" altLang="en-US" dirty="0" smtClean="0" sz="1002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prices constant but 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increases purchasing power. </a:t>
            </a:r>
            <a:endParaRPr lang="ko-KR" altLang="en-US" dirty="0" smtClean="0" sz="1002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551" b="1"/>
          </a:p>
        </p:txBody>
      </p:sp>
      <p:sp>
        <p:nvSpPr>
          <p:cNvPr id="240" name="Rect 3"/>
          <p:cNvSpPr>
            <a:spLocks noGrp="1" noChangeArrowheads="1"/>
          </p:cNvSpPr>
          <p:nvPr/>
        </p:nvSpPr>
        <p:spPr>
          <a:xfrm rot="0">
            <a:off x="1791970" y="5303520"/>
            <a:ext cx="3408680" cy="245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When the price of food falls,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</a:rPr>
              <a:t>R </a:t>
            </a:r>
            <a:endParaRPr lang="ko-KR" altLang="en-US" dirty="0" smtClean="0" sz="852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852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94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70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70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Food (units </a:t>
            </a:r>
            <a:endParaRPr lang="ko-KR" altLang="en-US" dirty="0" smtClean="0" sz="1002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  <a:ea typeface="Times New Roman"/>
              </a:rPr>
              <a:t>Total Effect </a:t>
            </a:r>
            <a:endParaRPr lang="ko-KR" altLang="en-US" dirty="0" smtClean="0" sz="749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32430" y="1164590"/>
            <a:ext cx="2980690" cy="21209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97150" y="5995670"/>
            <a:ext cx="2852420" cy="27247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Clothing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(units 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Since food is an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month)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negative.  However,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income effect. </a:t>
            </a:r>
            <a:endParaRPr lang="ko-KR" altLang="en-US" dirty="0" smtClean="0" sz="90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852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  <a:ea typeface="Times New Roman"/>
              </a:rPr>
              <a:t>Substitution</a:t>
            </a:r>
            <a:endParaRPr lang="ko-KR" altLang="en-US" dirty="0" smtClean="0" sz="6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FFFFFF"/>
                </a:solidFill>
                <a:latin typeface="Times New Roman"/>
                <a:ea typeface="Times New Roman"/>
              </a:rPr>
              <a:t>Effect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endParaRPr lang="ko-KR" altLang="en-US" dirty="0" smtClean="0" sz="852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Special Case--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Giffen Good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The income effect may theoretically be large enough to cause the demand curve for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to slope upward.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This rarely occurs and is of little practical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a Gasoline Tax with a Rebate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Assume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ed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= -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= $9,000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gasoline = $1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Expenditures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On Other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Goods ($)</a:t>
            </a:r>
            <a:endParaRPr lang="ko-KR" altLang="en-US" dirty="0" smtClean="0" sz="94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12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Gasoline = 900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						$450 REBATE </a:t>
            </a:r>
            <a:endParaRPr lang="ko-KR" altLang="en-US" dirty="0" smtClean="0" sz="900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After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Gasoline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Tax </a:t>
            </a:r>
            <a:endParaRPr lang="ko-KR" altLang="en-US" dirty="0" smtClean="0" sz="94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endParaRPr lang="ko-KR" altLang="en-US" dirty="0" smtClean="0" sz="1200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900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913.5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1200 </a:t>
            </a:r>
            <a:endParaRPr lang="ko-KR" altLang="en-US" dirty="0" smtClean="0" sz="852" b="1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53</a:t>
            </a:r>
            <a:endParaRPr lang="ko-KR" altLang="en-US" dirty="0" smtClean="0" sz="1200"/>
          </a:p>
        </p:txBody>
      </p:sp>
      <p:sp>
        <p:nvSpPr>
          <p:cNvPr id="243" name="Rect 3"/>
          <p:cNvSpPr>
            <a:spLocks noGrp="1" noChangeArrowheads="1"/>
          </p:cNvSpPr>
          <p:nvPr/>
        </p:nvSpPr>
        <p:spPr>
          <a:xfrm rot="0">
            <a:off x="5334000" y="7354570"/>
            <a:ext cx="1168400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Gasoline = 1200 gallons </a:t>
            </a:r>
            <a:endParaRPr lang="ko-KR" altLang="en-US" dirty="0" smtClean="0" sz="900"/>
          </a:p>
        </p:txBody>
      </p:sp>
      <p:sp>
        <p:nvSpPr>
          <p:cNvPr id="244" name="Rect 3"/>
          <p:cNvSpPr>
            <a:spLocks noGrp="1" noChangeArrowheads="1"/>
          </p:cNvSpPr>
          <p:nvPr/>
        </p:nvSpPr>
        <p:spPr>
          <a:xfrm rot="0">
            <a:off x="3392170" y="1469390"/>
            <a:ext cx="3289935" cy="73513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inferior good, the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income effect is  </a:t>
            </a:r>
            <a:endParaRPr lang="ko-KR" altLang="en-US" dirty="0" smtClean="0" sz="900"/>
          </a:p>
          <a:p>
            <a:pPr marL="0" indent="0" defTabSz="15240" algn="l">
              <a:lnSpc>
                <a:spcPts val="3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After Gasoline Tax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Plus Rebate </a:t>
            </a:r>
            <a:endParaRPr lang="ko-KR" altLang="en-US" dirty="0" smtClean="0" sz="900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						New budget line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Other expenditures =		$7800 </a:t>
            </a:r>
            <a:endParaRPr lang="ko-KR" altLang="en-US" dirty="0" smtClean="0" sz="900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Original Budget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Line </a:t>
            </a:r>
            <a:endParaRPr lang="ko-KR" altLang="en-US" dirty="0" smtClean="0" sz="9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Gasoline Consumption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 (gallons/year)  </a:t>
            </a:r>
            <a:endParaRPr lang="ko-KR" altLang="en-US" dirty="0" smtClean="0" sz="947" b="1"/>
          </a:p>
        </p:txBody>
      </p:sp>
      <p:sp>
        <p:nvSpPr>
          <p:cNvPr id="245" name="Rect 3"/>
          <p:cNvSpPr>
            <a:spLocks noGrp="1" noChangeArrowheads="1"/>
          </p:cNvSpPr>
          <p:nvPr/>
        </p:nvSpPr>
        <p:spPr>
          <a:xfrm rot="0">
            <a:off x="2700655" y="1487170"/>
            <a:ext cx="3158490" cy="7257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R </a:t>
            </a:r>
            <a:endParaRPr lang="ko-KR" altLang="en-US" dirty="0" smtClean="0" sz="94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the substitution effect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is larger than the  </a:t>
            </a:r>
            <a:endParaRPr lang="ko-KR" altLang="en-US" dirty="0" smtClean="0" sz="900"/>
          </a:p>
          <a:p>
            <a:pPr marL="0" indent="0" defTabSz="15240"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Food (units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per month) </a:t>
            </a:r>
            <a:endParaRPr lang="ko-KR" altLang="en-US" dirty="0" smtClean="0" sz="900"/>
          </a:p>
          <a:p>
            <a:pPr marL="0" indent="0" defTabSz="15240" algn="l">
              <a:lnSpc>
                <a:spcPts val="2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</a:rPr>
              <a:t>F </a:t>
            </a:r>
            <a:endParaRPr lang="ko-KR" altLang="en-US" dirty="0" smtClean="0" sz="12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						$.50 Excise Tax </a:t>
            </a:r>
            <a:endParaRPr lang="ko-KR" altLang="en-US" dirty="0" smtClean="0" sz="90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endParaRPr lang="ko-KR" altLang="en-US" dirty="0" smtClean="0" sz="1602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H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798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7295" y="6504305"/>
            <a:ext cx="2624455" cy="19875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89505" y="4248785"/>
            <a:ext cx="2646045" cy="19875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Market Demand Curves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curve that relates the quantity of a good that all consumers in a market buy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that good.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Determining the Market Demand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Price    Individual A      Individual B   Individual C     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     ($)        (units)           (units)               (units)           (units)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32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13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25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18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11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6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         Summing to Obtain a Market Demand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Price  </a:t>
            </a:r>
            <a:endParaRPr lang="ko-KR" altLang="en-US" dirty="0" smtClean="0" sz="90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79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Price 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798" b="1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54</a:t>
            </a:r>
            <a:endParaRPr lang="ko-KR" altLang="en-US" dirty="0" smtClean="0" sz="1200"/>
          </a:p>
        </p:txBody>
      </p:sp>
      <p:sp>
        <p:nvSpPr>
          <p:cNvPr id="248" name="Rect 3"/>
          <p:cNvSpPr>
            <a:spLocks noGrp="1" noChangeArrowheads="1"/>
          </p:cNvSpPr>
          <p:nvPr/>
        </p:nvSpPr>
        <p:spPr>
          <a:xfrm rot="0">
            <a:off x="2328545" y="4306570"/>
            <a:ext cx="3274695" cy="424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5 </a:t>
            </a:r>
            <a:endParaRPr lang="ko-KR" altLang="en-US" dirty="0" smtClean="0" sz="900" b="1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A 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Quantity  </a:t>
            </a:r>
            <a:endParaRPr lang="ko-KR" altLang="en-US" dirty="0" smtClean="0" sz="9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endParaRPr lang="ko-KR" altLang="en-US" dirty="0" smtClean="0" sz="900" b="1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B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Quantity  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9295" y="1090930"/>
            <a:ext cx="2624455" cy="1984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5305" y="3407410"/>
            <a:ext cx="2688590" cy="19875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Price 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endParaRPr lang="ko-KR" altLang="en-US" dirty="0" smtClean="0" sz="798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Price 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curve is obtained by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Market Demand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endParaRPr lang="ko-KR" altLang="en-US" dirty="0" smtClean="0" sz="798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Important Points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The market demand will shift to the right as more consumers enter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market.    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 Factors that influence the demands of many consumers will also affect the market 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Elasticity of Demand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Recall: Price elasticity of demand measures the percentage change in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 resulting from a 1-percent change in price.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</a:rPr>
              <a:t> 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88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880"/>
          </a:p>
          <a:p>
            <a:pPr marL="0" indent="0" defTabSz="15240" algn="l">
              <a:lnSpc>
                <a:spcPts val="1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55</a:t>
            </a:r>
            <a:endParaRPr lang="ko-KR" altLang="en-US" dirty="0" smtClean="0" sz="1200"/>
          </a:p>
        </p:txBody>
      </p:sp>
      <p:sp>
        <p:nvSpPr>
          <p:cNvPr id="251" name="Rect 3"/>
          <p:cNvSpPr>
            <a:spLocks noGrp="1" noChangeArrowheads="1"/>
          </p:cNvSpPr>
          <p:nvPr/>
        </p:nvSpPr>
        <p:spPr>
          <a:xfrm rot="0">
            <a:off x="4568825" y="7592695"/>
            <a:ext cx="936625" cy="628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80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88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1880">
                <a:solidFill>
                  <a:srgbClr val="000000"/>
                </a:solidFill>
                <a:latin typeface="Symbol"/>
                <a:ea typeface="Symbol"/>
              </a:rPr>
              <a:t>	 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880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88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880" i="1"/>
          </a:p>
        </p:txBody>
      </p:sp>
      <p:sp>
        <p:nvSpPr>
          <p:cNvPr id="252" name="Rect 3"/>
          <p:cNvSpPr>
            <a:spLocks noGrp="1" noChangeArrowheads="1"/>
          </p:cNvSpPr>
          <p:nvPr/>
        </p:nvSpPr>
        <p:spPr>
          <a:xfrm rot="0">
            <a:off x="4309745" y="7741920"/>
            <a:ext cx="156845" cy="292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80">
                <a:solidFill>
                  <a:srgbClr val="000000"/>
                </a:solidFill>
                <a:latin typeface="Symbol"/>
              </a:rPr>
              <a:t>=</a:t>
            </a:r>
            <a:endParaRPr lang="ko-KR" altLang="en-US" dirty="0" smtClean="0" sz="1880"/>
          </a:p>
        </p:txBody>
      </p:sp>
      <p:sp>
        <p:nvSpPr>
          <p:cNvPr id="253" name="Rect 3"/>
          <p:cNvSpPr>
            <a:spLocks noGrp="1" noChangeArrowheads="1"/>
          </p:cNvSpPr>
          <p:nvPr/>
        </p:nvSpPr>
        <p:spPr>
          <a:xfrm rot="0">
            <a:off x="3014345" y="1149350"/>
            <a:ext cx="3308350" cy="707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900" b="1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C</a:t>
            </a:r>
            <a:endParaRPr lang="ko-KR" altLang="en-US" dirty="0" smtClean="0" sz="6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The market demand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summing the consumer’s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demand curves </a:t>
            </a:r>
            <a:endParaRPr lang="ko-KR" altLang="en-US" dirty="0" smtClean="0" sz="900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C</a:t>
            </a:r>
            <a:endParaRPr lang="ko-KR" altLang="en-US" dirty="0" smtClean="0" sz="6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Quantity  </a:t>
            </a:r>
            <a:endParaRPr lang="ko-KR" altLang="en-US" dirty="0" smtClean="0" sz="798" b="1"/>
          </a:p>
          <a:p>
            <a:pPr marL="0" indent="0" defTabSz="15240" algn="l">
              <a:lnSpc>
                <a:spcPts val="1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88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Q/Q</a:t>
            </a:r>
            <a:endParaRPr lang="ko-KR" altLang="en-US" dirty="0" smtClean="0" sz="1880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88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880" i="1">
                <a:solidFill>
                  <a:srgbClr val="000000"/>
                </a:solidFill>
                <a:latin typeface="Times New Roman"/>
                <a:ea typeface="Times New Roman"/>
              </a:rPr>
              <a:t>P/P</a:t>
            </a:r>
            <a:endParaRPr lang="ko-KR" altLang="en-US" dirty="0" smtClean="0" sz="1880" i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2455" y="7354570"/>
            <a:ext cx="2142490" cy="8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Elasticity and Consumer Expenditure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Demand                  If Price Increases,      If Price Decreases,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                           Expenditures:            Expenditures: </a:t>
            </a:r>
            <a:endParaRPr lang="ko-KR" altLang="en-US" dirty="0" smtClean="0" sz="1200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       Inelastic(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		&lt;1)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Increase                  Decrease 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       Unit Elastic (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1)              Are unchanged       Are unchanged 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       Elastic (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&gt;1)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           Decrease                  Increase </a:t>
            </a:r>
            <a:endParaRPr lang="ko-KR" altLang="en-US" dirty="0" smtClean="0" sz="12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Point Elasticity of Demand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For large price changes (e.g. 20%), the value of elasticity will depend upon where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and quantity lie on the demand curve.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Point elasticity measures elasticity at a point on the demand curve.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Its formula is: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930" i="1">
                <a:solidFill>
                  <a:srgbClr val="000000"/>
                </a:solidFill>
                <a:latin typeface="Times New Roman"/>
                <a:ea typeface="Times New Roman"/>
              </a:rPr>
              <a:t>E  (P/Q)(1/slope)</a:t>
            </a:r>
            <a:endParaRPr lang="ko-KR" altLang="en-US" dirty="0" smtClean="0" sz="1930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Problems Using Point Elasticity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We may need to calculate price elasticity over portion of the demand curve rather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a single point.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The price and quantity used as the base will alter the price elasticity of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Point Elasticity of Demand: 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increases from 8$ to $10 quantity demanded falls from 6 to 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 change in price equals: $2/$8 = 25% or $2/$10 = 20%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 change in quantity equals: -2/6 = -33.33% or -2/4 = -50%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equals: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-33.33/.25 = -1.33 or -.50/.20 = -2.54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one is correct?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Arc Elasticity of Demand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Arc elasticity calculates elasticity over a range of prices 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Its formula is: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20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0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Q/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20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P)(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002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2002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200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0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the averag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e price</a:t>
            </a:r>
            <a:endParaRPr lang="ko-KR" altLang="en-US" dirty="0" smtClean="0" sz="2002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20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the averag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2002" i="1">
                <a:solidFill>
                  <a:srgbClr val="000000"/>
                </a:solidFill>
                <a:latin typeface="Times New Roman"/>
                <a:ea typeface="Times New Roman"/>
              </a:rPr>
              <a:t>e quantity</a:t>
            </a:r>
            <a:endParaRPr lang="ko-KR" altLang="en-US" dirty="0" smtClean="0" sz="2002" i="1"/>
          </a:p>
          <a:p>
            <a:pPr marL="0" indent="0" defTabSz="15240"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56</a:t>
            </a:r>
            <a:endParaRPr lang="ko-KR" altLang="en-US" dirty="0" smtClean="0" sz="1200"/>
          </a:p>
        </p:txBody>
      </p:sp>
      <p:sp>
        <p:nvSpPr>
          <p:cNvPr id="256" name="Rect 3"/>
          <p:cNvSpPr>
            <a:spLocks noGrp="1" noChangeArrowheads="1"/>
          </p:cNvSpPr>
          <p:nvPr/>
        </p:nvSpPr>
        <p:spPr>
          <a:xfrm rot="0">
            <a:off x="1527175" y="4017010"/>
            <a:ext cx="1619250" cy="166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26" i="1">
                <a:solidFill>
                  <a:srgbClr val="000000"/>
                </a:solidFill>
                <a:latin typeface="Times New Roman"/>
                <a:ea typeface="Times New Roman"/>
              </a:rPr>
              <a:t>P </a:t>
            </a:r>
            <a:endParaRPr lang="ko-KR" altLang="en-US" dirty="0" smtClean="0" sz="1126" i="1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8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8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9210" y="1200785"/>
            <a:ext cx="2167255" cy="8870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Arc Elasticity of Demand: An Example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Q/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P)(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2114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2114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2114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8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</a:rPr>
              <a:t> 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)($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lang="ko-KR" altLang="en-US" dirty="0" smtClean="0" sz="2114"/>
          </a:p>
          <a:p>
            <a:pPr marL="0" indent="0" defTabSz="15240" algn="l">
              <a:lnSpc>
                <a:spcPts val="5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57</a:t>
            </a:r>
            <a:endParaRPr lang="ko-KR" altLang="en-US" dirty="0" smtClean="0" sz="1200"/>
          </a:p>
        </p:txBody>
      </p:sp>
      <p:sp>
        <p:nvSpPr>
          <p:cNvPr id="259" name="Rect 3"/>
          <p:cNvSpPr>
            <a:spLocks noGrp="1" noChangeArrowheads="1"/>
          </p:cNvSpPr>
          <p:nvPr/>
        </p:nvSpPr>
        <p:spPr>
          <a:xfrm rot="0">
            <a:off x="4806950" y="1597025"/>
            <a:ext cx="805180" cy="3295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114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2114"/>
          </a:p>
        </p:txBody>
      </p:sp>
      <p:sp>
        <p:nvSpPr>
          <p:cNvPr id="260" name="Rect 3"/>
          <p:cNvSpPr>
            <a:spLocks noGrp="1" noChangeArrowheads="1"/>
          </p:cNvSpPr>
          <p:nvPr/>
        </p:nvSpPr>
        <p:spPr>
          <a:xfrm rot="0">
            <a:off x="4349750" y="1767840"/>
            <a:ext cx="845185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8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88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80"/>
          </a:p>
        </p:txBody>
      </p:sp>
      <p:sp>
        <p:nvSpPr>
          <p:cNvPr id="261" name="Rect 3"/>
          <p:cNvSpPr>
            <a:spLocks noGrp="1" noChangeArrowheads="1"/>
          </p:cNvSpPr>
          <p:nvPr/>
        </p:nvSpPr>
        <p:spPr>
          <a:xfrm rot="0">
            <a:off x="2849880" y="1597025"/>
            <a:ext cx="1786890" cy="3295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114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4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2114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2114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2114"/>
          </a:p>
        </p:txBody>
      </p:sp>
      <p:sp>
        <p:nvSpPr>
          <p:cNvPr id="262" name="Rect 3"/>
          <p:cNvSpPr>
            <a:spLocks noGrp="1" noChangeArrowheads="1"/>
          </p:cNvSpPr>
          <p:nvPr/>
        </p:nvSpPr>
        <p:spPr>
          <a:xfrm rot="0">
            <a:off x="2734310" y="1767840"/>
            <a:ext cx="820420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8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88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8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1870" y="6388735"/>
            <a:ext cx="3255010" cy="25507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16150" y="2983865"/>
            <a:ext cx="2667000" cy="22371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Aggregate Demand For Wheat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demand for U.S. wheat is comprised of domestic demand and export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domestic demand for wheat is given by the equation: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1700 - 107P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export demand for wheat is given by the equation: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1544 - 176P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Domestic demand is relatively price inelastic (-0.2), while export demand is more price elastic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(-0.4).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 ($/bushel) </a:t>
            </a:r>
            <a:endParaRPr lang="ko-KR" altLang="en-US" dirty="0" smtClean="0" sz="9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70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domestic demand </a:t>
            </a:r>
            <a:r>
              <a:rPr lang="en-US" altLang="ko-KR" dirty="0" smtClean="0" sz="1050" i="1">
                <a:solidFill>
                  <a:srgbClr val="000000"/>
                </a:solidFill>
                <a:latin typeface="Times New Roman"/>
              </a:rPr>
              <a:t>AB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</a:rPr>
              <a:t> and  </a:t>
            </a:r>
            <a:endParaRPr lang="ko-KR" altLang="en-US" dirty="0" smtClean="0" sz="10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12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8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6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  <a:ea typeface="Times New Roman"/>
              </a:rPr>
              <a:t>Export </a:t>
            </a:r>
            <a:endParaRPr lang="ko-KR" altLang="en-US" dirty="0" smtClean="0" sz="6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  <a:ea typeface="Times New Roman"/>
              </a:rPr>
              <a:t>Demand</a:t>
            </a:r>
            <a:endParaRPr lang="ko-KR" altLang="en-US" dirty="0" smtClean="0" sz="6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2000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3000</a:t>
            </a:r>
            <a:endParaRPr lang="ko-KR" altLang="en-US" dirty="0" smtClean="0" sz="85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Surplus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Consumer Surplus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difference between the maximum amount a consumer is willing to pay for a good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amount actually paid.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Price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 ($ per </a:t>
            </a:r>
            <a:endParaRPr lang="ko-KR" altLang="en-US" dirty="0" smtClean="0" sz="900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endParaRPr lang="ko-KR" altLang="en-US" dirty="0" smtClean="0" sz="12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17 </a:t>
            </a:r>
            <a:endParaRPr lang="ko-KR" altLang="en-US" dirty="0" smtClean="0" sz="12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16 </a:t>
            </a:r>
            <a:endParaRPr lang="ko-KR" altLang="en-US" dirty="0" smtClean="0" sz="12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15 </a:t>
            </a:r>
            <a:endParaRPr lang="ko-KR" altLang="en-US" dirty="0" smtClean="0" sz="12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endParaRPr lang="ko-KR" altLang="en-US" dirty="0" smtClean="0" sz="12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13 </a:t>
            </a:r>
            <a:endParaRPr lang="ko-KR" altLang="en-US" dirty="0" smtClean="0" sz="1200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Rock Concert Tickets </a:t>
            </a:r>
            <a:endParaRPr lang="ko-KR" altLang="en-US" dirty="0" smtClean="0" sz="1050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58</a:t>
            </a:r>
            <a:endParaRPr lang="ko-KR" altLang="en-US" dirty="0" smtClean="0" sz="1200"/>
          </a:p>
        </p:txBody>
      </p:sp>
      <p:sp>
        <p:nvSpPr>
          <p:cNvPr id="265" name="Rect 3"/>
          <p:cNvSpPr>
            <a:spLocks noGrp="1" noChangeArrowheads="1"/>
          </p:cNvSpPr>
          <p:nvPr/>
        </p:nvSpPr>
        <p:spPr>
          <a:xfrm rot="0">
            <a:off x="4428490" y="4937760"/>
            <a:ext cx="1254125" cy="2005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Wheat(millio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n bushels/yr.) </a:t>
            </a:r>
            <a:endParaRPr lang="ko-KR" altLang="en-US" dirty="0" smtClean="0" sz="900" b="1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The consumer surplus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of purchasing 6 concert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tickets is the sum of the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surplus derived from  </a:t>
            </a:r>
            <a:endParaRPr lang="ko-KR" altLang="en-US" dirty="0" smtClean="0" sz="900"/>
          </a:p>
        </p:txBody>
      </p:sp>
      <p:sp>
        <p:nvSpPr>
          <p:cNvPr id="266" name="Rect 3"/>
          <p:cNvSpPr>
            <a:spLocks noGrp="1" noChangeArrowheads="1"/>
          </p:cNvSpPr>
          <p:nvPr/>
        </p:nvSpPr>
        <p:spPr>
          <a:xfrm rot="0">
            <a:off x="2160905" y="4843145"/>
            <a:ext cx="3923665" cy="3212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  <a:ea typeface="Times New Roman"/>
              </a:rPr>
              <a:t>Domestic </a:t>
            </a:r>
            <a:endParaRPr lang="ko-KR" altLang="en-US" dirty="0" smtClean="0" sz="6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70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4000</a:t>
            </a:r>
            <a:endParaRPr lang="ko-KR" altLang="en-US" dirty="0" smtClean="0" sz="852" b="1"/>
          </a:p>
          <a:p>
            <a:pPr marL="0" indent="0" defTabSz="15240" algn="l">
              <a:lnSpc>
                <a:spcPts val="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</a:rPr>
              <a:t>20 </a:t>
            </a:r>
            <a:endParaRPr lang="ko-KR" altLang="en-US" dirty="0" smtClean="0" sz="12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</a:rPr>
              <a:t>19 </a:t>
            </a:r>
            <a:endParaRPr lang="ko-KR" altLang="en-US" dirty="0" smtClean="0" sz="1200" b="1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Market Price </a:t>
            </a:r>
            <a:endParaRPr lang="ko-KR" altLang="en-US" dirty="0" smtClean="0" sz="1050" b="1"/>
          </a:p>
        </p:txBody>
      </p:sp>
      <p:sp>
        <p:nvSpPr>
          <p:cNvPr id="267" name="Rect 3"/>
          <p:cNvSpPr>
            <a:spLocks noGrp="1" noChangeArrowheads="1"/>
          </p:cNvSpPr>
          <p:nvPr/>
        </p:nvSpPr>
        <p:spPr>
          <a:xfrm rot="0">
            <a:off x="1639570" y="3044825"/>
            <a:ext cx="3893820" cy="4898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endParaRPr lang="ko-KR" altLang="en-US" dirty="0" smtClean="0" sz="94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Total world demand is  </a:t>
            </a:r>
            <a:endParaRPr lang="ko-KR" altLang="en-US" dirty="0" smtClean="0" sz="105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the horizontal sum of the  </a:t>
            </a:r>
            <a:endParaRPr lang="ko-KR" altLang="en-US" dirty="0" smtClean="0" sz="10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export demand</a:t>
            </a:r>
            <a:r>
              <a:rPr lang="en-US" altLang="ko-KR" dirty="0" smtClean="0" sz="1050" i="1">
                <a:solidFill>
                  <a:srgbClr val="000000"/>
                </a:solidFill>
                <a:latin typeface="Times New Roman"/>
              </a:rPr>
              <a:t> CD. </a:t>
            </a:r>
            <a:endParaRPr lang="ko-KR" altLang="en-US" dirty="0" smtClean="0" sz="105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70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Total Demand </a:t>
            </a:r>
            <a:endParaRPr lang="ko-KR" altLang="en-US" dirty="0" smtClean="0" sz="70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  <a:ea typeface="Times New Roman"/>
              </a:rPr>
              <a:t>Demand</a:t>
            </a:r>
            <a:endParaRPr lang="ko-KR" altLang="en-US" dirty="0" smtClean="0" sz="6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701" b="1"/>
          </a:p>
          <a:p>
            <a:pPr marL="0" indent="0" defTabSz="15240" algn="l">
              <a:lnSpc>
                <a:spcPts val="1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Times New Roman"/>
              </a:rPr>
              <a:t>ticket) </a:t>
            </a:r>
            <a:endParaRPr lang="ko-KR" altLang="en-US" dirty="0" smtClean="0" sz="90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each one individually. </a:t>
            </a:r>
            <a:endParaRPr lang="ko-KR" altLang="en-US" dirty="0" smtClean="0" sz="900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Consumer Surplus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6   +   5    +   4   +  3    +   2  +  1   = 21       </a:t>
            </a:r>
            <a:endParaRPr lang="ko-KR" altLang="en-US" dirty="0" smtClean="0" sz="1050" b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1720" y="6065520"/>
            <a:ext cx="2441575" cy="21094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17775" y="1130935"/>
            <a:ext cx="3005455" cy="2380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stepladder demand curve can be converted into a straight-line demand curve by making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units of the good smaller.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($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ticket)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17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Consumer 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15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13 </a:t>
            </a:r>
            <a:endParaRPr lang="ko-KR" altLang="en-US" dirty="0" smtClean="0" sz="11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Expenditur</a:t>
            </a:r>
            <a:endParaRPr lang="ko-KR" altLang="en-US" dirty="0" smtClean="0" sz="798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Combining consumer surplus with the aggregate profits that producers obtain we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evaluate: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Costs and benefits of different market structures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Public policies that alter the behavior of consumers and firms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Example: The Value of Clean Air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Air is free in the sense that we don’t pay to breathe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Question: Are the benefits of cleaning up the air worth the costs?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People pay more to buy houses where the air is clean.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Data for house prices among neighborhoods of Lahore and Rawalpindi were compared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various air pollutants.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 2000 </a:t>
            </a:r>
            <a:endParaRPr lang="ko-KR" altLang="en-US" dirty="0" smtClean="0" sz="100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($Value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puma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reduction)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cost of $1000 per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part reduced.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1002" b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NOX (pphm)</a:t>
            </a:r>
            <a:endParaRPr lang="ko-KR" altLang="en-US" dirty="0" smtClean="0" sz="798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Reduction</a:t>
            </a:r>
            <a:endParaRPr lang="ko-KR" altLang="en-US" dirty="0" smtClean="0" sz="798" b="1"/>
          </a:p>
          <a:p>
            <a:pPr marL="0" indent="0" defTabSz="15240"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59</a:t>
            </a:r>
            <a:endParaRPr lang="ko-KR" altLang="en-US" dirty="0" smtClean="0" sz="1200"/>
          </a:p>
        </p:txBody>
      </p:sp>
      <p:sp>
        <p:nvSpPr>
          <p:cNvPr id="270" name="Rect 3"/>
          <p:cNvSpPr>
            <a:spLocks noGrp="1" noChangeArrowheads="1"/>
          </p:cNvSpPr>
          <p:nvPr/>
        </p:nvSpPr>
        <p:spPr>
          <a:xfrm rot="0">
            <a:off x="4145280" y="1295400"/>
            <a:ext cx="1991360" cy="2279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Consumer Surplus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for the Market Demand</a:t>
            </a:r>
            <a:endParaRPr lang="ko-KR" altLang="en-US" dirty="0" smtClean="0" sz="900" b="1"/>
          </a:p>
          <a:p>
            <a:pPr marL="0" indent="0" defTabSz="15240"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Market </a:t>
            </a:r>
            <a:endParaRPr lang="ko-KR" altLang="en-US" dirty="0" smtClean="0" sz="798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Demand </a:t>
            </a:r>
            <a:endParaRPr lang="ko-KR" altLang="en-US" dirty="0" smtClean="0" sz="798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Rocket concert tickets  </a:t>
            </a:r>
            <a:endParaRPr lang="ko-KR" altLang="en-US" dirty="0" smtClean="0" sz="900" b="1"/>
          </a:p>
        </p:txBody>
      </p:sp>
      <p:sp>
        <p:nvSpPr>
          <p:cNvPr id="271" name="Rect 3"/>
          <p:cNvSpPr>
            <a:spLocks noGrp="1" noChangeArrowheads="1"/>
          </p:cNvSpPr>
          <p:nvPr/>
        </p:nvSpPr>
        <p:spPr>
          <a:xfrm rot="0">
            <a:off x="2432050" y="1246505"/>
            <a:ext cx="3027680" cy="6891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20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19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Surplus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87">
                <a:solidFill>
                  <a:srgbClr val="000000"/>
                </a:solidFill>
                <a:latin typeface="Arial"/>
              </a:rPr>
              <a:t>1/2x(20</a:t>
            </a:r>
            <a:r>
              <a:rPr lang="en-US" altLang="ko-KR" dirty="0" smtClean="0" sz="108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87">
                <a:solidFill>
                  <a:srgbClr val="000000"/>
                </a:solidFill>
                <a:latin typeface="Arial"/>
              </a:rPr>
              <a:t>14)x6,500</a:t>
            </a:r>
            <a:r>
              <a:rPr lang="en-US" altLang="ko-KR" dirty="0" smtClean="0" sz="108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87">
                <a:solidFill>
                  <a:srgbClr val="000000"/>
                </a:solidFill>
                <a:latin typeface="Arial"/>
              </a:rPr>
              <a:t>$19,500</a:t>
            </a:r>
            <a:endParaRPr lang="ko-KR" altLang="en-US" dirty="0" smtClean="0" sz="1087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Actual </a:t>
            </a:r>
            <a:endParaRPr lang="ko-KR" altLang="en-US" dirty="0" smtClean="0" sz="798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lang="ko-KR" altLang="en-US" dirty="0" smtClean="0" sz="1097" b="1"/>
          </a:p>
          <a:p>
            <a:pPr marL="0" indent="0" defTabSz="15240" algn="l">
              <a:lnSpc>
                <a:spcPts val="2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shaded area gives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surplus generated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when air pollution is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reduced by 5 parts per 100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million of nitrous oxide at  </a:t>
            </a:r>
            <a:endParaRPr lang="ko-KR" altLang="en-US" dirty="0" smtClean="0" sz="79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002" b="1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Pollution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43455" y="4319270"/>
            <a:ext cx="2185035" cy="21424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31390" y="6720840"/>
            <a:ext cx="2108835" cy="21424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NETWORK EXTERNALITIES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Up to this point we have assumed that people’s demands for a good are independent of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If fact, a person’s demand may be affected by the number of other people who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purchased the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If this is the case, a network externality exists.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Network externalities can be positive or 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 positive network externality exists if the quantity of a good demanded by a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 in response to an increase in purchases by other consumers.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Negative network externalities are just the opposite.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The Bandwagon Effect </a:t>
            </a:r>
            <a:endParaRPr lang="ko-KR" altLang="en-US" dirty="0" smtClean="0" sz="12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This is the desire to be in style, to have a good because almost everyone else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has it, or to indulge in a fad.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This is the major objective of marketing and advertising campaigns (e.g. toys,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clothing).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Positive Network Externality: Bandwagon Effect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further to the the right . </a:t>
            </a:r>
            <a:endParaRPr lang="ko-KR" altLang="en-US" dirty="0" smtClean="0" sz="798"/>
          </a:p>
          <a:p>
            <a:pPr marL="0" indent="0" defTabSz="15240" algn="l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100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curves.  It is relatively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more elastic. </a:t>
            </a:r>
            <a:endParaRPr lang="ko-KR" altLang="en-US" dirty="0" smtClean="0" sz="798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Demand</a:t>
            </a:r>
            <a:endParaRPr lang="ko-KR" altLang="en-US" dirty="0" smtClean="0" sz="1002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1002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lang="ko-KR" altLang="en-US" dirty="0" smtClean="0" sz="1200"/>
          </a:p>
        </p:txBody>
      </p:sp>
      <p:sp>
        <p:nvSpPr>
          <p:cNvPr id="274" name="Rect 3"/>
          <p:cNvSpPr>
            <a:spLocks noGrp="1" noChangeArrowheads="1"/>
          </p:cNvSpPr>
          <p:nvPr/>
        </p:nvSpPr>
        <p:spPr>
          <a:xfrm rot="0">
            <a:off x="4026535" y="6906895"/>
            <a:ext cx="1143635" cy="1123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 is found by joining </a:t>
            </a:r>
            <a:endParaRPr lang="ko-KR" altLang="en-US" dirty="0" smtClean="0" sz="798"/>
          </a:p>
        </p:txBody>
      </p:sp>
      <p:sp>
        <p:nvSpPr>
          <p:cNvPr id="275" name="Rect 3"/>
          <p:cNvSpPr>
            <a:spLocks noGrp="1" noChangeArrowheads="1"/>
          </p:cNvSpPr>
          <p:nvPr/>
        </p:nvSpPr>
        <p:spPr>
          <a:xfrm rot="0">
            <a:off x="2301240" y="4370705"/>
            <a:ext cx="3265170" cy="450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100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When consumers believe more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people have purchased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product, the demand curve shifts  </a:t>
            </a:r>
            <a:endParaRPr lang="ko-KR" altLang="en-US" dirty="0" smtClean="0" sz="798"/>
          </a:p>
          <a:p>
            <a:pPr marL="0" indent="0" defTabSz="15240" algn="l">
              <a:lnSpc>
                <a:spcPts val="1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(thousands per 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40 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			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60 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			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80 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					D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market demand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points on the individual  </a:t>
            </a:r>
            <a:endParaRPr lang="ko-KR" altLang="en-US" dirty="0" smtClean="0" sz="798"/>
          </a:p>
          <a:p>
            <a:pPr marL="0" indent="0" defTabSz="15240" algn="l">
              <a:lnSpc>
                <a:spcPts val="1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(thousands per month)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22830" y="640080"/>
            <a:ext cx="2791460" cy="25996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22830" y="3642360"/>
            <a:ext cx="2995930" cy="25996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were no bandwagon effect,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quantity demanded would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$30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$20 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Pure Price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Effect 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(thousands per month)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94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quantity demanded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increases further.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$30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$20 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Pure 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FFFFFF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94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Snob Effect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network externality is negative, a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snob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exists.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snob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refers to the desire to own exclusive or unique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quantity demanded of a “snob” good is higher the fewer the people who own it. </a:t>
            </a:r>
            <a:endParaRPr lang="ko-KR" altLang="en-US" dirty="0" smtClean="0" sz="1097"/>
          </a:p>
          <a:p>
            <a:pPr marL="0" indent="0" defTabSz="15240" algn="l">
              <a:lnSpc>
                <a:spcPts val="1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61</a:t>
            </a:r>
            <a:endParaRPr lang="ko-KR" altLang="en-US" dirty="0" smtClean="0" sz="1200"/>
          </a:p>
        </p:txBody>
      </p:sp>
      <p:sp>
        <p:nvSpPr>
          <p:cNvPr id="278" name="Rect 3"/>
          <p:cNvSpPr>
            <a:spLocks noGrp="1" noChangeArrowheads="1"/>
          </p:cNvSpPr>
          <p:nvPr/>
        </p:nvSpPr>
        <p:spPr>
          <a:xfrm rot="0">
            <a:off x="4745990" y="847090"/>
            <a:ext cx="1573530" cy="5440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Suppose the price falls </a:t>
            </a:r>
            <a:endParaRPr lang="ko-KR" altLang="en-US" dirty="0" smtClean="0" sz="798"/>
          </a:p>
          <a:p>
            <a:pPr marL="0" indent="0" defTabSz="15240" algn="l">
              <a:lnSpc>
                <a:spcPts val="2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good, it becomes  </a:t>
            </a:r>
            <a:endParaRPr lang="ko-KR" altLang="en-US" dirty="0" smtClean="0" sz="798"/>
          </a:p>
          <a:p>
            <a:pPr marL="0" indent="0" defTabSz="15240" algn="l">
              <a:lnSpc>
                <a:spcPts val="1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Bandwagon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Effect </a:t>
            </a:r>
            <a:endParaRPr lang="ko-KR" altLang="en-US" dirty="0" smtClean="0" sz="9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(thousands per month)</a:t>
            </a:r>
            <a:endParaRPr lang="ko-KR" altLang="en-US" dirty="0" smtClean="0" sz="798" b="1"/>
          </a:p>
        </p:txBody>
      </p:sp>
      <p:sp>
        <p:nvSpPr>
          <p:cNvPr id="279" name="Rect 3"/>
          <p:cNvSpPr>
            <a:spLocks noGrp="1" noChangeArrowheads="1"/>
          </p:cNvSpPr>
          <p:nvPr/>
        </p:nvSpPr>
        <p:spPr>
          <a:xfrm rot="0">
            <a:off x="1978025" y="697865"/>
            <a:ext cx="3905885" cy="5638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40 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						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60 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					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100 </a:t>
            </a:r>
            <a:endParaRPr lang="ko-KR" altLang="en-US" dirty="0" smtClean="0" sz="749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from $30 to $20. If there 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only increase to 48,000 </a:t>
            </a:r>
            <a:endParaRPr lang="ko-KR" altLang="en-US" dirty="0" smtClean="0" sz="798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Demand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40 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						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60 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					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49" b="1">
                <a:solidFill>
                  <a:srgbClr val="000000"/>
                </a:solidFill>
                <a:latin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But as more people buy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stylish to own it and  </a:t>
            </a:r>
            <a:endParaRPr lang="ko-KR" altLang="en-US" dirty="0" smtClean="0" sz="798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Demand </a:t>
            </a:r>
            <a:endParaRPr lang="ko-KR" altLang="en-US" dirty="0" smtClean="0" sz="115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  <a:ea typeface="Arial"/>
              </a:rPr>
              <a:t>Effect </a:t>
            </a:r>
            <a:endParaRPr lang="ko-KR" altLang="en-US" dirty="0" smtClean="0" sz="798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69465" y="679450"/>
            <a:ext cx="3069590" cy="271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26665" y="3532505"/>
            <a:ext cx="2051685" cy="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45335" y="4117975"/>
            <a:ext cx="3014345" cy="25507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75560" y="6790690"/>
            <a:ext cx="1950720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 </a:t>
            </a:r>
            <a:endParaRPr lang="ko-KR" altLang="en-US" dirty="0" smtClean="0" sz="798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$30,000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However, if consumers think 4,000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people have bought the good,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shifts from D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 D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6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	 its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snob value has been reduced. </a:t>
            </a:r>
            <a:endParaRPr lang="ko-KR" altLang="en-US" dirty="0" smtClean="0" sz="798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$15,000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70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4 </a:t>
            </a:r>
            <a:endParaRPr lang="ko-KR" altLang="en-US" dirty="0" smtClean="0" sz="70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8 </a:t>
            </a:r>
            <a:endParaRPr lang="ko-KR" altLang="en-US" dirty="0" smtClean="0" sz="70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Pure Price Effect </a:t>
            </a:r>
            <a:endParaRPr lang="ko-KR" altLang="en-US" dirty="0" smtClean="0" sz="900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$30,000 </a:t>
            </a:r>
            <a:endParaRPr lang="ko-KR" altLang="en-US" dirty="0" smtClean="0" sz="105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it. Sales decrease as a result.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Examples: Rolex watches and long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lines at the ski lift. </a:t>
            </a:r>
            <a:endParaRPr lang="ko-KR" altLang="en-US" dirty="0" smtClean="0" sz="7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Net Effect </a:t>
            </a:r>
            <a:endParaRPr lang="ko-KR" altLang="en-US" dirty="0" smtClean="0" sz="105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$15,000 </a:t>
            </a:r>
            <a:endParaRPr lang="ko-KR" altLang="en-US" dirty="0" smtClean="0" sz="105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</a:rPr>
              <a:t>4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8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lang="ko-KR" altLang="en-US" dirty="0" smtClean="0" sz="105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Pure Price Effect</a:t>
            </a:r>
            <a:endParaRPr lang="ko-KR" altLang="en-US" dirty="0" smtClean="0" sz="94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Network Externalities and the Demands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Computers and Fax Machines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 of Positive Feedback Externalities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Mainframe computers: 1954 - 1965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Microsoft Windows PC operating system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Fax-machines and e-mail </a:t>
            </a:r>
            <a:endParaRPr lang="ko-KR" altLang="en-US" dirty="0" smtClean="0" sz="1097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62</a:t>
            </a:r>
            <a:endParaRPr lang="ko-KR" altLang="en-US" dirty="0" smtClean="0" sz="1200"/>
          </a:p>
        </p:txBody>
      </p:sp>
      <p:sp>
        <p:nvSpPr>
          <p:cNvPr id="282" name="Rect 3"/>
          <p:cNvSpPr>
            <a:spLocks noGrp="1" noChangeArrowheads="1"/>
          </p:cNvSpPr>
          <p:nvPr/>
        </p:nvSpPr>
        <p:spPr>
          <a:xfrm rot="0">
            <a:off x="3270250" y="770890"/>
            <a:ext cx="131826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Originally demand is D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,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when consumers think 2000 </a:t>
            </a:r>
            <a:endParaRPr lang="ko-KR" altLang="en-US" dirty="0" smtClean="0" sz="798"/>
          </a:p>
        </p:txBody>
      </p:sp>
      <p:sp>
        <p:nvSpPr>
          <p:cNvPr id="283" name="Rect 3"/>
          <p:cNvSpPr>
            <a:spLocks noGrp="1" noChangeArrowheads="1"/>
          </p:cNvSpPr>
          <p:nvPr/>
        </p:nvSpPr>
        <p:spPr>
          <a:xfrm rot="0">
            <a:off x="2371090" y="786130"/>
            <a:ext cx="2915285" cy="3648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</a:rPr>
              <a:t>Demand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people have bought a good.   </a:t>
            </a:r>
            <a:endParaRPr lang="ko-KR" altLang="en-US" dirty="0" smtClean="0" sz="798"/>
          </a:p>
          <a:p>
            <a:pPr marL="0" indent="0" defTabSz="15240" algn="l">
              <a:lnSpc>
                <a:spcPts val="2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demand is less elastic and  </a:t>
            </a:r>
            <a:endParaRPr lang="ko-KR" altLang="en-US" dirty="0" smtClean="0" sz="798"/>
          </a:p>
        </p:txBody>
      </p:sp>
      <p:sp>
        <p:nvSpPr>
          <p:cNvPr id="284" name="Rect 3"/>
          <p:cNvSpPr>
            <a:spLocks noGrp="1" noChangeArrowheads="1"/>
          </p:cNvSpPr>
          <p:nvPr/>
        </p:nvSpPr>
        <p:spPr>
          <a:xfrm rot="0">
            <a:off x="1557655" y="905510"/>
            <a:ext cx="4335145" cy="5812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1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6</a:t>
            </a:r>
            <a:endParaRPr lang="ko-KR" altLang="en-US" dirty="0" smtClean="0" sz="70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 (thousands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Demand </a:t>
            </a:r>
            <a:endParaRPr lang="ko-KR" altLang="en-US" dirty="0" smtClean="0" sz="12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as a snob good its value is greatly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reduced if more people own </a:t>
            </a:r>
            <a:endParaRPr lang="ko-KR" altLang="en-US" dirty="0" smtClean="0" sz="798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Snob Effect</a:t>
            </a:r>
            <a:endParaRPr lang="ko-KR" altLang="en-US" dirty="0" smtClean="0" sz="1050" b="1"/>
          </a:p>
          <a:p>
            <a:pPr marL="0" indent="0" defTabSz="15240"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6</a:t>
            </a:r>
            <a:endParaRPr lang="ko-KR" altLang="en-US" dirty="0" smtClean="0" sz="70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 (thousands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month)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6855" y="7458710"/>
            <a:ext cx="1417320" cy="1644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13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Choice with certainty is reasonably straightforward.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How do we choose when certain variables such as income and prices are uncertain (i.e.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making choices with risk)?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Describing Risk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 measure risk we must know: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All of the possible outcomes.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The likelihood that each outcome will occur (its probability).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Interpreting Probability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likelihood that a given outcome will occur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Objective Interpretation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Based on the observed frequency of past events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Subjective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Based on perception or experience with or without an observed frequency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information or different abilities to process the same information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influence the subjective probability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Expected Value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weighted average of the payoffs or values resulting from all possible outcomes.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probabilities of each outcome are used as weights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Expected value measures the central tendency; the payoff or value expected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in drilling exploration: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outcomes are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Success -- the stock price increase from $30 to $40/share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Failure -- the stock price falls from $30 to $20/share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Objective Probability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explorations, 25 successes and 75 failures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Probability (Pr) of success = 1/4 and the probability of failure = 3/4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EV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 Pr(success)($40/share)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Pr(failure)($20/share)</a:t>
            </a:r>
            <a:endParaRPr lang="ko-KR" altLang="en-US" dirty="0" smtClean="0" sz="110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56">
                <a:solidFill>
                  <a:srgbClr val="000000"/>
                </a:solidFill>
                <a:latin typeface="Times New Roman"/>
                <a:ea typeface="Times New Roman"/>
              </a:rPr>
              <a:t>E V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5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56">
                <a:solidFill>
                  <a:srgbClr val="000000"/>
                </a:solidFill>
                <a:latin typeface="Times New Roman"/>
                <a:ea typeface="Times New Roman"/>
              </a:rPr>
              <a:t> 1 4 ($ 4 0 /sh are)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56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56">
                <a:solidFill>
                  <a:srgbClr val="000000"/>
                </a:solidFill>
                <a:latin typeface="Times New Roman"/>
                <a:ea typeface="Times New Roman"/>
              </a:rPr>
              <a:t>3 4 ($ 2 0 /sh are)</a:t>
            </a:r>
            <a:endParaRPr lang="ko-KR" altLang="en-US" dirty="0" smtClean="0" sz="1056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22">
                <a:solidFill>
                  <a:srgbClr val="000000"/>
                </a:solidFill>
                <a:latin typeface="Times New Roman"/>
                <a:ea typeface="Times New Roman"/>
              </a:rPr>
              <a:t>EV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22">
                <a:solidFill>
                  <a:srgbClr val="000000"/>
                </a:solidFill>
                <a:latin typeface="Times New Roman"/>
                <a:ea typeface="Times New Roman"/>
              </a:rPr>
              <a:t> $25/share</a:t>
            </a:r>
            <a:endParaRPr lang="ko-KR" altLang="en-US" dirty="0" smtClean="0" sz="112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Given: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Two possible outcomes having payoffs X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X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Probabilities of each outcome is given by Pr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&amp; Pr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Generally, expected value is written as: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03">
                <a:solidFill>
                  <a:srgbClr val="000000"/>
                </a:solidFill>
                <a:latin typeface="Times New Roman"/>
                <a:ea typeface="Times New Roman"/>
              </a:rPr>
              <a:t>E(X)  PrX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503">
                <a:solidFill>
                  <a:srgbClr val="000000"/>
                </a:solidFill>
                <a:latin typeface="Times New Roman"/>
                <a:ea typeface="Times New Roman"/>
              </a:rPr>
              <a:t>PrX</a:t>
            </a:r>
            <a:endParaRPr lang="ko-KR" altLang="en-US" dirty="0" smtClean="0" sz="15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1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81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19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63</a:t>
            </a:r>
            <a:endParaRPr lang="ko-KR" altLang="en-US" dirty="0" smtClean="0" sz="1200"/>
          </a:p>
        </p:txBody>
      </p:sp>
      <p:sp>
        <p:nvSpPr>
          <p:cNvPr id="287" name="Rect 3"/>
          <p:cNvSpPr>
            <a:spLocks noGrp="1" noChangeArrowheads="1"/>
          </p:cNvSpPr>
          <p:nvPr/>
        </p:nvSpPr>
        <p:spPr>
          <a:xfrm rot="0">
            <a:off x="4602480" y="8909050"/>
            <a:ext cx="1073785" cy="113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19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819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819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819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endParaRPr lang="ko-KR" altLang="en-US" dirty="0" smtClean="0" sz="819"/>
          </a:p>
        </p:txBody>
      </p:sp>
      <p:sp>
        <p:nvSpPr>
          <p:cNvPr id="288" name="Rect 3"/>
          <p:cNvSpPr>
            <a:spLocks noGrp="1" noChangeArrowheads="1"/>
          </p:cNvSpPr>
          <p:nvPr/>
        </p:nvSpPr>
        <p:spPr>
          <a:xfrm rot="0">
            <a:off x="3383280" y="7790815"/>
            <a:ext cx="1872615" cy="1197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22">
                <a:solidFill>
                  <a:srgbClr val="000000"/>
                </a:solidFill>
                <a:latin typeface="Symbol"/>
              </a:rPr>
              <a:t>=</a:t>
            </a:r>
            <a:endParaRPr lang="ko-KR" altLang="en-US" dirty="0" smtClean="0" sz="1122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50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503">
                <a:solidFill>
                  <a:srgbClr val="000000"/>
                </a:solidFill>
                <a:latin typeface="Symbol"/>
                <a:ea typeface="Symbol"/>
              </a:rPr>
              <a:t>+ +</a:t>
            </a:r>
            <a:endParaRPr lang="ko-KR" altLang="en-US" dirty="0" smtClean="0" sz="1503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495" y="2846705"/>
            <a:ext cx="5715000" cy="13322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8495" y="4182110"/>
            <a:ext cx="5715000" cy="74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71015" y="8893810"/>
            <a:ext cx="2596515" cy="3937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Variability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extent to which possible outcomes of an uncertain event may differ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Variability: A Scenario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 you are choosing between two part-time sales jobs that have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expected income ($1,500)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first job is based entirely on commission.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second is a salaried position.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two equally likely outcomes in the first job--$2,000 for a good sales job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$1,000 for a modestly successful one.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second pays $1,510 most of the time (.99 probability), but you will earn $510 if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company goes out of business (.01 probability). </a:t>
            </a:r>
            <a:endParaRPr lang="ko-KR" altLang="en-US" dirty="0" smtClean="0" sz="1097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from Sales Jobs </a:t>
            </a:r>
            <a:endParaRPr lang="ko-KR" altLang="en-US" dirty="0" smtClean="0" sz="109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                                              Outcome 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          Outcome 2 </a:t>
            </a:r>
            <a:endParaRPr lang="ko-KR" altLang="en-US" dirty="0" smtClean="0" sz="100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                                    Probability    Income($)       probability           Income($)        Expected  </a:t>
            </a:r>
            <a:endParaRPr lang="ko-KR" altLang="en-US" dirty="0" smtClean="0" sz="100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u="sng" b="1">
                <a:solidFill>
                  <a:srgbClr val="000000"/>
                </a:solidFill>
                <a:latin typeface="Arial"/>
              </a:rPr>
              <a:t>income  </a:t>
            </a:r>
            <a:endParaRPr lang="ko-KR" altLang="en-US" dirty="0" smtClean="0" sz="1002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Job 1: Commission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2000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.5                 1000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1500 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Job 2: Fixed salary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.99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1510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.01                 510            1500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Times New Roman"/>
                <a:ea typeface="Times New Roman"/>
              </a:rPr>
              <a:t>E(X</a:t>
            </a:r>
            <a:r>
              <a:rPr lang="en-US" altLang="ko-KR" dirty="0" smtClean="0" sz="874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99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99">
                <a:solidFill>
                  <a:srgbClr val="000000"/>
                </a:solidFill>
                <a:latin typeface="Times New Roman"/>
                <a:ea typeface="Times New Roman"/>
              </a:rPr>
              <a:t>.5($2000)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99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99">
                <a:solidFill>
                  <a:srgbClr val="000000"/>
                </a:solidFill>
                <a:latin typeface="Times New Roman"/>
                <a:ea typeface="Times New Roman"/>
              </a:rPr>
              <a:t>.5($1000)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99">
                <a:solidFill>
                  <a:srgbClr val="000000"/>
                </a:solidFill>
                <a:latin typeface="Times New Roman"/>
                <a:ea typeface="Times New Roman"/>
              </a:rPr>
              <a:t>$1500</a:t>
            </a:r>
            <a:endParaRPr lang="ko-KR" altLang="en-US" dirty="0" smtClean="0" sz="1499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2 Expected Income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600">
                <a:solidFill>
                  <a:srgbClr val="000000"/>
                </a:solidFill>
                <a:latin typeface="Times New Roman"/>
                <a:ea typeface="Times New Roman"/>
              </a:rPr>
              <a:t>E(X</a:t>
            </a:r>
            <a:r>
              <a:rPr lang="en-US" altLang="ko-KR" dirty="0" smtClean="0" sz="933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6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0">
                <a:solidFill>
                  <a:srgbClr val="000000"/>
                </a:solidFill>
                <a:latin typeface="Times New Roman"/>
                <a:ea typeface="Times New Roman"/>
              </a:rPr>
              <a:t>.99($1510)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00">
                <a:solidFill>
                  <a:srgbClr val="000000"/>
                </a:solidFill>
                <a:latin typeface="Times New Roman"/>
                <a:ea typeface="Times New Roman"/>
              </a:rPr>
              <a:t>.01($510)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0">
                <a:solidFill>
                  <a:srgbClr val="000000"/>
                </a:solidFill>
                <a:latin typeface="Times New Roman"/>
                <a:ea typeface="Times New Roman"/>
              </a:rPr>
              <a:t>$1500</a:t>
            </a:r>
            <a:endParaRPr lang="ko-KR" altLang="en-US" dirty="0" smtClean="0" sz="16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While the expected values are the same, the variability is not.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Greater variability from expected values signals greater risk.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Deviation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Difference between expected payoff and actual payoff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Deviations from Expected Income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Outcome 1           Deviation      Outcome 2          Deviation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1      $2,000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$500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$1,000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-$500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2       1,510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510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-900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9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Adjusting for negative numbers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9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standard deviation measures the square root of the average of the squares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deviations of the payoffs associated with each outcome from their expected value.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standard deviation is written: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Symbol"/>
                <a:ea typeface="Symbol"/>
              </a:rPr>
              <a:t>σ=</a:t>
            </a:r>
            <a:endParaRPr lang="ko-KR" altLang="en-US" dirty="0" smtClean="0" sz="180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64</a:t>
            </a:r>
            <a:endParaRPr lang="ko-KR" altLang="en-US" dirty="0" smtClean="0" sz="1200"/>
          </a:p>
        </p:txBody>
      </p:sp>
      <p:sp>
        <p:nvSpPr>
          <p:cNvPr id="291" name="Rect 3"/>
          <p:cNvSpPr>
            <a:spLocks noGrp="1" noChangeArrowheads="1"/>
          </p:cNvSpPr>
          <p:nvPr/>
        </p:nvSpPr>
        <p:spPr>
          <a:xfrm rot="0">
            <a:off x="3846830" y="8994775"/>
            <a:ext cx="421640" cy="25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</a:rPr>
              <a:t>E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dirty="0" smtClean="0" sz="1800"/>
          </a:p>
        </p:txBody>
      </p:sp>
      <p:sp>
        <p:nvSpPr>
          <p:cNvPr id="292" name="Rect 3"/>
          <p:cNvSpPr>
            <a:spLocks noGrp="1" noChangeArrowheads="1"/>
          </p:cNvSpPr>
          <p:nvPr/>
        </p:nvSpPr>
        <p:spPr>
          <a:xfrm rot="0">
            <a:off x="3618230" y="8979535"/>
            <a:ext cx="71691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05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1050"/>
          </a:p>
        </p:txBody>
      </p:sp>
      <p:sp>
        <p:nvSpPr>
          <p:cNvPr id="293" name="Rect 3"/>
          <p:cNvSpPr>
            <a:spLocks noGrp="1" noChangeArrowheads="1"/>
          </p:cNvSpPr>
          <p:nvPr/>
        </p:nvSpPr>
        <p:spPr>
          <a:xfrm rot="0">
            <a:off x="3432175" y="8815070"/>
            <a:ext cx="967105" cy="466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012">
                <a:solidFill>
                  <a:srgbClr val="000000"/>
                </a:solidFill>
                <a:latin typeface="Symbol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2012">
                <a:solidFill>
                  <a:srgbClr val="000000"/>
                </a:solidFill>
                <a:latin typeface="Symbol"/>
                <a:ea typeface="Symbol"/>
              </a:rPr>
              <a:t>]</a:t>
            </a:r>
            <a:endParaRPr lang="ko-KR" altLang="en-US" dirty="0" smtClean="0" sz="2012"/>
          </a:p>
        </p:txBody>
      </p:sp>
      <p:sp>
        <p:nvSpPr>
          <p:cNvPr id="294" name="Rect 3"/>
          <p:cNvSpPr>
            <a:spLocks noGrp="1" noChangeArrowheads="1"/>
          </p:cNvSpPr>
          <p:nvPr/>
        </p:nvSpPr>
        <p:spPr>
          <a:xfrm rot="0">
            <a:off x="3215640" y="8994775"/>
            <a:ext cx="43688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Pr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endParaRPr lang="ko-KR" altLang="en-US" dirty="0" smtClean="0" sz="1800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050"/>
          </a:p>
        </p:txBody>
      </p:sp>
      <p:sp>
        <p:nvSpPr>
          <p:cNvPr id="295" name="Rect 3"/>
          <p:cNvSpPr>
            <a:spLocks noGrp="1" noChangeArrowheads="1"/>
          </p:cNvSpPr>
          <p:nvPr/>
        </p:nvSpPr>
        <p:spPr>
          <a:xfrm rot="0">
            <a:off x="2353310" y="8970010"/>
            <a:ext cx="1512570" cy="2774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00">
                <a:solidFill>
                  <a:srgbClr val="000000"/>
                </a:solidFill>
                <a:latin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800"/>
          </a:p>
        </p:txBody>
      </p:sp>
      <p:sp>
        <p:nvSpPr>
          <p:cNvPr id="296" name="Rect 3"/>
          <p:cNvSpPr>
            <a:spLocks noGrp="1" noChangeArrowheads="1"/>
          </p:cNvSpPr>
          <p:nvPr/>
        </p:nvSpPr>
        <p:spPr>
          <a:xfrm rot="0">
            <a:off x="2261870" y="8979535"/>
            <a:ext cx="711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05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1050"/>
          </a:p>
        </p:txBody>
      </p:sp>
      <p:sp>
        <p:nvSpPr>
          <p:cNvPr id="297" name="Rect 3"/>
          <p:cNvSpPr>
            <a:spLocks noGrp="1" noChangeArrowheads="1"/>
          </p:cNvSpPr>
          <p:nvPr/>
        </p:nvSpPr>
        <p:spPr>
          <a:xfrm rot="0">
            <a:off x="2091055" y="8815070"/>
            <a:ext cx="945515" cy="466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012">
                <a:solidFill>
                  <a:srgbClr val="000000"/>
                </a:solidFill>
                <a:latin typeface="Symbol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2012">
                <a:solidFill>
                  <a:srgbClr val="000000"/>
                </a:solidFill>
                <a:latin typeface="Symbol"/>
                <a:ea typeface="Symbol"/>
              </a:rPr>
              <a:t>]</a:t>
            </a:r>
            <a:endParaRPr lang="ko-KR" altLang="en-US" dirty="0" smtClean="0" sz="2012"/>
          </a:p>
        </p:txBody>
      </p:sp>
      <p:sp>
        <p:nvSpPr>
          <p:cNvPr id="298" name="Rect 3"/>
          <p:cNvSpPr>
            <a:spLocks noGrp="1" noChangeArrowheads="1"/>
          </p:cNvSpPr>
          <p:nvPr/>
        </p:nvSpPr>
        <p:spPr>
          <a:xfrm rot="0">
            <a:off x="1892935" y="8994775"/>
            <a:ext cx="41846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00">
                <a:solidFill>
                  <a:srgbClr val="000000"/>
                </a:solidFill>
                <a:latin typeface="Times New Roman"/>
              </a:rPr>
              <a:t>Pr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endParaRPr lang="ko-KR" altLang="en-US" dirty="0" smtClean="0" sz="1800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05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1610" y="2843530"/>
            <a:ext cx="2981325" cy="15824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58440" y="6156960"/>
            <a:ext cx="2624455" cy="25482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Calculating Variance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Deviation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Deviation      Deviation     Standard        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Outcome 1    Squared      Outcome 2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Squared    Squared      Deviation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1 $2,000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$250,000       $1,000       $250,000          $250,000    $500.00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2 1,510                 100            510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980,100                9,900        99.50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The standard deviations of the two jobs are: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σ</a:t>
            </a:r>
            <a:endParaRPr lang="ko-KR" altLang="en-US" dirty="0" smtClean="0" sz="153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892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9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σ</a:t>
            </a:r>
            <a:endParaRPr lang="ko-KR" altLang="en-US" dirty="0" smtClean="0" sz="153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σ</a:t>
            </a:r>
            <a:endParaRPr lang="ko-KR" altLang="en-US" dirty="0" smtClean="0" sz="153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σ</a:t>
            </a:r>
            <a:endParaRPr lang="ko-KR" altLang="en-US" dirty="0" smtClean="0" sz="153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σ</a:t>
            </a:r>
            <a:endParaRPr lang="ko-KR" altLang="en-US" dirty="0" smtClean="0" sz="153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σ</a:t>
            </a:r>
            <a:endParaRPr lang="ko-KR" altLang="en-US" dirty="0" smtClean="0" sz="153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standard deviation can be used when there are many outcomes instead of only two.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1 is a job in which the income ranges from $1000 to $2000 in increments of $100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are all equally likely.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2 is a job in which the income ranges from $1300 to $1700 in increments of $100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that, also, are all equally likely.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Probability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Job 1 has greater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standard deviation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greater risk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than Job 2.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0.2 </a:t>
            </a:r>
            <a:endParaRPr lang="ko-KR" altLang="en-US" dirty="0" smtClean="0" sz="1097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0.1 </a:t>
            </a:r>
            <a:endParaRPr lang="ko-KR" altLang="en-US" dirty="0" smtClean="0" sz="1097" b="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$1000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$1500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$2000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Outcome Probabilities of Two Jobs (unequal probability of outcomes)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1: greater spread &amp; standard deviation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65</a:t>
            </a:r>
            <a:endParaRPr lang="ko-KR" altLang="en-US" dirty="0" smtClean="0" sz="1200"/>
          </a:p>
        </p:txBody>
      </p:sp>
      <p:sp>
        <p:nvSpPr>
          <p:cNvPr id="301" name="Rect 3"/>
          <p:cNvSpPr>
            <a:spLocks noGrp="1" noChangeArrowheads="1"/>
          </p:cNvSpPr>
          <p:nvPr/>
        </p:nvSpPr>
        <p:spPr>
          <a:xfrm rot="0">
            <a:off x="3288665" y="3526790"/>
            <a:ext cx="126301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 b="1">
                <a:solidFill>
                  <a:srgbClr val="000000"/>
                </a:solidFill>
                <a:latin typeface="Times New Roman"/>
              </a:rPr>
              <a:t>*Greater Risk</a:t>
            </a:r>
            <a:endParaRPr lang="ko-KR" altLang="en-US" dirty="0" smtClean="0" sz="16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530"/>
          </a:p>
        </p:txBody>
      </p:sp>
      <p:sp>
        <p:nvSpPr>
          <p:cNvPr id="302" name="Rect 3"/>
          <p:cNvSpPr>
            <a:spLocks noGrp="1" noChangeArrowheads="1"/>
          </p:cNvSpPr>
          <p:nvPr/>
        </p:nvSpPr>
        <p:spPr>
          <a:xfrm rot="0">
            <a:off x="2545080" y="2843530"/>
            <a:ext cx="2929890" cy="1856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53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30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250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000</a:t>
            </a:r>
            <a:endParaRPr lang="ko-KR" altLang="en-US" dirty="0" smtClean="0" sz="153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500</a:t>
            </a:r>
            <a:endParaRPr lang="ko-KR" altLang="en-US" dirty="0" smtClean="0" sz="153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.99($100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.01($980,1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00)</a:t>
            </a:r>
            <a:endParaRPr lang="ko-KR" altLang="en-US" dirty="0" smtClean="0" sz="153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900</a:t>
            </a:r>
            <a:endParaRPr lang="ko-KR" altLang="en-US" dirty="0" smtClean="0" sz="153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99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lang="ko-KR" altLang="en-US" dirty="0" smtClean="0" sz="1530"/>
          </a:p>
        </p:txBody>
      </p:sp>
      <p:sp>
        <p:nvSpPr>
          <p:cNvPr id="303" name="Rect 3"/>
          <p:cNvSpPr>
            <a:spLocks noGrp="1" noChangeArrowheads="1"/>
          </p:cNvSpPr>
          <p:nvPr/>
        </p:nvSpPr>
        <p:spPr>
          <a:xfrm rot="0">
            <a:off x="2401570" y="2843530"/>
            <a:ext cx="3345180" cy="5831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53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.5($250,00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.5($250,00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53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lang="ko-KR" altLang="en-US" dirty="0" smtClean="0" sz="153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92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89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92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892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892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92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892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9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892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92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spread: greater </a:t>
            </a:r>
            <a:endParaRPr lang="ko-KR" altLang="en-US" dirty="0" smtClean="0" sz="798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Job 2 </a:t>
            </a:r>
            <a:endParaRPr lang="ko-KR" altLang="en-US" dirty="0" smtClean="0" sz="1002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Job 1 </a:t>
            </a:r>
            <a:endParaRPr lang="ko-KR" altLang="en-US" dirty="0" smtClean="0" sz="1002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Income </a:t>
            </a:r>
            <a:endParaRPr lang="ko-KR" altLang="en-US" dirty="0" smtClean="0" sz="1152" b="1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73935" y="2142490"/>
            <a:ext cx="2639695" cy="27920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Peaked distribution: extreme payoffs are less likely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Decision Making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risk avoider would choose Job 2: same expected income as Job 1 with less risk.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 we add $100 to each payoff in Job 1 which makes the expected payoff =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$1600.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Unequal Probability Outcomes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Probability </a:t>
            </a:r>
            <a:endParaRPr lang="ko-KR" altLang="en-US" dirty="0" smtClean="0" sz="8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greater spread and standard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deviation than those with Job 2. </a:t>
            </a:r>
            <a:endParaRPr lang="ko-KR" altLang="en-US" dirty="0" smtClean="0" sz="798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0.2 </a:t>
            </a:r>
            <a:endParaRPr lang="ko-KR" altLang="en-US" dirty="0" smtClean="0" sz="11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47" b="1">
                <a:solidFill>
                  <a:srgbClr val="000000"/>
                </a:solidFill>
                <a:latin typeface="Times New Roman"/>
                <a:ea typeface="Times New Roman"/>
              </a:rPr>
              <a:t>Job 2 </a:t>
            </a:r>
            <a:endParaRPr lang="ko-KR" altLang="en-US" dirty="0" smtClean="0" sz="154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0.1 </a:t>
            </a:r>
            <a:endParaRPr lang="ko-KR" altLang="en-US" dirty="0" smtClean="0" sz="1152" b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$1000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$1500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$2000</a:t>
            </a:r>
            <a:endParaRPr lang="ko-KR" altLang="en-US" dirty="0" smtClean="0" sz="1152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from Sales Jobs--Modified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Deviation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Deviation    Deviation   Standard   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Outcome 1     Squared        Outcome 2       Squared      Squared     Deviation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1    $2,100       $250,000              $1,100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$250,000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$1, 600        $500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2    1510                100                  510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980,100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1,   500        99.50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Recall: The standard deviation is the square root of the deviation squared.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Decision making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1: expected income $1,600 and a standard deviation of $500.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 2: expected income of $1,500 and a standard deviation of $99.50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job?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Greater value or less risk?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 a city wants to deter people from wrong parking.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alternatives …... </a:t>
            </a:r>
            <a:endParaRPr lang="ko-KR" altLang="en-US" dirty="0" smtClean="0" sz="1097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66</a:t>
            </a:r>
            <a:endParaRPr lang="ko-KR" altLang="en-US" dirty="0" smtClean="0" sz="1200"/>
          </a:p>
        </p:txBody>
      </p:sp>
      <p:sp>
        <p:nvSpPr>
          <p:cNvPr id="306" name="Rect 3"/>
          <p:cNvSpPr>
            <a:spLocks noGrp="1" noChangeArrowheads="1"/>
          </p:cNvSpPr>
          <p:nvPr/>
        </p:nvSpPr>
        <p:spPr>
          <a:xfrm rot="0">
            <a:off x="4264025" y="2103120"/>
            <a:ext cx="1217295" cy="11874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7" name="Rect 3"/>
          <p:cNvSpPr>
            <a:spLocks noGrp="1" noChangeArrowheads="1"/>
          </p:cNvSpPr>
          <p:nvPr/>
        </p:nvSpPr>
        <p:spPr>
          <a:xfrm rot="0">
            <a:off x="4224655" y="2216150"/>
            <a:ext cx="1326515" cy="2621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associated with Job 1 has a  </a:t>
            </a:r>
            <a:endParaRPr lang="ko-KR" altLang="en-US" dirty="0" smtClean="0" sz="798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547" b="1">
                <a:solidFill>
                  <a:srgbClr val="000000"/>
                </a:solidFill>
                <a:latin typeface="Times New Roman"/>
                <a:ea typeface="Times New Roman"/>
              </a:rPr>
              <a:t>Job 1 </a:t>
            </a:r>
            <a:endParaRPr lang="ko-KR" altLang="en-US" dirty="0" smtClean="0" sz="1547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Income </a:t>
            </a:r>
            <a:endParaRPr lang="ko-KR" altLang="en-US" dirty="0" smtClean="0" sz="852" b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Assumptions: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Wrong parking saves a person $5 in terms of time spent searching for a parking space.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The driver is risk neutral.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Cost of apprehension is zero.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fine of $5.01 would deter the driver from double parking.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Benefit of wrong parking ($5) is less than the cost ($5.01) equals a net benefit that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 than 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Increasing the fine can reduce enforcement cost: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$50 fine with a .1 probability of being caught results in an expected penalty of $5.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$500 fine with a .01 probability of being caught results in an expected penalty of $5.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more risk averse drivers are, the lower the fine needs to be in order to be effective. </a:t>
            </a:r>
            <a:endParaRPr lang="ko-KR" altLang="en-US" dirty="0" smtClean="0" sz="1097"/>
          </a:p>
          <a:p>
            <a:pPr marL="0" indent="0" defTabSz="15240" algn="l">
              <a:lnSpc>
                <a:spcPts val="4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14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PREFERENCES TOWARD RISK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Choosing Among Risky Alternatives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Consumption of a single commodity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The consumer knows all probabilities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Payoffs measured in terms of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Utility function given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person is earning $15,000 and receiving 13 units of utility from the job.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She is considering a new, but risky job.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She has a .50 chance of increasing her income to $30,000 and a .50 chance of decreasing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her income to $10,000.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She will evaluate the position by calculating the expected value (utility) of the resulting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expected utility of the new position is the sum of the utilities associated with all 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possible incomes weighted by the probability that each income will occur.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expected utility can be written: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E(u) = (1/2)u($10,000) + (1/2)u($30,000)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= 0.5(10) + 0.5(18)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= 14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E(u) of new job is 14 which is greater than the current utility of 13 and therefore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preferred.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Different Preferences Toward Risk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can be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averse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neutral or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loving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Averse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: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 person who prefers a certain given income to a risky income with the same expected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person is considered risk averse if they have a diminishing marginal utility of income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The use of insurance demonstrates risk aversive behavior.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 Averse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Scenario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person can have a $20,000 job with 100% probability and receive a utility level of 16.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person could have a job with a .5 chance of earning $30,000 and a .5 chance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earning $10,000.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Expected Income =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(0.5)($30,000) + (0.5) ($10,000) = $20,000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Expected income from both jobs is the same -- risk averse may choose current job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expected utility from the new job is found: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E(u) = (1/2)u ($10,000) + (1/2)u($30,000)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E(u) = (0.5)(10) + (0.5)(18) = 14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E(u) of Job 1 is 16 which is greater than the E(u) of Job 2 which is 14.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1870" y="1667510"/>
            <a:ext cx="2694305" cy="26638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41905" y="5467985"/>
            <a:ext cx="2179320" cy="21824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This individual would keep their present job since it provides them with more utility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risky job.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They are said to be risk averse. </a:t>
            </a:r>
            <a:endParaRPr lang="ko-KR" altLang="en-US" dirty="0" smtClean="0" sz="1097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Utility </a:t>
            </a:r>
            <a:endParaRPr lang="ko-KR" altLang="en-US" dirty="0" smtClean="0" sz="11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endParaRPr lang="ko-KR" altLang="en-US" dirty="0" smtClean="0" sz="11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$10,000 and a .5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endParaRPr lang="ko-KR" altLang="en-US" dirty="0" smtClean="0" sz="11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13 </a:t>
            </a:r>
            <a:endParaRPr lang="ko-KR" altLang="en-US" dirty="0" smtClean="0" sz="115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1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endParaRPr lang="ko-KR" altLang="en-US" dirty="0" smtClean="0" sz="1152" b="1"/>
          </a:p>
          <a:p>
            <a:pPr marL="0" indent="0" defTabSz="15240" algn="l">
              <a:lnSpc>
                <a:spcPts val="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15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Risk Neutral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A person is said to be 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risk neutral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if they show no preference between a certain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income, and an uncertain one with the same expected value. </a:t>
            </a:r>
            <a:endParaRPr lang="ko-KR" altLang="en-US" dirty="0" smtClean="0" sz="12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Risk Neutral</a:t>
            </a:r>
            <a:endParaRPr lang="ko-KR" altLang="en-US" dirty="0" smtClean="0" sz="105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Utility</a:t>
            </a:r>
            <a:endParaRPr lang="ko-KR" altLang="en-US" dirty="0" smtClean="0" sz="9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consumer is risk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C 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12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the same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expected income. </a:t>
            </a:r>
            <a:endParaRPr lang="ko-KR" altLang="en-US" dirty="0" smtClean="0" sz="798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6 </a:t>
            </a:r>
            <a:endParaRPr lang="ko-KR" altLang="en-US" dirty="0" smtClean="0" sz="900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Risk Loving </a:t>
            </a:r>
            <a:endParaRPr lang="ko-KR" altLang="en-US" dirty="0" smtClean="0" sz="120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person is said to be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risk loving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if they show a preference toward an uncertain income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a certain income with the same expected value.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Examples: Gambling, some criminal activity </a:t>
            </a:r>
            <a:endParaRPr lang="ko-KR" altLang="en-US" dirty="0" smtClean="0" sz="1097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69</a:t>
            </a:r>
            <a:endParaRPr lang="ko-KR" altLang="en-US" dirty="0" smtClean="0" sz="1200"/>
          </a:p>
        </p:txBody>
      </p:sp>
      <p:sp>
        <p:nvSpPr>
          <p:cNvPr id="314" name="Rect 3"/>
          <p:cNvSpPr>
            <a:spLocks noGrp="1" noChangeArrowheads="1"/>
          </p:cNvSpPr>
          <p:nvPr/>
        </p:nvSpPr>
        <p:spPr>
          <a:xfrm rot="0">
            <a:off x="5327650" y="1776730"/>
            <a:ext cx="1031240" cy="116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would prefer a certain </a:t>
            </a:r>
            <a:endParaRPr lang="ko-KR" altLang="en-US" dirty="0" smtClean="0" sz="798"/>
          </a:p>
        </p:txBody>
      </p:sp>
      <p:sp>
        <p:nvSpPr>
          <p:cNvPr id="315" name="Rect 3"/>
          <p:cNvSpPr>
            <a:spLocks noGrp="1" noChangeArrowheads="1"/>
          </p:cNvSpPr>
          <p:nvPr/>
        </p:nvSpPr>
        <p:spPr>
          <a:xfrm rot="0">
            <a:off x="4873625" y="1545590"/>
            <a:ext cx="1513205" cy="462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consumer is risk </a:t>
            </a:r>
            <a:endParaRPr lang="ko-KR" altLang="en-US" dirty="0" smtClean="0" sz="798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averse because she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of $20,000 to a </a:t>
            </a:r>
            <a:endParaRPr lang="ko-KR" altLang="en-US" dirty="0" smtClean="0" sz="798"/>
          </a:p>
        </p:txBody>
      </p:sp>
      <p:sp>
        <p:nvSpPr>
          <p:cNvPr id="316" name="Rect 3"/>
          <p:cNvSpPr>
            <a:spLocks noGrp="1" noChangeArrowheads="1"/>
          </p:cNvSpPr>
          <p:nvPr/>
        </p:nvSpPr>
        <p:spPr>
          <a:xfrm rot="0">
            <a:off x="2377440" y="1524000"/>
            <a:ext cx="4106545" cy="6141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800" b="1">
                <a:solidFill>
                  <a:srgbClr val="000000"/>
                </a:solidFill>
                <a:latin typeface="Times New Roman"/>
                <a:ea typeface="Times New Roman"/>
              </a:rPr>
              <a:t>Risk Averse</a:t>
            </a:r>
            <a:endParaRPr lang="ko-KR" altLang="en-US" dirty="0" smtClean="0" sz="18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gamble with a .5 probability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probability of $30,000. </a:t>
            </a:r>
            <a:endParaRPr lang="ko-KR" altLang="en-US" dirty="0" smtClean="0" sz="798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152" b="1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Income ($1,000)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endParaRPr lang="ko-KR" altLang="en-US" dirty="0" smtClean="0" sz="1152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E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18 </a:t>
            </a:r>
            <a:endParaRPr lang="ko-KR" altLang="en-US" dirty="0" smtClean="0" sz="900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neutral and is indifferent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certain events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uncertain events </a:t>
            </a:r>
            <a:endParaRPr lang="ko-KR" altLang="en-US" dirty="0" smtClean="0" sz="798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Income ($1,000)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09470" y="801370"/>
            <a:ext cx="2225040" cy="22313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9135" y="5589905"/>
            <a:ext cx="2813050" cy="24568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Utility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consumer is risk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loving because she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would prefer the gamble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 a certain income. </a:t>
            </a:r>
            <a:endParaRPr lang="ko-KR" altLang="en-US" dirty="0" smtClean="0" sz="798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8 </a:t>
            </a:r>
            <a:endParaRPr lang="ko-KR" altLang="en-US" dirty="0" smtClean="0" sz="105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endParaRPr lang="ko-KR" altLang="en-US" dirty="0" smtClean="0" sz="105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Risk Premium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risk premium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amount of money that a risk-averse person would pay to avoid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taking a risk.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 Premium: A Scenario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person has a .5 probability of earning $30,000 and a .5 probability of earning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$10,000 (expected income = $20,000).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expected utility of these two outcomes can be found: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E(u) = .5(18) + .5(10) = 14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much would the person pay to avoid risk?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Premium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Utility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person the same expected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utility as the uncertain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expected value of $20,000.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endParaRPr lang="ko-KR" altLang="en-US" dirty="0" smtClean="0" sz="100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endParaRPr lang="ko-KR" altLang="en-US" dirty="0" smtClean="0" sz="100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endParaRPr lang="ko-KR" altLang="en-US" dirty="0" smtClean="0" sz="1002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002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 Aversion and Income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Variability in potential payoffs increases the risk premium. </a:t>
            </a:r>
            <a:endParaRPr lang="ko-KR" altLang="en-US" dirty="0" smtClean="0" sz="1097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70</a:t>
            </a:r>
            <a:endParaRPr lang="ko-KR" altLang="en-US" dirty="0" smtClean="0" sz="1200"/>
          </a:p>
        </p:txBody>
      </p:sp>
      <p:sp>
        <p:nvSpPr>
          <p:cNvPr id="319" name="Rect 3"/>
          <p:cNvSpPr>
            <a:spLocks noGrp="1" noChangeArrowheads="1"/>
          </p:cNvSpPr>
          <p:nvPr/>
        </p:nvSpPr>
        <p:spPr>
          <a:xfrm rot="0">
            <a:off x="3923030" y="7845425"/>
            <a:ext cx="182372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Income ($1,000)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40 </a:t>
            </a:r>
            <a:endParaRPr lang="ko-KR" altLang="en-US" dirty="0" smtClean="0" sz="1002" b="1"/>
          </a:p>
        </p:txBody>
      </p:sp>
      <p:sp>
        <p:nvSpPr>
          <p:cNvPr id="320" name="Rect 3"/>
          <p:cNvSpPr>
            <a:spLocks noGrp="1" noChangeArrowheads="1"/>
          </p:cNvSpPr>
          <p:nvPr/>
        </p:nvSpPr>
        <p:spPr>
          <a:xfrm rot="0">
            <a:off x="3264535" y="5480050"/>
            <a:ext cx="2768600" cy="2621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Here , the risk premium is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$4,000 because a certain </a:t>
            </a:r>
            <a:endParaRPr lang="ko-KR" altLang="en-US" dirty="0" smtClean="0" sz="798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1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1152" b="1"/>
          </a:p>
        </p:txBody>
      </p:sp>
      <p:sp>
        <p:nvSpPr>
          <p:cNvPr id="321" name="Rect 3"/>
          <p:cNvSpPr>
            <a:spLocks noGrp="1" noChangeArrowheads="1"/>
          </p:cNvSpPr>
          <p:nvPr/>
        </p:nvSpPr>
        <p:spPr>
          <a:xfrm rot="0">
            <a:off x="2444750" y="1021080"/>
            <a:ext cx="3673475" cy="7129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Risk Loving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050" b="1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50" b="1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Income ($1,000)</a:t>
            </a:r>
            <a:endParaRPr lang="ko-KR" altLang="en-US" dirty="0" smtClean="0" sz="900" b="1"/>
          </a:p>
          <a:p>
            <a:pPr marL="0" indent="0" defTabSz="15240" algn="l">
              <a:lnSpc>
                <a:spcPts val="1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Risk Premium 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of $16,000gives the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that has an </a:t>
            </a:r>
            <a:endParaRPr lang="ko-KR" altLang="en-US" dirty="0" smtClean="0" sz="798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C </a:t>
            </a:r>
            <a:endParaRPr lang="ko-KR" altLang="en-US" dirty="0" smtClean="0" sz="11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</a:rPr>
              <a:t>A </a:t>
            </a:r>
            <a:endParaRPr lang="ko-KR" altLang="en-US" dirty="0" smtClean="0" sz="1152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16 </a:t>
            </a:r>
            <a:endParaRPr lang="ko-KR" altLang="en-US" dirty="0" smtClean="0" sz="1002" b="1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16225" y="4057015"/>
            <a:ext cx="2152015" cy="21545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92095" y="6556375"/>
            <a:ext cx="2697480" cy="22371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job has a .5 probability of paying $40,000 (utility of 20) and a .5 chance of paying 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(utility of 0).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The expected income is still $20,000, but the expected utility falls to 10.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Expected utility = .5u($) + .5u($40,000)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= 0 + .5(20) = 10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The certain income of $20,000 has a utility of 16.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If the person is required to take the new position, their utility will fall by 6.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The risk premium is $10,000 (i.e. they would be willing to give up $10,000 of the $20,000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have the same E(u) as the risky job.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Therefore, it can be said that the greater the variability, the greater the risk premium.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					Indifference Curve 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Combinations of expected income &amp; standard deviation of income that yield the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same utility.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                            Risk Aversion and Indifference Curves </a:t>
            </a:r>
            <a:endParaRPr lang="ko-KR" altLang="en-US" dirty="0" smtClean="0" sz="12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64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Expected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Income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large increase in 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648" b="1"/>
          </a:p>
          <a:p>
            <a:pPr marL="0" indent="0" defTabSz="15240" algn="l">
              <a:lnSpc>
                <a:spcPts val="1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Standard Deviation of Income  </a:t>
            </a:r>
            <a:endParaRPr lang="ko-KR" altLang="en-US" dirty="0" smtClean="0" sz="798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Expected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Slightly Risk Averse: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large increase in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standard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deviation requires only a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small increase in income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 maintain satisfaction.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498" b="1"/>
          </a:p>
          <a:p>
            <a:pPr marL="0" indent="0" defTabSz="15240" algn="l">
              <a:lnSpc>
                <a:spcPts val="1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71</a:t>
            </a:r>
            <a:endParaRPr lang="ko-KR" altLang="en-US" dirty="0" smtClean="0" sz="1200"/>
          </a:p>
        </p:txBody>
      </p:sp>
      <p:sp>
        <p:nvSpPr>
          <p:cNvPr id="324" name="Rect 3"/>
          <p:cNvSpPr>
            <a:spLocks noGrp="1" noChangeArrowheads="1"/>
          </p:cNvSpPr>
          <p:nvPr/>
        </p:nvSpPr>
        <p:spPr>
          <a:xfrm rot="0">
            <a:off x="4700270" y="4142105"/>
            <a:ext cx="970280" cy="231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increase in standard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deviation requires a  </a:t>
            </a:r>
            <a:endParaRPr lang="ko-KR" altLang="en-US" dirty="0" smtClean="0" sz="798"/>
          </a:p>
        </p:txBody>
      </p:sp>
      <p:sp>
        <p:nvSpPr>
          <p:cNvPr id="325" name="Rect 3"/>
          <p:cNvSpPr>
            <a:spLocks noGrp="1" noChangeArrowheads="1"/>
          </p:cNvSpPr>
          <p:nvPr/>
        </p:nvSpPr>
        <p:spPr>
          <a:xfrm rot="0">
            <a:off x="4126865" y="4026535"/>
            <a:ext cx="1659255" cy="33280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Highly Risk Averse: An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64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income to maintain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satisfaction. </a:t>
            </a:r>
            <a:endParaRPr lang="ko-KR" altLang="en-US" dirty="0" smtClean="0" sz="798"/>
          </a:p>
          <a:p>
            <a:pPr marL="0" indent="0" defTabSz="15240" algn="l">
              <a:lnSpc>
                <a:spcPts val="1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498" i="1" b="1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Business Executives and the Choice of Risk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Study of 464 executives found that: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20% were risk neutral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40% were risk takers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20% were risk averse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20% did not respond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Those who liked risky situations did so when losses were involved.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When risks involved gains the same, executives opted for less risky situations.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executives made substantial efforts to reduce or eliminate risk by delaying decisions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collecting more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50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15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Reducing Risk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Three ways consumers attempt to reduce risk are: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Diversification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Insurance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Obtaining more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Diversification 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 a firm has a choice of selling air conditioners, heaters, or both.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probability of it being hot or cold is 0.5.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would probably be better off by diversification.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from Sales of Appliances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Hot Weather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Cold Weather</a:t>
            </a:r>
            <a:endParaRPr lang="ko-KR" altLang="en-US" dirty="0" smtClean="0" sz="109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Air conditioner sales            $30,000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$12,000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Heater sales                        12,000                         30,000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* 0.5 probability of hot or cold weather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the firm sells only heaters or air conditioners their income will be either $12,000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$30,000.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Their expected income would be: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1/2($12,000) + 1/2($30,000) = $21,000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the firm divides their time evenly between appliances their air conditioning and heating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sales would be half their original values.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it were hot, their expected income would be $15,000 from air conditioners and $6,000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heaters, or $21,000.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it were cold, their expected income would be $6,000 from air conditioners and $15,000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heaters, or $21,000.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With diversification, expected income is $21,000 with no risk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Firms can reduce risk by diversifying among a variety of activities that are not closely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Stock Market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can diversification reduce the risk of investing in the stock market?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diversification eliminate the risk of investing in the stock market?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Insurance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averse are willing to pay to avoid risk.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cost of insurance equals the expected loss, risk averse people will buy enough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insurance to recover fully from a potential financial loss. </a:t>
            </a:r>
            <a:endParaRPr lang="ko-KR" altLang="en-US" dirty="0" smtClean="0" sz="1097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1040" y="1219200"/>
            <a:ext cx="4861560" cy="4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Decision to Insure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Insurance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Burglary         No Burglary          Expected         Standard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(Pr = .1)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(Pr = .9)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Wealth            Deviation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$40,000                $50,000              $49,000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$9,055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49,000                 49,000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49,000                    0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While the expected wealth is the same, the expected utility with insurance is greater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marginal utility in the event of the loss is greater than if no loss occurs.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Purchases of insurance transfers wealth and increases expected utility.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Law of Large Numbers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Although single events are random and largely unpredictable, the average outcome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similar events can be predicted.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single coin toss vs. large number of coins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Whom will have a car wreck vs. the number of wrecks for a large group of drivers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Assume: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10% chance of a $10,000 loss from a home burglary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Expected loss = .10 x $10,000 = $1,000 with a high risk (10% chance of a $10,000 loss)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people face the same risk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Then: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$1,000 premium generates a $100,000 fund to cover losses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Actuarial Fairness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insurance premium = expected payout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Value of Title Insurance When Buying a House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Scenario: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a house is $200,000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5% chance that the seller does not own the house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 neutral buyer would pay: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(.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95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200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]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8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05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]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4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190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8">
                <a:solidFill>
                  <a:srgbClr val="000000"/>
                </a:solidFill>
                <a:latin typeface="Times New Roman"/>
                <a:ea typeface="Times New Roman"/>
              </a:rPr>
              <a:t>000</a:t>
            </a:r>
            <a:endParaRPr lang="ko-KR" altLang="en-US" dirty="0" smtClean="0" sz="144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 averse buyer would pay much less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By reducing risk, title insurance increases the value of the house by an amount far greater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the premium.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Value of Complete Information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difference between the expected value of a choice with complete information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expected value when information is incomplete.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Suppose a store manager must determine how many fall suits to order: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suits cost $180/suit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50 suits cost $200/suit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of the suits is $300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Suppose a store manager must determine how many fall suits to order: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Unsold suits can be returned for half cost.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probability of selling each quantity is .50.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Decision to Insure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Expected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Sale of 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Sale of 100          Profit </a:t>
            </a:r>
            <a:endParaRPr lang="ko-KR" altLang="en-US" dirty="0" smtClean="0" sz="109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1. Buy 50 suits        $5,000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$5,000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$5,000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2. Buy 100 suits        1,500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12,000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6,750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With incomplete information: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Neutral: Buy 100 suits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Averse: Buy 50 suits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expected value with complete information is $8,500.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8,500 = .5(5,000) + .5(12,000)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expected value with uncertainty (buy 100 suits) is $6,750.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value of complete information is $1,750, or the difference between the two (the amount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store owner would be willing to pay for a marketing study).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capita packed milk consumption has fallen over the years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milk producers engaged in market research to develop new sales strategies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encourage the consumption of packed milk.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Findings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Packed milk demand is seasonal with the greatest demand in the summer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negative and small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positive and large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Milk advertising increases sales most in the summer.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Allocating advertising based on this information in Karachi increased sales by Rs. 400,000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profits by 9%.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cost of the information was relatively low, while the value was substantial.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Demand for Risky Assets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Assets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Something that provides a flow of money or services to its owner.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flow of money or services can be explicit (dividends) or implicit (capital gain).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Capital Gain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in the value of an asset, while a decrease is a capital loss.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Risky &amp; Riskless Assets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Risky Asset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Provides an uncertain flow of money or services to its owner.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Apartment rent, capital gains, corporate bonds, stock prices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Riskless Asset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Provides a flow of money or services that is known with certainty.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Short-term government bonds, short-term certificates of deposit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1640" y="5845810"/>
            <a:ext cx="3322320" cy="26123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Asset Returns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 on an Asset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total monetary flow of an asset as a fraction of its price.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 Return of an Asset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simple (or nominal) return less the rate of inflation.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Asset Returns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249">
                <a:solidFill>
                  <a:srgbClr val="000000"/>
                </a:solidFill>
                <a:latin typeface="Times New Roman"/>
                <a:ea typeface="Times New Roman"/>
              </a:rPr>
              <a:t>Asset Return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4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49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Times New Roman"/>
                <a:ea typeface="Times New Roman"/>
              </a:rPr>
              <a:t>Asset Return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5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5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Expected vs. Actual Returns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Expected Return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 that an asset should earn on average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Actual Return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 that an asset earns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returns are associated with greater risk.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risk-averse investor must balance risk relative to return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Risk and Budget Line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Expected return, 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increases as risk increases.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slope is the price of risk or the risk-return trade-off.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Choosing Between Risk and Return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the optimal choice of those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Expected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Return,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m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*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f </a:t>
            </a:r>
            <a:endParaRPr lang="ko-KR" altLang="en-US" dirty="0" smtClean="0" sz="900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349" b="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76</a:t>
            </a:r>
            <a:endParaRPr lang="ko-KR" altLang="en-US" dirty="0" smtClean="0" sz="1200"/>
          </a:p>
        </p:txBody>
      </p:sp>
      <p:sp>
        <p:nvSpPr>
          <p:cNvPr id="336" name="Rect 3"/>
          <p:cNvSpPr>
            <a:spLocks noGrp="1" noChangeArrowheads="1"/>
          </p:cNvSpPr>
          <p:nvPr/>
        </p:nvSpPr>
        <p:spPr>
          <a:xfrm rot="0">
            <a:off x="4041775" y="8345170"/>
            <a:ext cx="1463675" cy="347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475" i="1">
                <a:solidFill>
                  <a:srgbClr val="000000"/>
                </a:solidFill>
                <a:latin typeface="Times New Roman"/>
              </a:rPr>
              <a:t>m</a:t>
            </a:r>
            <a:endParaRPr lang="ko-KR" altLang="en-US" dirty="0" smtClean="0" sz="475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Return,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σ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600" i="1" b="1"/>
          </a:p>
        </p:txBody>
      </p:sp>
      <p:sp>
        <p:nvSpPr>
          <p:cNvPr id="337" name="Rect 3"/>
          <p:cNvSpPr>
            <a:spLocks noGrp="1" noChangeArrowheads="1"/>
          </p:cNvSpPr>
          <p:nvPr/>
        </p:nvSpPr>
        <p:spPr>
          <a:xfrm rot="0">
            <a:off x="3989705" y="8333105"/>
            <a:ext cx="177800" cy="307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202" b="1">
                <a:solidFill>
                  <a:srgbClr val="000000"/>
                </a:solidFill>
                <a:latin typeface="Times New Roman"/>
              </a:rPr>
              <a:t>σ</a:t>
            </a:r>
            <a:endParaRPr lang="ko-KR" altLang="en-US" dirty="0" smtClean="0" sz="2202" b="1"/>
          </a:p>
        </p:txBody>
      </p:sp>
      <p:sp>
        <p:nvSpPr>
          <p:cNvPr id="338" name="Rect 3"/>
          <p:cNvSpPr>
            <a:spLocks noGrp="1" noChangeArrowheads="1"/>
          </p:cNvSpPr>
          <p:nvPr/>
        </p:nvSpPr>
        <p:spPr>
          <a:xfrm rot="0">
            <a:off x="3956050" y="8268970"/>
            <a:ext cx="2189480" cy="2838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15">
                <a:solidFill>
                  <a:srgbClr val="000000"/>
                </a:solidFill>
                <a:latin typeface="Symbol"/>
              </a:rPr>
              <a:t>σ</a:t>
            </a:r>
            <a:endParaRPr lang="ko-KR" altLang="en-US" dirty="0" smtClean="0" sz="815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Standard Deviation of </a:t>
            </a:r>
            <a:endParaRPr lang="ko-KR" altLang="en-US" dirty="0" smtClean="0" sz="900" b="1"/>
          </a:p>
        </p:txBody>
      </p:sp>
      <p:sp>
        <p:nvSpPr>
          <p:cNvPr id="339" name="Rect 3"/>
          <p:cNvSpPr>
            <a:spLocks noGrp="1" noChangeArrowheads="1"/>
          </p:cNvSpPr>
          <p:nvPr/>
        </p:nvSpPr>
        <p:spPr>
          <a:xfrm rot="0">
            <a:off x="3078480" y="2700655"/>
            <a:ext cx="2353945" cy="5982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Times New Roman"/>
                <a:ea typeface="Times New Roman"/>
              </a:rPr>
              <a:t>10%</a:t>
            </a:r>
            <a:endParaRPr lang="ko-KR" altLang="en-US" dirty="0" smtClean="0" sz="1251"/>
          </a:p>
          <a:p>
            <a:pPr marL="0" indent="0" defTabSz="15240" algn="l">
              <a:lnSpc>
                <a:spcPts val="2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line. </a:t>
            </a:r>
            <a:endParaRPr lang="ko-KR" altLang="en-US" dirty="0" smtClean="0" sz="798"/>
          </a:p>
          <a:p>
            <a:pPr marL="0" indent="0" defTabSz="15240" algn="l">
              <a:lnSpc>
                <a:spcPts val="1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202" b="1">
                <a:solidFill>
                  <a:srgbClr val="000000"/>
                </a:solidFill>
                <a:latin typeface="Times New Roman"/>
                <a:ea typeface="Times New Roman"/>
              </a:rPr>
              <a:t>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452" b="1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endParaRPr lang="ko-KR" altLang="en-US" dirty="0" smtClean="0" sz="1452" b="1"/>
          </a:p>
        </p:txBody>
      </p:sp>
      <p:sp>
        <p:nvSpPr>
          <p:cNvPr id="340" name="Rect 3"/>
          <p:cNvSpPr>
            <a:spLocks noGrp="1" noChangeArrowheads="1"/>
          </p:cNvSpPr>
          <p:nvPr/>
        </p:nvSpPr>
        <p:spPr>
          <a:xfrm rot="0">
            <a:off x="2871470" y="1993265"/>
            <a:ext cx="3441700" cy="6510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249">
                <a:solidFill>
                  <a:srgbClr val="000000"/>
                </a:solidFill>
                <a:latin typeface="Times New Roman"/>
                <a:ea typeface="Times New Roman"/>
              </a:rPr>
              <a:t>Monetary Flow</a:t>
            </a:r>
            <a:endParaRPr lang="ko-KR" altLang="en-US" dirty="0" smtClean="0" sz="1249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49">
                <a:solidFill>
                  <a:srgbClr val="000000"/>
                </a:solidFill>
                <a:latin typeface="Times New Roman"/>
                <a:ea typeface="Times New Roman"/>
              </a:rPr>
              <a:t>Purchase Price</a:t>
            </a:r>
            <a:endParaRPr lang="ko-KR" altLang="en-US" dirty="0" smtClean="0" sz="1249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Times New Roman"/>
                <a:ea typeface="Times New Roman"/>
              </a:rPr>
              <a:t> Flow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Times New Roman"/>
                <a:ea typeface="Times New Roman"/>
              </a:rPr>
              <a:t>$100/yr.</a:t>
            </a:r>
            <a:endParaRPr lang="ko-KR" altLang="en-US" dirty="0" smtClean="0" sz="125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Times New Roman"/>
                <a:ea typeface="Times New Roman"/>
              </a:rPr>
              <a:t>Bond Price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51">
                <a:solidFill>
                  <a:srgbClr val="000000"/>
                </a:solidFill>
                <a:latin typeface="Times New Roman"/>
                <a:ea typeface="Times New Roman"/>
              </a:rPr>
              <a:t>$1,000</a:t>
            </a:r>
            <a:endParaRPr lang="ko-KR" altLang="en-US" dirty="0" smtClean="0" sz="1251"/>
          </a:p>
          <a:p>
            <a:pPr marL="0" indent="0" defTabSz="15240" algn="l">
              <a:lnSpc>
                <a:spcPts val="2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obtainable, since it gives the highest return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for a given risk and is tangent to the budget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Budget Line </a:t>
            </a:r>
            <a:endParaRPr lang="ko-KR" altLang="en-US" dirty="0" smtClean="0" sz="1200" b="1"/>
          </a:p>
          <a:p>
            <a:pPr marL="0" indent="0" defTabSz="15240" algn="l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15">
                <a:solidFill>
                  <a:srgbClr val="000000"/>
                </a:solidFill>
                <a:latin typeface="Symbol"/>
                <a:ea typeface="Symbol"/>
              </a:rPr>
              <a:t>σ∗</a:t>
            </a:r>
            <a:endParaRPr lang="ko-KR" altLang="en-US" dirty="0" smtClean="0" sz="815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5335" y="1435735"/>
            <a:ext cx="3264535" cy="280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Choices of Two Different Investors </a:t>
            </a:r>
            <a:endParaRPr lang="ko-KR" altLang="en-US" dirty="0" smtClean="0" sz="1097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Expected </a:t>
            </a:r>
            <a:endParaRPr lang="ko-KR" altLang="en-US" dirty="0" smtClean="0" sz="12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Return,R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</a:rPr>
              <a:t>p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97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A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m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line, investor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chooses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while investor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B</a:t>
            </a:r>
            <a:endParaRPr lang="ko-KR" altLang="en-US" dirty="0" smtClean="0" sz="1002" i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A 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f </a:t>
            </a:r>
            <a:endParaRPr lang="ko-KR" altLang="en-US" dirty="0" smtClean="0" sz="900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349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1349" b="1"/>
          </a:p>
          <a:p>
            <a:pPr marL="0" indent="0" defTabSz="15240" algn="l">
              <a:lnSpc>
                <a:spcPts val="4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77</a:t>
            </a:r>
            <a:endParaRPr lang="ko-KR" altLang="en-US" dirty="0" smtClean="0" sz="1200"/>
          </a:p>
        </p:txBody>
      </p:sp>
      <p:sp>
        <p:nvSpPr>
          <p:cNvPr id="343" name="Rect 3"/>
          <p:cNvSpPr>
            <a:spLocks noGrp="1" noChangeArrowheads="1"/>
          </p:cNvSpPr>
          <p:nvPr/>
        </p:nvSpPr>
        <p:spPr>
          <a:xfrm rot="0">
            <a:off x="5410200" y="4154170"/>
            <a:ext cx="1064895" cy="295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</a:rPr>
              <a:t>Standard Deviation </a:t>
            </a:r>
            <a:endParaRPr lang="ko-KR" altLang="en-US" dirty="0" smtClean="0" sz="94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</a:rPr>
              <a:t>of Return 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</a:rPr>
              <a:t>σ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P </a:t>
            </a:r>
            <a:endParaRPr lang="ko-KR" altLang="en-US" dirty="0" smtClean="0" sz="701" b="1"/>
          </a:p>
        </p:txBody>
      </p:sp>
      <p:sp>
        <p:nvSpPr>
          <p:cNvPr id="344" name="Rect 3"/>
          <p:cNvSpPr>
            <a:spLocks noGrp="1" noChangeArrowheads="1"/>
          </p:cNvSpPr>
          <p:nvPr/>
        </p:nvSpPr>
        <p:spPr>
          <a:xfrm rot="0">
            <a:off x="2813050" y="1289050"/>
            <a:ext cx="3281045" cy="3152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397" b="1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B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Budget line</a:t>
            </a:r>
            <a:endParaRPr lang="ko-KR" altLang="en-US" dirty="0" smtClean="0" sz="1200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Given the same budget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low return-low risk, 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chooses high return-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high risk. </a:t>
            </a:r>
            <a:endParaRPr lang="ko-KR" altLang="en-US" dirty="0" smtClean="0" sz="1002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902" i="1">
                <a:solidFill>
                  <a:srgbClr val="000000"/>
                </a:solidFill>
                <a:latin typeface="Times New Roman"/>
              </a:rPr>
              <a:t>σ</a:t>
            </a:r>
            <a:r>
              <a:rPr lang="en-US" altLang="ko-KR" dirty="0" smtClean="0" sz="1247" i="1">
                <a:solidFill>
                  <a:srgbClr val="000000"/>
                </a:solidFill>
                <a:latin typeface="Times New Roman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902" i="1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lang="en-US" altLang="ko-KR" dirty="0" smtClean="0" sz="1247" i="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902" i="1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lang="en-US" altLang="ko-KR" dirty="0" smtClean="0" sz="1247" i="1">
                <a:solidFill>
                  <a:srgbClr val="000000"/>
                </a:solidFill>
                <a:latin typeface="Times New Roman"/>
              </a:rPr>
              <a:t>m</a:t>
            </a:r>
            <a:endParaRPr lang="ko-KR" altLang="en-US" dirty="0" smtClean="0" sz="1247" i="1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16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Our focus is the supply side.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theory of the firm will address: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a firm makes cost-minimizing production decisions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cost varies with output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Characteristics of market supply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Technology of Production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Production Process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Combining inputs or factors of production to achieve an output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Categories of Inputs (factors of production)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Materials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Production Function: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Indicates the highest output that a firm can produce for every specified combination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inputs given the state of technology.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Shows what is technically feasible when the firm operates efficiently.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production functions for two inputs: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F(K,L)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Q = Output, K = Capital, L = Labor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For a given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Isoquants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Food producer has two inputs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(L) &amp; Capital (K)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For any level of K, output increases with more 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For any level of L, output increases with more 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Various combinations of inputs produce the same output.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Isoquants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 showing all possible combinations of inputs that yield the same output </a:t>
            </a:r>
            <a:endParaRPr lang="ko-KR" altLang="en-US" dirty="0" smtClean="0" sz="1097"/>
          </a:p>
          <a:p>
            <a:pPr marL="0" indent="0" defTabSz="15240" algn="l">
              <a:lnSpc>
                <a:spcPts val="1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3150" y="1889760"/>
            <a:ext cx="5488940" cy="17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78150" y="4288790"/>
            <a:ext cx="2456180" cy="19932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Production Function for Food </a:t>
            </a:r>
            <a:endParaRPr lang="ko-KR" altLang="en-US" dirty="0" smtClean="0" sz="12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Labor Input </a:t>
            </a:r>
            <a:endParaRPr lang="ko-KR" altLang="en-US" dirty="0" smtClean="0" sz="12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Capitan Input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1                       2             3           4               5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          1                   20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55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65            75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           2                    40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75          85            90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           3                   55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90        100         105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          4                    65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100        110         115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           5                    75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      90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 105      115        120 </a:t>
            </a:r>
            <a:endParaRPr lang="ko-KR" altLang="en-US" dirty="0" smtClean="0" sz="1200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                            Production with Two Variable Inputs (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L,K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2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year </a:t>
            </a:r>
            <a:endParaRPr lang="ko-KR" altLang="en-US" dirty="0" smtClean="0" sz="798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749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isoquants are derived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from the production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749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49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90</a:t>
            </a:r>
            <a:endParaRPr lang="ko-KR" altLang="en-US" dirty="0" smtClean="0" sz="749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49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55</a:t>
            </a:r>
            <a:endParaRPr lang="ko-KR" altLang="en-US" dirty="0" smtClean="0" sz="749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Labor per year </a:t>
            </a:r>
            <a:endParaRPr lang="ko-KR" altLang="en-US" dirty="0" smtClean="0" sz="798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Input Flexibility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The isoquants emphasize how different input combinations can be used to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produce the same output. </a:t>
            </a:r>
            <a:endParaRPr lang="ko-KR" altLang="en-US" dirty="0" smtClean="0" sz="12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This information allows the producer to respond efficiently to changes in the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markets for inputs.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The Short Run vs. long Run </a:t>
            </a:r>
            <a:endParaRPr lang="ko-KR" altLang="en-US" dirty="0" smtClean="0" sz="120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Short-run: 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Period of time in which quantities of one or more production factors cannot be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changed.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These inputs are called fixed inputs.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Long-run </a:t>
            </a:r>
            <a:endParaRPr lang="ko-KR" altLang="en-US" dirty="0" smtClean="0" sz="120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Amount of time needed to make all production inputs variable. </a:t>
            </a:r>
            <a:endParaRPr lang="ko-KR" altLang="en-US" dirty="0" smtClean="0" sz="120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79</a:t>
            </a:r>
            <a:endParaRPr lang="ko-KR" altLang="en-US" dirty="0" smtClean="0" sz="1200"/>
          </a:p>
        </p:txBody>
      </p:sp>
      <p:sp>
        <p:nvSpPr>
          <p:cNvPr id="349" name="Rect 3"/>
          <p:cNvSpPr>
            <a:spLocks noGrp="1" noChangeArrowheads="1"/>
          </p:cNvSpPr>
          <p:nvPr/>
        </p:nvSpPr>
        <p:spPr>
          <a:xfrm rot="0">
            <a:off x="4410710" y="4300855"/>
            <a:ext cx="997585" cy="127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The Isoquant Map</a:t>
            </a:r>
            <a:endParaRPr lang="ko-KR" altLang="en-US" dirty="0" smtClean="0" sz="900" b="1"/>
          </a:p>
        </p:txBody>
      </p:sp>
      <p:sp>
        <p:nvSpPr>
          <p:cNvPr id="350" name="Rect 3"/>
          <p:cNvSpPr>
            <a:spLocks noGrp="1" noChangeArrowheads="1"/>
          </p:cNvSpPr>
          <p:nvPr/>
        </p:nvSpPr>
        <p:spPr>
          <a:xfrm rot="0">
            <a:off x="3724910" y="4382770"/>
            <a:ext cx="2067560" cy="16217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function for output of </a:t>
            </a:r>
            <a:endParaRPr lang="ko-KR" altLang="en-US" dirty="0" smtClean="0" sz="798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75</a:t>
            </a:r>
            <a:endParaRPr lang="ko-KR" altLang="en-US" dirty="0" smtClean="0" sz="749" b="1"/>
          </a:p>
        </p:txBody>
      </p:sp>
      <p:sp>
        <p:nvSpPr>
          <p:cNvPr id="351" name="Rect 3"/>
          <p:cNvSpPr>
            <a:spLocks noGrp="1" noChangeArrowheads="1"/>
          </p:cNvSpPr>
          <p:nvPr/>
        </p:nvSpPr>
        <p:spPr>
          <a:xfrm rot="0">
            <a:off x="2880360" y="4416425"/>
            <a:ext cx="2844800" cy="15455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749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55, 75, and 90. </a:t>
            </a:r>
            <a:endParaRPr lang="ko-KR" altLang="en-US" dirty="0" smtClean="0" sz="798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49" i="1" b="1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Production with One Variable Input (Labor)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Amount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Amount            Total            Average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Labor (L)    of Capital (K)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Output (Q)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10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---                     ---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1                 10                     10        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10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2                 10                     30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20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3                 10                     60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20                       30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10                     80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20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5                 10                     95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19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15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     6                 10                    108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          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             13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7                   10                     112                        16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8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10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112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9                   10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108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12                       -4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10                  10                     100                        10                         -8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Observations: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1) 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additional workers, output (Q) increases, reaches a maximum, and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		The average product of labor (AP), or output per worker, increases and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625" i="1">
                <a:solidFill>
                  <a:srgbClr val="000000"/>
                </a:solidFill>
                <a:latin typeface="Times New Roman"/>
                <a:ea typeface="Times New Roman"/>
              </a:rPr>
              <a:t>AP</a:t>
            </a:r>
            <a:endParaRPr lang="ko-KR" altLang="en-US" dirty="0" smtClean="0" sz="1625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            3)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marginal product of labor (MP), or output of the additional worker,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 rapidly initially and then decreases and becomes negative.. </a:t>
            </a:r>
            <a:endParaRPr lang="ko-KR" altLang="en-US" dirty="0" smtClean="0" sz="1097"/>
          </a:p>
          <a:p>
            <a:pPr marL="0" indent="0" defTabSz="15240" algn="l">
              <a:lnSpc>
                <a:spcPts val="1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endParaRPr lang="ko-KR" altLang="en-US" dirty="0" smtClean="0" sz="1200"/>
          </a:p>
        </p:txBody>
      </p:sp>
      <p:sp>
        <p:nvSpPr>
          <p:cNvPr id="354" name="Rect 3"/>
          <p:cNvSpPr>
            <a:spLocks noGrp="1" noChangeArrowheads="1"/>
          </p:cNvSpPr>
          <p:nvPr/>
        </p:nvSpPr>
        <p:spPr>
          <a:xfrm rot="0">
            <a:off x="2563495" y="6165850"/>
            <a:ext cx="1543050" cy="51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625" i="1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162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625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25" i="1">
                <a:solidFill>
                  <a:srgbClr val="000000"/>
                </a:solidFill>
                <a:latin typeface="Times New Roman"/>
              </a:rPr>
              <a:t>Labor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625" i="1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625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625" i="1"/>
          </a:p>
        </p:txBody>
      </p:sp>
      <p:sp>
        <p:nvSpPr>
          <p:cNvPr id="355" name="Rect 3"/>
          <p:cNvSpPr>
            <a:spLocks noGrp="1" noChangeArrowheads="1"/>
          </p:cNvSpPr>
          <p:nvPr/>
        </p:nvSpPr>
        <p:spPr>
          <a:xfrm rot="0">
            <a:off x="2365375" y="6272530"/>
            <a:ext cx="151574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25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62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625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7000" y="1645920"/>
            <a:ext cx="2066290" cy="19748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31390" y="4297680"/>
            <a:ext cx="1962785" cy="20027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12" i="1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r>
              <a:rPr lang="en-US" altLang="ko-KR" dirty="0" smtClean="0" sz="940" i="1">
                <a:solidFill>
                  <a:srgbClr val="000000"/>
                </a:solidFill>
                <a:latin typeface="Times New Roman"/>
              </a:rPr>
              <a:t>	 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61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612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per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Month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112 </a:t>
            </a:r>
            <a:endParaRPr lang="ko-KR" altLang="en-US" dirty="0" smtClean="0" sz="947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94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60 </a:t>
            </a:r>
            <a:endParaRPr lang="ko-KR" altLang="en-US" dirty="0" smtClean="0" sz="94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Times New Roman"/>
                <a:ea typeface="Times New Roman"/>
              </a:rPr>
              <a:t>C:  slope of OC= MP &amp; AP</a:t>
            </a:r>
            <a:endParaRPr lang="ko-KR" altLang="en-US" dirty="0" smtClean="0" sz="94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94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2 3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947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Observations: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Month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decreasing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endParaRPr lang="ko-KR" altLang="en-US" dirty="0" smtClean="0" sz="100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Marginal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endParaRPr lang="ko-KR" altLang="en-US" dirty="0" smtClean="0" sz="1002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endParaRPr lang="ko-KR" altLang="en-US" dirty="0" smtClean="0" sz="1002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2 3 4 5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00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MP = 0, TP is at its maximum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MP &gt; AP, AP is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MP &lt; AP, AP  is decreasing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MP = AP, AP is at its maximum </a:t>
            </a:r>
            <a:endParaRPr lang="ko-KR" altLang="en-US" dirty="0" smtClean="0" sz="1097"/>
          </a:p>
          <a:p>
            <a:pPr marL="0" indent="0" defTabSz="15240" algn="l">
              <a:lnSpc>
                <a:spcPts val="1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81</a:t>
            </a:r>
            <a:endParaRPr lang="ko-KR" altLang="en-US" dirty="0" smtClean="0" sz="1200"/>
          </a:p>
        </p:txBody>
      </p:sp>
      <p:sp>
        <p:nvSpPr>
          <p:cNvPr id="358" name="Rect 3"/>
          <p:cNvSpPr>
            <a:spLocks noGrp="1" noChangeArrowheads="1"/>
          </p:cNvSpPr>
          <p:nvPr/>
        </p:nvSpPr>
        <p:spPr>
          <a:xfrm rot="0">
            <a:off x="4846320" y="859790"/>
            <a:ext cx="174625" cy="514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12" i="1">
                <a:solidFill>
                  <a:srgbClr val="000000"/>
                </a:solidFill>
                <a:latin typeface="Times New Roman"/>
              </a:rPr>
              <a:t>Q</a:t>
            </a:r>
            <a:endParaRPr lang="ko-KR" altLang="en-US" dirty="0" smtClean="0" sz="1612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12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612" i="1"/>
          </a:p>
        </p:txBody>
      </p:sp>
      <p:sp>
        <p:nvSpPr>
          <p:cNvPr id="359" name="Rect 3"/>
          <p:cNvSpPr>
            <a:spLocks noGrp="1" noChangeArrowheads="1"/>
          </p:cNvSpPr>
          <p:nvPr/>
        </p:nvSpPr>
        <p:spPr>
          <a:xfrm rot="0">
            <a:off x="4218305" y="966470"/>
            <a:ext cx="1613535" cy="441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61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612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947">
                <a:solidFill>
                  <a:srgbClr val="000000"/>
                </a:solidFill>
                <a:latin typeface="Times New Roman"/>
                <a:ea typeface="Times New Roman"/>
              </a:rPr>
              <a:t>A: slope of tangent = MP (20)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947">
                <a:solidFill>
                  <a:srgbClr val="000000"/>
                </a:solidFill>
                <a:latin typeface="Times New Roman"/>
                <a:ea typeface="Times New Roman"/>
              </a:rPr>
              <a:t>B: slope of OB = AP (20) </a:t>
            </a:r>
            <a:endParaRPr lang="ko-KR" altLang="en-US" dirty="0" smtClean="0" sz="947"/>
          </a:p>
          <a:p>
            <a:pPr marL="0" indent="0" defTabSz="15240" algn="l">
              <a:lnSpc>
                <a:spcPts val="1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  <a:ea typeface="Arial"/>
              </a:rPr>
              <a:t>Average Product</a:t>
            </a:r>
            <a:endParaRPr lang="ko-KR" altLang="en-US" dirty="0" smtClean="0" sz="900" b="1"/>
          </a:p>
        </p:txBody>
      </p:sp>
      <p:sp>
        <p:nvSpPr>
          <p:cNvPr id="360" name="Rect 3"/>
          <p:cNvSpPr>
            <a:spLocks noGrp="1" noChangeArrowheads="1"/>
          </p:cNvSpPr>
          <p:nvPr/>
        </p:nvSpPr>
        <p:spPr>
          <a:xfrm rot="0">
            <a:off x="2995930" y="835025"/>
            <a:ext cx="3670935" cy="5645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61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12" i="1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61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612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61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12" i="1">
                <a:solidFill>
                  <a:srgbClr val="000000"/>
                </a:solidFill>
                <a:latin typeface="Times New Roman"/>
                <a:ea typeface="Times New Roman"/>
              </a:rPr>
              <a:t>Labor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612" i="1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61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612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947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Total Product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947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Labor per Month </a:t>
            </a:r>
            <a:endParaRPr lang="ko-KR" altLang="en-US" dirty="0" smtClean="0" sz="900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Left of E: MP &gt; AP &amp; AP is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increasing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Right of E: MP &lt; AP &amp; AP is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E: MP = AP &amp; AP is at its maximum </a:t>
            </a:r>
            <a:endParaRPr lang="ko-KR" altLang="en-US" dirty="0" smtClean="0" sz="798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 </a:t>
            </a:r>
            <a:endParaRPr lang="ko-KR" altLang="en-US" dirty="0" smtClean="0" sz="1200" b="1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per Month</a:t>
            </a:r>
            <a:endParaRPr lang="ko-KR" altLang="en-US" dirty="0" smtClean="0" sz="9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86840" y="1908175"/>
            <a:ext cx="1758950" cy="16852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31920" y="2054225"/>
            <a:ext cx="1536065" cy="161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36775" y="6099175"/>
            <a:ext cx="2480945" cy="281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AP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 of line from origin to a point on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lines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b, &amp; c.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MP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 of a tangent to any point on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line, lines a &amp; c.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The Law of Diminishing Marginal Returns </a:t>
            </a:r>
            <a:endParaRPr lang="ko-KR" altLang="en-US" dirty="0" smtClean="0" sz="109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Month </a:t>
            </a:r>
            <a:endParaRPr lang="ko-KR" altLang="en-US" dirty="0" smtClean="0" sz="9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112 </a:t>
            </a:r>
            <a:endParaRPr lang="ko-KR" altLang="en-US" dirty="0" smtClean="0" sz="10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C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60 </a:t>
            </a:r>
            <a:endParaRPr lang="ko-KR" altLang="en-US" dirty="0" smtClean="0" sz="105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2 3 4 5 6 7 8 9 10</a:t>
            </a:r>
            <a:endParaRPr lang="ko-KR" altLang="en-US" dirty="0" smtClean="0" sz="105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the use of an input increases in equal increments, a point will be reached at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resulting additions to output decreases (i.e. MP declines).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labor input is small, MP increases due to specialization.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labor input is large, MP decreases due to inefficiencies.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Law of Diminishing Marginal Returns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be used for long-run decisions to evaluate the trade-offs of different plant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configurations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Assumes the quality of the variable input is constant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Explains a declining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not necessarily a negative one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Assumes a constant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The Effect of Technological Improvement </a:t>
            </a:r>
            <a:endParaRPr lang="ko-KR" altLang="en-US" dirty="0" smtClean="0" sz="12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time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period 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70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labor.</a:t>
            </a:r>
            <a:endParaRPr lang="ko-KR" altLang="en-US" dirty="0" smtClean="0" sz="798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70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per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2 3 4 5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097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82</a:t>
            </a:r>
            <a:endParaRPr lang="ko-KR" altLang="en-US" dirty="0" smtClean="0" sz="1200"/>
          </a:p>
        </p:txBody>
      </p:sp>
      <p:sp>
        <p:nvSpPr>
          <p:cNvPr id="363" name="Rect 3"/>
          <p:cNvSpPr>
            <a:spLocks noGrp="1" noChangeArrowheads="1"/>
          </p:cNvSpPr>
          <p:nvPr/>
        </p:nvSpPr>
        <p:spPr>
          <a:xfrm rot="0">
            <a:off x="5541010" y="3657600"/>
            <a:ext cx="610870" cy="128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Month </a:t>
            </a:r>
            <a:endParaRPr lang="ko-KR" altLang="en-US" dirty="0" smtClean="0" sz="900" b="1"/>
          </a:p>
        </p:txBody>
      </p:sp>
      <p:sp>
        <p:nvSpPr>
          <p:cNvPr id="364" name="Rect 3"/>
          <p:cNvSpPr>
            <a:spLocks noGrp="1" noChangeArrowheads="1"/>
          </p:cNvSpPr>
          <p:nvPr/>
        </p:nvSpPr>
        <p:spPr>
          <a:xfrm rot="0">
            <a:off x="3477895" y="1892935"/>
            <a:ext cx="2436495" cy="5254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Month</a:t>
            </a:r>
            <a:endParaRPr lang="ko-KR" altLang="en-US" dirty="0" smtClean="0" sz="900" b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152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2 3 4 5 6 7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9 10 </a:t>
            </a:r>
            <a:endParaRPr lang="ko-KR" altLang="en-US" dirty="0" smtClean="0" sz="1050" b="1"/>
          </a:p>
          <a:p>
            <a:pPr marL="0" indent="0" defTabSz="15240" algn="l">
              <a:lnSpc>
                <a:spcPts val="2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Labor productivity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are improvements in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any given production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process exhibits </a:t>
            </a:r>
            <a:endParaRPr lang="ko-KR" altLang="en-US" dirty="0" smtClean="0" sz="798"/>
          </a:p>
        </p:txBody>
      </p:sp>
      <p:sp>
        <p:nvSpPr>
          <p:cNvPr id="365" name="Rect 3"/>
          <p:cNvSpPr>
            <a:spLocks noGrp="1" noChangeArrowheads="1"/>
          </p:cNvSpPr>
          <p:nvPr/>
        </p:nvSpPr>
        <p:spPr>
          <a:xfrm rot="0">
            <a:off x="1953895" y="1999615"/>
            <a:ext cx="3945255" cy="68821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D </a:t>
            </a:r>
            <a:endParaRPr lang="ko-KR" altLang="en-US" dirty="0" smtClean="0" sz="105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1152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</a:rPr>
              <a:t>B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1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Month</a:t>
            </a:r>
            <a:endParaRPr lang="ko-KR" altLang="en-US" dirty="0" smtClean="0" sz="900" b="1"/>
          </a:p>
          <a:p>
            <a:pPr marL="0" indent="0" defTabSz="15240" algn="l">
              <a:lnSpc>
                <a:spcPts val="2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can increase if there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technology, even though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diminishing returns to </a:t>
            </a:r>
            <a:endParaRPr lang="ko-KR" altLang="en-US" dirty="0" smtClean="0" sz="798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701" b="1"/>
          </a:p>
          <a:p>
            <a:pPr marL="0" indent="0" defTabSz="15240" algn="l">
              <a:lnSpc>
                <a:spcPts val="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time period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Malthus and the Food Crisis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Malthus predicted mass hunger and starvation as diminishing returns limited agricultural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and the population continued to grow.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Why did Malthus’ prediction fail?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Index of World Food Consumption Per Capita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Year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Index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      1948-1952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100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          1960                               115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1970                             123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1980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128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1990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137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1995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135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             1998                             140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data show that production increases have exceeded population growth.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Malthus did not take into consideration the potential impact of technology which has allowed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supply of food to grow faster than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Technology has created surpluses and driven the price down.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food surpluses exist, why is there hunger?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Answer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cost of distributing food from productive regions to unproductive regions and the low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levels of the non-productive regions.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Labor Productivity 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Average Productivity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Labor Productivity and the Standard of Living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can increase only if productivity increases.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Determinants of Productivity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Stock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Technological change </a:t>
            </a:r>
            <a:endParaRPr lang="ko-KR" altLang="en-US" dirty="0" smtClean="0" sz="1097"/>
          </a:p>
          <a:p>
            <a:pPr marL="0" indent="0" defTabSz="15240" algn="l">
              <a:lnSpc>
                <a:spcPts val="2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83</a:t>
            </a:r>
            <a:endParaRPr lang="ko-KR" altLang="en-US" dirty="0" smtClean="0" sz="1200"/>
          </a:p>
        </p:txBody>
      </p:sp>
      <p:sp>
        <p:nvSpPr>
          <p:cNvPr id="368" name="Rect 3"/>
          <p:cNvSpPr>
            <a:spLocks noGrp="1" noChangeArrowheads="1"/>
          </p:cNvSpPr>
          <p:nvPr/>
        </p:nvSpPr>
        <p:spPr>
          <a:xfrm rot="0">
            <a:off x="3959225" y="5184775"/>
            <a:ext cx="108331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Total Output</a:t>
            </a:r>
            <a:endParaRPr lang="ko-KR" altLang="en-US" dirty="0" smtClean="0" sz="110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1">
                <a:solidFill>
                  <a:srgbClr val="000000"/>
                </a:solidFill>
                <a:latin typeface="Times New Roman"/>
              </a:rPr>
              <a:t> Total Labor Input</a:t>
            </a:r>
            <a:endParaRPr lang="ko-KR" altLang="en-US" dirty="0" smtClean="0" sz="1101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2150" y="1515110"/>
            <a:ext cx="4791075" cy="12433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Labor Productivity in Developed Countries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United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United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France    Germany          Japan         Kingdom          States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Output per Employed Person (1997)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$54,507     $55,644       $46,048        $42,630         $60,915 </a:t>
            </a:r>
            <a:endParaRPr lang="ko-KR" altLang="en-US" dirty="0" smtClean="0" sz="1097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Annual Rate of Growth of Labor Productivity (%)</a:t>
            </a:r>
            <a:endParaRPr lang="ko-KR" altLang="en-US" dirty="0" smtClean="0" sz="109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1960-1973         4.75         4.04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8.30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2.89             2.36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1974-1986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2.10         1.85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2.50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1.69             0.71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1987-1997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1.48         2.00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1.94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1.02            1.09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Trends in Productivity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U.S. productivity is growing at a slower rate than other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Productivity growth in developed countries has been decreasing.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Explanations for Productivity Growth Slowdown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Growth in the stock of capital is the primary determinant of the growth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Rate of capital accumulation in the U.S. was slower than other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developed countries because the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others were rebuilding after WWII.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Depletion of natural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4) Environment regulations </a:t>
            </a:r>
            <a:endParaRPr lang="ko-KR" altLang="en-US" dirty="0" smtClean="0" sz="1097"/>
          </a:p>
          <a:p>
            <a:pPr marL="0" indent="0" defTabSz="15240" algn="l">
              <a:lnSpc>
                <a:spcPts val="2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94305" y="2575560"/>
            <a:ext cx="2539365" cy="2069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69210" y="8174990"/>
            <a:ext cx="210820" cy="2800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17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Production with Two Variable Inputs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There is a relationship between production and productivity.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Long-run production K&amp; L are variable.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Isoquants analyze and compare the different combinations of K &amp; L and output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Shape of Isoquants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year 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endParaRPr lang="ko-KR" altLang="en-US" dirty="0" smtClean="0" sz="10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variable and both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= 55</a:t>
            </a:r>
            <a:endParaRPr lang="ko-KR" altLang="en-US" dirty="0" smtClean="0" sz="100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per year </a:t>
            </a:r>
            <a:endParaRPr lang="ko-KR" altLang="en-US" dirty="0" smtClean="0" sz="9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Diminishing Marginal Rate of Substitution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Reading the Isoquant Model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 Assume capital is 3 and labor increases from 0 to 1 to 2 to 3. 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Notice output increases at a decreasing rate (55, 20, 15) illustrating diminishing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returns from labor in the short-run and long-run.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   Assume labor is 3 and capital increases from 0 to 1 to 2 to 3.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also increases at a decreasing rate (55, 20, 15) due to diminishing returns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Substituting Among Inputs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Managers want to determine what combination if inputs to use. 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must deal with the trade-off between inputs.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slope of each isoquant gives the trade-off between two inputs while keeping output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rate of technical substitution equals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: </a:t>
            </a:r>
            <a:endParaRPr lang="ko-KR" altLang="en-US" dirty="0" smtClean="0" sz="12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MRTS</a:t>
            </a: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		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in capital/Change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in labor input</a:t>
            </a:r>
            <a:endParaRPr lang="ko-KR" altLang="en-US" dirty="0" smtClean="0" sz="1349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MRTS</a:t>
            </a:r>
            <a:endParaRPr lang="ko-KR" altLang="en-US" dirty="0" smtClean="0" sz="1349" i="1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85</a:t>
            </a:r>
            <a:endParaRPr lang="ko-KR" altLang="en-US" dirty="0" smtClean="0" sz="1200"/>
          </a:p>
        </p:txBody>
      </p:sp>
      <p:sp>
        <p:nvSpPr>
          <p:cNvPr id="373" name="Rect 3"/>
          <p:cNvSpPr>
            <a:spLocks noGrp="1" noChangeArrowheads="1"/>
          </p:cNvSpPr>
          <p:nvPr/>
        </p:nvSpPr>
        <p:spPr>
          <a:xfrm rot="0">
            <a:off x="2934970" y="8205470"/>
            <a:ext cx="1677670" cy="1885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49">
                <a:solidFill>
                  <a:srgbClr val="000000"/>
                </a:solidFill>
                <a:latin typeface="Times New Roman"/>
              </a:rPr>
              <a:t>(for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349"/>
          </a:p>
        </p:txBody>
      </p:sp>
      <p:sp>
        <p:nvSpPr>
          <p:cNvPr id="374" name="Rect 3"/>
          <p:cNvSpPr>
            <a:spLocks noGrp="1" noChangeArrowheads="1"/>
          </p:cNvSpPr>
          <p:nvPr/>
        </p:nvSpPr>
        <p:spPr>
          <a:xfrm rot="0">
            <a:off x="2691130" y="8272145"/>
            <a:ext cx="226695" cy="2101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49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349" i="1"/>
          </a:p>
        </p:txBody>
      </p:sp>
      <p:sp>
        <p:nvSpPr>
          <p:cNvPr id="375" name="Rect 3"/>
          <p:cNvSpPr>
            <a:spLocks noGrp="1" noChangeArrowheads="1"/>
          </p:cNvSpPr>
          <p:nvPr/>
        </p:nvSpPr>
        <p:spPr>
          <a:xfrm rot="0">
            <a:off x="2294890" y="2685415"/>
            <a:ext cx="2930525" cy="56661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002" b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returns.</a:t>
            </a:r>
            <a:endParaRPr lang="ko-KR" altLang="en-US" dirty="0" smtClean="0" sz="798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= 75</a:t>
            </a:r>
            <a:endParaRPr lang="ko-KR" altLang="en-US" dirty="0" smtClean="0" sz="1002" b="1"/>
          </a:p>
          <a:p>
            <a:pPr marL="0" indent="0" defTabSz="15240" algn="l">
              <a:lnSpc>
                <a:spcPts val="2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349" i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1349" i="1"/>
          </a:p>
        </p:txBody>
      </p:sp>
      <p:sp>
        <p:nvSpPr>
          <p:cNvPr id="376" name="Rect 3"/>
          <p:cNvSpPr>
            <a:spLocks noGrp="1" noChangeArrowheads="1"/>
          </p:cNvSpPr>
          <p:nvPr/>
        </p:nvSpPr>
        <p:spPr>
          <a:xfrm rot="0">
            <a:off x="2164080" y="2719070"/>
            <a:ext cx="3435985" cy="56749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endParaRPr lang="ko-KR" altLang="en-US" dirty="0" smtClean="0" sz="100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 the long run both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labor and capital are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experience diminishing </a:t>
            </a:r>
            <a:endParaRPr lang="ko-KR" altLang="en-US" dirty="0" smtClean="0" sz="7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02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	= 90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900" b="1"/>
          </a:p>
          <a:p>
            <a:pPr marL="0" indent="0" defTabSz="15240" algn="l">
              <a:lnSpc>
                <a:spcPts val="3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4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49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5375" y="1268095"/>
            <a:ext cx="2736850" cy="22002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25370" y="7415530"/>
            <a:ext cx="1948180" cy="193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Marginal Rate of Technical Substitution </a:t>
            </a:r>
            <a:endParaRPr lang="ko-KR" altLang="en-US" dirty="0" smtClean="0" sz="12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per year 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94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94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49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94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2/</a:t>
            </a:r>
            <a:endParaRPr lang="ko-KR" altLang="en-US" dirty="0" smtClean="0" sz="749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=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55 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94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Increasing labor in one unit increments from 1 to 5 results in a decreasing MRTS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to 1/2.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Diminishing MRTS occurs because of diminishing returns and implies isoquants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convex.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MRTS and Marginal Productivity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change in output from a change in labor equals: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543" i="1">
                <a:solidFill>
                  <a:srgbClr val="000000"/>
                </a:solidFill>
                <a:latin typeface="Times New Roman"/>
                <a:ea typeface="Times New Roman"/>
              </a:rPr>
              <a:t>(MP</a:t>
            </a:r>
            <a:r>
              <a:rPr lang="en-US" altLang="ko-KR" dirty="0" smtClean="0" sz="900" i="1">
                <a:solidFill>
                  <a:srgbClr val="000000"/>
                </a:solidFill>
                <a:latin typeface="Times New Roman"/>
              </a:rPr>
              <a:t>				 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43" i="1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4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43" i="1">
                <a:solidFill>
                  <a:srgbClr val="000000"/>
                </a:solidFill>
                <a:latin typeface="Times New Roman"/>
                <a:ea typeface="Times New Roman"/>
              </a:rPr>
              <a:t>L)</a:t>
            </a:r>
            <a:endParaRPr lang="ko-KR" altLang="en-US" dirty="0" smtClean="0" sz="1543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change in output from a change in capital equals: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439" i="1">
                <a:solidFill>
                  <a:srgbClr val="000000"/>
                </a:solidFill>
                <a:latin typeface="Times New Roman"/>
                <a:ea typeface="Times New Roman"/>
              </a:rPr>
              <a:t>(MP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439" i="1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endParaRPr lang="ko-KR" altLang="en-US" dirty="0" smtClean="0" sz="1439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output is constant and labor is increased, then: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(MP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endParaRPr lang="ko-KR" altLang="en-US" dirty="0" smtClean="0" sz="1728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633" i="1">
                <a:solidFill>
                  <a:srgbClr val="000000"/>
                </a:solidFill>
                <a:latin typeface="Times New Roman"/>
                <a:ea typeface="Times New Roman"/>
              </a:rPr>
              <a:t>(MP</a:t>
            </a:r>
            <a:endParaRPr lang="ko-KR" altLang="en-US" dirty="0" smtClean="0" sz="1633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Isoquants When Inputs are perfectly substitutable 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1097" i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097" i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97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Labor per month 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86</a:t>
            </a:r>
            <a:endParaRPr lang="ko-KR" altLang="en-US" dirty="0" smtClean="0" sz="1200"/>
          </a:p>
        </p:txBody>
      </p:sp>
      <p:sp>
        <p:nvSpPr>
          <p:cNvPr id="379" name="Rect 3"/>
          <p:cNvSpPr>
            <a:spLocks noGrp="1" noChangeArrowheads="1"/>
          </p:cNvSpPr>
          <p:nvPr/>
        </p:nvSpPr>
        <p:spPr>
          <a:xfrm rot="0">
            <a:off x="3017520" y="6537960"/>
            <a:ext cx="1915160" cy="600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72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lang="ko-KR" altLang="en-US" dirty="0" smtClean="0" sz="1728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3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633" i="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3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33" i="1">
                <a:solidFill>
                  <a:srgbClr val="000000"/>
                </a:solidFill>
                <a:latin typeface="Times New Roman"/>
                <a:ea typeface="Times New Roman"/>
              </a:rPr>
              <a:t>K/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3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33" i="1">
                <a:solidFill>
                  <a:srgbClr val="000000"/>
                </a:solidFill>
                <a:latin typeface="Times New Roman"/>
                <a:ea typeface="Times New Roman"/>
              </a:rPr>
              <a:t>L)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63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633" i="1">
                <a:solidFill>
                  <a:srgbClr val="000000"/>
                </a:solidFill>
                <a:latin typeface="Times New Roman"/>
                <a:ea typeface="Times New Roman"/>
              </a:rPr>
              <a:t> MRTS</a:t>
            </a:r>
            <a:endParaRPr lang="ko-KR" altLang="en-US" dirty="0" smtClean="0" sz="1633" i="1"/>
          </a:p>
        </p:txBody>
      </p:sp>
      <p:sp>
        <p:nvSpPr>
          <p:cNvPr id="380" name="Rect 3"/>
          <p:cNvSpPr>
            <a:spLocks noGrp="1" noChangeArrowheads="1"/>
          </p:cNvSpPr>
          <p:nvPr/>
        </p:nvSpPr>
        <p:spPr>
          <a:xfrm rot="0">
            <a:off x="2804160" y="3039110"/>
            <a:ext cx="2043430" cy="4077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=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75 </a:t>
            </a:r>
            <a:endParaRPr lang="ko-KR" altLang="en-US" dirty="0" smtClean="0" sz="852" b="1"/>
          </a:p>
          <a:p>
            <a:pPr marL="0" indent="0" defTabSz="15240" algn="l">
              <a:lnSpc>
                <a:spcPts val="2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07" i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100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2" i="1">
                <a:solidFill>
                  <a:srgbClr val="000000"/>
                </a:solidFill>
                <a:latin typeface="Times New Roman"/>
              </a:rPr>
              <a:t>K</a:t>
            </a:r>
            <a:endParaRPr lang="ko-KR" altLang="en-US" dirty="0" smtClean="0" sz="952" i="1"/>
          </a:p>
        </p:txBody>
      </p:sp>
      <p:sp>
        <p:nvSpPr>
          <p:cNvPr id="381" name="Rect 3"/>
          <p:cNvSpPr>
            <a:spLocks noGrp="1" noChangeArrowheads="1"/>
          </p:cNvSpPr>
          <p:nvPr/>
        </p:nvSpPr>
        <p:spPr>
          <a:xfrm rot="0">
            <a:off x="2292350" y="1710055"/>
            <a:ext cx="2921000" cy="5428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sloping and convex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like indifference </a:t>
            </a:r>
            <a:endParaRPr lang="ko-KR" altLang="en-US" dirty="0" smtClean="0" sz="798" b="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=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90 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49" b="1"/>
          </a:p>
          <a:p>
            <a:pPr marL="0" indent="0" defTabSz="15240" algn="l">
              <a:lnSpc>
                <a:spcPts val="2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43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439" i="1">
                <a:solidFill>
                  <a:srgbClr val="000000"/>
                </a:solidFill>
                <a:latin typeface="Times New Roman"/>
                <a:ea typeface="Times New Roman"/>
              </a:rPr>
              <a:t>K)</a:t>
            </a:r>
            <a:endParaRPr lang="ko-KR" altLang="en-US" dirty="0" smtClean="0" sz="1439" i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72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L)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728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(MP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728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728" i="1">
                <a:solidFill>
                  <a:srgbClr val="000000"/>
                </a:solidFill>
                <a:latin typeface="Times New Roman"/>
                <a:ea typeface="Times New Roman"/>
              </a:rPr>
              <a:t>K)</a:t>
            </a:r>
            <a:endParaRPr lang="ko-KR" altLang="en-US" dirty="0" smtClean="0" sz="1728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33" i="1">
                <a:solidFill>
                  <a:srgbClr val="000000"/>
                </a:solidFill>
                <a:latin typeface="Times New Roman"/>
              </a:rPr>
              <a:t>)(MP</a:t>
            </a:r>
            <a:endParaRPr lang="ko-KR" altLang="en-US" dirty="0" smtClean="0" sz="1633" i="1"/>
          </a:p>
        </p:txBody>
      </p:sp>
      <p:sp>
        <p:nvSpPr>
          <p:cNvPr id="382" name="Rect 3"/>
          <p:cNvSpPr>
            <a:spLocks noGrp="1" noChangeArrowheads="1"/>
          </p:cNvSpPr>
          <p:nvPr/>
        </p:nvSpPr>
        <p:spPr>
          <a:xfrm rot="0">
            <a:off x="2212975" y="1417320"/>
            <a:ext cx="3122295" cy="569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4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Isoquants are downward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49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curves.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49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49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49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1/</a:t>
            </a:r>
            <a:endParaRPr lang="ko-KR" altLang="en-US" dirty="0" smtClean="0" sz="749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Labor per month</a:t>
            </a:r>
            <a:endParaRPr lang="ko-KR" altLang="en-US" dirty="0" smtClean="0" sz="852" b="1"/>
          </a:p>
          <a:p>
            <a:pPr marL="0" indent="0" defTabSz="15240" algn="l">
              <a:lnSpc>
                <a:spcPts val="1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839" i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839" i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07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00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2" i="1">
                <a:solidFill>
                  <a:srgbClr val="000000"/>
                </a:solidFill>
                <a:latin typeface="Times New Roman"/>
              </a:rPr>
              <a:t>L</a:t>
            </a:r>
            <a:endParaRPr lang="ko-KR" altLang="en-US" dirty="0" smtClean="0" sz="952" i="1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0840" y="2459990"/>
            <a:ext cx="2584450" cy="25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Perfect Substitute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when inputs are perfectly substitutable: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The MRTS is constant at all points on the isoquant.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For a given output, any combination of inputs can be chosen (A, B, or C)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generate the same level of output (e.g. toll booths &amp; musical instruments).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Fixed-Proportions Production Function </a:t>
            </a:r>
            <a:endParaRPr lang="ko-KR" altLang="en-US" dirty="0" smtClean="0" sz="12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month </a:t>
            </a:r>
            <a:endParaRPr lang="ko-KR" altLang="en-US" dirty="0" smtClean="0" sz="900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C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6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B </a:t>
            </a:r>
            <a:endParaRPr lang="ko-KR" altLang="en-US" dirty="0" smtClean="0" sz="90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Fixed-Proportions Production Function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Observations when inputs must be in a fixed-proportion: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(e.g. labor and jackhammers).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2)To increase output requires more labor and capital (i.e. moving from A to B to 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is technically efficient).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Production Function for Wheat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Farmers must choose between a capital intensive or labor intensive technique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87</a:t>
            </a:r>
            <a:endParaRPr lang="ko-KR" altLang="en-US" dirty="0" smtClean="0" sz="1200"/>
          </a:p>
        </p:txBody>
      </p:sp>
      <p:sp>
        <p:nvSpPr>
          <p:cNvPr id="385" name="Rect 3"/>
          <p:cNvSpPr>
            <a:spLocks noGrp="1" noChangeArrowheads="1"/>
          </p:cNvSpPr>
          <p:nvPr/>
        </p:nvSpPr>
        <p:spPr>
          <a:xfrm rot="0">
            <a:off x="4629785" y="4267200"/>
            <a:ext cx="165735" cy="13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</p:txBody>
      </p:sp>
      <p:sp>
        <p:nvSpPr>
          <p:cNvPr id="386" name="Rect 3"/>
          <p:cNvSpPr>
            <a:spLocks noGrp="1" noChangeArrowheads="1"/>
          </p:cNvSpPr>
          <p:nvPr/>
        </p:nvSpPr>
        <p:spPr>
          <a:xfrm rot="0">
            <a:off x="3620770" y="3401695"/>
            <a:ext cx="2302510" cy="166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600" b="1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A </a:t>
            </a:r>
            <a:endParaRPr lang="ko-KR" altLang="en-US" dirty="0" smtClean="0" sz="9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 per month </a:t>
            </a:r>
            <a:endParaRPr lang="ko-KR" altLang="en-US" dirty="0" smtClean="0" sz="900" b="1"/>
          </a:p>
        </p:txBody>
      </p:sp>
      <p:sp>
        <p:nvSpPr>
          <p:cNvPr id="387" name="Rect 3"/>
          <p:cNvSpPr>
            <a:spLocks noGrp="1" noChangeArrowheads="1"/>
          </p:cNvSpPr>
          <p:nvPr/>
        </p:nvSpPr>
        <p:spPr>
          <a:xfrm rot="0">
            <a:off x="1645920" y="5723890"/>
            <a:ext cx="6182360" cy="152400"/>
          </a:xfrm>
          <a:prstGeom prst="rect">
            <a:avLst/>
          </a:prstGeom>
          <a:noFill/>
          <a:ln w="0">
            <a:noFill/>
          </a:ln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82570" y="5044440"/>
            <a:ext cx="180340" cy="2501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80615" y="1289050"/>
            <a:ext cx="2091055" cy="21062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Isoquant Describing the Production of Wheat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(Machine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hour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year)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90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80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  per year </a:t>
            </a:r>
            <a:endParaRPr lang="ko-KR" altLang="en-US" dirty="0" smtClean="0" sz="798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40 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250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500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760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(hours per year) </a:t>
            </a:r>
            <a:endParaRPr lang="ko-KR" altLang="en-US" dirty="0" smtClean="0" sz="9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Operating at A: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 = 500 hours and K = 100 machine hours.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Operating at B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L to 760 and decrease K to 90 the MRTS &lt; 1: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MRTS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endParaRPr lang="ko-KR" altLang="en-US" dirty="0" smtClean="0" sz="110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MRTS &lt; 1, therefore the cost of labor must be less than capital in order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farmer substitute labor for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4) If labor is expensive, the farmer would use more capital (e.g. U.S.).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5)  If labor is inexpensive, the farmer would use more labor (e.g. India). </a:t>
            </a:r>
            <a:endParaRPr lang="ko-KR" altLang="en-US" dirty="0" smtClean="0" sz="1097"/>
          </a:p>
          <a:p>
            <a:pPr marL="0" indent="0" defTabSz="15240" algn="l">
              <a:lnSpc>
                <a:spcPts val="2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88</a:t>
            </a:r>
            <a:endParaRPr lang="ko-KR" altLang="en-US" dirty="0" smtClean="0" sz="1200"/>
          </a:p>
        </p:txBody>
      </p:sp>
      <p:sp>
        <p:nvSpPr>
          <p:cNvPr id="390" name="Rect 3"/>
          <p:cNvSpPr>
            <a:spLocks noGrp="1" noChangeArrowheads="1"/>
          </p:cNvSpPr>
          <p:nvPr/>
        </p:nvSpPr>
        <p:spPr>
          <a:xfrm rot="0">
            <a:off x="3276600" y="1728470"/>
            <a:ext cx="2101215" cy="3507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more labor-intensive.</a:t>
            </a:r>
            <a:endParaRPr lang="ko-KR" altLang="en-US" dirty="0" smtClean="0" sz="798"/>
          </a:p>
          <a:p>
            <a:pPr marL="0" indent="0" defTabSz="15240" algn="l">
              <a:lnSpc>
                <a:spcPts val="2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(10/260)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0.04</a:t>
            </a:r>
            <a:endParaRPr lang="ko-KR" altLang="en-US" dirty="0" smtClean="0" sz="1101"/>
          </a:p>
        </p:txBody>
      </p:sp>
      <p:sp>
        <p:nvSpPr>
          <p:cNvPr id="391" name="Rect 3"/>
          <p:cNvSpPr>
            <a:spLocks noGrp="1" noChangeArrowheads="1"/>
          </p:cNvSpPr>
          <p:nvPr/>
        </p:nvSpPr>
        <p:spPr>
          <a:xfrm rot="0">
            <a:off x="2886710" y="1612265"/>
            <a:ext cx="2515235" cy="370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capital-intensive, and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= 13,800 bushels</a:t>
            </a:r>
            <a:endParaRPr lang="ko-KR" altLang="en-US" dirty="0" smtClean="0" sz="798"/>
          </a:p>
          <a:p>
            <a:pPr marL="0" indent="0" defTabSz="15240" algn="l">
              <a:lnSpc>
                <a:spcPts val="2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097" i="1"/>
          </a:p>
        </p:txBody>
      </p:sp>
      <p:sp>
        <p:nvSpPr>
          <p:cNvPr id="392" name="Rect 3"/>
          <p:cNvSpPr>
            <a:spLocks noGrp="1" noChangeArrowheads="1"/>
          </p:cNvSpPr>
          <p:nvPr/>
        </p:nvSpPr>
        <p:spPr>
          <a:xfrm rot="0">
            <a:off x="2164080" y="1493520"/>
            <a:ext cx="3039745" cy="37064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Point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more 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120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∆K = -10 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∆L = 260 </a:t>
            </a:r>
            <a:endParaRPr lang="ko-KR" altLang="en-US" dirty="0" smtClean="0" sz="852" b="1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</a:t>
            </a:r>
            <a:endParaRPr lang="ko-KR" altLang="en-US" dirty="0" smtClean="0" sz="900" b="1"/>
          </a:p>
          <a:p>
            <a:pPr marL="0" indent="0" defTabSz="15240" algn="l">
              <a:lnSpc>
                <a:spcPts val="1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- K</a:t>
            </a:r>
            <a:endParaRPr lang="ko-KR" altLang="en-US" dirty="0" smtClean="0" sz="1097" i="1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5920" y="5690870"/>
            <a:ext cx="2856230" cy="20631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20570" y="2270760"/>
            <a:ext cx="2127885" cy="20815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Returns to Scale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Measuring the relationship between the scale (size) of a firm and output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1. Increasing returns to scale: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output more than doubles when all inputs are doubled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Larger output associated with lower cost (autos)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One firm is more efficient than many (utilities)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The isoquants get closer together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(machine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hours) </a:t>
            </a:r>
            <a:endParaRPr lang="ko-KR" altLang="en-US" dirty="0" smtClean="0" sz="798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749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749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49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49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Labor (hours)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49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2. Constant returns to scale: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output doubles when all inputs are doubled.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Size does not affect productivity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have a large number of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Isoquants are equidistant apart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(machine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hours)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Decreasing returns to scale: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output less than doubles when all inputs are doubled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749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Constant Returns:</a:t>
            </a:r>
            <a:endParaRPr lang="ko-KR" altLang="en-US" dirty="0" smtClean="0" sz="749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Isoquants are                    </a:t>
            </a:r>
            <a:endParaRPr lang="ko-KR" altLang="en-US" dirty="0" smtClean="0" sz="749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49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49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749" b="1"/>
          </a:p>
          <a:p>
            <a:pPr marL="0" indent="0" defTabSz="15240" algn="l">
              <a:lnSpc>
                <a:spcPts val="1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89</a:t>
            </a:r>
            <a:endParaRPr lang="ko-KR" altLang="en-US" dirty="0" smtClean="0" sz="1200"/>
          </a:p>
        </p:txBody>
      </p:sp>
      <p:sp>
        <p:nvSpPr>
          <p:cNvPr id="395" name="Rect 3"/>
          <p:cNvSpPr>
            <a:spLocks noGrp="1" noChangeArrowheads="1"/>
          </p:cNvSpPr>
          <p:nvPr/>
        </p:nvSpPr>
        <p:spPr>
          <a:xfrm rot="0">
            <a:off x="4017010" y="2343785"/>
            <a:ext cx="120015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49" i="1" b="1"/>
          </a:p>
        </p:txBody>
      </p:sp>
      <p:sp>
        <p:nvSpPr>
          <p:cNvPr id="396" name="Rect 3"/>
          <p:cNvSpPr>
            <a:spLocks noGrp="1" noChangeArrowheads="1"/>
          </p:cNvSpPr>
          <p:nvPr/>
        </p:nvSpPr>
        <p:spPr>
          <a:xfrm rot="0">
            <a:off x="2096770" y="2322830"/>
            <a:ext cx="2808605" cy="5452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Increasing Returns: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isoquants move closer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together </a:t>
            </a:r>
            <a:endParaRPr lang="ko-KR" altLang="en-US" dirty="0" smtClean="0" sz="798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49" b="1"/>
          </a:p>
          <a:p>
            <a:pPr marL="0" indent="0" defTabSz="15240" algn="l">
              <a:lnSpc>
                <a:spcPts val="2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equally spaced </a:t>
            </a:r>
            <a:endParaRPr lang="ko-KR" altLang="en-US" dirty="0" smtClean="0" sz="749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Labor (hours)</a:t>
            </a:r>
            <a:endParaRPr lang="ko-KR" altLang="en-US" dirty="0" smtClean="0" sz="749" b="1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32050" y="1715770"/>
            <a:ext cx="1932940" cy="193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3. Decreasing returns to scale: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output less than doubles when all inputs are doubled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Decreasing efficiency with large size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Reduction of entrepreneurial abilities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Isoquants become farther apart </a:t>
            </a:r>
            <a:endParaRPr lang="ko-KR" altLang="en-US" dirty="0" smtClean="0" sz="109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Capital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(machine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hours) </a:t>
            </a:r>
            <a:endParaRPr lang="ko-KR" altLang="en-US" dirty="0" smtClean="0" sz="7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Decreasing Returns: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Isoquants get further </a:t>
            </a:r>
            <a:endParaRPr lang="ko-KR" altLang="en-US" dirty="0" smtClean="0" sz="798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798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98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9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Returns to Scale in the Carpet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carpet industry has grown from a small industry to a large industry with some very large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the growth be explained by the presence of economies to scale?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U.S. Carpet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Carpet Shipments, 1996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(Millions of Dollars per Year)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Shaw Industries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$3,202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6. World Carpets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$475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Mohawk Industries       1,795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7. Burlington Industries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450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Beaulieu of America     1,006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8. Collins &amp; Aikman             418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 Interface Flooring         820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9. Masland Industries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380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5. Queen Carpet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775          10. Dixied Yarns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280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Are there economies of scale?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(percent of cost)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-- 77%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-- 23%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Large Manufacturers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in machinery &amp; labor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Doubling inputs has more than doubled output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of scale exist for large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Small Manufacturers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 increases in scale have little or no impact on output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Proportional increases in inputs increase output proportionally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90</a:t>
            </a:r>
            <a:endParaRPr lang="ko-KR" altLang="en-US" dirty="0" smtClean="0" sz="1200"/>
          </a:p>
        </p:txBody>
      </p:sp>
      <p:sp>
        <p:nvSpPr>
          <p:cNvPr id="399" name="Rect 3"/>
          <p:cNvSpPr>
            <a:spLocks noGrp="1" noChangeArrowheads="1"/>
          </p:cNvSpPr>
          <p:nvPr/>
        </p:nvSpPr>
        <p:spPr>
          <a:xfrm rot="0">
            <a:off x="3779520" y="2468880"/>
            <a:ext cx="1381760" cy="12407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apart </a:t>
            </a:r>
            <a:endParaRPr lang="ko-KR" altLang="en-US" dirty="0" smtClean="0" sz="798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798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Labor (hours)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 returns to scale for small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6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349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production technology measures the relationship between input and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Given the production technology, managers must choose how to produce.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To determine the optimal level of output and the input combinations, we must convert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unit measurements of the production technology to dollar measurements or costs.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Measuring Cost: Which Costs Matter?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Accounting Cost vs. Economic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Accounting Cost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Actual expenses plus depreciation charges for capital equipment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Cost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to a firm of utilizing economic resources in production, including opportunity cost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Opportunity cost.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associated with opportunities that are foregone when a firm’s resources are not 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their highest-value use.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owns its own building and pays no rent for office space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Does this mean the cost of office space is zero?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Sunk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 that has been made and cannot be recovered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not influence a firm’s decisions.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pays $500,000 for an option to buy a building.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cost of the building is $5 million or a total of $5.5 million.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finds another building for $5.25 million.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building should the firm buy?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Fixed and Variable Costs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output is a function of variable inputs and fixed inputs.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Therefore, the total cost of production equals the fixed cost (the cost of the fixed inputs)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plus the variable cost (the cost of the variable inputs), or…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Fixed Cost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Does not vary with the level of output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Variable Cost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that varies as output varies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Fixed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paid by a firm that is in business regardless of the level of output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Sunk Cost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that have been incurred and cannot be recovered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Personal Computers: most costs are variable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Components, labor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Software: most costs are sunk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developing the software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92</a:t>
            </a:r>
            <a:endParaRPr lang="ko-KR" altLang="en-US" dirty="0" smtClean="0" sz="1200"/>
          </a:p>
        </p:txBody>
      </p:sp>
      <p:sp>
        <p:nvSpPr>
          <p:cNvPr id="404" name="Rect 3"/>
          <p:cNvSpPr>
            <a:spLocks noGrp="1" noChangeArrowheads="1"/>
          </p:cNvSpPr>
          <p:nvPr/>
        </p:nvSpPr>
        <p:spPr>
          <a:xfrm rot="0">
            <a:off x="2246630" y="829310"/>
            <a:ext cx="4396105" cy="6266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18 </a:t>
            </a:r>
            <a:endParaRPr lang="ko-KR" altLang="en-US" dirty="0" smtClean="0" sz="1097" b="1"/>
          </a:p>
          <a:p>
            <a:pPr marL="0" indent="0" defTabSz="15240" algn="l">
              <a:lnSpc>
                <a:spcPts val="4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27">
                <a:solidFill>
                  <a:srgbClr val="000000"/>
                </a:solidFill>
                <a:latin typeface="Times New Roman"/>
                <a:ea typeface="Times New Roman"/>
              </a:rPr>
              <a:t>TC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2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27">
                <a:solidFill>
                  <a:srgbClr val="000000"/>
                </a:solidFill>
                <a:latin typeface="Times New Roman"/>
                <a:ea typeface="Times New Roman"/>
              </a:rPr>
              <a:t>FC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27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27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endParaRPr lang="ko-KR" altLang="en-US" dirty="0" smtClean="0" sz="1527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40865" y="1347470"/>
            <a:ext cx="4888865" cy="10788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40865" y="2423160"/>
            <a:ext cx="4888865" cy="3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40865" y="2785745"/>
            <a:ext cx="4888865" cy="3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40865" y="3148330"/>
            <a:ext cx="4888865" cy="73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062730" y="3877310"/>
            <a:ext cx="1359535" cy="3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840865" y="4057015"/>
            <a:ext cx="1718945" cy="1860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557270" y="4057015"/>
            <a:ext cx="508635" cy="1860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419090" y="4057015"/>
            <a:ext cx="1310640" cy="1860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Pizza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Largest cost component is fixed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                             A Firm’s Short-Run Costs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Rate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Fixed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Variable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Total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Marginal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Average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Average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Average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fixed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variable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total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FC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AFC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ATC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78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64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32.7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49.3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40.5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36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33.3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32.1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204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254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6.3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25.5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31.8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242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26.9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32.4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35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39.5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 in the Short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Marginal Cost (MC) is the cost of expanding output by one unit.  Since fixed costs have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impact on marginal cost, it can be written as: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0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Average Total Cost (ATC) is the cost per unit of output, or average fixed cost (AFC) plus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variable cost (AVC). This can be written: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ATC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Average Total Cost (ATC) is the cost per unit of output, or average fixed cost (AFC) plus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variable cost (AVC). This can be written: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Determinants of Short-Run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relationship between the production function and cost can be exemplified by either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returns and cost or decreasing returns and cost.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returns and cost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increasing returns, output is increasing relative to input and variable cost and total cost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fall relative to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Decreasing returns and cost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decreasing returns, output is decreasing relative to input and variable cost and total cost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rise relative to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For Example: Assume the wage rate (w) is fixed relative to the number of workers hired.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Then: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MC  </a:t>
            </a:r>
            <a:endParaRPr lang="ko-KR" altLang="en-US" dirty="0" smtClean="0" sz="110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93</a:t>
            </a:r>
            <a:endParaRPr lang="ko-KR" altLang="en-US" dirty="0" smtClean="0" sz="1200"/>
          </a:p>
        </p:txBody>
      </p:sp>
      <p:sp>
        <p:nvSpPr>
          <p:cNvPr id="407" name="Rect 3"/>
          <p:cNvSpPr>
            <a:spLocks noGrp="1" noChangeArrowheads="1"/>
          </p:cNvSpPr>
          <p:nvPr/>
        </p:nvSpPr>
        <p:spPr>
          <a:xfrm rot="0">
            <a:off x="4343400" y="5958840"/>
            <a:ext cx="821055" cy="1200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TVC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200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1378">
                <a:solidFill>
                  <a:srgbClr val="000000"/>
                </a:solidFill>
                <a:latin typeface="Times New Roman"/>
                <a:ea typeface="Times New Roman"/>
              </a:rPr>
              <a:t>TC</a:t>
            </a:r>
            <a:endParaRPr lang="ko-KR" altLang="en-US" dirty="0" smtClean="0" sz="137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378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378"/>
          </a:p>
        </p:txBody>
      </p:sp>
      <p:sp>
        <p:nvSpPr>
          <p:cNvPr id="408" name="Rect 3"/>
          <p:cNvSpPr>
            <a:spLocks noGrp="1" noChangeArrowheads="1"/>
          </p:cNvSpPr>
          <p:nvPr/>
        </p:nvSpPr>
        <p:spPr>
          <a:xfrm rot="0">
            <a:off x="3410585" y="5120640"/>
            <a:ext cx="1110615" cy="1901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00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200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78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378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378"/>
          </a:p>
        </p:txBody>
      </p:sp>
      <p:sp>
        <p:nvSpPr>
          <p:cNvPr id="409" name="Rect 3"/>
          <p:cNvSpPr>
            <a:spLocks noGrp="1" noChangeArrowheads="1"/>
          </p:cNvSpPr>
          <p:nvPr/>
        </p:nvSpPr>
        <p:spPr>
          <a:xfrm rot="0">
            <a:off x="2971800" y="5022850"/>
            <a:ext cx="2037080" cy="4325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TC</a:t>
            </a:r>
            <a:endParaRPr lang="ko-KR" altLang="en-US" dirty="0" smtClean="0" sz="12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200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TFC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200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78">
                <a:solidFill>
                  <a:srgbClr val="000000"/>
                </a:solidFill>
                <a:latin typeface="Times New Roman"/>
              </a:rPr>
              <a:t>ATC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378">
                <a:solidFill>
                  <a:srgbClr val="000000"/>
                </a:solidFill>
                <a:latin typeface="Times New Roman"/>
                <a:ea typeface="Times New Roman"/>
              </a:rPr>
              <a:t>AFC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378">
                <a:solidFill>
                  <a:srgbClr val="000000"/>
                </a:solidFill>
                <a:latin typeface="Times New Roman"/>
                <a:ea typeface="Times New Roman"/>
              </a:rPr>
              <a:t>AVC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378">
                <a:solidFill>
                  <a:srgbClr val="000000"/>
                </a:solidFill>
                <a:latin typeface="Times New Roman"/>
                <a:ea typeface="Times New Roman"/>
              </a:rPr>
              <a:t>or  </a:t>
            </a:r>
            <a:endParaRPr lang="ko-KR" altLang="en-US" dirty="0" smtClean="0" sz="1378"/>
          </a:p>
          <a:p>
            <a:pPr marL="0" indent="0" defTabSz="15240" algn="l">
              <a:lnSpc>
                <a:spcPts val="1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endParaRPr lang="ko-KR" altLang="en-US" dirty="0" smtClean="0" sz="110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01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9">
                <a:solidFill>
                  <a:srgbClr val="000000"/>
                </a:solidFill>
                <a:latin typeface="Times New Roman"/>
                <a:ea typeface="Times New Roman"/>
              </a:rPr>
              <a:t>VC  L</a:t>
            </a:r>
            <a:endParaRPr lang="ko-KR" altLang="en-US" dirty="0" smtClean="0" sz="1109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MC  </a:t>
            </a:r>
            <a:endParaRPr lang="ko-KR" altLang="en-US" dirty="0" smtClean="0" sz="110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MP   </a:t>
            </a:r>
            <a:endParaRPr lang="ko-KR" altLang="en-US" dirty="0" smtClean="0" sz="1102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L for a 1 unit Q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0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In conclusion: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endParaRPr lang="ko-KR" altLang="en-US" dirty="0" smtClean="0" sz="1100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MC  MP</a:t>
            </a:r>
            <a:endParaRPr lang="ko-KR" altLang="en-US" dirty="0" smtClean="0" sz="1100"/>
          </a:p>
          <a:p>
            <a:pPr marL="0" indent="0" defTabSz="15240" algn="l">
              <a:lnSpc>
                <a:spcPts val="4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94</a:t>
            </a:r>
            <a:endParaRPr lang="ko-KR" altLang="en-US" dirty="0" smtClean="0" sz="1200"/>
          </a:p>
        </p:txBody>
      </p:sp>
      <p:sp>
        <p:nvSpPr>
          <p:cNvPr id="412" name="Rect 3"/>
          <p:cNvSpPr>
            <a:spLocks noGrp="1" noChangeArrowheads="1"/>
          </p:cNvSpPr>
          <p:nvPr/>
        </p:nvSpPr>
        <p:spPr>
          <a:xfrm rot="0">
            <a:off x="3066415" y="1917065"/>
            <a:ext cx="205105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2">
                <a:solidFill>
                  <a:srgbClr val="000000"/>
                </a:solidFill>
                <a:latin typeface="Symbol"/>
              </a:rPr>
              <a:t>Δ</a:t>
            </a:r>
            <a:endParaRPr lang="ko-KR" altLang="en-US" dirty="0" smtClean="0" sz="1102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102"/>
          </a:p>
        </p:txBody>
      </p:sp>
      <p:sp>
        <p:nvSpPr>
          <p:cNvPr id="413" name="Rect 3"/>
          <p:cNvSpPr>
            <a:spLocks noGrp="1" noChangeArrowheads="1"/>
          </p:cNvSpPr>
          <p:nvPr/>
        </p:nvSpPr>
        <p:spPr>
          <a:xfrm rot="0">
            <a:off x="2871470" y="1347470"/>
            <a:ext cx="1341755" cy="21151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10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10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0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02" i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01">
                <a:solidFill>
                  <a:srgbClr val="000000"/>
                </a:solidFill>
                <a:latin typeface="Times New Roman"/>
              </a:rPr>
              <a:t>L</a:t>
            </a:r>
            <a:endParaRPr lang="ko-KR" altLang="en-US" dirty="0" smtClean="0" sz="60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0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endParaRPr lang="ko-KR" altLang="en-US" dirty="0" smtClean="0" sz="1102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40865" y="1618615"/>
            <a:ext cx="4888865" cy="7131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40865" y="2331720"/>
            <a:ext cx="4888865" cy="3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40865" y="2694305"/>
            <a:ext cx="4888865" cy="9086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40865" y="3602990"/>
            <a:ext cx="4888865" cy="18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40865" y="3782695"/>
            <a:ext cx="4888865" cy="1860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840865" y="3965575"/>
            <a:ext cx="4888865" cy="18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062730" y="4145280"/>
            <a:ext cx="707390" cy="1860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062730" y="4328160"/>
            <a:ext cx="707390" cy="18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755265" y="6022975"/>
            <a:ext cx="2828925" cy="20631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                             A Firm’s Short-Run Costs ($)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Rate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Fixed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Variable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Total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Marginal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Average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Average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Average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fixed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variable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total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FC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VC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TC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AFC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AVC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ATC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78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64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32.7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49.3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40.5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36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8.3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33.3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32.1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31.8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242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26.9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32.4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35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435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4.5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39.5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Consequently (from the table):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decreases initially with increasing returns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through 4 units of output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increases with decreasing returns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through 11 units of output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Total cost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year) </a:t>
            </a:r>
            <a:endParaRPr lang="ko-KR" altLang="en-US" dirty="0" smtClean="0" sz="9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Variable cost </a:t>
            </a:r>
            <a:endParaRPr lang="ko-KR" altLang="en-US" dirty="0" smtClean="0" sz="7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300 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rate varies with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increasing &amp;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200 </a:t>
            </a:r>
            <a:endParaRPr lang="ko-KR" altLang="en-US" dirty="0" smtClean="0" sz="852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13 </a:t>
            </a:r>
            <a:endParaRPr lang="ko-KR" altLang="en-US" dirty="0" smtClean="0" sz="701" b="1"/>
          </a:p>
          <a:p>
            <a:pPr marL="0" indent="0" defTabSz="15240" algn="l">
              <a:lnSpc>
                <a:spcPts val="1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95</a:t>
            </a:r>
            <a:endParaRPr lang="ko-KR" altLang="en-US" dirty="0" smtClean="0" sz="1200"/>
          </a:p>
        </p:txBody>
      </p:sp>
      <p:sp>
        <p:nvSpPr>
          <p:cNvPr id="416" name="Rect 3"/>
          <p:cNvSpPr>
            <a:spLocks noGrp="1" noChangeArrowheads="1"/>
          </p:cNvSpPr>
          <p:nvPr/>
        </p:nvSpPr>
        <p:spPr>
          <a:xfrm rot="0">
            <a:off x="4919345" y="6221095"/>
            <a:ext cx="189865" cy="127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VC</a:t>
            </a:r>
            <a:endParaRPr lang="ko-KR" altLang="en-US" dirty="0" smtClean="0" sz="900" b="1"/>
          </a:p>
        </p:txBody>
      </p:sp>
      <p:sp>
        <p:nvSpPr>
          <p:cNvPr id="417" name="Rect 3"/>
          <p:cNvSpPr>
            <a:spLocks noGrp="1" noChangeArrowheads="1"/>
          </p:cNvSpPr>
          <p:nvPr/>
        </p:nvSpPr>
        <p:spPr>
          <a:xfrm rot="0">
            <a:off x="4099560" y="5931535"/>
            <a:ext cx="854710" cy="377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TC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  <a:ea typeface="Arial"/>
              </a:rPr>
              <a:t>and VC.</a:t>
            </a:r>
            <a:endParaRPr lang="ko-KR" altLang="en-US" dirty="0" smtClean="0" sz="798"/>
          </a:p>
        </p:txBody>
      </p:sp>
      <p:sp>
        <p:nvSpPr>
          <p:cNvPr id="418" name="Rect 3"/>
          <p:cNvSpPr>
            <a:spLocks noGrp="1" noChangeArrowheads="1"/>
          </p:cNvSpPr>
          <p:nvPr/>
        </p:nvSpPr>
        <p:spPr>
          <a:xfrm rot="0">
            <a:off x="2569210" y="5962015"/>
            <a:ext cx="3570605" cy="2091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is the vertical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400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sum of FC  </a:t>
            </a:r>
            <a:endParaRPr lang="ko-KR" altLang="en-US" dirty="0" smtClean="0" sz="798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increases with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production and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decreasing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 returns. </a:t>
            </a:r>
            <a:endParaRPr lang="ko-KR" altLang="en-US" dirty="0" smtClean="0" sz="900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Fixed cost does not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vary with output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FC 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endParaRPr lang="ko-KR" altLang="en-US" dirty="0" smtClean="0" sz="1050" b="1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19655" y="816610"/>
            <a:ext cx="2755265" cy="20396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75 </a:t>
            </a:r>
            <a:endParaRPr lang="ko-KR" altLang="en-US" dirty="0" smtClean="0" sz="852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ATC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AVC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endParaRPr lang="ko-KR" altLang="en-US" dirty="0" smtClean="0" sz="85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AFC</a:t>
            </a:r>
            <a:endParaRPr lang="ko-KR" altLang="en-US" dirty="0" smtClean="0" sz="94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lang="ko-KR" altLang="en-US" dirty="0" smtClean="0" sz="701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line drawn from the origin to the tangent of the variable cost curve: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Its slope equals AVC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The slope of a point on VC equals MC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Unit Costs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AFC falls continuously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When MC &lt; AVC or MC &lt; ATC, AVC &amp; ATC decrease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When MC &gt; AVC or MC &gt; ATC, AVC &amp; ATC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MC = AVC and ATC at minimum AVC and ATC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Minimum AVC occurs at a lower output than minimum ATC due to FC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User Cost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User Cost of Capital = Economic Depreciation + (Interest Rate)(Value of Capital)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Airline buys a Boeing 737 for $150 million with an expected life of 30 years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Annual economic depreciation =   $150 million/30 = $5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 = 10%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User Cost of Capital = $5 million + (.10) ($150 million – depreciation)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 1 = $5 million + (.10)($150 million) = $20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 10 = $5 million + (.10) ($100 million) = $15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per dollar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 = Depreciation Rate + Interest Rate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Airline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Depreciation Rate = 1/30 = 3.33/yr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of Return = 10%/yr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User Cost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 = 3.33 + 10 = 13.33%/yr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96</a:t>
            </a:r>
            <a:endParaRPr lang="ko-KR" altLang="en-US" dirty="0" smtClean="0" sz="1200"/>
          </a:p>
        </p:txBody>
      </p:sp>
      <p:sp>
        <p:nvSpPr>
          <p:cNvPr id="421" name="Rect 3"/>
          <p:cNvSpPr>
            <a:spLocks noGrp="1" noChangeArrowheads="1"/>
          </p:cNvSpPr>
          <p:nvPr/>
        </p:nvSpPr>
        <p:spPr>
          <a:xfrm rot="0">
            <a:off x="1188720" y="883920"/>
            <a:ext cx="4566920" cy="333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8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947" b="1"/>
          </a:p>
          <a:p>
            <a:pPr marL="0" indent="0" defTabSz="15240" algn="l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(units/yr.) </a:t>
            </a:r>
            <a:endParaRPr lang="ko-KR" altLang="en-US" dirty="0" smtClean="0" sz="900" b="1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1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Therefore, MC = AVC at 7 units of output (point A)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49040" y="3779520"/>
            <a:ext cx="783590" cy="2501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83790" y="5782310"/>
            <a:ext cx="2172970" cy="20358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The Cost Minimizing Input Choice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Inputs: Labor (L) &amp; capital (K)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labor: wage rate (w)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 = depreciation rate + interest rate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capital was rented, would it change the value of r 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Isocost Line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 = wL + rK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Isocost: A line showing all combinations of L &amp; K that can be purchased for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Rewriting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as linear: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 = C/r - (w/r)L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 of the Isocost: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1099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 ratio of the wage rate to rental cost of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shows the rate at which capital can be substituted for labor with no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cost.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Choosing Inputs 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will address how to minimize cost for a given 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will do so by combining Isocosts with Isoquants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   Producing a Given Output at Minimum Cost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Capital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		is an isoquant </a:t>
            </a:r>
            <a:endParaRPr lang="ko-KR" altLang="en-US" dirty="0" smtClean="0" sz="11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for output 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1. </a:t>
            </a:r>
            <a:endParaRPr lang="ko-KR" altLang="en-US" dirty="0" smtClean="0" sz="701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year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Isocost curve 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0 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shows </a:t>
            </a:r>
            <a:endParaRPr lang="ko-KR" altLang="en-US" dirty="0" smtClean="0" sz="11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55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O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  C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  C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		are</a:t>
            </a:r>
            <a:endParaRPr lang="ko-KR" altLang="en-US" dirty="0" smtClean="0" sz="11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three </a:t>
            </a:r>
            <a:endParaRPr lang="ko-KR" altLang="en-US" dirty="0" smtClean="0" sz="11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Isocost lines </a:t>
            </a:r>
            <a:endParaRPr lang="ko-KR" altLang="en-US" dirty="0" smtClean="0" sz="11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55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55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55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Labor per year</a:t>
            </a:r>
            <a:endParaRPr lang="ko-KR" altLang="en-US" dirty="0" smtClean="0" sz="1097" b="1"/>
          </a:p>
          <a:p>
            <a:pPr marL="0" indent="0" defTabSz="15240" algn="l">
              <a:lnSpc>
                <a:spcPts val="1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97</a:t>
            </a:r>
            <a:endParaRPr lang="ko-KR" altLang="en-US" dirty="0" smtClean="0" sz="1200"/>
          </a:p>
        </p:txBody>
      </p:sp>
      <p:sp>
        <p:nvSpPr>
          <p:cNvPr id="424" name="Rect 3"/>
          <p:cNvSpPr>
            <a:spLocks noGrp="1" noChangeArrowheads="1"/>
          </p:cNvSpPr>
          <p:nvPr/>
        </p:nvSpPr>
        <p:spPr>
          <a:xfrm rot="0">
            <a:off x="4331335" y="3779520"/>
            <a:ext cx="11684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 b="1">
                <a:solidFill>
                  <a:srgbClr val="000000"/>
                </a:solidFill>
                <a:latin typeface="Times New Roman"/>
              </a:rPr>
              <a:t>w</a:t>
            </a:r>
            <a:endParaRPr lang="ko-KR" altLang="en-US" dirty="0" smtClean="0" sz="1099" b="1"/>
          </a:p>
        </p:txBody>
      </p:sp>
      <p:sp>
        <p:nvSpPr>
          <p:cNvPr id="425" name="Rect 3"/>
          <p:cNvSpPr>
            <a:spLocks noGrp="1" noChangeArrowheads="1"/>
          </p:cNvSpPr>
          <p:nvPr/>
        </p:nvSpPr>
        <p:spPr>
          <a:xfrm rot="0">
            <a:off x="4264025" y="3694430"/>
            <a:ext cx="354965" cy="3378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602"/>
          </a:p>
        </p:txBody>
      </p:sp>
      <p:sp>
        <p:nvSpPr>
          <p:cNvPr id="426" name="Rect 3"/>
          <p:cNvSpPr>
            <a:spLocks noGrp="1" noChangeArrowheads="1"/>
          </p:cNvSpPr>
          <p:nvPr/>
        </p:nvSpPr>
        <p:spPr>
          <a:xfrm rot="0">
            <a:off x="4060190" y="3803650"/>
            <a:ext cx="213995" cy="170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Symbol"/>
              </a:rPr>
              <a:t>= −</a:t>
            </a:r>
            <a:endParaRPr lang="ko-KR" altLang="en-US" dirty="0" smtClean="0" sz="1100"/>
          </a:p>
        </p:txBody>
      </p:sp>
      <p:sp>
        <p:nvSpPr>
          <p:cNvPr id="427" name="Rect 3"/>
          <p:cNvSpPr>
            <a:spLocks noGrp="1" noChangeArrowheads="1"/>
          </p:cNvSpPr>
          <p:nvPr/>
        </p:nvSpPr>
        <p:spPr>
          <a:xfrm rot="0">
            <a:off x="3855720" y="3879850"/>
            <a:ext cx="2357120" cy="3496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1099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99" b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099" b="1"/>
          </a:p>
          <a:p>
            <a:pPr marL="0" indent="0" defTabSz="15240" algn="l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Isocost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shows quantity 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combination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		or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. </a:t>
            </a:r>
            <a:endParaRPr lang="ko-KR" altLang="en-US" dirty="0" smtClean="0" sz="1002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However, both of these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than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. </a:t>
            </a:r>
            <a:endParaRPr lang="ko-KR" altLang="en-US" dirty="0" smtClean="0" sz="1002" i="1"/>
          </a:p>
        </p:txBody>
      </p:sp>
      <p:sp>
        <p:nvSpPr>
          <p:cNvPr id="428" name="Rect 3"/>
          <p:cNvSpPr>
            <a:spLocks noGrp="1" noChangeArrowheads="1"/>
          </p:cNvSpPr>
          <p:nvPr/>
        </p:nvSpPr>
        <p:spPr>
          <a:xfrm rot="0">
            <a:off x="3100070" y="3764280"/>
            <a:ext cx="3152140" cy="36055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100"/>
          </a:p>
          <a:p>
            <a:pPr marL="0" indent="0" defTabSz="15240" algn="l">
              <a:lnSpc>
                <a:spcPts val="1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all combinations of 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	K 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and 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L</a:t>
            </a:r>
            <a:endParaRPr lang="ko-KR" altLang="en-US" dirty="0" smtClean="0" sz="1100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that can not produce 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		at </a:t>
            </a:r>
            <a:endParaRPr lang="ko-KR" altLang="en-US" dirty="0" smtClean="0" sz="11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endParaRPr lang="ko-KR" altLang="en-US" dirty="0" smtClean="0" sz="11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i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can be produced with </a:t>
            </a:r>
            <a:endParaRPr lang="ko-KR" altLang="en-US" dirty="0" smtClean="0" sz="100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are higher cost combinations </a:t>
            </a:r>
            <a:endParaRPr lang="ko-KR" altLang="en-US" dirty="0" smtClean="0" sz="1002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551" b="1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3670" y="4626610"/>
            <a:ext cx="770890" cy="2501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73095" y="5081270"/>
            <a:ext cx="709930" cy="2527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70760" y="5541010"/>
            <a:ext cx="731520" cy="3263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90090" y="6287770"/>
            <a:ext cx="710565" cy="2533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170430" y="1530350"/>
            <a:ext cx="2444115" cy="25355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Input Substitution When an Input Price Change </a:t>
            </a:r>
            <a:endParaRPr lang="ko-KR" altLang="en-US" dirty="0" smtClean="0" sz="1602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Isoquants and Isocosts and the Production Function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Capital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If the price of labor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year </a:t>
            </a:r>
            <a:endParaRPr lang="ko-KR" altLang="en-US" dirty="0" smtClean="0" sz="900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This yields a new combination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K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to produce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Combination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is used in place 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6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higher cost of labor relative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is substituted for labor. 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per year</a:t>
            </a:r>
            <a:endParaRPr lang="ko-KR" altLang="en-US" dirty="0" smtClean="0" sz="900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MRTS  </a:t>
            </a:r>
            <a:endParaRPr lang="ko-KR" altLang="en-US" dirty="0" smtClean="0" sz="1100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Slope of isocost line  </a:t>
            </a:r>
            <a:endParaRPr lang="ko-KR" altLang="en-US" dirty="0" smtClean="0" sz="1100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and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600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minimum cost combination can then be written as: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endParaRPr lang="ko-KR" altLang="en-US" dirty="0" smtClean="0" sz="11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Minimum cost for a given output will occur when each dollar of input added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process will add an equivalent amount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w = $10, r = $2, and 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K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which input would the producer use more of?  Why?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Effect of Effluent Fees on Firms’ Input Choices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Effect of Effluent Fees on Firms’ Input Choices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Firms that have a by-product to production produce an effluent.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 effluent fee is a per-unit fee that firms must pay for the effluent that they emit.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How would a producer respond to an effluent fee on production?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The Scenario: Steel Producer </a:t>
            </a:r>
            <a:endParaRPr lang="ko-KR" altLang="en-US" dirty="0" smtClean="0" sz="1097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98</a:t>
            </a:r>
            <a:endParaRPr lang="ko-KR" altLang="en-US" dirty="0" smtClean="0" sz="1200"/>
          </a:p>
        </p:txBody>
      </p:sp>
      <p:sp>
        <p:nvSpPr>
          <p:cNvPr id="431" name="Rect 3"/>
          <p:cNvSpPr>
            <a:spLocks noGrp="1" noChangeArrowheads="1"/>
          </p:cNvSpPr>
          <p:nvPr/>
        </p:nvSpPr>
        <p:spPr>
          <a:xfrm rot="0">
            <a:off x="2115185" y="4742815"/>
            <a:ext cx="589280" cy="1816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MP</a:t>
            </a:r>
            <a:endParaRPr lang="ko-KR" altLang="en-US" dirty="0" smtClean="0" sz="1100"/>
          </a:p>
          <a:p>
            <a:pPr marL="0" indent="0" defTabSz="15240" algn="l">
              <a:lnSpc>
                <a:spcPts val="1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100" i="1"/>
          </a:p>
        </p:txBody>
      </p:sp>
      <p:sp>
        <p:nvSpPr>
          <p:cNvPr id="432" name="Rect 3"/>
          <p:cNvSpPr>
            <a:spLocks noGrp="1" noChangeArrowheads="1"/>
          </p:cNvSpPr>
          <p:nvPr/>
        </p:nvSpPr>
        <p:spPr>
          <a:xfrm rot="0">
            <a:off x="2042160" y="4685030"/>
            <a:ext cx="961390" cy="1743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00">
                <a:solidFill>
                  <a:srgbClr val="000000"/>
                </a:solidFill>
                <a:latin typeface="Times New Roman"/>
              </a:rPr>
              <a:t>L</a:t>
            </a:r>
            <a:endParaRPr lang="ko-KR" altLang="en-US" dirty="0" smtClean="0" sz="6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600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100" i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endParaRPr lang="ko-KR" altLang="en-US" dirty="0" smtClean="0" sz="600"/>
          </a:p>
        </p:txBody>
      </p:sp>
      <p:sp>
        <p:nvSpPr>
          <p:cNvPr id="433" name="Rect 3"/>
          <p:cNvSpPr>
            <a:spLocks noGrp="1" noChangeArrowheads="1"/>
          </p:cNvSpPr>
          <p:nvPr/>
        </p:nvSpPr>
        <p:spPr>
          <a:xfrm rot="0">
            <a:off x="1728470" y="4648200"/>
            <a:ext cx="1963420" cy="1835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Symbol"/>
              </a:rPr>
              <a:t>=</a:t>
            </a:r>
            <a:endParaRPr lang="ko-KR" altLang="en-US" dirty="0" smtClean="0" sz="110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endParaRPr lang="ko-KR" altLang="en-US" dirty="0" smtClean="0" sz="1100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endParaRPr lang="ko-KR" altLang="en-US" dirty="0" smtClean="0" sz="1100" i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00"/>
          </a:p>
        </p:txBody>
      </p:sp>
      <p:sp>
        <p:nvSpPr>
          <p:cNvPr id="434" name="Rect 3"/>
          <p:cNvSpPr>
            <a:spLocks noGrp="1" noChangeArrowheads="1"/>
          </p:cNvSpPr>
          <p:nvPr/>
        </p:nvSpPr>
        <p:spPr>
          <a:xfrm rot="0">
            <a:off x="1527175" y="2685415"/>
            <a:ext cx="4076065" cy="3874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combination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to capital and therefore capital  </a:t>
            </a:r>
            <a:endParaRPr lang="ko-KR" altLang="en-US" dirty="0" smtClean="0" sz="798" b="1"/>
          </a:p>
          <a:p>
            <a:pPr marL="0" indent="0" defTabSz="15240" algn="l">
              <a:lnSpc>
                <a:spcPts val="1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1100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100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00" i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endParaRPr lang="ko-KR" altLang="en-US" dirty="0" smtClean="0" sz="1100" i="1"/>
          </a:p>
        </p:txBody>
      </p:sp>
      <p:sp>
        <p:nvSpPr>
          <p:cNvPr id="435" name="Rect 3"/>
          <p:cNvSpPr>
            <a:spLocks noGrp="1" noChangeArrowheads="1"/>
          </p:cNvSpPr>
          <p:nvPr/>
        </p:nvSpPr>
        <p:spPr>
          <a:xfrm rot="0">
            <a:off x="1261745" y="1691640"/>
            <a:ext cx="4399280" cy="4736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changes, the Isocost curve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becomes steeper due to 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change in the slope -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(w/L).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B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new combination represents 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947" b="1"/>
          </a:p>
          <a:p>
            <a:pPr marL="0" indent="0" defTabSz="15240" algn="l">
              <a:lnSpc>
                <a:spcPts val="1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>
                <a:solidFill>
                  <a:srgbClr val="000000"/>
                </a:solidFill>
                <a:latin typeface="Times New Roman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endParaRPr lang="ko-KR" altLang="en-US" dirty="0" smtClean="0" sz="110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endParaRPr lang="ko-KR" altLang="en-US" dirty="0" smtClean="0" sz="1100" i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endParaRPr lang="ko-KR" altLang="en-US" dirty="0" smtClean="0" sz="110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endParaRPr lang="ko-KR" altLang="en-US" dirty="0" smtClean="0" sz="1100" i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22575" y="2517775"/>
            <a:ext cx="2682240" cy="21240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09215" y="5163185"/>
            <a:ext cx="3005455" cy="23501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Located on a river: Low cost transportation and emission disposal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(effluent).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EPA imposes a per unit effluent fee to reduce the environmentally harmful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effluent.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How should the firm respond?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Cost-Minimizing Response to an Effluent Fee 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(machine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hours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month)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5,000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= -0.25 </a:t>
            </a:r>
            <a:endParaRPr lang="ko-KR" altLang="en-US" dirty="0" smtClean="0" sz="79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4,000 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3,000 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2,000 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1,000 </a:t>
            </a:r>
            <a:endParaRPr lang="ko-KR" altLang="en-US" dirty="0" smtClean="0" sz="798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5,000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10,000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12,000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18,000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20,000</a:t>
            </a:r>
            <a:endParaRPr lang="ko-KR" altLang="en-US" dirty="0" smtClean="0" sz="70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(machine 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hours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month)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5,000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F </a:t>
            </a:r>
            <a:endParaRPr lang="ko-KR" altLang="en-US" dirty="0" smtClean="0" sz="10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4,000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3,500 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3,000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capital so now combination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is selected.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2,000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1,000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0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endParaRPr lang="ko-KR" altLang="en-US" dirty="0" smtClean="0" sz="90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more easily factors can be substituted; the more effective the fee is in reducing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effluent.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greater the degree of substitutes, the less the firm will have to pay (e.g.: $50,000 with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combination B instead of $100,000 with combination A). </a:t>
            </a:r>
            <a:endParaRPr lang="ko-KR" altLang="en-US" dirty="0" smtClean="0" sz="1097"/>
          </a:p>
          <a:p>
            <a:pPr marL="0" indent="0" defTabSz="15240" algn="l">
              <a:lnSpc>
                <a:spcPts val="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99</a:t>
            </a:r>
            <a:endParaRPr lang="ko-KR" altLang="en-US" dirty="0" smtClean="0" sz="1200"/>
          </a:p>
        </p:txBody>
      </p:sp>
      <p:sp>
        <p:nvSpPr>
          <p:cNvPr id="438" name="Rect 3"/>
          <p:cNvSpPr>
            <a:spLocks noGrp="1" noChangeArrowheads="1"/>
          </p:cNvSpPr>
          <p:nvPr/>
        </p:nvSpPr>
        <p:spPr>
          <a:xfrm rot="0">
            <a:off x="5577840" y="7491730"/>
            <a:ext cx="635000" cy="113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(gal./month) </a:t>
            </a:r>
            <a:endParaRPr lang="ko-KR" altLang="en-US" dirty="0" smtClean="0" sz="798" b="1"/>
          </a:p>
        </p:txBody>
      </p:sp>
      <p:sp>
        <p:nvSpPr>
          <p:cNvPr id="439" name="Rect 3"/>
          <p:cNvSpPr>
            <a:spLocks noGrp="1" noChangeArrowheads="1"/>
          </p:cNvSpPr>
          <p:nvPr/>
        </p:nvSpPr>
        <p:spPr>
          <a:xfrm rot="0">
            <a:off x="3459480" y="5068570"/>
            <a:ext cx="2780665" cy="25514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Prior to regulation the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firm chooses to produce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 output using 10,000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gallons of water and 2,000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machine-hours of capital at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A. </a:t>
            </a:r>
            <a:endParaRPr lang="ko-KR" altLang="en-US" dirty="0" smtClean="0" sz="798" i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the effluent fee of $10/gallon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Waste Water 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10,000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12,000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18,000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20,000</a:t>
            </a:r>
            <a:endParaRPr lang="ko-KR" altLang="en-US" dirty="0" smtClean="0" sz="798" b="1"/>
          </a:p>
        </p:txBody>
      </p:sp>
      <p:sp>
        <p:nvSpPr>
          <p:cNvPr id="440" name="Rect 3"/>
          <p:cNvSpPr>
            <a:spLocks noGrp="1" noChangeArrowheads="1"/>
          </p:cNvSpPr>
          <p:nvPr/>
        </p:nvSpPr>
        <p:spPr>
          <a:xfrm rot="0">
            <a:off x="2999105" y="2496185"/>
            <a:ext cx="3237865" cy="5096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Slope of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Isocost = -10/40  </a:t>
            </a:r>
            <a:endParaRPr lang="ko-KR" altLang="en-US" dirty="0" smtClean="0" sz="798" b="1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Output of 2,000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Tons of Steel per Month </a:t>
            </a:r>
            <a:endParaRPr lang="ko-KR" altLang="en-US" dirty="0" smtClean="0" sz="798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Waste Water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(gal./month) 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Slope of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Isocost = -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20/40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= -0.50 </a:t>
            </a:r>
            <a:endParaRPr lang="ko-KR" altLang="en-US" dirty="0" smtClean="0" sz="798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Following the imposition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slope of the Isocost changes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which the higher cost of water to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002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Output of 2,000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Tons of Steel per Month </a:t>
            </a:r>
            <a:endParaRPr lang="ko-KR" altLang="en-US" dirty="0" smtClean="0" sz="798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5,000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31390" y="2453640"/>
            <a:ext cx="2672715" cy="25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36775" y="7598410"/>
            <a:ext cx="2374265" cy="22955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 in the Long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Cost minimization with Varying Output Levels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firm’s expansion path shows the minimum cost combinations of labor and capital at each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Firm’s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Capital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year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150 </a:t>
            </a:r>
            <a:endParaRPr lang="ko-KR" altLang="en-US" dirty="0" smtClean="0" sz="94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$2000 </a:t>
            </a:r>
            <a:endParaRPr lang="ko-KR" altLang="en-US" dirty="0" smtClean="0" sz="7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94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75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B </a:t>
            </a:r>
            <a:endParaRPr lang="ko-KR" altLang="en-US" dirty="0" smtClean="0" sz="94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Isoquan</a:t>
            </a:r>
            <a:endParaRPr lang="ko-KR" altLang="en-US" dirty="0" smtClean="0" sz="85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150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200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300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Expansion Path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Year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Expansion Path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3000 </a:t>
            </a:r>
            <a:endParaRPr lang="ko-KR" altLang="en-US" dirty="0" smtClean="0" sz="852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2000 </a:t>
            </a:r>
            <a:endParaRPr lang="ko-KR" altLang="en-US" dirty="0" smtClean="0" sz="85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run total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12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200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300</a:t>
            </a:r>
            <a:endParaRPr lang="ko-KR" altLang="en-US" dirty="0" smtClean="0" sz="852" b="1"/>
          </a:p>
        </p:txBody>
      </p:sp>
      <p:sp>
        <p:nvSpPr>
          <p:cNvPr id="443" name="Rect 3"/>
          <p:cNvSpPr>
            <a:spLocks noGrp="1" noChangeArrowheads="1"/>
          </p:cNvSpPr>
          <p:nvPr/>
        </p:nvSpPr>
        <p:spPr>
          <a:xfrm rot="0">
            <a:off x="4206240" y="2749550"/>
            <a:ext cx="1040130" cy="1123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in the long-run. </a:t>
            </a:r>
            <a:endParaRPr lang="ko-KR" altLang="en-US" dirty="0" smtClean="0" sz="798"/>
          </a:p>
        </p:txBody>
      </p:sp>
      <p:sp>
        <p:nvSpPr>
          <p:cNvPr id="444" name="Rect 3"/>
          <p:cNvSpPr>
            <a:spLocks noGrp="1" noChangeArrowheads="1"/>
          </p:cNvSpPr>
          <p:nvPr/>
        </p:nvSpPr>
        <p:spPr>
          <a:xfrm rot="0">
            <a:off x="2310130" y="2282825"/>
            <a:ext cx="4302125" cy="7623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expansion path illustrates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least-cost combinations of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labor and capital that can be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used to produce each level of </a:t>
            </a:r>
            <a:endParaRPr lang="ko-KR" altLang="en-US" dirty="0" smtClean="0" sz="7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$3000 Isocost Line </a:t>
            </a:r>
            <a:endParaRPr lang="ko-KR" altLang="en-US" dirty="0" smtClean="0" sz="852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Expansion Path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Isocost Line</a:t>
            </a:r>
            <a:endParaRPr lang="ko-KR" altLang="en-US" dirty="0" smtClean="0" sz="798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300 Unit Isoquant 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200 Unit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per year </a:t>
            </a:r>
            <a:endParaRPr lang="ko-KR" altLang="en-US" dirty="0" smtClean="0" sz="900" b="1"/>
          </a:p>
          <a:p>
            <a:pPr marL="0" indent="0" defTabSz="15240" algn="l">
              <a:lnSpc>
                <a:spcPts val="2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852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firm’s Long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D </a:t>
            </a:r>
            <a:endParaRPr lang="ko-KR" altLang="en-US" dirty="0" smtClean="0" sz="852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Output, Units/yr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Versus Short-Run Cost Curves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What happens to average costs when both inputs are variable (long run) versus only having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input that is variable (short run)? </a:t>
            </a:r>
            <a:endParaRPr lang="ko-KR" altLang="en-US" dirty="0" smtClean="0" sz="1097"/>
          </a:p>
          <a:p>
            <a:pPr marL="0" indent="0" defTabSz="15240" algn="l">
              <a:lnSpc>
                <a:spcPts val="4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16480" y="938530"/>
            <a:ext cx="2472055" cy="23380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49625" y="7278370"/>
            <a:ext cx="2160905" cy="20910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Inflexibility of Short-Run Production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Capital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The long-run expansion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year </a:t>
            </a:r>
            <a:endParaRPr lang="ko-KR" altLang="en-US" dirty="0" smtClean="0" sz="852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Long-Run </a:t>
            </a:r>
            <a:endParaRPr lang="ko-KR" altLang="en-US" dirty="0" smtClean="0" sz="8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94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 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55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Labor per year</a:t>
            </a:r>
            <a:endParaRPr lang="ko-KR" altLang="en-US" dirty="0" smtClean="0" sz="852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Long-Run Average Cost (LAC)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 Returns to Scale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If input is doubled, output will double and average cost is constant at all levels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Returns to Scale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If input is doubled, output will more than double and average cost decreases at all levels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Decreasing Returns to Scale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If input is doubled, the increase in output is less than twice as large and average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increases with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long-run: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Firms experience increasing and decreasing returns to scale and therefore long-run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average cost is “U” shaped.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marginal cost leads long-run average cost: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If LMC &lt; LAC, LAC will fall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If LMC &gt; LAC, LAC will rise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Therefore, LMC = LAC at the minimum of LAC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Average and Marginal Cost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Cost($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per unit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947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102</a:t>
            </a:r>
            <a:endParaRPr lang="ko-KR" altLang="en-US" dirty="0" smtClean="0" sz="1200"/>
          </a:p>
        </p:txBody>
      </p:sp>
      <p:sp>
        <p:nvSpPr>
          <p:cNvPr id="449" name="Rect 3"/>
          <p:cNvSpPr>
            <a:spLocks noGrp="1" noChangeArrowheads="1"/>
          </p:cNvSpPr>
          <p:nvPr/>
        </p:nvSpPr>
        <p:spPr>
          <a:xfrm rot="0">
            <a:off x="4285615" y="1261745"/>
            <a:ext cx="1381760" cy="1316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path is drawn as before.. </a:t>
            </a:r>
            <a:endParaRPr lang="ko-KR" altLang="en-US" dirty="0" smtClean="0" sz="852" b="1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</a:rPr>
              <a:t>Short-Run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</a:rPr>
              <a:t>Expansion	Path </a:t>
            </a:r>
            <a:endParaRPr lang="ko-KR" altLang="en-US" dirty="0" smtClean="0" sz="852" b="1"/>
          </a:p>
        </p:txBody>
      </p:sp>
      <p:sp>
        <p:nvSpPr>
          <p:cNvPr id="450" name="Rect 3"/>
          <p:cNvSpPr>
            <a:spLocks noGrp="1" noChangeArrowheads="1"/>
          </p:cNvSpPr>
          <p:nvPr/>
        </p:nvSpPr>
        <p:spPr>
          <a:xfrm rot="0">
            <a:off x="2225040" y="981710"/>
            <a:ext cx="3198495" cy="69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</a:rPr>
              <a:t>E </a:t>
            </a:r>
            <a:endParaRPr lang="ko-KR" altLang="en-US" dirty="0" smtClean="0" sz="94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</a:rPr>
              <a:t>C </a:t>
            </a:r>
            <a:endParaRPr lang="ko-KR" altLang="en-US" dirty="0" smtClean="0" sz="947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Expansion	Path </a:t>
            </a:r>
            <a:endParaRPr lang="ko-KR" altLang="en-US" dirty="0" smtClean="0" sz="852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lang="ko-KR" altLang="en-US" dirty="0" smtClean="0" sz="852" b="1"/>
          </a:p>
          <a:p>
            <a:pPr marL="0" indent="0" defTabSz="15240" algn="l">
              <a:lnSpc>
                <a:spcPts val="3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LM</a:t>
            </a:r>
            <a:endParaRPr lang="ko-KR" altLang="en-US" dirty="0" smtClean="0" sz="94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LA</a:t>
            </a:r>
            <a:endParaRPr lang="ko-KR" altLang="en-US" dirty="0" smtClean="0" sz="947" b="1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09545" y="5772785"/>
            <a:ext cx="3240405" cy="22066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is the relationship between long-run average cost and long-run marginal cost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average cost is constant?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Economies and Diseconomies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Increase in output is greater than the increase in inputs.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Increase in output is less than the increase in inputs.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Measuring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67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1406">
                <a:solidFill>
                  <a:srgbClr val="000000"/>
                </a:solidFill>
                <a:latin typeface="Times New Roman"/>
              </a:rPr>
              <a:t> 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0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06">
                <a:solidFill>
                  <a:srgbClr val="000000"/>
                </a:solidFill>
                <a:latin typeface="Times New Roman"/>
                <a:ea typeface="Times New Roman"/>
              </a:rPr>
              <a:t>Cost  output elasticity</a:t>
            </a:r>
            <a:endParaRPr lang="ko-KR" altLang="en-US" dirty="0" smtClean="0" sz="1406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40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06">
                <a:solidFill>
                  <a:srgbClr val="000000"/>
                </a:solidFill>
                <a:latin typeface="Times New Roman"/>
                <a:ea typeface="Times New Roman"/>
              </a:rPr>
              <a:t> %Δ in cost from a 1% increase </a:t>
            </a:r>
            <a:endParaRPr lang="ko-KR" altLang="en-US" dirty="0" smtClean="0" sz="1406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406">
                <a:solidFill>
                  <a:srgbClr val="000000"/>
                </a:solidFill>
                <a:latin typeface="Times New Roman"/>
                <a:ea typeface="Times New Roman"/>
              </a:rPr>
              <a:t>         in output</a:t>
            </a:r>
            <a:endParaRPr lang="ko-KR" altLang="en-US" dirty="0" smtClean="0" sz="1406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Therefore, the following is true: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&lt; 1: MC &lt; AC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cost indicate decreasing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1: MC = AC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cost indicate constant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&gt; 1: MC &gt; AC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cost indicate increasing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Relationship Between Short-Run and Long-Run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will use short and long-run cost to determine the optimal plant size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Cost with Constant Returns to Scale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unit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of 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LAC =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LMC </a:t>
            </a:r>
            <a:endParaRPr lang="ko-KR" altLang="en-US" dirty="0" smtClean="0" sz="900" b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Observation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optimal plant size will depend on the anticipated output (e.g.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choose SAC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,etc).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long-run average cost curve is the envelope of the firm’s short-run average cost curves.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would happen to average cost if an output level other than that shown is chosen?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103</a:t>
            </a:r>
            <a:endParaRPr lang="ko-KR" altLang="en-US" dirty="0" smtClean="0" sz="1200"/>
          </a:p>
        </p:txBody>
      </p:sp>
      <p:sp>
        <p:nvSpPr>
          <p:cNvPr id="453" name="Rect 3"/>
          <p:cNvSpPr>
            <a:spLocks noGrp="1" noChangeArrowheads="1"/>
          </p:cNvSpPr>
          <p:nvPr/>
        </p:nvSpPr>
        <p:spPr>
          <a:xfrm rot="0">
            <a:off x="3498850" y="5809615"/>
            <a:ext cx="1872615" cy="7708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With many plant sizes with SAC = $10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LAC = LMC and is a straight line </a:t>
            </a:r>
            <a:endParaRPr lang="ko-KR" altLang="en-US" dirty="0" smtClean="0" sz="798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551" b="1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57070" y="966470"/>
            <a:ext cx="3642360" cy="24593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Cost with Economies &amp; Diseconomies of Scale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unit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of 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$10 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$8 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the output is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manager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LMC 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SAC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 SAC $8. </a:t>
            </a:r>
            <a:endParaRPr lang="ko-KR" altLang="en-US" dirty="0" smtClean="0" sz="798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4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What is the firms’ long-run cost curve?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can change scale to change output in the long-run.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long-run cost curve is the dark blue portion of the SAC curve which represents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minimum cost for any 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LAC does not include the minimum points of small and large size plants? Why not?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LMC is not the envelope of the short-run marginal cost. Why not?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Measuring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2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1452" i="1">
                <a:solidFill>
                  <a:srgbClr val="000000"/>
                </a:solidFill>
                <a:latin typeface="Times New Roman"/>
              </a:rPr>
              <a:t> 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52">
                <a:solidFill>
                  <a:srgbClr val="000000"/>
                </a:solidFill>
                <a:latin typeface="Symbol"/>
                <a:ea typeface="Symbol"/>
              </a:rPr>
              <a:t>= Δ</a:t>
            </a:r>
            <a:r>
              <a:rPr lang="en-US" altLang="ko-KR" dirty="0" smtClean="0" sz="1452" i="1">
                <a:solidFill>
                  <a:srgbClr val="000000"/>
                </a:solidFill>
                <a:latin typeface="Times New Roman"/>
                <a:ea typeface="Times New Roman"/>
              </a:rPr>
              <a:t>C/ )/(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52" i="1">
                <a:solidFill>
                  <a:srgbClr val="000000"/>
                </a:solidFill>
                <a:latin typeface="Times New Roman"/>
                <a:ea typeface="Times New Roman"/>
              </a:rPr>
              <a:t>/ )</a:t>
            </a:r>
            <a:endParaRPr lang="ko-KR" altLang="en-US" dirty="0" smtClean="0" sz="1452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06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1478" i="1">
                <a:solidFill>
                  <a:srgbClr val="000000"/>
                </a:solidFill>
                <a:latin typeface="Times New Roman"/>
              </a:rPr>
              <a:t> 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78">
                <a:solidFill>
                  <a:srgbClr val="000000"/>
                </a:solidFill>
                <a:latin typeface="Symbol"/>
                <a:ea typeface="Symbol"/>
              </a:rPr>
              <a:t>= Δ 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147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47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Therefore, the following is true: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&lt; 1: MC &lt; AC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Average cost indicate decreasing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1: MC = AC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Average cost indicate constant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&gt; 1: MC &gt; AC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Comic Sans MS"/>
                <a:ea typeface="Comic Sans MS"/>
              </a:rPr>
              <a:t>Average cost indicate increasing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Relationship Between Short-Run and Long-Run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will use short and long-run cost to determine the optimal plant size </a:t>
            </a:r>
            <a:endParaRPr lang="ko-KR" altLang="en-US" dirty="0" smtClean="0" sz="1097"/>
          </a:p>
          <a:p>
            <a:pPr marL="0" indent="0" defTabSz="15240" algn="l">
              <a:lnSpc>
                <a:spcPts val="1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104</a:t>
            </a:r>
            <a:endParaRPr lang="ko-KR" altLang="en-US" dirty="0" smtClean="0" sz="1200"/>
          </a:p>
        </p:txBody>
      </p:sp>
      <p:sp>
        <p:nvSpPr>
          <p:cNvPr id="456" name="Rect 3"/>
          <p:cNvSpPr>
            <a:spLocks noGrp="1" noChangeArrowheads="1"/>
          </p:cNvSpPr>
          <p:nvPr/>
        </p:nvSpPr>
        <p:spPr>
          <a:xfrm rot="0">
            <a:off x="5361305" y="1109345"/>
            <a:ext cx="324485" cy="12827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57" name="Rect 3"/>
          <p:cNvSpPr>
            <a:spLocks noGrp="1" noChangeArrowheads="1"/>
          </p:cNvSpPr>
          <p:nvPr/>
        </p:nvSpPr>
        <p:spPr>
          <a:xfrm rot="0">
            <a:off x="4199890" y="1124585"/>
            <a:ext cx="1022350" cy="438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600" b="1"/>
          </a:p>
        </p:txBody>
      </p:sp>
      <p:sp>
        <p:nvSpPr>
          <p:cNvPr id="458" name="Rect 3"/>
          <p:cNvSpPr>
            <a:spLocks noGrp="1" noChangeArrowheads="1"/>
          </p:cNvSpPr>
          <p:nvPr/>
        </p:nvSpPr>
        <p:spPr>
          <a:xfrm rot="0">
            <a:off x="2084705" y="1082040"/>
            <a:ext cx="3677285" cy="4312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B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4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would chose the small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plant </a:t>
            </a:r>
            <a:endParaRPr lang="ko-KR" altLang="en-US" dirty="0" smtClean="0" sz="798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45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452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09545" y="1029970"/>
            <a:ext cx="3240405" cy="22072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06295" y="5123815"/>
            <a:ext cx="3639185" cy="24504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Cost with Constant Returns to Scale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unit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of 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LAC =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LMC </a:t>
            </a:r>
            <a:endParaRPr lang="ko-KR" altLang="en-US" dirty="0" smtClean="0" sz="900" b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optimal plant size will depend on the anticipated output (e.g.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choose SAC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,etc).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long-run average cost curve is the envelope of the firm’s short-run average cost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would happen to average cost if an output level other than that shown is chosen?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Cost with Economies &amp; Diseconomies of Scale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unit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of 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$10 </a:t>
            </a:r>
            <a:endParaRPr lang="ko-KR" altLang="en-US" dirty="0" smtClean="0" sz="85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$8 </a:t>
            </a:r>
            <a:endParaRPr lang="ko-KR" altLang="en-US" dirty="0" smtClean="0" sz="85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the output is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49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LMC  </a:t>
            </a:r>
            <a:endParaRPr lang="ko-KR" altLang="en-US" dirty="0" smtClean="0" sz="900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6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What is the firms’ long-run cost curve?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can change scale to change output in the long-run.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long-run cost curve is the dark blue portion of the SAC curve which represents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minimum cost for any 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LAC does not include the minimum points of small and large size plants? Why not?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LMC is not the envelope of the short-run marginal cost. Why not?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105</a:t>
            </a:r>
            <a:endParaRPr lang="ko-KR" altLang="en-US" dirty="0" smtClean="0" sz="1200"/>
          </a:p>
        </p:txBody>
      </p:sp>
      <p:sp>
        <p:nvSpPr>
          <p:cNvPr id="461" name="Rect 3"/>
          <p:cNvSpPr>
            <a:spLocks noGrp="1" noChangeArrowheads="1"/>
          </p:cNvSpPr>
          <p:nvPr/>
        </p:nvSpPr>
        <p:spPr>
          <a:xfrm rot="0">
            <a:off x="5504815" y="5266690"/>
            <a:ext cx="323850" cy="12827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62" name="Rect 3"/>
          <p:cNvSpPr>
            <a:spLocks noGrp="1" noChangeArrowheads="1"/>
          </p:cNvSpPr>
          <p:nvPr/>
        </p:nvSpPr>
        <p:spPr>
          <a:xfrm rot="0">
            <a:off x="4663440" y="5281930"/>
            <a:ext cx="1052830" cy="164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600" b="1"/>
          </a:p>
          <a:p>
            <a:pPr marL="0" indent="0" defTabSz="15240"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manager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would chose the small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SAC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 SAC $8. </a:t>
            </a:r>
            <a:endParaRPr lang="ko-KR" altLang="en-US" dirty="0" smtClean="0" sz="798"/>
          </a:p>
        </p:txBody>
      </p:sp>
      <p:sp>
        <p:nvSpPr>
          <p:cNvPr id="463" name="Rect 3"/>
          <p:cNvSpPr>
            <a:spLocks noGrp="1" noChangeArrowheads="1"/>
          </p:cNvSpPr>
          <p:nvPr/>
        </p:nvSpPr>
        <p:spPr>
          <a:xfrm rot="0">
            <a:off x="2233930" y="1066800"/>
            <a:ext cx="3670935" cy="6623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many plant sizes with SAC = $10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LAC = LMC and is a straight line </a:t>
            </a:r>
            <a:endParaRPr lang="ko-KR" altLang="en-US" dirty="0" smtClean="0" sz="798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551" b="1">
                <a:solidFill>
                  <a:srgbClr val="000000"/>
                </a:solidFill>
                <a:latin typeface="Times New Roman"/>
              </a:rPr>
              <a:t>3 </a:t>
            </a:r>
            <a:endParaRPr lang="ko-KR" altLang="en-US" dirty="0" smtClean="0" sz="551" b="1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SAC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endParaRPr lang="ko-KR" altLang="en-US" dirty="0" smtClean="0" sz="85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Times New Roman"/>
                <a:ea typeface="Times New Roman"/>
              </a:rPr>
              <a:t>B </a:t>
            </a:r>
            <a:endParaRPr lang="ko-KR" altLang="en-US" dirty="0" smtClean="0" sz="852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4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plant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Times New Roman"/>
                <a:ea typeface="Times New Roman"/>
              </a:rPr>
              <a:t>SMC</a:t>
            </a:r>
            <a:r>
              <a:rPr lang="en-US" altLang="ko-KR" dirty="0" smtClean="0" sz="498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498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92680" y="5276215"/>
            <a:ext cx="2045335" cy="19780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21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Production with Two Outputs--Economies of Scope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Economies of scope exist when the joint output of a single firm is greater than the output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could be achieved by two different firms each producing a single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Chicken farm--poultry and eggs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Automobile company--cars and trucks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University--Teaching and research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What are the advantages of joint production?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 an automobile company producing cars and tractors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Advantages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Both use capital and labor.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The firms share management resources.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Both use the same labor skills and type of machinery.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Production: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must choose how much of each to produce.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alternative quantities can be illustrated using product transformation curves.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 Transformation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Number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tractors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combination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L &amp; K.</a:t>
            </a:r>
            <a:endParaRPr lang="ko-KR" altLang="en-US" dirty="0" smtClean="0" sz="90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illustrates a low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illustrates a higher level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 output with two times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Number of cars</a:t>
            </a:r>
            <a:endParaRPr lang="ko-KR" altLang="en-US" dirty="0" smtClean="0" sz="70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transformation curves are negatively sloped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 returns exist in this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the production transformation curve is concave is joint production desirable?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no direct relationship between economies of scope and economies of scale.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experience economies of scope and diseconomies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have economies of scale and not have economies of scope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			The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degree of economies of scope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measures the savings in cost and can be written: </a:t>
            </a:r>
            <a:endParaRPr lang="ko-KR" altLang="en-US" dirty="0" smtClean="0" sz="1097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SC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4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446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43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843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4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106</a:t>
            </a:r>
            <a:endParaRPr lang="ko-KR" altLang="en-US" dirty="0" smtClean="0" sz="1200"/>
          </a:p>
        </p:txBody>
      </p:sp>
      <p:sp>
        <p:nvSpPr>
          <p:cNvPr id="466" name="Rect 3"/>
          <p:cNvSpPr>
            <a:spLocks noGrp="1" noChangeArrowheads="1"/>
          </p:cNvSpPr>
          <p:nvPr/>
        </p:nvSpPr>
        <p:spPr>
          <a:xfrm rot="0">
            <a:off x="5059680" y="8848090"/>
            <a:ext cx="89535" cy="204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46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dirty="0" smtClean="0" sz="1446"/>
          </a:p>
        </p:txBody>
      </p:sp>
      <p:sp>
        <p:nvSpPr>
          <p:cNvPr id="467" name="Rect 3"/>
          <p:cNvSpPr>
            <a:spLocks noGrp="1" noChangeArrowheads="1"/>
          </p:cNvSpPr>
          <p:nvPr/>
        </p:nvSpPr>
        <p:spPr>
          <a:xfrm rot="0">
            <a:off x="4724400" y="8915400"/>
            <a:ext cx="336550" cy="118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43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843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43"/>
          </a:p>
        </p:txBody>
      </p:sp>
      <p:sp>
        <p:nvSpPr>
          <p:cNvPr id="468" name="Rect 3"/>
          <p:cNvSpPr>
            <a:spLocks noGrp="1" noChangeArrowheads="1"/>
          </p:cNvSpPr>
          <p:nvPr/>
        </p:nvSpPr>
        <p:spPr>
          <a:xfrm rot="0">
            <a:off x="3197225" y="8830310"/>
            <a:ext cx="1750695" cy="222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446" i="1"/>
          </a:p>
        </p:txBody>
      </p:sp>
      <p:sp>
        <p:nvSpPr>
          <p:cNvPr id="469" name="Rect 3"/>
          <p:cNvSpPr>
            <a:spLocks noGrp="1" noChangeArrowheads="1"/>
          </p:cNvSpPr>
          <p:nvPr/>
        </p:nvSpPr>
        <p:spPr>
          <a:xfrm rot="0">
            <a:off x="3005455" y="8915400"/>
            <a:ext cx="909320" cy="118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43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843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43"/>
          </a:p>
        </p:txBody>
      </p:sp>
      <p:sp>
        <p:nvSpPr>
          <p:cNvPr id="470" name="Rect 3"/>
          <p:cNvSpPr>
            <a:spLocks noGrp="1" noChangeArrowheads="1"/>
          </p:cNvSpPr>
          <p:nvPr/>
        </p:nvSpPr>
        <p:spPr>
          <a:xfrm rot="0">
            <a:off x="2578735" y="5203190"/>
            <a:ext cx="2823210" cy="4108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Each curve shows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combinations of output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with a given </a:t>
            </a:r>
            <a:endParaRPr lang="ko-KR" altLang="en-US" dirty="0" smtClean="0" sz="900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level of output.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as much labor and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capital. </a:t>
            </a:r>
            <a:endParaRPr lang="ko-KR" altLang="en-US" dirty="0" smtClean="0" sz="900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C(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446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44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446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446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330" y="7284720"/>
            <a:ext cx="1752600" cy="16852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C(Q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is the cost of producing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C(Q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is the cost of producing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is the joint cost of producing both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Interpretation: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SC &gt; 0 -- Economies of scope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SC &lt; 0 -- Diseconomies of scope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Issues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Truckload versus less than truck load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Direct versus indirect routing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Length of haul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Economies of Scope in the Trucking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of Scope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large-scale, direct hauls cheaper and more profitable than individual hauls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 trucks?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there cost advantages from operating both direct and indirect hauls?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Empirical Findings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analysis of 105 trucking firms examined four distinct outputs.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 hauls with partial loads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Intermediate hauls with partial loads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 hauls with partial loads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Hauls with total loads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Results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 = 1.576 for reasonably large firm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 = 0.104 for very large firms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Interpretation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Combining partial loads at an intermediate location lowers cost management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difficulties with very large firms.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Dynamic Changes in Costs--The Learning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learning curve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measures the impact of worker’s experience on the costs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It describes the relationship between a firm’s cumulative output and amount of inputs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needed to produce a unit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Hours of labor </a:t>
            </a:r>
            <a:endParaRPr lang="ko-KR" altLang="en-US" dirty="0" smtClean="0" sz="4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per machine lot </a:t>
            </a:r>
            <a:endParaRPr lang="ko-KR" altLang="en-US" dirty="0" smtClean="0" sz="4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  10 </a:t>
            </a:r>
            <a:endParaRPr lang="ko-KR" altLang="en-US" dirty="0" smtClean="0" sz="70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8 </a:t>
            </a:r>
            <a:endParaRPr lang="ko-KR" altLang="en-US" dirty="0" smtClean="0" sz="70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70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70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Cumulative number of  </a:t>
            </a:r>
            <a:endParaRPr lang="ko-KR" altLang="en-US" dirty="0" smtClean="0" sz="4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600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  <a:endParaRPr lang="ko-KR" altLang="en-US" dirty="0" smtClean="0" sz="1200"/>
          </a:p>
        </p:txBody>
      </p:sp>
      <p:sp>
        <p:nvSpPr>
          <p:cNvPr id="473" name="Rect 3"/>
          <p:cNvSpPr>
            <a:spLocks noGrp="1" noChangeArrowheads="1"/>
          </p:cNvSpPr>
          <p:nvPr/>
        </p:nvSpPr>
        <p:spPr>
          <a:xfrm rot="0">
            <a:off x="4934585" y="8909050"/>
            <a:ext cx="738505" cy="70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machine lots produced </a:t>
            </a:r>
            <a:endParaRPr lang="ko-KR" altLang="en-US" dirty="0" smtClean="0" sz="498" b="1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84450" y="4035425"/>
            <a:ext cx="1899285" cy="18256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46630" y="7470775"/>
            <a:ext cx="2038985" cy="19596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horizontal axis measures the cumulative number of hours of machine tools the firm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vertical axis measures the number of hours of labor needed to produce each lot.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learning curve in the figure is based on the relationship: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L = A + BN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-β</a:t>
            </a:r>
            <a:endParaRPr lang="ko-KR" altLang="en-US" dirty="0" smtClean="0" sz="701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N=1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equals A + B and this measures labor input to produce the first unit of output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 If β = 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input remains constant as the cumulative level of output increases, so there is no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learning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β &gt; 0 and N 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approaches A, and A represent minimum labor input/unit of output after all learning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taken place.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 The larger β: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more important the learning effect.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Hours of labor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machine lot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higher levels.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   8 </a:t>
            </a:r>
            <a:endParaRPr lang="ko-KR" altLang="en-US" dirty="0" smtClean="0" sz="64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Doubling cumulative output causes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64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minimum attainable input </a:t>
            </a:r>
            <a:endParaRPr lang="ko-KR" altLang="en-US" dirty="0" smtClean="0" sz="79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64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4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Cumulative number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64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New firms may experience a learning curve, not economies of scale.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Older firms have relatively small gains from learning.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Economies of Scale Versus Learning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($ per unit </a:t>
            </a:r>
            <a:endParaRPr lang="ko-KR" altLang="en-US" dirty="0" smtClean="0" sz="749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of output) </a:t>
            </a:r>
            <a:endParaRPr lang="ko-KR" altLang="en-US" dirty="0" smtClean="0" sz="749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Economies</a:t>
            </a:r>
            <a:r>
              <a:rPr lang="en-US" altLang="ko-KR" dirty="0" smtClean="0" sz="798" b="1">
                <a:solidFill>
                  <a:srgbClr val="FFFFFF"/>
                </a:solidFill>
                <a:latin typeface="Arial"/>
              </a:rPr>
              <a:t> of Scale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AC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Learning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749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108</a:t>
            </a:r>
            <a:endParaRPr lang="ko-KR" altLang="en-US" dirty="0" smtClean="0" sz="1200"/>
          </a:p>
        </p:txBody>
      </p:sp>
      <p:sp>
        <p:nvSpPr>
          <p:cNvPr id="476" name="Rect 3"/>
          <p:cNvSpPr>
            <a:spLocks noGrp="1" noChangeArrowheads="1"/>
          </p:cNvSpPr>
          <p:nvPr/>
        </p:nvSpPr>
        <p:spPr>
          <a:xfrm rot="0">
            <a:off x="3237230" y="4154170"/>
            <a:ext cx="1692275" cy="5035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lots to a cumulative amount of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20, then small savings at  </a:t>
            </a:r>
            <a:endParaRPr lang="ko-KR" altLang="en-US" dirty="0" smtClean="0" sz="900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requirement</a:t>
            </a:r>
            <a:endParaRPr lang="ko-KR" altLang="en-US" dirty="0" smtClean="0" sz="798"/>
          </a:p>
          <a:p>
            <a:pPr marL="0" indent="0" defTabSz="15240" algn="l">
              <a:lnSpc>
                <a:spcPts val="2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AC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/>
          </a:p>
        </p:txBody>
      </p:sp>
      <p:sp>
        <p:nvSpPr>
          <p:cNvPr id="477" name="Rect 3"/>
          <p:cNvSpPr>
            <a:spLocks noGrp="1" noChangeArrowheads="1"/>
          </p:cNvSpPr>
          <p:nvPr/>
        </p:nvSpPr>
        <p:spPr>
          <a:xfrm rot="0">
            <a:off x="2399030" y="4023360"/>
            <a:ext cx="3073400" cy="5126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chart shows a sharp drop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  10 </a:t>
            </a:r>
            <a:endParaRPr lang="ko-KR" altLang="en-US" dirty="0" smtClean="0" sz="648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20% reduction in the difference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the  input required and  </a:t>
            </a:r>
            <a:endParaRPr lang="ko-KR" altLang="en-US" dirty="0" smtClean="0" sz="7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452" b="1">
                <a:solidFill>
                  <a:srgbClr val="000000"/>
                </a:solidFill>
                <a:latin typeface="Times New Roman"/>
                <a:ea typeface="Times New Roman"/>
              </a:rPr>
              <a:t>β</a:t>
            </a:r>
            <a:r>
              <a:rPr lang="en-US" altLang="ko-KR" dirty="0" smtClean="0" sz="1452">
                <a:solidFill>
                  <a:srgbClr val="000000"/>
                </a:solidFill>
                <a:latin typeface="Times New Roman"/>
              </a:rPr>
              <a:t> = 0.31</a:t>
            </a:r>
            <a:endParaRPr lang="ko-KR" altLang="en-US" dirty="0" smtClean="0" sz="1452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machine lots 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produced</a:t>
            </a:r>
            <a:endParaRPr lang="ko-KR" altLang="en-US" dirty="0" smtClean="0" sz="798"/>
          </a:p>
          <a:p>
            <a:pPr marL="0" indent="0" defTabSz="15240" algn="l">
              <a:lnSpc>
                <a:spcPts val="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 i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900" i="1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Predicting the Labor Requirements of Producing a Given Output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Cumulative Output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Per-Unit Labor Requirement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Labor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each 10 units of Output (L)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Requirement</a:t>
            </a:r>
            <a:endParaRPr lang="ko-KR" altLang="en-US" dirty="0" smtClean="0" sz="109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10.0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18.0 (10.0 + 8.0)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25.0 (18.0 + 7.0)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.64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31.4 (25.0 + 6.4)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37.4 (31.4 + 6.0)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.56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43.0 (37.4 + 5.6)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.53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48.3 (43.0 + 5.3)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80 and over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.51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53.4 (48.3 + 5.1)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learning curve implies: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The labor requirement falls per unit.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Costs will be high at first and then will fall with learning.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After 8 years the labor requirement will be 0.51 and per unit cost will be half     what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was in the first year of production?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Learning Curve in Practice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Scenario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new firm enters the chemical processing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Do they: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Produce a low level of output and sell at a high price?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 a high level of output and sell at a low price?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How would the learning curve influence your decision?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Empirical Findings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Study of 37 chemical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cost fell 5.5% per year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each doubling of plant size, average production costs fall by 11%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each doubling of cumulative output, the average cost of production falls by 27%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Which is more important, the economies of scale or learning effects?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Other Empirical Findings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semi-conductor industry a study of seven generations of DRAM semiconductors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1974-1992 found learning rates averaged 20%.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aircraft industry the learning rates are as high as 40%.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Applying Learning Curves </a:t>
            </a:r>
            <a:endParaRPr lang="ko-KR" altLang="en-US" dirty="0" smtClean="0" sz="1097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53970" y="2624455"/>
            <a:ext cx="1965960" cy="18040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06370" y="7308850"/>
            <a:ext cx="2329180" cy="20364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determine if it is profitable to enter an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determine when profits will occur based on plant size and cumulative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Estimating and Predicting Cost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Estimates of future costs can be obtained from a cost function, which relates the cost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to the level of output and other variables that the firm can control.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Suppose we wanted to derive the total cost curve for automobile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Cost Curve for the Automobile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Variable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cost </a:t>
            </a:r>
            <a:endParaRPr lang="ko-KR" altLang="en-US" dirty="0" smtClean="0" sz="749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Nissa</a:t>
            </a:r>
            <a:endParaRPr lang="ko-KR" altLang="en-US" dirty="0" smtClean="0" sz="749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Hond</a:t>
            </a:r>
            <a:endParaRPr lang="ko-KR" altLang="en-US" dirty="0" smtClean="0" sz="749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333300"/>
                </a:solidFill>
                <a:latin typeface="Arial"/>
              </a:rPr>
              <a:t>Volvo</a:t>
            </a:r>
            <a:endParaRPr lang="ko-KR" altLang="en-US" dirty="0" smtClean="0" sz="70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For</a:t>
            </a:r>
            <a:endParaRPr lang="ko-KR" altLang="en-US" dirty="0" smtClean="0" sz="749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Chrysle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Quantity of Cars</a:t>
            </a:r>
            <a:endParaRPr lang="ko-KR" altLang="en-US" dirty="0" smtClean="0" sz="749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Estimating and Predicting Cost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linear cost function (does not show the U-shaped characteristics) might be: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827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82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827">
                <a:solidFill>
                  <a:srgbClr val="000000"/>
                </a:solidFill>
                <a:latin typeface="Symbol"/>
                <a:ea typeface="Symbol"/>
              </a:rPr>
              <a:t>β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827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82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linear cost function is applicable only if marginal cost is constant. 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 is represented by β.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we wish to allow for a U-shaped average cost curve and a marginal cost that is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constant, we might use the quadratic cost function: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β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211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γ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211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2115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the marginal cost curve is not linear, we might use a cubic cost function: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β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211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γ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11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211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2115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333300"/>
                </a:solidFill>
                <a:latin typeface="Arial"/>
              </a:rPr>
              <a:t>Cost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333300"/>
                </a:solidFill>
                <a:latin typeface="Arial"/>
              </a:rPr>
              <a:t>($ per unit)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85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857">
                <a:solidFill>
                  <a:srgbClr val="000000"/>
                </a:solidFill>
                <a:latin typeface="Symbol"/>
                <a:ea typeface="Symbol"/>
              </a:rPr>
              <a:t>β+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857">
                <a:solidFill>
                  <a:srgbClr val="000000"/>
                </a:solidFill>
                <a:latin typeface="Times New Roman"/>
                <a:ea typeface="Times New Roman"/>
              </a:rPr>
              <a:t>2 Q 3 Q</a:t>
            </a:r>
            <a:endParaRPr lang="ko-KR" altLang="en-US" dirty="0" smtClean="0" sz="857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39">
                <a:solidFill>
                  <a:srgbClr val="000000"/>
                </a:solidFill>
                <a:latin typeface="Arial"/>
              </a:rPr>
              <a:t>AVC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93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939">
                <a:solidFill>
                  <a:srgbClr val="000000"/>
                </a:solidFill>
                <a:latin typeface="Symbol"/>
                <a:ea typeface="Symbol"/>
              </a:rPr>
              <a:t>β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39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39">
                <a:solidFill>
                  <a:srgbClr val="000000"/>
                </a:solidFill>
                <a:latin typeface="Symbol"/>
                <a:ea typeface="Symbol"/>
              </a:rPr>
              <a:t>γ</a:t>
            </a:r>
            <a:r>
              <a:rPr lang="en-US" altLang="ko-KR" dirty="0" smtClean="0" sz="939">
                <a:solidFill>
                  <a:srgbClr val="000000"/>
                </a:solidFill>
                <a:latin typeface="Arial"/>
                <a:ea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939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3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39">
                <a:solidFill>
                  <a:srgbClr val="000000"/>
                </a:solidFill>
                <a:latin typeface="Arial"/>
                <a:ea typeface="Arial"/>
              </a:rPr>
              <a:t>Q</a:t>
            </a:r>
            <a:endParaRPr lang="ko-KR" altLang="en-US" dirty="0" smtClean="0" sz="939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333300"/>
                </a:solidFill>
                <a:latin typeface="Arial"/>
              </a:rPr>
              <a:t>Output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333300"/>
                </a:solidFill>
                <a:latin typeface="Arial"/>
              </a:rPr>
              <a:t>(per time period)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110</a:t>
            </a:r>
            <a:endParaRPr lang="ko-KR" altLang="en-US" dirty="0" smtClean="0" sz="1200"/>
          </a:p>
        </p:txBody>
      </p:sp>
      <p:sp>
        <p:nvSpPr>
          <p:cNvPr id="482" name="Rect 3"/>
          <p:cNvSpPr>
            <a:spLocks noGrp="1" noChangeArrowheads="1"/>
          </p:cNvSpPr>
          <p:nvPr/>
        </p:nvSpPr>
        <p:spPr>
          <a:xfrm rot="0">
            <a:off x="4776470" y="6577330"/>
            <a:ext cx="10414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34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1234"/>
          </a:p>
        </p:txBody>
      </p:sp>
      <p:sp>
        <p:nvSpPr>
          <p:cNvPr id="483" name="Rect 3"/>
          <p:cNvSpPr>
            <a:spLocks noGrp="1" noChangeArrowheads="1"/>
          </p:cNvSpPr>
          <p:nvPr/>
        </p:nvSpPr>
        <p:spPr>
          <a:xfrm rot="0">
            <a:off x="4264025" y="6565265"/>
            <a:ext cx="1287145" cy="832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115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211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2115" i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528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528"/>
          </a:p>
        </p:txBody>
      </p:sp>
      <p:sp>
        <p:nvSpPr>
          <p:cNvPr id="484" name="Rect 3"/>
          <p:cNvSpPr>
            <a:spLocks noGrp="1" noChangeArrowheads="1"/>
          </p:cNvSpPr>
          <p:nvPr/>
        </p:nvSpPr>
        <p:spPr>
          <a:xfrm rot="0">
            <a:off x="3688080" y="2697480"/>
            <a:ext cx="2460625" cy="5492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General Motors</a:t>
            </a:r>
            <a:endParaRPr lang="ko-KR" altLang="en-US" dirty="0" smtClean="0" sz="749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749" b="1">
                <a:solidFill>
                  <a:srgbClr val="333300"/>
                </a:solidFill>
                <a:latin typeface="Arial"/>
              </a:rPr>
              <a:t>Toyot</a:t>
            </a:r>
            <a:endParaRPr lang="ko-KR" altLang="en-US" dirty="0" smtClean="0" sz="749" b="1"/>
          </a:p>
          <a:p>
            <a:pPr marL="0" indent="0" defTabSz="15240" algn="l">
              <a:lnSpc>
                <a:spcPts val="1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234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234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34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234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</a:t>
            </a:r>
            <a:r>
              <a:rPr lang="en-US" altLang="ko-KR" dirty="0" smtClean="0" sz="857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857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857" i="1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548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548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56560" y="5035550"/>
            <a:ext cx="2453640" cy="192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Cubic Cost Function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Difficulties in Measuring Cost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Output data may represent an aggregate of different type of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Cost data may not include opportunity 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3) Allocating cost to a particular product may be difficult when there is more than one 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line.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Cost Functions and the Measurement of Scale Economies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Scale Economy Index (SCI)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1, SCI = 0: no economies or diseconomies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&gt; 1, SCI is negative: diseconomies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&lt; 1, SCI is positive: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 Functions for Electric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Scale Economies in the Electric Power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(million kwh)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338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1109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2226         5819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of SCI, 1955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.41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.26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.04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Average Cost of Production in the Electric Power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Average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(dollar/1000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kwh)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6.5 </a:t>
            </a:r>
            <a:endParaRPr lang="ko-KR" altLang="en-US" dirty="0" smtClean="0" sz="70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6.0 </a:t>
            </a:r>
            <a:endParaRPr lang="ko-KR" altLang="en-US" dirty="0" smtClean="0" sz="70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5.5 </a:t>
            </a:r>
            <a:endParaRPr lang="ko-KR" altLang="en-US" dirty="0" smtClean="0" sz="70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5.0 </a:t>
            </a:r>
            <a:endParaRPr lang="ko-KR" altLang="en-US" dirty="0" smtClean="0" sz="70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36</a:t>
            </a:r>
            <a:endParaRPr lang="ko-KR" altLang="en-US" dirty="0" smtClean="0" sz="70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Findings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Decline in cost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Not due to economies of scale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Was caused by: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input cost (coal &amp; oil)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Improvements in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Cost Function for the Savings and Loan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empirical estimation of a long-run cost function can be useful in the restructuring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savings and loan industry in the wake of the savings and loan collapse in the 1980s.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Data for 86 savings and loans for 1975 &amp; 1976 in six western states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111</a:t>
            </a:r>
            <a:endParaRPr lang="ko-KR" altLang="en-US" dirty="0" smtClean="0" sz="1200"/>
          </a:p>
        </p:txBody>
      </p:sp>
      <p:sp>
        <p:nvSpPr>
          <p:cNvPr id="487" name="Rect 3"/>
          <p:cNvSpPr>
            <a:spLocks noGrp="1" noChangeArrowheads="1"/>
          </p:cNvSpPr>
          <p:nvPr/>
        </p:nvSpPr>
        <p:spPr>
          <a:xfrm rot="0">
            <a:off x="4678680" y="6071870"/>
            <a:ext cx="223520" cy="9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1955</a:t>
            </a:r>
            <a:endParaRPr lang="ko-KR" altLang="en-US" dirty="0" smtClean="0" sz="701" b="1"/>
          </a:p>
        </p:txBody>
      </p:sp>
      <p:sp>
        <p:nvSpPr>
          <p:cNvPr id="488" name="Rect 3"/>
          <p:cNvSpPr>
            <a:spLocks noGrp="1" noChangeArrowheads="1"/>
          </p:cNvSpPr>
          <p:nvPr/>
        </p:nvSpPr>
        <p:spPr>
          <a:xfrm rot="0">
            <a:off x="3989705" y="6087110"/>
            <a:ext cx="2082800" cy="1051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1970</a:t>
            </a:r>
            <a:endParaRPr lang="ko-KR" altLang="en-US" dirty="0" smtClean="0" sz="70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(billions of kwh)  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 total assets of each S&amp;L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LAC = average operating expense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&amp; TC are measured in hundreds of millions of dollars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operating cost are measured as a percentage of total assets.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quadratic long-run average cost function was estimated for 1975: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728">
                <a:solidFill>
                  <a:srgbClr val="000000"/>
                </a:solidFill>
                <a:latin typeface="Times New Roman"/>
                <a:ea typeface="Times New Roman"/>
              </a:rPr>
              <a:t>LAC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728">
                <a:solidFill>
                  <a:srgbClr val="000000"/>
                </a:solidFill>
                <a:latin typeface="Times New Roman"/>
                <a:ea typeface="Times New Roman"/>
              </a:rPr>
              <a:t>2.38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728">
                <a:solidFill>
                  <a:srgbClr val="000000"/>
                </a:solidFill>
                <a:latin typeface="Times New Roman"/>
                <a:ea typeface="Times New Roman"/>
              </a:rPr>
              <a:t>0.6153Q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728">
                <a:solidFill>
                  <a:srgbClr val="000000"/>
                </a:solidFill>
                <a:latin typeface="Times New Roman"/>
                <a:ea typeface="Times New Roman"/>
              </a:rPr>
              <a:t>0.0536Q</a:t>
            </a:r>
            <a:endParaRPr lang="ko-KR" altLang="en-US" dirty="0" smtClean="0" sz="172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Minimum long-run average cost reaches its point of minimum average total cost when total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assets of the savings and loan reach $574 million.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Average operating expenses are 0.61% of total assets.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Almost all of the savings and loans in the region being studied had substantially less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$574 million in assets.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What are the implications of the analysis for expansion and mergers?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 What are the limitations of using these results? </a:t>
            </a:r>
            <a:endParaRPr lang="ko-KR" altLang="en-US" dirty="0" smtClean="0" sz="1097"/>
          </a:p>
          <a:p>
            <a:pPr marL="0" indent="0" defTabSz="15240" algn="l">
              <a:lnSpc>
                <a:spcPts val="4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112</a:t>
            </a:r>
            <a:endParaRPr lang="ko-KR" altLang="en-US" dirty="0" smtClean="0" sz="1200"/>
          </a:p>
        </p:txBody>
      </p:sp>
      <p:sp>
        <p:nvSpPr>
          <p:cNvPr id="491" name="Rect 3"/>
          <p:cNvSpPr>
            <a:spLocks noGrp="1" noChangeArrowheads="1"/>
          </p:cNvSpPr>
          <p:nvPr/>
        </p:nvSpPr>
        <p:spPr>
          <a:xfrm rot="0">
            <a:off x="4721225" y="1670050"/>
            <a:ext cx="89535" cy="143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7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1007"/>
          </a:p>
        </p:txBody>
      </p:sp>
      <p:sp>
        <p:nvSpPr>
          <p:cNvPr id="492" name="Rect 3"/>
          <p:cNvSpPr>
            <a:spLocks noGrp="1" noChangeArrowheads="1"/>
          </p:cNvSpPr>
          <p:nvPr/>
        </p:nvSpPr>
        <p:spPr>
          <a:xfrm rot="0">
            <a:off x="2270760" y="1661160"/>
            <a:ext cx="1652905" cy="271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728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728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728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22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Perfectly Competitive Markets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Characteristics of Perfectly Competitive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Price taking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Product homogeneity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Free entry and exit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Taking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individual firm sells a very small share of the total market output and, therefore,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cannot influence market price.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individual consumer buys too small a share of industry output to have any impact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Product Homogeneity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products of all firms are perfect substitutes.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Agricultural products, oil, copper, iron, lumber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Free Entry and Exit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Buyers can easily switch from one supplier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Suppliers can easily enter or exit a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Discussion 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are some barriers to entry and exit?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all markets competitive?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is a market highly competitive?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Do firms maximize profits?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Possibility of other objectives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Revenue maximization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Dividend maximization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Short-run profit maximization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Implications of non-profit objective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Over the long-run investors would not support the company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Without profits, survival unlikely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profit maximization is valid and does not exclude the possibility of altruistic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behavior.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Revenue, Marginal Cost &amp; Profit Maximization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Determining the profit maximizing level of output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(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) = Total Revenue - Total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Revenue (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Pq </a:t>
            </a:r>
            <a:endParaRPr lang="ko-KR" altLang="en-US" dirty="0" smtClean="0" sz="1097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Cost (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Cq</a:t>
            </a:r>
            <a:endParaRPr lang="ko-KR" altLang="en-US" dirty="0" smtClean="0" sz="1097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Therefore: </a:t>
            </a:r>
            <a:endParaRPr lang="ko-KR" altLang="en-US" dirty="0" smtClean="0" sz="1097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113</a:t>
            </a:r>
            <a:endParaRPr lang="ko-KR" altLang="en-US" dirty="0" smtClean="0" sz="1200"/>
          </a:p>
        </p:txBody>
      </p:sp>
      <p:sp>
        <p:nvSpPr>
          <p:cNvPr id="495" name="Rect 3"/>
          <p:cNvSpPr>
            <a:spLocks noGrp="1" noChangeArrowheads="1"/>
          </p:cNvSpPr>
          <p:nvPr/>
        </p:nvSpPr>
        <p:spPr>
          <a:xfrm rot="0">
            <a:off x="2566670" y="8683625"/>
            <a:ext cx="1280795" cy="186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9">
                <a:solidFill>
                  <a:srgbClr val="000000"/>
                </a:solidFill>
                <a:latin typeface="Symbol"/>
              </a:rPr>
              <a:t>π</a:t>
            </a:r>
            <a:r>
              <a:rPr lang="en-US" altLang="ko-KR" dirty="0" smtClean="0" sz="1209">
                <a:solidFill>
                  <a:srgbClr val="000000"/>
                </a:solidFill>
                <a:latin typeface="Times New Roman"/>
                <a:ea typeface="Times New Roman"/>
              </a:rPr>
              <a:t>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0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09" i="1">
                <a:solidFill>
                  <a:srgbClr val="000000"/>
                </a:solidFill>
                <a:latin typeface="Times New Roman"/>
                <a:ea typeface="Times New Roman"/>
              </a:rPr>
              <a:t>R(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09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09" i="1">
                <a:solidFill>
                  <a:srgbClr val="000000"/>
                </a:solidFill>
                <a:latin typeface="Times New Roman"/>
                <a:ea typeface="Times New Roman"/>
              </a:rPr>
              <a:t>C( )</a:t>
            </a:r>
            <a:endParaRPr lang="ko-KR" altLang="en-US" dirty="0" smtClean="0" sz="1209" i="1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7000" y="1200785"/>
            <a:ext cx="2389505" cy="18472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69210" y="3227705"/>
            <a:ext cx="2322830" cy="19081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80615" y="6269990"/>
            <a:ext cx="3559810" cy="28251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Profit Maximization in the Short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Cost,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Revenue,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Profit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($s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year) </a:t>
            </a:r>
            <a:endParaRPr lang="ko-KR" altLang="en-US" dirty="0" smtClean="0" sz="900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333300"/>
                </a:solidFill>
                <a:latin typeface="Arial"/>
              </a:rPr>
              <a:t>0 </a:t>
            </a:r>
            <a:endParaRPr lang="ko-KR" altLang="en-US" dirty="0" smtClean="0" sz="701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C(q)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Cost,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Revenue,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Profit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$ (per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year) 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Why is cost positive when 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 is zero? </a:t>
            </a:r>
            <a:endParaRPr lang="ko-KR" altLang="en-US" dirty="0" smtClean="0" sz="798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0 </a:t>
            </a:r>
            <a:endParaRPr lang="ko-KR" altLang="en-US" dirty="0" smtClean="0" sz="798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Revenue, Marginal Cost &amp; Profit Maximization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Marginal revenue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additional revenue from producing one more unit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Marginal cost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additional cost from producing one more unit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Cost,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Revenue,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Profit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($s per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year) </a:t>
            </a:r>
            <a:endParaRPr lang="ko-KR" altLang="en-US" dirty="0" smtClean="0" sz="798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333300"/>
                </a:solidFill>
                <a:latin typeface="Arial"/>
              </a:rPr>
              <a:t>B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333300"/>
                </a:solidFill>
                <a:latin typeface="Arial"/>
              </a:rPr>
              <a:t>0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333300"/>
                </a:solidFill>
                <a:latin typeface="Arial"/>
              </a:rPr>
              <a:t>Output (units per year) </a:t>
            </a:r>
            <a:endParaRPr lang="ko-KR" altLang="en-US" dirty="0" smtClean="0" sz="1002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114</a:t>
            </a:r>
            <a:endParaRPr lang="ko-KR" altLang="en-US" dirty="0" smtClean="0" sz="1200"/>
          </a:p>
        </p:txBody>
      </p:sp>
      <p:sp>
        <p:nvSpPr>
          <p:cNvPr id="498" name="Rect 3"/>
          <p:cNvSpPr>
            <a:spLocks noGrp="1" noChangeArrowheads="1"/>
          </p:cNvSpPr>
          <p:nvPr/>
        </p:nvSpPr>
        <p:spPr>
          <a:xfrm rot="0">
            <a:off x="4099560" y="1143000"/>
            <a:ext cx="1701800" cy="7452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R(q)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4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333300"/>
                </a:solidFill>
                <a:latin typeface="Arial"/>
              </a:rPr>
              <a:t>R(q</a:t>
            </a:r>
            <a:r>
              <a:rPr lang="en-US" altLang="ko-KR" dirty="0" smtClean="0" sz="1499" i="1" b="1">
                <a:solidFill>
                  <a:srgbClr val="333300"/>
                </a:solidFill>
                <a:latin typeface="Arial"/>
              </a:rPr>
              <a:t>) </a:t>
            </a:r>
            <a:endParaRPr lang="ko-KR" altLang="en-US" dirty="0" smtClean="0" sz="1499" i="1" b="1"/>
          </a:p>
          <a:p>
            <a:pPr marL="0" indent="0" defTabSz="15240"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333300"/>
                </a:solidFill>
                <a:latin typeface="Arial"/>
              </a:rPr>
              <a:t>*</a:t>
            </a:r>
            <a:endParaRPr lang="ko-KR" altLang="en-US" dirty="0" smtClean="0" sz="648" i="1" b="1"/>
          </a:p>
        </p:txBody>
      </p:sp>
      <p:sp>
        <p:nvSpPr>
          <p:cNvPr id="499" name="Rect 3"/>
          <p:cNvSpPr>
            <a:spLocks noGrp="1" noChangeArrowheads="1"/>
          </p:cNvSpPr>
          <p:nvPr/>
        </p:nvSpPr>
        <p:spPr>
          <a:xfrm rot="0">
            <a:off x="2886710" y="1222375"/>
            <a:ext cx="2542540" cy="7623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Total		Revenue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Slope of R(q) 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= 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MR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Output</a:t>
            </a:r>
            <a:r>
              <a:rPr lang="en-US" altLang="ko-KR" dirty="0" smtClean="0" sz="900" b="1">
                <a:solidFill>
                  <a:srgbClr val="FFFFFF"/>
                </a:solidFill>
                <a:latin typeface="Arial"/>
              </a:rPr>
              <a:t> (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units per year</a:t>
            </a:r>
            <a:r>
              <a:rPr lang="en-US" altLang="ko-KR" dirty="0" smtClean="0" sz="900" b="1">
                <a:solidFill>
                  <a:srgbClr val="FFFFFF"/>
                </a:solidFill>
                <a:latin typeface="Arial"/>
              </a:rPr>
              <a:t>)</a:t>
            </a:r>
            <a:endParaRPr lang="ko-KR" altLang="en-US" dirty="0" smtClean="0" sz="900" b="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Total	Cost</a:t>
            </a:r>
            <a:endParaRPr lang="ko-KR" altLang="en-US" dirty="0" smtClean="0" sz="798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Slope of 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C(q) </a:t>
            </a:r>
            <a:r>
              <a:rPr lang="en-US" altLang="ko-KR" dirty="0" smtClean="0" sz="798" b="1">
                <a:solidFill>
                  <a:srgbClr val="333300"/>
                </a:solidFill>
                <a:latin typeface="Arial"/>
              </a:rPr>
              <a:t>= </a:t>
            </a:r>
            <a:r>
              <a:rPr lang="en-US" altLang="ko-KR" dirty="0" smtClean="0" sz="798" i="1" b="1">
                <a:solidFill>
                  <a:srgbClr val="333300"/>
                </a:solidFill>
                <a:latin typeface="Arial"/>
              </a:rPr>
              <a:t>MC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Output (units per year)</a:t>
            </a:r>
            <a:endParaRPr lang="ko-KR" altLang="en-US" dirty="0" smtClean="0" sz="900" b="1"/>
          </a:p>
          <a:p>
            <a:pPr marL="0" indent="0" defTabSz="15240" algn="l">
              <a:lnSpc>
                <a:spcPts val="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333300"/>
                </a:solidFill>
                <a:latin typeface="Arial"/>
              </a:rPr>
              <a:t>C(q</a:t>
            </a:r>
            <a:r>
              <a:rPr lang="en-US" altLang="ko-KR" dirty="0" smtClean="0" sz="1499" i="1" b="1">
                <a:solidFill>
                  <a:srgbClr val="333300"/>
                </a:solidFill>
                <a:latin typeface="Arial"/>
              </a:rPr>
              <a:t>) </a:t>
            </a:r>
            <a:endParaRPr lang="ko-KR" altLang="en-US" dirty="0" smtClean="0" sz="1499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02" i="1" b="1">
                <a:solidFill>
                  <a:srgbClr val="333300"/>
                </a:solidFill>
                <a:latin typeface="Arial"/>
              </a:rPr>
              <a:t>A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333300"/>
                </a:solidFill>
                <a:latin typeface="Arial"/>
              </a:rPr>
              <a:t>0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333300"/>
                </a:solidFill>
                <a:latin typeface="Times New Roman"/>
                <a:ea typeface="Times New Roman"/>
              </a:rPr>
              <a:t>π (q) </a:t>
            </a:r>
            <a:endParaRPr lang="ko-KR" altLang="en-US" dirty="0" smtClean="0" sz="1002" b="1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Comparing R(q) and C(q)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levels: 0-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C(q)&gt; R(q)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Negative profit 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FC + VC &gt;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R(q) </a:t>
            </a:r>
            <a:endParaRPr lang="ko-KR" altLang="en-US" dirty="0" smtClean="0" sz="1097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&gt; MC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Indicates higher profit at higher output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Question: Why is profit negative when output is zero?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levels: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- 	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*</a:t>
            </a:r>
            <a:endParaRPr lang="ko-KR" altLang="en-US" dirty="0" smtClean="0" sz="701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(q)&gt; C(q) </a:t>
            </a:r>
            <a:endParaRPr lang="ko-KR" altLang="en-US" dirty="0" smtClean="0" sz="1097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49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&gt; MC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Indicates higher profit at higher output while Profit is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level: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*</a:t>
            </a:r>
            <a:endParaRPr lang="ko-KR" altLang="en-US" dirty="0" smtClean="0" sz="701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R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(q)= C(q) </a:t>
            </a:r>
            <a:endParaRPr lang="ko-KR" altLang="en-US" dirty="0" smtClean="0" sz="1097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MR = MC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Profit is maximized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Why is profit reduced when producing more or less than q*?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levels beyond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R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(q)&gt; C(q) </a:t>
            </a:r>
            <a:endParaRPr lang="ko-KR" altLang="en-US" dirty="0" smtClean="0" sz="1097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MC &gt; MR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Profit is decreasing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Therefore, it can be said: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are maximized when MC = MR.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6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109">
                <a:solidFill>
                  <a:srgbClr val="000000"/>
                </a:solidFill>
                <a:latin typeface="Symbol"/>
              </a:rPr>
              <a:t>		 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109" i="1">
                <a:solidFill>
                  <a:srgbClr val="000000"/>
                </a:solidFill>
                <a:latin typeface="Times New Roman"/>
                <a:ea typeface="Times New Roman"/>
              </a:rPr>
              <a:t>R - 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83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8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8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Times New Roman"/>
                <a:ea typeface="Times New Roman"/>
              </a:rPr>
              <a:t>Profits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369">
                <a:solidFill>
                  <a:srgbClr val="000000"/>
                </a:solidFill>
                <a:latin typeface="Times New Roman"/>
                <a:ea typeface="Times New Roman"/>
              </a:rPr>
              <a:t>maximized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endParaRPr lang="ko-KR" altLang="en-US" dirty="0" smtClean="0" sz="1369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Δ π</a:t>
            </a:r>
            <a:endParaRPr lang="ko-KR" altLang="en-US" dirty="0" smtClean="0" sz="1369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69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369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Competitive Firm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taker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output (Q) and firm output (q)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demand (D) and firm demand (d)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R(q) is a straight line </a:t>
            </a:r>
            <a:endParaRPr lang="ko-KR" altLang="en-US" dirty="0" smtClean="0" sz="1097"/>
          </a:p>
          <a:p>
            <a:pPr marL="0" indent="0" defTabSz="15240" algn="l">
              <a:lnSpc>
                <a:spcPts val="1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115</a:t>
            </a:r>
            <a:endParaRPr lang="ko-KR" altLang="en-US" dirty="0" smtClean="0" sz="1200"/>
          </a:p>
        </p:txBody>
      </p:sp>
      <p:sp>
        <p:nvSpPr>
          <p:cNvPr id="502" name="Rect 3"/>
          <p:cNvSpPr>
            <a:spLocks noGrp="1" noChangeArrowheads="1"/>
          </p:cNvSpPr>
          <p:nvPr/>
        </p:nvSpPr>
        <p:spPr>
          <a:xfrm rot="0">
            <a:off x="3742690" y="6290945"/>
            <a:ext cx="1848485" cy="521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09" i="1">
                <a:solidFill>
                  <a:srgbClr val="000000"/>
                </a:solidFill>
                <a:latin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509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9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50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9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9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9">
                <a:solidFill>
                  <a:srgbClr val="000000"/>
                </a:solidFill>
                <a:latin typeface="Times New Roman"/>
                <a:ea typeface="Times New Roman"/>
              </a:rPr>
              <a:t> that</a:t>
            </a:r>
            <a:endParaRPr lang="ko-KR" altLang="en-US" dirty="0" smtClean="0" sz="1509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09" i="1">
                <a:solidFill>
                  <a:srgbClr val="000000"/>
                </a:solidFill>
                <a:latin typeface="Times New Roman"/>
              </a:rPr>
              <a:t>MR(q)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50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09" i="1">
                <a:solidFill>
                  <a:srgbClr val="000000"/>
                </a:solidFill>
                <a:latin typeface="Times New Roman"/>
                <a:ea typeface="Times New Roman"/>
              </a:rPr>
              <a:t>MC(q)</a:t>
            </a:r>
            <a:endParaRPr lang="ko-KR" altLang="en-US" dirty="0" smtClean="0" sz="1509" i="1"/>
          </a:p>
        </p:txBody>
      </p:sp>
      <p:sp>
        <p:nvSpPr>
          <p:cNvPr id="503" name="Rect 3"/>
          <p:cNvSpPr>
            <a:spLocks noGrp="1" noChangeArrowheads="1"/>
          </p:cNvSpPr>
          <p:nvPr/>
        </p:nvSpPr>
        <p:spPr>
          <a:xfrm rot="0">
            <a:off x="2697480" y="6449695"/>
            <a:ext cx="51943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69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369" i="1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endParaRPr lang="ko-KR" altLang="en-US" dirty="0" smtClean="0" sz="1369" i="1"/>
          </a:p>
        </p:txBody>
      </p:sp>
      <p:sp>
        <p:nvSpPr>
          <p:cNvPr id="504" name="Rect 3"/>
          <p:cNvSpPr>
            <a:spLocks noGrp="1" noChangeArrowheads="1"/>
          </p:cNvSpPr>
          <p:nvPr/>
        </p:nvSpPr>
        <p:spPr>
          <a:xfrm rot="0">
            <a:off x="2319655" y="5480050"/>
            <a:ext cx="1488440" cy="1332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108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83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83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8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83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83" i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369"/>
          </a:p>
        </p:txBody>
      </p:sp>
      <p:sp>
        <p:nvSpPr>
          <p:cNvPr id="505" name="Rect 3"/>
          <p:cNvSpPr>
            <a:spLocks noGrp="1" noChangeArrowheads="1"/>
          </p:cNvSpPr>
          <p:nvPr/>
        </p:nvSpPr>
        <p:spPr>
          <a:xfrm rot="0">
            <a:off x="1737360" y="5425440"/>
            <a:ext cx="1210945" cy="1386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23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3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223" i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69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69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369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6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36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369" i="1"/>
          </a:p>
        </p:txBody>
      </p:sp>
      <p:sp>
        <p:nvSpPr>
          <p:cNvPr id="506" name="Rect 3"/>
          <p:cNvSpPr>
            <a:spLocks noGrp="1" noChangeArrowheads="1"/>
          </p:cNvSpPr>
          <p:nvPr/>
        </p:nvSpPr>
        <p:spPr>
          <a:xfrm rot="0">
            <a:off x="1527175" y="5550535"/>
            <a:ext cx="1214120" cy="1112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223" i="1">
                <a:solidFill>
                  <a:srgbClr val="000000"/>
                </a:solidFill>
                <a:latin typeface="Times New Roman"/>
                <a:ea typeface="Times New Roman"/>
              </a:rPr>
              <a:t>MR  </a:t>
            </a:r>
            <a:endParaRPr lang="ko-KR" altLang="en-US" dirty="0" smtClean="0" sz="1223" i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369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369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1970" y="1014730"/>
            <a:ext cx="3965575" cy="192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5330" y="5830570"/>
            <a:ext cx="3733800" cy="2380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&amp; Marginal Revenue Faced by a Competitive Firm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Price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$ per  </a:t>
            </a:r>
            <a:endParaRPr lang="ko-KR" altLang="en-US" dirty="0" smtClean="0" sz="798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$</a:t>
            </a:r>
            <a:endParaRPr lang="ko-KR" altLang="en-US" dirty="0" smtClean="0" sz="947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D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100</a:t>
            </a:r>
            <a:endParaRPr lang="ko-KR" altLang="en-US" dirty="0" smtClean="0" sz="94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competitive firm’s demand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Individual producer sells all units for $4 regardless of the producer’s 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If the producer tries to raise price, sales are zero.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If the producers tries to lower price he cannot increase sales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P = D = MR = AR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Maximization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MC(q) = MR = P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Choosing Output in Short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We will combine production and cost analysis with demand to determine output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profitability.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Competitive Firm Making a Positive Profit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333300"/>
                </a:solidFill>
                <a:latin typeface="Arial"/>
              </a:rPr>
              <a:t>Price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333300"/>
                </a:solidFill>
                <a:latin typeface="Arial"/>
              </a:rPr>
              <a:t>($ per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333300"/>
                </a:solidFill>
                <a:latin typeface="Arial"/>
              </a:rPr>
              <a:t>unit)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40 </a:t>
            </a:r>
            <a:endParaRPr lang="ko-KR" altLang="en-US" dirty="0" smtClean="0" sz="94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FFFFFF"/>
                </a:solidFill>
                <a:latin typeface="Arial"/>
              </a:rPr>
              <a:t>C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AVC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333300"/>
                </a:solidFill>
                <a:latin typeface="Arial"/>
              </a:rPr>
              <a:t>1 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: MR &gt; MC and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333300"/>
                </a:solidFill>
                <a:latin typeface="Arial"/>
              </a:rPr>
              <a:t>2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: MC &gt; MR and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333300"/>
                </a:solidFill>
                <a:latin typeface="Arial"/>
              </a:rPr>
              <a:t>0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: MC = MR but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333300"/>
                </a:solidFill>
                <a:latin typeface="Arial"/>
              </a:rPr>
              <a:t>MC falling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96" b="1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96" b="1">
                <a:solidFill>
                  <a:srgbClr val="000000"/>
                </a:solidFill>
                <a:latin typeface="Times New Roman"/>
                <a:ea typeface="Times New Roman"/>
              </a:rPr>
              <a:t>ABCD</a:t>
            </a:r>
            <a:endParaRPr lang="ko-KR" altLang="en-US" dirty="0" smtClean="0" sz="996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9</a:t>
            </a:r>
            <a:endParaRPr lang="ko-KR" altLang="en-US" dirty="0" smtClean="0" sz="947" b="1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116</a:t>
            </a:r>
            <a:endParaRPr lang="ko-KR" altLang="en-US" dirty="0" smtClean="0" sz="1200"/>
          </a:p>
        </p:txBody>
      </p:sp>
      <p:sp>
        <p:nvSpPr>
          <p:cNvPr id="509" name="Rect 3"/>
          <p:cNvSpPr>
            <a:spLocks noGrp="1" noChangeArrowheads="1"/>
          </p:cNvSpPr>
          <p:nvPr/>
        </p:nvSpPr>
        <p:spPr>
          <a:xfrm rot="0">
            <a:off x="4657090" y="1106170"/>
            <a:ext cx="800100" cy="7333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Industry</a:t>
            </a:r>
            <a:endParaRPr lang="ko-KR" altLang="en-US" dirty="0" smtClean="0" sz="947" b="1"/>
          </a:p>
          <a:p>
            <a:pPr marL="0" indent="0" defTabSz="15240" algn="l">
              <a:lnSpc>
                <a:spcPts val="5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 b="1">
                <a:solidFill>
                  <a:srgbClr val="333300"/>
                </a:solidFill>
                <a:latin typeface="Arial"/>
              </a:rPr>
              <a:t>Output</a:t>
            </a:r>
            <a:endParaRPr lang="ko-KR" altLang="en-US" dirty="0" smtClean="0" sz="1097" b="1"/>
          </a:p>
        </p:txBody>
      </p:sp>
      <p:sp>
        <p:nvSpPr>
          <p:cNvPr id="510" name="Rect 3"/>
          <p:cNvSpPr>
            <a:spLocks noGrp="1" noChangeArrowheads="1"/>
          </p:cNvSpPr>
          <p:nvPr/>
        </p:nvSpPr>
        <p:spPr>
          <a:xfrm rot="0">
            <a:off x="3535680" y="1210310"/>
            <a:ext cx="1887855" cy="7132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bushel</a:t>
            </a:r>
            <a:endParaRPr lang="ko-KR" altLang="en-US" dirty="0" smtClean="0" sz="798"/>
          </a:p>
          <a:p>
            <a:pPr marL="0" indent="0" defTabSz="15240" algn="l">
              <a:lnSpc>
                <a:spcPts val="4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333300"/>
                </a:solidFill>
                <a:latin typeface="Arial"/>
              </a:rPr>
              <a:t>AR=MR=</a:t>
            </a:r>
            <a:endParaRPr lang="ko-KR" altLang="en-US" dirty="0" smtClean="0" sz="1097" i="1" b="1"/>
          </a:p>
        </p:txBody>
      </p:sp>
      <p:sp>
        <p:nvSpPr>
          <p:cNvPr id="511" name="Rect 3"/>
          <p:cNvSpPr>
            <a:spLocks noGrp="1" noChangeArrowheads="1"/>
          </p:cNvSpPr>
          <p:nvPr/>
        </p:nvSpPr>
        <p:spPr>
          <a:xfrm rot="0">
            <a:off x="3535680" y="1106170"/>
            <a:ext cx="781050" cy="737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4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 i="1" b="1">
                <a:solidFill>
                  <a:srgbClr val="333300"/>
                </a:solidFill>
                <a:latin typeface="Arial"/>
              </a:rPr>
              <a:t>q</a:t>
            </a:r>
            <a:endParaRPr lang="ko-KR" altLang="en-US" dirty="0" smtClean="0" sz="1097" i="1" b="1"/>
          </a:p>
        </p:txBody>
      </p:sp>
      <p:sp>
        <p:nvSpPr>
          <p:cNvPr id="512" name="Rect 3"/>
          <p:cNvSpPr>
            <a:spLocks noGrp="1" noChangeArrowheads="1"/>
          </p:cNvSpPr>
          <p:nvPr/>
        </p:nvSpPr>
        <p:spPr>
          <a:xfrm rot="0">
            <a:off x="2407920" y="1106170"/>
            <a:ext cx="3249930" cy="74618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Firm </a:t>
            </a:r>
            <a:endParaRPr lang="ko-KR" altLang="en-US" dirty="0" smtClean="0" sz="947" b="1"/>
          </a:p>
          <a:p>
            <a:pPr marL="0" indent="0" defTabSz="15240" algn="l">
              <a:lnSpc>
                <a:spcPts val="1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333300"/>
                </a:solidFill>
                <a:latin typeface="Arial"/>
              </a:rPr>
              <a:t>(millions  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333300"/>
                </a:solidFill>
                <a:latin typeface="Arial"/>
              </a:rPr>
              <a:t>of bushels)</a:t>
            </a:r>
            <a:endParaRPr lang="ko-KR" altLang="en-US" dirty="0" smtClean="0" sz="701"/>
          </a:p>
          <a:p>
            <a:pPr marL="0" indent="0" defTabSz="15240" algn="l">
              <a:lnSpc>
                <a:spcPts val="1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333300"/>
                </a:solidFill>
                <a:latin typeface="Arial"/>
              </a:rPr>
              <a:t>M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Lost profit for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Lost profit for</a:t>
            </a:r>
            <a:endParaRPr lang="ko-KR" altLang="en-US" dirty="0" smtClean="0" sz="94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 &lt; q</a:t>
            </a:r>
            <a:r>
              <a:rPr lang="en-US" altLang="ko-KR" dirty="0" smtClean="0" sz="600" i="1" b="1">
                <a:solidFill>
                  <a:srgbClr val="333300"/>
                </a:solidFill>
                <a:latin typeface="Arial"/>
              </a:rPr>
              <a:t>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333300"/>
                </a:solidFill>
                <a:latin typeface="Arial"/>
              </a:rPr>
              <a:t>2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 &gt; q</a:t>
            </a:r>
            <a:r>
              <a:rPr lang="en-US" altLang="ko-KR" dirty="0" smtClean="0" sz="600" i="1" b="1">
                <a:solidFill>
                  <a:srgbClr val="333300"/>
                </a:solidFill>
                <a:latin typeface="Arial"/>
              </a:rPr>
              <a:t>*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80" b="1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endParaRPr lang="ko-KR" altLang="en-US" dirty="0" smtClean="0" sz="580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6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333300"/>
                </a:solidFill>
                <a:latin typeface="Arial"/>
              </a:rPr>
              <a:t>*</a:t>
            </a:r>
            <a:endParaRPr lang="ko-KR" altLang="en-US" dirty="0" smtClean="0" sz="701" i="1" b="1"/>
          </a:p>
        </p:txBody>
      </p:sp>
      <p:sp>
        <p:nvSpPr>
          <p:cNvPr id="513" name="Rect 3"/>
          <p:cNvSpPr>
            <a:spLocks noGrp="1" noChangeArrowheads="1"/>
          </p:cNvSpPr>
          <p:nvPr/>
        </p:nvSpPr>
        <p:spPr>
          <a:xfrm rot="0">
            <a:off x="1508760" y="1210310"/>
            <a:ext cx="4030345" cy="7272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bushel </a:t>
            </a:r>
            <a:endParaRPr lang="ko-KR" altLang="en-US" dirty="0" smtClean="0" sz="798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Output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701">
                <a:solidFill>
                  <a:srgbClr val="333300"/>
                </a:solidFill>
                <a:latin typeface="Arial"/>
              </a:rPr>
              <a:t>Output  </a:t>
            </a:r>
            <a:endParaRPr lang="ko-KR" altLang="en-US" dirty="0" smtClean="0" sz="70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333300"/>
                </a:solidFill>
                <a:latin typeface="Arial"/>
              </a:rPr>
              <a:t>(bushels)</a:t>
            </a:r>
            <a:endParaRPr lang="ko-KR" altLang="en-US" dirty="0" smtClean="0" sz="798"/>
          </a:p>
          <a:p>
            <a:pPr marL="0" indent="0" defTabSz="15240" algn="l">
              <a:lnSpc>
                <a:spcPts val="2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60 </a:t>
            </a:r>
            <a:endParaRPr lang="ko-KR" altLang="en-US" dirty="0" smtClean="0" sz="94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50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1097" i="1" b="1">
                <a:solidFill>
                  <a:srgbClr val="FFFFFF"/>
                </a:solidFill>
                <a:latin typeface="Arial"/>
              </a:rPr>
              <a:t>D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333300"/>
                </a:solidFill>
                <a:latin typeface="Arial"/>
              </a:rPr>
              <a:t>ATC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At q</a:t>
            </a:r>
            <a:r>
              <a:rPr lang="en-US" altLang="ko-KR" dirty="0" smtClean="0" sz="600" b="1">
                <a:solidFill>
                  <a:srgbClr val="333300"/>
                </a:solidFill>
                <a:latin typeface="Arial"/>
              </a:rPr>
              <a:t>*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: MR = MC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333300"/>
                </a:solidFill>
                <a:latin typeface="Arial"/>
              </a:rPr>
              <a:t>and P &gt; ATC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96">
                <a:solidFill>
                  <a:srgbClr val="000000"/>
                </a:solidFill>
                <a:latin typeface="Symbol"/>
                <a:ea typeface="Symbol"/>
              </a:rPr>
              <a:t>=π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996" b="1">
                <a:solidFill>
                  <a:srgbClr val="000000"/>
                </a:solidFill>
                <a:latin typeface="Times New Roman"/>
                <a:ea typeface="Times New Roman"/>
              </a:rPr>
              <a:t>(P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996" b="1">
                <a:solidFill>
                  <a:srgbClr val="000000"/>
                </a:solidFill>
                <a:latin typeface="Times New Roman"/>
                <a:ea typeface="Times New Roman"/>
              </a:rPr>
              <a:t>AC)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96" b="1">
                <a:solidFill>
                  <a:srgbClr val="000000"/>
                </a:solidFill>
                <a:latin typeface="Times New Roman"/>
                <a:ea typeface="Times New Roman"/>
              </a:rPr>
              <a:t>x q</a:t>
            </a:r>
            <a:endParaRPr lang="ko-KR" altLang="en-US" dirty="0" smtClean="0" sz="996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 i="1" b="1">
                <a:solidFill>
                  <a:srgbClr val="333300"/>
                </a:solidFill>
                <a:latin typeface="Arial"/>
              </a:rPr>
              <a:t>q</a:t>
            </a:r>
            <a:endParaRPr lang="ko-KR" altLang="en-US" dirty="0" smtClean="0" sz="1097" i="1" b="1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43785" y="5273040"/>
            <a:ext cx="2880360" cy="28924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94050" y="1386840"/>
            <a:ext cx="2444750" cy="18408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23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Competitive Firm Incurring Losses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($ per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unit)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: MR = MC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P &lt; ATC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Losses = P- AC) x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*</a:t>
            </a:r>
            <a:endParaRPr lang="ko-KR" altLang="en-US" dirty="0" smtClean="0" sz="4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or ABCD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F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continue to produce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a loss? </a:t>
            </a:r>
            <a:endParaRPr lang="ko-KR" altLang="en-US" dirty="0" smtClean="0" sz="798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*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Choosing Output in Short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Summary of Production Decisions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is maximized when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 = MR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&gt; ATC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is making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AVC &lt; P &lt; ATC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should produce at a loss.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&lt; AVC &lt; ATC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should shut-down.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Short-Run Output of an Aluminum Smelting Plant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Cost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Observations </a:t>
            </a:r>
            <a:endParaRPr lang="ko-KR" altLang="en-US" dirty="0" smtClean="0" sz="105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(dollars per item)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Price between $1140 &amp; $1300: 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 = 600 </a:t>
            </a:r>
            <a:endParaRPr lang="ko-KR" altLang="en-US" dirty="0" smtClean="0" sz="10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1400 </a:t>
            </a:r>
            <a:endParaRPr lang="ko-KR" altLang="en-US" dirty="0" smtClean="0" sz="1050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1300 </a:t>
            </a:r>
            <a:endParaRPr lang="ko-KR" altLang="en-US" dirty="0" smtClean="0" sz="105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1200 </a:t>
            </a:r>
            <a:endParaRPr lang="ko-KR" altLang="en-US" dirty="0" smtClean="0" sz="10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1140 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1100 </a:t>
            </a:r>
            <a:endParaRPr lang="ko-KR" altLang="en-US" dirty="0" smtClean="0" sz="1050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105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Some Cost Considerations for Managers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Three guidelines for estimating marginal cost: </a:t>
            </a:r>
            <a:endParaRPr lang="ko-KR" altLang="en-US" dirty="0" smtClean="0" sz="1097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117</a:t>
            </a:r>
            <a:endParaRPr lang="ko-KR" altLang="en-US" dirty="0" smtClean="0" sz="1200"/>
          </a:p>
        </p:txBody>
      </p:sp>
      <p:sp>
        <p:nvSpPr>
          <p:cNvPr id="516" name="Rect 3"/>
          <p:cNvSpPr>
            <a:spLocks noGrp="1" noChangeArrowheads="1"/>
          </p:cNvSpPr>
          <p:nvPr/>
        </p:nvSpPr>
        <p:spPr>
          <a:xfrm rot="0">
            <a:off x="5370830" y="2005330"/>
            <a:ext cx="223520" cy="12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 = </a:t>
            </a:r>
            <a:endParaRPr lang="ko-KR" altLang="en-US" dirty="0" smtClean="0" sz="852" i="1" b="1"/>
          </a:p>
        </p:txBody>
      </p:sp>
      <p:sp>
        <p:nvSpPr>
          <p:cNvPr id="517" name="Rect 3"/>
          <p:cNvSpPr>
            <a:spLocks noGrp="1" noChangeArrowheads="1"/>
          </p:cNvSpPr>
          <p:nvPr/>
        </p:nvSpPr>
        <p:spPr>
          <a:xfrm rot="0">
            <a:off x="4791710" y="1337945"/>
            <a:ext cx="1253490" cy="4739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AT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Would this producer </a:t>
            </a:r>
            <a:endParaRPr lang="ko-KR" altLang="en-US" dirty="0" smtClean="0" sz="798"/>
          </a:p>
          <a:p>
            <a:pPr marL="0" indent="0" defTabSz="15240" algn="l">
              <a:lnSpc>
                <a:spcPts val="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200" i="1" b="1"/>
          </a:p>
        </p:txBody>
      </p:sp>
      <p:sp>
        <p:nvSpPr>
          <p:cNvPr id="518" name="Rect 3"/>
          <p:cNvSpPr>
            <a:spLocks noGrp="1" noChangeArrowheads="1"/>
          </p:cNvSpPr>
          <p:nvPr/>
        </p:nvSpPr>
        <p:spPr>
          <a:xfrm rot="0">
            <a:off x="2505710" y="1322705"/>
            <a:ext cx="4157980" cy="7013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AV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852" b="1"/>
          </a:p>
          <a:p>
            <a:pPr marL="0" indent="0" defTabSz="15240" algn="l">
              <a:lnSpc>
                <a:spcPts val="1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Price &gt; $1300: 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= 900 </a:t>
            </a:r>
            <a:endParaRPr lang="ko-KR" altLang="en-US" dirty="0" smtClean="0" sz="10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Price &lt; $1140: </a:t>
            </a:r>
            <a:r>
              <a:rPr lang="en-US" altLang="ko-KR" dirty="0" smtClean="0" sz="1050" i="1">
                <a:solidFill>
                  <a:srgbClr val="000000"/>
                </a:solidFill>
                <a:latin typeface="Arial"/>
              </a:rPr>
              <a:t>q = 0</a:t>
            </a:r>
            <a:endParaRPr lang="ko-KR" altLang="en-US" dirty="0" smtClean="0" sz="1050" i="1"/>
          </a:p>
          <a:p>
            <a:pPr marL="0" indent="0" defTabSz="15240" algn="l">
              <a:lnSpc>
                <a:spcPts val="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  Question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Should the firm stay in business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when 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&lt; $1140? </a:t>
            </a:r>
            <a:endParaRPr lang="ko-KR" altLang="en-US" dirty="0" smtClean="0" sz="1050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Output 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600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(tons per day)</a:t>
            </a:r>
            <a:endParaRPr lang="ko-KR" altLang="en-US" dirty="0" smtClean="0" sz="1050" b="1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4895" y="2172970"/>
            <a:ext cx="2651760" cy="21126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85670" y="5955665"/>
            <a:ext cx="2736850" cy="20389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1) Average variable cost should not be used as a substitute for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2) A single item on a firm’s accounting ledger may have two components, only one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involves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3) All opportunity cost should be included in determining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Competitive Firm’s Short-Run Supply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49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is able to cover its variable cost of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production.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55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55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 = AVC </a:t>
            </a:r>
            <a:endParaRPr lang="ko-KR" altLang="en-US" dirty="0" smtClean="0" sz="798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749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MR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 = MC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MC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Supply is the amount of output for every possible price.  Therefore: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If P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then q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If P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then q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 = AVC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Shut-down</a:t>
            </a:r>
            <a:endParaRPr lang="ko-KR" altLang="en-US" dirty="0" smtClean="0" sz="100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FFFFFF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FFFFFF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is upward sloping due to diminishing returns.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price compensates the firm for higher cost of additional output and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profit because it applies to all units.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Firm’s Response to an Input Price Change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118</a:t>
            </a:r>
            <a:endParaRPr lang="ko-KR" altLang="en-US" dirty="0" smtClean="0" sz="1200"/>
          </a:p>
        </p:txBody>
      </p:sp>
      <p:sp>
        <p:nvSpPr>
          <p:cNvPr id="521" name="Rect 3"/>
          <p:cNvSpPr>
            <a:spLocks noGrp="1" noChangeArrowheads="1"/>
          </p:cNvSpPr>
          <p:nvPr/>
        </p:nvSpPr>
        <p:spPr>
          <a:xfrm rot="0">
            <a:off x="2597150" y="2319655"/>
            <a:ext cx="2865755" cy="5693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firm chooses the output level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where MR = MC, as long as the firm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94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ATC</a:t>
            </a:r>
            <a:endParaRPr lang="ko-KR" altLang="en-US" dirty="0" smtClean="0" sz="94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AVC</a:t>
            </a:r>
            <a:endParaRPr lang="ko-KR" altLang="en-US" dirty="0" smtClean="0" sz="947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What happens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P &lt; AVC? </a:t>
            </a:r>
            <a:endParaRPr lang="ko-KR" altLang="en-US" dirty="0" smtClean="0" sz="798"/>
          </a:p>
          <a:p>
            <a:pPr marL="0" indent="0" defTabSz="15240" algn="l">
              <a:lnSpc>
                <a:spcPts val="1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S = MC above AVC</a:t>
            </a:r>
            <a:endParaRPr lang="ko-KR" altLang="en-US" dirty="0" smtClean="0" sz="10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ATC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AVC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12390" y="1136650"/>
            <a:ext cx="2599690" cy="21704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52090" y="3904615"/>
            <a:ext cx="2493645" cy="20605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price of a firm’s product changes, the firm changes its output level, so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 of production remains equal to the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unit)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from reducing output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4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 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falls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900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$5 </a:t>
            </a:r>
            <a:endParaRPr lang="ko-KR" altLang="en-US" dirty="0" smtClean="0" sz="1002" b="1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Short-Run Production of Petroleum Products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barrel)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crude oil increases sharply at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several levels of output as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26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= $24-$25?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25 </a:t>
            </a:r>
            <a:endParaRPr lang="ko-KR" altLang="en-US" dirty="0" smtClean="0" sz="852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24 </a:t>
            </a:r>
            <a:endParaRPr lang="ko-KR" altLang="en-US" dirty="0" smtClean="0" sz="852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23 </a:t>
            </a:r>
            <a:endParaRPr lang="ko-KR" altLang="en-US" dirty="0" smtClean="0" sz="85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8,000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9,000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11,000</a:t>
            </a:r>
            <a:endParaRPr lang="ko-KR" altLang="en-US" dirty="0" smtClean="0" sz="749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Stepped SMC indicates a different production (cost) process at various capacity levels.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a stepped MC function, small changes in price may not trigger a change in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short-run market supply curve shows the amount of output that the industry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 in the short-run for every possible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Consider, for simplicity, a competitive market with three firms: </a:t>
            </a:r>
            <a:endParaRPr lang="ko-KR" altLang="en-US" dirty="0" smtClean="0" sz="1097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119</a:t>
            </a:r>
            <a:endParaRPr lang="ko-KR" altLang="en-US" dirty="0" smtClean="0" sz="1200"/>
          </a:p>
        </p:txBody>
      </p:sp>
      <p:sp>
        <p:nvSpPr>
          <p:cNvPr id="524" name="Rect 3"/>
          <p:cNvSpPr>
            <a:spLocks noGrp="1" noChangeArrowheads="1"/>
          </p:cNvSpPr>
          <p:nvPr/>
        </p:nvSpPr>
        <p:spPr>
          <a:xfrm rot="0">
            <a:off x="4599305" y="3989705"/>
            <a:ext cx="281305" cy="128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SMC</a:t>
            </a:r>
            <a:endParaRPr lang="ko-KR" altLang="en-US" dirty="0" smtClean="0" sz="900" b="1"/>
          </a:p>
        </p:txBody>
      </p:sp>
      <p:sp>
        <p:nvSpPr>
          <p:cNvPr id="525" name="Rect 3"/>
          <p:cNvSpPr>
            <a:spLocks noGrp="1" noChangeArrowheads="1"/>
          </p:cNvSpPr>
          <p:nvPr/>
        </p:nvSpPr>
        <p:spPr>
          <a:xfrm rot="0">
            <a:off x="3069590" y="4069080"/>
            <a:ext cx="1265555" cy="113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petroleum products from </a:t>
            </a:r>
            <a:endParaRPr lang="ko-KR" altLang="en-US" dirty="0" smtClean="0" sz="798"/>
          </a:p>
        </p:txBody>
      </p:sp>
      <p:sp>
        <p:nvSpPr>
          <p:cNvPr id="526" name="Rect 3"/>
          <p:cNvSpPr>
            <a:spLocks noGrp="1" noChangeArrowheads="1"/>
          </p:cNvSpPr>
          <p:nvPr/>
        </p:nvSpPr>
        <p:spPr>
          <a:xfrm rot="0">
            <a:off x="2667000" y="1414145"/>
            <a:ext cx="3176905" cy="33254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Input cost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increases  </a:t>
            </a:r>
            <a:endParaRPr lang="ko-KR" altLang="en-US" dirty="0" smtClean="0" sz="900"/>
          </a:p>
          <a:p>
            <a:pPr marL="0" indent="0" defTabSz="15240" algn="l">
              <a:lnSpc>
                <a:spcPts val="1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MC of producing a mix </a:t>
            </a:r>
            <a:endParaRPr lang="ko-KR" altLang="en-US" dirty="0" smtClean="0" sz="798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How much would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 produced if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$23? </a:t>
            </a:r>
            <a:endParaRPr lang="ko-KR" altLang="en-US" dirty="0" smtClean="0" sz="900"/>
          </a:p>
        </p:txBody>
      </p:sp>
      <p:sp>
        <p:nvSpPr>
          <p:cNvPr id="527" name="Rect 3"/>
          <p:cNvSpPr>
            <a:spLocks noGrp="1" noChangeArrowheads="1"/>
          </p:cNvSpPr>
          <p:nvPr/>
        </p:nvSpPr>
        <p:spPr>
          <a:xfrm rot="0">
            <a:off x="2414270" y="1280160"/>
            <a:ext cx="3517900" cy="4736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4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Savings to the firm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shifts to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i="1"/>
          </a:p>
          <a:p>
            <a:pPr marL="0" indent="0" defTabSz="15240"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Cost </a:t>
            </a:r>
            <a:endParaRPr lang="ko-KR" altLang="en-US" dirty="0" smtClean="0" sz="749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refinery shifts from one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processing unit to another. </a:t>
            </a:r>
            <a:endParaRPr lang="ko-KR" altLang="en-US" dirty="0" smtClean="0" sz="798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(barrels/day) 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4110" y="1353185"/>
            <a:ext cx="4126865" cy="24599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Industry Supply in Short Run</a:t>
            </a:r>
            <a:endParaRPr lang="ko-KR" altLang="en-US" dirty="0" smtClean="0" sz="1097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 per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summation of the supply 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Question: If increasing</a:t>
            </a:r>
            <a:endParaRPr lang="ko-KR" altLang="en-US" dirty="0" smtClean="0" sz="9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costs, what impact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would it have on 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market supply?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947" b="1"/>
          </a:p>
          <a:p>
            <a:pPr marL="0" indent="0" defTabSz="15240" algn="l">
              <a:lnSpc>
                <a:spcPts val="4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120</a:t>
            </a:r>
            <a:endParaRPr lang="ko-KR" altLang="en-US" dirty="0" smtClean="0" sz="1200"/>
          </a:p>
        </p:txBody>
      </p:sp>
      <p:sp>
        <p:nvSpPr>
          <p:cNvPr id="530" name="Rect 3"/>
          <p:cNvSpPr>
            <a:spLocks noGrp="1" noChangeArrowheads="1"/>
          </p:cNvSpPr>
          <p:nvPr/>
        </p:nvSpPr>
        <p:spPr>
          <a:xfrm rot="0">
            <a:off x="4758055" y="1420495"/>
            <a:ext cx="153035" cy="16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097" i="1" b="1">
                <a:solidFill>
                  <a:srgbClr val="C0C0C0"/>
                </a:solidFill>
                <a:latin typeface="Arial"/>
              </a:rPr>
              <a:t>S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 S</a:t>
            </a:r>
            <a:endParaRPr lang="ko-KR" altLang="en-US" dirty="0" smtClean="0" sz="1097" i="1" b="1"/>
          </a:p>
        </p:txBody>
      </p:sp>
      <p:sp>
        <p:nvSpPr>
          <p:cNvPr id="531" name="Rect 3"/>
          <p:cNvSpPr>
            <a:spLocks noGrp="1" noChangeArrowheads="1"/>
          </p:cNvSpPr>
          <p:nvPr/>
        </p:nvSpPr>
        <p:spPr>
          <a:xfrm rot="0">
            <a:off x="3276600" y="1322705"/>
            <a:ext cx="131191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The short-run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industry supply curve </a:t>
            </a:r>
            <a:endParaRPr lang="ko-KR" altLang="en-US" dirty="0" smtClean="0" sz="947" b="1"/>
          </a:p>
        </p:txBody>
      </p:sp>
      <p:sp>
        <p:nvSpPr>
          <p:cNvPr id="532" name="Rect 3"/>
          <p:cNvSpPr>
            <a:spLocks noGrp="1" noChangeArrowheads="1"/>
          </p:cNvSpPr>
          <p:nvPr/>
        </p:nvSpPr>
        <p:spPr>
          <a:xfrm rot="0">
            <a:off x="1642745" y="1347470"/>
            <a:ext cx="3137535" cy="2581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is the horizontal </a:t>
            </a:r>
            <a:endParaRPr lang="ko-KR" altLang="en-US" dirty="0" smtClean="0" sz="947" b="1"/>
          </a:p>
          <a:p>
            <a:pPr marL="0" indent="0" defTabSz="15240" algn="l">
              <a:lnSpc>
                <a:spcPts val="1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1097" b="1"/>
          </a:p>
        </p:txBody>
      </p:sp>
      <p:sp>
        <p:nvSpPr>
          <p:cNvPr id="533" name="Rect 3"/>
          <p:cNvSpPr>
            <a:spLocks noGrp="1" noChangeArrowheads="1"/>
          </p:cNvSpPr>
          <p:nvPr/>
        </p:nvSpPr>
        <p:spPr>
          <a:xfrm rot="0">
            <a:off x="856615" y="1493520"/>
            <a:ext cx="4088130" cy="2444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unit </a:t>
            </a:r>
            <a:endParaRPr lang="ko-KR" altLang="en-US" dirty="0" smtClean="0" sz="100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curves of the firms. </a:t>
            </a:r>
            <a:endParaRPr lang="ko-KR" altLang="en-US" dirty="0" smtClean="0" sz="947" b="1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output raises input </a:t>
            </a:r>
            <a:endParaRPr lang="ko-KR" altLang="en-US" dirty="0" smtClean="0" sz="947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21</a:t>
            </a:r>
            <a:endParaRPr lang="ko-KR" altLang="en-US" dirty="0" smtClean="0" sz="947" b="1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26080" y="5053330"/>
            <a:ext cx="3191510" cy="23749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of Market Supply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599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33" i="1">
                <a:solidFill>
                  <a:srgbClr val="000000"/>
                </a:solidFill>
                <a:latin typeface="Times New Roman"/>
              </a:rPr>
              <a:t>					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5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/(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5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99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99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Perfectly inelastic short-run supply arises when the industry’s plant and equipment are 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fully utilized that new plants must be built to achieve greater output.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Perfectly elastic short-run supply arises when marginal costs are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World Copper Industry (1999)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Annual Production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Country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(thousand metric tons)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(dollars/pound)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Australia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600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0.65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Canada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0.75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Chile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3660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Indonesia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Peru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0.70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0.80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Russia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United States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1850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0.55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Short-Run World Supply of Copper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pound)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0.90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0.80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0.70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0.60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0.50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0.40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6000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8000 </a:t>
            </a:r>
            <a:endParaRPr lang="ko-KR" altLang="en-US" dirty="0" smtClean="0" sz="9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Producer Surplus in the Short Run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earn a surplus on all but the last unit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producer surplus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sum over all units produced of the difference between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price of the good and the marginal cost of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121</a:t>
            </a:r>
            <a:endParaRPr lang="ko-KR" altLang="en-US" dirty="0" smtClean="0" sz="1200"/>
          </a:p>
        </p:txBody>
      </p:sp>
      <p:sp>
        <p:nvSpPr>
          <p:cNvPr id="536" name="Rect 3"/>
          <p:cNvSpPr>
            <a:spLocks noGrp="1" noChangeArrowheads="1"/>
          </p:cNvSpPr>
          <p:nvPr/>
        </p:nvSpPr>
        <p:spPr>
          <a:xfrm rot="0">
            <a:off x="4736465" y="6153785"/>
            <a:ext cx="1433830" cy="141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,MC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600" b="1"/>
          </a:p>
        </p:txBody>
      </p:sp>
      <p:sp>
        <p:nvSpPr>
          <p:cNvPr id="537" name="Rect 3"/>
          <p:cNvSpPr>
            <a:spLocks noGrp="1" noChangeArrowheads="1"/>
          </p:cNvSpPr>
          <p:nvPr/>
        </p:nvSpPr>
        <p:spPr>
          <a:xfrm rot="0">
            <a:off x="3352800" y="5754370"/>
            <a:ext cx="2411730" cy="1938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6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6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9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J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,MC</a:t>
            </a:r>
            <a:endParaRPr lang="ko-KR" altLang="en-US" dirty="0" smtClean="0" sz="9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,MC</a:t>
            </a:r>
            <a:endParaRPr lang="ko-KR" altLang="en-US" dirty="0" smtClean="0" sz="900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Production (thousand metric tons)</a:t>
            </a:r>
            <a:endParaRPr lang="ko-KR" altLang="en-US" dirty="0" smtClean="0" sz="1002" b="1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4225" y="987425"/>
            <a:ext cx="2999105" cy="24936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64410" y="5428615"/>
            <a:ext cx="2649220" cy="21882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	 MC = MR. </a:t>
            </a:r>
            <a:endParaRPr lang="ko-KR" altLang="en-US" dirty="0" smtClean="0" sz="798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0 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 ,  </a:t>
            </a:r>
            <a:endParaRPr lang="ko-KR" altLang="en-US" dirty="0" smtClean="0" sz="798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output)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B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B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A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P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Alternatively, VC is the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sum of MC or ODCq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.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D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C0C0C0"/>
                </a:solidFill>
                <a:latin typeface="Arial"/>
              </a:rPr>
              <a:t>0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0</a:t>
            </a:r>
            <a:endParaRPr lang="ko-KR" altLang="en-US" dirty="0" smtClean="0" sz="100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Producer Surplus in the Short-Run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135">
                <a:solidFill>
                  <a:srgbClr val="000000"/>
                </a:solidFill>
                <a:latin typeface="Times New Roman"/>
                <a:ea typeface="Times New Roman"/>
              </a:rPr>
              <a:t>Producer Surplus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35">
                <a:solidFill>
                  <a:srgbClr val="000000"/>
                </a:solidFill>
                <a:latin typeface="Times New Roman"/>
                <a:ea typeface="Times New Roman"/>
              </a:rPr>
              <a:t> PS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35">
                <a:solidFill>
                  <a:srgbClr val="000000"/>
                </a:solidFill>
                <a:latin typeface="Times New Roman"/>
                <a:ea typeface="Times New Roman"/>
              </a:rPr>
              <a:t> R - VC</a:t>
            </a:r>
            <a:endParaRPr lang="ko-KR" altLang="en-US" dirty="0" smtClean="0" sz="1135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223">
                <a:solidFill>
                  <a:srgbClr val="000000"/>
                </a:solidFill>
                <a:latin typeface="Times New Roman"/>
                <a:ea typeface="Times New Roman"/>
              </a:rPr>
              <a:t>Profit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23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3">
                <a:solidFill>
                  <a:srgbClr val="000000"/>
                </a:solidFill>
                <a:latin typeface="Times New Roman"/>
                <a:ea typeface="Times New Roman"/>
              </a:rPr>
              <a:t> - R - VC - FC</a:t>
            </a:r>
            <a:endParaRPr lang="ko-KR" altLang="en-US" dirty="0" smtClean="0" sz="122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Short-run with positive fixed cost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42">
                <a:solidFill>
                  <a:srgbClr val="000000"/>
                </a:solidFill>
                <a:latin typeface="Times New Roman"/>
                <a:ea typeface="Times New Roman"/>
              </a:rPr>
              <a:t>PS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42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142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endParaRPr lang="ko-KR" altLang="en-US" dirty="0" smtClean="0" sz="114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Producer Surplus for a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output) </a:t>
            </a:r>
            <a:endParaRPr lang="ko-KR" altLang="en-US" dirty="0" smtClean="0" sz="900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from 0 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Produce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9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*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Choosing Output in Long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 the long run, a firm can alter all its inputs, including the size of the plant.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We assume free entry and free exit. </a:t>
            </a:r>
            <a:endParaRPr lang="ko-KR" altLang="en-US" dirty="0" smtClean="0" sz="1097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122</a:t>
            </a:r>
            <a:endParaRPr lang="ko-KR" altLang="en-US" dirty="0" smtClean="0" sz="1200"/>
          </a:p>
        </p:txBody>
      </p:sp>
      <p:sp>
        <p:nvSpPr>
          <p:cNvPr id="540" name="Rect 3"/>
          <p:cNvSpPr>
            <a:spLocks noGrp="1" noChangeArrowheads="1"/>
          </p:cNvSpPr>
          <p:nvPr/>
        </p:nvSpPr>
        <p:spPr>
          <a:xfrm rot="0">
            <a:off x="3542030" y="1240790"/>
            <a:ext cx="2091690" cy="2374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AVC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Producer surplus =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 - VC or ABCD. </a:t>
            </a:r>
            <a:endParaRPr lang="ko-KR" altLang="en-US" dirty="0" smtClean="0" sz="798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900" b="1"/>
          </a:p>
        </p:txBody>
      </p:sp>
      <p:sp>
        <p:nvSpPr>
          <p:cNvPr id="541" name="Rect 3"/>
          <p:cNvSpPr>
            <a:spLocks noGrp="1" noChangeArrowheads="1"/>
          </p:cNvSpPr>
          <p:nvPr/>
        </p:nvSpPr>
        <p:spPr>
          <a:xfrm rot="0">
            <a:off x="2438400" y="1002665"/>
            <a:ext cx="3232150" cy="6278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MR &gt; MC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for all		units.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Producer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Surplus </a:t>
            </a:r>
            <a:endParaRPr lang="ko-KR" altLang="en-US" dirty="0" smtClean="0" sz="1002" b="1"/>
          </a:p>
          <a:p>
            <a:pPr marL="0" indent="0" defTabSz="15240" algn="l">
              <a:lnSpc>
                <a:spcPts val="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 is P x 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or OABq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C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q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q</a:t>
            </a:r>
            <a:r>
              <a:rPr lang="en-US" altLang="ko-KR" dirty="0" smtClean="0" sz="648" i="1" b="1">
                <a:solidFill>
                  <a:srgbClr val="C0C0C0"/>
                </a:solidFill>
                <a:latin typeface="Arial"/>
              </a:rPr>
              <a:t>*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 *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13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3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35"/>
          </a:p>
          <a:p>
            <a:pPr marL="0" indent="0" defTabSz="15240" algn="l">
              <a:lnSpc>
                <a:spcPts val="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Market producer surplus is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difference between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P*  </a:t>
            </a:r>
            <a:endParaRPr lang="ko-KR" altLang="en-US" dirty="0" smtClean="0" sz="798" i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14270" y="1124585"/>
            <a:ext cx="3002280" cy="23990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3010" y="4023360"/>
            <a:ext cx="3115310" cy="24904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 the long run, the plant size will be  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output)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SMC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$40 </a:t>
            </a:r>
            <a:endParaRPr lang="ko-KR" altLang="en-US" dirty="0" smtClean="0" sz="9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$30 </a:t>
            </a:r>
            <a:endParaRPr lang="ko-KR" altLang="en-US" dirty="0" smtClean="0" sz="94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 the short run, the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firm is faced with fixed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inputs. 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$40 &gt;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ATC.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Profit is equal to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ABCD.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output)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SMC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$40 </a:t>
            </a:r>
            <a:endParaRPr lang="ko-KR" altLang="en-US" dirty="0" smtClean="0" sz="100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$30 </a:t>
            </a:r>
            <a:endParaRPr lang="ko-KR" altLang="en-US" dirty="0" smtClean="0" sz="1002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Accounting Profit &amp; Economic Profit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Accounting profit (π) = R - wL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profit (π) = R - wL - rK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wL = labor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rk	= opportunity cost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Long-Run Competitive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Zero-Profit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R &gt; wL + rk, economic profits are positive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R = wL + rk, zero economic profits, but the firms is earning a normal rate of return;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indicating the industry is competitive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R &lt; wl + rk, consider going out of business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Entry and Exit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123</a:t>
            </a:r>
            <a:endParaRPr lang="ko-KR" altLang="en-US" dirty="0" smtClean="0" sz="1200"/>
          </a:p>
        </p:txBody>
      </p:sp>
      <p:sp>
        <p:nvSpPr>
          <p:cNvPr id="544" name="Rect 3"/>
          <p:cNvSpPr>
            <a:spLocks noGrp="1" noChangeArrowheads="1"/>
          </p:cNvSpPr>
          <p:nvPr/>
        </p:nvSpPr>
        <p:spPr>
          <a:xfrm rot="0">
            <a:off x="4700270" y="1200785"/>
            <a:ext cx="808355" cy="4385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LMC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LAC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F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LMC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F</a:t>
            </a:r>
            <a:endParaRPr lang="ko-KR" altLang="en-US" dirty="0" smtClean="0" sz="1002" i="1" b="1"/>
          </a:p>
        </p:txBody>
      </p:sp>
      <p:sp>
        <p:nvSpPr>
          <p:cNvPr id="545" name="Rect 3"/>
          <p:cNvSpPr>
            <a:spLocks noGrp="1" noChangeArrowheads="1"/>
          </p:cNvSpPr>
          <p:nvPr/>
        </p:nvSpPr>
        <p:spPr>
          <a:xfrm rot="0">
            <a:off x="2813050" y="1134110"/>
            <a:ext cx="3357245" cy="4324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increased and output increased to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Long-run profit,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EFGD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&gt; short run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profit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ABCD.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SAC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 = MR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Question: Is the producer making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profit after increased output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lowers the price to $30?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LAC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SAC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 = MR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00455" y="2145665"/>
            <a:ext cx="5982970" cy="257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long-run response to short-run profits is to increase output and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will attract other producers.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producers increase industry supply which lowers the market price.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Competitive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Profit attracts firms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 per 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100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1002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LMC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$40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$3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115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Long-Run Competitive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1) 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MR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2)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LAC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 incentive to leave or enter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= 0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3)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Market Price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Explain the market adjustment when P &lt; LAC and firms have identical costs.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Explain the market adjustment when firms have different costs.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What is the opportunity cost of land?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Economic Rent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rent is the difference between what firms are willing to pay for an input  less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minimum amount necessary to obtain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firms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&amp;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own their land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located on a river which lowers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A’s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shipping cost by $10,000 compared to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349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124</a:t>
            </a:r>
            <a:endParaRPr lang="ko-KR" altLang="en-US" dirty="0" smtClean="0" sz="1200"/>
          </a:p>
        </p:txBody>
      </p:sp>
      <p:sp>
        <p:nvSpPr>
          <p:cNvPr id="548" name="Rect 3"/>
          <p:cNvSpPr>
            <a:spLocks noGrp="1" noChangeArrowheads="1"/>
          </p:cNvSpPr>
          <p:nvPr/>
        </p:nvSpPr>
        <p:spPr>
          <a:xfrm rot="0">
            <a:off x="4809490" y="2078990"/>
            <a:ext cx="1229360" cy="325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Industry</a:t>
            </a:r>
            <a:endParaRPr lang="ko-KR" altLang="en-US" dirty="0" smtClean="0" sz="11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152" i="1" b="1">
                <a:solidFill>
                  <a:srgbClr val="FFFFFF"/>
                </a:solidFill>
                <a:latin typeface="Arial"/>
              </a:rPr>
              <a:t>S</a:t>
            </a:r>
            <a:endParaRPr lang="ko-KR" altLang="en-US" dirty="0" smtClean="0" sz="1152" i="1" b="1"/>
          </a:p>
        </p:txBody>
      </p:sp>
      <p:sp>
        <p:nvSpPr>
          <p:cNvPr id="549" name="Rect 3"/>
          <p:cNvSpPr>
            <a:spLocks noGrp="1" noChangeArrowheads="1"/>
          </p:cNvSpPr>
          <p:nvPr/>
        </p:nvSpPr>
        <p:spPr>
          <a:xfrm rot="0">
            <a:off x="2453640" y="1947545"/>
            <a:ext cx="1817370" cy="3721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Supply increases until profit = 0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 per </a:t>
            </a:r>
            <a:endParaRPr lang="ko-KR" altLang="en-US" dirty="0" smtClean="0" sz="900" b="1"/>
          </a:p>
        </p:txBody>
      </p:sp>
      <p:sp>
        <p:nvSpPr>
          <p:cNvPr id="550" name="Rect 3"/>
          <p:cNvSpPr>
            <a:spLocks noGrp="1" noChangeArrowheads="1"/>
          </p:cNvSpPr>
          <p:nvPr/>
        </p:nvSpPr>
        <p:spPr>
          <a:xfrm rot="0">
            <a:off x="2060575" y="2078990"/>
            <a:ext cx="4145915" cy="273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Firm </a:t>
            </a:r>
            <a:endParaRPr lang="ko-KR" altLang="en-US" dirty="0" smtClean="0" sz="11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</a:t>
            </a:r>
            <a:endParaRPr lang="ko-KR" altLang="en-US" dirty="0" smtClean="0" sz="900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LAC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21280" y="2221865"/>
            <a:ext cx="3343910" cy="20999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90800" y="4563110"/>
            <a:ext cx="2584450" cy="20142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demand for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A’s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river location will increase the price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A’s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land to $10,000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rent = $10,000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$10,000 - zero cost for the land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rent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profit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Firms Earn Zero Profit in Long-Run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Ticket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tickets so that price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LMC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LAC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(profit = 0). </a:t>
            </a:r>
            <a:endParaRPr lang="ko-KR" altLang="en-US" dirty="0" smtClean="0" sz="798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$7 </a:t>
            </a:r>
            <a:endParaRPr lang="ko-KR" altLang="en-US" dirty="0" smtClean="0" sz="852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Season Tickets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1.0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Ticket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Economic Rent</a:t>
            </a:r>
            <a:endParaRPr lang="ko-KR" altLang="en-US" dirty="0" smtClean="0" sz="852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$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$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1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1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0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0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$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$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7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7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sells tickets for $10. </a:t>
            </a:r>
            <a:endParaRPr lang="ko-KR" altLang="en-US" dirty="0" smtClean="0" sz="900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Season Tickets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1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1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.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.</a:t>
            </a:r>
            <a:r>
              <a:rPr lang="en-US" altLang="ko-KR" dirty="0" smtClean="0" sz="852" b="1">
                <a:solidFill>
                  <a:srgbClr val="C0C0C0"/>
                </a:solidFill>
                <a:latin typeface="Arial"/>
              </a:rPr>
              <a:t>3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Sales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(millions)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With a fixed input such as a unique location, the difference between the cost of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(LAC = 7) and price ($10) is the value or opportunity cost of the input (location)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represents the economic rent from the input.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the opportunity cost of the input (rent) is not taken into consideration it may appear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profits exist in the long-run. </a:t>
            </a:r>
            <a:endParaRPr lang="ko-KR" altLang="en-US" dirty="0" smtClean="0" sz="1097"/>
          </a:p>
          <a:p>
            <a:pPr marL="0" indent="0" defTabSz="15240" algn="l">
              <a:lnSpc>
                <a:spcPts val="1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125</a:t>
            </a:r>
            <a:endParaRPr lang="ko-KR" altLang="en-US" dirty="0" smtClean="0" sz="1200"/>
          </a:p>
        </p:txBody>
      </p:sp>
      <p:sp>
        <p:nvSpPr>
          <p:cNvPr id="553" name="Rect 3"/>
          <p:cNvSpPr>
            <a:spLocks noGrp="1" noChangeArrowheads="1"/>
          </p:cNvSpPr>
          <p:nvPr/>
        </p:nvSpPr>
        <p:spPr>
          <a:xfrm rot="0">
            <a:off x="4090670" y="2182495"/>
            <a:ext cx="1835785" cy="3596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baseball team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 a moderate-sized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city sells enough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equal to marginal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average cost </a:t>
            </a:r>
            <a:endParaRPr lang="ko-KR" altLang="en-US" dirty="0" smtClean="0" sz="798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Sales (millions) </a:t>
            </a:r>
            <a:endParaRPr lang="ko-KR" altLang="en-US" dirty="0" smtClean="0" sz="798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LAC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team with the same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cost in a larger city 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26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Industry’s Long-Run Supply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Long-Run Elasticity of Supply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Constant-cost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supply is horizontal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 increase in price will induce an extremely large output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supply elasticity is infinitely large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Inputs would be readily available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Increasing-cost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supply is upward-sloping and elasticity is positive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slope (elasticity) will depend on the rate of increase in input cost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elasticity will generally be greater than short-run elasticity of supply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Industry’s Long-Run Supply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Describe the long-run elasticity of supply in a  decreasing -cost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Long-Run Supply of Housing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Scenario 1: Owner-occupied housing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Suburban or rural areas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market for inputs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this an increasing or a constant-cost industry?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would you predict about the elasticity of supply?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Scenario 2: Rental property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Urban location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High-rise construction cost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this an increasing or a constant-cost industry?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would you predict about the elasticity of supply?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Industry’s Long-Run Supply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Effects of a Tax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an earlier chapter we studied how firms respond to taxes on an input.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Now, we will consider how a firm responds to a tax on its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72385" y="1435735"/>
            <a:ext cx="2917190" cy="240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0945" y="4876800"/>
            <a:ext cx="2996565" cy="25057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an Output Tax on a Competitive Firm’s Output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firm will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output) </a:t>
            </a:r>
            <a:endParaRPr lang="ko-KR" altLang="en-US" dirty="0" smtClean="0" sz="9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amount of the		tax.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C0C0C0"/>
                </a:solidFill>
                <a:latin typeface="Arial"/>
              </a:rPr>
              <a:t>t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t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AVC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Effect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an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Output Tax on Industry Output </a:t>
            </a:r>
            <a:endParaRPr lang="ko-KR" altLang="en-US" dirty="0" smtClean="0" sz="1002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output) </a:t>
            </a:r>
            <a:endParaRPr lang="ko-KR" altLang="en-US" dirty="0" smtClean="0" sz="900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falls 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increases 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Evaluating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Gains &amp; Losses from Government Policies: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&amp; Producer Surplus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Review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surplus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total benefit or value that consumers receive beyond what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pay for the good.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Producer surplus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total benefit or revenue that producers receive beyond what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to produce a good. </a:t>
            </a:r>
            <a:endParaRPr lang="ko-KR" altLang="en-US" dirty="0" smtClean="0" sz="1097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127</a:t>
            </a:r>
            <a:endParaRPr lang="ko-KR" altLang="en-US" dirty="0" smtClean="0" sz="1200"/>
          </a:p>
        </p:txBody>
      </p:sp>
      <p:sp>
        <p:nvSpPr>
          <p:cNvPr id="558" name="Rect 3"/>
          <p:cNvSpPr>
            <a:spLocks noGrp="1" noChangeArrowheads="1"/>
          </p:cNvSpPr>
          <p:nvPr/>
        </p:nvSpPr>
        <p:spPr>
          <a:xfrm rot="0">
            <a:off x="5413375" y="1469390"/>
            <a:ext cx="787400" cy="1123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reduce output to </a:t>
            </a:r>
            <a:endParaRPr lang="ko-KR" altLang="en-US" dirty="0" smtClean="0" sz="798"/>
          </a:p>
        </p:txBody>
      </p:sp>
      <p:sp>
        <p:nvSpPr>
          <p:cNvPr id="559" name="Rect 3"/>
          <p:cNvSpPr>
            <a:spLocks noGrp="1" noChangeArrowheads="1"/>
          </p:cNvSpPr>
          <p:nvPr/>
        </p:nvSpPr>
        <p:spPr>
          <a:xfrm rot="0">
            <a:off x="4819015" y="1410970"/>
            <a:ext cx="1439545" cy="521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point at which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marginal cost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plus the tax equals </a:t>
            </a:r>
            <a:endParaRPr lang="ko-KR" altLang="en-US" dirty="0" smtClean="0" sz="798"/>
          </a:p>
        </p:txBody>
      </p:sp>
      <p:sp>
        <p:nvSpPr>
          <p:cNvPr id="560" name="Rect 3"/>
          <p:cNvSpPr>
            <a:spLocks noGrp="1" noChangeArrowheads="1"/>
          </p:cNvSpPr>
          <p:nvPr/>
        </p:nvSpPr>
        <p:spPr>
          <a:xfrm rot="0">
            <a:off x="2816225" y="1344295"/>
            <a:ext cx="3225800" cy="6177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= MC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 + tax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 output tax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raises the firm’s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marginal cost by the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price. </a:t>
            </a:r>
            <a:endParaRPr lang="ko-KR" altLang="en-US" dirty="0" smtClean="0" sz="798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AVC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= S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 + t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397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1397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Tax shifts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		to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	and </a:t>
            </a:r>
            <a:endParaRPr lang="ko-KR" altLang="en-US" dirty="0" smtClean="0" sz="798"/>
          </a:p>
          <a:p>
            <a:pPr marL="0" indent="0" defTabSz="15240" algn="l">
              <a:lnSpc>
                <a:spcPts val="9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60905" y="911225"/>
            <a:ext cx="2484120" cy="23958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35680" y="3371215"/>
            <a:ext cx="219710" cy="1428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16735" y="4782185"/>
            <a:ext cx="2687955" cy="26244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Surplus</a:t>
            </a:r>
            <a:endParaRPr lang="ko-KR" altLang="en-US" dirty="0" smtClean="0" sz="1097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4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Producer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Surplus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85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 determine the welfare effect of a governmental policy we can measure the gain or loss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and producer surplus.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Welfare Effects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Gains and losses caused by government intervention in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Suppose the government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imposes a price ceiling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max</a:t>
            </a:r>
            <a:endParaRPr lang="ko-KR" altLang="en-US" dirty="0" smtClean="0" sz="600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Market-clearing price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90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Deadweight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difference between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rectangle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triangle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max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triangle 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C.  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Triangle </a:t>
            </a:r>
            <a:endParaRPr lang="ko-KR" altLang="en-US" dirty="0" smtClean="0" sz="852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1002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Change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&amp; producer surplus from price controls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total loss is equal to area B + C.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total change in surplus = (A - B) + (-A - C) = -B - 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deadweight loss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inefficiency of the price controls or the loss of the producer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exceeds the gain from consumer surplus.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128</a:t>
            </a:r>
            <a:endParaRPr lang="ko-KR" altLang="en-US" dirty="0" smtClean="0" sz="1200"/>
          </a:p>
        </p:txBody>
      </p:sp>
      <p:sp>
        <p:nvSpPr>
          <p:cNvPr id="563" name="Rect 3"/>
          <p:cNvSpPr>
            <a:spLocks noGrp="1" noChangeArrowheads="1"/>
          </p:cNvSpPr>
          <p:nvPr/>
        </p:nvSpPr>
        <p:spPr>
          <a:xfrm rot="0">
            <a:off x="4636135" y="6403975"/>
            <a:ext cx="1202055" cy="118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The loss to producers is </a:t>
            </a:r>
            <a:endParaRPr lang="ko-KR" altLang="en-US" dirty="0" smtClean="0" sz="852"/>
          </a:p>
        </p:txBody>
      </p:sp>
      <p:sp>
        <p:nvSpPr>
          <p:cNvPr id="564" name="Rect 3"/>
          <p:cNvSpPr>
            <a:spLocks noGrp="1" noChangeArrowheads="1"/>
          </p:cNvSpPr>
          <p:nvPr/>
        </p:nvSpPr>
        <p:spPr>
          <a:xfrm rot="0">
            <a:off x="2706370" y="3352800"/>
            <a:ext cx="2223135" cy="30848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852" b="1"/>
          </a:p>
          <a:p>
            <a:pPr marL="0" indent="0" defTabSz="15240" algn="l">
              <a:lnSpc>
                <a:spcPts val="2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1097" i="1" b="1"/>
          </a:p>
        </p:txBody>
      </p:sp>
      <p:sp>
        <p:nvSpPr>
          <p:cNvPr id="565" name="Rect 3"/>
          <p:cNvSpPr>
            <a:spLocks noGrp="1" noChangeArrowheads="1"/>
          </p:cNvSpPr>
          <p:nvPr/>
        </p:nvSpPr>
        <p:spPr>
          <a:xfrm rot="0">
            <a:off x="2240280" y="1456690"/>
            <a:ext cx="3658870" cy="556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Between 0 and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6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producers receive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net gain from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selling each product--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producer surplus. </a:t>
            </a:r>
            <a:endParaRPr lang="ko-KR" altLang="en-US" dirty="0" smtClean="0" sz="900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which is below the  </a:t>
            </a:r>
            <a:endParaRPr lang="ko-KR" altLang="en-US" dirty="0" smtClean="0" sz="90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gain to consumers is </a:t>
            </a:r>
            <a:endParaRPr lang="ko-KR" altLang="en-US" dirty="0" smtClean="0" sz="798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the sum of rectangle 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and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and </a:t>
            </a:r>
            <a:r>
              <a:rPr lang="en-US" altLang="ko-KR" dirty="0" smtClean="0" sz="852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 togethermeasure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the deadweight loss. </a:t>
            </a:r>
            <a:endParaRPr lang="ko-KR" altLang="en-US" dirty="0" smtClean="0" sz="852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4785" y="1752600"/>
            <a:ext cx="3157855" cy="25723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5305" y="5074920"/>
            <a:ext cx="2493645" cy="24415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can experience a net loss in consumer surplus when the demand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sufficiently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Price Controls When Demand Is Inelastic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If demand is sufficiently </a:t>
            </a:r>
            <a:endParaRPr lang="ko-KR" altLang="en-US" dirty="0" smtClean="0" sz="94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and the consumer 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suffers a net loss from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price controls. </a:t>
            </a:r>
            <a:endParaRPr lang="ko-KR" altLang="en-US" dirty="0" smtClean="0" sz="947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max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and gasoline shortages </a:t>
            </a:r>
            <a:endParaRPr lang="ko-KR" altLang="en-US" dirty="0" smtClean="0" sz="947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($/mcf)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gain to consumers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2.4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triangle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, and the loss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2.0</a:t>
            </a:r>
            <a:endParaRPr lang="ko-KR" altLang="en-US" dirty="0" smtClean="0" sz="1050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(P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max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)1.0</a:t>
            </a:r>
            <a:endParaRPr lang="ko-KR" altLang="en-US" dirty="0" smtClean="0" sz="1050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05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Controls and Natural Gas Shortages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129</a:t>
            </a:r>
            <a:endParaRPr lang="ko-KR" altLang="en-US" dirty="0" smtClean="0" sz="1200"/>
          </a:p>
        </p:txBody>
      </p:sp>
      <p:sp>
        <p:nvSpPr>
          <p:cNvPr id="568" name="Rect 3"/>
          <p:cNvSpPr>
            <a:spLocks noGrp="1" noChangeArrowheads="1"/>
          </p:cNvSpPr>
          <p:nvPr/>
        </p:nvSpPr>
        <p:spPr>
          <a:xfrm rot="0">
            <a:off x="5654040" y="3084830"/>
            <a:ext cx="528320" cy="16129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69" name="Rect 3"/>
          <p:cNvSpPr>
            <a:spLocks noGrp="1" noChangeArrowheads="1"/>
          </p:cNvSpPr>
          <p:nvPr/>
        </p:nvSpPr>
        <p:spPr>
          <a:xfrm rot="0">
            <a:off x="5437505" y="3212465"/>
            <a:ext cx="958215" cy="133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Oil price controls </a:t>
            </a:r>
            <a:endParaRPr lang="ko-KR" altLang="en-US" dirty="0" smtClean="0" sz="947"/>
          </a:p>
        </p:txBody>
      </p:sp>
      <p:sp>
        <p:nvSpPr>
          <p:cNvPr id="570" name="Rect 3"/>
          <p:cNvSpPr>
            <a:spLocks noGrp="1" noChangeArrowheads="1"/>
          </p:cNvSpPr>
          <p:nvPr/>
        </p:nvSpPr>
        <p:spPr>
          <a:xfrm rot="0">
            <a:off x="4050665" y="3051175"/>
            <a:ext cx="2390775" cy="3178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2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producers is rectangle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plus triangle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C. </a:t>
            </a:r>
            <a:endParaRPr lang="ko-KR" altLang="en-US" dirty="0" smtClean="0" sz="900" i="1"/>
          </a:p>
        </p:txBody>
      </p:sp>
      <p:sp>
        <p:nvSpPr>
          <p:cNvPr id="571" name="Rect 3"/>
          <p:cNvSpPr>
            <a:spLocks noGrp="1" noChangeArrowheads="1"/>
          </p:cNvSpPr>
          <p:nvPr/>
        </p:nvSpPr>
        <p:spPr>
          <a:xfrm rot="0">
            <a:off x="3298190" y="1688465"/>
            <a:ext cx="3112770" cy="5897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inelastic, triangle 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 can 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be larger than rectangle </a:t>
            </a:r>
            <a:endParaRPr lang="ko-KR" altLang="en-US" dirty="0" smtClean="0" sz="94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152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152"/>
          </a:p>
          <a:p>
            <a:pPr marL="0" indent="0" defTabSz="15240"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rectangle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minus 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0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 (Tcf)</a:t>
            </a:r>
            <a:endParaRPr lang="ko-KR" altLang="en-US" dirty="0" smtClean="0" sz="947" b="1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Efficiency of a Competitive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When do competitive markets generate an inefficient allocation of resources or market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failure?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Externalities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or benefits that do not show up as part of the market price (e.g. pollution)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Lack of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Imperfect information prevents consumers from making utility-maximizing decisions.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Government intervention in these markets can increase efficiency.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Government intervention without a market failure creates inefficiency or deadweight loss. </a:t>
            </a:r>
            <a:endParaRPr lang="ko-KR" altLang="en-US" dirty="0" smtClean="0" sz="1097"/>
          </a:p>
          <a:p>
            <a:pPr marL="0" indent="0" defTabSz="15240" algn="l">
              <a:lnSpc>
                <a:spcPts val="5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6815" y="1515110"/>
            <a:ext cx="2484120" cy="24168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53640" y="4876800"/>
            <a:ext cx="2456815" cy="23990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27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Welfare loss if price is held below market-clearing level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When price is 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regulated to be no 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When price is  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regulated to be no  </a:t>
            </a:r>
            <a:endParaRPr lang="ko-KR" altLang="en-US" dirty="0" smtClean="0" sz="798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will be demanded.  The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deadweight loss is given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by triangles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Welfare loss if price is held above market-clearing level </a:t>
            </a:r>
            <a:endParaRPr lang="ko-KR" altLang="en-US" dirty="0" smtClean="0" sz="1200" b="1"/>
          </a:p>
          <a:p>
            <a:pPr marL="0" indent="0" defTabSz="15240" algn="l">
              <a:lnSpc>
                <a:spcPts val="1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131</a:t>
            </a:r>
            <a:endParaRPr lang="ko-KR" altLang="en-US" dirty="0" smtClean="0" sz="1200"/>
          </a:p>
        </p:txBody>
      </p:sp>
      <p:sp>
        <p:nvSpPr>
          <p:cNvPr id="576" name="Rect 3"/>
          <p:cNvSpPr>
            <a:spLocks noGrp="1" noChangeArrowheads="1"/>
          </p:cNvSpPr>
          <p:nvPr/>
        </p:nvSpPr>
        <p:spPr>
          <a:xfrm rot="0">
            <a:off x="4718050" y="2825750"/>
            <a:ext cx="136652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deadweight loss given by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triangles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C 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results. </a:t>
            </a:r>
            <a:endParaRPr lang="ko-KR" altLang="en-US" dirty="0" smtClean="0" sz="900"/>
          </a:p>
        </p:txBody>
      </p:sp>
      <p:sp>
        <p:nvSpPr>
          <p:cNvPr id="577" name="Rect 3"/>
          <p:cNvSpPr>
            <a:spLocks noGrp="1" noChangeArrowheads="1"/>
          </p:cNvSpPr>
          <p:nvPr/>
        </p:nvSpPr>
        <p:spPr>
          <a:xfrm rot="0">
            <a:off x="3285490" y="2895600"/>
            <a:ext cx="2872740" cy="3355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What would the deadweight </a:t>
            </a:r>
            <a:endParaRPr lang="ko-KR" altLang="en-US" dirty="0" smtClean="0" sz="798"/>
          </a:p>
        </p:txBody>
      </p:sp>
      <p:sp>
        <p:nvSpPr>
          <p:cNvPr id="578" name="Rect 3"/>
          <p:cNvSpPr>
            <a:spLocks noGrp="1" noChangeArrowheads="1"/>
          </p:cNvSpPr>
          <p:nvPr/>
        </p:nvSpPr>
        <p:spPr>
          <a:xfrm rot="0">
            <a:off x="2856230" y="2694305"/>
            <a:ext cx="3097530" cy="4605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higher than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, the 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lower than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only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loss be if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? </a:t>
            </a:r>
            <a:endParaRPr lang="ko-KR" altLang="en-US" dirty="0" smtClean="0" sz="798" i="1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87550" y="6226810"/>
            <a:ext cx="2843530" cy="23564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Minimum Prices </a:t>
            </a:r>
            <a:endParaRPr lang="ko-KR" altLang="en-US" dirty="0" smtClean="0" sz="12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Periodically government policy seeks to raise prices above market-clearing levels.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  <a:ea typeface="Arial"/>
              </a:rPr>
              <a:t> We will investigate this by looking at a price floor and the minimum wage.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Minimum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change in producer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min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132</a:t>
            </a:r>
            <a:endParaRPr lang="ko-KR" altLang="en-US" dirty="0" smtClean="0" sz="1200"/>
          </a:p>
        </p:txBody>
      </p:sp>
      <p:sp>
        <p:nvSpPr>
          <p:cNvPr id="581" name="Rect 3"/>
          <p:cNvSpPr>
            <a:spLocks noGrp="1" noChangeArrowheads="1"/>
          </p:cNvSpPr>
          <p:nvPr/>
        </p:nvSpPr>
        <p:spPr>
          <a:xfrm rot="0">
            <a:off x="4645025" y="7199630"/>
            <a:ext cx="854710" cy="115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may be worse off. </a:t>
            </a:r>
            <a:endParaRPr lang="ko-KR" altLang="en-US" dirty="0" smtClean="0" sz="798"/>
          </a:p>
        </p:txBody>
      </p:sp>
      <p:sp>
        <p:nvSpPr>
          <p:cNvPr id="582" name="Rect 3"/>
          <p:cNvSpPr>
            <a:spLocks noGrp="1" noChangeArrowheads="1"/>
          </p:cNvSpPr>
          <p:nvPr/>
        </p:nvSpPr>
        <p:spPr>
          <a:xfrm rot="0">
            <a:off x="3066415" y="7083425"/>
            <a:ext cx="2518410" cy="2990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 -  C - D. 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Producers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</p:txBody>
      </p:sp>
      <p:sp>
        <p:nvSpPr>
          <p:cNvPr id="583" name="Rect 3"/>
          <p:cNvSpPr>
            <a:spLocks noGrp="1" noChangeArrowheads="1"/>
          </p:cNvSpPr>
          <p:nvPr/>
        </p:nvSpPr>
        <p:spPr>
          <a:xfrm rot="0">
            <a:off x="2496185" y="6209030"/>
            <a:ext cx="2921000" cy="243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producers produce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, the amount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- 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will go unsold. </a:t>
            </a:r>
            <a:endParaRPr lang="ko-KR" altLang="en-US" dirty="0" smtClean="0" sz="798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surplus will be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1720" y="1100455"/>
            <a:ext cx="3087370" cy="25844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65705" y="5736590"/>
            <a:ext cx="2578735" cy="24745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Minimum Wage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w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results in unemployment. </a:t>
            </a:r>
            <a:endParaRPr lang="ko-KR" altLang="en-US" dirty="0" smtClean="0" sz="90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min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w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Unemploymen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Airline Regulation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During 1976-1981 the airline industry in the U.S. changed dramatically.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Deregulation lead to major changes in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Some airlines merged or went out of business as new airlines entered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Airline Regulation by the Civil Aeronautics Board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Prior to deregulation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was at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min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		and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900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min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change in consumer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surplus is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 + B. </a:t>
            </a:r>
            <a:endParaRPr lang="ko-KR" altLang="en-US" dirty="0" smtClean="0" sz="900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133</a:t>
            </a:r>
            <a:endParaRPr lang="ko-KR" altLang="en-US" dirty="0" smtClean="0" sz="1200"/>
          </a:p>
        </p:txBody>
      </p:sp>
      <p:sp>
        <p:nvSpPr>
          <p:cNvPr id="586" name="Rect 3"/>
          <p:cNvSpPr>
            <a:spLocks noGrp="1" noChangeArrowheads="1"/>
          </p:cNvSpPr>
          <p:nvPr/>
        </p:nvSpPr>
        <p:spPr>
          <a:xfrm rot="0">
            <a:off x="4919345" y="2197735"/>
            <a:ext cx="1137920" cy="4032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deadweight  loss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given by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triangles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C. </a:t>
            </a:r>
            <a:endParaRPr lang="ko-KR" altLang="en-US" dirty="0" smtClean="0" sz="900" i="1"/>
          </a:p>
          <a:p>
            <a:pPr marL="0" indent="0" defTabSz="15240" algn="l">
              <a:lnSpc>
                <a:spcPts val="2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 unsold output. </a:t>
            </a:r>
            <a:endParaRPr lang="ko-KR" altLang="en-US" dirty="0" smtClean="0" sz="900"/>
          </a:p>
        </p:txBody>
      </p:sp>
      <p:sp>
        <p:nvSpPr>
          <p:cNvPr id="587" name="Rect 3"/>
          <p:cNvSpPr>
            <a:spLocks noGrp="1" noChangeArrowheads="1"/>
          </p:cNvSpPr>
          <p:nvPr/>
        </p:nvSpPr>
        <p:spPr>
          <a:xfrm rot="0">
            <a:off x="2877185" y="1027430"/>
            <a:ext cx="3265805" cy="723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Firms are not allowed to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pay less than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min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This </a:t>
            </a:r>
            <a:endParaRPr lang="ko-KR" altLang="en-US" dirty="0" smtClean="0" sz="900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Area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is the cost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After deregulation: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Prices fell to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</a:t>
            </a:r>
            <a:endParaRPr lang="ko-KR" altLang="en-US" dirty="0" smtClean="0" sz="900"/>
          </a:p>
          <a:p>
            <a:pPr marL="0" indent="0" defTabSz="15240"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93265" y="1520825"/>
            <a:ext cx="2633345" cy="237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08175" y="4718050"/>
            <a:ext cx="2697480" cy="25787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28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Supports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government buys 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 +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The cost to the 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government is the </a:t>
            </a:r>
            <a:endParaRPr lang="ko-KR" altLang="en-US" dirty="0" smtClean="0" sz="1002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0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Total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Welfare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Loss</a:t>
            </a:r>
            <a:endParaRPr lang="ko-KR" altLang="en-US" dirty="0" smtClean="0" sz="9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1002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there a more efficient way to increase farmer’s income by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 + B + D?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Supports and Production Quotas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Production Quotas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can also cause the price of a good to rise by reducing		supply.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What is the impact of controlling entry into the taxicab market? </a:t>
            </a:r>
            <a:endParaRPr lang="ko-KR" altLang="en-US" dirty="0" smtClean="0" sz="1097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134</a:t>
            </a:r>
            <a:endParaRPr lang="ko-KR" altLang="en-US" dirty="0" smtClean="0" sz="1200"/>
          </a:p>
        </p:txBody>
      </p:sp>
      <p:sp>
        <p:nvSpPr>
          <p:cNvPr id="590" name="Rect 3"/>
          <p:cNvSpPr>
            <a:spLocks noGrp="1" noChangeArrowheads="1"/>
          </p:cNvSpPr>
          <p:nvPr/>
        </p:nvSpPr>
        <p:spPr>
          <a:xfrm rot="0">
            <a:off x="4224655" y="2301240"/>
            <a:ext cx="1482090" cy="330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 surplus =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-A - B, </a:t>
            </a:r>
            <a:endParaRPr lang="ko-KR" altLang="en-US" dirty="0" smtClean="0" sz="9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the change in producer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surplus is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 + B + D </a:t>
            </a:r>
            <a:endParaRPr lang="ko-KR" altLang="en-US" dirty="0" smtClean="0" sz="900" i="1"/>
          </a:p>
          <a:p>
            <a:pPr marL="0" indent="0" defTabSz="15240" algn="l">
              <a:lnSpc>
                <a:spcPts val="2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Total welfare loss </a:t>
            </a:r>
            <a:endParaRPr lang="ko-KR" altLang="en-US" dirty="0" smtClean="0" sz="1002"/>
          </a:p>
        </p:txBody>
      </p:sp>
      <p:sp>
        <p:nvSpPr>
          <p:cNvPr id="591" name="Rect 3"/>
          <p:cNvSpPr>
            <a:spLocks noGrp="1" noChangeArrowheads="1"/>
          </p:cNvSpPr>
          <p:nvPr/>
        </p:nvSpPr>
        <p:spPr>
          <a:xfrm rot="0">
            <a:off x="1999615" y="1618615"/>
            <a:ext cx="3679825" cy="4940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maintain a price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6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quantity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g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change in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speckled rectangle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(Q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-Q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D-(Q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-Q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02" i="1">
                <a:solidFill>
                  <a:srgbClr val="000000"/>
                </a:solidFill>
                <a:latin typeface="Arial"/>
              </a:rPr>
              <a:t>)p</a:t>
            </a:r>
            <a:r>
              <a:rPr lang="en-US" altLang="ko-KR" dirty="0" smtClean="0" sz="648" i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648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 + </a:t>
            </a:r>
            <a:endParaRPr lang="ko-KR" altLang="en-US" dirty="0" smtClean="0" sz="1152" i="1" b="1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29840" y="1225550"/>
            <a:ext cx="2566670" cy="28771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36190" y="4337050"/>
            <a:ext cx="2959100" cy="29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Restrictions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4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		 is maintained with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  and incentive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Cost to government =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 + C + D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=A + B + 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change in consumer and producer surplus is the same as with price supports.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∆welfare = -A - B + A + B + D - B - C - D = -B - 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could the government reduce the cost and still subsidize the farmer?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is more costly: supports or acreage limitations? </a:t>
            </a:r>
            <a:endParaRPr lang="ko-KR" altLang="en-US" dirty="0" smtClean="0" sz="1097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135</a:t>
            </a:r>
            <a:endParaRPr lang="ko-KR" altLang="en-US" dirty="0" smtClean="0" sz="1200"/>
          </a:p>
        </p:txBody>
      </p:sp>
      <p:sp>
        <p:nvSpPr>
          <p:cNvPr id="594" name="Rect 3"/>
          <p:cNvSpPr>
            <a:spLocks noGrp="1" noChangeArrowheads="1"/>
          </p:cNvSpPr>
          <p:nvPr/>
        </p:nvSpPr>
        <p:spPr>
          <a:xfrm rot="0">
            <a:off x="3962400" y="1444625"/>
            <a:ext cx="177800" cy="1314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</p:txBody>
      </p:sp>
      <p:sp>
        <p:nvSpPr>
          <p:cNvPr id="595" name="Rect 3"/>
          <p:cNvSpPr>
            <a:spLocks noGrp="1" noChangeArrowheads="1"/>
          </p:cNvSpPr>
          <p:nvPr/>
        </p:nvSpPr>
        <p:spPr>
          <a:xfrm rot="0">
            <a:off x="3733800" y="1310640"/>
            <a:ext cx="2360295" cy="4294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Supply restricted to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Supply shifts to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S’ @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CS reduced by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 + B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Change in PS =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 - C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247" i="1" b="1"/>
          </a:p>
        </p:txBody>
      </p:sp>
      <p:sp>
        <p:nvSpPr>
          <p:cNvPr id="596" name="Rect 3"/>
          <p:cNvSpPr>
            <a:spLocks noGrp="1" noChangeArrowheads="1"/>
          </p:cNvSpPr>
          <p:nvPr/>
        </p:nvSpPr>
        <p:spPr>
          <a:xfrm rot="0">
            <a:off x="2660650" y="1307465"/>
            <a:ext cx="3399790" cy="6102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6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’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947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152" b="1"/>
          </a:p>
        </p:txBody>
      </p:sp>
      <p:sp>
        <p:nvSpPr>
          <p:cNvPr id="597" name="Rect 3"/>
          <p:cNvSpPr>
            <a:spLocks noGrp="1" noChangeArrowheads="1"/>
          </p:cNvSpPr>
          <p:nvPr/>
        </p:nvSpPr>
        <p:spPr>
          <a:xfrm rot="0">
            <a:off x="1188720" y="7620000"/>
            <a:ext cx="6612255" cy="170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∆PS =A - C + B + C + D                                                                                                                            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18360" y="929640"/>
            <a:ext cx="3340735" cy="25209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78025" y="6403975"/>
            <a:ext cx="3404870" cy="25114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Wheat Market in 1981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Pric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100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By buying 122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FFFFFF"/>
                </a:solidFill>
                <a:latin typeface="Arial"/>
              </a:rPr>
              <a:t>Q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$3.70 </a:t>
            </a:r>
            <a:endParaRPr lang="ko-KR" altLang="en-US" dirty="0" smtClean="0" sz="100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$3.46 </a:t>
            </a:r>
            <a:endParaRPr lang="ko-KR" altLang="en-US" dirty="0" smtClean="0" sz="1002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 + 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g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1,800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02" b="1">
                <a:solidFill>
                  <a:srgbClr val="FFFFFF"/>
                </a:solidFill>
                <a:latin typeface="Arial"/>
              </a:rPr>
              <a:t>2,56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2,630</a:t>
            </a:r>
            <a:r>
              <a:rPr lang="en-US" altLang="ko-KR" dirty="0" smtClean="0" sz="1002" b="1">
                <a:solidFill>
                  <a:srgbClr val="FFFFFF"/>
                </a:solidFill>
                <a:latin typeface="Arial"/>
              </a:rPr>
              <a:t>2,68</a:t>
            </a:r>
            <a:endParaRPr lang="ko-KR" altLang="en-US" dirty="0" smtClean="0" sz="1002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Supporting the Price of Wheat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1981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consumer surplus=(-A -B)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= (3.70 - 3.46)(2,566) = $616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 = (1/2)(3.70 - 3.46)(2,630 - 2,566)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= $8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consumer surplus: -$624 million.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to the government: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$3.70 x 122 million bushels = $452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cost = $624 + 452 = $1,076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gain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 + B + C =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$638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also paid 30 cents/bushel = $806 million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Wheat Market in 1985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 increase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$3.20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 production quota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2,425 bushels.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$1.80 </a:t>
            </a:r>
            <a:endParaRPr lang="ko-KR" altLang="en-US" dirty="0" smtClean="0" sz="1002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1,80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1,95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2,23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2,42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002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136</a:t>
            </a:r>
            <a:endParaRPr lang="ko-KR" altLang="en-US" dirty="0" smtClean="0" sz="1200"/>
          </a:p>
        </p:txBody>
      </p:sp>
      <p:sp>
        <p:nvSpPr>
          <p:cNvPr id="600" name="Rect 3"/>
          <p:cNvSpPr>
            <a:spLocks noGrp="1" noChangeArrowheads="1"/>
          </p:cNvSpPr>
          <p:nvPr/>
        </p:nvSpPr>
        <p:spPr>
          <a:xfrm rot="0">
            <a:off x="4831080" y="2106295"/>
            <a:ext cx="875665" cy="127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market-clearing  </a:t>
            </a:r>
            <a:endParaRPr lang="ko-KR" altLang="en-US" dirty="0" smtClean="0" sz="900"/>
          </a:p>
        </p:txBody>
      </p:sp>
      <p:sp>
        <p:nvSpPr>
          <p:cNvPr id="601" name="Rect 3"/>
          <p:cNvSpPr>
            <a:spLocks noGrp="1" noChangeArrowheads="1"/>
          </p:cNvSpPr>
          <p:nvPr/>
        </p:nvSpPr>
        <p:spPr>
          <a:xfrm rot="0">
            <a:off x="3999230" y="2078990"/>
            <a:ext cx="1421130" cy="286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price. </a:t>
            </a:r>
            <a:endParaRPr lang="ko-KR" altLang="en-US" dirty="0" smtClean="0" sz="900"/>
          </a:p>
        </p:txBody>
      </p:sp>
      <p:sp>
        <p:nvSpPr>
          <p:cNvPr id="602" name="Rect 3"/>
          <p:cNvSpPr>
            <a:spLocks noGrp="1" noChangeArrowheads="1"/>
          </p:cNvSpPr>
          <p:nvPr/>
        </p:nvSpPr>
        <p:spPr>
          <a:xfrm rot="0">
            <a:off x="3764280" y="1219200"/>
            <a:ext cx="1891030" cy="1060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increased the 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002" i="1" b="1"/>
          </a:p>
        </p:txBody>
      </p:sp>
      <p:sp>
        <p:nvSpPr>
          <p:cNvPr id="603" name="Rect 3"/>
          <p:cNvSpPr>
            <a:spLocks noGrp="1" noChangeArrowheads="1"/>
          </p:cNvSpPr>
          <p:nvPr/>
        </p:nvSpPr>
        <p:spPr>
          <a:xfrm rot="0">
            <a:off x="3011170" y="1014730"/>
            <a:ext cx="2674620" cy="75685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AB consumer loss </a:t>
            </a:r>
            <a:endParaRPr lang="ko-KR" altLang="en-US" dirty="0" smtClean="0" sz="90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ABC producer gain</a:t>
            </a:r>
            <a:endParaRPr lang="ko-KR" altLang="en-US" dirty="0" smtClean="0" sz="9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million bushels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government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002" b="1"/>
          </a:p>
          <a:p>
            <a:pPr marL="0" indent="0" defTabSz="15240" algn="l">
              <a:lnSpc>
                <a:spcPts val="2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to $3.20,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government bought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466 million bushels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imposed </a:t>
            </a:r>
            <a:endParaRPr lang="ko-KR" altLang="en-US" dirty="0" smtClean="0" sz="798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 + </a:t>
            </a:r>
            <a:endParaRPr lang="ko-KR" altLang="en-US" dirty="0" smtClean="0" sz="1152" i="1" b="1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69465" y="3346450"/>
            <a:ext cx="2691765" cy="26276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1985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Purchase: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Government cost = $3.20 x 466 = $1,491million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80 cent subsidy = .80 x 2,425 = $1,940 million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cost = $3.5 billion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Import Quotas and Tariffs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Many countries use import quotas and tariffs to keep the domestic price of a product above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 levels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Import Tariff or Quota That Eliminates Imports 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world price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900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By eliminating imports,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price is increased to 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 The gain is area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A.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The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W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Import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to be to get the  </a:t>
            </a:r>
            <a:endParaRPr lang="ko-KR" altLang="en-US" dirty="0" smtClean="0" sz="100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increase in price can be achieved by a quota or a tariff.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Area A is again the gain to domestic producers.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loss to consumers is  A + B + C + D.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a tariff is used the government gains D, so the net domestic product loss is B + 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a quota is used instead, rectangle D becomes part of the profits of foreign producers,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net domestic loss is B + C + 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a country be better off or worse off with a quota instead of a tariff?  </a:t>
            </a:r>
            <a:endParaRPr lang="ko-KR" altLang="en-US" dirty="0" smtClean="0" sz="1097"/>
          </a:p>
          <a:p>
            <a:pPr marL="0" indent="0" defTabSz="15240" algn="l">
              <a:lnSpc>
                <a:spcPts val="1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137</a:t>
            </a:r>
            <a:endParaRPr lang="ko-KR" altLang="en-US" dirty="0" smtClean="0" sz="1200"/>
          </a:p>
        </p:txBody>
      </p:sp>
      <p:sp>
        <p:nvSpPr>
          <p:cNvPr id="606" name="Rect 3"/>
          <p:cNvSpPr>
            <a:spLocks noGrp="1" noChangeArrowheads="1"/>
          </p:cNvSpPr>
          <p:nvPr/>
        </p:nvSpPr>
        <p:spPr>
          <a:xfrm rot="0">
            <a:off x="2941320" y="3267710"/>
            <a:ext cx="3125470" cy="2849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a free market, the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domestic price equals the  </a:t>
            </a:r>
            <a:endParaRPr lang="ko-KR" altLang="en-US" dirty="0" smtClean="0" sz="900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loss to consumers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 + B + C, </a:t>
            </a:r>
            <a:endParaRPr lang="ko-KR" altLang="en-US" dirty="0" smtClean="0" sz="798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so the deadweight loss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 + C. </a:t>
            </a:r>
            <a:endParaRPr lang="ko-KR" altLang="en-US" dirty="0" smtClean="0" sz="798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20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200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How high would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 a tariff have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</a:rPr>
              <a:t>same result? </a:t>
            </a:r>
            <a:endParaRPr lang="ko-KR" altLang="en-US" dirty="0" smtClean="0" sz="1002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1200" b="1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28545" y="6525895"/>
            <a:ext cx="3103245" cy="27768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50720" y="3209290"/>
            <a:ext cx="3176270" cy="28441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3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Sugar Quota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world price of sugar has been as low as 4 cents per pound, while in the U.S. the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been 20-25 cents per pound.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Impact of a Restricted Market (1997)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U.S. production = 15.6 billion pounds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U.S. consumption = 21.1 billion pounds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U.S. price = 22 cents/pound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 price = 11 cents/pound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Sugar Quota in 1997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US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US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(cents/lb.)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16 </a:t>
            </a:r>
            <a:endParaRPr lang="ko-KR" altLang="en-US" dirty="0" smtClean="0" sz="1097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8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4.0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Q’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15.6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Q’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21.1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(billions of pounds) </a:t>
            </a:r>
            <a:endParaRPr lang="ko-KR" altLang="en-US" dirty="0" smtClean="0" sz="9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(cents/lb.)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105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16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$800 million. </a:t>
            </a:r>
            <a:endParaRPr lang="ko-KR" altLang="en-US" dirty="0" smtClean="0" sz="94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11</a:t>
            </a:r>
            <a:endParaRPr lang="ko-KR" altLang="en-US" dirty="0" smtClean="0" sz="105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8</a:t>
            </a:r>
            <a:endParaRPr lang="ko-KR" altLang="en-US" dirty="0" smtClean="0" sz="105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4</a:t>
            </a:r>
            <a:endParaRPr lang="ko-KR" altLang="en-US" dirty="0" smtClean="0" sz="105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4.0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Q’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15.6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Q’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21.1</a:t>
            </a:r>
            <a:endParaRPr lang="ko-KR" altLang="en-US" dirty="0" smtClean="0" sz="9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138</a:t>
            </a:r>
            <a:endParaRPr lang="ko-KR" altLang="en-US" dirty="0" smtClean="0" sz="1200"/>
          </a:p>
        </p:txBody>
      </p:sp>
      <p:sp>
        <p:nvSpPr>
          <p:cNvPr id="609" name="Rect 3"/>
          <p:cNvSpPr>
            <a:spLocks noGrp="1" noChangeArrowheads="1"/>
          </p:cNvSpPr>
          <p:nvPr/>
        </p:nvSpPr>
        <p:spPr>
          <a:xfrm rot="0">
            <a:off x="4645025" y="3791585"/>
            <a:ext cx="1778000" cy="39077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to consumers was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 + B + C + D,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or $2.4b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was area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A,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or $1b.</a:t>
            </a:r>
            <a:endParaRPr lang="ko-KR" altLang="en-US" dirty="0" smtClean="0" sz="798" b="1"/>
          </a:p>
          <a:p>
            <a:pPr marL="0" indent="0" defTabSz="15240" algn="l">
              <a:lnSpc>
                <a:spcPts val="1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US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21.9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Rectangle 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 was the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gain to foreign producers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who obtained quota 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Triangles 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 represent</a:t>
            </a:r>
            <a:endParaRPr lang="ko-KR" altLang="en-US" dirty="0" smtClean="0" sz="94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the deadweight loss of  </a:t>
            </a:r>
            <a:endParaRPr lang="ko-KR" altLang="en-US" dirty="0" smtClean="0" sz="947"/>
          </a:p>
        </p:txBody>
      </p:sp>
      <p:sp>
        <p:nvSpPr>
          <p:cNvPr id="610" name="Rect 3"/>
          <p:cNvSpPr>
            <a:spLocks noGrp="1" noChangeArrowheads="1"/>
          </p:cNvSpPr>
          <p:nvPr/>
        </p:nvSpPr>
        <p:spPr>
          <a:xfrm rot="0">
            <a:off x="2340610" y="835025"/>
            <a:ext cx="4302125" cy="8537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29 </a:t>
            </a:r>
            <a:endParaRPr lang="ko-KR" altLang="en-US" dirty="0" smtClean="0" sz="1097" b="1"/>
          </a:p>
          <a:p>
            <a:pPr marL="0" indent="0" defTabSz="15240" algn="l">
              <a:lnSpc>
                <a:spcPts val="1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US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21.9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cost of the quotas 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gain to producers  </a:t>
            </a:r>
            <a:endParaRPr lang="ko-KR" altLang="en-US" dirty="0" smtClean="0" sz="7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W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11 </a:t>
            </a:r>
            <a:endParaRPr lang="ko-KR" altLang="en-US" dirty="0" smtClean="0" sz="900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24.2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900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US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US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allotments, or $600 million. </a:t>
            </a:r>
            <a:endParaRPr lang="ko-KR" altLang="en-US" dirty="0" smtClean="0" sz="94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W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11 </a:t>
            </a:r>
            <a:endParaRPr lang="ko-KR" altLang="en-US" dirty="0" smtClean="0" sz="947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24.2 </a:t>
            </a:r>
            <a:endParaRPr lang="ko-KR" altLang="en-US" dirty="0" smtClean="0" sz="94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(billions of pounds)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4895" y="2167255"/>
            <a:ext cx="2648585" cy="26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40610" y="6705600"/>
            <a:ext cx="3773805" cy="18929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Impact of a Tax or Subsidy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burden of a tax (or the benefit of a subsidy) falls partly on the consumer and partly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producer.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We will consider a specific tax which is a tax of a certain amount of money per unit sold.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Incidence of a Specific Tax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the price (including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net of the tax.  The burden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the tax is split evenly.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government earns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 + D </a:t>
            </a:r>
            <a:endParaRPr lang="ko-KR" altLang="en-US" dirty="0" smtClean="0" sz="900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Four conditions that must be satisfied after the tax is in place: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Quantity sold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must be on the demand line: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b) 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Quantity sold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must be on the supply line: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S) 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70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tax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Impact of Tax Depends on Elasticities of Supply &amp;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Burden on Buyer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Burden on Seller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b="1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139</a:t>
            </a:r>
            <a:endParaRPr lang="ko-KR" altLang="en-US" dirty="0" smtClean="0" sz="1200"/>
          </a:p>
        </p:txBody>
      </p:sp>
      <p:sp>
        <p:nvSpPr>
          <p:cNvPr id="613" name="Rect 3"/>
          <p:cNvSpPr>
            <a:spLocks noGrp="1" noChangeArrowheads="1"/>
          </p:cNvSpPr>
          <p:nvPr/>
        </p:nvSpPr>
        <p:spPr>
          <a:xfrm rot="0">
            <a:off x="4800600" y="3498850"/>
            <a:ext cx="1500505" cy="5172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revenue.  The deadweight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loss is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B + C. </a:t>
            </a:r>
            <a:endParaRPr lang="ko-KR" altLang="en-US" dirty="0" smtClean="0" sz="900" i="1"/>
          </a:p>
          <a:p>
            <a:pPr marL="0" indent="0" defTabSz="15240" algn="l">
              <a:lnSpc>
                <a:spcPts val="3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/>
          </a:p>
        </p:txBody>
      </p:sp>
      <p:sp>
        <p:nvSpPr>
          <p:cNvPr id="614" name="Rect 3"/>
          <p:cNvSpPr>
            <a:spLocks noGrp="1" noChangeArrowheads="1"/>
          </p:cNvSpPr>
          <p:nvPr/>
        </p:nvSpPr>
        <p:spPr>
          <a:xfrm rot="0">
            <a:off x="3557270" y="3105785"/>
            <a:ext cx="2631440" cy="5553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Buyers lose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 + B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, and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sellers lose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D + C,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2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b="1"/>
          </a:p>
        </p:txBody>
      </p:sp>
      <p:sp>
        <p:nvSpPr>
          <p:cNvPr id="615" name="Rect 3"/>
          <p:cNvSpPr>
            <a:spLocks noGrp="1" noChangeArrowheads="1"/>
          </p:cNvSpPr>
          <p:nvPr/>
        </p:nvSpPr>
        <p:spPr>
          <a:xfrm rot="0">
            <a:off x="2874010" y="2142490"/>
            <a:ext cx="1729740" cy="6535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tax)  paid by buyers.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	is the price sellers receive, </a:t>
            </a:r>
            <a:endParaRPr lang="ko-KR" altLang="en-US" dirty="0" smtClean="0" sz="798"/>
          </a:p>
          <a:p>
            <a:pPr marL="0" indent="0" defTabSz="15240" algn="l">
              <a:lnSpc>
                <a:spcPts val="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852" b="1"/>
          </a:p>
          <a:p>
            <a:pPr marL="0" indent="0" defTabSz="15240" algn="l">
              <a:lnSpc>
                <a:spcPts val="2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01" b="1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0" y="2502535"/>
            <a:ext cx="2593975" cy="21240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40865" y="6385560"/>
            <a:ext cx="3112135" cy="27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Impact of a Tax or Subsidy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Pass-through fraction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/(E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example, when demand is perfectly inelastic (E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0), the pass-through fraction is 1,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all the tax is borne by the consumer.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subsidy can be analyzed in much the same way as a tax.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It can be treated as a negative tax.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seller’s price exceeds the buyer’s price.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Subsidy 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Price</a:t>
            </a:r>
            <a:endParaRPr lang="ko-KR" altLang="en-US" dirty="0" smtClean="0" sz="798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upon the elasticities of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supply and demand. </a:t>
            </a:r>
            <a:endParaRPr lang="ko-KR" altLang="en-US" dirty="0" smtClean="0" sz="900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With a subsidy (s), the selling price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below the subsidized price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so that: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benefit of the subsidy depends upon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ratio is small, most of the benefit accrues to the consumer.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ratio is large, the producer benefits most.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Impact of a $0.50 Gasoline Tax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gallon)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Consumer</a:t>
            </a:r>
            <a:endParaRPr lang="ko-KR" altLang="en-US" dirty="0" smtClean="0" sz="11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1.22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pays 22 cents of the tax, and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t = 0.50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.72 </a:t>
            </a:r>
            <a:endParaRPr lang="ko-KR" altLang="en-US" dirty="0" smtClean="0" sz="94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.50 </a:t>
            </a:r>
            <a:endParaRPr lang="ko-KR" altLang="en-US" dirty="0" smtClean="0" sz="947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100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89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150</a:t>
            </a:r>
            <a:endParaRPr lang="ko-KR" altLang="en-US" dirty="0" smtClean="0" sz="94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140</a:t>
            </a:r>
            <a:endParaRPr lang="ko-KR" altLang="en-US" dirty="0" smtClean="0" sz="1200"/>
          </a:p>
        </p:txBody>
      </p:sp>
      <p:sp>
        <p:nvSpPr>
          <p:cNvPr id="618" name="Rect 3"/>
          <p:cNvSpPr>
            <a:spLocks noGrp="1" noChangeArrowheads="1"/>
          </p:cNvSpPr>
          <p:nvPr/>
        </p:nvSpPr>
        <p:spPr>
          <a:xfrm rot="0">
            <a:off x="4514215" y="3200400"/>
            <a:ext cx="111950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between buyers and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sellers, depending </a:t>
            </a:r>
            <a:endParaRPr lang="ko-KR" altLang="en-US" dirty="0" smtClean="0" sz="900"/>
          </a:p>
        </p:txBody>
      </p:sp>
      <p:sp>
        <p:nvSpPr>
          <p:cNvPr id="619" name="Rect 3"/>
          <p:cNvSpPr>
            <a:spLocks noGrp="1" noChangeArrowheads="1"/>
          </p:cNvSpPr>
          <p:nvPr/>
        </p:nvSpPr>
        <p:spPr>
          <a:xfrm rot="0">
            <a:off x="1667510" y="2548255"/>
            <a:ext cx="4356100" cy="6663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Like a tax, the benefit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 a subsidy is split </a:t>
            </a:r>
            <a:endParaRPr lang="ko-KR" altLang="en-US" dirty="0" smtClean="0" sz="9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9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47" b="1"/>
          </a:p>
          <a:p>
            <a:pPr marL="0" indent="0" defTabSz="15240" algn="l">
              <a:lnSpc>
                <a:spcPts val="1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1.50 </a:t>
            </a:r>
            <a:endParaRPr lang="ko-KR" altLang="en-US" dirty="0" smtClean="0" sz="94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Lost</a:t>
            </a:r>
            <a:endParaRPr lang="ko-KR" altLang="en-US" dirty="0" smtClean="0" sz="11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annual revenue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from the tax is .50(89)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or $44.5 billion.  The buyer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producer pays 28 cents. </a:t>
            </a:r>
            <a:endParaRPr lang="ko-KR" altLang="en-US" dirty="0" smtClean="0" sz="9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Lost Producer </a:t>
            </a:r>
            <a:endParaRPr lang="ko-KR" altLang="en-US" dirty="0" smtClean="0" sz="105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Surplus</a:t>
            </a:r>
            <a:endParaRPr lang="ko-KR" altLang="en-US" dirty="0" smtClean="0" sz="1050" b="1"/>
          </a:p>
          <a:p>
            <a:pPr marL="0" indent="0" defTabSz="15240" algn="l">
              <a:lnSpc>
                <a:spcPts val="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 (billion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gallons per year) </a:t>
            </a:r>
            <a:endParaRPr lang="ko-KR" altLang="en-US" dirty="0" smtClean="0" sz="852" b="1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06040" y="996950"/>
            <a:ext cx="2487295" cy="224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gallon)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1.22 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1.00 </a:t>
            </a:r>
            <a:endParaRPr lang="ko-KR" altLang="en-US" dirty="0" smtClean="0" sz="798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.72 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.50 </a:t>
            </a:r>
            <a:endParaRPr lang="ko-KR" altLang="en-US" dirty="0" smtClean="0" sz="798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85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89 100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150</a:t>
            </a:r>
            <a:endParaRPr lang="ko-KR" altLang="en-US" dirty="0" smtClean="0" sz="798" b="1"/>
          </a:p>
          <a:p>
            <a:pPr marL="0" indent="0" defTabSz="15240" algn="l">
              <a:lnSpc>
                <a:spcPts val="49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141</a:t>
            </a:r>
            <a:endParaRPr lang="ko-KR" altLang="en-US" dirty="0" smtClean="0" sz="1200"/>
          </a:p>
        </p:txBody>
      </p:sp>
      <p:sp>
        <p:nvSpPr>
          <p:cNvPr id="622" name="Rect 3"/>
          <p:cNvSpPr>
            <a:spLocks noGrp="1" noChangeArrowheads="1"/>
          </p:cNvSpPr>
          <p:nvPr/>
        </p:nvSpPr>
        <p:spPr>
          <a:xfrm rot="0">
            <a:off x="4255135" y="1874520"/>
            <a:ext cx="1759585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Deadweight loss = $2.75 billion/yr </a:t>
            </a:r>
            <a:endParaRPr lang="ko-KR" altLang="en-US" dirty="0" smtClean="0" sz="900"/>
          </a:p>
        </p:txBody>
      </p:sp>
      <p:sp>
        <p:nvSpPr>
          <p:cNvPr id="623" name="Rect 3"/>
          <p:cNvSpPr>
            <a:spLocks noGrp="1" noChangeArrowheads="1"/>
          </p:cNvSpPr>
          <p:nvPr/>
        </p:nvSpPr>
        <p:spPr>
          <a:xfrm rot="0">
            <a:off x="2414270" y="895985"/>
            <a:ext cx="3609340" cy="2441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1.50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Lost </a:t>
            </a:r>
            <a:endParaRPr lang="ko-KR" altLang="en-US" dirty="0" smtClean="0" sz="90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t = 0.50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Lost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Producer </a:t>
            </a:r>
            <a:endParaRPr lang="ko-KR" altLang="en-US" dirty="0" smtClean="0" sz="900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Quantity (billion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gallons per year) 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15440" y="2865120"/>
            <a:ext cx="4099560" cy="20027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Perfect Competition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Review of Perfect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LMC = LRAC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Normal profits or zero economic profits in the long run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 number of buyers and sellers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Homogenous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is a price taker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Market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Individual Firm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LRAC </a:t>
            </a:r>
            <a:endParaRPr lang="ko-KR" altLang="en-US" dirty="0" smtClean="0" sz="798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 = MR =		P</a:t>
            </a:r>
            <a:endParaRPr lang="ko-KR" altLang="en-US" dirty="0" smtClean="0" sz="798" b="1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798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One seller - many buyers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 One product (no good substitutes)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 Barriers to entry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monopolist is the supply-side of the market and has complete control over the amount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offered for sale.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Profits will be maximized at the level of output where marginal revenue equals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Finding Marginal Revenue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the sole producer, the monopolist works with the market demand to determine output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price.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a firm with demand: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6 -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97" i="1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142</a:t>
            </a:r>
            <a:endParaRPr lang="ko-KR" altLang="en-US" dirty="0" smtClean="0" sz="1200"/>
          </a:p>
        </p:txBody>
      </p:sp>
      <p:sp>
        <p:nvSpPr>
          <p:cNvPr id="626" name="Rect 3"/>
          <p:cNvSpPr>
            <a:spLocks noGrp="1" noChangeArrowheads="1"/>
          </p:cNvSpPr>
          <p:nvPr/>
        </p:nvSpPr>
        <p:spPr>
          <a:xfrm rot="0">
            <a:off x="5617210" y="4846320"/>
            <a:ext cx="129540" cy="113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798" b="1"/>
          </a:p>
        </p:txBody>
      </p:sp>
      <p:sp>
        <p:nvSpPr>
          <p:cNvPr id="627" name="Rect 3"/>
          <p:cNvSpPr>
            <a:spLocks noGrp="1" noChangeArrowheads="1"/>
          </p:cNvSpPr>
          <p:nvPr/>
        </p:nvSpPr>
        <p:spPr>
          <a:xfrm rot="0">
            <a:off x="4575175" y="4797425"/>
            <a:ext cx="140970" cy="118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b="1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1175" y="3962400"/>
            <a:ext cx="2075815" cy="2292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Total, Marginal, and Average Revenue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Total            Marginal        Average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Price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Quantity        Revenue         Revenue        Revenue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R                      MR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AR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---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---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$ per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85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To increase sales the price must fall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MR &lt; 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Compared to perfect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 change in price to change sales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= 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Monopolist’s Output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Profits maximized at the output level where MR = MC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Cost functions are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44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endParaRPr lang="ko-KR" altLang="en-US" dirty="0" smtClean="0" sz="1441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endParaRPr lang="ko-KR" altLang="en-US" dirty="0" smtClean="0" sz="1441" i="1"/>
          </a:p>
        </p:txBody>
      </p:sp>
      <p:sp>
        <p:nvSpPr>
          <p:cNvPr id="630" name="Rect 3"/>
          <p:cNvSpPr>
            <a:spLocks noGrp="1" noChangeArrowheads="1"/>
          </p:cNvSpPr>
          <p:nvPr/>
        </p:nvSpPr>
        <p:spPr>
          <a:xfrm rot="0">
            <a:off x="2840990" y="3983990"/>
            <a:ext cx="4225290" cy="5727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7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852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Average Revenue (Demand) </a:t>
            </a:r>
            <a:endParaRPr lang="ko-KR" altLang="en-US" dirty="0" smtClean="0" sz="798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Marginal </a:t>
            </a:r>
            <a:endParaRPr lang="ko-KR" altLang="en-US" dirty="0" smtClean="0" sz="70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Revenu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852" b="1"/>
          </a:p>
          <a:p>
            <a:pPr marL="0" indent="0" defTabSz="15240" algn="l">
              <a:lnSpc>
                <a:spcPts val="2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27630" y="2237105"/>
            <a:ext cx="2440940" cy="220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38655" y="6440170"/>
            <a:ext cx="2709545" cy="26123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Maximizing Profit When Marginal Revenue Equals Marginal Cost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Monopolist’s Output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output levels below MR = MC the decrease in revenue is greater than the decrease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(MR &gt; MC).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output levels above MR = MC the increase in cost is greater than the decrease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 (MR &lt; MC)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unit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Lost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profit 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 = AR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4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Monopolist’s Output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setting marginal revenue equal to marginal cost, it can be verified that profit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maximized at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$30 and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10.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can be seen graphically: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Example of Profit Maximization 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9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400 </a:t>
            </a:r>
            <a:endParaRPr lang="ko-KR" altLang="en-US" dirty="0" smtClean="0" sz="947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300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150 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100</a:t>
            </a:r>
            <a:endParaRPr lang="ko-KR" altLang="en-US" dirty="0" smtClean="0" sz="94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50 </a:t>
            </a:r>
            <a:endParaRPr lang="ko-KR" altLang="en-US" dirty="0" smtClean="0" sz="94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144</a:t>
            </a:r>
            <a:endParaRPr lang="ko-KR" altLang="en-US" dirty="0" smtClean="0" sz="1200"/>
          </a:p>
        </p:txBody>
      </p:sp>
      <p:sp>
        <p:nvSpPr>
          <p:cNvPr id="633" name="Rect 3"/>
          <p:cNvSpPr>
            <a:spLocks noGrp="1" noChangeArrowheads="1"/>
          </p:cNvSpPr>
          <p:nvPr/>
        </p:nvSpPr>
        <p:spPr>
          <a:xfrm rot="0">
            <a:off x="4519930" y="6644640"/>
            <a:ext cx="516255" cy="2325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R</a:t>
            </a:r>
            <a:endParaRPr lang="ko-KR" altLang="en-US" dirty="0" smtClean="0" sz="947" b="1"/>
          </a:p>
          <a:p>
            <a:pPr marL="0" indent="0" defTabSz="15240" algn="l">
              <a:lnSpc>
                <a:spcPts val="1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47" b="1"/>
          </a:p>
        </p:txBody>
      </p:sp>
      <p:sp>
        <p:nvSpPr>
          <p:cNvPr id="634" name="Rect 3"/>
          <p:cNvSpPr>
            <a:spLocks noGrp="1" noChangeArrowheads="1"/>
          </p:cNvSpPr>
          <p:nvPr/>
        </p:nvSpPr>
        <p:spPr>
          <a:xfrm rot="0">
            <a:off x="1871345" y="2453640"/>
            <a:ext cx="3237865" cy="6541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648" b="1"/>
          </a:p>
          <a:p>
            <a:pPr marL="0" indent="0" defTabSz="15240" algn="l">
              <a:lnSpc>
                <a:spcPts val="1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Lost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profit</a:t>
            </a:r>
            <a:endParaRPr lang="ko-KR" altLang="en-US" dirty="0" smtClean="0" sz="798"/>
          </a:p>
          <a:p>
            <a:pPr marL="0" indent="0" defTabSz="15240" algn="l">
              <a:lnSpc>
                <a:spcPts val="1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Profits</a:t>
            </a:r>
            <a:endParaRPr lang="ko-KR" altLang="en-US" dirty="0" smtClean="0" sz="947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109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947" b="1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97480" y="2453640"/>
            <a:ext cx="3002280" cy="27552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Slope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rr’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slope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cc’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they are parallel at 10 units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Profits are maximized at 10 units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P = $30, Q = 10,      TR = P x Q= $300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AC = $15, Q = 10,          TC = AC x Q = 150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Profit = TR - TC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$150 = $300 - $150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798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798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100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0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100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100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24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AC = $15, Q = 10,          TC = AC x Q =150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24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Profit = TR = TC = $300 - $150= $150 or </a:t>
            </a:r>
            <a:endParaRPr lang="ko-KR" altLang="en-US" dirty="0" smtClean="0" sz="1097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24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Profit = (P-AC) x Q = ($30 -$15)(10)   = $150 </a:t>
            </a:r>
            <a:endParaRPr lang="ko-KR" altLang="en-US" dirty="0" smtClean="0" sz="1097"/>
          </a:p>
          <a:p>
            <a:pPr marL="0" indent="0" defTabSz="15240" algn="l">
              <a:lnSpc>
                <a:spcPts val="2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145</a:t>
            </a:r>
            <a:endParaRPr lang="ko-KR" altLang="en-US" dirty="0" smtClean="0" sz="1200"/>
          </a:p>
        </p:txBody>
      </p:sp>
      <p:sp>
        <p:nvSpPr>
          <p:cNvPr id="637" name="Rect 3"/>
          <p:cNvSpPr>
            <a:spLocks noGrp="1" noChangeArrowheads="1"/>
          </p:cNvSpPr>
          <p:nvPr/>
        </p:nvSpPr>
        <p:spPr>
          <a:xfrm rot="0">
            <a:off x="5699760" y="3642360"/>
            <a:ext cx="199390" cy="115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AC </a:t>
            </a:r>
            <a:endParaRPr lang="ko-KR" altLang="en-US" dirty="0" smtClean="0" sz="798" b="1"/>
          </a:p>
        </p:txBody>
      </p:sp>
      <p:sp>
        <p:nvSpPr>
          <p:cNvPr id="638" name="Rect 3"/>
          <p:cNvSpPr>
            <a:spLocks noGrp="1" noChangeArrowheads="1"/>
          </p:cNvSpPr>
          <p:nvPr/>
        </p:nvSpPr>
        <p:spPr>
          <a:xfrm rot="0">
            <a:off x="3340735" y="2752090"/>
            <a:ext cx="2289810" cy="14052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798" b="1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Profit </a:t>
            </a:r>
            <a:endParaRPr lang="ko-KR" altLang="en-US" dirty="0" smtClean="0" sz="798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AR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70305" y="3422650"/>
            <a:ext cx="381000" cy="28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47545" y="3453130"/>
            <a:ext cx="384175" cy="28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92680" y="3569335"/>
            <a:ext cx="875030" cy="506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50975" y="6958330"/>
            <a:ext cx="228600" cy="2927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566545" y="8049895"/>
            <a:ext cx="198120" cy="2527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71930" y="2142490"/>
            <a:ext cx="2042160" cy="10490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883410" y="5504815"/>
            <a:ext cx="82550" cy="1797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Rule of Thumb for Pricing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want to translate the condition that marginal revenue should equal marginal cost into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rule of thumb that can be more easily applied in practice.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can be demonstrated using the following steps: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endParaRPr lang="ko-KR" altLang="en-US" dirty="0" smtClean="0" sz="1161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⎜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⎟</a:t>
            </a:r>
            <a:endParaRPr lang="ko-KR" altLang="en-US" dirty="0" smtClean="0" sz="116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6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4 .</a:t>
            </a:r>
            <a:endParaRPr lang="ko-KR" altLang="en-US" dirty="0" smtClean="0" sz="1100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5 .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M 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⎜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⎟</a:t>
            </a:r>
            <a:endParaRPr lang="ko-KR" altLang="en-US" dirty="0" smtClean="0" sz="12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00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			 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is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maximized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@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13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3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60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760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6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60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60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      = the markup over MC as a percentage of price (P-MC)/P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838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838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8.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markup should equal the inverse of the elasticity of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9. 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46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46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625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25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  <a:ea typeface="Times New Roman"/>
              </a:rPr>
              <a:t>Assume</a:t>
            </a:r>
            <a:endParaRPr lang="ko-KR" altLang="en-US" dirty="0" smtClean="0" sz="1146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146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$12</a:t>
            </a:r>
            <a:endParaRPr lang="ko-KR" altLang="en-US" dirty="0" smtClean="0" sz="1146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46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pricing compared to perfect competition pricing: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&gt; MC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MC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Monopoly pricing compared to perfect competition pricing: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146</a:t>
            </a:r>
            <a:endParaRPr lang="ko-KR" altLang="en-US" dirty="0" smtClean="0" sz="1200"/>
          </a:p>
        </p:txBody>
      </p:sp>
      <p:sp>
        <p:nvSpPr>
          <p:cNvPr id="641" name="Rect 3"/>
          <p:cNvSpPr>
            <a:spLocks noGrp="1" noChangeArrowheads="1"/>
          </p:cNvSpPr>
          <p:nvPr/>
        </p:nvSpPr>
        <p:spPr>
          <a:xfrm rot="0">
            <a:off x="2243455" y="3002280"/>
            <a:ext cx="226695" cy="179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61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61" i="1"/>
          </a:p>
        </p:txBody>
      </p:sp>
      <p:sp>
        <p:nvSpPr>
          <p:cNvPr id="642" name="Rect 3"/>
          <p:cNvSpPr>
            <a:spLocks noGrp="1" noChangeArrowheads="1"/>
          </p:cNvSpPr>
          <p:nvPr/>
        </p:nvSpPr>
        <p:spPr>
          <a:xfrm rot="0">
            <a:off x="1969135" y="2868295"/>
            <a:ext cx="598170" cy="179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⎞</a:t>
            </a:r>
            <a:endParaRPr lang="ko-KR" altLang="en-US" dirty="0" smtClean="0" sz="1161"/>
          </a:p>
        </p:txBody>
      </p:sp>
      <p:sp>
        <p:nvSpPr>
          <p:cNvPr id="643" name="Rect 3"/>
          <p:cNvSpPr>
            <a:spLocks noGrp="1" noChangeArrowheads="1"/>
          </p:cNvSpPr>
          <p:nvPr/>
        </p:nvSpPr>
        <p:spPr>
          <a:xfrm rot="0">
            <a:off x="1807210" y="2926080"/>
            <a:ext cx="1379220" cy="8718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61">
                <a:solidFill>
                  <a:srgbClr val="000000"/>
                </a:solidFill>
                <a:latin typeface="Symbol"/>
              </a:rPr>
              <a:t>⎟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⎜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⎟</a:t>
            </a:r>
            <a:endParaRPr lang="ko-KR" altLang="en-US" dirty="0" smtClean="0" sz="116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600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00" i="1"/>
          </a:p>
        </p:txBody>
      </p:sp>
      <p:sp>
        <p:nvSpPr>
          <p:cNvPr id="644" name="Rect 3"/>
          <p:cNvSpPr>
            <a:spLocks noGrp="1" noChangeArrowheads="1"/>
          </p:cNvSpPr>
          <p:nvPr/>
        </p:nvSpPr>
        <p:spPr>
          <a:xfrm rot="0">
            <a:off x="1807210" y="2630170"/>
            <a:ext cx="1802765" cy="556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⎠</a:t>
            </a:r>
            <a:endParaRPr lang="ko-KR" altLang="en-US" dirty="0" smtClean="0" sz="116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61">
                <a:solidFill>
                  <a:srgbClr val="000000"/>
                </a:solidFill>
                <a:latin typeface="Symbol"/>
              </a:rPr>
              <a:t>⎞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⎛</a:t>
            </a:r>
            <a:endParaRPr lang="ko-KR" altLang="en-US" dirty="0" smtClean="0" sz="116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00" i="1"/>
          </a:p>
          <a:p>
            <a:pPr marL="0" indent="0" defTabSz="15240" algn="l">
              <a:lnSpc>
                <a:spcPts val="3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.75</a:t>
            </a:r>
            <a:endParaRPr lang="ko-KR" altLang="en-US" dirty="0" smtClean="0" sz="1146"/>
          </a:p>
        </p:txBody>
      </p:sp>
      <p:sp>
        <p:nvSpPr>
          <p:cNvPr id="645" name="Rect 3"/>
          <p:cNvSpPr>
            <a:spLocks noGrp="1" noChangeArrowheads="1"/>
          </p:cNvSpPr>
          <p:nvPr/>
        </p:nvSpPr>
        <p:spPr>
          <a:xfrm rot="0">
            <a:off x="1654810" y="2404745"/>
            <a:ext cx="1955165" cy="5901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61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16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61" i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0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00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100" i="1"/>
          </a:p>
          <a:p>
            <a:pPr marL="0" indent="0" defTabSz="15240" algn="l">
              <a:lnSpc>
                <a:spcPts val="2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983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983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720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720"/>
          </a:p>
        </p:txBody>
      </p:sp>
      <p:sp>
        <p:nvSpPr>
          <p:cNvPr id="646" name="Rect 3"/>
          <p:cNvSpPr>
            <a:spLocks noGrp="1" noChangeArrowheads="1"/>
          </p:cNvSpPr>
          <p:nvPr/>
        </p:nvSpPr>
        <p:spPr>
          <a:xfrm rot="0">
            <a:off x="1520825" y="2551430"/>
            <a:ext cx="2089150" cy="5775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⎜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⎟</a:t>
            </a:r>
            <a:endParaRPr lang="ko-KR" altLang="en-US" dirty="0" smtClean="0" sz="116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61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2440">
                <a:solidFill>
                  <a:srgbClr val="000000"/>
                </a:solidFill>
                <a:latin typeface="Symbol"/>
                <a:ea typeface="Symbol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2440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2440"/>
          </a:p>
          <a:p>
            <a:pPr marL="0" indent="0" defTabSz="15240"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3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303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146" i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46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1146"/>
          </a:p>
        </p:txBody>
      </p:sp>
      <p:sp>
        <p:nvSpPr>
          <p:cNvPr id="647" name="Rect 3"/>
          <p:cNvSpPr>
            <a:spLocks noGrp="1" noChangeArrowheads="1"/>
          </p:cNvSpPr>
          <p:nvPr/>
        </p:nvSpPr>
        <p:spPr>
          <a:xfrm rot="0">
            <a:off x="1371600" y="2414270"/>
            <a:ext cx="1854200" cy="5793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⎛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⎞</a:t>
            </a:r>
            <a:endParaRPr lang="ko-KR" altLang="en-US" dirty="0" smtClean="0" sz="116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⎝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⎠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⎝</a:t>
            </a:r>
            <a:endParaRPr lang="ko-KR" altLang="en-US" dirty="0" smtClean="0" sz="116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⎜</a:t>
            </a:r>
            <a:endParaRPr lang="ko-KR" altLang="en-US" dirty="0" smtClean="0" sz="116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100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⎞</a:t>
            </a:r>
            <a:endParaRPr lang="ko-KR" altLang="en-US" dirty="0" smtClean="0" sz="1200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⎥</a:t>
            </a:r>
            <a:endParaRPr lang="ko-KR" altLang="en-US" dirty="0" smtClean="0" sz="1303"/>
          </a:p>
          <a:p>
            <a:pPr marL="0" indent="0" defTabSz="15240" algn="l">
              <a:lnSpc>
                <a:spcPts val="1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46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lang="ko-KR" altLang="en-US" dirty="0" smtClean="0" sz="1146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46"/>
          </a:p>
        </p:txBody>
      </p:sp>
      <p:sp>
        <p:nvSpPr>
          <p:cNvPr id="648" name="Rect 3"/>
          <p:cNvSpPr>
            <a:spLocks noGrp="1" noChangeArrowheads="1"/>
          </p:cNvSpPr>
          <p:nvPr/>
        </p:nvSpPr>
        <p:spPr>
          <a:xfrm rot="0">
            <a:off x="1124585" y="1950720"/>
            <a:ext cx="2366645" cy="635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61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16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61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⎛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16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6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61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⎛</a:t>
            </a:r>
            <a:endParaRPr lang="ko-KR" altLang="en-US" dirty="0" smtClean="0" sz="116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00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100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13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3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685">
                <a:solidFill>
                  <a:srgbClr val="000000"/>
                </a:solidFill>
                <a:latin typeface="Symbol"/>
                <a:ea typeface="Symbol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685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685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43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43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437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437" i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983">
                <a:solidFill>
                  <a:srgbClr val="000000"/>
                </a:solidFill>
                <a:latin typeface="Symbol"/>
                <a:ea typeface="Symbol"/>
              </a:rPr>
              <a:t>(</a:t>
            </a:r>
            <a:endParaRPr lang="ko-KR" altLang="en-US" dirty="0" smtClean="0" sz="198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46">
                <a:solidFill>
                  <a:srgbClr val="000000"/>
                </a:solidFill>
                <a:latin typeface="Symbol"/>
              </a:rPr>
              <a:t>= 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46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lang="ko-KR" altLang="en-US" dirty="0" smtClean="0" sz="1146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720">
                <a:solidFill>
                  <a:srgbClr val="000000"/>
                </a:solidFill>
                <a:latin typeface="Symbol"/>
                <a:ea typeface="Symbol"/>
              </a:rPr>
              <a:t>(</a:t>
            </a:r>
            <a:endParaRPr lang="ko-KR" altLang="en-US" dirty="0" smtClean="0" sz="1720"/>
          </a:p>
        </p:txBody>
      </p:sp>
      <p:sp>
        <p:nvSpPr>
          <p:cNvPr id="649" name="Rect 3"/>
          <p:cNvSpPr>
            <a:spLocks noGrp="1" noChangeArrowheads="1"/>
          </p:cNvSpPr>
          <p:nvPr/>
        </p:nvSpPr>
        <p:spPr>
          <a:xfrm rot="0">
            <a:off x="774065" y="2042160"/>
            <a:ext cx="2077085" cy="62058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6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61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16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677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7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2440">
                <a:solidFill>
                  <a:srgbClr val="000000"/>
                </a:solidFill>
                <a:latin typeface="Symbol"/>
                <a:ea typeface="Symbol"/>
              </a:rPr>
              <a:t>(</a:t>
            </a:r>
            <a:endParaRPr lang="ko-KR" altLang="en-US" dirty="0" smtClean="0" sz="244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⎛</a:t>
            </a:r>
            <a:endParaRPr lang="ko-KR" altLang="en-US" dirty="0" smtClean="0" sz="12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⎝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00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⎠</a:t>
            </a:r>
            <a:endParaRPr lang="ko-KR" altLang="en-US" dirty="0" smtClean="0" sz="1200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⎡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⎤</a:t>
            </a:r>
            <a:endParaRPr lang="ko-KR" altLang="en-US" dirty="0" smtClean="0" sz="13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⎢</a:t>
            </a:r>
            <a:endParaRPr lang="ko-KR" altLang="en-US" dirty="0" smtClean="0" sz="13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13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30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13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37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437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3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437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146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146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146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625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625" i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146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146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146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0505" y="2551430"/>
            <a:ext cx="100965" cy="1797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53840" y="2551430"/>
            <a:ext cx="100330" cy="1765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12720" y="4547870"/>
            <a:ext cx="2109470" cy="19564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49880" y="6906895"/>
            <a:ext cx="2035810" cy="18040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more elastic the demand the closer price is to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large negative number, price is close to marginal cost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Monopolist’s Pricing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Monopolist’s Output Decision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Medicine A = $3.50/daily dose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Medicine B and Medicine C =   $1.50 - $2.25/daily dose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of Medicine A = 30 - 40 cents/daily dose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♦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Monopolist’s Output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29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9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293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293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91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09</a:t>
            </a:r>
            <a:endParaRPr lang="ko-KR" altLang="en-US" dirty="0" smtClean="0" sz="129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♦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$3.50 is consistent with “the rule of thumb pricing”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Shifts in Demand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perfect competition, the market supply curve is determined by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a monopoly, output is determined by marginal cost and the shape of the demand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 in Demand Leads to Change in Price but Same Output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= 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b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147</a:t>
            </a:r>
            <a:endParaRPr lang="ko-KR" altLang="en-US" dirty="0" smtClean="0" sz="1200"/>
          </a:p>
        </p:txBody>
      </p:sp>
      <p:sp>
        <p:nvSpPr>
          <p:cNvPr id="652" name="Rect 3"/>
          <p:cNvSpPr>
            <a:spLocks noGrp="1" noChangeArrowheads="1"/>
          </p:cNvSpPr>
          <p:nvPr/>
        </p:nvSpPr>
        <p:spPr>
          <a:xfrm rot="0">
            <a:off x="4651375" y="2456815"/>
            <a:ext cx="11049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900">
                <a:solidFill>
                  <a:srgbClr val="000000"/>
                </a:solidFill>
                <a:latin typeface="Symbol"/>
              </a:rPr>
              <a:t>]</a:t>
            </a:r>
            <a:endParaRPr lang="ko-KR" altLang="en-US" dirty="0" smtClean="0" sz="1900"/>
          </a:p>
        </p:txBody>
      </p:sp>
      <p:sp>
        <p:nvSpPr>
          <p:cNvPr id="653" name="Rect 3"/>
          <p:cNvSpPr>
            <a:spLocks noGrp="1" noChangeArrowheads="1"/>
          </p:cNvSpPr>
          <p:nvPr/>
        </p:nvSpPr>
        <p:spPr>
          <a:xfrm rot="0">
            <a:off x="4047490" y="2304415"/>
            <a:ext cx="187325" cy="18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93">
                <a:solidFill>
                  <a:srgbClr val="000000"/>
                </a:solidFill>
                <a:latin typeface="Times New Roman"/>
              </a:rPr>
              <a:t>35</a:t>
            </a:r>
            <a:endParaRPr lang="ko-KR" altLang="en-US" dirty="0" smtClean="0" sz="1293"/>
          </a:p>
        </p:txBody>
      </p:sp>
      <p:sp>
        <p:nvSpPr>
          <p:cNvPr id="654" name="Rect 3"/>
          <p:cNvSpPr>
            <a:spLocks noGrp="1" noChangeArrowheads="1"/>
          </p:cNvSpPr>
          <p:nvPr/>
        </p:nvSpPr>
        <p:spPr>
          <a:xfrm rot="0">
            <a:off x="3761105" y="2456815"/>
            <a:ext cx="882015" cy="615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900">
                <a:solidFill>
                  <a:srgbClr val="000000"/>
                </a:solidFill>
                <a:latin typeface="Symbol"/>
                <a:ea typeface="Symbol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29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93">
                <a:solidFill>
                  <a:srgbClr val="000000"/>
                </a:solidFill>
                <a:latin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89</a:t>
            </a:r>
            <a:endParaRPr lang="ko-KR" altLang="en-US" dirty="0" smtClean="0" sz="1293"/>
          </a:p>
        </p:txBody>
      </p:sp>
      <p:sp>
        <p:nvSpPr>
          <p:cNvPr id="655" name="Rect 3"/>
          <p:cNvSpPr>
            <a:spLocks noGrp="1" noChangeArrowheads="1"/>
          </p:cNvSpPr>
          <p:nvPr/>
        </p:nvSpPr>
        <p:spPr>
          <a:xfrm rot="0">
            <a:off x="3066415" y="2389505"/>
            <a:ext cx="1844675" cy="579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9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54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754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35</a:t>
            </a:r>
            <a:endParaRPr lang="ko-KR" altLang="en-US" dirty="0" smtClean="0" sz="1293"/>
          </a:p>
        </p:txBody>
      </p:sp>
      <p:sp>
        <p:nvSpPr>
          <p:cNvPr id="656" name="Rect 3"/>
          <p:cNvSpPr>
            <a:spLocks noGrp="1" noChangeArrowheads="1"/>
          </p:cNvSpPr>
          <p:nvPr/>
        </p:nvSpPr>
        <p:spPr>
          <a:xfrm rot="0">
            <a:off x="2627630" y="2456815"/>
            <a:ext cx="1046480" cy="615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900">
                <a:solidFill>
                  <a:srgbClr val="000000"/>
                </a:solidFill>
                <a:latin typeface="Symbol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900">
                <a:solidFill>
                  <a:srgbClr val="000000"/>
                </a:solidFill>
                <a:latin typeface="Symbol"/>
                <a:ea typeface="Symbol"/>
              </a:rPr>
              <a:t>]</a:t>
            </a:r>
            <a:endParaRPr lang="ko-KR" altLang="en-US" dirty="0" smtClean="0" sz="1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93"/>
          </a:p>
        </p:txBody>
      </p:sp>
      <p:sp>
        <p:nvSpPr>
          <p:cNvPr id="657" name="Rect 3"/>
          <p:cNvSpPr>
            <a:spLocks noGrp="1" noChangeArrowheads="1"/>
          </p:cNvSpPr>
          <p:nvPr/>
        </p:nvSpPr>
        <p:spPr>
          <a:xfrm rot="0">
            <a:off x="2182495" y="2304415"/>
            <a:ext cx="3140075" cy="6562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293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endParaRPr lang="ko-KR" altLang="en-US" dirty="0" smtClean="0" sz="129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93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1293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93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29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867">
                <a:solidFill>
                  <a:srgbClr val="000000"/>
                </a:solidFill>
                <a:latin typeface="Symbol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867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867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600" b="1"/>
          </a:p>
          <a:p>
            <a:pPr marL="0" indent="0" defTabSz="15240" algn="l">
              <a:lnSpc>
                <a:spcPts val="1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900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11680" y="6470650"/>
            <a:ext cx="265430" cy="2927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58695" y="3386455"/>
            <a:ext cx="2020570" cy="19564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99945" y="4727575"/>
            <a:ext cx="79375" cy="2343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0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91055" y="3849370"/>
            <a:ext cx="79375" cy="6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Monopoly 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Shifts in demand usually cause a change in both price and quantity.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monopolistic market has no supply curve.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 may supply many different quantities at the same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 may supply the same quantity at different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Effect of a Tax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 monopoly price can sometimes rise by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more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than the amount of the tax.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 determine the impact of a tax: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 = specific tax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MC + 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= MC + t : optimal production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 of Excise Tax on Monopolist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Δ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Suppose: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-2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much would the price change?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Answer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45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245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245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increases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 to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endParaRPr lang="ko-KR" altLang="en-US" dirty="0" smtClean="0" sz="1245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endParaRPr lang="ko-KR" altLang="en-US" dirty="0" smtClean="0" sz="1245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Price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increases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by twice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 the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 tax.</a:t>
            </a:r>
            <a:endParaRPr lang="ko-KR" altLang="en-US" dirty="0" smtClean="0" sz="1245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What would happen to profits? </a:t>
            </a:r>
            <a:endParaRPr lang="ko-KR" altLang="en-US" dirty="0" smtClean="0" sz="1097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148</a:t>
            </a:r>
            <a:endParaRPr lang="ko-KR" altLang="en-US" dirty="0" smtClean="0" sz="1200"/>
          </a:p>
        </p:txBody>
      </p:sp>
      <p:sp>
        <p:nvSpPr>
          <p:cNvPr id="660" name="Rect 3"/>
          <p:cNvSpPr>
            <a:spLocks noGrp="1" noChangeArrowheads="1"/>
          </p:cNvSpPr>
          <p:nvPr/>
        </p:nvSpPr>
        <p:spPr>
          <a:xfrm rot="0">
            <a:off x="2414270" y="6498590"/>
            <a:ext cx="86360" cy="194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5">
                <a:solidFill>
                  <a:srgbClr val="000000"/>
                </a:solidFill>
                <a:latin typeface="Symbol"/>
              </a:rPr>
              <a:t>⎟</a:t>
            </a:r>
            <a:endParaRPr lang="ko-KR" altLang="en-US" dirty="0" smtClean="0" sz="1245"/>
          </a:p>
        </p:txBody>
      </p:sp>
      <p:sp>
        <p:nvSpPr>
          <p:cNvPr id="661" name="Rect 3"/>
          <p:cNvSpPr>
            <a:spLocks noGrp="1" noChangeArrowheads="1"/>
          </p:cNvSpPr>
          <p:nvPr/>
        </p:nvSpPr>
        <p:spPr>
          <a:xfrm rot="0">
            <a:off x="2414270" y="6407150"/>
            <a:ext cx="86360" cy="194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5">
                <a:solidFill>
                  <a:srgbClr val="000000"/>
                </a:solidFill>
                <a:latin typeface="Symbol"/>
              </a:rPr>
              <a:t>⎞</a:t>
            </a:r>
            <a:endParaRPr lang="ko-KR" altLang="en-US" dirty="0" smtClean="0" sz="1245"/>
          </a:p>
        </p:txBody>
      </p:sp>
      <p:sp>
        <p:nvSpPr>
          <p:cNvPr id="662" name="Rect 3"/>
          <p:cNvSpPr>
            <a:spLocks noGrp="1" noChangeArrowheads="1"/>
          </p:cNvSpPr>
          <p:nvPr/>
        </p:nvSpPr>
        <p:spPr>
          <a:xfrm rot="0">
            <a:off x="2182495" y="6577330"/>
            <a:ext cx="122555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</a:rPr>
              <a:t>E</a:t>
            </a:r>
            <a:endParaRPr lang="ko-KR" altLang="en-US" dirty="0" smtClean="0" sz="1245" i="1"/>
          </a:p>
        </p:txBody>
      </p:sp>
      <p:sp>
        <p:nvSpPr>
          <p:cNvPr id="663" name="Rect 3"/>
          <p:cNvSpPr>
            <a:spLocks noGrp="1" noChangeArrowheads="1"/>
          </p:cNvSpPr>
          <p:nvPr/>
        </p:nvSpPr>
        <p:spPr>
          <a:xfrm rot="0">
            <a:off x="2069465" y="6455410"/>
            <a:ext cx="309245" cy="323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5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1245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726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726" i="1"/>
          </a:p>
        </p:txBody>
      </p:sp>
      <p:sp>
        <p:nvSpPr>
          <p:cNvPr id="664" name="Rect 3"/>
          <p:cNvSpPr>
            <a:spLocks noGrp="1" noChangeArrowheads="1"/>
          </p:cNvSpPr>
          <p:nvPr/>
        </p:nvSpPr>
        <p:spPr>
          <a:xfrm rot="0">
            <a:off x="1801495" y="6498590"/>
            <a:ext cx="1339215" cy="508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⎜</a:t>
            </a:r>
            <a:endParaRPr lang="ko-KR" altLang="en-US" dirty="0" smtClean="0" sz="124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5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4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245" i="1"/>
          </a:p>
        </p:txBody>
      </p:sp>
      <p:sp>
        <p:nvSpPr>
          <p:cNvPr id="665" name="Rect 3"/>
          <p:cNvSpPr>
            <a:spLocks noGrp="1" noChangeArrowheads="1"/>
          </p:cNvSpPr>
          <p:nvPr/>
        </p:nvSpPr>
        <p:spPr>
          <a:xfrm rot="0">
            <a:off x="1664335" y="3572510"/>
            <a:ext cx="3320415" cy="3459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Increase in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to 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 &gt; 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increase in tax </a:t>
            </a:r>
            <a:endParaRPr lang="ko-KR" altLang="en-US" dirty="0" smtClean="0" sz="900" b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 + tax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 = AR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798" b="1"/>
          </a:p>
          <a:p>
            <a:pPr marL="0" indent="0" defTabSz="15240" algn="l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24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245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45">
                <a:solidFill>
                  <a:srgbClr val="000000"/>
                </a:solidFill>
                <a:latin typeface="Symbol"/>
                <a:ea typeface="Symbol"/>
              </a:rPr>
              <a:t>⎛</a:t>
            </a:r>
            <a:endParaRPr lang="ko-KR" altLang="en-US" dirty="0" smtClean="0" sz="1245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26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726" i="1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4560" y="6394450"/>
            <a:ext cx="2755265" cy="24784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Multiplant Firm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many firms, production takes place in two or more different plants whose operating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can differ.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Choosing total output and the output for each plant: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cost in each plant should be equal.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cost should equal the marginal revenue for each plant.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Algebraically: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441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83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39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endParaRPr lang="ko-KR" altLang="en-US" dirty="0" smtClean="0" sz="1439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44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Algebraically: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endParaRPr lang="ko-KR" altLang="en-US" dirty="0" smtClean="0" sz="1505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505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505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7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505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43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435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43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435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43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43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3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435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798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798" b="1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MR* </a:t>
            </a:r>
            <a:endParaRPr lang="ko-KR" altLang="en-US" dirty="0" smtClean="0" sz="798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149</a:t>
            </a:r>
            <a:endParaRPr lang="ko-KR" altLang="en-US" dirty="0" smtClean="0" sz="1200"/>
          </a:p>
        </p:txBody>
      </p:sp>
      <p:sp>
        <p:nvSpPr>
          <p:cNvPr id="668" name="Rect 3"/>
          <p:cNvSpPr>
            <a:spLocks noGrp="1" noChangeArrowheads="1"/>
          </p:cNvSpPr>
          <p:nvPr/>
        </p:nvSpPr>
        <p:spPr>
          <a:xfrm rot="0">
            <a:off x="4687570" y="4099560"/>
            <a:ext cx="312420" cy="234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05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lang="ko-KR" altLang="en-US" dirty="0" smtClean="0" sz="1505"/>
          </a:p>
        </p:txBody>
      </p:sp>
      <p:sp>
        <p:nvSpPr>
          <p:cNvPr id="669" name="Rect 3"/>
          <p:cNvSpPr>
            <a:spLocks noGrp="1" noChangeArrowheads="1"/>
          </p:cNvSpPr>
          <p:nvPr/>
        </p:nvSpPr>
        <p:spPr>
          <a:xfrm rot="0">
            <a:off x="4523105" y="4121150"/>
            <a:ext cx="83185" cy="12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77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877"/>
          </a:p>
        </p:txBody>
      </p:sp>
      <p:sp>
        <p:nvSpPr>
          <p:cNvPr id="670" name="Rect 3"/>
          <p:cNvSpPr>
            <a:spLocks noGrp="1" noChangeArrowheads="1"/>
          </p:cNvSpPr>
          <p:nvPr/>
        </p:nvSpPr>
        <p:spPr>
          <a:xfrm rot="0">
            <a:off x="4221480" y="3980815"/>
            <a:ext cx="900430" cy="996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05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505" i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lang="ko-KR" altLang="en-US" dirty="0" smtClean="0" sz="1505"/>
          </a:p>
        </p:txBody>
      </p:sp>
      <p:sp>
        <p:nvSpPr>
          <p:cNvPr id="671" name="Rect 3"/>
          <p:cNvSpPr>
            <a:spLocks noGrp="1" noChangeArrowheads="1"/>
          </p:cNvSpPr>
          <p:nvPr/>
        </p:nvSpPr>
        <p:spPr>
          <a:xfrm rot="0">
            <a:off x="4023360" y="3831590"/>
            <a:ext cx="976630" cy="1023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7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505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505" i="1"/>
          </a:p>
        </p:txBody>
      </p:sp>
      <p:sp>
        <p:nvSpPr>
          <p:cNvPr id="672" name="Rect 3"/>
          <p:cNvSpPr>
            <a:spLocks noGrp="1" noChangeArrowheads="1"/>
          </p:cNvSpPr>
          <p:nvPr/>
        </p:nvSpPr>
        <p:spPr>
          <a:xfrm rot="0">
            <a:off x="2724785" y="2602865"/>
            <a:ext cx="2381885" cy="2374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41">
                <a:solidFill>
                  <a:srgbClr val="000000"/>
                </a:solidFill>
                <a:latin typeface="Symbol"/>
              </a:rPr>
              <a:t>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for Plant 1</a:t>
            </a:r>
            <a:endParaRPr lang="ko-KR" altLang="en-US" dirty="0" smtClean="0" sz="1439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05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05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7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05"/>
          </a:p>
        </p:txBody>
      </p:sp>
      <p:sp>
        <p:nvSpPr>
          <p:cNvPr id="673" name="Rect 3"/>
          <p:cNvSpPr>
            <a:spLocks noGrp="1" noChangeArrowheads="1"/>
          </p:cNvSpPr>
          <p:nvPr/>
        </p:nvSpPr>
        <p:spPr>
          <a:xfrm rot="0">
            <a:off x="2505710" y="2624455"/>
            <a:ext cx="2408555" cy="22612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</a:rPr>
              <a:t>C</a:t>
            </a:r>
            <a:endParaRPr lang="ko-KR" altLang="en-US" dirty="0" smtClean="0" sz="1441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83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39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441">
                <a:solidFill>
                  <a:srgbClr val="000000"/>
                </a:solidFill>
                <a:latin typeface="Symbol"/>
                <a:ea typeface="Symbol"/>
              </a:rPr>
              <a:t>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Output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Cost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for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Plant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439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877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7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877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endParaRPr lang="ko-KR" altLang="en-US" dirty="0" smtClean="0" sz="87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505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877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77"/>
          </a:p>
        </p:txBody>
      </p:sp>
      <p:sp>
        <p:nvSpPr>
          <p:cNvPr id="674" name="Rect 3"/>
          <p:cNvSpPr>
            <a:spLocks noGrp="1" noChangeArrowheads="1"/>
          </p:cNvSpPr>
          <p:nvPr/>
        </p:nvSpPr>
        <p:spPr>
          <a:xfrm rot="0">
            <a:off x="2258695" y="2602865"/>
            <a:ext cx="3134360" cy="630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439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endParaRPr lang="ko-KR" altLang="en-US" dirty="0" smtClean="0" sz="1439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39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839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39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44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441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839" i="1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83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839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39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505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505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77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50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05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505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505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505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87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7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83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3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83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3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83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83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3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 = AR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13560" y="5696585"/>
            <a:ext cx="3788410" cy="19602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22065" y="1487170"/>
            <a:ext cx="2231390" cy="20059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Observations: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maximizing 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MR = MR*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600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•</a:t>
            </a:r>
            <a:endParaRPr lang="ko-KR" altLang="en-US" dirty="0" smtClean="0" sz="10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T,                                          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MR =MC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+MC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MR*</a:t>
            </a:r>
            <a:endParaRPr lang="ko-KR" altLang="en-US" dirty="0" smtClean="0" sz="94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94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600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Monopoly is rare.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However, a market with several firms, each facing a downward sloping demand curve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 so that price exceeds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Scenario: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Four firms with equal share (5,000) of a market for 20,000 toothbrushes at a price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$1.50.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Demand for Toothbrushes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$/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$/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At a market price </a:t>
            </a:r>
            <a:endParaRPr lang="ko-KR" altLang="en-US" dirty="0" smtClean="0" sz="798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demand is -1.5. </a:t>
            </a:r>
            <a:endParaRPr lang="ko-KR" altLang="en-US" dirty="0" smtClean="0" sz="798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1.60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1.50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1.40</a:t>
            </a:r>
            <a:endParaRPr lang="ko-KR" altLang="en-US" dirty="0" smtClean="0" sz="85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Market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Deman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1.00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1.00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30,000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3,000</a:t>
            </a:r>
            <a:endParaRPr lang="ko-KR" altLang="en-US" dirty="0" smtClean="0" sz="749" b="1"/>
          </a:p>
          <a:p>
            <a:pPr marL="0" indent="0" defTabSz="15240" algn="l">
              <a:lnSpc>
                <a:spcPts val="1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150</a:t>
            </a:r>
            <a:endParaRPr lang="ko-KR" altLang="en-US" dirty="0" smtClean="0" sz="1200"/>
          </a:p>
        </p:txBody>
      </p:sp>
      <p:sp>
        <p:nvSpPr>
          <p:cNvPr id="677" name="Rect 3"/>
          <p:cNvSpPr>
            <a:spLocks noGrp="1" noChangeArrowheads="1"/>
          </p:cNvSpPr>
          <p:nvPr/>
        </p:nvSpPr>
        <p:spPr>
          <a:xfrm rot="0">
            <a:off x="4568825" y="1511935"/>
            <a:ext cx="60134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i="1"/>
          </a:p>
        </p:txBody>
      </p:sp>
      <p:sp>
        <p:nvSpPr>
          <p:cNvPr id="678" name="Rect 3"/>
          <p:cNvSpPr>
            <a:spLocks noGrp="1" noChangeArrowheads="1"/>
          </p:cNvSpPr>
          <p:nvPr/>
        </p:nvSpPr>
        <p:spPr>
          <a:xfrm rot="0">
            <a:off x="3547745" y="1478280"/>
            <a:ext cx="1818005" cy="4590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$/Q</a:t>
            </a:r>
            <a:endParaRPr lang="ko-KR" altLang="en-US" dirty="0" smtClean="0" sz="852" b="1"/>
          </a:p>
          <a:p>
            <a:pPr marL="0" indent="0" defTabSz="15240" algn="l">
              <a:lnSpc>
                <a:spcPts val="3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demand curve for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Firm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98" i="1" b="1"/>
          </a:p>
        </p:txBody>
      </p:sp>
      <p:sp>
        <p:nvSpPr>
          <p:cNvPr id="679" name="Rect 3"/>
          <p:cNvSpPr>
            <a:spLocks noGrp="1" noChangeArrowheads="1"/>
          </p:cNvSpPr>
          <p:nvPr/>
        </p:nvSpPr>
        <p:spPr>
          <a:xfrm rot="0">
            <a:off x="1929130" y="1496695"/>
            <a:ext cx="3454400" cy="630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 at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P 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* </a:t>
            </a:r>
            <a:endParaRPr lang="ko-KR" altLang="en-US" dirty="0" smtClean="0" sz="70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P*</a:t>
            </a:r>
            <a:endParaRPr lang="ko-KR" altLang="en-US" dirty="0" smtClean="0" sz="947"/>
          </a:p>
          <a:p>
            <a:pPr marL="0" indent="0" defTabSz="15240" algn="l">
              <a:lnSpc>
                <a:spcPts val="2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2.00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depends on how much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7,000</a:t>
            </a:r>
            <a:endParaRPr lang="ko-KR" altLang="en-US" dirty="0" smtClean="0" sz="749" b="1"/>
          </a:p>
        </p:txBody>
      </p:sp>
      <p:sp>
        <p:nvSpPr>
          <p:cNvPr id="680" name="Rect 3"/>
          <p:cNvSpPr>
            <a:spLocks noGrp="1" noChangeArrowheads="1"/>
          </p:cNvSpPr>
          <p:nvPr/>
        </p:nvSpPr>
        <p:spPr>
          <a:xfrm rot="0">
            <a:off x="1130935" y="975360"/>
            <a:ext cx="5088255" cy="68059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MC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+ MC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•</a:t>
            </a:r>
            <a:endParaRPr lang="ko-KR" altLang="en-US" dirty="0" smtClean="0" sz="1050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MR* =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at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MR*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at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D = AR </a:t>
            </a:r>
            <a:endParaRPr lang="ko-KR" altLang="en-US" dirty="0" smtClean="0" sz="947" i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852" b="1"/>
          </a:p>
          <a:p>
            <a:pPr marL="0" indent="0" defTabSz="15240" algn="l">
              <a:lnSpc>
                <a:spcPts val="1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of $1.50, elasticity of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their product differs, and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how the firms compete.</a:t>
            </a:r>
            <a:endParaRPr lang="ko-KR" altLang="en-US" dirty="0" smtClean="0" sz="798" b="1"/>
          </a:p>
          <a:p>
            <a:pPr marL="0" indent="0" defTabSz="15240" algn="l">
              <a:lnSpc>
                <a:spcPts val="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600" b="1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6050" y="5940425"/>
            <a:ext cx="143510" cy="1924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80615" y="1182370"/>
            <a:ext cx="3754755" cy="18383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53970" y="7303135"/>
            <a:ext cx="3368040" cy="184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$/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$/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2.00 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is -1.5.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power and charges a price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which exceeds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MC. </a:t>
            </a:r>
            <a:endParaRPr lang="ko-KR" altLang="en-US" dirty="0" smtClean="0" sz="798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1.60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1.50</a:t>
            </a:r>
            <a:endParaRPr lang="ko-KR" altLang="en-US" dirty="0" smtClean="0" sz="852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1.40</a:t>
            </a:r>
            <a:endParaRPr lang="ko-KR" altLang="en-US" dirty="0" smtClean="0" sz="85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Market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Demand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1.00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20,000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30,000</a:t>
            </a:r>
            <a:endParaRPr lang="ko-KR" altLang="en-US" dirty="0" smtClean="0" sz="749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Measuring Monopoly Power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perfect competition: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MR = MC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power: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&gt; MC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Lerner’s Index of Monopoly Power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= (P - MC)/P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larger the value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(between 0 and 1) the greater the monopoly power.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expressed in terms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01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= (P - MC)/P = -1/E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70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  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elasticity of demand for a firm, not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Monopoly power does not guarantee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Profit depends on average cost relative to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Rule of Thumb for Pricing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1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31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12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Pricing for any firm with monopoly power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large, markup is small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small, markup is large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Elasticity of Demand and Price Markup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demand, the less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markup.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64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64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64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64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64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Q*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900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151</a:t>
            </a:r>
            <a:endParaRPr lang="ko-KR" altLang="en-US" dirty="0" smtClean="0" sz="1200"/>
          </a:p>
        </p:txBody>
      </p:sp>
      <p:sp>
        <p:nvSpPr>
          <p:cNvPr id="683" name="Rect 3"/>
          <p:cNvSpPr>
            <a:spLocks noGrp="1" noChangeArrowheads="1"/>
          </p:cNvSpPr>
          <p:nvPr/>
        </p:nvSpPr>
        <p:spPr>
          <a:xfrm rot="0">
            <a:off x="4370705" y="1207135"/>
            <a:ext cx="1723390" cy="49345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competition--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 =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-.6.  Still </a:t>
            </a:r>
            <a:endParaRPr lang="ko-KR" altLang="en-US" dirty="0" smtClean="0" sz="798"/>
          </a:p>
          <a:p>
            <a:pPr marL="0" indent="0" defTabSz="15240" algn="l">
              <a:lnSpc>
                <a:spcPts val="3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65" i="1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lang="ko-KR" altLang="en-US" dirty="0" smtClean="0" sz="765" i="1"/>
          </a:p>
        </p:txBody>
      </p:sp>
      <p:sp>
        <p:nvSpPr>
          <p:cNvPr id="684" name="Rect 3"/>
          <p:cNvSpPr>
            <a:spLocks noGrp="1" noChangeArrowheads="1"/>
          </p:cNvSpPr>
          <p:nvPr/>
        </p:nvSpPr>
        <p:spPr>
          <a:xfrm rot="0">
            <a:off x="4130040" y="1319530"/>
            <a:ext cx="2025015" cy="472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Firm A has some monopoly  </a:t>
            </a:r>
            <a:endParaRPr lang="ko-KR" altLang="en-US" dirty="0" smtClean="0" sz="798"/>
          </a:p>
        </p:txBody>
      </p:sp>
      <p:sp>
        <p:nvSpPr>
          <p:cNvPr id="685" name="Rect 3"/>
          <p:cNvSpPr>
            <a:spLocks noGrp="1" noChangeArrowheads="1"/>
          </p:cNvSpPr>
          <p:nvPr/>
        </p:nvSpPr>
        <p:spPr>
          <a:xfrm rot="0">
            <a:off x="3742690" y="1088390"/>
            <a:ext cx="2400300" cy="6266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elastic demand curve due to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2.00</a:t>
            </a:r>
            <a:endParaRPr lang="ko-KR" altLang="en-US" dirty="0" smtClean="0" sz="852" b="1"/>
          </a:p>
          <a:p>
            <a:pPr marL="0" indent="0" defTabSz="15240"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5,000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7,000 </a:t>
            </a:r>
            <a:endParaRPr lang="ko-KR" altLang="en-US" dirty="0" smtClean="0" sz="749" b="1"/>
          </a:p>
          <a:p>
            <a:pPr marL="0" indent="0" defTabSz="15240" algn="l">
              <a:lnSpc>
                <a:spcPts val="2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237">
                <a:solidFill>
                  <a:srgbClr val="000000"/>
                </a:solidFill>
                <a:latin typeface="Symbol"/>
                <a:ea typeface="Symbol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2237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2237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$/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798" b="1"/>
          </a:p>
        </p:txBody>
      </p:sp>
      <p:sp>
        <p:nvSpPr>
          <p:cNvPr id="686" name="Rect 3"/>
          <p:cNvSpPr>
            <a:spLocks noGrp="1" noChangeArrowheads="1"/>
          </p:cNvSpPr>
          <p:nvPr/>
        </p:nvSpPr>
        <p:spPr>
          <a:xfrm rot="0">
            <a:off x="2819400" y="972185"/>
            <a:ext cx="3344545" cy="723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Firm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sees a much more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At a market price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$1.50, elasticity of </a:t>
            </a:r>
            <a:endParaRPr lang="ko-KR" altLang="en-US" dirty="0" smtClean="0" sz="798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900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55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600" b="1"/>
          </a:p>
          <a:p>
            <a:pPr marL="0" indent="0" defTabSz="15240" algn="l">
              <a:lnSpc>
                <a:spcPts val="2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312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312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312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1312">
                <a:solidFill>
                  <a:srgbClr val="000000"/>
                </a:solidFill>
                <a:latin typeface="Symbol"/>
                <a:ea typeface="Symbol"/>
              </a:rPr>
              <a:t>						 +</a:t>
            </a:r>
            <a:endParaRPr lang="ko-KR" altLang="en-US" dirty="0" smtClean="0" sz="1312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  <a:ea typeface="Arial"/>
              </a:rPr>
              <a:t>The more elastic is </a:t>
            </a:r>
            <a:endParaRPr lang="ko-KR" altLang="en-US" dirty="0" smtClean="0" sz="7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P*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P*-MC 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Markup Pricing: Supermarkets to Designer Jeans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Supermarkets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Several firms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349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set about 10 – 11% above MC.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Convenience Stores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prices than supermarkets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Convenience differentiates them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-5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1.25(</a:t>
            </a:r>
            <a:endParaRPr lang="ko-KR" altLang="en-US" dirty="0" smtClean="0" sz="1099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set about 25% above MC.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Convenience stores have more monopoly power.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Question: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 convenience stores have higher profits than supermarkets?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Designer jeans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-3 to -4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33 - 50% &gt;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1097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$12 - $18/pair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Wholesale price = $18 - $27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Sources of Monopoly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Why do some firm’s have considerable monopoly power, and others have little or none?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firm’s monopoly power is determined by the firm’s elasticity of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firm’s elasticity of demand is determined by: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Elasticity of market demand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Number of firms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The interaction among firms </a:t>
            </a:r>
            <a:endParaRPr lang="ko-KR" altLang="en-US" dirty="0" smtClean="0" sz="1097"/>
          </a:p>
          <a:p>
            <a:pPr marL="0" indent="0" defTabSz="15240" algn="l">
              <a:lnSpc>
                <a:spcPts val="1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152</a:t>
            </a:r>
            <a:endParaRPr lang="ko-KR" altLang="en-US" dirty="0" smtClean="0" sz="1200"/>
          </a:p>
        </p:txBody>
      </p:sp>
      <p:sp>
        <p:nvSpPr>
          <p:cNvPr id="689" name="Rect 3"/>
          <p:cNvSpPr>
            <a:spLocks noGrp="1" noChangeArrowheads="1"/>
          </p:cNvSpPr>
          <p:nvPr/>
        </p:nvSpPr>
        <p:spPr>
          <a:xfrm rot="0">
            <a:off x="2273935" y="3376930"/>
            <a:ext cx="107696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099"/>
          </a:p>
        </p:txBody>
      </p:sp>
      <p:sp>
        <p:nvSpPr>
          <p:cNvPr id="690" name="Rect 3"/>
          <p:cNvSpPr>
            <a:spLocks noGrp="1" noChangeArrowheads="1"/>
          </p:cNvSpPr>
          <p:nvPr/>
        </p:nvSpPr>
        <p:spPr>
          <a:xfrm rot="0">
            <a:off x="1862455" y="3456305"/>
            <a:ext cx="391160" cy="231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19">
                <a:solidFill>
                  <a:srgbClr val="000000"/>
                </a:solidFill>
                <a:latin typeface="Symbol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319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319"/>
          </a:p>
        </p:txBody>
      </p:sp>
      <p:sp>
        <p:nvSpPr>
          <p:cNvPr id="691" name="Rect 3"/>
          <p:cNvSpPr>
            <a:spLocks noGrp="1" noChangeArrowheads="1"/>
          </p:cNvSpPr>
          <p:nvPr/>
        </p:nvSpPr>
        <p:spPr>
          <a:xfrm rot="0">
            <a:off x="1761490" y="2020570"/>
            <a:ext cx="1567815" cy="1649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1.11(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097"/>
          </a:p>
          <a:p>
            <a:pPr marL="0" indent="0" defTabSz="15240" algn="l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099"/>
          </a:p>
        </p:txBody>
      </p:sp>
      <p:sp>
        <p:nvSpPr>
          <p:cNvPr id="692" name="Rect 3"/>
          <p:cNvSpPr>
            <a:spLocks noGrp="1" noChangeArrowheads="1"/>
          </p:cNvSpPr>
          <p:nvPr/>
        </p:nvSpPr>
        <p:spPr>
          <a:xfrm rot="0">
            <a:off x="1679575" y="2084705"/>
            <a:ext cx="958215" cy="1581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319">
                <a:solidFill>
                  <a:srgbClr val="000000"/>
                </a:solidFill>
                <a:latin typeface="Symbol"/>
                <a:ea typeface="Symbol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319">
                <a:solidFill>
                  <a:srgbClr val="000000"/>
                </a:solidFill>
                <a:latin typeface="Symbol"/>
                <a:ea typeface="Symbol"/>
              </a:rPr>
              <a:t>)</a:t>
            </a:r>
            <a:endParaRPr lang="ko-KR" altLang="en-US" dirty="0" smtClean="0" sz="1319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099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9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1 5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0.8</a:t>
            </a:r>
            <a:endParaRPr lang="ko-KR" altLang="en-US" dirty="0" smtClean="0" sz="1099"/>
          </a:p>
        </p:txBody>
      </p:sp>
      <p:sp>
        <p:nvSpPr>
          <p:cNvPr id="693" name="Rect 3"/>
          <p:cNvSpPr>
            <a:spLocks noGrp="1" noChangeArrowheads="1"/>
          </p:cNvSpPr>
          <p:nvPr/>
        </p:nvSpPr>
        <p:spPr>
          <a:xfrm rot="0">
            <a:off x="960120" y="1746250"/>
            <a:ext cx="2228850" cy="1804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-10 for individual stores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097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1 .1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0.9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49">
                <a:solidFill>
                  <a:srgbClr val="000000"/>
                </a:solidFill>
                <a:latin typeface="Arial"/>
                <a:ea typeface="Arial"/>
              </a:rPr>
              <a:t>– </a:t>
            </a:r>
            <a:endParaRPr lang="ko-KR" altLang="en-US" dirty="0" smtClean="0" sz="1349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099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41905" y="2447290"/>
            <a:ext cx="2429510" cy="21520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33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Social Costs of Monopoly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Monopoly power results in higher prices and lower quantities.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However, does monopoly power make consumers and producers in the aggregate better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worse off?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Deadweight Loss from Monopoly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Lost Consumer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price, consumers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Deadweight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m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AR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Rent Seeking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may spend to gain monopoly power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Lobbying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Building excess capacity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incentive to engage in monopoly practices is determined by the profit to be gained.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larger the transfer from consumers to the firm, the larger the social cost of monopoly.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Regulation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Recall that in competitive markets, price regulation created a deadweight loss.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about a monopoly? </a:t>
            </a:r>
            <a:endParaRPr lang="ko-KR" altLang="en-US" dirty="0" smtClean="0" sz="1097"/>
          </a:p>
          <a:p>
            <a:pPr marL="0" indent="0" defTabSz="15240" algn="l">
              <a:lnSpc>
                <a:spcPts val="1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153</a:t>
            </a:r>
            <a:endParaRPr lang="ko-KR" altLang="en-US" dirty="0" smtClean="0" sz="1200"/>
          </a:p>
        </p:txBody>
      </p:sp>
      <p:sp>
        <p:nvSpPr>
          <p:cNvPr id="696" name="Rect 3"/>
          <p:cNvSpPr>
            <a:spLocks noGrp="1" noChangeArrowheads="1"/>
          </p:cNvSpPr>
          <p:nvPr/>
        </p:nvSpPr>
        <p:spPr>
          <a:xfrm rot="0">
            <a:off x="4904105" y="2983865"/>
            <a:ext cx="10160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lose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A+B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and producer 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gains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A-C. </a:t>
            </a:r>
            <a:endParaRPr lang="ko-KR" altLang="en-US" dirty="0" smtClean="0" sz="900" i="1"/>
          </a:p>
        </p:txBody>
      </p:sp>
      <p:sp>
        <p:nvSpPr>
          <p:cNvPr id="697" name="Rect 3"/>
          <p:cNvSpPr>
            <a:spLocks noGrp="1" noChangeArrowheads="1"/>
          </p:cNvSpPr>
          <p:nvPr/>
        </p:nvSpPr>
        <p:spPr>
          <a:xfrm rot="0">
            <a:off x="3173095" y="2587625"/>
            <a:ext cx="2631440" cy="123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Because of the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higher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Loss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02" i="1" b="1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28545" y="4806950"/>
            <a:ext cx="2575560" cy="19291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57145" y="1576070"/>
            <a:ext cx="2682240" cy="1974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Regulation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Marginal revenue curve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m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= 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AC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If price is lowered to 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output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decreases and a shortage exists.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AR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If left alone, a monopolist </a:t>
            </a:r>
            <a:endParaRPr lang="ko-KR" altLang="en-US" dirty="0" smtClean="0" sz="100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produces 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and charges 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0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Natural 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that can produce the entire output of an industry at a cost lower than what it would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if there were several firms.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Regulating the Price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Times New Roman"/>
                <a:ea typeface="Times New Roman"/>
              </a:rPr>
              <a:t>$/Q </a:t>
            </a:r>
            <a:endParaRPr lang="ko-KR" altLang="en-US" dirty="0" smtClean="0" sz="701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Natural monopolies occur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because of extensive 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economies of scale </a:t>
            </a:r>
            <a:endParaRPr lang="ko-KR" altLang="en-US" dirty="0" smtClean="0" sz="900" b="1"/>
          </a:p>
          <a:p>
            <a:pPr marL="0" indent="0" defTabSz="15240" algn="l">
              <a:lnSpc>
                <a:spcPts val="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01" b="1"/>
          </a:p>
          <a:p>
            <a:pPr marL="0" indent="0" defTabSz="15240" algn="l">
              <a:lnSpc>
                <a:spcPts val="2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154</a:t>
            </a:r>
            <a:endParaRPr lang="ko-KR" altLang="en-US" dirty="0" smtClean="0" sz="1200"/>
          </a:p>
        </p:txBody>
      </p:sp>
      <p:sp>
        <p:nvSpPr>
          <p:cNvPr id="700" name="Rect 3"/>
          <p:cNvSpPr>
            <a:spLocks noGrp="1" noChangeArrowheads="1"/>
          </p:cNvSpPr>
          <p:nvPr/>
        </p:nvSpPr>
        <p:spPr>
          <a:xfrm rot="0">
            <a:off x="4206240" y="1633855"/>
            <a:ext cx="1085850" cy="118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 be no higher that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/>
          </a:p>
        </p:txBody>
      </p:sp>
      <p:sp>
        <p:nvSpPr>
          <p:cNvPr id="701" name="Rect 3"/>
          <p:cNvSpPr>
            <a:spLocks noGrp="1" noChangeArrowheads="1"/>
          </p:cNvSpPr>
          <p:nvPr/>
        </p:nvSpPr>
        <p:spPr>
          <a:xfrm rot="0">
            <a:off x="2831465" y="1515110"/>
            <a:ext cx="2466975" cy="3373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when price is regulated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Q’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450" i="1" b="1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a Natural Monopoly 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5625" y="1051560"/>
            <a:ext cx="3090545" cy="23044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16810" y="7513320"/>
            <a:ext cx="3633470" cy="17462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Unregulated, the monopolist </a:t>
            </a:r>
            <a:endParaRPr lang="ko-KR" altLang="en-US" dirty="0" smtClean="0" sz="749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79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If the price were regulate to be 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, </a:t>
            </a:r>
            <a:endParaRPr lang="ko-KR" altLang="en-US" dirty="0" smtClean="0" sz="749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the firm would lose money </a:t>
            </a:r>
            <a:endParaRPr lang="ko-KR" altLang="en-US" dirty="0" smtClean="0" sz="749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and go out of business. </a:t>
            </a:r>
            <a:endParaRPr lang="ko-KR" altLang="en-US" dirty="0" smtClean="0" sz="749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m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yields the largest possible </a:t>
            </a:r>
            <a:endParaRPr lang="ko-KR" altLang="en-US" dirty="0" smtClean="0" sz="749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output;excess profit is zero. </a:t>
            </a:r>
            <a:endParaRPr lang="ko-KR" altLang="en-US" dirty="0" smtClean="0" sz="749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r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AR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Regulation in Practice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very difficult to estimate the firm's cost and demand functions because they change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evolving market conditions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alternative pricing technique---rate-of-return regulation allows the firms to set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maximum price based on the expected rate or return that the firm will earn.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AVC + (D + T + sK)/Q, where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price, AVC = average variable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 = depreciation, T = taxes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 = allowed rate of return, K = firm’s capital stock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Monopsony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monopsony is a market in which there is a single buyer.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Monopsony power is the ability of the buyer to affect the price of the good and pay less than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that would exist in a competitive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Competitive Buyer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taker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Marginal expenditure = Average expenditure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 = Marginal value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Competitive Buyer: Compared to Competitive Seller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$/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$/</a:t>
            </a:r>
            <a:endParaRPr lang="ko-KR" altLang="en-US" dirty="0" smtClean="0" sz="648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ME = AE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AR = MR 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P*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 = MC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ME = MV 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P* = MR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Q*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ME = P*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P* = MV </a:t>
            </a:r>
            <a:endParaRPr lang="ko-KR" altLang="en-US" dirty="0" smtClean="0" sz="798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Q*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155</a:t>
            </a:r>
            <a:endParaRPr lang="ko-KR" altLang="en-US" dirty="0" smtClean="0" sz="1200"/>
          </a:p>
        </p:txBody>
      </p:sp>
      <p:sp>
        <p:nvSpPr>
          <p:cNvPr id="704" name="Rect 3"/>
          <p:cNvSpPr>
            <a:spLocks noGrp="1" noChangeArrowheads="1"/>
          </p:cNvSpPr>
          <p:nvPr/>
        </p:nvSpPr>
        <p:spPr>
          <a:xfrm rot="0">
            <a:off x="5568950" y="7546975"/>
            <a:ext cx="208280" cy="115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798" b="1"/>
          </a:p>
        </p:txBody>
      </p:sp>
      <p:sp>
        <p:nvSpPr>
          <p:cNvPr id="705" name="Rect 3"/>
          <p:cNvSpPr>
            <a:spLocks noGrp="1" noChangeArrowheads="1"/>
          </p:cNvSpPr>
          <p:nvPr/>
        </p:nvSpPr>
        <p:spPr>
          <a:xfrm rot="0">
            <a:off x="4745990" y="7486015"/>
            <a:ext cx="37274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Seller</a:t>
            </a:r>
            <a:endParaRPr lang="ko-KR" altLang="en-US" dirty="0" smtClean="0" sz="1002" b="1"/>
          </a:p>
        </p:txBody>
      </p:sp>
      <p:sp>
        <p:nvSpPr>
          <p:cNvPr id="706" name="Rect 3"/>
          <p:cNvSpPr>
            <a:spLocks noGrp="1" noChangeArrowheads="1"/>
          </p:cNvSpPr>
          <p:nvPr/>
        </p:nvSpPr>
        <p:spPr>
          <a:xfrm rot="0">
            <a:off x="4029710" y="7607935"/>
            <a:ext cx="1686560" cy="18014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648" b="1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P* = MC </a:t>
            </a:r>
            <a:endParaRPr lang="ko-KR" altLang="en-US" dirty="0" smtClean="0" sz="798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Q*</a:t>
            </a:r>
            <a:endParaRPr lang="ko-KR" altLang="en-US" dirty="0" smtClean="0" sz="798" b="1"/>
          </a:p>
        </p:txBody>
      </p:sp>
      <p:sp>
        <p:nvSpPr>
          <p:cNvPr id="707" name="Rect 3"/>
          <p:cNvSpPr>
            <a:spLocks noGrp="1" noChangeArrowheads="1"/>
          </p:cNvSpPr>
          <p:nvPr/>
        </p:nvSpPr>
        <p:spPr>
          <a:xfrm rot="0">
            <a:off x="2304415" y="981710"/>
            <a:ext cx="3667760" cy="8394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would produce 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 and  </a:t>
            </a:r>
            <a:endParaRPr lang="ko-KR" altLang="en-US" dirty="0" smtClean="0" sz="749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charge 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49" i="1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Setting the price at </a:t>
            </a:r>
            <a:r>
              <a:rPr lang="en-US" altLang="ko-KR" dirty="0" smtClean="0" sz="749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r</a:t>
            </a:r>
            <a:endParaRPr lang="ko-KR" altLang="en-US" dirty="0" smtClean="0" sz="498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3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Buyer</a:t>
            </a:r>
            <a:endParaRPr lang="ko-KR" altLang="en-US" dirty="0" smtClean="0" sz="1002" b="1"/>
          </a:p>
          <a:p>
            <a:pPr marL="0" indent="0" defTabSz="15240" algn="l">
              <a:lnSpc>
                <a:spcPts val="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 = MV </a:t>
            </a:r>
            <a:endParaRPr lang="ko-KR" altLang="en-US" dirty="0" smtClean="0" sz="798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0505" y="1530350"/>
            <a:ext cx="2844165" cy="21761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07335" y="3992880"/>
            <a:ext cx="2447290" cy="219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30425" y="7181215"/>
            <a:ext cx="2679065" cy="1999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Monopsonist Buyer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The market supply curve is the monopsonist’s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average expenditure curve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852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Monopsony </a:t>
            </a:r>
            <a:endParaRPr lang="ko-KR" altLang="en-US" dirty="0" smtClean="0" sz="798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ME &gt; P &amp; above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Competitiv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 = 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 = 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98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749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Note: MR = MC; </a:t>
            </a:r>
            <a:endParaRPr lang="ko-KR" altLang="en-US" dirty="0" smtClean="0" sz="749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>
                <a:solidFill>
                  <a:srgbClr val="000000"/>
                </a:solidFill>
                <a:latin typeface="Arial"/>
              </a:rPr>
              <a:t> AR &gt; MC; P &gt; MC </a:t>
            </a:r>
            <a:endParaRPr lang="ko-KR" altLang="en-US" dirty="0" smtClean="0" sz="749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AR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49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and Monopsony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79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ME &gt; AE; MV &gt; P</a:t>
            </a:r>
            <a:endParaRPr lang="ko-KR" altLang="en-US" dirty="0" smtClean="0" sz="9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 = AE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MV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156</a:t>
            </a:r>
            <a:endParaRPr lang="ko-KR" altLang="en-US" dirty="0" smtClean="0" sz="1200"/>
          </a:p>
        </p:txBody>
      </p:sp>
      <p:sp>
        <p:nvSpPr>
          <p:cNvPr id="710" name="Rect 3"/>
          <p:cNvSpPr>
            <a:spLocks noGrp="1" noChangeArrowheads="1"/>
          </p:cNvSpPr>
          <p:nvPr/>
        </p:nvSpPr>
        <p:spPr>
          <a:xfrm rot="0">
            <a:off x="4096385" y="7159625"/>
            <a:ext cx="8699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Monopsony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Note: ME = MV; </a:t>
            </a:r>
            <a:endParaRPr lang="ko-KR" altLang="en-US" dirty="0" smtClean="0" sz="900"/>
          </a:p>
        </p:txBody>
      </p:sp>
      <p:sp>
        <p:nvSpPr>
          <p:cNvPr id="711" name="Rect 3"/>
          <p:cNvSpPr>
            <a:spLocks noGrp="1" noChangeArrowheads="1"/>
          </p:cNvSpPr>
          <p:nvPr/>
        </p:nvSpPr>
        <p:spPr>
          <a:xfrm rot="0">
            <a:off x="2526665" y="1734185"/>
            <a:ext cx="3052445" cy="566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ME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 = AE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P*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m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MV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ME </a:t>
            </a:r>
            <a:endParaRPr lang="ko-KR" altLang="en-US" dirty="0" smtClean="0" sz="900" i="1" b="1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Arial"/>
              </a:rPr>
              <a:t>Monopoly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Arial"/>
              </a:rPr>
              <a:t>Monopsony </a:t>
            </a:r>
            <a:endParaRPr lang="ko-KR" altLang="en-US" dirty="0" smtClean="0" sz="124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26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MR &lt; 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26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ME &gt; P </a:t>
            </a:r>
            <a:endParaRPr lang="ko-KR" altLang="en-US" dirty="0" smtClean="0" sz="1247" i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26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P &gt; 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26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P &lt; MV </a:t>
            </a:r>
            <a:endParaRPr lang="ko-KR" altLang="en-US" dirty="0" smtClean="0" sz="1247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75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										Q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 &lt; Q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98" i="1"/>
          </a:p>
          <a:p>
            <a:pPr marL="0" indent="0" defTabSz="15240" algn="l">
              <a:lnSpc>
                <a:spcPts val="5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157</a:t>
            </a:r>
            <a:endParaRPr lang="ko-KR" altLang="en-US" dirty="0" smtClean="0" sz="1200"/>
          </a:p>
        </p:txBody>
      </p:sp>
      <p:sp>
        <p:nvSpPr>
          <p:cNvPr id="714" name="Rect 3"/>
          <p:cNvSpPr>
            <a:spLocks noGrp="1" noChangeArrowheads="1"/>
          </p:cNvSpPr>
          <p:nvPr/>
        </p:nvSpPr>
        <p:spPr>
          <a:xfrm rot="0">
            <a:off x="4133215" y="2054225"/>
            <a:ext cx="921385" cy="6038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75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										Q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 &lt; Q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98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752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										P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 &lt; P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98" i="1"/>
          </a:p>
        </p:txBody>
      </p:sp>
      <p:sp>
        <p:nvSpPr>
          <p:cNvPr id="715" name="Rect 3"/>
          <p:cNvSpPr>
            <a:spLocks noGrp="1" noChangeArrowheads="1"/>
          </p:cNvSpPr>
          <p:nvPr/>
        </p:nvSpPr>
        <p:spPr>
          <a:xfrm rot="0">
            <a:off x="1706880" y="2249170"/>
            <a:ext cx="930910" cy="384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269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m </a:t>
            </a:r>
            <a:r>
              <a:rPr lang="en-US" altLang="ko-KR" dirty="0" smtClean="0" sz="1247" i="1">
                <a:solidFill>
                  <a:srgbClr val="000000"/>
                </a:solidFill>
                <a:latin typeface="Arial"/>
              </a:rPr>
              <a:t>&gt; PC </a:t>
            </a:r>
            <a:endParaRPr lang="ko-KR" altLang="en-US" dirty="0" smtClean="0" sz="1247" i="1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3225" y="4498975"/>
            <a:ext cx="3831590" cy="19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31465" y="7065010"/>
            <a:ext cx="2267585" cy="21215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34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Monopsony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 few buyers can influence price (e.g. automobile industry).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Monopsony power gives them the ability to pay a price that is less than marginal value.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The degree of monopsony power depends on three similar factors.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Elasticity of market supply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less elastic the market supply, the greater the monopsony power.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Number of buyers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fewer the number of buyers, the less elastic the supply and the greater the monopsony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power.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Interaction Among Buyers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less the buyers compete, the greater the monopsony power.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Monopsony Power: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Elastic versus Inelastic Supply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ME 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$/Q</a:t>
            </a:r>
            <a:endParaRPr lang="ko-KR" altLang="en-US" dirty="0" smtClean="0" sz="749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MV - P*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S = AE </a:t>
            </a:r>
            <a:endParaRPr lang="ko-KR" altLang="en-US" dirty="0" smtClean="0" sz="70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ME</a:t>
            </a:r>
            <a:endParaRPr lang="ko-KR" altLang="en-US" dirty="0" smtClean="0" sz="798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798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P*</a:t>
            </a:r>
            <a:endParaRPr lang="ko-KR" altLang="en-US" dirty="0" smtClean="0" sz="7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MV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MV</a:t>
            </a:r>
            <a:endParaRPr lang="ko-KR" altLang="en-US" dirty="0" smtClean="0" sz="798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Q* </a:t>
            </a:r>
            <a:endParaRPr lang="ko-KR" altLang="en-US" dirty="0" smtClean="0" sz="79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Deadweight Loss from Monopsony Power in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Times New Roman"/>
                <a:ea typeface="Times New Roman"/>
              </a:rPr>
              <a:t>$/Q </a:t>
            </a:r>
            <a:endParaRPr lang="ko-KR" altLang="en-US" dirty="0" smtClean="0" sz="1152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Deadweight		Loss</a:t>
            </a:r>
            <a:endParaRPr lang="ko-KR" altLang="en-US" dirty="0" smtClean="0" sz="11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S = AE 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MV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Q*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158</a:t>
            </a:r>
            <a:endParaRPr lang="ko-KR" altLang="en-US" dirty="0" smtClean="0" sz="1200"/>
          </a:p>
        </p:txBody>
      </p:sp>
      <p:sp>
        <p:nvSpPr>
          <p:cNvPr id="718" name="Rect 3"/>
          <p:cNvSpPr>
            <a:spLocks noGrp="1" noChangeArrowheads="1"/>
          </p:cNvSpPr>
          <p:nvPr/>
        </p:nvSpPr>
        <p:spPr>
          <a:xfrm rot="0">
            <a:off x="3898265" y="6452870"/>
            <a:ext cx="1549400" cy="1825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Q*</a:t>
            </a:r>
            <a:endParaRPr lang="ko-KR" altLang="en-US" dirty="0" smtClean="0" sz="798" b="1"/>
          </a:p>
          <a:p>
            <a:pPr marL="0" indent="0" defTabSz="15240" algn="l">
              <a:lnSpc>
                <a:spcPts val="1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152" i="1" b="1"/>
          </a:p>
        </p:txBody>
      </p:sp>
      <p:sp>
        <p:nvSpPr>
          <p:cNvPr id="719" name="Rect 3"/>
          <p:cNvSpPr>
            <a:spLocks noGrp="1" noChangeArrowheads="1"/>
          </p:cNvSpPr>
          <p:nvPr/>
        </p:nvSpPr>
        <p:spPr>
          <a:xfrm rot="0">
            <a:off x="2929255" y="4584065"/>
            <a:ext cx="2228850" cy="47732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MV - P*</a:t>
            </a:r>
            <a:endParaRPr lang="ko-KR" altLang="en-US" dirty="0" smtClean="0" sz="749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S = AE </a:t>
            </a:r>
            <a:endParaRPr lang="ko-KR" altLang="en-US" dirty="0" smtClean="0" sz="701" b="1"/>
          </a:p>
          <a:p>
            <a:pPr marL="0" indent="0" defTabSz="15240" algn="l">
              <a:lnSpc>
                <a:spcPts val="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49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247" i="1" b="1">
                <a:solidFill>
                  <a:srgbClr val="000000"/>
                </a:solidFill>
                <a:latin typeface="Arial"/>
              </a:rPr>
              <a:t>ME</a:t>
            </a:r>
            <a:endParaRPr lang="ko-KR" altLang="en-US" dirty="0" smtClean="0" sz="1247" i="1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12390" y="6397625"/>
            <a:ext cx="2456180" cy="26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Determining the deadweight loss in monopsony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Change in seller’s surplus  =  -A-C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Change in buyer’s surplus = A - B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Change in welfare = -A - C + A - B = -C - 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Inefficiency occurs because less is purchased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Social Cost of Monopsony Power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Bilateral 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Bilateral monopoly is rare, however, markets with a small number of sellers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power selling to a market with few buyers with monopsony power is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this case, what is likely to happen to price?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Limiting Market Power: The Antitrust Laws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Antitrust Laws: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Promote a competitive economy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Rules and regulations designed to promote a competitive economy by: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Prohibiting actions that restrain or are likely to restrain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Restricting the forms of market structures that are allowable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Pricing With Market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Pricing without market power (perfect competition) is determined by market supply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individual producer must be able to forecast the market and then concentrate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managing production (cost) to maximize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Pricing with market power (imperfect competition) requires the individual producer to know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much more about the characteristics of demand as well as manage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Capturing Consumer Surplus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Between 0 and Q*,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11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If price is raised above 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P*, the firm will lose  </a:t>
            </a:r>
            <a:endParaRPr lang="ko-KR" altLang="en-US" dirty="0" smtClean="0" sz="900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Beyond Q*, price will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have to fall to create a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surplus (B).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11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1002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159</a:t>
            </a:r>
            <a:endParaRPr lang="ko-KR" altLang="en-US" dirty="0" smtClean="0" sz="1200"/>
          </a:p>
        </p:txBody>
      </p:sp>
      <p:sp>
        <p:nvSpPr>
          <p:cNvPr id="722" name="Rect 3"/>
          <p:cNvSpPr>
            <a:spLocks noGrp="1" noChangeArrowheads="1"/>
          </p:cNvSpPr>
          <p:nvPr/>
        </p:nvSpPr>
        <p:spPr>
          <a:xfrm rot="0">
            <a:off x="3996055" y="6412865"/>
            <a:ext cx="616585" cy="16446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23" name="Rect 3"/>
          <p:cNvSpPr>
            <a:spLocks noGrp="1" noChangeArrowheads="1"/>
          </p:cNvSpPr>
          <p:nvPr/>
        </p:nvSpPr>
        <p:spPr>
          <a:xfrm rot="0">
            <a:off x="3816350" y="6541135"/>
            <a:ext cx="2176780" cy="679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will pay more than  </a:t>
            </a:r>
            <a:endParaRPr lang="ko-KR" altLang="en-US" dirty="0" smtClean="0" sz="90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that would exist in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perfectly </a:t>
            </a:r>
            <a:endParaRPr lang="ko-KR" altLang="en-US" dirty="0" smtClean="0" sz="900"/>
          </a:p>
        </p:txBody>
      </p:sp>
      <p:sp>
        <p:nvSpPr>
          <p:cNvPr id="724" name="Rect 3"/>
          <p:cNvSpPr>
            <a:spLocks noGrp="1" noChangeArrowheads="1"/>
          </p:cNvSpPr>
          <p:nvPr/>
        </p:nvSpPr>
        <p:spPr>
          <a:xfrm rot="0">
            <a:off x="2353310" y="6452870"/>
            <a:ext cx="4015105" cy="1770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ma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P*--consumer surplus (A).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is the price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competitive</a:t>
            </a:r>
            <a:endParaRPr lang="ko-KR" altLang="en-US" dirty="0" smtClean="0" sz="9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11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sales and reduce profit. </a:t>
            </a:r>
            <a:endParaRPr lang="ko-KR" altLang="en-US" dirty="0" smtClean="0" sz="9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b="1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9870" y="4827905"/>
            <a:ext cx="2989580" cy="28441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Capturing Consumer Surplus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*Q*: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single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&amp;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@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1097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surplus with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1097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B:		P&gt;MC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&amp; consumer would buy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at a lower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less sales and profits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increase sales &amp; and reduce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revenue and profits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competitive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How can the firm capture the consumer surplus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sell profitably in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B?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Answer Price discrimination Two-part tariffs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discrimination is the charging of different prices to different consumers for similar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Discrimination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First Degree Price Discrimination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Charge a separate price to each customer: the maximum or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reservation price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willing to pay.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Additional Profit From Perfect First-Degree Price Discrimination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Without price discrimination,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100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0 and Q* output. </a:t>
            </a:r>
            <a:endParaRPr lang="ko-KR" altLang="en-US" dirty="0" smtClean="0" sz="798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pays the maximum </a:t>
            </a:r>
            <a:endParaRPr lang="ko-KR" altLang="en-US" dirty="0" smtClean="0" sz="79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 = AR </a:t>
            </a:r>
            <a:endParaRPr lang="ko-KR" altLang="en-US" dirty="0" smtClean="0" sz="9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expands to Q** and price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falls to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where MC = MR = AR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= D.Profits increase by the area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above MC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Q**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852" b="1"/>
          </a:p>
          <a:p>
            <a:pPr marL="0" indent="0" defTabSz="15240" algn="l">
              <a:lnSpc>
                <a:spcPts val="1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160</a:t>
            </a:r>
            <a:endParaRPr lang="ko-KR" altLang="en-US" dirty="0" smtClean="0" sz="1200"/>
          </a:p>
        </p:txBody>
      </p:sp>
      <p:sp>
        <p:nvSpPr>
          <p:cNvPr id="727" name="Rect 3"/>
          <p:cNvSpPr>
            <a:spLocks noGrp="1" noChangeArrowheads="1"/>
          </p:cNvSpPr>
          <p:nvPr/>
        </p:nvSpPr>
        <p:spPr>
          <a:xfrm rot="0">
            <a:off x="3916680" y="5220970"/>
            <a:ext cx="1409065" cy="113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surplus is the area  </a:t>
            </a:r>
            <a:endParaRPr lang="ko-KR" altLang="en-US" dirty="0" smtClean="0" sz="798"/>
          </a:p>
        </p:txBody>
      </p:sp>
      <p:sp>
        <p:nvSpPr>
          <p:cNvPr id="728" name="Rect 3"/>
          <p:cNvSpPr>
            <a:spLocks noGrp="1" noChangeArrowheads="1"/>
          </p:cNvSpPr>
          <p:nvPr/>
        </p:nvSpPr>
        <p:spPr>
          <a:xfrm rot="0">
            <a:off x="2389505" y="5142230"/>
            <a:ext cx="1210945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Variable profit is the area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the MC &amp; MR. </a:t>
            </a:r>
            <a:endParaRPr lang="ko-KR" altLang="en-US" dirty="0" smtClean="0" sz="798"/>
          </a:p>
        </p:txBody>
      </p:sp>
      <p:sp>
        <p:nvSpPr>
          <p:cNvPr id="729" name="Rect 3"/>
          <p:cNvSpPr>
            <a:spLocks noGrp="1" noChangeArrowheads="1"/>
          </p:cNvSpPr>
          <p:nvPr/>
        </p:nvSpPr>
        <p:spPr>
          <a:xfrm rot="0">
            <a:off x="1822450" y="5026025"/>
            <a:ext cx="4036695" cy="25546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output is Q* and price is P*.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max </a:t>
            </a:r>
            <a:endParaRPr lang="ko-KR" altLang="en-US" dirty="0" smtClean="0" sz="64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above P* and between </a:t>
            </a:r>
            <a:endParaRPr lang="ko-KR" altLang="en-US" dirty="0" smtClean="0" sz="798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90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perfect discrimination, each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they are willing to pay. </a:t>
            </a:r>
            <a:endParaRPr lang="ko-KR" altLang="en-US" dirty="0" smtClean="0" sz="798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old MR and D to output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Q**</a:t>
            </a:r>
            <a:endParaRPr lang="ko-KR" altLang="en-US" dirty="0" smtClean="0" sz="852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7150" y="6635750"/>
            <a:ext cx="2477770" cy="269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41450" y="603250"/>
            <a:ext cx="3188335" cy="28562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perfect discrimination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Variable profit  when a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single price P* is charged.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Additional profit from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 = AR</a:t>
            </a:r>
            <a:endParaRPr lang="ko-KR" altLang="en-US" dirty="0" smtClean="0" sz="1097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Q**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4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Why would a producer have difficulty in achieving first-degree price discrimination?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Answer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Too many customers (impractical)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Could not estimate the reservation price for each customer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First Degree Price Discrimination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model does demonstrate the potential profit (incentive) of practicing price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discrimination to some degree.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of imperfect price discrimination where the seller has the ability to segregate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to some extent and charge different prices for the same product: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Lawyers, doctors, accountants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Car salesperson (15% profit margin)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Colleges and universities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First-Degree Price Discrimination in Practice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P*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, there are few consumers and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P*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98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98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161</a:t>
            </a:r>
            <a:endParaRPr lang="ko-KR" altLang="en-US" dirty="0" smtClean="0" sz="1200"/>
          </a:p>
        </p:txBody>
      </p:sp>
      <p:sp>
        <p:nvSpPr>
          <p:cNvPr id="732" name="Rect 3"/>
          <p:cNvSpPr>
            <a:spLocks noGrp="1" noChangeArrowheads="1"/>
          </p:cNvSpPr>
          <p:nvPr/>
        </p:nvSpPr>
        <p:spPr>
          <a:xfrm rot="0">
            <a:off x="5251450" y="792480"/>
            <a:ext cx="1296670" cy="494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Each customer pays their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  reservation price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Profits increase </a:t>
            </a:r>
            <a:endParaRPr lang="ko-KR" altLang="en-US" dirty="0" smtClean="0" sz="798"/>
          </a:p>
        </p:txBody>
      </p:sp>
      <p:sp>
        <p:nvSpPr>
          <p:cNvPr id="733" name="Rect 3"/>
          <p:cNvSpPr>
            <a:spLocks noGrp="1" noChangeArrowheads="1"/>
          </p:cNvSpPr>
          <p:nvPr/>
        </p:nvSpPr>
        <p:spPr>
          <a:xfrm rot="0">
            <a:off x="2520950" y="883920"/>
            <a:ext cx="1811020" cy="3168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single price P* is charged. </a:t>
            </a:r>
            <a:endParaRPr lang="ko-KR" altLang="en-US" dirty="0" smtClean="0" sz="1097" b="1"/>
          </a:p>
        </p:txBody>
      </p:sp>
      <p:sp>
        <p:nvSpPr>
          <p:cNvPr id="734" name="Rect 3"/>
          <p:cNvSpPr>
            <a:spLocks noGrp="1" noChangeArrowheads="1"/>
          </p:cNvSpPr>
          <p:nvPr/>
        </p:nvSpPr>
        <p:spPr>
          <a:xfrm rot="0">
            <a:off x="1749425" y="932815"/>
            <a:ext cx="4512310" cy="6568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max </a:t>
            </a:r>
            <a:endParaRPr lang="ko-KR" altLang="en-US" dirty="0" smtClean="0" sz="701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1002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perfect price discrimination </a:t>
            </a:r>
            <a:endParaRPr lang="ko-KR" altLang="en-US" dirty="0" smtClean="0" sz="947" b="1"/>
          </a:p>
          <a:p>
            <a:pPr marL="0" indent="0" defTabSz="15240" algn="l">
              <a:lnSpc>
                <a:spcPts val="3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Six prices exist resulting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higher profits.  With a single price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those who pay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or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6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may have a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surplus. </a:t>
            </a:r>
            <a:endParaRPr lang="ko-KR" altLang="en-US" dirty="0" smtClean="0" sz="9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73935" y="1347470"/>
            <a:ext cx="2770505" cy="21882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40610" y="3584575"/>
            <a:ext cx="1503045" cy="1860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7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52545" y="3587750"/>
            <a:ext cx="445135" cy="18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Second-Degree Price Discrimination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Second-degree price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discrimination there are three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prices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,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, and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(e.g. electric utilities)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AC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852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3rd </a:t>
            </a:r>
            <a:endParaRPr lang="ko-KR" altLang="en-US" dirty="0" smtClean="0" sz="1002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of scale permit: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consumer welfare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profits </a:t>
            </a:r>
            <a:endParaRPr lang="ko-KR" altLang="en-US" dirty="0" smtClean="0" sz="1097"/>
          </a:p>
          <a:p>
            <a:pPr marL="0" indent="0" defTabSz="15240" algn="l">
              <a:lnSpc>
                <a:spcPts val="3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162</a:t>
            </a:r>
            <a:endParaRPr lang="ko-KR" altLang="en-US" dirty="0" smtClean="0" sz="1200"/>
          </a:p>
        </p:txBody>
      </p:sp>
      <p:sp>
        <p:nvSpPr>
          <p:cNvPr id="737" name="Rect 3"/>
          <p:cNvSpPr>
            <a:spLocks noGrp="1" noChangeArrowheads="1"/>
          </p:cNvSpPr>
          <p:nvPr/>
        </p:nvSpPr>
        <p:spPr>
          <a:xfrm rot="0">
            <a:off x="3505200" y="1292225"/>
            <a:ext cx="2150110" cy="2350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discrimination is pricing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according to quantity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consumed--or in blocks.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Without discrimination: P =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4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and Q = 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 With second-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degree </a:t>
            </a:r>
            <a:endParaRPr lang="ko-KR" altLang="en-US" dirty="0" smtClean="0" sz="798"/>
          </a:p>
          <a:p>
            <a:pPr marL="0" indent="0" defTabSz="15240" algn="l">
              <a:lnSpc>
                <a:spcPts val="1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3055" y="7217410"/>
            <a:ext cx="917575" cy="38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24530" y="8019415"/>
            <a:ext cx="871855" cy="4813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65320" y="8138160"/>
            <a:ext cx="539750" cy="2165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endParaRPr lang="ko-KR" altLang="en-US" dirty="0" smtClean="0" sz="1602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Third Degree Price Discrimination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 Divides the market into two-groups.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Each group has its own demand function.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Most common type of price discrimination.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Examples: airlines, vegetables, discounts to students and senior citizens.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4) Third-degree price discrimination is feasible when the seller can separate his/her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into groups who have different price elasticities of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(e.g.  business air travelers versus vacation air travelers)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Objectives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price first group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price second group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total cost of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( π )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- C(Q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Set incremental π for sales to group 1=0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099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99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02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102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10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Second group of customers: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MC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Determining relative prices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Recall: MR = P (1 + 1/E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: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(1 + 1/E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(1 + 1/E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Determining relative prices </a:t>
            </a:r>
            <a:endParaRPr lang="ko-KR" altLang="en-US" dirty="0" smtClean="0" sz="1097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Arial"/>
              </a:rPr>
              <a:t>And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Pricing: Charge higher price to group with a low demand elasticity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-2 &amp; E</a:t>
            </a:r>
            <a:endParaRPr lang="ko-KR" altLang="en-US" dirty="0" smtClean="0" sz="1097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8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885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518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518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should be 1.5 times as high as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/>
          </a:p>
          <a:p>
            <a:pPr marL="0" indent="0" defTabSz="15240" algn="l">
              <a:lnSpc>
                <a:spcPts val="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163</a:t>
            </a:r>
            <a:endParaRPr lang="ko-KR" altLang="en-US" dirty="0" smtClean="0" sz="1200"/>
          </a:p>
        </p:txBody>
      </p:sp>
      <p:sp>
        <p:nvSpPr>
          <p:cNvPr id="740" name="Rect 3"/>
          <p:cNvSpPr>
            <a:spLocks noGrp="1" noChangeArrowheads="1"/>
          </p:cNvSpPr>
          <p:nvPr/>
        </p:nvSpPr>
        <p:spPr>
          <a:xfrm rot="0">
            <a:off x="3654425" y="7202170"/>
            <a:ext cx="89535" cy="384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dirty="0" smtClean="0" sz="1200"/>
          </a:p>
        </p:txBody>
      </p:sp>
      <p:sp>
        <p:nvSpPr>
          <p:cNvPr id="741" name="Rect 3"/>
          <p:cNvSpPr>
            <a:spLocks noGrp="1" noChangeArrowheads="1"/>
          </p:cNvSpPr>
          <p:nvPr/>
        </p:nvSpPr>
        <p:spPr>
          <a:xfrm rot="0">
            <a:off x="3569335" y="5166360"/>
            <a:ext cx="457835" cy="2444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9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lang="ko-KR" altLang="en-US" dirty="0" smtClean="0" sz="1099"/>
          </a:p>
          <a:p>
            <a:pPr marL="0" indent="0" defTabSz="15240"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7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0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700"/>
          </a:p>
        </p:txBody>
      </p:sp>
      <p:sp>
        <p:nvSpPr>
          <p:cNvPr id="742" name="Rect 3"/>
          <p:cNvSpPr>
            <a:spLocks noGrp="1" noChangeArrowheads="1"/>
          </p:cNvSpPr>
          <p:nvPr/>
        </p:nvSpPr>
        <p:spPr>
          <a:xfrm rot="0">
            <a:off x="2938145" y="5086985"/>
            <a:ext cx="1132205" cy="313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lang="ko-KR" altLang="en-US" dirty="0" smtClean="0" sz="1099" i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102" i="1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200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200" i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18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18"/>
          </a:p>
        </p:txBody>
      </p:sp>
      <p:sp>
        <p:nvSpPr>
          <p:cNvPr id="743" name="Rect 3"/>
          <p:cNvSpPr>
            <a:spLocks noGrp="1" noChangeArrowheads="1"/>
          </p:cNvSpPr>
          <p:nvPr/>
        </p:nvSpPr>
        <p:spPr>
          <a:xfrm rot="0">
            <a:off x="2673350" y="5166360"/>
            <a:ext cx="1397000" cy="3322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endParaRPr lang="ko-KR" altLang="en-US" dirty="0" smtClean="0" sz="6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099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60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601"/>
          </a:p>
          <a:p>
            <a:pPr marL="0" indent="0" defTabSz="15240" algn="l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00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-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518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518"/>
          </a:p>
        </p:txBody>
      </p:sp>
      <p:sp>
        <p:nvSpPr>
          <p:cNvPr id="744" name="Rect 3"/>
          <p:cNvSpPr>
            <a:spLocks noGrp="1" noChangeArrowheads="1"/>
          </p:cNvSpPr>
          <p:nvPr/>
        </p:nvSpPr>
        <p:spPr>
          <a:xfrm rot="0">
            <a:off x="2502535" y="5053330"/>
            <a:ext cx="2838450" cy="3286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099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9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099" i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2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102" i="1"/>
          </a:p>
          <a:p>
            <a:pPr marL="0" indent="0" defTabSz="15240"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0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700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518"/>
          </a:p>
        </p:txBody>
      </p:sp>
      <p:sp>
        <p:nvSpPr>
          <p:cNvPr id="745" name="Rect 3"/>
          <p:cNvSpPr>
            <a:spLocks noGrp="1" noChangeArrowheads="1"/>
          </p:cNvSpPr>
          <p:nvPr/>
        </p:nvSpPr>
        <p:spPr>
          <a:xfrm rot="0">
            <a:off x="2392680" y="859790"/>
            <a:ext cx="4710430" cy="7659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35 </a:t>
            </a:r>
            <a:endParaRPr lang="ko-KR" altLang="en-US" dirty="0" smtClean="0" sz="1097" b="1"/>
          </a:p>
          <a:p>
            <a:pPr marL="0" indent="0" defTabSz="15240" algn="l">
              <a:lnSpc>
                <a:spcPts val="3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99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099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6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600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60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60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60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60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601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200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P</a:t>
            </a:r>
            <a:endParaRPr lang="ko-KR" altLang="en-US" dirty="0" smtClean="0" sz="1200" i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518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518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518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151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88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885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88210" y="1029970"/>
            <a:ext cx="2999740" cy="23260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64080" y="3733800"/>
            <a:ext cx="2953385" cy="2264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24710" y="7092950"/>
            <a:ext cx="2922905" cy="22186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Consumers are divided into </a:t>
            </a:r>
            <a:endParaRPr lang="ko-KR" altLang="en-US" dirty="0" smtClean="0" sz="85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demand curves for each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group. </a:t>
            </a:r>
            <a:endParaRPr lang="ko-KR" altLang="en-US" dirty="0" smtClean="0" sz="852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</a:rPr>
              <a:t> = MR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47" b="1">
                <a:solidFill>
                  <a:srgbClr val="000000"/>
                </a:solidFill>
                <a:latin typeface="Times New Roman"/>
              </a:rPr>
              <a:t>+ MR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		= AR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55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4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85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  <a:ea typeface="Times New Roman"/>
              </a:rPr>
              <a:t>MC = MR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 at Q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and P</a:t>
            </a:r>
            <a:r>
              <a:rPr lang="en-US" altLang="ko-KR" dirty="0" smtClean="0" sz="600" b="1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6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inelastic </a:t>
            </a:r>
            <a:endParaRPr lang="ko-KR" altLang="en-US" dirty="0" smtClean="0" sz="7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4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 Sales to Smaller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 if third-degree price discrimination is feasible, it doesn’t always pay to sell to both groups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consumers if marginal cost is rising.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willing to pay enough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for the good to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make price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discrimination profitable.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164</a:t>
            </a:r>
            <a:endParaRPr lang="ko-KR" altLang="en-US" dirty="0" smtClean="0" sz="1200"/>
          </a:p>
        </p:txBody>
      </p:sp>
      <p:sp>
        <p:nvSpPr>
          <p:cNvPr id="748" name="Rect 3"/>
          <p:cNvSpPr>
            <a:spLocks noGrp="1" noChangeArrowheads="1"/>
          </p:cNvSpPr>
          <p:nvPr/>
        </p:nvSpPr>
        <p:spPr>
          <a:xfrm rot="0">
            <a:off x="4693920" y="4316095"/>
            <a:ext cx="424815" cy="194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= MC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749" b="1"/>
          </a:p>
        </p:txBody>
      </p:sp>
      <p:sp>
        <p:nvSpPr>
          <p:cNvPr id="749" name="Rect 3"/>
          <p:cNvSpPr>
            <a:spLocks noGrp="1" noChangeArrowheads="1"/>
          </p:cNvSpPr>
          <p:nvPr/>
        </p:nvSpPr>
        <p:spPr>
          <a:xfrm rot="0">
            <a:off x="3239770" y="1100455"/>
            <a:ext cx="2354580" cy="6248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two groups, with separate </a:t>
            </a:r>
            <a:endParaRPr lang="ko-KR" altLang="en-US" dirty="0" smtClean="0" sz="852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: MC = MR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4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Group 1: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; more elastic </a:t>
            </a:r>
            <a:endParaRPr lang="ko-KR" altLang="en-US" dirty="0" smtClean="0" sz="79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Group 2: 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; more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= MR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397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T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control MC </a:t>
            </a:r>
            <a:endParaRPr lang="ko-KR" altLang="en-US" dirty="0" smtClean="0" sz="798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b="1"/>
          </a:p>
          <a:p>
            <a:pPr marL="0" indent="0" defTabSz="15240" algn="l">
              <a:lnSpc>
                <a:spcPts val="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Group one, with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demand D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, are not 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16935" y="8848090"/>
            <a:ext cx="701040" cy="4819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ECONOMICS OF COUPONS AND REBATES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Discrimination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Those consumers who are more price elastic will tend to use the coupon/rebate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often when they purchase the product than those consumers with a less elastic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Coupons and rebate programs allow firms to price discriminate.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Elasticities of Demand for Users Versus Nonusers of Coupons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Price Elasticity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Product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Nonusers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Users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Toilet tissue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-0.60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-0.66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Stuffing/dressing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-0.71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-0.96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Shampoo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-0.84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-1.04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Cooking/salad oil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-1.22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-1.32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Dry mix dinner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-0.88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-1.09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Cake mix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-0.21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-0.43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Cat food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-0.49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-1.13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Frozen entrée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-0.60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-0.95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Gelatin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-0.97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-1.25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Spaghetti sauce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-1.65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-1.81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Crème rinse/conditioner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-0.82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-1.12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Soup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-1.05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-1.22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Hot dogs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-0.59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-0.77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Cake Mix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Nonusers of coupons: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-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0.21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Users: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-0.43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Cake Mix Brand A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				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8 to 10 times cake mix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Users: -4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Nonusers: -2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Using: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9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395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6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6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95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395" i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165</a:t>
            </a:r>
            <a:endParaRPr lang="ko-KR" altLang="en-US" dirty="0" smtClean="0" sz="1200"/>
          </a:p>
        </p:txBody>
      </p:sp>
      <p:sp>
        <p:nvSpPr>
          <p:cNvPr id="752" name="Rect 3"/>
          <p:cNvSpPr>
            <a:spLocks noGrp="1" noChangeArrowheads="1"/>
          </p:cNvSpPr>
          <p:nvPr/>
        </p:nvSpPr>
        <p:spPr>
          <a:xfrm rot="0">
            <a:off x="4038600" y="8842375"/>
            <a:ext cx="86360" cy="19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95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dirty="0" smtClean="0" sz="1395"/>
          </a:p>
        </p:txBody>
      </p:sp>
      <p:sp>
        <p:nvSpPr>
          <p:cNvPr id="753" name="Rect 3"/>
          <p:cNvSpPr>
            <a:spLocks noGrp="1" noChangeArrowheads="1"/>
          </p:cNvSpPr>
          <p:nvPr/>
        </p:nvSpPr>
        <p:spPr>
          <a:xfrm rot="0">
            <a:off x="3968750" y="8964295"/>
            <a:ext cx="7366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61">
                <a:solidFill>
                  <a:srgbClr val="000000"/>
                </a:solidFill>
                <a:latin typeface="Times New Roman"/>
              </a:rPr>
              <a:t>2</a:t>
            </a:r>
            <a:endParaRPr lang="ko-KR" altLang="en-US" dirty="0" smtClean="0" sz="761"/>
          </a:p>
        </p:txBody>
      </p:sp>
      <p:sp>
        <p:nvSpPr>
          <p:cNvPr id="754" name="Rect 3"/>
          <p:cNvSpPr>
            <a:spLocks noGrp="1" noChangeArrowheads="1"/>
          </p:cNvSpPr>
          <p:nvPr/>
        </p:nvSpPr>
        <p:spPr>
          <a:xfrm rot="0">
            <a:off x="3437890" y="8842375"/>
            <a:ext cx="678180" cy="469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95">
                <a:solidFill>
                  <a:srgbClr val="000000"/>
                </a:solidFill>
                <a:latin typeface="Times New Roman"/>
              </a:rPr>
              <a:t>(1 1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395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395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395">
                <a:solidFill>
                  <a:srgbClr val="000000"/>
                </a:solidFill>
                <a:latin typeface="Times New Roman"/>
                <a:ea typeface="Times New Roman"/>
              </a:rPr>
              <a:t>(1 1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395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395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1395"/>
          </a:p>
        </p:txBody>
      </p:sp>
      <p:sp>
        <p:nvSpPr>
          <p:cNvPr id="755" name="Rect 3"/>
          <p:cNvSpPr>
            <a:spLocks noGrp="1" noChangeArrowheads="1"/>
          </p:cNvSpPr>
          <p:nvPr/>
        </p:nvSpPr>
        <p:spPr>
          <a:xfrm rot="0">
            <a:off x="3148330" y="8945880"/>
            <a:ext cx="891540" cy="399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395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95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61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76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61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of nonusers should be 1.5 times users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Or, if cake mix sells for $1.50, coupons should be 50 cents  </a:t>
            </a:r>
            <a:endParaRPr lang="ko-KR" altLang="en-US" dirty="0" smtClean="0" sz="1097"/>
          </a:p>
          <a:p>
            <a:pPr marL="0" indent="0" defTabSz="15240" algn="l">
              <a:lnSpc>
                <a:spcPts val="6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2825" y="6839585"/>
            <a:ext cx="2874645" cy="21672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697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Airline Fares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Differences in elasticities imply that some customers will pay a higher fare than others.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Business travelers have few choices and their demand is less elastic.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Casual travelers have choices and are more price sensitive.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of Demand for Air Travel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Elasticity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First-Class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Economy Plus    Economy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-0.9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1.2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1.2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1.8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airlines separate the market by setting various restrictions on the tickets.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 expensive: notice, stay over the weekend, no refund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Most expensive: no restrictions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Intertemporal Price Discrimination and Peak-Load Pricing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Separating the Market With Time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Initial release of a product, the demand is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Book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Movie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Computer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Once this market has yielded a maximum profit, firms lower the price to appeal to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general market with a more elastic demand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Paper back books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Dollar Movies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Discount computers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a price of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appeal to the mass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market.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AC = MC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167</a:t>
            </a:r>
            <a:endParaRPr lang="ko-KR" altLang="en-US" dirty="0" smtClean="0" sz="1200"/>
          </a:p>
        </p:txBody>
      </p:sp>
      <p:sp>
        <p:nvSpPr>
          <p:cNvPr id="760" name="Rect 3"/>
          <p:cNvSpPr>
            <a:spLocks noGrp="1" noChangeArrowheads="1"/>
          </p:cNvSpPr>
          <p:nvPr/>
        </p:nvSpPr>
        <p:spPr>
          <a:xfrm rot="0">
            <a:off x="4438015" y="6797040"/>
            <a:ext cx="1168400" cy="1868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Over time, demand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becomes more elastic </a:t>
            </a:r>
            <a:endParaRPr lang="ko-KR" altLang="en-US" dirty="0" smtClean="0" sz="900"/>
          </a:p>
          <a:p>
            <a:pPr marL="0" indent="0" defTabSz="15240" algn="l">
              <a:lnSpc>
                <a:spcPts val="1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</p:txBody>
      </p:sp>
      <p:sp>
        <p:nvSpPr>
          <p:cNvPr id="761" name="Rect 3"/>
          <p:cNvSpPr>
            <a:spLocks noGrp="1" noChangeArrowheads="1"/>
          </p:cNvSpPr>
          <p:nvPr/>
        </p:nvSpPr>
        <p:spPr>
          <a:xfrm rot="0">
            <a:off x="3163570" y="871855"/>
            <a:ext cx="3939540" cy="781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36 </a:t>
            </a:r>
            <a:endParaRPr lang="ko-KR" altLang="en-US" dirty="0" smtClean="0" sz="1097" b="1"/>
          </a:p>
          <a:p>
            <a:pPr marL="0" indent="0" defTabSz="15240" algn="l">
              <a:lnSpc>
                <a:spcPts val="4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  <a:ea typeface="Arial"/>
              </a:rPr>
              <a:t>Consumers are divided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into groups over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time.Initially, demand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less elastic resulting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 price  is reduced </a:t>
            </a:r>
            <a:endParaRPr lang="ko-KR" altLang="en-US" dirty="0" smtClean="0" sz="900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48255" y="3328670"/>
            <a:ext cx="2721610" cy="1986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Peak-Load Pricing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some products may peak at particular times.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Rush hour traffic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Electricity - summer season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Restaurants on weekends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Capacity restraints will also increase MC.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MR and MC would indicate a higher price.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is not equal for each market because one market does not impact the other market.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79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Off- load 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=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to Price a Best Selling Novel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What Do You Think?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How would you arrive at the price for the initial release of the hardbound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edition of a book?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How long do you wait to release the paperback edition? Could the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popularity of the book impact your decision?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How do you determine the price for the paperback edition?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Two-Part Tariff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purchase of some products and services can be separated into two decisions,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therefore, two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1)Amusement Park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to enter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for rides and food within the park </a:t>
            </a:r>
            <a:endParaRPr lang="ko-KR" altLang="en-US" dirty="0" smtClean="0" sz="1097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168</a:t>
            </a:r>
            <a:endParaRPr lang="ko-KR" altLang="en-US" dirty="0" smtClean="0" sz="1200"/>
          </a:p>
        </p:txBody>
      </p:sp>
      <p:sp>
        <p:nvSpPr>
          <p:cNvPr id="764" name="Rect 3"/>
          <p:cNvSpPr>
            <a:spLocks noGrp="1" noChangeArrowheads="1"/>
          </p:cNvSpPr>
          <p:nvPr/>
        </p:nvSpPr>
        <p:spPr>
          <a:xfrm rot="0">
            <a:off x="4660265" y="3355975"/>
            <a:ext cx="604520" cy="127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Peak-load  </a:t>
            </a:r>
            <a:endParaRPr lang="ko-KR" altLang="en-US" dirty="0" smtClean="0" sz="900"/>
          </a:p>
        </p:txBody>
      </p:sp>
      <p:sp>
        <p:nvSpPr>
          <p:cNvPr id="765" name="Rect 3"/>
          <p:cNvSpPr>
            <a:spLocks noGrp="1" noChangeArrowheads="1"/>
          </p:cNvSpPr>
          <p:nvPr/>
        </p:nvSpPr>
        <p:spPr>
          <a:xfrm rot="0">
            <a:off x="4230370" y="3288665"/>
            <a:ext cx="1025525" cy="21456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=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. </a:t>
            </a:r>
            <a:endParaRPr lang="ko-KR" altLang="en-US" dirty="0" smtClean="0" sz="900" i="1"/>
          </a:p>
          <a:p>
            <a:pPr marL="0" indent="0" defTabSz="15240" algn="l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 = AR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55520" y="4199890"/>
            <a:ext cx="3020695" cy="19723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03450" y="6537960"/>
            <a:ext cx="3489960" cy="25996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2)Tennis Club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to join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to play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Safety Razor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for razor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for blades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4) Polaroid Film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for the camera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Pay for the film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Pricing decision is setting the entry fee (T) and the usage fee (P).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Choosing the trade-off between free-entry and high use prices or high-entry and zero 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Two-Part Tariff with a Single Consumer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Usage price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P*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set 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equal to the entire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 surplus. </a:t>
            </a:r>
            <a:endParaRPr lang="ko-KR" altLang="en-US" dirty="0" smtClean="0" sz="900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98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852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at the surplus value of D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2. </a:t>
            </a:r>
            <a:endParaRPr lang="ko-KR" altLang="en-US" dirty="0" smtClean="0" sz="6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76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than twice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ABC</a:t>
            </a:r>
            <a:endParaRPr lang="ko-KR" altLang="en-US" dirty="0" smtClean="0" sz="976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*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consumer 2</a:t>
            </a:r>
            <a:endParaRPr lang="ko-KR" altLang="en-US" dirty="0" smtClean="0" sz="798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94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169</a:t>
            </a:r>
            <a:endParaRPr lang="ko-KR" altLang="en-US" dirty="0" smtClean="0" sz="1200"/>
          </a:p>
        </p:txBody>
      </p:sp>
      <p:sp>
        <p:nvSpPr>
          <p:cNvPr id="768" name="Rect 3"/>
          <p:cNvSpPr>
            <a:spLocks noGrp="1" noChangeArrowheads="1"/>
          </p:cNvSpPr>
          <p:nvPr/>
        </p:nvSpPr>
        <p:spPr>
          <a:xfrm rot="0">
            <a:off x="5483225" y="7108190"/>
            <a:ext cx="299720" cy="78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569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569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569"/>
          </a:p>
        </p:txBody>
      </p:sp>
      <p:sp>
        <p:nvSpPr>
          <p:cNvPr id="769" name="Rect 3"/>
          <p:cNvSpPr>
            <a:spLocks noGrp="1" noChangeArrowheads="1"/>
          </p:cNvSpPr>
          <p:nvPr/>
        </p:nvSpPr>
        <p:spPr>
          <a:xfrm rot="0">
            <a:off x="4971415" y="7016750"/>
            <a:ext cx="668655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76">
                <a:solidFill>
                  <a:srgbClr val="000000"/>
                </a:solidFill>
                <a:latin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976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976"/>
          </a:p>
        </p:txBody>
      </p:sp>
      <p:sp>
        <p:nvSpPr>
          <p:cNvPr id="770" name="Rect 3"/>
          <p:cNvSpPr>
            <a:spLocks noGrp="1" noChangeArrowheads="1"/>
          </p:cNvSpPr>
          <p:nvPr/>
        </p:nvSpPr>
        <p:spPr>
          <a:xfrm rot="0">
            <a:off x="4687570" y="7016750"/>
            <a:ext cx="115062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76">
                <a:solidFill>
                  <a:srgbClr val="000000"/>
                </a:solidFill>
                <a:latin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976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976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76" i="1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76" i="1">
                <a:solidFill>
                  <a:srgbClr val="000000"/>
                </a:solidFill>
                <a:latin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976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ko-KR" altLang="en-US" dirty="0" smtClean="0" sz="976"/>
          </a:p>
        </p:txBody>
      </p:sp>
      <p:sp>
        <p:nvSpPr>
          <p:cNvPr id="771" name="Rect 3"/>
          <p:cNvSpPr>
            <a:spLocks noGrp="1" noChangeArrowheads="1"/>
          </p:cNvSpPr>
          <p:nvPr/>
        </p:nvSpPr>
        <p:spPr>
          <a:xfrm rot="0">
            <a:off x="3773170" y="6556375"/>
            <a:ext cx="1330325" cy="545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price,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P*,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will be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greater than MC.  Set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T*  </a:t>
            </a:r>
            <a:endParaRPr lang="ko-KR" altLang="en-US" dirty="0" smtClean="0" sz="900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569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569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endParaRPr lang="ko-KR" altLang="en-US" dirty="0" smtClean="0" sz="569"/>
          </a:p>
        </p:txBody>
      </p:sp>
      <p:sp>
        <p:nvSpPr>
          <p:cNvPr id="772" name="Rect 3"/>
          <p:cNvSpPr>
            <a:spLocks noGrp="1" noChangeArrowheads="1"/>
          </p:cNvSpPr>
          <p:nvPr/>
        </p:nvSpPr>
        <p:spPr>
          <a:xfrm rot="0">
            <a:off x="3310255" y="4404360"/>
            <a:ext cx="2710815" cy="36207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where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MC = D.  Entry price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T*</a:t>
            </a:r>
            <a:endParaRPr lang="ko-KR" altLang="en-US" dirty="0" smtClean="0" sz="900" i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947" b="1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T*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976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976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76" i="1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976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endParaRPr lang="ko-KR" altLang="en-US" dirty="0" smtClean="0" sz="976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9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= consumer 1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7735" y="2624455"/>
            <a:ext cx="2840355" cy="21761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Two-Part Tariff with Two Consumers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Two-Part Tariff With Many Different Consumers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 exact way to determine P* and T*.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consider the trade-off between the entry fee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* and the use fee P*.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Low entry fee: High sales and falling profit with lower price and more entrants.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find optimum combination, choose several combinations of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P,T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Choose the combination that maximizes profit.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Profit </a:t>
            </a:r>
            <a:endParaRPr lang="ko-KR" altLang="en-US" dirty="0" smtClean="0" sz="85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  <a:ea typeface="Times New Roman"/>
              </a:rPr>
              <a:t>entrants</a:t>
            </a:r>
            <a:endParaRPr lang="ko-KR" altLang="en-US" dirty="0" smtClean="0" sz="1221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Total profit is the sum of the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profit from the entry fee and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profit from sales.  Both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depend on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T. </a:t>
            </a:r>
            <a:endParaRPr lang="ko-KR" altLang="en-US" dirty="0" smtClean="0" sz="90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 i="1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			Total </a:t>
            </a:r>
            <a:endParaRPr lang="ko-KR" altLang="en-US" dirty="0" smtClean="0" sz="100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 b="1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lang="en-US" altLang="ko-KR" dirty="0" smtClean="0" sz="1002" b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  <a:ea typeface="Arial"/>
              </a:rPr>
              <a:t>: entry fee</a:t>
            </a:r>
            <a:endParaRPr lang="ko-KR" altLang="en-US" dirty="0" smtClean="0" sz="94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 b="1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lang="en-US" altLang="ko-KR" dirty="0" smtClean="0" sz="900" b="1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  <a:ea typeface="Arial"/>
              </a:rPr>
              <a:t>: sales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T*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Rule of Thumb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 demand: Choose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close to MC and high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 </a:t>
            </a:r>
            <a:endParaRPr lang="ko-KR" altLang="en-US" dirty="0" smtClean="0" sz="1097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Dissimilar demand: Choose high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low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T.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Two-Part Tariff With A Twist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Entry price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(T)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entitles the buyer to a certain number of free units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Razors with several blades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Amusement parks with some tokens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On-line with free time </a:t>
            </a:r>
            <a:endParaRPr lang="ko-KR" altLang="en-US" dirty="0" smtClean="0" sz="1097"/>
          </a:p>
          <a:p>
            <a:pPr marL="0" indent="0" defTabSz="15240" algn="l">
              <a:lnSpc>
                <a:spcPts val="2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170</a:t>
            </a:r>
            <a:endParaRPr lang="ko-KR" altLang="en-US" dirty="0" smtClean="0" sz="1200"/>
          </a:p>
        </p:txBody>
      </p:sp>
      <p:sp>
        <p:nvSpPr>
          <p:cNvPr id="775" name="Rect 3"/>
          <p:cNvSpPr>
            <a:spLocks noGrp="1" noChangeArrowheads="1"/>
          </p:cNvSpPr>
          <p:nvPr/>
        </p:nvSpPr>
        <p:spPr>
          <a:xfrm rot="0">
            <a:off x="3578225" y="2493010"/>
            <a:ext cx="1747520" cy="2344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21">
                <a:solidFill>
                  <a:srgbClr val="000000"/>
                </a:solidFill>
                <a:latin typeface="Symbol"/>
              </a:rPr>
              <a:t>π=π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1">
                <a:solidFill>
                  <a:srgbClr val="000000"/>
                </a:solidFill>
                <a:latin typeface="Symbol"/>
                <a:ea typeface="Symbol"/>
              </a:rPr>
              <a:t>+π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ko-KR" dirty="0" smtClean="0" sz="1221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altLang="ko-KR" dirty="0" smtClean="0" sz="1221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21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122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altLang="ko-KR" dirty="0" smtClean="0" sz="1221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  <a:ea typeface="Times New Roman"/>
              </a:rPr>
              <a:t>MCQ</a:t>
            </a:r>
            <a:r>
              <a:rPr lang="en-US" altLang="ko-KR" dirty="0" smtClean="0" sz="1221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dirty="0" smtClean="0" sz="1221" i="1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ko-KR" dirty="0" smtClean="0" sz="1221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dirty="0" smtClean="0" sz="1221"/>
          </a:p>
          <a:p>
            <a:pPr marL="0" indent="0" defTabSz="15240"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852" i="1" b="1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endParaRPr lang="ko-KR" altLang="en-US" dirty="0" smtClean="0" sz="1697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Bundling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Bundling is packaging two or more products to gain a pricing advantage.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Conditions necessary for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Heterogeneous customers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discrimination is not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Demands must be negatively correlated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 example:  Leasing Movie X &amp; Movie Y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reservation prices for each theater and movie are: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Movie 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Movie Y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$12,000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$3,000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    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$4,000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Renting the movies separately would result in each theater paying the lowest reservation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for each movie: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Maximum price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$10,000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Maximum price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$3,000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Total Revenue = $26,000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the movies are bundled: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will pay $15,000 for both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pay $14,000 for both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each were charged the lower of the two prices, total revenue will be $28,000.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Relative Valuations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 Correlated: Profitable to Bundle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pays more for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($12,000) than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($10,000).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B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pays more for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($4,000) than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($3,000).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demands were positively correlated (Theater A would pay more for both films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shown) bundling would not result in an increase in revenue.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Movie 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Movie Y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$12,000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$4,000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    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$10,000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the movies are bundled: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will pay $16,000 for both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Theater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pay $13,000 for both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If each were charged the lower of the two prices, total revenue will be $26,000, the same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selling the films separately.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Bundling Scenario: Two different goods and many consumers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consumers with different reservation price combinations for two goods </a:t>
            </a:r>
            <a:endParaRPr lang="ko-KR" altLang="en-US" dirty="0" smtClean="0" sz="1097"/>
          </a:p>
          <a:p>
            <a:pPr marL="0" indent="0" defTabSz="15240" algn="l">
              <a:lnSpc>
                <a:spcPts val="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171</a:t>
            </a:r>
            <a:endParaRPr lang="ko-KR" altLang="en-US" dirty="0" smtClean="0" sz="1200"/>
          </a:p>
        </p:txBody>
      </p:sp>
      <p:sp>
        <p:nvSpPr>
          <p:cNvPr id="778" name="Rect 3"/>
          <p:cNvSpPr>
            <a:spLocks noGrp="1" noChangeArrowheads="1"/>
          </p:cNvSpPr>
          <p:nvPr/>
        </p:nvSpPr>
        <p:spPr>
          <a:xfrm rot="0">
            <a:off x="6242050" y="871855"/>
            <a:ext cx="861060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</a:rPr>
              <a:t>Lesson 37 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5375" y="1398905"/>
            <a:ext cx="1969135" cy="196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35150" y="4017010"/>
            <a:ext cx="2566035" cy="25939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33270" y="7312025"/>
            <a:ext cx="2334260" cy="21247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Reservation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(reservation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price Good 2)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$10 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willing to pay up to 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$5 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$3.25 </a:t>
            </a:r>
            <a:endParaRPr lang="ko-KR" altLang="en-US" dirty="0" smtClean="0" sz="798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(reservation price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$3.25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$5</a:t>
            </a:r>
            <a:endParaRPr lang="ko-KR" altLang="en-US" dirty="0" smtClean="0" sz="798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Consumption Decisions When Products are Sold Separately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43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</a:t>
            </a:r>
            <a:endParaRPr lang="ko-KR" altLang="en-US" dirty="0" smtClean="0" sz="105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Consumers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Consumers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buy </a:t>
            </a:r>
            <a:endParaRPr lang="ko-KR" altLang="en-US" dirty="0" smtClean="0" sz="8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endParaRPr lang="ko-KR" altLang="en-US" dirty="0" smtClean="0" sz="124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III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IV</a:t>
            </a:r>
            <a:endParaRPr lang="ko-KR" altLang="en-US" dirty="0" smtClean="0" sz="105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Consumers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Consumers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buy </a:t>
            </a:r>
            <a:endParaRPr lang="ko-KR" altLang="en-US" dirty="0" smtClean="0" sz="85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Consumption Decisions When Products are Bundled 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when 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+ 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 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&gt;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6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+ 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or 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- r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buy bundle </a:t>
            </a:r>
            <a:endParaRPr lang="ko-KR" altLang="en-US" dirty="0" smtClean="0" sz="900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 - 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</a:t>
            </a:r>
            <a:endParaRPr lang="ko-KR" altLang="en-US" dirty="0" smtClean="0" sz="105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Consumers do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not buy bundle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(r &lt; 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900" i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172</a:t>
            </a:r>
            <a:endParaRPr lang="ko-KR" altLang="en-US" dirty="0" smtClean="0" sz="1200"/>
          </a:p>
        </p:txBody>
      </p:sp>
      <p:sp>
        <p:nvSpPr>
          <p:cNvPr id="781" name="Rect 3"/>
          <p:cNvSpPr>
            <a:spLocks noGrp="1" noChangeArrowheads="1"/>
          </p:cNvSpPr>
          <p:nvPr/>
        </p:nvSpPr>
        <p:spPr>
          <a:xfrm rot="0">
            <a:off x="4458970" y="4035425"/>
            <a:ext cx="1217295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Consumers fall into </a:t>
            </a:r>
            <a:endParaRPr lang="ko-KR" altLang="en-US" dirty="0" smtClean="0" sz="94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four categories based </a:t>
            </a:r>
            <a:endParaRPr lang="ko-KR" altLang="en-US" dirty="0" smtClean="0" sz="947"/>
          </a:p>
        </p:txBody>
      </p:sp>
      <p:sp>
        <p:nvSpPr>
          <p:cNvPr id="782" name="Rect 3"/>
          <p:cNvSpPr>
            <a:spLocks noGrp="1" noChangeArrowheads="1"/>
          </p:cNvSpPr>
          <p:nvPr/>
        </p:nvSpPr>
        <p:spPr>
          <a:xfrm rot="0">
            <a:off x="3943985" y="4093210"/>
            <a:ext cx="92710" cy="1396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25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725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25"/>
          </a:p>
        </p:txBody>
      </p:sp>
      <p:sp>
        <p:nvSpPr>
          <p:cNvPr id="783" name="Rect 3"/>
          <p:cNvSpPr>
            <a:spLocks noGrp="1" noChangeArrowheads="1"/>
          </p:cNvSpPr>
          <p:nvPr/>
        </p:nvSpPr>
        <p:spPr>
          <a:xfrm rot="0">
            <a:off x="3755390" y="3977640"/>
            <a:ext cx="305435" cy="1749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3">
                <a:solidFill>
                  <a:srgbClr val="000000"/>
                </a:solidFill>
                <a:latin typeface="Symbol"/>
              </a:rPr>
              <a:t>&gt;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243" i="1"/>
          </a:p>
          <a:p>
            <a:pPr marL="0" indent="0" defTabSz="15240" algn="l">
              <a:lnSpc>
                <a:spcPts val="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243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25"/>
          </a:p>
        </p:txBody>
      </p:sp>
      <p:sp>
        <p:nvSpPr>
          <p:cNvPr id="784" name="Rect 3"/>
          <p:cNvSpPr>
            <a:spLocks noGrp="1" noChangeArrowheads="1"/>
          </p:cNvSpPr>
          <p:nvPr/>
        </p:nvSpPr>
        <p:spPr>
          <a:xfrm rot="0">
            <a:off x="2639695" y="4093210"/>
            <a:ext cx="2972435" cy="1609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25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on their reservation </a:t>
            </a:r>
            <a:endParaRPr lang="ko-KR" altLang="en-US" dirty="0" smtClean="0" sz="947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25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243" i="1"/>
          </a:p>
        </p:txBody>
      </p:sp>
      <p:sp>
        <p:nvSpPr>
          <p:cNvPr id="785" name="Rect 3"/>
          <p:cNvSpPr>
            <a:spLocks noGrp="1" noChangeArrowheads="1"/>
          </p:cNvSpPr>
          <p:nvPr/>
        </p:nvSpPr>
        <p:spPr>
          <a:xfrm rot="0">
            <a:off x="2447290" y="3307080"/>
            <a:ext cx="2418080" cy="2419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Good 1)</a:t>
            </a:r>
            <a:endParaRPr lang="ko-KR" altLang="en-US" dirty="0" smtClean="0" sz="900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43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25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43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25"/>
          </a:p>
        </p:txBody>
      </p:sp>
      <p:sp>
        <p:nvSpPr>
          <p:cNvPr id="786" name="Rect 3"/>
          <p:cNvSpPr>
            <a:spLocks noGrp="1" noChangeArrowheads="1"/>
          </p:cNvSpPr>
          <p:nvPr/>
        </p:nvSpPr>
        <p:spPr>
          <a:xfrm rot="0">
            <a:off x="2359025" y="3343910"/>
            <a:ext cx="2778125" cy="4681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$10</a:t>
            </a:r>
            <a:endParaRPr lang="ko-KR" altLang="en-US" dirty="0" smtClean="0" sz="798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25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43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243" i="1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25">
                <a:solidFill>
                  <a:srgbClr val="000000"/>
                </a:solidFill>
                <a:latin typeface="Times New Roman"/>
              </a:rPr>
              <a:t>1</a:t>
            </a:r>
            <a:endParaRPr lang="ko-KR" altLang="en-US" dirty="0" smtClean="0" sz="725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43" i="1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Region 1: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r &gt; 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600" i="1"/>
          </a:p>
        </p:txBody>
      </p:sp>
      <p:sp>
        <p:nvSpPr>
          <p:cNvPr id="787" name="Rect 3"/>
          <p:cNvSpPr>
            <a:spLocks noGrp="1" noChangeArrowheads="1"/>
          </p:cNvSpPr>
          <p:nvPr/>
        </p:nvSpPr>
        <p:spPr>
          <a:xfrm rot="0">
            <a:off x="2277110" y="1859280"/>
            <a:ext cx="3182620" cy="6290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$3.25 for good 1 and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up to $6 for good 2. </a:t>
            </a:r>
            <a:endParaRPr lang="ko-KR" altLang="en-US" dirty="0" smtClean="0" sz="798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00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$8.25 </a:t>
            </a:r>
            <a:endParaRPr lang="ko-KR" altLang="en-US" dirty="0" smtClean="0" sz="798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43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25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price. </a:t>
            </a:r>
            <a:endParaRPr lang="ko-KR" altLang="en-US" dirty="0" smtClean="0" sz="947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43" i="1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endParaRPr lang="ko-KR" altLang="en-US" dirty="0" smtClean="0" sz="1243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725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25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Consumers buy the bundle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(P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bundle price)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.</a:t>
            </a:r>
            <a:endParaRPr lang="ko-KR" altLang="en-US" dirty="0" smtClean="0" sz="900" i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(r &gt; P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900" i="1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1490345"/>
            <a:ext cx="2136775" cy="21609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75230" y="4239895"/>
            <a:ext cx="2185035" cy="21850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40025" y="7080250"/>
            <a:ext cx="2234565" cy="18319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effectiveness of bundling depends upon the degree of negative correlation between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demands.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Reservation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If the demands are 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perfectly positively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correlated, the firm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will not gain by bundling.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It would earn the same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profit by selling the  </a:t>
            </a:r>
            <a:endParaRPr lang="ko-KR" altLang="en-US" dirty="0" smtClean="0" sz="85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Reservation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If the demands are  </a:t>
            </a:r>
            <a:endParaRPr lang="ko-KR" altLang="en-US" dirty="0" smtClean="0" sz="852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correlated bundling is the 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ideal strategy--all the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consumer surplus can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be extracted and a higher </a:t>
            </a:r>
            <a:endParaRPr lang="ko-KR" altLang="en-US" dirty="0" smtClean="0" sz="85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profit results. </a:t>
            </a:r>
            <a:endParaRPr lang="ko-KR" altLang="en-US" dirty="0" smtClean="0" sz="852"/>
          </a:p>
          <a:p>
            <a:pPr marL="0" indent="0" defTabSz="15240" algn="l">
              <a:lnSpc>
                <a:spcPts val="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Movie Example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(Movie X) </a:t>
            </a:r>
            <a:endParaRPr lang="ko-KR" altLang="en-US" dirty="0" smtClean="0" sz="90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10,000 </a:t>
            </a:r>
            <a:endParaRPr lang="ko-KR" altLang="en-US" dirty="0" smtClean="0" sz="70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negative correlation </a:t>
            </a:r>
            <a:endParaRPr lang="ko-KR" altLang="en-US" dirty="0" smtClean="0" sz="9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5 000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4,000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3,000 </a:t>
            </a:r>
            <a:endParaRPr lang="ko-KR" altLang="en-US" dirty="0" smtClean="0" sz="798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10,000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12,00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14,000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(Movie Y)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173</a:t>
            </a:r>
            <a:endParaRPr lang="ko-KR" altLang="en-US" dirty="0" smtClean="0" sz="1200"/>
          </a:p>
        </p:txBody>
      </p:sp>
      <p:sp>
        <p:nvSpPr>
          <p:cNvPr id="790" name="Rect 3"/>
          <p:cNvSpPr>
            <a:spLocks noGrp="1" noChangeArrowheads="1"/>
          </p:cNvSpPr>
          <p:nvPr/>
        </p:nvSpPr>
        <p:spPr>
          <a:xfrm rot="0">
            <a:off x="2614930" y="2459990"/>
            <a:ext cx="2936240" cy="6516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goods separately. </a:t>
            </a:r>
            <a:endParaRPr lang="ko-KR" altLang="en-US" dirty="0" smtClean="0" sz="852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perfectly negatively </a:t>
            </a:r>
            <a:endParaRPr lang="ko-KR" altLang="en-US" dirty="0" smtClean="0" sz="852"/>
          </a:p>
          <a:p>
            <a:pPr marL="0" indent="0" defTabSz="15240" algn="l">
              <a:lnSpc>
                <a:spcPts val="2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Bundling pays due </a:t>
            </a:r>
            <a:endParaRPr lang="ko-KR" altLang="en-US" dirty="0" smtClean="0" sz="900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0390" y="2934970"/>
            <a:ext cx="2514600" cy="2542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38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Bundling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Mixed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Selling both as a bundle and separately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Pure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Selling only a package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Mixed Versus Pure Bundling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endParaRPr lang="ko-KR" altLang="en-US" dirty="0" smtClean="0" sz="12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90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80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 reservation price for good 1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mixed bundling, consumer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98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94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94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94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10 20 30 40 50 60 70 80 90 100</a:t>
            </a:r>
            <a:endParaRPr lang="ko-KR" altLang="en-US" dirty="0" smtClean="0" sz="94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Mixed vs. Pure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Scenario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Perfect negative correlation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Significant marginal cost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Reservation price is below MC for some consumers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Mixed bundling induces the consumers to buy only goods for which their reservation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is greater than MC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Bundling Example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Sell Separately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B,C,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buy 1 and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buys 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Pure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A, B, C,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buy the bundle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Mixed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buys 1,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buys 2, and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B &amp; 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buys the bundle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174</a:t>
            </a:r>
            <a:endParaRPr lang="ko-KR" altLang="en-US" dirty="0" smtClean="0" sz="1200"/>
          </a:p>
        </p:txBody>
      </p:sp>
      <p:sp>
        <p:nvSpPr>
          <p:cNvPr id="793" name="Rect 3"/>
          <p:cNvSpPr>
            <a:spLocks noGrp="1" noChangeArrowheads="1"/>
          </p:cNvSpPr>
          <p:nvPr/>
        </p:nvSpPr>
        <p:spPr>
          <a:xfrm rot="0">
            <a:off x="2155190" y="2682240"/>
            <a:ext cx="3478530" cy="161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 = 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 = 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With positive marginal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costs, mixed bundling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may be more profitable </a:t>
            </a:r>
            <a:endParaRPr lang="ko-KR" altLang="en-US" dirty="0" smtClean="0" sz="798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induced to buy only good 1, </a:t>
            </a:r>
            <a:endParaRPr lang="ko-KR" altLang="en-US" dirty="0" smtClean="0" sz="798"/>
          </a:p>
        </p:txBody>
      </p:sp>
      <p:sp>
        <p:nvSpPr>
          <p:cNvPr id="794" name="Rect 3"/>
          <p:cNvSpPr>
            <a:spLocks noGrp="1" noChangeArrowheads="1"/>
          </p:cNvSpPr>
          <p:nvPr/>
        </p:nvSpPr>
        <p:spPr>
          <a:xfrm rot="0">
            <a:off x="1676400" y="2770505"/>
            <a:ext cx="3813810" cy="27984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A 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than pure bundling. </a:t>
            </a:r>
            <a:endParaRPr lang="ko-KR" altLang="en-US" dirty="0" smtClean="0" sz="798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A,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for example,  has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that is below marginal cost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induced to buy only good 2, while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reducing the firm’s cost. </a:t>
            </a:r>
            <a:endParaRPr lang="ko-KR" altLang="en-US" dirty="0" smtClean="0" sz="798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		= 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 = 30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49" i="1" b="1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8770" y="5196840"/>
            <a:ext cx="246634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 separately           $50     $90         ----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 $150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Pure bundling             ----      ----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$100              $200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Mixed bundling       $89.95     $89.95   $100              $229.90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$20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$30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Sell Separately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3($50 - $20) + 1($90 - $30) = $150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Pure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4($100 - $20 - $30) = $200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Mixed Bundling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($89.95 - $20) + ($89.95 - $30) - 2($100 - $20 - $30) = $229.90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$20  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MC = 0, would mixed bundling still be the most profitable strategy with perfect negative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correlation?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Mixed Bundling with Zero Marginal Costs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120 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are willing to pay $20 more for the bundle 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100 </a:t>
            </a:r>
            <a:endParaRPr lang="ko-KR" altLang="en-US" dirty="0" smtClean="0" sz="852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9</a:t>
            </a:r>
            <a:endParaRPr lang="ko-KR" altLang="en-US" dirty="0" smtClean="0" sz="85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80 </a:t>
            </a:r>
            <a:endParaRPr lang="ko-KR" altLang="en-US" dirty="0" smtClean="0" sz="852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60 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852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8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120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P1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 P2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 separately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$80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  $80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----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$320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Pure bundling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----                   ----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$100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$400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Mixed bundling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$90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  $90       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$120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$420 </a:t>
            </a:r>
            <a:endParaRPr lang="ko-KR" altLang="en-US" dirty="0" smtClean="0" sz="1097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175</a:t>
            </a:r>
            <a:endParaRPr lang="ko-KR" altLang="en-US" dirty="0" smtClean="0" sz="1200"/>
          </a:p>
        </p:txBody>
      </p:sp>
      <p:sp>
        <p:nvSpPr>
          <p:cNvPr id="797" name="Rect 3"/>
          <p:cNvSpPr>
            <a:spLocks noGrp="1" noChangeArrowheads="1"/>
          </p:cNvSpPr>
          <p:nvPr/>
        </p:nvSpPr>
        <p:spPr>
          <a:xfrm rot="0">
            <a:off x="4194175" y="5791200"/>
            <a:ext cx="1847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can be increased to $120.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 &amp; D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can be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charged $90 for a single good. </a:t>
            </a:r>
            <a:endParaRPr lang="ko-KR" altLang="en-US" dirty="0" smtClean="0" sz="798"/>
          </a:p>
        </p:txBody>
      </p:sp>
      <p:sp>
        <p:nvSpPr>
          <p:cNvPr id="798" name="Rect 3"/>
          <p:cNvSpPr>
            <a:spLocks noGrp="1" noChangeArrowheads="1"/>
          </p:cNvSpPr>
          <p:nvPr/>
        </p:nvSpPr>
        <p:spPr>
          <a:xfrm rot="0">
            <a:off x="3694430" y="5672455"/>
            <a:ext cx="2320290" cy="323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mixed bundling, the price of the bundle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47" i="1" b="1"/>
          </a:p>
        </p:txBody>
      </p:sp>
      <p:sp>
        <p:nvSpPr>
          <p:cNvPr id="799" name="Rect 3"/>
          <p:cNvSpPr>
            <a:spLocks noGrp="1" noChangeArrowheads="1"/>
          </p:cNvSpPr>
          <p:nvPr/>
        </p:nvSpPr>
        <p:spPr>
          <a:xfrm rot="0">
            <a:off x="3139440" y="5321935"/>
            <a:ext cx="2838450" cy="2447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 this example, consumers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798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than are consumers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 With 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1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 i="1" b="1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73935" y="2346960"/>
            <a:ext cx="2172970" cy="22313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Bundling in Practice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Automobile option packages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Vacation travel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Cable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Mixed Bundling in Practice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 of market surveys to determine reservation prices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Design a pricing strategy from the survey results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representative sample of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consumers. </a:t>
            </a:r>
            <a:endParaRPr lang="ko-KR" altLang="en-US" dirty="0" smtClean="0" sz="798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firm can first choose a price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is roughly maximized. </a:t>
            </a:r>
            <a:endParaRPr lang="ko-KR" altLang="en-US" dirty="0" smtClean="0" sz="798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Complete Dinner vs. a la Carte: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Restaurant’s Pricing Problem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Pricing to match consumer preferences for various selections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Mixed bundling allows the customer to get maximum utility from a given expenditure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allowing a greater number of choices.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Bundling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Tying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Practice of requiring a customer to purchase one good in order to purchase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Xerox machines and the paper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IBM mainframe and computer cards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Allows the seller to meter the customer and use a two-part tariff to discriminate against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heavy user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McDonald’s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Allows them to protect their brand name.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sets only one price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knows Q(P,A)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How quantity demanded depends on price and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176</a:t>
            </a:r>
            <a:endParaRPr lang="ko-KR" altLang="en-US" dirty="0" smtClean="0" sz="1200"/>
          </a:p>
        </p:txBody>
      </p:sp>
      <p:sp>
        <p:nvSpPr>
          <p:cNvPr id="802" name="Rect 3"/>
          <p:cNvSpPr>
            <a:spLocks noGrp="1" noChangeArrowheads="1"/>
          </p:cNvSpPr>
          <p:nvPr/>
        </p:nvSpPr>
        <p:spPr>
          <a:xfrm rot="0">
            <a:off x="3526790" y="2435225"/>
            <a:ext cx="2167890" cy="2200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dots are estimates of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reservation prices for a  </a:t>
            </a:r>
            <a:endParaRPr lang="ko-KR" altLang="en-US" dirty="0" smtClean="0" sz="798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for the bundle and then try individual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	and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until total profit </a:t>
            </a:r>
            <a:endParaRPr lang="ko-KR" altLang="en-US" dirty="0" smtClean="0" sz="798"/>
          </a:p>
          <a:p>
            <a:pPr marL="0" indent="0" defTabSz="15240" algn="l">
              <a:lnSpc>
                <a:spcPts val="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86840" y="6663055"/>
            <a:ext cx="1170305" cy="5422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31390" y="7291070"/>
            <a:ext cx="76200" cy="2222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25880" y="7287895"/>
            <a:ext cx="82550" cy="2317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89505" y="1889760"/>
            <a:ext cx="3420110" cy="21977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Effects of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AR and MR are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If the firm advertises, its average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average and marginal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marginal revenue curves shift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revenue when the firm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 the right -- average costs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doesn’t advertise.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rise, but marginal cost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does not.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endParaRPr lang="ko-KR" altLang="en-US" dirty="0" smtClean="0" sz="9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8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AC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’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AC 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</a:rPr>
              <a:t>0 </a:t>
            </a:r>
            <a:endParaRPr lang="ko-KR" altLang="en-US" dirty="0" smtClean="0" sz="798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AR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85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602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endParaRPr lang="ko-KR" altLang="en-US" dirty="0" smtClean="0" sz="1602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Choosing Price and Advertising Expenditure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Rule of Thumb for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A Q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Adv. elasticity of demand</a:t>
            </a:r>
            <a:endParaRPr lang="ko-KR" altLang="en-US" dirty="0" smtClean="0" sz="148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P MC 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48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A PQ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= −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481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maximize profit, the firm’s advertising-to-sales ratio should be equal to minus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 of the advertising and price elasticities of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R(Q) = $1 million/yr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$10,000 budget for A (advertising--1% of revenues)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.2 (increase budget $20,000, sales increase by 20%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-4 (markup price over MC is substantial)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the firm increase advertising?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177</a:t>
            </a:r>
            <a:endParaRPr lang="ko-KR" altLang="en-US" dirty="0" smtClean="0" sz="1200"/>
          </a:p>
        </p:txBody>
      </p:sp>
      <p:sp>
        <p:nvSpPr>
          <p:cNvPr id="805" name="Rect 3"/>
          <p:cNvSpPr>
            <a:spLocks noGrp="1" noChangeArrowheads="1"/>
          </p:cNvSpPr>
          <p:nvPr/>
        </p:nvSpPr>
        <p:spPr>
          <a:xfrm rot="0">
            <a:off x="4892040" y="5467985"/>
            <a:ext cx="1442720" cy="225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Times New Roman"/>
              </a:rPr>
              <a:t>full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602">
                <a:solidFill>
                  <a:srgbClr val="000000"/>
                </a:solidFill>
                <a:latin typeface="Times New Roman"/>
                <a:ea typeface="Times New Roman"/>
              </a:rPr>
              <a:t>adv.</a:t>
            </a:r>
            <a:endParaRPr lang="ko-KR" altLang="en-US" dirty="0" smtClean="0" sz="1602"/>
          </a:p>
        </p:txBody>
      </p:sp>
      <p:sp>
        <p:nvSpPr>
          <p:cNvPr id="806" name="Rect 3"/>
          <p:cNvSpPr>
            <a:spLocks noGrp="1" noChangeArrowheads="1"/>
          </p:cNvSpPr>
          <p:nvPr/>
        </p:nvSpPr>
        <p:spPr>
          <a:xfrm rot="0">
            <a:off x="4328160" y="5340350"/>
            <a:ext cx="299720" cy="514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602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602" i="1"/>
          </a:p>
        </p:txBody>
      </p:sp>
      <p:sp>
        <p:nvSpPr>
          <p:cNvPr id="807" name="Rect 3"/>
          <p:cNvSpPr>
            <a:spLocks noGrp="1" noChangeArrowheads="1"/>
          </p:cNvSpPr>
          <p:nvPr/>
        </p:nvSpPr>
        <p:spPr>
          <a:xfrm rot="0">
            <a:off x="3566160" y="5447030"/>
            <a:ext cx="1281430" cy="246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602"/>
          </a:p>
        </p:txBody>
      </p:sp>
      <p:sp>
        <p:nvSpPr>
          <p:cNvPr id="808" name="Rect 3"/>
          <p:cNvSpPr>
            <a:spLocks noGrp="1" noChangeArrowheads="1"/>
          </p:cNvSpPr>
          <p:nvPr/>
        </p:nvSpPr>
        <p:spPr>
          <a:xfrm rot="0">
            <a:off x="3023870" y="5318760"/>
            <a:ext cx="1436370" cy="536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602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Δ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1602" i="1"/>
          </a:p>
        </p:txBody>
      </p:sp>
      <p:sp>
        <p:nvSpPr>
          <p:cNvPr id="809" name="Rect 3"/>
          <p:cNvSpPr>
            <a:spLocks noGrp="1" noChangeArrowheads="1"/>
          </p:cNvSpPr>
          <p:nvPr/>
        </p:nvSpPr>
        <p:spPr>
          <a:xfrm rot="0">
            <a:off x="2322830" y="5447030"/>
            <a:ext cx="1579880" cy="205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602"/>
          </a:p>
          <a:p>
            <a:pPr marL="0" indent="0" defTabSz="15240" algn="l">
              <a:lnSpc>
                <a:spcPts val="1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81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481">
                <a:solidFill>
                  <a:srgbClr val="000000"/>
                </a:solidFill>
                <a:latin typeface="Times New Roman"/>
                <a:ea typeface="Times New Roman"/>
              </a:rPr>
              <a:t>Rule of Thumb</a:t>
            </a:r>
            <a:endParaRPr lang="ko-KR" altLang="en-US" dirty="0" smtClean="0" sz="1481"/>
          </a:p>
        </p:txBody>
      </p:sp>
      <p:sp>
        <p:nvSpPr>
          <p:cNvPr id="810" name="Rect 3"/>
          <p:cNvSpPr>
            <a:spLocks noGrp="1" noChangeArrowheads="1"/>
          </p:cNvSpPr>
          <p:nvPr/>
        </p:nvSpPr>
        <p:spPr>
          <a:xfrm rot="0">
            <a:off x="2148840" y="1883410"/>
            <a:ext cx="3820160" cy="5648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602" i="1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</a:rPr>
              <a:t>1 </a:t>
            </a:r>
            <a:endParaRPr lang="ko-KR" altLang="en-US" dirty="0" smtClean="0" sz="798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AR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’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’ 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98" b="1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endParaRPr lang="ko-KR" altLang="en-US" dirty="0" smtClean="0" sz="1602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934" i="1">
                <a:solidFill>
                  <a:srgbClr val="000000"/>
                </a:solidFill>
                <a:latin typeface="Times New Roman"/>
                <a:ea typeface="Times New Roman"/>
              </a:rPr>
              <a:t>Ads</a:t>
            </a:r>
            <a:endParaRPr lang="ko-KR" altLang="en-US" dirty="0" smtClean="0" sz="934" i="1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807" i="1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lang="ko-KR" altLang="en-US" dirty="0" smtClean="0" sz="807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481" i="1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lang="ko-KR" altLang="en-US" dirty="0" smtClean="0" sz="1481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807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80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07" i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80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807" i="1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YES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A/PQ = -(2/-.4) = 5%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budget to $50,000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large, do you advertise more or less?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large, do you advertise more or less?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Advertising: In Practice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Estimate the level of advertising for each of the firms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Supermarkets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Convenience stores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-5;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very small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Designer jeans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-3 to -4;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E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0.3 to 1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 Laundry detergents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-3 to -4;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E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large</a:t>
            </a:r>
            <a:endParaRPr lang="ko-KR" altLang="en-US" dirty="0" smtClean="0" sz="1097"/>
          </a:p>
          <a:p>
            <a:pPr marL="0" indent="0" defTabSz="15240" algn="l">
              <a:lnSpc>
                <a:spcPts val="4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178</a:t>
            </a:r>
            <a:endParaRPr lang="ko-KR" altLang="en-US" dirty="0" smtClean="0" sz="1200"/>
          </a:p>
        </p:txBody>
      </p:sp>
      <p:sp>
        <p:nvSpPr>
          <p:cNvPr id="813" name="Rect 3"/>
          <p:cNvSpPr>
            <a:spLocks noGrp="1" noChangeArrowheads="1"/>
          </p:cNvSpPr>
          <p:nvPr/>
        </p:nvSpPr>
        <p:spPr>
          <a:xfrm rot="0">
            <a:off x="3017520" y="2536190"/>
            <a:ext cx="1510030" cy="164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-10; 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0.1 to 0.3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72970" y="6132830"/>
            <a:ext cx="4036060" cy="19596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39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MONOPOLISTIC COMPETITION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Characteristics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Many firms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Free entry and exit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Differentiated product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amount of monopoly power depends on the degree of differentiation.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 of this very common market structure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Toothpaste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Soap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Cold remedies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Toothpaste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Brand J and monopoly power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 an MNC is the sole producer of Brand J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can have a preference for Brand J---taste, reputation, decay preventing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efficacy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greater the preference (differentiation) the higher the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Makings of Monopolistic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important characteristics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Differentiated but highly substitutable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Free entry and exit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Monopolistically Competitive Firm in the Short and Long 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 Run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AC 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SR </a:t>
            </a:r>
            <a:endParaRPr lang="ko-KR" altLang="en-US" dirty="0" smtClean="0" sz="6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LR</a:t>
            </a:r>
            <a:endParaRPr lang="ko-KR" altLang="en-US" dirty="0" smtClean="0" sz="55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SR</a:t>
            </a:r>
            <a:endParaRPr lang="ko-KR" altLang="en-US" dirty="0" smtClean="0" sz="55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55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SR</a:t>
            </a:r>
            <a:endParaRPr lang="ko-KR" altLang="en-US" dirty="0" smtClean="0" sz="55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SR </a:t>
            </a:r>
            <a:endParaRPr lang="ko-KR" altLang="en-US" dirty="0" smtClean="0" sz="55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(short-run)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demand--differentiated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is relatively elastic--good substitutes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 &lt; P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are maximized when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 = MC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179</a:t>
            </a:r>
            <a:endParaRPr lang="ko-KR" altLang="en-US" dirty="0" smtClean="0" sz="1200"/>
          </a:p>
        </p:txBody>
      </p:sp>
      <p:sp>
        <p:nvSpPr>
          <p:cNvPr id="816" name="Rect 3"/>
          <p:cNvSpPr>
            <a:spLocks noGrp="1" noChangeArrowheads="1"/>
          </p:cNvSpPr>
          <p:nvPr/>
        </p:nvSpPr>
        <p:spPr>
          <a:xfrm rot="0">
            <a:off x="5632450" y="6221095"/>
            <a:ext cx="223520" cy="12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MC </a:t>
            </a:r>
            <a:endParaRPr lang="ko-KR" altLang="en-US" dirty="0" smtClean="0" sz="852" b="1"/>
          </a:p>
        </p:txBody>
      </p:sp>
      <p:sp>
        <p:nvSpPr>
          <p:cNvPr id="817" name="Rect 3"/>
          <p:cNvSpPr>
            <a:spLocks noGrp="1" noChangeArrowheads="1"/>
          </p:cNvSpPr>
          <p:nvPr/>
        </p:nvSpPr>
        <p:spPr>
          <a:xfrm rot="0">
            <a:off x="3974465" y="6150610"/>
            <a:ext cx="2253615" cy="2066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49" b="1"/>
          </a:p>
        </p:txBody>
      </p:sp>
      <p:sp>
        <p:nvSpPr>
          <p:cNvPr id="818" name="Rect 3"/>
          <p:cNvSpPr>
            <a:spLocks noGrp="1" noChangeArrowheads="1"/>
          </p:cNvSpPr>
          <p:nvPr/>
        </p:nvSpPr>
        <p:spPr>
          <a:xfrm rot="0">
            <a:off x="3535680" y="6221095"/>
            <a:ext cx="2262505" cy="1999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852" b="1"/>
          </a:p>
          <a:p>
            <a:pPr marL="0" indent="0" defTabSz="15240" algn="l">
              <a:lnSpc>
                <a:spcPts val="1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55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49" b="1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40535" y="2993390"/>
            <a:ext cx="3940810" cy="19170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firm is making economic profits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(long-run)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will attract new firms to the industry   (no barriers to entry)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The old firm’s demand will decrease to D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70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Firm’s output and price will fall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Industry output will rise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 economic profit (P = AC)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&gt; MC -- some monopoly power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Monopolistically Competitive vs. Perfectly Competitive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Perfect Competition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Monopolistic Competition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$/Q</a:t>
            </a:r>
            <a:endParaRPr lang="ko-KR" altLang="en-US" dirty="0" smtClean="0" sz="749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85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749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551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55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LR</a:t>
            </a:r>
            <a:endParaRPr lang="ko-KR" altLang="en-US" dirty="0" smtClean="0" sz="55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Quantity </a:t>
            </a:r>
            <a:endParaRPr lang="ko-KR" altLang="en-US" dirty="0" smtClean="0" sz="749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Monopolistic Competition and Economic Efficiency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monopoly power (differentiation) yields a higher price than perfect competition.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was lowered to the point where MC = D, consumer surplus would increase by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shaded triangle.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no economic profits in the long run, the firm is still not producing at minimum AC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excess capacity exists.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If the market became competitive, what would happen to output and price?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Should monopolistic competition be regulated?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Monopolistic Competition in the Market for Colas and Coffee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markets for soft drinks and coffee illustrate the characteristics of monopolistic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competition. </a:t>
            </a:r>
            <a:endParaRPr lang="ko-KR" altLang="en-US" dirty="0" smtClean="0" sz="1097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180</a:t>
            </a:r>
            <a:endParaRPr lang="ko-KR" altLang="en-US" dirty="0" smtClean="0" sz="1200"/>
          </a:p>
        </p:txBody>
      </p:sp>
      <p:sp>
        <p:nvSpPr>
          <p:cNvPr id="821" name="Rect 3"/>
          <p:cNvSpPr>
            <a:spLocks noGrp="1" noChangeArrowheads="1"/>
          </p:cNvSpPr>
          <p:nvPr/>
        </p:nvSpPr>
        <p:spPr>
          <a:xfrm rot="0">
            <a:off x="5386070" y="3288665"/>
            <a:ext cx="210820" cy="12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AC </a:t>
            </a:r>
            <a:endParaRPr lang="ko-KR" altLang="en-US" dirty="0" smtClean="0" sz="852" b="1"/>
          </a:p>
        </p:txBody>
      </p:sp>
      <p:sp>
        <p:nvSpPr>
          <p:cNvPr id="822" name="Rect 3"/>
          <p:cNvSpPr>
            <a:spLocks noGrp="1" noChangeArrowheads="1"/>
          </p:cNvSpPr>
          <p:nvPr/>
        </p:nvSpPr>
        <p:spPr>
          <a:xfrm rot="0">
            <a:off x="3124200" y="3100070"/>
            <a:ext cx="1588770" cy="9537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Deadweight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loss </a:t>
            </a:r>
            <a:endParaRPr lang="ko-KR" altLang="en-US" dirty="0" smtClean="0" sz="900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 = </a:t>
            </a:r>
            <a:endParaRPr lang="ko-KR" altLang="en-US" dirty="0" smtClean="0" sz="852" b="1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of Demand for Brands of Colas and Coffee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Colas: Brand X -2.4 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Brand Y -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5.2 to -5.7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Ground Coffee: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Hills Brothers -7.1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Maxwell House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-8.9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Chase and Sanborn -5.6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Why is the demand for Brand X more price inelastic than for Brand Y?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Is there much monopoly power in these two markets?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Define the relationship between elasticity and monopoly power. </a:t>
            </a:r>
            <a:endParaRPr lang="ko-KR" altLang="en-US" dirty="0" smtClean="0" sz="1097"/>
          </a:p>
          <a:p>
            <a:pPr marL="0" indent="0" defTabSz="15240" algn="l">
              <a:lnSpc>
                <a:spcPts val="4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40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OLIGOPOLY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Characteristics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 number of firms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differentiation may or may not exist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Barriers to entry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Automobiles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Steel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Aluminum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Petrochemicals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Electrical equipment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Computers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barriers to entry are: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Natural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Scale economies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Patents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Name recognition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Strategic action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Flooding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Controlling an essential input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Management Challenges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Strategic actions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Rival behavior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are the possible rival responses to a 10% price cut by an automobile company?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Equilibrium in an Oligopolistic Market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perfect competition, monopoly, and monopolistic competition the producers did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to consider a rival’s response when choosing output and price.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oligopoly the producers must consider the response of competitors when choosing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and price.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Defining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doing the best they can and have no incentive to change their output or price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firms assume competitors are taking rival decisions into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Nash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firm is doing the best it can given what its competitors are doing.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Cournot Model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Duopoly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firms competing with each other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Homogenous good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0320" y="1603375"/>
            <a:ext cx="2399030" cy="22002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91130" y="4666615"/>
            <a:ext cx="2319655" cy="23285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output of the other firm is assumed to be fixed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Firm 1’s Output Decision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Firm 1 thinks Firm 2 will 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Firm 1 thinks Firm 2 will produce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50 units, its demand curve is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shifted to the left by this amount.  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Firm 1 thinks Firm 2 will produce </a:t>
            </a:r>
            <a:endParaRPr lang="ko-KR" altLang="en-US" dirty="0" smtClean="0" sz="798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(75) </a:t>
            </a:r>
            <a:endParaRPr lang="ko-KR" altLang="en-US" dirty="0" smtClean="0" sz="79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(75) </a:t>
            </a:r>
            <a:endParaRPr lang="ko-KR" altLang="en-US" dirty="0" smtClean="0" sz="798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(50)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(50) 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798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Reaction Curve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firm’s profit-maximizing output is a decreasing schedule of the expected output of Firm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100 </a:t>
            </a:r>
            <a:endParaRPr lang="ko-KR" altLang="en-US" dirty="0" smtClean="0" sz="9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2’s reaction curve shows how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75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 Q*2(Q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79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50 </a:t>
            </a:r>
            <a:r>
              <a:rPr lang="en-US" altLang="ko-KR" dirty="0" smtClean="0" sz="1247" b="1">
                <a:solidFill>
                  <a:srgbClr val="000000"/>
                </a:solidFill>
                <a:latin typeface="Arial"/>
              </a:rPr>
              <a:t>x </a:t>
            </a:r>
            <a:endParaRPr lang="ko-KR" altLang="en-US" dirty="0" smtClean="0" sz="124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Equilibrium</a:t>
            </a:r>
            <a:endParaRPr lang="ko-KR" altLang="en-US" dirty="0" smtClean="0" sz="85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25 </a:t>
            </a:r>
            <a:endParaRPr lang="ko-KR" altLang="en-US" dirty="0" smtClean="0" sz="94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 Q*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(Q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47" b="1">
                <a:solidFill>
                  <a:srgbClr val="000000"/>
                </a:solidFill>
                <a:latin typeface="Arial"/>
              </a:rPr>
              <a:t>x</a:t>
            </a:r>
            <a:endParaRPr lang="ko-KR" altLang="en-US" dirty="0" smtClean="0" sz="124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75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100</a:t>
            </a:r>
            <a:endParaRPr lang="ko-KR" altLang="en-US" dirty="0" smtClean="0" sz="85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Questions </a:t>
            </a:r>
            <a:endParaRPr lang="ko-KR" altLang="en-US" dirty="0" smtClean="0" sz="12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If the firms are not producing at the Cournot equilibrium, will they adjust until the Cournot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is reached?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When is it rational to assume that its competitor’s output is fixed?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linear Demand Curve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Example of the Cournot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Duopoly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demand is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30 -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Q1 + Q2 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MC1 = MC2 = 0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183</a:t>
            </a:r>
            <a:endParaRPr lang="ko-KR" altLang="en-US" dirty="0" smtClean="0" sz="1200"/>
          </a:p>
        </p:txBody>
      </p:sp>
      <p:sp>
        <p:nvSpPr>
          <p:cNvPr id="829" name="Rect 3"/>
          <p:cNvSpPr>
            <a:spLocks noGrp="1" noChangeArrowheads="1"/>
          </p:cNvSpPr>
          <p:nvPr/>
        </p:nvSpPr>
        <p:spPr>
          <a:xfrm rot="0">
            <a:off x="5273040" y="6556375"/>
            <a:ext cx="641350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own profits. </a:t>
            </a:r>
            <a:endParaRPr lang="ko-KR" altLang="en-US" dirty="0" smtClean="0" sz="900"/>
          </a:p>
        </p:txBody>
      </p:sp>
      <p:sp>
        <p:nvSpPr>
          <p:cNvPr id="830" name="Rect 3"/>
          <p:cNvSpPr>
            <a:spLocks noGrp="1" noChangeArrowheads="1"/>
          </p:cNvSpPr>
          <p:nvPr/>
        </p:nvSpPr>
        <p:spPr>
          <a:xfrm rot="0">
            <a:off x="3895090" y="1496695"/>
            <a:ext cx="2357120" cy="52914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produce nothing, its demand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curve. </a:t>
            </a:r>
            <a:endParaRPr lang="ko-KR" altLang="en-US" dirty="0" smtClean="0" sz="798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75 units, its demand curve is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shifted to the left by this amount.   </a:t>
            </a:r>
            <a:endParaRPr lang="ko-KR" altLang="en-US" dirty="0" smtClean="0" sz="798"/>
          </a:p>
          <a:p>
            <a:pPr marL="0" indent="0" defTabSz="15240" algn="l">
              <a:lnSpc>
                <a:spcPts val="20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how much </a:t>
            </a:r>
            <a:endParaRPr lang="ko-KR" altLang="en-US" dirty="0" smtClean="0" sz="900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each firm correctly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assumes how much its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competitors will produce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thereby maximize its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247" b="1">
                <a:solidFill>
                  <a:srgbClr val="000000"/>
                </a:solidFill>
                <a:latin typeface="Arial"/>
              </a:rPr>
              <a:t>x</a:t>
            </a:r>
            <a:endParaRPr lang="ko-KR" altLang="en-US" dirty="0" smtClean="0" sz="1247" b="1"/>
          </a:p>
        </p:txBody>
      </p:sp>
      <p:sp>
        <p:nvSpPr>
          <p:cNvPr id="831" name="Rect 3"/>
          <p:cNvSpPr>
            <a:spLocks noGrp="1" noChangeArrowheads="1"/>
          </p:cNvSpPr>
          <p:nvPr/>
        </p:nvSpPr>
        <p:spPr>
          <a:xfrm rot="0">
            <a:off x="2895600" y="1600200"/>
            <a:ext cx="3530600" cy="547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(0)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curve, D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(0), is the market  </a:t>
            </a:r>
            <a:endParaRPr lang="ko-KR" altLang="en-US" dirty="0" smtClean="0" sz="798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(0)</a:t>
            </a:r>
            <a:endParaRPr lang="ko-KR" altLang="en-US" dirty="0" smtClean="0" sz="798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4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What is the output of Firm 1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if Firm 2 produces 100 units?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b="1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1’s reaction curve shows how much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it will produce as a function of how much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it thinks Firm 2 will produce.  The x’s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correspond to the previous model. </a:t>
            </a:r>
            <a:endParaRPr lang="ko-KR" altLang="en-US" dirty="0" smtClean="0" sz="900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much itwill produce as a function of </a:t>
            </a:r>
            <a:endParaRPr lang="ko-KR" altLang="en-US" dirty="0" smtClean="0" sz="9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Firm 2’s Reaction </a:t>
            </a:r>
            <a:endParaRPr lang="ko-KR" altLang="en-US" dirty="0" smtClean="0" sz="798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Cournot equilibrium,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Arial"/>
              </a:rPr>
              <a:t>Cournot </a:t>
            </a:r>
            <a:endParaRPr lang="ko-KR" altLang="en-US" dirty="0" smtClean="0" sz="852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247" b="1">
                <a:solidFill>
                  <a:srgbClr val="000000"/>
                </a:solidFill>
                <a:latin typeface="Arial"/>
              </a:rPr>
              <a:t>x</a:t>
            </a:r>
            <a:endParaRPr lang="ko-KR" altLang="en-US" dirty="0" smtClean="0" sz="124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Firm 1’s Reaction </a:t>
            </a:r>
            <a:endParaRPr lang="ko-KR" altLang="en-US" dirty="0" smtClean="0" sz="798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b="1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62530" y="1188720"/>
            <a:ext cx="2060575" cy="20605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62530" y="4931410"/>
            <a:ext cx="2060575" cy="20605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Duopoly Example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2’s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Reaction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Curve</a:t>
            </a:r>
            <a:endParaRPr lang="ko-KR" altLang="en-US" dirty="0" smtClean="0" sz="900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1’s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Reaction</a:t>
            </a:r>
            <a:endParaRPr lang="ko-KR" altLang="en-US" dirty="0" smtClean="0" sz="90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749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Profit Maximization with Collusion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Collusion Curve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15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Shows all pairs of output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maximizes total profits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7.5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 output and higher profits than the Cournot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2’s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Reaction Curve</a:t>
            </a:r>
            <a:endParaRPr lang="ko-KR" altLang="en-US" dirty="0" smtClean="0" sz="900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8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85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1’s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Reaction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Curve</a:t>
            </a:r>
            <a:endParaRPr lang="ko-KR" altLang="en-US" dirty="0" smtClean="0" sz="749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749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749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First Mover Advantage- The Stackelberg Model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firm can set output first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demand is P = 30 - Q where Q = total output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1 sets output first and Firm 2 then makes an output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Firm 1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consider the reaction of Firm 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Firm 2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184</a:t>
            </a:r>
            <a:endParaRPr lang="ko-KR" altLang="en-US" dirty="0" smtClean="0" sz="1200"/>
          </a:p>
        </p:txBody>
      </p:sp>
      <p:sp>
        <p:nvSpPr>
          <p:cNvPr id="834" name="Rect 3"/>
          <p:cNvSpPr>
            <a:spLocks noGrp="1" noChangeArrowheads="1"/>
          </p:cNvSpPr>
          <p:nvPr/>
        </p:nvSpPr>
        <p:spPr>
          <a:xfrm rot="0">
            <a:off x="4580890" y="6903720"/>
            <a:ext cx="135255" cy="113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b="1"/>
          </a:p>
        </p:txBody>
      </p:sp>
      <p:sp>
        <p:nvSpPr>
          <p:cNvPr id="835" name="Rect 3"/>
          <p:cNvSpPr>
            <a:spLocks noGrp="1" noChangeArrowheads="1"/>
          </p:cNvSpPr>
          <p:nvPr/>
        </p:nvSpPr>
        <p:spPr>
          <a:xfrm rot="0">
            <a:off x="3343910" y="1283335"/>
            <a:ext cx="2103755" cy="57664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demand curve is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30 -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both firms have 0 marginal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cost.</a:t>
            </a:r>
            <a:endParaRPr lang="ko-KR" altLang="en-US" dirty="0" smtClean="0" sz="900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Cournot </a:t>
            </a:r>
            <a:endParaRPr lang="ko-KR" altLang="en-US" dirty="0" smtClean="0" sz="900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498" b="1"/>
          </a:p>
          <a:p>
            <a:pPr marL="0" indent="0" defTabSz="15240" algn="l">
              <a:lnSpc>
                <a:spcPts val="1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demand curve is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 =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30 -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both firms have 0 marginal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cost. </a:t>
            </a:r>
            <a:endParaRPr lang="ko-KR" altLang="en-US" dirty="0" smtClean="0" sz="900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Cournot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ilib i</a:t>
            </a:r>
            <a:endParaRPr lang="ko-KR" altLang="en-US" dirty="0" smtClean="0" sz="749" b="1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749" b="1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Takes Firm 1’s output as fixed and therefore determines output with the Cournot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reaction curve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Firm 1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Choose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so that: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283" i="1">
                <a:solidFill>
                  <a:srgbClr val="000000"/>
                </a:solidFill>
                <a:latin typeface="Times New Roman"/>
                <a:ea typeface="Times New Roman"/>
              </a:rPr>
              <a:t>MR  MC, MC  </a:t>
            </a:r>
            <a:endParaRPr lang="ko-KR" altLang="en-US" dirty="0" smtClean="0" sz="1283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283" i="1">
                <a:solidFill>
                  <a:srgbClr val="000000"/>
                </a:solidFill>
                <a:latin typeface="Times New Roman"/>
                <a:ea typeface="Times New Roman"/>
              </a:rPr>
              <a:t>R  PQ 30</a:t>
            </a:r>
            <a:endParaRPr lang="ko-KR" altLang="en-US" dirty="0" smtClean="0" sz="1283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69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69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69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69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699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699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699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Conclusion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1’s output is twice as large as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2’s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1’s profit is twice as large as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 2’s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Competition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Competition in an oligopolistic industry may occur with price instead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Bertrand Model is used to illustrate price competition in an oligopolistic industry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homogenous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Bertrand Model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Homogenous good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Market demand is P = 30 - Q where                  Q =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$3 for both firms and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$3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Cournot equilibrium: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$12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π for both firms = $81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the firms compete with price, not quantity.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will consumers respond to a price differential?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Nash equilibrium: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MC;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$3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27;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&amp;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13.5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997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π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Price Competition with Differentiated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shares are now determined not just by prices, but by differences in the design,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performance, and durability of each firm’s product.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Differentiated		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Assumptions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Duopoly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FC = $20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VC = 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Firm 1’s demand is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12 - 2P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70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Firm 2’s demand is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12 - 2P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+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70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prices firms 1 and 2 charge respectively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185</a:t>
            </a:r>
            <a:endParaRPr lang="ko-KR" altLang="en-US" dirty="0" smtClean="0" sz="1200"/>
          </a:p>
        </p:txBody>
      </p:sp>
      <p:sp>
        <p:nvSpPr>
          <p:cNvPr id="838" name="Rect 3"/>
          <p:cNvSpPr>
            <a:spLocks noGrp="1" noChangeArrowheads="1"/>
          </p:cNvSpPr>
          <p:nvPr/>
        </p:nvSpPr>
        <p:spPr>
          <a:xfrm rot="0">
            <a:off x="4123690" y="1380490"/>
            <a:ext cx="114300" cy="2012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83">
                <a:solidFill>
                  <a:srgbClr val="000000"/>
                </a:solidFill>
                <a:latin typeface="Symbol"/>
              </a:rPr>
              <a:t>=</a:t>
            </a:r>
            <a:endParaRPr lang="ko-KR" altLang="en-US" dirty="0" smtClean="0" sz="1283"/>
          </a:p>
        </p:txBody>
      </p:sp>
      <p:sp>
        <p:nvSpPr>
          <p:cNvPr id="839" name="Rect 3"/>
          <p:cNvSpPr>
            <a:spLocks noGrp="1" noChangeArrowheads="1"/>
          </p:cNvSpPr>
          <p:nvPr/>
        </p:nvSpPr>
        <p:spPr>
          <a:xfrm rot="0">
            <a:off x="3133090" y="1402080"/>
            <a:ext cx="1257300" cy="179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83">
                <a:solidFill>
                  <a:srgbClr val="000000"/>
                </a:solidFill>
                <a:latin typeface="Times New Roman"/>
              </a:rPr>
              <a:t>0 therefore MR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283">
                <a:solidFill>
                  <a:srgbClr val="000000"/>
                </a:solidFill>
                <a:latin typeface="Times New Roman"/>
                <a:ea typeface="Times New Roman"/>
              </a:rPr>
              <a:t> 0</a:t>
            </a:r>
            <a:endParaRPr lang="ko-KR" altLang="en-US" dirty="0" smtClean="0" sz="1283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31390" y="1466215"/>
            <a:ext cx="2331720" cy="20783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the resulting quantities they sell 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Nash Equilibrium in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Collusive Equilibrium </a:t>
            </a:r>
            <a:endParaRPr lang="ko-KR" altLang="en-US" dirty="0" smtClean="0" sz="798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$6 </a:t>
            </a:r>
            <a:endParaRPr lang="ko-KR" altLang="en-US" dirty="0" smtClean="0" sz="749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$4 </a:t>
            </a:r>
            <a:endParaRPr lang="ko-KR" altLang="en-US" dirty="0" smtClean="0" sz="749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Firm 1’s Reaction Curve </a:t>
            </a:r>
            <a:endParaRPr lang="ko-KR" altLang="en-US" dirty="0" smtClean="0" sz="798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Nash Equilibrium </a:t>
            </a:r>
            <a:endParaRPr lang="ko-KR" altLang="en-US" dirty="0" smtClean="0" sz="9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$4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$6 </a:t>
            </a:r>
            <a:endParaRPr lang="ko-KR" altLang="en-US" dirty="0" smtClean="0" sz="648" b="1"/>
          </a:p>
          <a:p>
            <a:pPr marL="0" indent="0" defTabSz="15240" algn="l">
              <a:lnSpc>
                <a:spcPts val="4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186</a:t>
            </a:r>
            <a:endParaRPr lang="ko-KR" altLang="en-US" dirty="0" smtClean="0" sz="1200"/>
          </a:p>
        </p:txBody>
      </p:sp>
      <p:sp>
        <p:nvSpPr>
          <p:cNvPr id="842" name="Rect 3"/>
          <p:cNvSpPr>
            <a:spLocks noGrp="1" noChangeArrowheads="1"/>
          </p:cNvSpPr>
          <p:nvPr/>
        </p:nvSpPr>
        <p:spPr>
          <a:xfrm rot="0">
            <a:off x="2587625" y="1475105"/>
            <a:ext cx="2162175" cy="2094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Firm 2’s Reaction Curve </a:t>
            </a:r>
            <a:endParaRPr lang="ko-KR" altLang="en-US" dirty="0" smtClean="0" sz="900" b="1"/>
          </a:p>
          <a:p>
            <a:pPr marL="0" indent="0" defTabSz="15240" algn="l">
              <a:lnSpc>
                <a:spcPts val="1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551" b="1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4535" y="5928360"/>
            <a:ext cx="2687955" cy="231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Lesson 41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Competition Versus Collusion: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Prisoners’ Dilemma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Why wouldn’t each firm set the collusion price independently and earn the higher profits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occur with explicit collusion?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Assume: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FC</a:t>
            </a:r>
            <a:endParaRPr lang="ko-KR" altLang="en-US" dirty="0" smtClean="0" sz="1302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Firm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1'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Demand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302" i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Firm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2'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Demand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30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Nash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Equilibrim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lang="ko-KR" altLang="en-US" dirty="0" smtClean="0" sz="130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Collusion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lang="ko-KR" altLang="en-US" dirty="0" smtClean="0" sz="1302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Possible Pricing Outcomes: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Firm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Firm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$16</a:t>
            </a:r>
            <a:endParaRPr lang="ko-KR" altLang="en-US" dirty="0" smtClean="0" sz="121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121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endParaRPr lang="ko-KR" altLang="en-US" dirty="0" smtClean="0" sz="121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1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217" i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+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$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121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Payoff Matrix for Pricing Game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Firm 2 </a:t>
            </a:r>
            <a:endParaRPr lang="ko-KR" altLang="en-US" dirty="0" smtClean="0" sz="105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$6 </a:t>
            </a:r>
            <a:endParaRPr lang="ko-KR" altLang="en-US" dirty="0" smtClean="0" sz="1050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$4 </a:t>
            </a:r>
            <a:endParaRPr lang="ko-KR" altLang="en-US" dirty="0" smtClean="0" sz="105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Firm 1 </a:t>
            </a:r>
            <a:endParaRPr lang="ko-KR" altLang="en-US" dirty="0" smtClean="0" sz="105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$4,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$16, </a:t>
            </a:r>
            <a:endParaRPr lang="ko-KR" altLang="en-US" dirty="0" smtClean="0" sz="1302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These two firms are playing a non co-operative game.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firm independently does the best it can taking its competitor into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Why will both firms both choose $4 when $6 will yield higher profits?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An example in game theory, called the Prisoners’ Dilemma, illustrates the problem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oligopolistic firms face.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187</a:t>
            </a:r>
            <a:endParaRPr lang="ko-KR" altLang="en-US" dirty="0" smtClean="0" sz="1200"/>
          </a:p>
        </p:txBody>
      </p:sp>
      <p:sp>
        <p:nvSpPr>
          <p:cNvPr id="845" name="Rect 3"/>
          <p:cNvSpPr>
            <a:spLocks noGrp="1" noChangeArrowheads="1"/>
          </p:cNvSpPr>
          <p:nvPr/>
        </p:nvSpPr>
        <p:spPr>
          <a:xfrm rot="0">
            <a:off x="2462530" y="4380230"/>
            <a:ext cx="297180" cy="1885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17">
                <a:solidFill>
                  <a:srgbClr val="000000"/>
                </a:solidFill>
                <a:latin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17"/>
          </a:p>
        </p:txBody>
      </p:sp>
      <p:sp>
        <p:nvSpPr>
          <p:cNvPr id="846" name="Rect 3"/>
          <p:cNvSpPr>
            <a:spLocks noGrp="1" noChangeArrowheads="1"/>
          </p:cNvSpPr>
          <p:nvPr/>
        </p:nvSpPr>
        <p:spPr>
          <a:xfrm rot="0">
            <a:off x="2322830" y="2225040"/>
            <a:ext cx="2091690" cy="25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421">
                <a:solidFill>
                  <a:srgbClr val="000000"/>
                </a:solidFill>
                <a:latin typeface="Symbol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421">
                <a:solidFill>
                  <a:srgbClr val="000000"/>
                </a:solidFill>
                <a:latin typeface="Symbol"/>
                <a:ea typeface="Symbol"/>
              </a:rPr>
              <a:t>]</a:t>
            </a:r>
            <a:endParaRPr lang="ko-KR" altLang="en-US" dirty="0" smtClean="0" sz="1421"/>
          </a:p>
        </p:txBody>
      </p:sp>
      <p:sp>
        <p:nvSpPr>
          <p:cNvPr id="847" name="Rect 3"/>
          <p:cNvSpPr>
            <a:spLocks noGrp="1" noChangeArrowheads="1"/>
          </p:cNvSpPr>
          <p:nvPr/>
        </p:nvSpPr>
        <p:spPr>
          <a:xfrm rot="0">
            <a:off x="2212975" y="2197735"/>
            <a:ext cx="3046095" cy="2840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02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302"/>
          </a:p>
          <a:p>
            <a:pPr marL="0" indent="0" defTabSz="15240" algn="l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1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71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1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217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17"/>
          </a:p>
        </p:txBody>
      </p:sp>
      <p:sp>
        <p:nvSpPr>
          <p:cNvPr id="848" name="Rect 3"/>
          <p:cNvSpPr>
            <a:spLocks noGrp="1" noChangeArrowheads="1"/>
          </p:cNvSpPr>
          <p:nvPr/>
        </p:nvSpPr>
        <p:spPr>
          <a:xfrm rot="0">
            <a:off x="2005330" y="2225040"/>
            <a:ext cx="3448685" cy="30568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302">
                <a:solidFill>
                  <a:srgbClr val="000000"/>
                </a:solidFill>
                <a:latin typeface="Times New Roman"/>
                <a:ea typeface="Times New Roman"/>
              </a:rPr>
              <a:t>VC</a:t>
            </a:r>
            <a:endParaRPr lang="ko-KR" altLang="en-US" dirty="0" smtClean="0" sz="13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302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endParaRPr lang="ko-KR" altLang="en-US" dirty="0" smtClean="0" sz="1302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98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217" i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71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1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421">
                <a:solidFill>
                  <a:srgbClr val="000000"/>
                </a:solidFill>
                <a:latin typeface="Symbol"/>
                <a:ea typeface="Symbol"/>
              </a:rPr>
              <a:t>[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421">
                <a:solidFill>
                  <a:srgbClr val="000000"/>
                </a:solidFill>
                <a:latin typeface="Symbol"/>
                <a:ea typeface="Symbol"/>
              </a:rPr>
              <a:t>]</a:t>
            </a:r>
            <a:endParaRPr lang="ko-KR" altLang="en-US" dirty="0" smtClean="0" sz="1421"/>
          </a:p>
        </p:txBody>
      </p:sp>
      <p:sp>
        <p:nvSpPr>
          <p:cNvPr id="849" name="Rect 3"/>
          <p:cNvSpPr>
            <a:spLocks noGrp="1" noChangeArrowheads="1"/>
          </p:cNvSpPr>
          <p:nvPr/>
        </p:nvSpPr>
        <p:spPr>
          <a:xfrm rot="0">
            <a:off x="1905000" y="2197735"/>
            <a:ext cx="3408680" cy="464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0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+</a:t>
            </a:r>
            <a:endParaRPr lang="ko-KR" altLang="en-US" dirty="0" smtClean="0" sz="130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−</a:t>
            </a:r>
            <a:endParaRPr lang="ko-KR" altLang="en-US" dirty="0" smtClean="0" sz="130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02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302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302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217">
                <a:solidFill>
                  <a:srgbClr val="000000"/>
                </a:solidFill>
                <a:latin typeface="Symbol"/>
                <a:ea typeface="Symbol"/>
              </a:rPr>
              <a:t>=</a:t>
            </a:r>
            <a:endParaRPr lang="ko-KR" altLang="en-US" dirty="0" smtClean="0" sz="121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1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71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217" i="1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endParaRPr lang="ko-KR" altLang="en-US" dirty="0" smtClean="0" sz="1217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71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710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$12,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$20, </a:t>
            </a:r>
            <a:endParaRPr lang="ko-KR" altLang="en-US" dirty="0" smtClean="0" sz="1302" b="1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07335" y="2371090"/>
            <a:ext cx="2687955" cy="22009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Scenario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prisoners have been accused of collaborating in a crime.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are in separate jail cells and cannot communicate.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has been asked to confess to the crime.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Payoff Matrix for Prisoners’ Dilemma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Payoff Matrix for Pricing Game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Firm 2 </a:t>
            </a:r>
            <a:endParaRPr lang="ko-KR" altLang="en-US" dirty="0" smtClean="0" sz="105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$6</a:t>
            </a:r>
            <a:endParaRPr lang="ko-KR" altLang="en-US" dirty="0" smtClean="0" sz="1050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$4 </a:t>
            </a:r>
            <a:endParaRPr lang="ko-KR" altLang="en-US" dirty="0" smtClean="0" sz="105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Firm 1 </a:t>
            </a:r>
            <a:endParaRPr lang="ko-KR" altLang="en-US" dirty="0" smtClean="0" sz="105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Charge $6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$4,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$16, </a:t>
            </a:r>
            <a:endParaRPr lang="ko-KR" altLang="en-US" dirty="0" smtClean="0" sz="1302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Conclusions: Oligipolistic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Collusion will lead to greater profits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Explicit and implicit collusion is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Once collusion exists, the profit motive to break and lower price is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significant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Implications of the Prisoners’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Dilemma for Oligipolistic Pricing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of Oligopoly Behavior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In some oligopoly markets, pricing behavior in time can create a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predictable pricing environment and implied collusion may occur.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of Oligopoly Behavior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In other oligopoly markets, the firms are very aggressive and collusion is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possible.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are reluctant to change price because of the likely response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competitors.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this case prices tend to be relatively rigid.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188</a:t>
            </a:r>
            <a:endParaRPr lang="ko-KR" altLang="en-US" dirty="0" smtClean="0" sz="1200"/>
          </a:p>
        </p:txBody>
      </p:sp>
      <p:sp>
        <p:nvSpPr>
          <p:cNvPr id="852" name="Rect 3"/>
          <p:cNvSpPr>
            <a:spLocks noGrp="1" noChangeArrowheads="1"/>
          </p:cNvSpPr>
          <p:nvPr/>
        </p:nvSpPr>
        <p:spPr>
          <a:xfrm rot="0">
            <a:off x="3154680" y="3117850"/>
            <a:ext cx="1701800" cy="186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302" b="1">
                <a:solidFill>
                  <a:srgbClr val="000000"/>
                </a:solidFill>
                <a:latin typeface="Arial"/>
              </a:rPr>
              <a:t>$12, </a:t>
            </a:r>
            <a:endParaRPr lang="ko-KR" altLang="en-US" dirty="0" smtClean="0" sz="1302" b="1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4665" y="1112520"/>
            <a:ext cx="2456815" cy="26428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8320" y="4035425"/>
            <a:ext cx="2438400" cy="25723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endParaRPr lang="ko-KR" altLang="en-US" dirty="0" smtClean="0" sz="18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Kinked Demand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the producer raises price the 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demand will be elastic. </a:t>
            </a:r>
            <a:endParaRPr lang="ko-KR" altLang="en-US" dirty="0" smtClean="0" sz="798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If the producer lowers price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competitors will follow and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will be inelastic.</a:t>
            </a:r>
            <a:endParaRPr lang="ko-KR" altLang="en-US" dirty="0" smtClean="0" sz="798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900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$/Q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So long as marginal cost is in the </a:t>
            </a:r>
            <a:endParaRPr lang="ko-KR" altLang="en-US" dirty="0" smtClean="0" sz="90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revenue curve, price and output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will remain constant.</a:t>
            </a:r>
            <a:endParaRPr lang="ko-KR" altLang="en-US" dirty="0" smtClean="0" sz="90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1002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Q*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1002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SIGNALING &amp; PRICE LEADERSHIP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Signaling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Implicit collusion in which a firm announces a price increase in the hope that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will follow suit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Leadership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Pattern of pricing in which one firm regularly announces price changes that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then match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Dominant Firm Model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some oligopolistic markets, one large firm has a major share of total sales, and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group of smaller firms supplies the remainder of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large firm might then act as the dominant firm, setting a price that maximized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own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189</a:t>
            </a:r>
            <a:endParaRPr lang="ko-KR" altLang="en-US" dirty="0" smtClean="0" sz="1200"/>
          </a:p>
        </p:txBody>
      </p:sp>
      <p:sp>
        <p:nvSpPr>
          <p:cNvPr id="855" name="Rect 3"/>
          <p:cNvSpPr>
            <a:spLocks noGrp="1" noChangeArrowheads="1"/>
          </p:cNvSpPr>
          <p:nvPr/>
        </p:nvSpPr>
        <p:spPr>
          <a:xfrm rot="0">
            <a:off x="2480945" y="1341120"/>
            <a:ext cx="1982470" cy="3191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competitors will not and the </a:t>
            </a:r>
            <a:endParaRPr lang="ko-KR" altLang="en-US" dirty="0" smtClean="0" sz="798"/>
          </a:p>
          <a:p>
            <a:pPr marL="0" indent="0" defTabSz="15240" algn="l">
              <a:lnSpc>
                <a:spcPts val="2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vertical region of the marginal </a:t>
            </a:r>
            <a:endParaRPr lang="ko-KR" altLang="en-US" dirty="0" smtClean="0" sz="90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’</a:t>
            </a:r>
            <a:endParaRPr lang="ko-KR" altLang="en-US" dirty="0" smtClean="0" sz="1002" i="1" b="1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015" y="1347470"/>
            <a:ext cx="2182495" cy="23374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Setting by a Dominant Firm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market demand (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D)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and the 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supply of the fringe firms (S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).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D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CARTELS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Characteristics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Explicit agreements to set output and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May not include all firms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Most often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of successful cartels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OPEC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Bauxite Association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of unsuccessful cartels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Copper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Coffee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Tea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Cocoa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4) Conditions for success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Competitive alternative sufficiently deters cheating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Potential of monopoly power--inelastic demand </a:t>
            </a:r>
            <a:endParaRPr lang="ko-KR" altLang="en-US" dirty="0" smtClean="0" sz="1097"/>
          </a:p>
          <a:p>
            <a:pPr marL="0" indent="0" defTabSz="15240"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190</a:t>
            </a:r>
            <a:endParaRPr lang="ko-KR" altLang="en-US" dirty="0" smtClean="0" sz="1200"/>
          </a:p>
        </p:txBody>
      </p:sp>
      <p:sp>
        <p:nvSpPr>
          <p:cNvPr id="858" name="Rect 3"/>
          <p:cNvSpPr>
            <a:spLocks noGrp="1" noChangeArrowheads="1"/>
          </p:cNvSpPr>
          <p:nvPr/>
        </p:nvSpPr>
        <p:spPr>
          <a:xfrm rot="0">
            <a:off x="3870960" y="1307465"/>
            <a:ext cx="1503680" cy="2313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dominant firm’s demand </a:t>
            </a:r>
            <a:endParaRPr lang="ko-KR" altLang="en-US" dirty="0" smtClean="0" sz="900"/>
          </a:p>
          <a:p>
            <a:pPr marL="0" indent="0" defTabSz="15240" algn="l">
              <a:lnSpc>
                <a:spcPts val="1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798" b="1"/>
          </a:p>
        </p:txBody>
      </p:sp>
      <p:sp>
        <p:nvSpPr>
          <p:cNvPr id="859" name="Rect 3"/>
          <p:cNvSpPr>
            <a:spLocks noGrp="1" noChangeArrowheads="1"/>
          </p:cNvSpPr>
          <p:nvPr/>
        </p:nvSpPr>
        <p:spPr>
          <a:xfrm rot="0">
            <a:off x="3410585" y="1286510"/>
            <a:ext cx="2031365" cy="23069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F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curve is the difference between </a:t>
            </a:r>
            <a:endParaRPr lang="ko-KR" altLang="en-US" dirty="0" smtClean="0" sz="900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MC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At this price, fringe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firms sell Q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, so that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total sales are Q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900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900" i="1" b="1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32050" y="1337945"/>
            <a:ext cx="2554605" cy="25057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47290" y="5681345"/>
            <a:ext cx="2661285" cy="26092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OPEC Oil Cartel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02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 for oil, and S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is the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Competitive supply.  OPEC’s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is the difference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between the two. </a:t>
            </a:r>
            <a:endParaRPr lang="ko-KR" altLang="en-US" dirty="0" smtClean="0" sz="798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OPEC’s profits maximizing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MC curves.  At this quantity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OPEC charges price P*. </a:t>
            </a:r>
            <a:endParaRPr lang="ko-KR" altLang="en-US" dirty="0" smtClean="0" sz="7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OPEC</a:t>
            </a:r>
            <a:endParaRPr lang="ko-KR" altLang="en-US" dirty="0" smtClean="0" sz="6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OPEC</a:t>
            </a:r>
            <a:endParaRPr lang="ko-KR" altLang="en-US" dirty="0" smtClean="0" sz="6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OPEC</a:t>
            </a:r>
            <a:endParaRPr lang="ko-KR" altLang="en-US" dirty="0" smtClean="0" sz="6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OPEC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Cartels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About OPEC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low MC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TD is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Non-OPEC supply is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OPEC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relatively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The OPEC Oil Cartel 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5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Competitive price (P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) where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 D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OPEC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= MC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OPEC</a:t>
            </a:r>
            <a:endParaRPr lang="ko-KR" altLang="en-US" dirty="0" smtClean="0" sz="498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OPEC </a:t>
            </a:r>
            <a:endParaRPr lang="ko-KR" altLang="en-US" dirty="0" smtClean="0" sz="6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OPEC </a:t>
            </a:r>
            <a:endParaRPr lang="ko-KR" altLang="en-US" dirty="0" smtClean="0" sz="6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OPEC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947" b="1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191</a:t>
            </a:r>
            <a:endParaRPr lang="ko-KR" altLang="en-US" dirty="0" smtClean="0" sz="1200"/>
          </a:p>
        </p:txBody>
      </p:sp>
      <p:sp>
        <p:nvSpPr>
          <p:cNvPr id="862" name="Rect 3"/>
          <p:cNvSpPr>
            <a:spLocks noGrp="1" noChangeArrowheads="1"/>
          </p:cNvSpPr>
          <p:nvPr/>
        </p:nvSpPr>
        <p:spPr>
          <a:xfrm rot="0">
            <a:off x="4468495" y="1429385"/>
            <a:ext cx="1344930" cy="116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TD is the total world demand </a:t>
            </a:r>
            <a:endParaRPr lang="ko-KR" altLang="en-US" dirty="0" smtClean="0" sz="798"/>
          </a:p>
        </p:txBody>
      </p:sp>
      <p:sp>
        <p:nvSpPr>
          <p:cNvPr id="863" name="Rect 3"/>
          <p:cNvSpPr>
            <a:spLocks noGrp="1" noChangeArrowheads="1"/>
          </p:cNvSpPr>
          <p:nvPr/>
        </p:nvSpPr>
        <p:spPr>
          <a:xfrm rot="0">
            <a:off x="3349625" y="1301750"/>
            <a:ext cx="2671445" cy="6479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TD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quantity is found at the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intersection of its MR and </a:t>
            </a:r>
            <a:endParaRPr lang="ko-KR" altLang="en-US" dirty="0" smtClean="0" sz="798"/>
          </a:p>
          <a:p>
            <a:pPr marL="0" indent="0" defTabSz="15240" algn="l">
              <a:lnSpc>
                <a:spcPts val="2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TD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price without the cartel: </a:t>
            </a:r>
            <a:endParaRPr lang="ko-KR" altLang="en-US" dirty="0" smtClean="0" sz="798"/>
          </a:p>
          <a:p>
            <a:pPr marL="0" indent="0" defTabSz="15240" algn="l">
              <a:lnSpc>
                <a:spcPts val="1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OPEC </a:t>
            </a:r>
            <a:endParaRPr lang="ko-KR" altLang="en-US" dirty="0" smtClean="0" sz="600" b="1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14855" y="1240790"/>
            <a:ext cx="2797810" cy="27216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CIPEC Copper Cartel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5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152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CIPEC has little monopoly power</a:t>
            </a:r>
            <a:endParaRPr lang="ko-KR" altLang="en-US" dirty="0" smtClean="0" sz="9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5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15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CIPEC </a:t>
            </a:r>
            <a:endParaRPr lang="ko-KR" altLang="en-US" dirty="0" smtClean="0" sz="6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P*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CIPEC </a:t>
            </a:r>
            <a:endParaRPr lang="ko-KR" altLang="en-US" dirty="0" smtClean="0" sz="600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CIPEC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T</a:t>
            </a:r>
            <a:endParaRPr lang="ko-KR" altLang="en-US" dirty="0" smtClean="0" sz="64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Cartels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be successful: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demand must not be very price elastic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Either the cartel must control nearly all of the world’s supply or the supply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noncartel producers must not be price elastic. </a:t>
            </a:r>
            <a:endParaRPr lang="ko-KR" altLang="en-US" dirty="0" smtClean="0" sz="1097"/>
          </a:p>
          <a:p>
            <a:pPr marL="0" indent="0" defTabSz="15240" algn="l">
              <a:lnSpc>
                <a:spcPts val="3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192</a:t>
            </a:r>
            <a:endParaRPr lang="ko-KR" altLang="en-US" dirty="0" smtClean="0" sz="1200"/>
          </a:p>
        </p:txBody>
      </p:sp>
      <p:sp>
        <p:nvSpPr>
          <p:cNvPr id="866" name="Rect 3"/>
          <p:cNvSpPr>
            <a:spLocks noGrp="1" noChangeArrowheads="1"/>
          </p:cNvSpPr>
          <p:nvPr/>
        </p:nvSpPr>
        <p:spPr>
          <a:xfrm rot="0">
            <a:off x="3456305" y="1057910"/>
            <a:ext cx="1701800" cy="4292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TD and S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are relatively elastic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>
                <a:solidFill>
                  <a:srgbClr val="000000"/>
                </a:solidFill>
                <a:latin typeface="Arial"/>
              </a:rPr>
              <a:t>CIPEC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is elastic </a:t>
            </a:r>
            <a:endParaRPr lang="ko-KR" altLang="en-US" dirty="0" smtClean="0" sz="900"/>
          </a:p>
        </p:txBody>
      </p:sp>
      <p:sp>
        <p:nvSpPr>
          <p:cNvPr id="867" name="Rect 3"/>
          <p:cNvSpPr>
            <a:spLocks noGrp="1" noChangeArrowheads="1"/>
          </p:cNvSpPr>
          <p:nvPr/>
        </p:nvSpPr>
        <p:spPr>
          <a:xfrm rot="0">
            <a:off x="2277110" y="1258570"/>
            <a:ext cx="2545715" cy="2849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TD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CIPEC </a:t>
            </a:r>
            <a:endParaRPr lang="ko-KR" altLang="en-US" dirty="0" smtClean="0" sz="600" b="1"/>
          </a:p>
          <a:p>
            <a:pPr marL="0" indent="0" defTabSz="15240" algn="l">
              <a:lnSpc>
                <a:spcPts val="1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Quantity</a:t>
            </a:r>
            <a:endParaRPr lang="ko-KR" altLang="en-US" dirty="0" smtClean="0" sz="1002" b="1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64790" y="6684010"/>
            <a:ext cx="2432050" cy="18688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endParaRPr lang="ko-KR" altLang="en-US" dirty="0" smtClean="0" sz="180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42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COMPETITIVE FACTOR MARKETS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Characteristics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1) Large number of sellers of the factor of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2) Large number of buyers of the factor of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3) The buyers and sellers of the factor of production are price takers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Demand for a Factor Input When Only One Input Is Variable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factor inputs is a derived demand…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Derived from factor cost and output demand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inputs: Capital (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K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and Labor (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L)</a:t>
            </a:r>
            <a:endParaRPr lang="ko-KR" altLang="en-US" dirty="0" smtClean="0" sz="1097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K is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r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cost of labor is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 </a:t>
            </a:r>
            <a:endParaRPr lang="ko-KR" altLang="en-US" dirty="0" smtClean="0" sz="1097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 is fixed and L is variable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much labor to hire?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Measuring the Value of a Worker’s Output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Revenue Product of Labor (MRP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(MP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)(MR)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perfect competition in the product market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MR = P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will happen to the value of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when more workers are hired?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Revenue Product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Wages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Competitive Output Market (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P = MR)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hour) </a:t>
            </a:r>
            <a:endParaRPr lang="ko-KR" altLang="en-US" dirty="0" smtClean="0" sz="900" b="1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Monopolistic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Output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Market </a:t>
            </a:r>
            <a:endParaRPr lang="ko-KR" altLang="en-US" dirty="0" smtClean="0" sz="9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Hours of Work </a:t>
            </a:r>
            <a:endParaRPr lang="ko-KR" altLang="en-US" dirty="0" smtClean="0" sz="9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Choosing the profit-maximizing amount of labor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&gt;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(the marginal cost of hiring a worker): hire the worker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193</a:t>
            </a:r>
            <a:endParaRPr lang="ko-KR" altLang="en-US" dirty="0" smtClean="0" sz="1200"/>
          </a:p>
        </p:txBody>
      </p:sp>
      <p:sp>
        <p:nvSpPr>
          <p:cNvPr id="870" name="Rect 3"/>
          <p:cNvSpPr>
            <a:spLocks noGrp="1" noChangeArrowheads="1"/>
          </p:cNvSpPr>
          <p:nvPr/>
        </p:nvSpPr>
        <p:spPr>
          <a:xfrm rot="0">
            <a:off x="4154170" y="890270"/>
            <a:ext cx="2113280" cy="7485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endParaRPr lang="ko-KR" altLang="en-US" dirty="0" smtClean="0" sz="1800"/>
          </a:p>
          <a:p>
            <a:pPr marL="0" indent="0" defTabSz="15240" algn="l">
              <a:lnSpc>
                <a:spcPts val="5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MP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	P 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= MP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x MR</a:t>
            </a:r>
            <a:endParaRPr lang="ko-KR" altLang="en-US" dirty="0" smtClean="0" sz="1002" b="1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33270" y="1737360"/>
            <a:ext cx="2392680" cy="23590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98065" y="6529070"/>
            <a:ext cx="2298065" cy="22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&lt;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hire less labor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profit maximizing amount of labor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Hiring by a Firm in the Labor Market (with Capital Fixed)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 a competitive labor market, a  </a:t>
            </a:r>
            <a:endParaRPr lang="ko-KR" altLang="en-US" dirty="0" smtClean="0" sz="90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90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hire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L* 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units of labor at the point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 where the marginal revenue product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of labor is equal to the wage rate. </a:t>
            </a:r>
            <a:endParaRPr lang="ko-KR" altLang="en-US" dirty="0" smtClean="0" sz="9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Why not hire fewer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or more workers than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L*.</a:t>
            </a:r>
            <a:endParaRPr lang="ko-KR" altLang="en-US" dirty="0" smtClean="0" sz="900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 = </a:t>
            </a:r>
            <a:endParaRPr lang="ko-KR" altLang="en-US" dirty="0" smtClean="0" sz="1002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 of Labor</a:t>
            </a:r>
            <a:endParaRPr lang="ko-KR" altLang="en-US" dirty="0" smtClean="0" sz="900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Competitive Factor Markets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Demand for a Factor Input When Only One Input Is Variable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market supply of labor increased relative to demand (baby boomers or female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entry), a surplus of labor would exist and the wage rate would fall.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would this impact the quantity demanded for labor?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Shift in the Supply of Labor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900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= 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498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194</a:t>
            </a:r>
            <a:endParaRPr lang="ko-KR" altLang="en-US" dirty="0" smtClean="0" sz="1200"/>
          </a:p>
        </p:txBody>
      </p:sp>
      <p:sp>
        <p:nvSpPr>
          <p:cNvPr id="873" name="Rect 3"/>
          <p:cNvSpPr>
            <a:spLocks noGrp="1" noChangeArrowheads="1"/>
          </p:cNvSpPr>
          <p:nvPr/>
        </p:nvSpPr>
        <p:spPr>
          <a:xfrm rot="0">
            <a:off x="2355850" y="1691640"/>
            <a:ext cx="3296285" cy="7181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firm faces a perfectly elastic supply of labor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and can hire as many workers as it wants at 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w*. </a:t>
            </a:r>
            <a:endParaRPr lang="ko-KR" altLang="en-US" dirty="0" smtClean="0" sz="900" i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The profit maximizing firm will </a:t>
            </a:r>
            <a:endParaRPr lang="ko-KR" altLang="en-US" dirty="0" smtClean="0" sz="900"/>
          </a:p>
          <a:p>
            <a:pPr marL="0" indent="0" defTabSz="15240" algn="l">
              <a:lnSpc>
                <a:spcPts val="4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Quantity of Labor 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99615" y="2091055"/>
            <a:ext cx="493395" cy="4019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77440" y="5218430"/>
            <a:ext cx="2843530" cy="23374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Comparing Input and Output Markets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MRP</a:t>
            </a:r>
            <a:endParaRPr lang="ko-KR" altLang="en-US" dirty="0" smtClean="0" sz="119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profit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maximizing</a:t>
            </a:r>
            <a:endParaRPr lang="ko-KR" altLang="en-US" dirty="0" smtClean="0" sz="119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number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 workers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MRP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93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endParaRPr lang="ko-KR" altLang="en-US" dirty="0" smtClean="0" sz="1193" i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(MP</a:t>
            </a:r>
            <a:endParaRPr lang="ko-KR" altLang="en-US" dirty="0" smtClean="0" sz="119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93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endParaRPr lang="ko-KR" altLang="en-US" dirty="0" smtClean="0" sz="119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both markets, input and output choices occur where MR = MC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from the sale of the output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from the purchase of the input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Demand for a Factor Input When Several Inputs Are Variable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Scenario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Producing farm equipment with two variable inputs: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Assembly-line machinery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the wage rate falls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will the decrease in the wage rate impact the demand for labor?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Firm’s Demand Curve for Labor (with Variable Capital)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When two or more inputs are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Wages </a:t>
            </a:r>
            <a:endParaRPr lang="ko-KR" altLang="en-US" dirty="0" smtClean="0" sz="852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($ 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input depends on the marginal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hour)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revenue product of both inputs.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When the wage rate is $20, A 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represents one point on the firm’s </a:t>
            </a:r>
            <a:endParaRPr lang="ko-KR" altLang="en-US" dirty="0" smtClean="0" sz="90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demand for labor curve.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02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point C on the firm’s demand for </a:t>
            </a:r>
            <a:endParaRPr lang="ko-KR" altLang="en-US" dirty="0" smtClean="0" sz="9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labor curve.  Thus A and C are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02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100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80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160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Hours of Work</a:t>
            </a:r>
            <a:endParaRPr lang="ko-KR" altLang="en-US" dirty="0" smtClean="0" sz="852" b="1"/>
          </a:p>
          <a:p>
            <a:pPr marL="0" indent="0" defTabSz="15240" algn="l">
              <a:lnSpc>
                <a:spcPts val="1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195</a:t>
            </a:r>
            <a:endParaRPr lang="ko-KR" altLang="en-US" dirty="0" smtClean="0" sz="1200"/>
          </a:p>
        </p:txBody>
      </p:sp>
      <p:sp>
        <p:nvSpPr>
          <p:cNvPr id="876" name="Rect 3"/>
          <p:cNvSpPr>
            <a:spLocks noGrp="1" noChangeArrowheads="1"/>
          </p:cNvSpPr>
          <p:nvPr/>
        </p:nvSpPr>
        <p:spPr>
          <a:xfrm rot="0">
            <a:off x="2419985" y="2292350"/>
            <a:ext cx="1287145" cy="154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93">
                <a:solidFill>
                  <a:srgbClr val="000000"/>
                </a:solidFill>
                <a:latin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production</a:t>
            </a:r>
            <a:endParaRPr lang="ko-KR" altLang="en-US" dirty="0" smtClean="0" sz="1193"/>
          </a:p>
        </p:txBody>
      </p:sp>
      <p:sp>
        <p:nvSpPr>
          <p:cNvPr id="877" name="Rect 3"/>
          <p:cNvSpPr>
            <a:spLocks noGrp="1" noChangeArrowheads="1"/>
          </p:cNvSpPr>
          <p:nvPr/>
        </p:nvSpPr>
        <p:spPr>
          <a:xfrm rot="0">
            <a:off x="2258695" y="1146175"/>
            <a:ext cx="3990975" cy="5678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1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MR)</a:t>
            </a:r>
            <a:endParaRPr lang="ko-KR" altLang="en-US" dirty="0" smtClean="0" sz="1193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93">
                <a:solidFill>
                  <a:srgbClr val="000000"/>
                </a:solidFill>
                <a:latin typeface="Times New Roman"/>
              </a:rPr>
              <a:t>)(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MR)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93">
                <a:solidFill>
                  <a:srgbClr val="000000"/>
                </a:solidFill>
                <a:latin typeface="Symbol"/>
                <a:ea typeface="Symbol"/>
              </a:rPr>
              <a:t>=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193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endParaRPr lang="ko-KR" altLang="en-US" dirty="0" smtClean="0" sz="1193" i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696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96"/>
          </a:p>
          <a:p>
            <a:pPr marL="0" indent="0" defTabSz="15240" algn="l">
              <a:lnSpc>
                <a:spcPts val="2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When the wage rate falls to $15, the </a:t>
            </a:r>
            <a:endParaRPr lang="ko-KR" altLang="en-US" dirty="0" smtClean="0" sz="900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B is not. </a:t>
            </a:r>
            <a:endParaRPr lang="ko-KR" altLang="en-US" dirty="0" smtClean="0" sz="900"/>
          </a:p>
        </p:txBody>
      </p:sp>
      <p:sp>
        <p:nvSpPr>
          <p:cNvPr id="878" name="Rect 3"/>
          <p:cNvSpPr>
            <a:spLocks noGrp="1" noChangeArrowheads="1"/>
          </p:cNvSpPr>
          <p:nvPr/>
        </p:nvSpPr>
        <p:spPr>
          <a:xfrm rot="0">
            <a:off x="1901825" y="1258570"/>
            <a:ext cx="4335145" cy="59988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96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96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96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endParaRPr lang="ko-KR" altLang="en-US" dirty="0" smtClean="0" sz="696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93" i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MP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93">
                <a:solidFill>
                  <a:srgbClr val="000000"/>
                </a:solidFill>
                <a:latin typeface="Times New Roman"/>
                <a:ea typeface="Times New Roman"/>
              </a:rPr>
              <a:t>MC</a:t>
            </a:r>
            <a:endParaRPr lang="ko-KR" altLang="en-US" dirty="0" smtClean="0" sz="1193"/>
          </a:p>
          <a:p>
            <a:pPr marL="0" indent="0" defTabSz="15240" algn="l">
              <a:lnSpc>
                <a:spcPts val="2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variable, a firm’s demand for one </a:t>
            </a:r>
            <a:endParaRPr lang="ko-KR" altLang="en-US" dirty="0" smtClean="0" sz="900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1002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MRP curve shifts, generating a new </a:t>
            </a:r>
            <a:endParaRPr lang="ko-KR" altLang="en-US" dirty="0" smtClean="0" sz="900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B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on the demand for labor curve, but </a:t>
            </a:r>
            <a:endParaRPr lang="ko-KR" altLang="en-US" dirty="0" smtClean="0" sz="90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0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648" b="1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11350" y="3218815"/>
            <a:ext cx="3696970" cy="18624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CopperplateGothic"/>
                <a:ea typeface="CopperplateGothic"/>
              </a:rPr>
              <a:t>Lesson 43 </a:t>
            </a:r>
            <a:endParaRPr lang="ko-KR" altLang="en-US" dirty="0" smtClean="0" sz="12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Competitive Factor Markets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Industry Demand for Labor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that all firms respond to a lower wage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firms would hire more workers.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supply would 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price will fall.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quantity demanded for labor by the firm will be smaller.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Industry Demand for Labor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hour)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15</a:t>
            </a:r>
            <a:endParaRPr lang="ko-KR" altLang="en-US" dirty="0" smtClean="0" sz="9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9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Industry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(worker-hours)</a:t>
            </a:r>
            <a:endParaRPr lang="ko-KR" altLang="en-US" dirty="0" smtClean="0" sz="798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would a change to a non-competitive market impact the derivation of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labor?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Demand for Jet Fuel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Jet fuel is a factor (input) cost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jet fuel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1971--Jet fuel cost equaled 12.4% of total operating cost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1980--Jet fuel cost equaled 30.0% of total operating cost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1990’s--Jet fuel cost equaled 15.0% of total operating cost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demand for jet fuel impacts the airlines and refineries alike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short-run price elasticity of demand for jet-fuel is very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would the long-run price elasticity of demand compare to the short-run? </a:t>
            </a:r>
            <a:endParaRPr lang="ko-KR" altLang="en-US" dirty="0" smtClean="0" sz="1097"/>
          </a:p>
          <a:p>
            <a:pPr marL="0" indent="0" defTabSz="15240"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196</a:t>
            </a:r>
            <a:endParaRPr lang="ko-KR" altLang="en-US" dirty="0" smtClean="0" sz="1200"/>
          </a:p>
        </p:txBody>
      </p:sp>
      <p:sp>
        <p:nvSpPr>
          <p:cNvPr id="881" name="Rect 3"/>
          <p:cNvSpPr>
            <a:spLocks noGrp="1" noChangeArrowheads="1"/>
          </p:cNvSpPr>
          <p:nvPr/>
        </p:nvSpPr>
        <p:spPr>
          <a:xfrm rot="0">
            <a:off x="4026535" y="3136265"/>
            <a:ext cx="1393825" cy="207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Industry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Horizontal sum if </a:t>
            </a:r>
            <a:endParaRPr lang="ko-KR" altLang="en-US" dirty="0" smtClean="0" sz="900"/>
          </a:p>
          <a:p>
            <a:pPr marL="0" indent="0" defTabSz="15240" algn="l">
              <a:lnSpc>
                <a:spcPts val="1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798" b="1"/>
          </a:p>
        </p:txBody>
      </p:sp>
      <p:sp>
        <p:nvSpPr>
          <p:cNvPr id="882" name="Rect 3"/>
          <p:cNvSpPr>
            <a:spLocks noGrp="1" noChangeArrowheads="1"/>
          </p:cNvSpPr>
          <p:nvPr/>
        </p:nvSpPr>
        <p:spPr>
          <a:xfrm rot="0">
            <a:off x="3444240" y="3249295"/>
            <a:ext cx="2482215" cy="2078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($ per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product price </a:t>
            </a:r>
            <a:endParaRPr lang="ko-KR" altLang="en-US" dirty="0" smtClean="0" sz="900"/>
          </a:p>
          <a:p>
            <a:pPr marL="0" indent="0" defTabSz="15240"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(worker-hours) </a:t>
            </a:r>
            <a:endParaRPr lang="ko-KR" altLang="en-US" dirty="0" smtClean="0" sz="798" b="1"/>
          </a:p>
        </p:txBody>
      </p:sp>
      <p:sp>
        <p:nvSpPr>
          <p:cNvPr id="883" name="Rect 3"/>
          <p:cNvSpPr>
            <a:spLocks noGrp="1" noChangeArrowheads="1"/>
          </p:cNvSpPr>
          <p:nvPr/>
        </p:nvSpPr>
        <p:spPr>
          <a:xfrm rot="0">
            <a:off x="2712720" y="3136265"/>
            <a:ext cx="2418080" cy="20999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Firm </a:t>
            </a:r>
            <a:endParaRPr lang="ko-KR" altLang="en-US" dirty="0" smtClean="0" sz="1050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hour)</a:t>
            </a:r>
            <a:endParaRPr lang="ko-KR" altLang="en-US" dirty="0" smtClean="0" sz="798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unchanged </a:t>
            </a:r>
            <a:endParaRPr lang="ko-KR" altLang="en-US" dirty="0" smtClean="0" sz="900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Curve</a:t>
            </a:r>
            <a:endParaRPr lang="ko-KR" altLang="en-US" dirty="0" smtClean="0" sz="798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Labor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852" b="1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78150" y="1256030"/>
            <a:ext cx="2325370" cy="21240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78025" y="4961890"/>
            <a:ext cx="4486910" cy="217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Short- and Long-Run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1050" b="1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SR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LR </a:t>
            </a:r>
            <a:endParaRPr lang="ko-KR" altLang="en-US" dirty="0" smtClean="0" sz="498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Quantity of Jet Fuel</a:t>
            </a:r>
            <a:endParaRPr lang="ko-KR" altLang="en-US" dirty="0" smtClean="0" sz="798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Supply of Inputs to a Firm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Determining how much of an input to purchase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 a perfectly competitive factor market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Firm’s Input Supply in a Competitive Factor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($ per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yard)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of fabric </a:t>
            </a:r>
            <a:endParaRPr lang="ko-KR" altLang="en-US" dirty="0" smtClean="0" sz="852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Supply of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Fabric Facing </a:t>
            </a:r>
            <a:endParaRPr lang="ko-KR" altLang="en-US" dirty="0" smtClean="0" sz="9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Market </a:t>
            </a:r>
            <a:endParaRPr lang="ko-KR" altLang="en-US" dirty="0" smtClean="0" sz="900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900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Demand 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for Fabric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100 </a:t>
            </a:r>
            <a:endParaRPr lang="ko-KR" altLang="en-US" dirty="0" smtClean="0" sz="9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Market Supply of Inputs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supply for physical inputs is upward sloping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Examples:  jet fuel, fabric, steel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supply for labor may be upward sloping and backward bending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Supply of Labor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choice to supply labor is based on utility maximization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Leisure competes with labor for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Wage rate measures the price of leisure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wage rate causes the price of leisure to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197</a:t>
            </a:r>
            <a:endParaRPr lang="ko-KR" altLang="en-US" dirty="0" smtClean="0" sz="1200"/>
          </a:p>
        </p:txBody>
      </p:sp>
      <p:sp>
        <p:nvSpPr>
          <p:cNvPr id="886" name="Rect 3"/>
          <p:cNvSpPr>
            <a:spLocks noGrp="1" noChangeArrowheads="1"/>
          </p:cNvSpPr>
          <p:nvPr/>
        </p:nvSpPr>
        <p:spPr>
          <a:xfrm rot="0">
            <a:off x="4697095" y="5010785"/>
            <a:ext cx="1579880" cy="1268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2) S = AE = ME = $10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3) ME = MRP @ 50 units </a:t>
            </a:r>
            <a:endParaRPr lang="ko-KR" altLang="en-US" dirty="0" smtClean="0" sz="798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ME = AE</a:t>
            </a:r>
            <a:endParaRPr lang="ko-KR" altLang="en-US" dirty="0" smtClean="0" sz="852" b="1"/>
          </a:p>
        </p:txBody>
      </p:sp>
      <p:sp>
        <p:nvSpPr>
          <p:cNvPr id="887" name="Rect 3"/>
          <p:cNvSpPr>
            <a:spLocks noGrp="1" noChangeArrowheads="1"/>
          </p:cNvSpPr>
          <p:nvPr/>
        </p:nvSpPr>
        <p:spPr>
          <a:xfrm rot="0">
            <a:off x="3916680" y="5074920"/>
            <a:ext cx="1125855" cy="22339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yard) </a:t>
            </a:r>
            <a:endParaRPr lang="ko-KR" altLang="en-US" dirty="0" smtClean="0" sz="798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900" b="1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900" b="1"/>
          </a:p>
        </p:txBody>
      </p:sp>
      <p:sp>
        <p:nvSpPr>
          <p:cNvPr id="888" name="Rect 3"/>
          <p:cNvSpPr>
            <a:spLocks noGrp="1" noChangeArrowheads="1"/>
          </p:cNvSpPr>
          <p:nvPr/>
        </p:nvSpPr>
        <p:spPr>
          <a:xfrm rot="0">
            <a:off x="2533015" y="4776470"/>
            <a:ext cx="4082415" cy="26238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Observations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1) The firm is a price taker at $10. </a:t>
            </a:r>
            <a:endParaRPr lang="ko-KR" altLang="en-US" dirty="0" smtClean="0" sz="798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Market Supply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Demand </a:t>
            </a:r>
            <a:endParaRPr lang="ko-KR" altLang="en-US" dirty="0" smtClean="0" sz="900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MRP</a:t>
            </a:r>
            <a:endParaRPr lang="ko-KR" altLang="en-US" dirty="0" smtClean="0" sz="900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Yards of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Yards of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Fabric (thousands)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Fabric (thousands)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6520" y="1990090"/>
            <a:ext cx="2216150" cy="19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65705" y="4739640"/>
            <a:ext cx="2472055" cy="23075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wages encourage workers to substitute work for leisure (i.e. the substitution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wages allow the worker to purchase more goods, including leisure which reduces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 hours (i.e. the income effect)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income effect exceeds the substitution effect the supply curve is backward bending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Backward-Bending Supply of Labor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hour) </a:t>
            </a:r>
            <a:endParaRPr lang="ko-KR" altLang="en-US" dirty="0" smtClean="0" sz="798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Substitution Effect </a:t>
            </a:r>
            <a:endParaRPr lang="ko-KR" altLang="en-US" dirty="0" smtClean="0" sz="749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Income Effect &lt;</a:t>
            </a:r>
            <a:endParaRPr lang="ko-KR" altLang="en-US" dirty="0" smtClean="0" sz="749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Substitution Effect </a:t>
            </a:r>
            <a:endParaRPr lang="ko-KR" altLang="en-US" dirty="0" smtClean="0" sz="749" b="1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Hours of Work per Day</a:t>
            </a:r>
            <a:endParaRPr lang="ko-KR" altLang="en-US" dirty="0" smtClean="0" sz="6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Substitution and Income Effects of a Wage Increase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day) 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Suppose wages increase to $20 </a:t>
            </a:r>
            <a:endParaRPr lang="ko-KR" altLang="en-US" dirty="0" smtClean="0" sz="798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240 </a:t>
            </a:r>
            <a:endParaRPr lang="ko-KR" altLang="en-US" dirty="0" smtClean="0" sz="798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Q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24</a:t>
            </a:r>
            <a:endParaRPr lang="ko-KR" altLang="en-US" dirty="0" smtClean="0" sz="70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798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effect </a:t>
            </a:r>
            <a:endParaRPr lang="ko-KR" altLang="en-US" dirty="0" smtClean="0" sz="798" b="1"/>
          </a:p>
          <a:p>
            <a:pPr marL="0" indent="0" defTabSz="15240" algn="l">
              <a:lnSpc>
                <a:spcPts val="1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198</a:t>
            </a:r>
            <a:endParaRPr lang="ko-KR" altLang="en-US" dirty="0" smtClean="0" sz="1200"/>
          </a:p>
        </p:txBody>
      </p:sp>
      <p:sp>
        <p:nvSpPr>
          <p:cNvPr id="891" name="Rect 3"/>
          <p:cNvSpPr>
            <a:spLocks noGrp="1" noChangeArrowheads="1"/>
          </p:cNvSpPr>
          <p:nvPr/>
        </p:nvSpPr>
        <p:spPr>
          <a:xfrm rot="0">
            <a:off x="3392170" y="4697095"/>
            <a:ext cx="2223135" cy="211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Worker chooses point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: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602">
                <a:solidFill>
                  <a:srgbClr val="000000"/>
                </a:solidFill>
                <a:latin typeface="Arial"/>
              </a:rPr>
              <a:t>•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16 hours leisure, 8 hour work </a:t>
            </a:r>
            <a:endParaRPr lang="ko-KR" altLang="en-US" dirty="0" smtClean="0" sz="798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Increase wage to $20 worker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chooses: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20 hour leisure, 4 hours work </a:t>
            </a:r>
            <a:endParaRPr lang="ko-KR" altLang="en-US" dirty="0" smtClean="0" sz="798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Hours of Leisure </a:t>
            </a:r>
            <a:endParaRPr lang="ko-KR" altLang="en-US" dirty="0" smtClean="0" sz="798" b="1"/>
          </a:p>
        </p:txBody>
      </p:sp>
      <p:sp>
        <p:nvSpPr>
          <p:cNvPr id="892" name="Rect 3"/>
          <p:cNvSpPr>
            <a:spLocks noGrp="1" noChangeArrowheads="1"/>
          </p:cNvSpPr>
          <p:nvPr/>
        </p:nvSpPr>
        <p:spPr>
          <a:xfrm rot="0">
            <a:off x="2343785" y="2081530"/>
            <a:ext cx="2671445" cy="4803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Supply of Labor</a:t>
            </a:r>
            <a:endParaRPr lang="ko-KR" altLang="en-US" dirty="0" smtClean="0" sz="9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Income Effect &gt;</a:t>
            </a:r>
            <a:endParaRPr lang="ko-KR" altLang="en-US" dirty="0" smtClean="0" sz="749" b="1"/>
          </a:p>
          <a:p>
            <a:pPr marL="0" indent="0" defTabSz="15240" algn="l">
              <a:lnSpc>
                <a:spcPts val="1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48" b="1">
                <a:solidFill>
                  <a:srgbClr val="000000"/>
                </a:solidFill>
                <a:latin typeface="Arial"/>
              </a:rPr>
              <a:t>480 </a:t>
            </a:r>
            <a:endParaRPr lang="ko-KR" altLang="en-US" dirty="0" smtClean="0" sz="648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w =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$20 </a:t>
            </a:r>
            <a:endParaRPr lang="ko-KR" altLang="en-US" dirty="0" smtClean="0" sz="798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798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 = $10 </a:t>
            </a:r>
            <a:endParaRPr lang="ko-KR" altLang="en-US" dirty="0" smtClean="0" sz="798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   income = $80 </a:t>
            </a:r>
            <a:endParaRPr lang="ko-KR" altLang="en-US" dirty="0" smtClean="0" sz="7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701" i="1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 Substitution effect </a:t>
            </a:r>
            <a:endParaRPr lang="ko-KR" altLang="en-US" dirty="0" smtClean="0" sz="798" b="1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76145" y="2319655"/>
            <a:ext cx="3971925" cy="193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44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in a Competitive Factor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competitive factor market is in equilibrium when the price of the input equates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 to the quantity supplied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Labor Market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98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AE </a:t>
            </a:r>
            <a:endParaRPr lang="ko-KR" altLang="en-US" dirty="0" smtClean="0" sz="70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AE </a:t>
            </a:r>
            <a:endParaRPr lang="ko-KR" altLang="en-US" dirty="0" smtClean="0" sz="701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450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50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450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4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FFFFFF"/>
                </a:solidFill>
                <a:latin typeface="Arial"/>
              </a:rPr>
              <a:t>L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Equilibrium in a Competitive Output Market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				D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701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					w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C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70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(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)(MP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Markets are efficient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Equilibrium in a Monopolistic Output Market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&lt;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MRP = (MR)(MP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Hire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at wage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M</a:t>
            </a:r>
            <a:endParaRPr lang="ko-KR" altLang="en-US" dirty="0" smtClean="0" sz="701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v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benefit to consumers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 to the firm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maximized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less than efficient level of input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Economic Rent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a factor market, economic rent is the difference between the payments made 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 of production and the minimum amount that must be spent to obtain the use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factor. </a:t>
            </a:r>
            <a:endParaRPr lang="ko-KR" altLang="en-US" dirty="0" smtClean="0" sz="1097"/>
          </a:p>
          <a:p>
            <a:pPr marL="0" indent="0" defTabSz="15240" algn="l">
              <a:lnSpc>
                <a:spcPts val="1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199</a:t>
            </a:r>
            <a:endParaRPr lang="ko-KR" altLang="en-US" dirty="0" smtClean="0" sz="1200"/>
          </a:p>
        </p:txBody>
      </p:sp>
      <p:sp>
        <p:nvSpPr>
          <p:cNvPr id="895" name="Rect 3"/>
          <p:cNvSpPr>
            <a:spLocks noGrp="1" noChangeArrowheads="1"/>
          </p:cNvSpPr>
          <p:nvPr/>
        </p:nvSpPr>
        <p:spPr>
          <a:xfrm rot="0">
            <a:off x="4465320" y="2261870"/>
            <a:ext cx="1567815" cy="1276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Monopolistic Output Market </a:t>
            </a:r>
            <a:endParaRPr lang="ko-KR" altLang="en-US" dirty="0" smtClean="0" sz="900" b="1"/>
          </a:p>
        </p:txBody>
      </p:sp>
      <p:sp>
        <p:nvSpPr>
          <p:cNvPr id="896" name="Rect 3"/>
          <p:cNvSpPr>
            <a:spLocks noGrp="1" noChangeArrowheads="1"/>
          </p:cNvSpPr>
          <p:nvPr/>
        </p:nvSpPr>
        <p:spPr>
          <a:xfrm rot="0">
            <a:off x="3943985" y="2218690"/>
            <a:ext cx="1290320" cy="2155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Wage</a:t>
            </a:r>
            <a:endParaRPr lang="ko-KR" altLang="en-US" dirty="0" smtClean="0" sz="798" b="1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B</a:t>
            </a:r>
            <a:endParaRPr lang="ko-KR" altLang="en-US" dirty="0" smtClean="0" sz="947" i="1" b="1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900" i="1" b="1"/>
          </a:p>
        </p:txBody>
      </p:sp>
      <p:sp>
        <p:nvSpPr>
          <p:cNvPr id="897" name="Rect 3"/>
          <p:cNvSpPr>
            <a:spLocks noGrp="1" noChangeArrowheads="1"/>
          </p:cNvSpPr>
          <p:nvPr/>
        </p:nvSpPr>
        <p:spPr>
          <a:xfrm rot="0">
            <a:off x="2359025" y="2261870"/>
            <a:ext cx="3881120" cy="2136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Competitive Output Market</a:t>
            </a:r>
            <a:endParaRPr lang="ko-KR" altLang="en-US" dirty="0" smtClean="0" sz="9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v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w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i="1" b="1">
                <a:solidFill>
                  <a:srgbClr val="000000"/>
                </a:solidFill>
                <a:latin typeface="Arial"/>
              </a:rPr>
              <a:t>P *  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MP</a:t>
            </a:r>
            <a:r>
              <a:rPr lang="en-US" altLang="ko-KR" dirty="0" smtClean="0" sz="450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450" b="1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Number of Workers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64335" y="4081145"/>
            <a:ext cx="3837305" cy="26123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03120" y="7653655"/>
            <a:ext cx="2426335" cy="18103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26665" y="768350"/>
            <a:ext cx="2895600" cy="21120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employment of labor is the excess of wages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paid above the minimum amount needed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 hire workers.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w*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Total expenditure (wage) paid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Economic Rent </a:t>
            </a:r>
            <a:endParaRPr lang="ko-KR" altLang="en-US" dirty="0" smtClean="0" sz="749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B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Economic rent is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ABW* </a:t>
            </a:r>
            <a:endParaRPr lang="ko-KR" altLang="en-US" dirty="0" smtClean="0" sz="798" i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L*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would be the economic rent if S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perfectly elastic or perfectly inelastic?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Land: A Perfectly Inelastic Supply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land inelastically supplied, its price is determined entirely by demand, at least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 run.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Land Rent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($ per </a:t>
            </a:r>
            <a:endParaRPr lang="ko-KR" altLang="en-US" dirty="0" smtClean="0" sz="9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acre) </a:t>
            </a:r>
            <a:endParaRPr lang="ko-KR" altLang="en-US" dirty="0" smtClean="0" sz="9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Rent </a:t>
            </a:r>
            <a:endParaRPr lang="ko-KR" altLang="en-US" dirty="0" smtClean="0" sz="9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Rent </a:t>
            </a:r>
            <a:endParaRPr lang="ko-KR" altLang="en-US" dirty="0" smtClean="0" sz="9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Number of Acres</a:t>
            </a:r>
            <a:endParaRPr lang="ko-KR" altLang="en-US" dirty="0" smtClean="0" sz="6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Public Sector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percentage of personnel working in public sector has been declining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Shortages of skilled personnel has occurred? Why?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there is a shortage, the wage must be below the competitive wage rate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Shortage of Skilled Personnel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98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w* </a:t>
            </a:r>
            <a:endParaRPr lang="ko-KR" altLang="en-US" dirty="0" smtClean="0" sz="798" i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</a:t>
            </a:r>
            <a:endParaRPr lang="ko-KR" altLang="en-US" dirty="0" smtClean="0" sz="798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Shortage </a:t>
            </a:r>
            <a:endParaRPr lang="ko-KR" altLang="en-US" dirty="0" smtClean="0" sz="600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 = </a:t>
            </a:r>
            <a:endParaRPr lang="ko-KR" altLang="en-US" dirty="0" smtClean="0" sz="749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Number of Skilled Workers</a:t>
            </a:r>
            <a:endParaRPr lang="ko-KR" altLang="en-US" dirty="0" smtClean="0" sz="6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200</a:t>
            </a:r>
            <a:endParaRPr lang="ko-KR" altLang="en-US" dirty="0" smtClean="0" sz="1200"/>
          </a:p>
        </p:txBody>
      </p:sp>
      <p:sp>
        <p:nvSpPr>
          <p:cNvPr id="900" name="Rect 3"/>
          <p:cNvSpPr>
            <a:spLocks noGrp="1" noChangeArrowheads="1"/>
          </p:cNvSpPr>
          <p:nvPr/>
        </p:nvSpPr>
        <p:spPr>
          <a:xfrm rot="0">
            <a:off x="4779010" y="5666105"/>
            <a:ext cx="172085" cy="1314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</p:txBody>
      </p:sp>
      <p:sp>
        <p:nvSpPr>
          <p:cNvPr id="901" name="Rect 3"/>
          <p:cNvSpPr>
            <a:spLocks noGrp="1" noChangeArrowheads="1"/>
          </p:cNvSpPr>
          <p:nvPr/>
        </p:nvSpPr>
        <p:spPr>
          <a:xfrm rot="0">
            <a:off x="2685415" y="768350"/>
            <a:ext cx="2844800" cy="49098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economic rent associated with the </a:t>
            </a:r>
            <a:endParaRPr lang="ko-KR" altLang="en-US" dirty="0" smtClean="0" sz="798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AE </a:t>
            </a:r>
            <a:endParaRPr lang="ko-KR" altLang="en-US" dirty="0" smtClean="0" sz="852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is 0w* x AL* </a:t>
            </a:r>
            <a:endParaRPr lang="ko-KR" altLang="en-US" dirty="0" smtClean="0" sz="798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551" b="1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Number of Workers</a:t>
            </a:r>
            <a:endParaRPr lang="ko-KR" altLang="en-US" dirty="0" smtClean="0" sz="852" b="1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Supply of Land</a:t>
            </a:r>
            <a:endParaRPr lang="ko-KR" altLang="en-US" dirty="0" smtClean="0" sz="900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Economic</a:t>
            </a:r>
            <a:endParaRPr lang="ko-KR" altLang="en-US" dirty="0" smtClean="0" sz="9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00" b="1">
                <a:solidFill>
                  <a:srgbClr val="000000"/>
                </a:solidFill>
                <a:latin typeface="Arial"/>
              </a:rPr>
              <a:t>Economic</a:t>
            </a:r>
            <a:endParaRPr lang="ko-KR" altLang="en-US" dirty="0" smtClean="0" sz="900" b="1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61030" y="2731135"/>
            <a:ext cx="2895600" cy="23526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Public sector pay is based on years of service not MRP.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MRP increases and the private sector pay is greater than public sector pay.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Many leave the public sector.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 Markets with Monopsony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			Assume </a:t>
            </a:r>
            <a:endParaRPr lang="ko-KR" altLang="en-US" dirty="0" smtClean="0" sz="1097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output market is perfectly competitive.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Input market is pure monopsony.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and Average Expenditure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Price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(per unit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of input) </a:t>
            </a:r>
            <a:endParaRPr lang="ko-KR" altLang="en-US" dirty="0" smtClean="0" sz="852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Average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w* = 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13 </a:t>
            </a:r>
            <a:endParaRPr lang="ko-KR" altLang="en-US" dirty="0" smtClean="0" sz="852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D = 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MRP</a:t>
            </a:r>
            <a:r>
              <a:rPr lang="en-US" altLang="ko-KR" dirty="0" smtClean="0" sz="55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551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852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6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L*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 Markets with Monopsony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Examples of Monopsony Power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Soldiers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Missiles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B2 Bombers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NASA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800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Astronauts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Company town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Monopsony Power in the Market for Baseball Players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Baseball owners created a monopsonistic cartel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Reserve clause prevented competition for players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1969--Average salary was $42,000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1997--Average salary was $1,383,578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1975 salaries were 25% of team expenditures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1980 salaries were 40% of team expenditures </a:t>
            </a:r>
            <a:endParaRPr lang="ko-KR" altLang="en-US" dirty="0" smtClean="0" sz="1097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201</a:t>
            </a:r>
            <a:endParaRPr lang="ko-KR" altLang="en-US" dirty="0" smtClean="0" sz="1200"/>
          </a:p>
        </p:txBody>
      </p:sp>
      <p:sp>
        <p:nvSpPr>
          <p:cNvPr id="904" name="Rect 3"/>
          <p:cNvSpPr>
            <a:spLocks noGrp="1" noChangeArrowheads="1"/>
          </p:cNvSpPr>
          <p:nvPr/>
        </p:nvSpPr>
        <p:spPr>
          <a:xfrm rot="0">
            <a:off x="5477510" y="2697480"/>
            <a:ext cx="1170940" cy="792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Marginal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Expenditure (ME)</a:t>
            </a:r>
            <a:endParaRPr lang="ko-KR" altLang="en-US" dirty="0" smtClean="0" sz="852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        Expenditure (AE) </a:t>
            </a:r>
            <a:endParaRPr lang="ko-KR" altLang="en-US" dirty="0" smtClean="0" sz="852" b="1"/>
          </a:p>
        </p:txBody>
      </p:sp>
      <p:sp>
        <p:nvSpPr>
          <p:cNvPr id="905" name="Rect 3"/>
          <p:cNvSpPr>
            <a:spLocks noGrp="1" noChangeArrowheads="1"/>
          </p:cNvSpPr>
          <p:nvPr/>
        </p:nvSpPr>
        <p:spPr>
          <a:xfrm rot="0">
            <a:off x="3051175" y="2630170"/>
            <a:ext cx="2899410" cy="25698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Why is marginal expenditure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greater than 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?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50" i="1" b="1">
                <a:solidFill>
                  <a:srgbClr val="000000"/>
                </a:solidFill>
                <a:latin typeface="Arial"/>
              </a:rPr>
              <a:t>C</a:t>
            </a:r>
            <a:endParaRPr lang="ko-KR" altLang="en-US" dirty="0" smtClean="0" sz="1050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551" i="1" b="1"/>
          </a:p>
          <a:p>
            <a:pPr marL="0" indent="0" defTabSz="15240" algn="l">
              <a:lnSpc>
                <a:spcPts val="1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Units of Input </a:t>
            </a:r>
            <a:endParaRPr lang="ko-KR" altLang="en-US" dirty="0" smtClean="0" sz="852" b="1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40280" y="2734310"/>
            <a:ext cx="2267585" cy="21609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8505" y="5565775"/>
            <a:ext cx="2493645" cy="23742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349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45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 Markets with Monopoly 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Just as buyers of inputs can have monopsony power, sellers of inputs can have 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power.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most important example of monopoly power in factor markets involves labor unions.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Power of Sellers of Labor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When a labor union is a monopolist, it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798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worker </a:t>
            </a:r>
            <a:endParaRPr lang="ko-KR" altLang="en-US" dirty="0" smtClean="0" sz="798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workers hired, at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L*,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by agreeing that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workers will work at wage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w*. </a:t>
            </a:r>
            <a:endParaRPr lang="ko-KR" altLang="en-US" dirty="0" smtClean="0" sz="798" i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00" i="1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w*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498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MR </a:t>
            </a:r>
            <a:endParaRPr lang="ko-KR" altLang="en-US" dirty="0" smtClean="0" sz="749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L* 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Power of Sellers of Labor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worker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union members receive a wage rate of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 i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 employed at a wage rate of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 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because the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orginal revenue to the union will then be zero. </a:t>
            </a:r>
            <a:endParaRPr lang="ko-KR" altLang="en-US" dirty="0" smtClean="0" sz="79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600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* </a:t>
            </a:r>
            <a:endParaRPr lang="ko-KR" altLang="en-US" dirty="0" smtClean="0" sz="852" i="1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600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94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Number of Workers</a:t>
            </a:r>
            <a:endParaRPr lang="ko-KR" altLang="en-US" dirty="0" smtClean="0" sz="749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The primary determinant of controlling wage and economic rent is controlling the supply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A Two-Sector Model of Labor 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Union monopoly power impacts the nonunionized part of 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202</a:t>
            </a:r>
            <a:endParaRPr lang="ko-KR" altLang="en-US" dirty="0" smtClean="0" sz="1200"/>
          </a:p>
        </p:txBody>
      </p:sp>
      <p:sp>
        <p:nvSpPr>
          <p:cNvPr id="908" name="Rect 3"/>
          <p:cNvSpPr>
            <a:spLocks noGrp="1" noChangeArrowheads="1"/>
          </p:cNvSpPr>
          <p:nvPr/>
        </p:nvSpPr>
        <p:spPr>
          <a:xfrm rot="0">
            <a:off x="4377055" y="6629400"/>
            <a:ext cx="159385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51" i="1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551" i="1" b="1"/>
          </a:p>
        </p:txBody>
      </p:sp>
      <p:sp>
        <p:nvSpPr>
          <p:cNvPr id="909" name="Rect 3"/>
          <p:cNvSpPr>
            <a:spLocks noGrp="1" noChangeArrowheads="1"/>
          </p:cNvSpPr>
          <p:nvPr/>
        </p:nvSpPr>
        <p:spPr>
          <a:xfrm rot="0">
            <a:off x="3676015" y="6708775"/>
            <a:ext cx="110490" cy="133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47" i="1" b="1">
                <a:solidFill>
                  <a:srgbClr val="000000"/>
                </a:solidFill>
                <a:latin typeface="Arial"/>
              </a:rPr>
              <a:t>A</a:t>
            </a:r>
            <a:endParaRPr lang="ko-KR" altLang="en-US" dirty="0" smtClean="0" sz="947" i="1" b="1"/>
          </a:p>
        </p:txBody>
      </p:sp>
      <p:sp>
        <p:nvSpPr>
          <p:cNvPr id="910" name="Rect 3"/>
          <p:cNvSpPr>
            <a:spLocks noGrp="1" noChangeArrowheads="1"/>
          </p:cNvSpPr>
          <p:nvPr/>
        </p:nvSpPr>
        <p:spPr>
          <a:xfrm rot="0">
            <a:off x="2157730" y="2654935"/>
            <a:ext cx="3680460" cy="53549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chooses among points on the buyer’s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demand for labor curve. </a:t>
            </a:r>
            <a:endParaRPr lang="ko-KR" altLang="en-US" dirty="0" smtClean="0" sz="79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seller can maximize the number of </a:t>
            </a:r>
            <a:endParaRPr lang="ko-KR" altLang="en-US" dirty="0" smtClean="0" sz="798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498" i="1" b="1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Number of Workers</a:t>
            </a:r>
            <a:endParaRPr lang="ko-KR" altLang="en-US" dirty="0" smtClean="0" sz="701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quantity of labor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that maximizes the rent that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employees earn is determined by the intersection of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marginal revenue and supply or labor curves; </a:t>
            </a:r>
            <a:endParaRPr lang="ko-KR" altLang="en-US" dirty="0" smtClean="0" sz="798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Finally, if the union wishes to maximize total wages </a:t>
            </a:r>
            <a:endParaRPr lang="ko-KR" altLang="en-US" dirty="0" smtClean="0" sz="79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paid to workers, it should allow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498" i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union members to </a:t>
            </a:r>
            <a:endParaRPr lang="ko-KR" altLang="en-US" dirty="0" smtClean="0" sz="798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Economic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Rent </a:t>
            </a:r>
            <a:endParaRPr lang="ko-KR" altLang="en-US" dirty="0" smtClean="0" sz="852" b="1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852" i="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749" i="1" b="1">
                <a:solidFill>
                  <a:srgbClr val="000000"/>
                </a:solidFill>
                <a:latin typeface="Arial"/>
              </a:rPr>
              <a:t>* </a:t>
            </a:r>
            <a:endParaRPr lang="ko-KR" altLang="en-US" dirty="0" smtClean="0" sz="749" i="1" b="1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90470" y="1212850"/>
            <a:ext cx="247142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87370" y="4514215"/>
            <a:ext cx="2377440" cy="19081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73680" y="5157470"/>
            <a:ext cx="191770" cy="6216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Microeconomics –ECO402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Wage Determination in Unionized &amp; Nonunionized Sectors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worker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employment in that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sector falls. </a:t>
            </a:r>
            <a:endParaRPr lang="ko-KR" altLang="en-US" dirty="0" smtClean="0" sz="7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For the total supply of labor to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the nonunionized sector </a:t>
            </a:r>
            <a:endParaRPr lang="ko-KR" altLang="en-US" dirty="0" smtClean="0" sz="79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w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N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Δ</a:t>
            </a:r>
            <a:r>
              <a:rPr lang="en-US" altLang="ko-KR" dirty="0" smtClean="0" sz="1050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551" i="1">
                <a:solidFill>
                  <a:srgbClr val="000000"/>
                </a:solidFill>
                <a:latin typeface="Times New Roman"/>
              </a:rPr>
              <a:t>U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Times New Roman"/>
                <a:ea typeface="Times New Roman"/>
              </a:rPr>
              <a:t>Δ</a:t>
            </a:r>
            <a:r>
              <a:rPr lang="en-US" altLang="ko-KR" dirty="0" smtClean="0" sz="1050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701" i="1">
                <a:solidFill>
                  <a:srgbClr val="000000"/>
                </a:solidFill>
                <a:latin typeface="Times New Roman"/>
              </a:rPr>
              <a:t>MU </a:t>
            </a:r>
            <a:endParaRPr lang="ko-KR" altLang="en-US" dirty="0" smtClean="0" sz="701" i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Bilateral 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49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in which a monopolist sells to a monopsonist.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per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worker </a:t>
            </a:r>
            <a:endParaRPr lang="ko-KR" altLang="en-US" dirty="0" smtClean="0" sz="798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25 </a:t>
            </a:r>
            <a:endParaRPr lang="ko-KR" altLang="en-US" dirty="0" smtClean="0" sz="701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498" i="1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=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  AE </a:t>
            </a:r>
            <a:endParaRPr lang="ko-KR" altLang="en-US" dirty="0" smtClean="0" sz="798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70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b="1">
                <a:solidFill>
                  <a:srgbClr val="000000"/>
                </a:solidFill>
                <a:latin typeface="Arial"/>
              </a:rPr>
              <a:t>19 </a:t>
            </a:r>
            <a:endParaRPr lang="ko-KR" altLang="en-US" dirty="0" smtClean="0" sz="600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00" i="1" b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401" i="1" b="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401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Wage </a:t>
            </a:r>
            <a:endParaRPr lang="ko-KR" altLang="en-US" dirty="0" smtClean="0" sz="701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Possibilitie</a:t>
            </a:r>
            <a:endParaRPr lang="ko-KR" altLang="en-US" dirty="0" smtClean="0" sz="70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70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MR</a:t>
            </a:r>
            <a:endParaRPr lang="ko-KR" altLang="en-US" dirty="0" smtClean="0" sz="749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701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749" b="1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749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Observations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Hiring without union monopoly power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MRP = ME at 20 workers and w = $10/hr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303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Union’s objective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697">
                <a:solidFill>
                  <a:srgbClr val="000000"/>
                </a:solidFill>
                <a:latin typeface="Arial"/>
              </a:rPr>
              <a:t>•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at 25 workers and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w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$19/hr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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			Who Will Win?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union will if its threat to strike is credible.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will if its threat to hire non-union workers is credible.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both make credible threats the wage will be </a:t>
            </a:r>
            <a:endParaRPr lang="ko-KR" altLang="en-US" dirty="0" smtClean="0" sz="1097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203</a:t>
            </a:r>
            <a:endParaRPr lang="ko-KR" altLang="en-US" dirty="0" smtClean="0" sz="1200"/>
          </a:p>
        </p:txBody>
      </p:sp>
      <p:sp>
        <p:nvSpPr>
          <p:cNvPr id="913" name="Rect 3"/>
          <p:cNvSpPr>
            <a:spLocks noGrp="1" noChangeArrowheads="1"/>
          </p:cNvSpPr>
          <p:nvPr/>
        </p:nvSpPr>
        <p:spPr>
          <a:xfrm rot="0">
            <a:off x="4553585" y="1398905"/>
            <a:ext cx="1403350" cy="1816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raises the wage rate in the </a:t>
            </a:r>
            <a:endParaRPr lang="ko-KR" altLang="en-US" dirty="0" smtClean="0" sz="798"/>
          </a:p>
          <a:p>
            <a:pPr marL="0" indent="0" defTabSz="15240" algn="l">
              <a:lnSpc>
                <a:spcPts val="1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endParaRPr lang="ko-KR" altLang="en-US" dirty="0" smtClean="0" sz="1002" i="1" b="1"/>
          </a:p>
        </p:txBody>
      </p:sp>
      <p:sp>
        <p:nvSpPr>
          <p:cNvPr id="914" name="Rect 3"/>
          <p:cNvSpPr>
            <a:spLocks noGrp="1" noChangeArrowheads="1"/>
          </p:cNvSpPr>
          <p:nvPr/>
        </p:nvSpPr>
        <p:spPr>
          <a:xfrm rot="0">
            <a:off x="2956560" y="1283335"/>
            <a:ext cx="3225800" cy="5254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When a monopolistic union </a:t>
            </a:r>
            <a:endParaRPr lang="ko-KR" altLang="en-US" dirty="0" smtClean="0" sz="798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unionized sector of the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economy from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w*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to w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,  </a:t>
            </a:r>
            <a:endParaRPr lang="ko-KR" altLang="en-US" dirty="0" smtClean="0" sz="798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remain unchanged, the wage in 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must fall from </a:t>
            </a:r>
            <a:r>
              <a:rPr lang="en-US" altLang="ko-KR" dirty="0" smtClean="0" sz="798" i="1">
                <a:solidFill>
                  <a:srgbClr val="000000"/>
                </a:solidFill>
                <a:latin typeface="Arial"/>
              </a:rPr>
              <a:t>w*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 to w</a:t>
            </a:r>
            <a:r>
              <a:rPr lang="en-US" altLang="ko-KR" dirty="0" smtClean="0" sz="498">
                <a:solidFill>
                  <a:srgbClr val="000000"/>
                </a:solidFill>
                <a:latin typeface="Arial"/>
              </a:rPr>
              <a:t>NU.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798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02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648" i="1" b="1">
                <a:solidFill>
                  <a:srgbClr val="000000"/>
                </a:solidFill>
                <a:latin typeface="Arial"/>
              </a:rPr>
              <a:t>N</a:t>
            </a:r>
            <a:endParaRPr lang="ko-KR" altLang="en-US" dirty="0" smtClean="0" sz="648" i="1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Arial"/>
              </a:rPr>
              <a:t>Number of Workers </a:t>
            </a:r>
            <a:endParaRPr lang="ko-KR" altLang="en-US" dirty="0" smtClean="0" sz="852" b="1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ME </a:t>
            </a:r>
            <a:endParaRPr lang="ko-KR" altLang="en-US" dirty="0" smtClean="0" sz="798" b="1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15 </a:t>
            </a:r>
            <a:endParaRPr lang="ko-KR" altLang="en-US" dirty="0" smtClean="0" sz="701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798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798" b="1">
                <a:solidFill>
                  <a:srgbClr val="000000"/>
                </a:solidFill>
                <a:latin typeface="Arial"/>
              </a:rPr>
              <a:t>= MRP</a:t>
            </a:r>
            <a:r>
              <a:rPr lang="en-US" altLang="ko-KR" dirty="0" smtClean="0" sz="498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498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Number </a:t>
            </a:r>
            <a:endParaRPr lang="ko-KR" altLang="en-US" dirty="0" smtClean="0" sz="798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98">
                <a:solidFill>
                  <a:srgbClr val="000000"/>
                </a:solidFill>
                <a:latin typeface="Arial"/>
              </a:rPr>
              <a:t>of Workers </a:t>
            </a:r>
            <a:endParaRPr lang="ko-KR" altLang="en-US" dirty="0" smtClean="0" sz="79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Oox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PDF Converter</Application>
  <PresentationFormat>On-screen Show</PresentationFormat>
  <Paragraphs>0</Paragraphs>
  <Slides>1</Slides>
  <Notes>0</Notes>
  <HiddenSlides>0</HiddenSlides>
  <MMClips>0</MMClips>
  <HeadingPairs>
    <vt:vector size="4" baseType="variant">
      <vt:variant>
        <vt:lpstr>Theme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Title text</vt:lpstr>
    </vt:vector>
  </TitlesOfParts>
  <Company>PDFConverter, Inc.</Company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modified xsi:type="dcterms:W3CDTF">2010-06-24T10:54:49Z</dcterms:modified>
</cp:coreProperties>
</file>