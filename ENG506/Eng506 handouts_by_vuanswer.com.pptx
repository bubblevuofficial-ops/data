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Relationship Id="rId157" Type="http://schemas.openxmlformats.org/officeDocument/2006/relationships/slide" Target="slides/slide152.xml"/><Relationship Id="rId158" Type="http://schemas.openxmlformats.org/officeDocument/2006/relationships/slide" Target="slides/slide153.xml"/><Relationship Id="rId159" Type="http://schemas.openxmlformats.org/officeDocument/2006/relationships/slide" Target="slides/slide154.xml"/><Relationship Id="rId160" Type="http://schemas.openxmlformats.org/officeDocument/2006/relationships/slide" Target="slides/slide155.xml"/><Relationship Id="rId161" Type="http://schemas.openxmlformats.org/officeDocument/2006/relationships/slide" Target="slides/slide156.xml"/><Relationship Id="rId162" Type="http://schemas.openxmlformats.org/officeDocument/2006/relationships/slide" Target="slides/slide157.xml"/><Relationship Id="rId163" Type="http://schemas.openxmlformats.org/officeDocument/2006/relationships/slide" Target="slides/slide158.xml"/><Relationship Id="rId164" Type="http://schemas.openxmlformats.org/officeDocument/2006/relationships/slide" Target="slides/slide159.xml"/><Relationship Id="rId165" Type="http://schemas.openxmlformats.org/officeDocument/2006/relationships/slide" Target="slides/slide160.xml"/><Relationship Id="rId166" Type="http://schemas.openxmlformats.org/officeDocument/2006/relationships/slide" Target="slides/slide161.xml"/><Relationship Id="rId167" Type="http://schemas.openxmlformats.org/officeDocument/2006/relationships/slide" Target="slides/slide162.xml"/><Relationship Id="rId168" Type="http://schemas.openxmlformats.org/officeDocument/2006/relationships/slide" Target="slides/slide163.xml"/><Relationship Id="rId169" Type="http://schemas.openxmlformats.org/officeDocument/2006/relationships/slide" Target="slides/slide164.xml"/><Relationship Id="rId170" Type="http://schemas.openxmlformats.org/officeDocument/2006/relationships/slide" Target="slides/slide165.xml"/><Relationship Id="rId171" Type="http://schemas.openxmlformats.org/officeDocument/2006/relationships/slide" Target="slides/slide16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45157" y="772122"/>
            <a:ext cx="3682085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01700" y="9713750"/>
            <a:ext cx="2409825" cy="186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4438442" y="9711431"/>
            <a:ext cx="2179320" cy="189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everythingaboutelf.blogspot.com/2016/12/world" TargetMode="Externa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youtube.com/watch?v=M9BNoNFKCBI" TargetMode="External"/></Relationships>

</file>

<file path=ppt/slides/_rels/slide1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un.org/en/" TargetMode="External"/></Relationships>

</file>

<file path=ppt/slides/_rels/slide1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49655" marR="5080" indent="-616585">
              <a:lnSpc>
                <a:spcPct val="133300"/>
              </a:lnSpc>
              <a:spcBef>
                <a:spcPts val="100"/>
              </a:spcBef>
            </a:pPr>
            <a:r>
              <a:rPr dirty="0" spc="160"/>
              <a:t>World</a:t>
            </a:r>
            <a:r>
              <a:rPr dirty="0" spc="-75"/>
              <a:t> </a:t>
            </a:r>
            <a:r>
              <a:rPr dirty="0" spc="60"/>
              <a:t>Englishes </a:t>
            </a:r>
            <a:r>
              <a:rPr dirty="0" spc="-885"/>
              <a:t> </a:t>
            </a:r>
            <a:r>
              <a:rPr dirty="0" spc="50"/>
              <a:t>(ENG506)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61912"/>
            <a:ext cx="6381115" cy="8432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72135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Lesson-01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66675">
              <a:lnSpc>
                <a:spcPct val="100000"/>
              </a:lnSpc>
            </a:pPr>
            <a:r>
              <a:rPr dirty="0" sz="1400" spc="25">
                <a:latin typeface="Times New Roman"/>
                <a:cs typeface="Times New Roman"/>
              </a:rPr>
              <a:t>English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35">
                <a:latin typeface="Times New Roman"/>
                <a:cs typeface="Times New Roman"/>
              </a:rPr>
              <a:t>as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35">
                <a:latin typeface="Times New Roman"/>
                <a:cs typeface="Times New Roman"/>
              </a:rPr>
              <a:t>Global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40">
                <a:latin typeface="Times New Roman"/>
                <a:cs typeface="Times New Roman"/>
              </a:rPr>
              <a:t>Language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Topic-001: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Introduction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Course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12700" indent="4572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 course </a:t>
            </a:r>
            <a:r>
              <a:rPr dirty="0" sz="1100">
                <a:latin typeface="Times New Roman"/>
                <a:cs typeface="Times New Roman"/>
              </a:rPr>
              <a:t>gives </a:t>
            </a:r>
            <a:r>
              <a:rPr dirty="0" sz="1100" spc="-5">
                <a:latin typeface="Times New Roman"/>
                <a:cs typeface="Times New Roman"/>
              </a:rPr>
              <a:t>an engaging </a:t>
            </a:r>
            <a:r>
              <a:rPr dirty="0" sz="1100">
                <a:latin typeface="Times New Roman"/>
                <a:cs typeface="Times New Roman"/>
              </a:rPr>
              <a:t>overview 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development </a:t>
            </a:r>
            <a:r>
              <a:rPr dirty="0" sz="1100" spc="-5">
                <a:latin typeface="Times New Roman"/>
                <a:cs typeface="Times New Roman"/>
              </a:rPr>
              <a:t>and concept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World Englishes. The course </a:t>
            </a:r>
            <a:r>
              <a:rPr dirty="0" sz="1100">
                <a:latin typeface="Times New Roman"/>
                <a:cs typeface="Times New Roman"/>
              </a:rPr>
              <a:t> discusses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advantages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 as the </a:t>
            </a:r>
            <a:r>
              <a:rPr dirty="0" sz="1100">
                <a:latin typeface="Times New Roman"/>
                <a:cs typeface="Times New Roman"/>
              </a:rPr>
              <a:t>dangers for </a:t>
            </a:r>
            <a:r>
              <a:rPr dirty="0" sz="1100" spc="-5">
                <a:latin typeface="Times New Roman"/>
                <a:cs typeface="Times New Roman"/>
              </a:rPr>
              <a:t>the minor languages. The course also </a:t>
            </a:r>
            <a:r>
              <a:rPr dirty="0" sz="1100">
                <a:latin typeface="Times New Roman"/>
                <a:cs typeface="Times New Roman"/>
              </a:rPr>
              <a:t>describes various political, </a:t>
            </a:r>
            <a:r>
              <a:rPr dirty="0" sz="1100" spc="-5">
                <a:latin typeface="Times New Roman"/>
                <a:cs typeface="Times New Roman"/>
              </a:rPr>
              <a:t>social and </a:t>
            </a:r>
            <a:r>
              <a:rPr dirty="0" sz="1100">
                <a:latin typeface="Times New Roman"/>
                <a:cs typeface="Times New Roman"/>
              </a:rPr>
              <a:t>historical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 which led to the spread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throughout the world and eventually caused it to </a:t>
            </a:r>
            <a:r>
              <a:rPr dirty="0" sz="1100">
                <a:latin typeface="Times New Roman"/>
                <a:cs typeface="Times New Roman"/>
              </a:rPr>
              <a:t>become a </a:t>
            </a:r>
            <a:r>
              <a:rPr dirty="0" sz="1100" spc="-5">
                <a:latin typeface="Times New Roman"/>
                <a:cs typeface="Times New Roman"/>
              </a:rPr>
              <a:t>lingua </a:t>
            </a:r>
            <a:r>
              <a:rPr dirty="0" sz="1100">
                <a:latin typeface="Times New Roman"/>
                <a:cs typeface="Times New Roman"/>
              </a:rPr>
              <a:t> franca.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course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aims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to: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understand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globalization,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 marL="469900" marR="27940" indent="-228600">
              <a:lnSpc>
                <a:spcPct val="111400"/>
              </a:lnSpc>
              <a:spcBef>
                <a:spcPts val="7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comprehend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relation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identity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dominance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 marL="469900" marR="28575" indent="-228600">
              <a:lnSpc>
                <a:spcPct val="111400"/>
              </a:lnSpc>
              <a:spcBef>
                <a:spcPts val="6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conceptual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factors</a:t>
            </a:r>
            <a:r>
              <a:rPr dirty="0" sz="1100" spc="-5">
                <a:latin typeface="Times New Roman"/>
                <a:cs typeface="Times New Roman"/>
              </a:rPr>
              <a:t> affecting them.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Topic-001: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Globalization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13335" indent="4572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World Englishes is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term coined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BrajKachru </a:t>
            </a:r>
            <a:r>
              <a:rPr dirty="0" sz="1100">
                <a:latin typeface="Times New Roman"/>
                <a:cs typeface="Times New Roman"/>
              </a:rPr>
              <a:t>(an Indian-American </a:t>
            </a:r>
            <a:r>
              <a:rPr dirty="0" sz="1100" spc="-5">
                <a:latin typeface="Times New Roman"/>
                <a:cs typeface="Times New Roman"/>
              </a:rPr>
              <a:t>linguist) initially to </a:t>
            </a:r>
            <a:r>
              <a:rPr dirty="0" sz="1100">
                <a:latin typeface="Times New Roman"/>
                <a:cs typeface="Times New Roman"/>
              </a:rPr>
              <a:t>refer </a:t>
            </a:r>
            <a:r>
              <a:rPr dirty="0" sz="1100" spc="-5">
                <a:latin typeface="Times New Roman"/>
                <a:cs typeface="Times New Roman"/>
              </a:rPr>
              <a:t>to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institutionalized </a:t>
            </a:r>
            <a:r>
              <a:rPr dirty="0" sz="1100">
                <a:latin typeface="Times New Roman"/>
                <a:cs typeface="Times New Roman"/>
              </a:rPr>
              <a:t>varieties of </a:t>
            </a:r>
            <a:r>
              <a:rPr dirty="0" sz="1100" spc="-5">
                <a:latin typeface="Times New Roman"/>
                <a:cs typeface="Times New Roman"/>
              </a:rPr>
              <a:t>English. Now the term </a:t>
            </a:r>
            <a:r>
              <a:rPr dirty="0" sz="1100">
                <a:latin typeface="Times New Roman"/>
                <a:cs typeface="Times New Roman"/>
              </a:rPr>
              <a:t>refers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various varieties of </a:t>
            </a:r>
            <a:r>
              <a:rPr dirty="0" sz="1100" spc="-5">
                <a:latin typeface="Times New Roman"/>
                <a:cs typeface="Times New Roman"/>
              </a:rPr>
              <a:t>English across the world. The </a:t>
            </a:r>
            <a:r>
              <a:rPr dirty="0" sz="1100">
                <a:latin typeface="Times New Roman"/>
                <a:cs typeface="Times New Roman"/>
              </a:rPr>
              <a:t> pluralization of </a:t>
            </a:r>
            <a:r>
              <a:rPr dirty="0" sz="1100" spc="-5">
                <a:latin typeface="Times New Roman"/>
                <a:cs typeface="Times New Roman"/>
              </a:rPr>
              <a:t>World English in the title </a:t>
            </a:r>
            <a:r>
              <a:rPr dirty="0" sz="1100">
                <a:latin typeface="Times New Roman"/>
                <a:cs typeface="Times New Roman"/>
              </a:rPr>
              <a:t>refers </a:t>
            </a:r>
            <a:r>
              <a:rPr dirty="0" sz="1100" spc="-5">
                <a:latin typeface="Times New Roman"/>
                <a:cs typeface="Times New Roman"/>
              </a:rPr>
              <a:t>to the large </a:t>
            </a:r>
            <a:r>
              <a:rPr dirty="0" sz="1100">
                <a:latin typeface="Times New Roman"/>
                <a:cs typeface="Times New Roman"/>
              </a:rPr>
              <a:t>number of varieties </a:t>
            </a:r>
            <a:r>
              <a:rPr dirty="0" sz="1100" spc="-5">
                <a:latin typeface="Times New Roman"/>
                <a:cs typeface="Times New Roman"/>
              </a:rPr>
              <a:t>that English is accrued as </a:t>
            </a:r>
            <a:r>
              <a:rPr dirty="0" sz="1100">
                <a:latin typeface="Times New Roman"/>
                <a:cs typeface="Times New Roman"/>
              </a:rPr>
              <a:t>a result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its contact with sociolinguistic context.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means that English is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longer </a:t>
            </a:r>
            <a:r>
              <a:rPr dirty="0" sz="1100">
                <a:latin typeface="Times New Roman"/>
                <a:cs typeface="Times New Roman"/>
              </a:rPr>
              <a:t>used by native </a:t>
            </a:r>
            <a:r>
              <a:rPr dirty="0" sz="1100" spc="-5">
                <a:latin typeface="Times New Roman"/>
                <a:cs typeface="Times New Roman"/>
              </a:rPr>
              <a:t>English speakers in </a:t>
            </a:r>
            <a:r>
              <a:rPr dirty="0" sz="1100">
                <a:latin typeface="Times New Roman"/>
                <a:cs typeface="Times New Roman"/>
              </a:rPr>
              <a:t> native </a:t>
            </a:r>
            <a:r>
              <a:rPr dirty="0" sz="1100" spc="-5">
                <a:latin typeface="Times New Roman"/>
                <a:cs typeface="Times New Roman"/>
              </a:rPr>
              <a:t>English speaking countries like America, Australia, New Zealand, etc. Now English is also </a:t>
            </a:r>
            <a:r>
              <a:rPr dirty="0" sz="1100">
                <a:latin typeface="Times New Roman"/>
                <a:cs typeface="Times New Roman"/>
              </a:rPr>
              <a:t>used by non-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non-native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various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professional,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educational</a:t>
            </a:r>
            <a:r>
              <a:rPr dirty="0" sz="1100">
                <a:latin typeface="Times New Roman"/>
                <a:cs typeface="Times New Roman"/>
              </a:rPr>
              <a:t> purposes.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Pakistan,</a:t>
            </a:r>
            <a:r>
              <a:rPr dirty="0" sz="1100">
                <a:latin typeface="Times New Roman"/>
                <a:cs typeface="Times New Roman"/>
              </a:rPr>
              <a:t> India,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Sri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Lanka,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Kong,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are </a:t>
            </a:r>
            <a:r>
              <a:rPr dirty="0" sz="1100">
                <a:latin typeface="Times New Roman"/>
                <a:cs typeface="Times New Roman"/>
              </a:rPr>
              <a:t>grouped </a:t>
            </a:r>
            <a:r>
              <a:rPr dirty="0" sz="1100" spc="-5">
                <a:latin typeface="Times New Roman"/>
                <a:cs typeface="Times New Roman"/>
              </a:rPr>
              <a:t>together </a:t>
            </a:r>
            <a:r>
              <a:rPr dirty="0" sz="1100">
                <a:latin typeface="Times New Roman"/>
                <a:cs typeface="Times New Roman"/>
              </a:rPr>
              <a:t>under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heading of </a:t>
            </a:r>
            <a:r>
              <a:rPr dirty="0" sz="1100" spc="-5">
                <a:latin typeface="Times New Roman"/>
                <a:cs typeface="Times New Roman"/>
              </a:rPr>
              <a:t>World Englishes.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7200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Globalization </a:t>
            </a:r>
            <a:r>
              <a:rPr dirty="0" sz="1100">
                <a:latin typeface="Times New Roman"/>
                <a:cs typeface="Times New Roman"/>
              </a:rPr>
              <a:t>refers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a great number of </a:t>
            </a:r>
            <a:r>
              <a:rPr dirty="0" sz="1100" spc="-5">
                <a:latin typeface="Times New Roman"/>
                <a:cs typeface="Times New Roman"/>
              </a:rPr>
              <a:t>things taking </a:t>
            </a:r>
            <a:r>
              <a:rPr dirty="0" sz="1100">
                <a:latin typeface="Times New Roman"/>
                <a:cs typeface="Times New Roman"/>
              </a:rPr>
              <a:t>place </a:t>
            </a:r>
            <a:r>
              <a:rPr dirty="0" sz="1100" spc="-5">
                <a:latin typeface="Times New Roman"/>
                <a:cs typeface="Times New Roman"/>
              </a:rPr>
              <a:t>in the world and their interconnectedness.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a process of </a:t>
            </a:r>
            <a:r>
              <a:rPr dirty="0" sz="1100" spc="-5">
                <a:latin typeface="Times New Roman"/>
                <a:cs typeface="Times New Roman"/>
              </a:rPr>
              <a:t>interaction and integration among </a:t>
            </a:r>
            <a:r>
              <a:rPr dirty="0" sz="1100">
                <a:latin typeface="Times New Roman"/>
                <a:cs typeface="Times New Roman"/>
              </a:rPr>
              <a:t>people, </a:t>
            </a:r>
            <a:r>
              <a:rPr dirty="0" sz="1100" spc="-5">
                <a:latin typeface="Times New Roman"/>
                <a:cs typeface="Times New Roman"/>
              </a:rPr>
              <a:t>companies, and </a:t>
            </a:r>
            <a:r>
              <a:rPr dirty="0" sz="1100">
                <a:latin typeface="Times New Roman"/>
                <a:cs typeface="Times New Roman"/>
              </a:rPr>
              <a:t>governments of different nations.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 can take </a:t>
            </a:r>
            <a:r>
              <a:rPr dirty="0" sz="1100">
                <a:latin typeface="Times New Roman"/>
                <a:cs typeface="Times New Roman"/>
              </a:rPr>
              <a:t>various forms, </a:t>
            </a:r>
            <a:r>
              <a:rPr dirty="0" sz="1100" spc="-5">
                <a:latin typeface="Times New Roman"/>
                <a:cs typeface="Times New Roman"/>
              </a:rPr>
              <a:t>e.g. </a:t>
            </a:r>
            <a:r>
              <a:rPr dirty="0" sz="1100">
                <a:latin typeface="Times New Roman"/>
                <a:cs typeface="Times New Roman"/>
              </a:rPr>
              <a:t>political </a:t>
            </a:r>
            <a:r>
              <a:rPr dirty="0" sz="1100" spc="-5">
                <a:latin typeface="Times New Roman"/>
                <a:cs typeface="Times New Roman"/>
              </a:rPr>
              <a:t>cooperation among countries with the </a:t>
            </a:r>
            <a:r>
              <a:rPr dirty="0" sz="1100">
                <a:latin typeface="Times New Roman"/>
                <a:cs typeface="Times New Roman"/>
              </a:rPr>
              <a:t>hope </a:t>
            </a:r>
            <a:r>
              <a:rPr dirty="0" sz="1100" spc="-5">
                <a:latin typeface="Times New Roman"/>
                <a:cs typeface="Times New Roman"/>
              </a:rPr>
              <a:t>that this </a:t>
            </a:r>
            <a:r>
              <a:rPr dirty="0" sz="1100">
                <a:latin typeface="Times New Roman"/>
                <a:cs typeface="Times New Roman"/>
              </a:rPr>
              <a:t>kind of </a:t>
            </a:r>
            <a:r>
              <a:rPr dirty="0" sz="1100" spc="-5">
                <a:latin typeface="Times New Roman"/>
                <a:cs typeface="Times New Roman"/>
              </a:rPr>
              <a:t>co- </a:t>
            </a:r>
            <a:r>
              <a:rPr dirty="0" sz="1100">
                <a:latin typeface="Times New Roman"/>
                <a:cs typeface="Times New Roman"/>
              </a:rPr>
              <a:t> operation </a:t>
            </a:r>
            <a:r>
              <a:rPr dirty="0" sz="1100" spc="-5">
                <a:latin typeface="Times New Roman"/>
                <a:cs typeface="Times New Roman"/>
              </a:rPr>
              <a:t>will </a:t>
            </a:r>
            <a:r>
              <a:rPr dirty="0" sz="1100">
                <a:latin typeface="Times New Roman"/>
                <a:cs typeface="Times New Roman"/>
              </a:rPr>
              <a:t>help prevent disputes or </a:t>
            </a:r>
            <a:r>
              <a:rPr dirty="0" sz="1100" spc="-5">
                <a:latin typeface="Times New Roman"/>
                <a:cs typeface="Times New Roman"/>
              </a:rPr>
              <a:t>in case </a:t>
            </a:r>
            <a:r>
              <a:rPr dirty="0" sz="1100">
                <a:latin typeface="Times New Roman"/>
                <a:cs typeface="Times New Roman"/>
              </a:rPr>
              <a:t>of a dispute </a:t>
            </a:r>
            <a:r>
              <a:rPr dirty="0" sz="1100" spc="-5">
                <a:latin typeface="Times New Roman"/>
                <a:cs typeface="Times New Roman"/>
              </a:rPr>
              <a:t>will </a:t>
            </a:r>
            <a:r>
              <a:rPr dirty="0" sz="1100">
                <a:latin typeface="Times New Roman"/>
                <a:cs typeface="Times New Roman"/>
              </a:rPr>
              <a:t>help resolve </a:t>
            </a:r>
            <a:r>
              <a:rPr dirty="0" sz="1100" spc="-5">
                <a:latin typeface="Times New Roman"/>
                <a:cs typeface="Times New Roman"/>
              </a:rPr>
              <a:t>such </a:t>
            </a:r>
            <a:r>
              <a:rPr dirty="0" sz="1100">
                <a:latin typeface="Times New Roman"/>
                <a:cs typeface="Times New Roman"/>
              </a:rPr>
              <a:t>disputes. </a:t>
            </a:r>
            <a:r>
              <a:rPr dirty="0" sz="1100" spc="-5">
                <a:latin typeface="Times New Roman"/>
                <a:cs typeface="Times New Roman"/>
              </a:rPr>
              <a:t>Some examples are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SAARC, European Union and NATO. Another </a:t>
            </a:r>
            <a:r>
              <a:rPr dirty="0" sz="1100">
                <a:latin typeface="Times New Roman"/>
                <a:cs typeface="Times New Roman"/>
              </a:rPr>
              <a:t>form </a:t>
            </a:r>
            <a:r>
              <a:rPr dirty="0" sz="1100" spc="-5">
                <a:latin typeface="Times New Roman"/>
                <a:cs typeface="Times New Roman"/>
              </a:rPr>
              <a:t>that this interaction can take is through sharing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ideas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information.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today’s world sharing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information takes place through social media and internet. This can also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place </a:t>
            </a:r>
            <a:r>
              <a:rPr dirty="0" sz="1100" spc="-5">
                <a:latin typeface="Times New Roman"/>
                <a:cs typeface="Times New Roman"/>
              </a:rPr>
              <a:t>with the </a:t>
            </a:r>
            <a:r>
              <a:rPr dirty="0" sz="1100">
                <a:latin typeface="Times New Roman"/>
                <a:cs typeface="Times New Roman"/>
              </a:rPr>
              <a:t>help of </a:t>
            </a:r>
            <a:r>
              <a:rPr dirty="0" sz="1100" spc="-5">
                <a:latin typeface="Times New Roman"/>
                <a:cs typeface="Times New Roman"/>
              </a:rPr>
              <a:t>TV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programs, films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books.</a:t>
            </a:r>
            <a:endParaRPr sz="1100">
              <a:latin typeface="Times New Roman"/>
              <a:cs typeface="Times New Roman"/>
            </a:endParaRPr>
          </a:p>
          <a:p>
            <a:pPr algn="just" marL="12700" marR="17780" indent="4572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Trade and exchange </a:t>
            </a:r>
            <a:r>
              <a:rPr dirty="0" sz="1100">
                <a:latin typeface="Times New Roman"/>
                <a:cs typeface="Times New Roman"/>
              </a:rPr>
              <a:t>of resources greatly </a:t>
            </a:r>
            <a:r>
              <a:rPr dirty="0" sz="1100" spc="-5">
                <a:latin typeface="Times New Roman"/>
                <a:cs typeface="Times New Roman"/>
              </a:rPr>
              <a:t>enhances this interaction. Countries like America sell their </a:t>
            </a:r>
            <a:r>
              <a:rPr dirty="0" sz="1100">
                <a:latin typeface="Times New Roman"/>
                <a:cs typeface="Times New Roman"/>
              </a:rPr>
              <a:t> finished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technologies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them.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Similarly,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developing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sell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 natural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resources </a:t>
            </a:r>
            <a:r>
              <a:rPr dirty="0" sz="1100" spc="-5">
                <a:latin typeface="Times New Roman"/>
                <a:cs typeface="Times New Roman"/>
              </a:rPr>
              <a:t>to the </a:t>
            </a:r>
            <a:r>
              <a:rPr dirty="0" sz="1100">
                <a:latin typeface="Times New Roman"/>
                <a:cs typeface="Times New Roman"/>
              </a:rPr>
              <a:t>developed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need </a:t>
            </a:r>
            <a:r>
              <a:rPr dirty="0" sz="1100" spc="-5">
                <a:latin typeface="Times New Roman"/>
                <a:cs typeface="Times New Roman"/>
              </a:rPr>
              <a:t>them.</a:t>
            </a:r>
            <a:endParaRPr sz="1100">
              <a:latin typeface="Times New Roman"/>
              <a:cs typeface="Times New Roman"/>
            </a:endParaRPr>
          </a:p>
          <a:p>
            <a:pPr algn="just" marL="12700" marR="1905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Globalization is </a:t>
            </a:r>
            <a:r>
              <a:rPr dirty="0" sz="1100">
                <a:latin typeface="Times New Roman"/>
                <a:cs typeface="Times New Roman"/>
              </a:rPr>
              <a:t>not a new phenomenon. </a:t>
            </a:r>
            <a:r>
              <a:rPr dirty="0" sz="1100" spc="-5">
                <a:latin typeface="Times New Roman"/>
                <a:cs typeface="Times New Roman"/>
              </a:rPr>
              <a:t>For thousands </a:t>
            </a:r>
            <a:r>
              <a:rPr dirty="0" sz="1100">
                <a:latin typeface="Times New Roman"/>
                <a:cs typeface="Times New Roman"/>
              </a:rPr>
              <a:t>of years </a:t>
            </a:r>
            <a:r>
              <a:rPr dirty="0" sz="1100" spc="-5">
                <a:latin typeface="Times New Roman"/>
                <a:cs typeface="Times New Roman"/>
              </a:rPr>
              <a:t>countries and later corporation </a:t>
            </a:r>
            <a:r>
              <a:rPr dirty="0" sz="1100">
                <a:latin typeface="Times New Roman"/>
                <a:cs typeface="Times New Roman"/>
              </a:rPr>
              <a:t>have been </a:t>
            </a:r>
            <a:r>
              <a:rPr dirty="0" sz="1100" spc="-5">
                <a:latin typeface="Times New Roman"/>
                <a:cs typeface="Times New Roman"/>
              </a:rPr>
              <a:t>selling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buying </a:t>
            </a:r>
            <a:r>
              <a:rPr dirty="0" sz="1100" spc="-5">
                <a:latin typeface="Times New Roman"/>
                <a:cs typeface="Times New Roman"/>
              </a:rPr>
              <a:t>things </a:t>
            </a:r>
            <a:r>
              <a:rPr dirty="0" sz="1100">
                <a:latin typeface="Times New Roman"/>
                <a:cs typeface="Times New Roman"/>
              </a:rPr>
              <a:t>from far off </a:t>
            </a:r>
            <a:r>
              <a:rPr dirty="0" sz="1100" spc="-5">
                <a:latin typeface="Times New Roman"/>
                <a:cs typeface="Times New Roman"/>
              </a:rPr>
              <a:t>lands. Similarly,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centuries, countries </a:t>
            </a:r>
            <a:r>
              <a:rPr dirty="0" sz="1100">
                <a:latin typeface="Times New Roman"/>
                <a:cs typeface="Times New Roman"/>
              </a:rPr>
              <a:t>have been </a:t>
            </a:r>
            <a:r>
              <a:rPr dirty="0" sz="1100" spc="-5">
                <a:latin typeface="Times New Roman"/>
                <a:cs typeface="Times New Roman"/>
              </a:rPr>
              <a:t>investing in enterprises in </a:t>
            </a:r>
            <a:r>
              <a:rPr dirty="0" sz="1100">
                <a:latin typeface="Times New Roman"/>
                <a:cs typeface="Times New Roman"/>
              </a:rPr>
              <a:t> foreign </a:t>
            </a:r>
            <a:r>
              <a:rPr dirty="0" sz="1100" spc="-5">
                <a:latin typeface="Times New Roman"/>
                <a:cs typeface="Times New Roman"/>
              </a:rPr>
              <a:t>countries.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increased as </a:t>
            </a:r>
            <a:r>
              <a:rPr dirty="0" sz="1100">
                <a:latin typeface="Times New Roman"/>
                <a:cs typeface="Times New Roman"/>
              </a:rPr>
              <a:t>result of </a:t>
            </a:r>
            <a:r>
              <a:rPr dirty="0" sz="1100" spc="-5">
                <a:latin typeface="Times New Roman"/>
                <a:cs typeface="Times New Roman"/>
              </a:rPr>
              <a:t>technological </a:t>
            </a:r>
            <a:r>
              <a:rPr dirty="0" sz="1100">
                <a:latin typeface="Times New Roman"/>
                <a:cs typeface="Times New Roman"/>
              </a:rPr>
              <a:t>development. </a:t>
            </a:r>
            <a:r>
              <a:rPr dirty="0" sz="1100" spc="-5">
                <a:latin typeface="Times New Roman"/>
                <a:cs typeface="Times New Roman"/>
              </a:rPr>
              <a:t>Globalization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also led to cultural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exchange among </a:t>
            </a:r>
            <a:r>
              <a:rPr dirty="0" sz="1100">
                <a:latin typeface="Times New Roman"/>
                <a:cs typeface="Times New Roman"/>
              </a:rPr>
              <a:t>different </a:t>
            </a:r>
            <a:r>
              <a:rPr dirty="0" sz="1100" spc="-5">
                <a:latin typeface="Times New Roman"/>
                <a:cs typeface="Times New Roman"/>
              </a:rPr>
              <a:t>countries and this cultural exchange may lead to </a:t>
            </a:r>
            <a:r>
              <a:rPr dirty="0" sz="1100">
                <a:latin typeface="Times New Roman"/>
                <a:cs typeface="Times New Roman"/>
              </a:rPr>
              <a:t>harmonization of </a:t>
            </a:r>
            <a:r>
              <a:rPr dirty="0" sz="1100" spc="-5">
                <a:latin typeface="Times New Roman"/>
                <a:cs typeface="Times New Roman"/>
              </a:rPr>
              <a:t>world cultures with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result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one day </a:t>
            </a:r>
            <a:r>
              <a:rPr dirty="0" sz="1100" spc="-5">
                <a:latin typeface="Times New Roman"/>
                <a:cs typeface="Times New Roman"/>
              </a:rPr>
              <a:t>all the </a:t>
            </a:r>
            <a:r>
              <a:rPr dirty="0" sz="1100">
                <a:latin typeface="Times New Roman"/>
                <a:cs typeface="Times New Roman"/>
              </a:rPr>
              <a:t>people of </a:t>
            </a:r>
            <a:r>
              <a:rPr dirty="0" sz="1100" spc="-5">
                <a:latin typeface="Times New Roman"/>
                <a:cs typeface="Times New Roman"/>
              </a:rPr>
              <a:t>the world maybe eating the same </a:t>
            </a:r>
            <a:r>
              <a:rPr dirty="0" sz="1100">
                <a:latin typeface="Times New Roman"/>
                <a:cs typeface="Times New Roman"/>
              </a:rPr>
              <a:t>food, </a:t>
            </a:r>
            <a:r>
              <a:rPr dirty="0" sz="1100" spc="-5">
                <a:latin typeface="Times New Roman"/>
                <a:cs typeface="Times New Roman"/>
              </a:rPr>
              <a:t>listening to the same music 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same language.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64444"/>
            <a:ext cx="6390005" cy="8786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Topic-002: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is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Global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18415" indent="45720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 achieves </a:t>
            </a:r>
            <a:r>
              <a:rPr dirty="0" sz="1100">
                <a:latin typeface="Times New Roman"/>
                <a:cs typeface="Times New Roman"/>
              </a:rPr>
              <a:t>a global </a:t>
            </a:r>
            <a:r>
              <a:rPr dirty="0" sz="1100" spc="-5">
                <a:latin typeface="Times New Roman"/>
                <a:cs typeface="Times New Roman"/>
              </a:rPr>
              <a:t>status when it </a:t>
            </a:r>
            <a:r>
              <a:rPr dirty="0" sz="1100">
                <a:latin typeface="Times New Roman"/>
                <a:cs typeface="Times New Roman"/>
              </a:rPr>
              <a:t>develops a </a:t>
            </a:r>
            <a:r>
              <a:rPr dirty="0" sz="1100" spc="-5">
                <a:latin typeface="Times New Roman"/>
                <a:cs typeface="Times New Roman"/>
              </a:rPr>
              <a:t>special </a:t>
            </a:r>
            <a:r>
              <a:rPr dirty="0" sz="1100">
                <a:latin typeface="Times New Roman"/>
                <a:cs typeface="Times New Roman"/>
              </a:rPr>
              <a:t>role recognized </a:t>
            </a:r>
            <a:r>
              <a:rPr dirty="0" sz="1100" spc="-5">
                <a:latin typeface="Times New Roman"/>
                <a:cs typeface="Times New Roman"/>
              </a:rPr>
              <a:t>in every country. Now the </a:t>
            </a:r>
            <a:r>
              <a:rPr dirty="0" sz="1100">
                <a:latin typeface="Times New Roman"/>
                <a:cs typeface="Times New Roman"/>
              </a:rPr>
              <a:t> question </a:t>
            </a:r>
            <a:r>
              <a:rPr dirty="0" sz="1100" spc="-5">
                <a:latin typeface="Times New Roman"/>
                <a:cs typeface="Times New Roman"/>
              </a:rPr>
              <a:t>arises what </a:t>
            </a:r>
            <a:r>
              <a:rPr dirty="0" sz="1100">
                <a:latin typeface="Times New Roman"/>
                <a:cs typeface="Times New Roman"/>
              </a:rPr>
              <a:t>determines a </a:t>
            </a:r>
            <a:r>
              <a:rPr dirty="0" sz="1100" spc="-5">
                <a:latin typeface="Times New Roman"/>
                <a:cs typeface="Times New Roman"/>
              </a:rPr>
              <a:t>special </a:t>
            </a:r>
            <a:r>
              <a:rPr dirty="0" sz="1100">
                <a:latin typeface="Times New Roman"/>
                <a:cs typeface="Times New Roman"/>
              </a:rPr>
              <a:t>role? If </a:t>
            </a:r>
            <a:r>
              <a:rPr dirty="0" sz="1100" spc="-5">
                <a:latin typeface="Times New Roman"/>
                <a:cs typeface="Times New Roman"/>
              </a:rPr>
              <a:t>the mother tongue status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language makes it </a:t>
            </a:r>
            <a:r>
              <a:rPr dirty="0" sz="1100">
                <a:latin typeface="Times New Roman"/>
                <a:cs typeface="Times New Roman"/>
              </a:rPr>
              <a:t>global </a:t>
            </a:r>
            <a:r>
              <a:rPr dirty="0" sz="1100" spc="-5">
                <a:latin typeface="Times New Roman"/>
                <a:cs typeface="Times New Roman"/>
              </a:rPr>
              <a:t>then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Spanish should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global </a:t>
            </a:r>
            <a:r>
              <a:rPr dirty="0" sz="1100" spc="-5">
                <a:latin typeface="Times New Roman"/>
                <a:cs typeface="Times New Roman"/>
              </a:rPr>
              <a:t>language as it is the mother tongue </a:t>
            </a:r>
            <a:r>
              <a:rPr dirty="0" sz="1100">
                <a:latin typeface="Times New Roman"/>
                <a:cs typeface="Times New Roman"/>
              </a:rPr>
              <a:t>of over 20 </a:t>
            </a:r>
            <a:r>
              <a:rPr dirty="0" sz="1100" spc="-5">
                <a:latin typeface="Times New Roman"/>
                <a:cs typeface="Times New Roman"/>
              </a:rPr>
              <a:t>countries around the world. </a:t>
            </a:r>
            <a:r>
              <a:rPr dirty="0" sz="110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determines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then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 around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world.</a:t>
            </a:r>
            <a:endParaRPr sz="1100">
              <a:latin typeface="Times New Roman"/>
              <a:cs typeface="Times New Roman"/>
            </a:endParaRPr>
          </a:p>
          <a:p>
            <a:pPr algn="just" marL="12700" marR="26670" indent="4572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However, it is </a:t>
            </a:r>
            <a:r>
              <a:rPr dirty="0" sz="1100">
                <a:latin typeface="Times New Roman"/>
                <a:cs typeface="Times New Roman"/>
              </a:rPr>
              <a:t>neither </a:t>
            </a:r>
            <a:r>
              <a:rPr dirty="0" sz="1100" spc="-5">
                <a:latin typeface="Times New Roman"/>
                <a:cs typeface="Times New Roman"/>
              </a:rPr>
              <a:t>the mother tongue status </a:t>
            </a:r>
            <a:r>
              <a:rPr dirty="0" sz="1100">
                <a:latin typeface="Times New Roman"/>
                <a:cs typeface="Times New Roman"/>
              </a:rPr>
              <a:t>nor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number of </a:t>
            </a:r>
            <a:r>
              <a:rPr dirty="0" sz="1100" spc="-5">
                <a:latin typeface="Times New Roman"/>
                <a:cs typeface="Times New Roman"/>
              </a:rPr>
              <a:t>speakers which </a:t>
            </a:r>
            <a:r>
              <a:rPr dirty="0" sz="1100">
                <a:latin typeface="Times New Roman"/>
                <a:cs typeface="Times New Roman"/>
              </a:rPr>
              <a:t>determine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global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5">
                <a:latin typeface="Times New Roman"/>
                <a:cs typeface="Times New Roman"/>
              </a:rPr>
              <a:t> language.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is,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fact, </a:t>
            </a:r>
            <a:r>
              <a:rPr dirty="0" sz="1100" spc="-5">
                <a:latin typeface="Times New Roman"/>
                <a:cs typeface="Times New Roman"/>
              </a:rPr>
              <a:t>identities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 speakers 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determine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5">
                <a:latin typeface="Times New Roman"/>
                <a:cs typeface="Times New Roman"/>
              </a:rPr>
              <a:t> status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 algn="just" marL="12700" marR="1714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Millions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around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great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their second language. Today, total </a:t>
            </a:r>
            <a:r>
              <a:rPr dirty="0" sz="1100">
                <a:latin typeface="Times New Roman"/>
                <a:cs typeface="Times New Roman"/>
              </a:rPr>
              <a:t>1.5 billion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exist around the world. No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match this </a:t>
            </a:r>
            <a:r>
              <a:rPr dirty="0" sz="1100">
                <a:latin typeface="Times New Roman"/>
                <a:cs typeface="Times New Roman"/>
              </a:rPr>
              <a:t>degree of growth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development.</a:t>
            </a:r>
            <a:endParaRPr sz="1100">
              <a:latin typeface="Times New Roman"/>
              <a:cs typeface="Times New Roman"/>
            </a:endParaRPr>
          </a:p>
          <a:p>
            <a:pPr algn="just" marL="12700" marR="24130" indent="45720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A global </a:t>
            </a:r>
            <a:r>
              <a:rPr dirty="0" sz="1100" spc="-5">
                <a:latin typeface="Times New Roman"/>
                <a:cs typeface="Times New Roman"/>
              </a:rPr>
              <a:t>language essentially </a:t>
            </a:r>
            <a:r>
              <a:rPr dirty="0" sz="1100">
                <a:latin typeface="Times New Roman"/>
                <a:cs typeface="Times New Roman"/>
              </a:rPr>
              <a:t>refers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 that is learned and spoken internationally, and 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characterized </a:t>
            </a:r>
            <a:r>
              <a:rPr dirty="0" sz="1100">
                <a:latin typeface="Times New Roman"/>
                <a:cs typeface="Times New Roman"/>
              </a:rPr>
              <a:t>not only by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number of </a:t>
            </a:r>
            <a:r>
              <a:rPr dirty="0" sz="1100" spc="-5">
                <a:latin typeface="Times New Roman"/>
                <a:cs typeface="Times New Roman"/>
              </a:rPr>
              <a:t>its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and second language speakers,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also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its </a:t>
            </a:r>
            <a:r>
              <a:rPr dirty="0" sz="1100">
                <a:latin typeface="Times New Roman"/>
                <a:cs typeface="Times New Roman"/>
              </a:rPr>
              <a:t>geographical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distribution,</a:t>
            </a:r>
            <a:r>
              <a:rPr dirty="0" sz="1100" spc="-5">
                <a:latin typeface="Times New Roman"/>
                <a:cs typeface="Times New Roman"/>
              </a:rPr>
              <a:t> and its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 </a:t>
            </a:r>
            <a:r>
              <a:rPr dirty="0" sz="1100">
                <a:latin typeface="Times New Roman"/>
                <a:cs typeface="Times New Roman"/>
              </a:rPr>
              <a:t>organizations </a:t>
            </a:r>
            <a:r>
              <a:rPr dirty="0" sz="1100" spc="-5">
                <a:latin typeface="Times New Roman"/>
                <a:cs typeface="Times New Roman"/>
              </a:rPr>
              <a:t>and in </a:t>
            </a:r>
            <a:r>
              <a:rPr dirty="0" sz="1100">
                <a:latin typeface="Times New Roman"/>
                <a:cs typeface="Times New Roman"/>
              </a:rPr>
              <a:t>diplomatic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relations.</a:t>
            </a:r>
            <a:endParaRPr sz="1100">
              <a:latin typeface="Times New Roman"/>
              <a:cs typeface="Times New Roman"/>
            </a:endParaRPr>
          </a:p>
          <a:p>
            <a:pPr algn="just" marL="12700" marR="3175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A global </a:t>
            </a:r>
            <a:r>
              <a:rPr dirty="0" sz="1100" spc="-5">
                <a:latin typeface="Times New Roman"/>
                <a:cs typeface="Times New Roman"/>
              </a:rPr>
              <a:t>language is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 taken </a:t>
            </a:r>
            <a:r>
              <a:rPr dirty="0" sz="1100">
                <a:latin typeface="Times New Roman"/>
                <a:cs typeface="Times New Roman"/>
              </a:rPr>
              <a:t>up by people </a:t>
            </a:r>
            <a:r>
              <a:rPr dirty="0" sz="1100" spc="-5">
                <a:latin typeface="Times New Roman"/>
                <a:cs typeface="Times New Roman"/>
              </a:rPr>
              <a:t>in countries in which it is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the mother tongue.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done</a:t>
            </a:r>
            <a:r>
              <a:rPr dirty="0" sz="1100" spc="-5">
                <a:latin typeface="Times New Roman"/>
                <a:cs typeface="Times New Roman"/>
              </a:rPr>
              <a:t> in two ways:</a:t>
            </a:r>
            <a:endParaRPr sz="1100">
              <a:latin typeface="Times New Roman"/>
              <a:cs typeface="Times New Roman"/>
            </a:endParaRPr>
          </a:p>
          <a:p>
            <a:pPr algn="just" marL="469900" indent="-228600">
              <a:lnSpc>
                <a:spcPct val="100000"/>
              </a:lnSpc>
              <a:spcBef>
                <a:spcPts val="21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(second</a:t>
            </a:r>
            <a:r>
              <a:rPr dirty="0" sz="1100" spc="-5">
                <a:latin typeface="Times New Roman"/>
                <a:cs typeface="Times New Roman"/>
              </a:rPr>
              <a:t> language)</a:t>
            </a:r>
            <a:endParaRPr sz="1100">
              <a:latin typeface="Times New Roman"/>
              <a:cs typeface="Times New Roman"/>
            </a:endParaRPr>
          </a:p>
          <a:p>
            <a:pPr algn="just" marL="469900" marR="34290" indent="-228600">
              <a:lnSpc>
                <a:spcPct val="111400"/>
              </a:lnSpc>
              <a:spcBef>
                <a:spcPts val="8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By making it </a:t>
            </a:r>
            <a:r>
              <a:rPr dirty="0" sz="1100">
                <a:latin typeface="Times New Roman"/>
                <a:cs typeface="Times New Roman"/>
              </a:rPr>
              <a:t>a priority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foreign-language </a:t>
            </a:r>
            <a:r>
              <a:rPr dirty="0" sz="1100" spc="-5">
                <a:latin typeface="Times New Roman"/>
                <a:cs typeface="Times New Roman"/>
              </a:rPr>
              <a:t>teaching e.g. Russian is </a:t>
            </a:r>
            <a:r>
              <a:rPr dirty="0" sz="1100">
                <a:latin typeface="Times New Roman"/>
                <a:cs typeface="Times New Roman"/>
              </a:rPr>
              <a:t>popular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former </a:t>
            </a:r>
            <a:r>
              <a:rPr dirty="0" sz="1100" spc="-5">
                <a:latin typeface="Times New Roman"/>
                <a:cs typeface="Times New Roman"/>
              </a:rPr>
              <a:t>Soviet Union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Topic-003: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Need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Global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24765" indent="4572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There is an </a:t>
            </a:r>
            <a:r>
              <a:rPr dirty="0" sz="1100">
                <a:latin typeface="Times New Roman"/>
                <a:cs typeface="Times New Roman"/>
              </a:rPr>
              <a:t>urgent need for global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need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not new. </a:t>
            </a:r>
            <a:r>
              <a:rPr dirty="0" sz="1100" spc="-5">
                <a:latin typeface="Times New Roman"/>
                <a:cs typeface="Times New Roman"/>
              </a:rPr>
              <a:t>Linguistically mixed communities </a:t>
            </a:r>
            <a:r>
              <a:rPr dirty="0" sz="1100">
                <a:latin typeface="Times New Roman"/>
                <a:cs typeface="Times New Roman"/>
              </a:rPr>
              <a:t> have been </a:t>
            </a:r>
            <a:r>
              <a:rPr dirty="0" sz="1100" spc="-5">
                <a:latin typeface="Times New Roman"/>
                <a:cs typeface="Times New Roman"/>
              </a:rPr>
              <a:t>communicating with each </a:t>
            </a:r>
            <a:r>
              <a:rPr dirty="0" sz="1100">
                <a:latin typeface="Times New Roman"/>
                <a:cs typeface="Times New Roman"/>
              </a:rPr>
              <a:t>other for </a:t>
            </a:r>
            <a:r>
              <a:rPr dirty="0" sz="1100" spc="-5">
                <a:latin typeface="Times New Roman"/>
                <a:cs typeface="Times New Roman"/>
              </a:rPr>
              <a:t>thousands </a:t>
            </a:r>
            <a:r>
              <a:rPr dirty="0" sz="1100">
                <a:latin typeface="Times New Roman"/>
                <a:cs typeface="Times New Roman"/>
              </a:rPr>
              <a:t>of years. </a:t>
            </a:r>
            <a:r>
              <a:rPr dirty="0" sz="1100" spc="-5">
                <a:latin typeface="Times New Roman"/>
                <a:cs typeface="Times New Roman"/>
              </a:rPr>
              <a:t>Communication in the </a:t>
            </a:r>
            <a:r>
              <a:rPr dirty="0" sz="1100">
                <a:latin typeface="Times New Roman"/>
                <a:cs typeface="Times New Roman"/>
              </a:rPr>
              <a:t>past </a:t>
            </a:r>
            <a:r>
              <a:rPr dirty="0" sz="1100" spc="-5">
                <a:latin typeface="Times New Roman"/>
                <a:cs typeface="Times New Roman"/>
              </a:rPr>
              <a:t>was through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translators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interpreters.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Monarchs,</a:t>
            </a:r>
            <a:r>
              <a:rPr dirty="0" sz="1100">
                <a:latin typeface="Times New Roman"/>
                <a:cs typeface="Times New Roman"/>
              </a:rPr>
              <a:t> kings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ambassadors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>
                <a:latin typeface="Times New Roman"/>
                <a:cs typeface="Times New Roman"/>
              </a:rPr>
              <a:t> 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presence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interpreters. However, this </a:t>
            </a:r>
            <a:r>
              <a:rPr dirty="0" sz="1100">
                <a:latin typeface="Times New Roman"/>
                <a:cs typeface="Times New Roman"/>
              </a:rPr>
              <a:t>kind of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its </a:t>
            </a:r>
            <a:r>
              <a:rPr dirty="0" sz="1100">
                <a:latin typeface="Times New Roman"/>
                <a:cs typeface="Times New Roman"/>
              </a:rPr>
              <a:t>own problems. It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restricted </a:t>
            </a:r>
            <a:r>
              <a:rPr dirty="0" sz="1100" spc="-5">
                <a:latin typeface="Times New Roman"/>
                <a:cs typeface="Times New Roman"/>
              </a:rPr>
              <a:t>and incomplete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 </a:t>
            </a:r>
            <a:r>
              <a:rPr dirty="0" sz="1100">
                <a:latin typeface="Times New Roman"/>
                <a:cs typeface="Times New Roman"/>
              </a:rPr>
              <a:t>because </a:t>
            </a:r>
            <a:r>
              <a:rPr dirty="0" sz="1100" spc="-5">
                <a:latin typeface="Times New Roman"/>
                <a:cs typeface="Times New Roman"/>
              </a:rPr>
              <a:t>intensity and mildness </a:t>
            </a:r>
            <a:r>
              <a:rPr dirty="0" sz="1100">
                <a:latin typeface="Times New Roman"/>
                <a:cs typeface="Times New Roman"/>
              </a:rPr>
              <a:t>of feelings </a:t>
            </a:r>
            <a:r>
              <a:rPr dirty="0" sz="1100" spc="-5">
                <a:latin typeface="Times New Roman"/>
                <a:cs typeface="Times New Roman"/>
              </a:rPr>
              <a:t>cannot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communicated through translation. Having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 language </a:t>
            </a:r>
            <a:r>
              <a:rPr dirty="0" sz="1100">
                <a:latin typeface="Times New Roman"/>
                <a:cs typeface="Times New Roman"/>
              </a:rPr>
              <a:t>(lingua franca) </a:t>
            </a:r>
            <a:r>
              <a:rPr dirty="0" sz="1100" spc="-5">
                <a:latin typeface="Times New Roman"/>
                <a:cs typeface="Times New Roman"/>
              </a:rPr>
              <a:t>is the solution to this </a:t>
            </a:r>
            <a:r>
              <a:rPr dirty="0" sz="1100">
                <a:latin typeface="Times New Roman"/>
                <a:cs typeface="Times New Roman"/>
              </a:rPr>
              <a:t>problem. </a:t>
            </a:r>
            <a:r>
              <a:rPr dirty="0" sz="1100" spc="-5">
                <a:latin typeface="Times New Roman"/>
                <a:cs typeface="Times New Roman"/>
              </a:rPr>
              <a:t>Lingua </a:t>
            </a:r>
            <a:r>
              <a:rPr dirty="0" sz="1100">
                <a:latin typeface="Times New Roman"/>
                <a:cs typeface="Times New Roman"/>
              </a:rPr>
              <a:t>franca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>
                <a:latin typeface="Times New Roman"/>
                <a:cs typeface="Times New Roman"/>
              </a:rPr>
              <a:t>be defined </a:t>
            </a:r>
            <a:r>
              <a:rPr dirty="0" sz="1100" spc="-5">
                <a:latin typeface="Times New Roman"/>
                <a:cs typeface="Times New Roman"/>
              </a:rPr>
              <a:t>in the </a:t>
            </a:r>
            <a:r>
              <a:rPr dirty="0" sz="1100">
                <a:latin typeface="Times New Roman"/>
                <a:cs typeface="Times New Roman"/>
              </a:rPr>
              <a:t>follow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words:</a:t>
            </a:r>
            <a:endParaRPr sz="1100">
              <a:latin typeface="Times New Roman"/>
              <a:cs typeface="Times New Roman"/>
            </a:endParaRPr>
          </a:p>
          <a:p>
            <a:pPr algn="just" marL="12700" marR="29209" indent="45720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lingua </a:t>
            </a:r>
            <a:r>
              <a:rPr dirty="0" sz="1100">
                <a:latin typeface="Times New Roman"/>
                <a:cs typeface="Times New Roman"/>
              </a:rPr>
              <a:t>franca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 that is adopted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common language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speakers whose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different.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15">
                <a:latin typeface="Times New Roman"/>
                <a:cs typeface="Times New Roman"/>
              </a:rPr>
              <a:t>Choice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6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2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30">
                <a:latin typeface="Times New Roman"/>
                <a:cs typeface="Times New Roman"/>
              </a:rPr>
              <a:t>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40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25">
                <a:latin typeface="Times New Roman"/>
                <a:cs typeface="Times New Roman"/>
              </a:rPr>
              <a:t>lingua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50">
                <a:latin typeface="Times New Roman"/>
                <a:cs typeface="Times New Roman"/>
              </a:rPr>
              <a:t>franca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simplified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(Pidgin)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indigenous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adopted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franca,</a:t>
            </a:r>
            <a:r>
              <a:rPr dirty="0" sz="1100" spc="-5">
                <a:latin typeface="Times New Roman"/>
                <a:cs typeface="Times New Roman"/>
              </a:rPr>
              <a:t> e.g.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Mandarin Chinese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powerful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becomes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franca,</a:t>
            </a:r>
            <a:r>
              <a:rPr dirty="0" sz="1100" spc="-5">
                <a:latin typeface="Times New Roman"/>
                <a:cs typeface="Times New Roman"/>
              </a:rPr>
              <a:t> e.g.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franca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depends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these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factors.</a:t>
            </a:r>
            <a:endParaRPr sz="1100">
              <a:latin typeface="Times New Roman"/>
              <a:cs typeface="Times New Roman"/>
            </a:endParaRPr>
          </a:p>
          <a:p>
            <a:pPr marL="469900" marR="28575" indent="-228600">
              <a:lnSpc>
                <a:spcPct val="111400"/>
              </a:lnSpc>
              <a:spcBef>
                <a:spcPts val="6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Between </a:t>
            </a:r>
            <a:r>
              <a:rPr dirty="0" sz="1100">
                <a:latin typeface="Times New Roman"/>
                <a:cs typeface="Times New Roman"/>
              </a:rPr>
              <a:t>a few </a:t>
            </a:r>
            <a:r>
              <a:rPr dirty="0" sz="1100" spc="-5">
                <a:latin typeface="Times New Roman"/>
                <a:cs typeface="Times New Roman"/>
              </a:rPr>
              <a:t>ethnic</a:t>
            </a:r>
            <a:r>
              <a:rPr dirty="0" sz="1100">
                <a:latin typeface="Times New Roman"/>
                <a:cs typeface="Times New Roman"/>
              </a:rPr>
              <a:t> groups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one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single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country,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 Urdu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lingua</a:t>
            </a:r>
            <a:r>
              <a:rPr dirty="0" sz="1100">
                <a:latin typeface="Times New Roman"/>
                <a:cs typeface="Times New Roman"/>
              </a:rPr>
              <a:t> franca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Lahore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 four provinces get </a:t>
            </a:r>
            <a:r>
              <a:rPr dirty="0" sz="1100" spc="-5">
                <a:latin typeface="Times New Roman"/>
                <a:cs typeface="Times New Roman"/>
              </a:rPr>
              <a:t>together.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1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just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few</a:t>
            </a:r>
            <a:r>
              <a:rPr dirty="0" sz="1100" spc="-5">
                <a:latin typeface="Times New Roman"/>
                <a:cs typeface="Times New Roman"/>
              </a:rPr>
              <a:t> countries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whole world</a:t>
            </a:r>
            <a:endParaRPr sz="1100">
              <a:latin typeface="Times New Roman"/>
              <a:cs typeface="Times New Roman"/>
            </a:endParaRPr>
          </a:p>
          <a:p>
            <a:pPr marL="469900" marR="38100" indent="-228600">
              <a:lnSpc>
                <a:spcPct val="1114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particular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Mandarin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franca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 </a:t>
            </a:r>
            <a:r>
              <a:rPr dirty="0" sz="1100">
                <a:latin typeface="Times New Roman"/>
                <a:cs typeface="Times New Roman"/>
              </a:rPr>
              <a:t>(China, </a:t>
            </a:r>
            <a:r>
              <a:rPr dirty="0" sz="1100" spc="-5">
                <a:latin typeface="Times New Roman"/>
                <a:cs typeface="Times New Roman"/>
              </a:rPr>
              <a:t>Hong Kong, Taiwan,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 and North Korea)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080" indent="4572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lingua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franca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comparatively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newer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idea.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emerged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twentieth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(in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particular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since </a:t>
            </a:r>
            <a:r>
              <a:rPr dirty="0" sz="1100">
                <a:latin typeface="Times New Roman"/>
                <a:cs typeface="Times New Roman"/>
              </a:rPr>
              <a:t>1950s </a:t>
            </a:r>
            <a:r>
              <a:rPr dirty="0" sz="1100" spc="-5">
                <a:latin typeface="Times New Roman"/>
                <a:cs typeface="Times New Roman"/>
              </a:rPr>
              <a:t>after World War </a:t>
            </a:r>
            <a:r>
              <a:rPr dirty="0" sz="1100">
                <a:latin typeface="Times New Roman"/>
                <a:cs typeface="Times New Roman"/>
              </a:rPr>
              <a:t>II). </a:t>
            </a:r>
            <a:r>
              <a:rPr dirty="0" sz="1100" spc="-5">
                <a:latin typeface="Times New Roman"/>
                <a:cs typeface="Times New Roman"/>
              </a:rPr>
              <a:t>There are two separate </a:t>
            </a:r>
            <a:r>
              <a:rPr dirty="0" sz="1100">
                <a:latin typeface="Times New Roman"/>
                <a:cs typeface="Times New Roman"/>
              </a:rPr>
              <a:t>factors </a:t>
            </a:r>
            <a:r>
              <a:rPr dirty="0" sz="1100" spc="-5">
                <a:latin typeface="Times New Roman"/>
                <a:cs typeface="Times New Roman"/>
              </a:rPr>
              <a:t>which are </a:t>
            </a:r>
            <a:r>
              <a:rPr dirty="0" sz="1100">
                <a:latin typeface="Times New Roman"/>
                <a:cs typeface="Times New Roman"/>
              </a:rPr>
              <a:t>responsible for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growth </a:t>
            </a:r>
            <a:r>
              <a:rPr dirty="0" sz="1100" spc="-5">
                <a:latin typeface="Times New Roman"/>
                <a:cs typeface="Times New Roman"/>
              </a:rPr>
              <a:t>in contacts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countries: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891655" cy="925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95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Interaction</a:t>
            </a:r>
            <a:r>
              <a:rPr dirty="0" sz="1100" spc="-5">
                <a:latin typeface="Times New Roman"/>
                <a:cs typeface="Times New Roman"/>
              </a:rPr>
              <a:t> among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 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forums.</a:t>
            </a:r>
            <a:r>
              <a:rPr dirty="0" sz="1100" spc="-5">
                <a:latin typeface="Times New Roman"/>
                <a:cs typeface="Times New Roman"/>
              </a:rPr>
              <a:t> After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2nd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war,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organizat</a:t>
            </a:r>
            <a:endParaRPr sz="1100">
              <a:latin typeface="Times New Roman"/>
              <a:cs typeface="Times New Roman"/>
            </a:endParaRPr>
          </a:p>
          <a:p>
            <a:pPr marL="469900" marR="540385" indent="-228600">
              <a:lnSpc>
                <a:spcPct val="1114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technological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developments,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especially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advancement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technology and technology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transportation.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forums</a:t>
            </a:r>
            <a:endParaRPr sz="1100">
              <a:latin typeface="Times New Roman"/>
              <a:cs typeface="Times New Roman"/>
            </a:endParaRPr>
          </a:p>
          <a:p>
            <a:pPr algn="just" marL="12700" marR="532130" indent="457200">
              <a:lnSpc>
                <a:spcPct val="110200"/>
              </a:lnSpc>
              <a:spcBef>
                <a:spcPts val="15"/>
              </a:spcBef>
            </a:pPr>
            <a:r>
              <a:rPr dirty="0" sz="1100" spc="-5">
                <a:latin typeface="Times New Roman"/>
                <a:cs typeface="Times New Roman"/>
              </a:rPr>
              <a:t>UN</a:t>
            </a:r>
            <a:r>
              <a:rPr dirty="0" sz="1100">
                <a:latin typeface="Times New Roman"/>
                <a:cs typeface="Times New Roman"/>
              </a:rPr>
              <a:t> has a </a:t>
            </a:r>
            <a:r>
              <a:rPr dirty="0" sz="1100" spc="-5">
                <a:latin typeface="Times New Roman"/>
                <a:cs typeface="Times New Roman"/>
              </a:rPr>
              <a:t>membership </a:t>
            </a:r>
            <a:r>
              <a:rPr dirty="0" sz="1100">
                <a:latin typeface="Times New Roman"/>
                <a:cs typeface="Times New Roman"/>
              </a:rPr>
              <a:t>of 190 </a:t>
            </a:r>
            <a:r>
              <a:rPr dirty="0" sz="1100" spc="-5">
                <a:latin typeface="Times New Roman"/>
                <a:cs typeface="Times New Roman"/>
              </a:rPr>
              <a:t>countries at the moment.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started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five official </a:t>
            </a:r>
            <a:r>
              <a:rPr dirty="0" sz="1100" spc="-5">
                <a:latin typeface="Times New Roman"/>
                <a:cs typeface="Times New Roman"/>
              </a:rPr>
              <a:t>languagesbut there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a need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reduce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number of official </a:t>
            </a:r>
            <a:r>
              <a:rPr dirty="0" sz="1100" spc="-5">
                <a:latin typeface="Times New Roman"/>
                <a:cs typeface="Times New Roman"/>
              </a:rPr>
              <a:t>languages in </a:t>
            </a:r>
            <a:r>
              <a:rPr dirty="0" sz="1100">
                <a:latin typeface="Times New Roman"/>
                <a:cs typeface="Times New Roman"/>
              </a:rPr>
              <a:t>order </a:t>
            </a:r>
            <a:r>
              <a:rPr dirty="0" sz="1100" spc="-5">
                <a:latin typeface="Times New Roman"/>
                <a:cs typeface="Times New Roman"/>
              </a:rPr>
              <a:t>to save the cost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translation and interpretation.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However, language choice is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sensitive issue as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country would like the </a:t>
            </a:r>
            <a:r>
              <a:rPr dirty="0" sz="1100">
                <a:latin typeface="Times New Roman"/>
                <a:cs typeface="Times New Roman"/>
              </a:rPr>
              <a:t>official </a:t>
            </a:r>
            <a:r>
              <a:rPr dirty="0" sz="1100" spc="-5">
                <a:latin typeface="Times New Roman"/>
                <a:cs typeface="Times New Roman"/>
              </a:rPr>
              <a:t>status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its language 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changed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lowered at international levels. The solution is the </a:t>
            </a:r>
            <a:r>
              <a:rPr dirty="0" sz="1100">
                <a:latin typeface="Times New Roman"/>
                <a:cs typeface="Times New Roman"/>
              </a:rPr>
              <a:t>voluntary use of a </a:t>
            </a:r>
            <a:r>
              <a:rPr dirty="0" sz="1100" spc="-5">
                <a:latin typeface="Times New Roman"/>
                <a:cs typeface="Times New Roman"/>
              </a:rPr>
              <a:t>common language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working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 English </a:t>
            </a:r>
            <a:r>
              <a:rPr dirty="0" sz="1100">
                <a:latin typeface="Times New Roman"/>
                <a:cs typeface="Times New Roman"/>
              </a:rPr>
              <a:t>has proved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such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due </a:t>
            </a:r>
            <a:r>
              <a:rPr dirty="0" sz="1100" spc="-5">
                <a:latin typeface="Times New Roman"/>
                <a:cs typeface="Times New Roman"/>
              </a:rPr>
              <a:t>to the increase </a:t>
            </a:r>
            <a:r>
              <a:rPr dirty="0" sz="1100">
                <a:latin typeface="Times New Roman"/>
                <a:cs typeface="Times New Roman"/>
              </a:rPr>
              <a:t>of general </a:t>
            </a:r>
            <a:r>
              <a:rPr dirty="0" sz="1100" spc="-5">
                <a:latin typeface="Times New Roman"/>
                <a:cs typeface="Times New Roman"/>
              </a:rPr>
              <a:t>competence in it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its </a:t>
            </a:r>
            <a:r>
              <a:rPr dirty="0" sz="1100">
                <a:latin typeface="Times New Roman"/>
                <a:cs typeface="Times New Roman"/>
              </a:rPr>
              <a:t> popularity</a:t>
            </a:r>
            <a:r>
              <a:rPr dirty="0" sz="1100" spc="-5">
                <a:latin typeface="Times New Roman"/>
                <a:cs typeface="Times New Roman"/>
              </a:rPr>
              <a:t> 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learnt as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524510" indent="4572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business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academic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front.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Collaboration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scientists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scholars </a:t>
            </a:r>
            <a:r>
              <a:rPr dirty="0" sz="1100">
                <a:latin typeface="Times New Roman"/>
                <a:cs typeface="Times New Roman"/>
              </a:rPr>
              <a:t>from different </a:t>
            </a:r>
            <a:r>
              <a:rPr dirty="0" sz="1100" spc="-5">
                <a:latin typeface="Times New Roman"/>
                <a:cs typeface="Times New Roman"/>
              </a:rPr>
              <a:t>countries is </a:t>
            </a:r>
            <a:r>
              <a:rPr dirty="0" sz="1100">
                <a:latin typeface="Times New Roman"/>
                <a:cs typeface="Times New Roman"/>
              </a:rPr>
              <a:t>possible only </a:t>
            </a:r>
            <a:r>
              <a:rPr dirty="0" sz="1100" spc="-5">
                <a:latin typeface="Times New Roman"/>
                <a:cs typeface="Times New Roman"/>
              </a:rPr>
              <a:t>through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lingua </a:t>
            </a:r>
            <a:r>
              <a:rPr dirty="0" sz="1100">
                <a:latin typeface="Times New Roman"/>
                <a:cs typeface="Times New Roman"/>
              </a:rPr>
              <a:t>franca, </a:t>
            </a:r>
            <a:r>
              <a:rPr dirty="0" sz="1100" spc="-5">
                <a:latin typeface="Times New Roman"/>
                <a:cs typeface="Times New Roman"/>
              </a:rPr>
              <a:t>e.g.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scientist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Sweden and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scientist </a:t>
            </a:r>
            <a:r>
              <a:rPr dirty="0" sz="1100">
                <a:latin typeface="Times New Roman"/>
                <a:cs typeface="Times New Roman"/>
              </a:rPr>
              <a:t>from India </a:t>
            </a:r>
            <a:r>
              <a:rPr dirty="0" sz="1100" spc="-5">
                <a:latin typeface="Times New Roman"/>
                <a:cs typeface="Times New Roman"/>
              </a:rPr>
              <a:t>want to work together </a:t>
            </a:r>
            <a:r>
              <a:rPr dirty="0" sz="1100">
                <a:latin typeface="Times New Roman"/>
                <a:cs typeface="Times New Roman"/>
              </a:rPr>
              <a:t>on a research project, </a:t>
            </a:r>
            <a:r>
              <a:rPr dirty="0" sz="1100" spc="-5">
                <a:latin typeface="Times New Roman"/>
                <a:cs typeface="Times New Roman"/>
              </a:rPr>
              <a:t>they will </a:t>
            </a:r>
            <a:r>
              <a:rPr dirty="0" sz="1100">
                <a:latin typeface="Times New Roman"/>
                <a:cs typeface="Times New Roman"/>
              </a:rPr>
              <a:t>not be </a:t>
            </a:r>
            <a:r>
              <a:rPr dirty="0" sz="1100" spc="-5">
                <a:latin typeface="Times New Roman"/>
                <a:cs typeface="Times New Roman"/>
              </a:rPr>
              <a:t>able to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so without </a:t>
            </a:r>
            <a:r>
              <a:rPr dirty="0" sz="1100">
                <a:latin typeface="Times New Roman"/>
                <a:cs typeface="Times New Roman"/>
              </a:rPr>
              <a:t>using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language.Similarly,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provides a </a:t>
            </a:r>
            <a:r>
              <a:rPr dirty="0" sz="1100" spc="-5">
                <a:latin typeface="Times New Roman"/>
                <a:cs typeface="Times New Roman"/>
              </a:rPr>
              <a:t>lot</a:t>
            </a:r>
            <a:r>
              <a:rPr dirty="0" sz="1100">
                <a:latin typeface="Times New Roman"/>
                <a:cs typeface="Times New Roman"/>
              </a:rPr>
              <a:t> of facilitation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>
                <a:latin typeface="Times New Roman"/>
                <a:cs typeface="Times New Roman"/>
              </a:rPr>
              <a:t> business. 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businessman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Japan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businessman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together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business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project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unless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a</a:t>
            </a:r>
            <a:r>
              <a:rPr dirty="0" sz="1100" spc="-5">
                <a:latin typeface="Times New Roman"/>
                <a:cs typeface="Times New Roman"/>
              </a:rPr>
              <a:t> common 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Topic-004: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What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Makes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Global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Here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misunderstandings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1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Perceived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aesthetic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qualities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Clarity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Literary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Religious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Simple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following,</a:t>
            </a:r>
            <a:r>
              <a:rPr dirty="0" sz="1100" spc="-5">
                <a:latin typeface="Times New Roman"/>
                <a:cs typeface="Times New Roman"/>
              </a:rPr>
              <a:t> some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misunderstandings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popularity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provided.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1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Ease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Few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inflectional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endings,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end, e.g.,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adopt,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adopted </a:t>
            </a:r>
            <a:r>
              <a:rPr dirty="0" sz="1100">
                <a:latin typeface="Times New Roman"/>
                <a:cs typeface="Times New Roman"/>
              </a:rPr>
              <a:t>(V),</a:t>
            </a:r>
            <a:r>
              <a:rPr dirty="0" sz="1100" spc="-5">
                <a:latin typeface="Times New Roman"/>
                <a:cs typeface="Times New Roman"/>
              </a:rPr>
              <a:t> word,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(Noun)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neutral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gender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nouns,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verbs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adjectives.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Appealing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properties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5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Familiar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vocabulary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thousands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borrowed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various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Democratic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nature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distinguish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classes)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Cosmopolitan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(multicultural)</a:t>
            </a:r>
            <a:r>
              <a:rPr dirty="0" sz="1100" spc="-5">
                <a:latin typeface="Times New Roman"/>
                <a:cs typeface="Times New Roman"/>
              </a:rPr>
              <a:t> character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borrowed</a:t>
            </a:r>
            <a:r>
              <a:rPr dirty="0" sz="1100" spc="-5">
                <a:latin typeface="Times New Roman"/>
                <a:cs typeface="Times New Roman"/>
              </a:rPr>
              <a:t> words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Symbol"/>
              <a:buChar char=""/>
            </a:pPr>
            <a:endParaRPr sz="13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become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its: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10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Structural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properties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Vocabulary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Association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great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religion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Political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military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229"/>
              </a:spcBef>
              <a:buFont typeface="Symbol"/>
              <a:buChar char="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Technological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5323"/>
            <a:ext cx="6375400" cy="879602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just" marL="469900" indent="-228600">
              <a:lnSpc>
                <a:spcPct val="100000"/>
              </a:lnSpc>
              <a:spcBef>
                <a:spcPts val="330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endParaRPr sz="1100">
              <a:latin typeface="Times New Roman"/>
              <a:cs typeface="Times New Roman"/>
            </a:endParaRPr>
          </a:p>
          <a:p>
            <a:pPr algn="just" marL="469900" indent="-228600">
              <a:lnSpc>
                <a:spcPct val="100000"/>
              </a:lnSpc>
              <a:spcBef>
                <a:spcPts val="225"/>
              </a:spcBef>
              <a:buFont typeface="Symbol"/>
              <a:buChar char="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endParaRPr sz="1100">
              <a:latin typeface="Times New Roman"/>
              <a:cs typeface="Times New Roman"/>
            </a:endParaRPr>
          </a:p>
          <a:p>
            <a:pPr algn="just" marL="241300" marR="15875">
              <a:lnSpc>
                <a:spcPct val="110200"/>
              </a:lnSpc>
              <a:spcBef>
                <a:spcPts val="20"/>
              </a:spcBef>
            </a:pPr>
            <a:r>
              <a:rPr dirty="0" sz="1100" spc="-5">
                <a:latin typeface="Times New Roman"/>
                <a:cs typeface="Times New Roman"/>
              </a:rPr>
              <a:t>Now-a-days, along with </a:t>
            </a:r>
            <a:r>
              <a:rPr dirty="0" sz="1100">
                <a:latin typeface="Times New Roman"/>
                <a:cs typeface="Times New Roman"/>
              </a:rPr>
              <a:t>politics </a:t>
            </a:r>
            <a:r>
              <a:rPr dirty="0" sz="1100" spc="-5">
                <a:latin typeface="Times New Roman"/>
                <a:cs typeface="Times New Roman"/>
              </a:rPr>
              <a:t>and military </a:t>
            </a:r>
            <a:r>
              <a:rPr dirty="0" sz="1100">
                <a:latin typeface="Times New Roman"/>
                <a:cs typeface="Times New Roman"/>
              </a:rPr>
              <a:t>power, </a:t>
            </a:r>
            <a:r>
              <a:rPr dirty="0" sz="1100" spc="-5">
                <a:latin typeface="Times New Roman"/>
                <a:cs typeface="Times New Roman"/>
              </a:rPr>
              <a:t>economics is also the chief </a:t>
            </a:r>
            <a:r>
              <a:rPr dirty="0" sz="1100">
                <a:latin typeface="Times New Roman"/>
                <a:cs typeface="Times New Roman"/>
              </a:rPr>
              <a:t>driving force behind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 events. </a:t>
            </a:r>
            <a:r>
              <a:rPr dirty="0" sz="110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the military </a:t>
            </a:r>
            <a:r>
              <a:rPr dirty="0" sz="1100">
                <a:latin typeface="Times New Roman"/>
                <a:cs typeface="Times New Roman"/>
              </a:rPr>
              <a:t>power </a:t>
            </a:r>
            <a:r>
              <a:rPr dirty="0" sz="1100" spc="-5">
                <a:latin typeface="Times New Roman"/>
                <a:cs typeface="Times New Roman"/>
              </a:rPr>
              <a:t>establishes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 in </a:t>
            </a:r>
            <a:r>
              <a:rPr dirty="0" sz="1100">
                <a:latin typeface="Times New Roman"/>
                <a:cs typeface="Times New Roman"/>
              </a:rPr>
              <a:t>a region, </a:t>
            </a:r>
            <a:r>
              <a:rPr dirty="0" sz="1100" spc="-5">
                <a:latin typeface="Times New Roman"/>
                <a:cs typeface="Times New Roman"/>
              </a:rPr>
              <a:t>it is the economic </a:t>
            </a:r>
            <a:r>
              <a:rPr dirty="0" sz="1100">
                <a:latin typeface="Times New Roman"/>
                <a:cs typeface="Times New Roman"/>
              </a:rPr>
              <a:t>powerwhich </a:t>
            </a:r>
            <a:r>
              <a:rPr dirty="0" sz="1100" spc="-5">
                <a:latin typeface="Times New Roman"/>
                <a:cs typeface="Times New Roman"/>
              </a:rPr>
              <a:t>spreads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maintains it.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Topic-005: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Emergence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of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Global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scope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economic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to: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Formation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countless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multinational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organisations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Rapid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advertising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Empowerment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broadcast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media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Calibri"/>
                <a:cs typeface="Calibri"/>
              </a:rPr>
              <a:t>Economic </a:t>
            </a:r>
            <a:r>
              <a:rPr dirty="0" sz="1100" spc="5">
                <a:latin typeface="Calibri"/>
                <a:cs typeface="Calibri"/>
              </a:rPr>
              <a:t>empowerment</a:t>
            </a:r>
            <a:r>
              <a:rPr dirty="0" sz="1100">
                <a:latin typeface="Calibri"/>
                <a:cs typeface="Calibri"/>
              </a:rPr>
              <a:t> </a:t>
            </a:r>
            <a:r>
              <a:rPr dirty="0" sz="1100" spc="1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communication</a:t>
            </a:r>
            <a:r>
              <a:rPr dirty="0" sz="1100">
                <a:latin typeface="Calibri"/>
                <a:cs typeface="Calibri"/>
              </a:rPr>
              <a:t> technologies</a:t>
            </a:r>
            <a:endParaRPr sz="1100">
              <a:latin typeface="Calibri"/>
              <a:cs typeface="Calibri"/>
            </a:endParaRPr>
          </a:p>
          <a:p>
            <a:pPr marL="12700" marR="27305">
              <a:lnSpc>
                <a:spcPct val="110200"/>
              </a:lnSpc>
              <a:spcBef>
                <a:spcPts val="70"/>
              </a:spcBef>
            </a:pPr>
            <a:r>
              <a:rPr dirty="0" sz="1100" spc="-5">
                <a:latin typeface="Times New Roman"/>
                <a:cs typeface="Times New Roman"/>
              </a:rPr>
              <a:t>Growth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entertainment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industry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movies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music,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availability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movies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screens, USB </a:t>
            </a:r>
            <a:r>
              <a:rPr dirty="0" sz="1100">
                <a:latin typeface="Times New Roman"/>
                <a:cs typeface="Times New Roman"/>
              </a:rPr>
              <a:t>drives, discs,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  <a:p>
            <a:pPr marL="469900" marR="18415" indent="-2286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Desire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progress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technology</a:t>
            </a:r>
            <a:r>
              <a:rPr dirty="0" sz="1100">
                <a:latin typeface="Times New Roman"/>
                <a:cs typeface="Times New Roman"/>
              </a:rPr>
              <a:t> has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development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intellectual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research </a:t>
            </a:r>
            <a:r>
              <a:rPr dirty="0" sz="1100" spc="-5">
                <a:latin typeface="Times New Roman"/>
                <a:cs typeface="Times New Roman"/>
              </a:rPr>
              <a:t>environment.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supremacy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plethora of</a:t>
            </a:r>
            <a:r>
              <a:rPr dirty="0" sz="1100" spc="-5">
                <a:latin typeface="Times New Roman"/>
                <a:cs typeface="Times New Roman"/>
              </a:rPr>
              <a:t> activities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 USA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Britain.</a:t>
            </a:r>
            <a:endParaRPr sz="1100">
              <a:latin typeface="Times New Roman"/>
              <a:cs typeface="Times New Roman"/>
            </a:endParaRPr>
          </a:p>
          <a:p>
            <a:pPr marL="241300" marR="30048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Economic supremacy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speaking countries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Britain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leading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industrial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beginning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Biggest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endParaRPr sz="1100">
              <a:latin typeface="Times New Roman"/>
              <a:cs typeface="Times New Roman"/>
            </a:endParaRPr>
          </a:p>
          <a:p>
            <a:pPr marL="241300" marR="30048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Economic supremacy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speaking countries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Fastest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growing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whole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 Western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 </a:t>
            </a:r>
            <a:r>
              <a:rPr dirty="0" sz="1100">
                <a:latin typeface="Times New Roman"/>
                <a:cs typeface="Times New Roman"/>
              </a:rPr>
              <a:t>(100</a:t>
            </a:r>
            <a:r>
              <a:rPr dirty="0" sz="1100" spc="-5">
                <a:latin typeface="Times New Roman"/>
                <a:cs typeface="Times New Roman"/>
              </a:rPr>
              <a:t> million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 </a:t>
            </a:r>
            <a:r>
              <a:rPr dirty="0" sz="1100">
                <a:latin typeface="Times New Roman"/>
                <a:cs typeface="Times New Roman"/>
              </a:rPr>
              <a:t>19th</a:t>
            </a:r>
            <a:r>
              <a:rPr dirty="0" sz="1100" spc="-5">
                <a:latin typeface="Times New Roman"/>
                <a:cs typeface="Times New Roman"/>
              </a:rPr>
              <a:t> century)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Fastest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growing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endParaRPr sz="1100">
              <a:latin typeface="Times New Roman"/>
              <a:cs typeface="Times New Roman"/>
            </a:endParaRPr>
          </a:p>
          <a:p>
            <a:pPr marL="469900" marR="17780" indent="-2286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established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maintained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America,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making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Topic-006: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Change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Status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algn="just" marL="12700" marR="815975">
              <a:lnSpc>
                <a:spcPct val="110200"/>
              </a:lnSpc>
            </a:pPr>
            <a:r>
              <a:rPr dirty="0" sz="1200" spc="-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following question </a:t>
            </a:r>
            <a:r>
              <a:rPr dirty="0" sz="1200" spc="-5">
                <a:latin typeface="Times New Roman"/>
                <a:cs typeface="Times New Roman"/>
              </a:rPr>
              <a:t>arises in the minds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-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people </a:t>
            </a:r>
            <a:r>
              <a:rPr dirty="0" sz="1200" spc="-5">
                <a:latin typeface="Times New Roman"/>
                <a:cs typeface="Times New Roman"/>
              </a:rPr>
              <a:t>about the </a:t>
            </a:r>
            <a:r>
              <a:rPr dirty="0" sz="1200">
                <a:latin typeface="Times New Roman"/>
                <a:cs typeface="Times New Roman"/>
              </a:rPr>
              <a:t>global </a:t>
            </a:r>
            <a:r>
              <a:rPr dirty="0" sz="1200" spc="-5">
                <a:latin typeface="Times New Roman"/>
                <a:cs typeface="Times New Roman"/>
              </a:rPr>
              <a:t>status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-5">
                <a:latin typeface="Times New Roman"/>
                <a:cs typeface="Times New Roman"/>
              </a:rPr>
              <a:t>English: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5">
                <a:latin typeface="Times New Roman"/>
                <a:cs typeface="Times New Roman"/>
              </a:rPr>
              <a:t> the </a:t>
            </a:r>
            <a:r>
              <a:rPr dirty="0" sz="1200">
                <a:latin typeface="Times New Roman"/>
                <a:cs typeface="Times New Roman"/>
              </a:rPr>
              <a:t>reversal of</a:t>
            </a:r>
            <a:r>
              <a:rPr dirty="0" sz="1200" spc="-5">
                <a:latin typeface="Times New Roman"/>
                <a:cs typeface="Times New Roman"/>
              </a:rPr>
              <a:t> status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-5">
                <a:latin typeface="Times New Roman"/>
                <a:cs typeface="Times New Roman"/>
              </a:rPr>
              <a:t>English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possible? </a:t>
            </a:r>
            <a:r>
              <a:rPr dirty="0" sz="1200" spc="-5">
                <a:latin typeface="Times New Roman"/>
                <a:cs typeface="Times New Roman"/>
              </a:rPr>
              <a:t>The answer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 </a:t>
            </a:r>
            <a:r>
              <a:rPr dirty="0" sz="1200">
                <a:latin typeface="Times New Roman"/>
                <a:cs typeface="Times New Roman"/>
              </a:rPr>
              <a:t>yes 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 </a:t>
            </a:r>
            <a:r>
              <a:rPr dirty="0" sz="1200">
                <a:latin typeface="Times New Roman"/>
                <a:cs typeface="Times New Roman"/>
              </a:rPr>
              <a:t>possible.</a:t>
            </a:r>
            <a:endParaRPr sz="12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45"/>
              </a:spcBef>
            </a:pPr>
            <a:r>
              <a:rPr dirty="0" sz="1200" spc="10">
                <a:latin typeface="Times New Roman"/>
                <a:cs typeface="Times New Roman"/>
              </a:rPr>
              <a:t>Possibility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25">
                <a:latin typeface="Times New Roman"/>
                <a:cs typeface="Times New Roman"/>
              </a:rPr>
              <a:t>change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30">
                <a:latin typeface="Times New Roman"/>
                <a:cs typeface="Times New Roman"/>
              </a:rPr>
              <a:t>in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40">
                <a:latin typeface="Times New Roman"/>
                <a:cs typeface="Times New Roman"/>
              </a:rPr>
              <a:t>the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40">
                <a:latin typeface="Times New Roman"/>
                <a:cs typeface="Times New Roman"/>
              </a:rPr>
              <a:t>status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20">
                <a:latin typeface="Times New Roman"/>
                <a:cs typeface="Times New Roman"/>
              </a:rPr>
              <a:t>English</a:t>
            </a:r>
            <a:endParaRPr sz="1200">
              <a:latin typeface="Times New Roman"/>
              <a:cs typeface="Times New Roman"/>
            </a:endParaRPr>
          </a:p>
          <a:p>
            <a:pPr algn="just" marL="469900" indent="-2286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change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existing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balance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power</a:t>
            </a:r>
            <a:endParaRPr sz="1200">
              <a:latin typeface="Times New Roman"/>
              <a:cs typeface="Times New Roman"/>
            </a:endParaRPr>
          </a:p>
          <a:p>
            <a:pPr algn="just" marL="4699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alternative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method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communication</a:t>
            </a:r>
            <a:endParaRPr sz="12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50"/>
              </a:spcBef>
            </a:pPr>
            <a:r>
              <a:rPr dirty="0" sz="1200" spc="40">
                <a:latin typeface="Times New Roman"/>
                <a:cs typeface="Times New Roman"/>
              </a:rPr>
              <a:t>Change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30">
                <a:latin typeface="Times New Roman"/>
                <a:cs typeface="Times New Roman"/>
              </a:rPr>
              <a:t>in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40">
                <a:latin typeface="Times New Roman"/>
                <a:cs typeface="Times New Roman"/>
              </a:rPr>
              <a:t>the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30">
                <a:latin typeface="Times New Roman"/>
                <a:cs typeface="Times New Roman"/>
              </a:rPr>
              <a:t>balance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35">
                <a:latin typeface="Times New Roman"/>
                <a:cs typeface="Times New Roman"/>
              </a:rPr>
              <a:t>power</a:t>
            </a:r>
            <a:endParaRPr sz="1200">
              <a:latin typeface="Times New Roman"/>
              <a:cs typeface="Times New Roman"/>
            </a:endParaRPr>
          </a:p>
          <a:p>
            <a:pPr algn="just" lvl="1" marL="9271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927100" algn="l"/>
              </a:tabLst>
            </a:pPr>
            <a:r>
              <a:rPr dirty="0" sz="1200" spc="-5">
                <a:latin typeface="Times New Roman"/>
                <a:cs typeface="Times New Roman"/>
              </a:rPr>
              <a:t>Political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power</a:t>
            </a:r>
            <a:endParaRPr sz="1200">
              <a:latin typeface="Times New Roman"/>
              <a:cs typeface="Times New Roman"/>
            </a:endParaRPr>
          </a:p>
          <a:p>
            <a:pPr algn="just" lvl="1" marL="9271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927100" algn="l"/>
              </a:tabLst>
            </a:pPr>
            <a:r>
              <a:rPr dirty="0" sz="1200" spc="-5">
                <a:latin typeface="Times New Roman"/>
                <a:cs typeface="Times New Roman"/>
              </a:rPr>
              <a:t>Economic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influence</a:t>
            </a:r>
            <a:endParaRPr sz="12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50"/>
              </a:spcBef>
            </a:pPr>
            <a:r>
              <a:rPr dirty="0" sz="1200" spc="40">
                <a:latin typeface="Times New Roman"/>
                <a:cs typeface="Times New Roman"/>
              </a:rPr>
              <a:t>Change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30">
                <a:latin typeface="Times New Roman"/>
                <a:cs typeface="Times New Roman"/>
              </a:rPr>
              <a:t>in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40">
                <a:latin typeface="Times New Roman"/>
                <a:cs typeface="Times New Roman"/>
              </a:rPr>
              <a:t>the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30">
                <a:latin typeface="Times New Roman"/>
                <a:cs typeface="Times New Roman"/>
              </a:rPr>
              <a:t>balance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35">
                <a:latin typeface="Times New Roman"/>
                <a:cs typeface="Times New Roman"/>
              </a:rPr>
              <a:t>power</a:t>
            </a:r>
            <a:endParaRPr sz="1200">
              <a:latin typeface="Times New Roman"/>
              <a:cs typeface="Times New Roman"/>
            </a:endParaRPr>
          </a:p>
          <a:p>
            <a:pPr algn="just" marL="469900" marR="5080">
              <a:lnSpc>
                <a:spcPct val="110200"/>
              </a:lnSpc>
            </a:pPr>
            <a:r>
              <a:rPr dirty="0" sz="1200">
                <a:latin typeface="Times New Roman"/>
                <a:cs typeface="Times New Roman"/>
              </a:rPr>
              <a:t>A </a:t>
            </a:r>
            <a:r>
              <a:rPr dirty="0" sz="1200" spc="-5">
                <a:latin typeface="Times New Roman"/>
                <a:cs typeface="Times New Roman"/>
              </a:rPr>
              <a:t>large scale change in the current </a:t>
            </a:r>
            <a:r>
              <a:rPr dirty="0" sz="1200">
                <a:latin typeface="Times New Roman"/>
                <a:cs typeface="Times New Roman"/>
              </a:rPr>
              <a:t>balance of power </a:t>
            </a:r>
            <a:r>
              <a:rPr dirty="0" sz="1200" spc="-5">
                <a:latin typeface="Times New Roman"/>
                <a:cs typeface="Times New Roman"/>
              </a:rPr>
              <a:t>may lead to </a:t>
            </a:r>
            <a:r>
              <a:rPr dirty="0" sz="1200">
                <a:latin typeface="Times New Roman"/>
                <a:cs typeface="Times New Roman"/>
              </a:rPr>
              <a:t>a </a:t>
            </a:r>
            <a:r>
              <a:rPr dirty="0" sz="1200" spc="-5">
                <a:latin typeface="Times New Roman"/>
                <a:cs typeface="Times New Roman"/>
              </a:rPr>
              <a:t>change in the status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English.</a:t>
            </a:r>
            <a:r>
              <a:rPr dirty="0" sz="1200">
                <a:latin typeface="Times New Roman"/>
                <a:cs typeface="Times New Roman"/>
              </a:rPr>
              <a:t> A </a:t>
            </a:r>
            <a:r>
              <a:rPr dirty="0" sz="1200" spc="-5">
                <a:latin typeface="Times New Roman"/>
                <a:cs typeface="Times New Roman"/>
              </a:rPr>
              <a:t>small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change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cannot</a:t>
            </a:r>
            <a:r>
              <a:rPr dirty="0" sz="1200">
                <a:latin typeface="Times New Roman"/>
                <a:cs typeface="Times New Roman"/>
              </a:rPr>
              <a:t> reverse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status</a:t>
            </a:r>
            <a:r>
              <a:rPr dirty="0" sz="1200">
                <a:latin typeface="Times New Roman"/>
                <a:cs typeface="Times New Roman"/>
              </a:rPr>
              <a:t> of </a:t>
            </a:r>
            <a:r>
              <a:rPr dirty="0" sz="1200" spc="-5">
                <a:latin typeface="Times New Roman"/>
                <a:cs typeface="Times New Roman"/>
              </a:rPr>
              <a:t>English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2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popularity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2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 of 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has </a:t>
            </a:r>
            <a:r>
              <a:rPr dirty="0" sz="1200" spc="-5">
                <a:latin typeface="Times New Roman"/>
                <a:cs typeface="Times New Roman"/>
              </a:rPr>
              <a:t>spread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to countess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nations; </a:t>
            </a:r>
            <a:r>
              <a:rPr dirty="0" sz="1200" spc="-5">
                <a:latin typeface="Times New Roman"/>
                <a:cs typeface="Times New Roman"/>
              </a:rPr>
              <a:t>therefore,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its </a:t>
            </a:r>
            <a:r>
              <a:rPr dirty="0" sz="1200">
                <a:latin typeface="Times New Roman"/>
                <a:cs typeface="Times New Roman"/>
              </a:rPr>
              <a:t>ownership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belongs </a:t>
            </a:r>
            <a:r>
              <a:rPr dirty="0" sz="1200" spc="-5">
                <a:latin typeface="Times New Roman"/>
                <a:cs typeface="Times New Roman"/>
              </a:rPr>
              <a:t>to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many </a:t>
            </a:r>
            <a:r>
              <a:rPr dirty="0" sz="1200">
                <a:latin typeface="Times New Roman"/>
                <a:cs typeface="Times New Roman"/>
              </a:rPr>
              <a:t>nations.</a:t>
            </a:r>
            <a:endParaRPr sz="12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45"/>
              </a:spcBef>
            </a:pPr>
            <a:r>
              <a:rPr dirty="0" sz="1200" spc="30">
                <a:latin typeface="Times New Roman"/>
                <a:cs typeface="Times New Roman"/>
              </a:rPr>
              <a:t>An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40">
                <a:latin typeface="Times New Roman"/>
                <a:cs typeface="Times New Roman"/>
              </a:rPr>
              <a:t>alternative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40">
                <a:latin typeface="Times New Roman"/>
                <a:cs typeface="Times New Roman"/>
              </a:rPr>
              <a:t>method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30">
                <a:latin typeface="Times New Roman"/>
                <a:cs typeface="Times New Roman"/>
              </a:rPr>
              <a:t>ofcommunication</a:t>
            </a:r>
            <a:endParaRPr sz="1200">
              <a:latin typeface="Times New Roman"/>
              <a:cs typeface="Times New Roman"/>
            </a:endParaRPr>
          </a:p>
          <a:p>
            <a:pPr algn="just" marL="4699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Using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machine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translations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5552"/>
            <a:ext cx="4088765" cy="833119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Making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possible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to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communicate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first</a:t>
            </a:r>
            <a:r>
              <a:rPr dirty="0" sz="1200" spc="-5">
                <a:latin typeface="Times New Roman"/>
                <a:cs typeface="Times New Roman"/>
              </a:rPr>
              <a:t> language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200" spc="30">
                <a:latin typeface="Times New Roman"/>
                <a:cs typeface="Times New Roman"/>
              </a:rPr>
              <a:t>An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40">
                <a:latin typeface="Times New Roman"/>
                <a:cs typeface="Times New Roman"/>
              </a:rPr>
              <a:t>alternative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40">
                <a:latin typeface="Times New Roman"/>
                <a:cs typeface="Times New Roman"/>
              </a:rPr>
              <a:t>method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30">
                <a:latin typeface="Times New Roman"/>
                <a:cs typeface="Times New Roman"/>
              </a:rPr>
              <a:t>ofcommunication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Global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spread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economic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accessibility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such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method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Doesn’t pose </a:t>
            </a:r>
            <a:r>
              <a:rPr dirty="0" sz="1200">
                <a:latin typeface="Times New Roman"/>
                <a:cs typeface="Times New Roman"/>
              </a:rPr>
              <a:t>a </a:t>
            </a:r>
            <a:r>
              <a:rPr dirty="0" sz="1200" spc="-5">
                <a:latin typeface="Times New Roman"/>
                <a:cs typeface="Times New Roman"/>
              </a:rPr>
              <a:t>threat to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need</a:t>
            </a:r>
            <a:r>
              <a:rPr dirty="0" sz="1200">
                <a:latin typeface="Times New Roman"/>
                <a:cs typeface="Times New Roman"/>
              </a:rPr>
              <a:t> of a </a:t>
            </a:r>
            <a:r>
              <a:rPr dirty="0" sz="1200" spc="-5">
                <a:latin typeface="Times New Roman"/>
                <a:cs typeface="Times New Roman"/>
              </a:rPr>
              <a:t>global language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2024292"/>
            <a:ext cx="6375400" cy="7273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65785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Lesson-02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58419">
              <a:lnSpc>
                <a:spcPct val="100000"/>
              </a:lnSpc>
            </a:pPr>
            <a:r>
              <a:rPr dirty="0" sz="1400" spc="40">
                <a:latin typeface="Times New Roman"/>
                <a:cs typeface="Times New Roman"/>
              </a:rPr>
              <a:t>Dangers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35">
                <a:latin typeface="Times New Roman"/>
                <a:cs typeface="Times New Roman"/>
              </a:rPr>
              <a:t>Global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40">
                <a:latin typeface="Times New Roman"/>
                <a:cs typeface="Times New Roman"/>
              </a:rPr>
              <a:t>Language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algn="just" marL="12700" marR="64769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Having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single </a:t>
            </a:r>
            <a:r>
              <a:rPr dirty="0" sz="1100">
                <a:latin typeface="Times New Roman"/>
                <a:cs typeface="Times New Roman"/>
              </a:rPr>
              <a:t>global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whole world may </a:t>
            </a:r>
            <a:r>
              <a:rPr dirty="0" sz="1100">
                <a:latin typeface="Times New Roman"/>
                <a:cs typeface="Times New Roman"/>
              </a:rPr>
              <a:t>have </a:t>
            </a:r>
            <a:r>
              <a:rPr dirty="0" sz="1100" spc="-5">
                <a:latin typeface="Times New Roman"/>
                <a:cs typeface="Times New Roman"/>
              </a:rPr>
              <a:t>its advantages; e.g. it may </a:t>
            </a:r>
            <a:r>
              <a:rPr dirty="0" sz="1100">
                <a:latin typeface="Times New Roman"/>
                <a:cs typeface="Times New Roman"/>
              </a:rPr>
              <a:t>facilitate </a:t>
            </a:r>
            <a:r>
              <a:rPr dirty="0" sz="1100" spc="-5">
                <a:latin typeface="Times New Roman"/>
                <a:cs typeface="Times New Roman"/>
              </a:rPr>
              <a:t>interaction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 countries thus </a:t>
            </a:r>
            <a:r>
              <a:rPr dirty="0" sz="1100">
                <a:latin typeface="Times New Roman"/>
                <a:cs typeface="Times New Roman"/>
              </a:rPr>
              <a:t>promoting </a:t>
            </a:r>
            <a:r>
              <a:rPr dirty="0" sz="1100" spc="-5">
                <a:latin typeface="Times New Roman"/>
                <a:cs typeface="Times New Roman"/>
              </a:rPr>
              <a:t>trade and </a:t>
            </a:r>
            <a:r>
              <a:rPr dirty="0" sz="1100">
                <a:latin typeface="Times New Roman"/>
                <a:cs typeface="Times New Roman"/>
              </a:rPr>
              <a:t>business </a:t>
            </a:r>
            <a:r>
              <a:rPr dirty="0" sz="1100" spc="-5">
                <a:latin typeface="Times New Roman"/>
                <a:cs typeface="Times New Roman"/>
              </a:rPr>
              <a:t>among them. </a:t>
            </a: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may also </a:t>
            </a:r>
            <a:r>
              <a:rPr dirty="0" sz="1100">
                <a:latin typeface="Times New Roman"/>
                <a:cs typeface="Times New Roman"/>
              </a:rPr>
              <a:t>open new </a:t>
            </a:r>
            <a:r>
              <a:rPr dirty="0" sz="1100" spc="-5">
                <a:latin typeface="Times New Roman"/>
                <a:cs typeface="Times New Roman"/>
              </a:rPr>
              <a:t>avenues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education, </a:t>
            </a:r>
            <a:r>
              <a:rPr dirty="0" sz="1100">
                <a:latin typeface="Times New Roman"/>
                <a:cs typeface="Times New Roman"/>
              </a:rPr>
              <a:t> research </a:t>
            </a:r>
            <a:r>
              <a:rPr dirty="0" sz="1100" spc="-5">
                <a:latin typeface="Times New Roman"/>
                <a:cs typeface="Times New Roman"/>
              </a:rPr>
              <a:t>and scholarship.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single </a:t>
            </a:r>
            <a:r>
              <a:rPr dirty="0" sz="1100">
                <a:latin typeface="Times New Roman"/>
                <a:cs typeface="Times New Roman"/>
              </a:rPr>
              <a:t>global </a:t>
            </a:r>
            <a:r>
              <a:rPr dirty="0" sz="1100" spc="-5">
                <a:latin typeface="Times New Roman"/>
                <a:cs typeface="Times New Roman"/>
              </a:rPr>
              <a:t>language may also contribute to </a:t>
            </a:r>
            <a:r>
              <a:rPr dirty="0" sz="1100">
                <a:latin typeface="Times New Roman"/>
                <a:cs typeface="Times New Roman"/>
              </a:rPr>
              <a:t>bringing </a:t>
            </a:r>
            <a:r>
              <a:rPr dirty="0" sz="1100" spc="-5">
                <a:latin typeface="Times New Roman"/>
                <a:cs typeface="Times New Roman"/>
              </a:rPr>
              <a:t>countries closer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enabling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share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books,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music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movies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thus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promoting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peace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harmony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world.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But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 </a:t>
            </a:r>
            <a:r>
              <a:rPr dirty="0" sz="1100">
                <a:latin typeface="Times New Roman"/>
                <a:cs typeface="Times New Roman"/>
              </a:rPr>
              <a:t> overlook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fact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a global </a:t>
            </a:r>
            <a:r>
              <a:rPr dirty="0" sz="1100" spc="-5">
                <a:latin typeface="Times New Roman"/>
                <a:cs typeface="Times New Roman"/>
              </a:rPr>
              <a:t>language also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its </a:t>
            </a:r>
            <a:r>
              <a:rPr dirty="0" sz="1100">
                <a:latin typeface="Times New Roman"/>
                <a:cs typeface="Times New Roman"/>
              </a:rPr>
              <a:t>disadvantages. It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>
                <a:latin typeface="Times New Roman"/>
                <a:cs typeface="Times New Roman"/>
              </a:rPr>
              <a:t>unduly </a:t>
            </a:r>
            <a:r>
              <a:rPr dirty="0" sz="1100" spc="-5">
                <a:latin typeface="Times New Roman"/>
                <a:cs typeface="Times New Roman"/>
              </a:rPr>
              <a:t>empower its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speakers 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eliminate minor languages entirely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the </a:t>
            </a:r>
            <a:r>
              <a:rPr dirty="0" sz="1100">
                <a:latin typeface="Times New Roman"/>
                <a:cs typeface="Times New Roman"/>
              </a:rPr>
              <a:t>face of </a:t>
            </a:r>
            <a:r>
              <a:rPr dirty="0" sz="1100" spc="-5">
                <a:latin typeface="Times New Roman"/>
                <a:cs typeface="Times New Roman"/>
              </a:rPr>
              <a:t>the world.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Topic-007: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Dangers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Global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2286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Due to the </a:t>
            </a:r>
            <a:r>
              <a:rPr dirty="0" sz="1100">
                <a:latin typeface="Times New Roman"/>
                <a:cs typeface="Times New Roman"/>
              </a:rPr>
              <a:t>hegemonic presence of </a:t>
            </a:r>
            <a:r>
              <a:rPr dirty="0" sz="1100" spc="-5">
                <a:latin typeface="Times New Roman"/>
                <a:cs typeface="Times New Roman"/>
              </a:rPr>
              <a:t>English, an elite monolingual class comes into existence which is </a:t>
            </a:r>
            <a:r>
              <a:rPr dirty="0" sz="1100">
                <a:latin typeface="Times New Roman"/>
                <a:cs typeface="Times New Roman"/>
              </a:rPr>
              <a:t>overly </a:t>
            </a:r>
            <a:r>
              <a:rPr dirty="0" sz="1100" spc="-5">
                <a:latin typeface="Times New Roman"/>
                <a:cs typeface="Times New Roman"/>
              </a:rPr>
              <a:t>self-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satisfied </a:t>
            </a:r>
            <a:r>
              <a:rPr dirty="0" sz="1100">
                <a:latin typeface="Times New Roman"/>
                <a:cs typeface="Times New Roman"/>
              </a:rPr>
              <a:t>due </a:t>
            </a:r>
            <a:r>
              <a:rPr dirty="0" sz="1100" spc="-5">
                <a:latin typeface="Times New Roman"/>
                <a:cs typeface="Times New Roman"/>
              </a:rPr>
              <a:t>to the </a:t>
            </a:r>
            <a:r>
              <a:rPr dirty="0" sz="1100">
                <a:latin typeface="Times New Roman"/>
                <a:cs typeface="Times New Roman"/>
              </a:rPr>
              <a:t>fact </a:t>
            </a:r>
            <a:r>
              <a:rPr dirty="0" sz="1100" spc="-5">
                <a:latin typeface="Times New Roman"/>
                <a:cs typeface="Times New Roman"/>
              </a:rPr>
              <a:t>that it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access to the </a:t>
            </a:r>
            <a:r>
              <a:rPr dirty="0" sz="1100">
                <a:latin typeface="Times New Roman"/>
                <a:cs typeface="Times New Roman"/>
              </a:rPr>
              <a:t>global </a:t>
            </a:r>
            <a:r>
              <a:rPr dirty="0" sz="1100" spc="-5">
                <a:latin typeface="Times New Roman"/>
                <a:cs typeface="Times New Roman"/>
              </a:rPr>
              <a:t>languageand the </a:t>
            </a:r>
            <a:r>
              <a:rPr dirty="0" sz="1100">
                <a:latin typeface="Times New Roman"/>
                <a:cs typeface="Times New Roman"/>
              </a:rPr>
              <a:t>people belonging </a:t>
            </a:r>
            <a:r>
              <a:rPr dirty="0" sz="1100" spc="-5">
                <a:latin typeface="Times New Roman"/>
                <a:cs typeface="Times New Roman"/>
              </a:rPr>
              <a:t>to this class look </a:t>
            </a:r>
            <a:r>
              <a:rPr dirty="0" sz="1100">
                <a:latin typeface="Times New Roman"/>
                <a:cs typeface="Times New Roman"/>
              </a:rPr>
              <a:t>down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languages. Therefore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gap betweensocial </a:t>
            </a:r>
            <a:r>
              <a:rPr dirty="0" sz="1100" spc="-5">
                <a:latin typeface="Times New Roman"/>
                <a:cs typeface="Times New Roman"/>
              </a:rPr>
              <a:t>classes is created.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Users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advantage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non-users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in: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Business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Employment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Academics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Computers</a:t>
            </a:r>
            <a:endParaRPr sz="1100">
              <a:latin typeface="Times New Roman"/>
              <a:cs typeface="Times New Roman"/>
            </a:endParaRPr>
          </a:p>
          <a:p>
            <a:pPr marL="12700" marR="4544060" indent="2286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Entertainment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Unpopularity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Reduced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opportunities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Topic-008: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Undue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Empowerment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Mother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Tongue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Users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of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Global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1079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One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most important </a:t>
            </a:r>
            <a:r>
              <a:rPr dirty="0" sz="1100">
                <a:latin typeface="Times New Roman"/>
                <a:cs typeface="Times New Roman"/>
              </a:rPr>
              <a:t>disadvantages of a </a:t>
            </a:r>
            <a:r>
              <a:rPr dirty="0" sz="1100" spc="-5">
                <a:latin typeface="Times New Roman"/>
                <a:cs typeface="Times New Roman"/>
              </a:rPr>
              <a:t>single </a:t>
            </a:r>
            <a:r>
              <a:rPr dirty="0" sz="1100">
                <a:latin typeface="Times New Roman"/>
                <a:cs typeface="Times New Roman"/>
              </a:rPr>
              <a:t>global </a:t>
            </a:r>
            <a:r>
              <a:rPr dirty="0" sz="1100" spc="-5">
                <a:latin typeface="Times New Roman"/>
                <a:cs typeface="Times New Roman"/>
              </a:rPr>
              <a:t>language is the advantaged </a:t>
            </a:r>
            <a:r>
              <a:rPr dirty="0" sz="1100">
                <a:latin typeface="Times New Roman"/>
                <a:cs typeface="Times New Roman"/>
              </a:rPr>
              <a:t>position of </a:t>
            </a:r>
            <a:r>
              <a:rPr dirty="0" sz="1100" spc="-5">
                <a:latin typeface="Times New Roman"/>
                <a:cs typeface="Times New Roman"/>
              </a:rPr>
              <a:t>mother tongue </a:t>
            </a:r>
            <a:r>
              <a:rPr dirty="0" sz="1100">
                <a:latin typeface="Times New Roman"/>
                <a:cs typeface="Times New Roman"/>
              </a:rPr>
              <a:t> users </a:t>
            </a:r>
            <a:r>
              <a:rPr dirty="0" sz="1100" spc="-5">
                <a:latin typeface="Times New Roman"/>
                <a:cs typeface="Times New Roman"/>
              </a:rPr>
              <a:t>as compared to the </a:t>
            </a:r>
            <a:r>
              <a:rPr dirty="0" sz="1100">
                <a:latin typeface="Times New Roman"/>
                <a:cs typeface="Times New Roman"/>
              </a:rPr>
              <a:t>non-native users. </a:t>
            </a:r>
            <a:r>
              <a:rPr dirty="0" sz="1100" spc="-5">
                <a:latin typeface="Times New Roman"/>
                <a:cs typeface="Times New Roman"/>
              </a:rPr>
              <a:t>As language as an instrument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action and </a:t>
            </a:r>
            <a:r>
              <a:rPr dirty="0" sz="1100">
                <a:latin typeface="Times New Roman"/>
                <a:cs typeface="Times New Roman"/>
              </a:rPr>
              <a:t>power, </a:t>
            </a:r>
            <a:r>
              <a:rPr dirty="0" sz="1100" spc="-5">
                <a:latin typeface="Times New Roman"/>
                <a:cs typeface="Times New Roman"/>
              </a:rPr>
              <a:t>the mother tongue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get </a:t>
            </a:r>
            <a:r>
              <a:rPr dirty="0" sz="1100" spc="-5">
                <a:latin typeface="Times New Roman"/>
                <a:cs typeface="Times New Roman"/>
              </a:rPr>
              <a:t>empowerment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professional fields </a:t>
            </a:r>
            <a:r>
              <a:rPr dirty="0" sz="1100" spc="-5">
                <a:latin typeface="Times New Roman"/>
                <a:cs typeface="Times New Roman"/>
              </a:rPr>
              <a:t>such as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Science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technology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Business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Academics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solution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>
                <a:latin typeface="Times New Roman"/>
                <a:cs typeface="Times New Roman"/>
              </a:rPr>
              <a:t> problem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powerful bilingualism.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maintain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powerful bilingualism, proper </a:t>
            </a:r>
            <a:r>
              <a:rPr dirty="0" sz="1100" spc="-5">
                <a:latin typeface="Times New Roman"/>
                <a:cs typeface="Times New Roman"/>
              </a:rPr>
              <a:t>attention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>
                <a:latin typeface="Times New Roman"/>
                <a:cs typeface="Times New Roman"/>
              </a:rPr>
              <a:t> be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paid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teaching/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global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educational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contexts.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should</a:t>
            </a:r>
            <a:r>
              <a:rPr dirty="0" sz="1100">
                <a:latin typeface="Times New Roman"/>
                <a:cs typeface="Times New Roman"/>
              </a:rPr>
              <a:t> be</a:t>
            </a:r>
            <a:r>
              <a:rPr dirty="0" sz="1100" spc="-5">
                <a:latin typeface="Times New Roman"/>
                <a:cs typeface="Times New Roman"/>
              </a:rPr>
              <a:t> introduced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schools 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improve students’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skills.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Difficulty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achieving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bilingualism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71590" cy="740029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algn="just" marL="469900" indent="-228600">
              <a:lnSpc>
                <a:spcPct val="100000"/>
              </a:lnSpc>
              <a:spcBef>
                <a:spcPts val="234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Financial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implications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Only those countries are able to achieve </a:t>
            </a:r>
            <a:r>
              <a:rPr dirty="0" sz="1100">
                <a:latin typeface="Times New Roman"/>
                <a:cs typeface="Times New Roman"/>
              </a:rPr>
              <a:t>powerful bilingualism </a:t>
            </a:r>
            <a:r>
              <a:rPr dirty="0" sz="1100" spc="-5">
                <a:latin typeface="Times New Roman"/>
                <a:cs typeface="Times New Roman"/>
              </a:rPr>
              <a:t>which are </a:t>
            </a:r>
            <a:r>
              <a:rPr dirty="0" sz="1100">
                <a:latin typeface="Times New Roman"/>
                <a:cs typeface="Times New Roman"/>
              </a:rPr>
              <a:t>financially better off </a:t>
            </a:r>
            <a:r>
              <a:rPr dirty="0" sz="1100" spc="-5">
                <a:latin typeface="Times New Roman"/>
                <a:cs typeface="Times New Roman"/>
              </a:rPr>
              <a:t>e.g. Germany,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Sweden, etc. This type </a:t>
            </a:r>
            <a:r>
              <a:rPr dirty="0" sz="1100">
                <a:latin typeface="Times New Roman"/>
                <a:cs typeface="Times New Roman"/>
              </a:rPr>
              <a:t>of bilingualism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available to the citizens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developing </a:t>
            </a:r>
            <a:r>
              <a:rPr dirty="0" sz="1100" spc="-5">
                <a:latin typeface="Times New Roman"/>
                <a:cs typeface="Times New Roman"/>
              </a:rPr>
              <a:t>countries e.g. Pakistan,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Bangladesh,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9: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Complacency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 indent="4572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Complacency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satisfied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one’s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motivation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5">
                <a:latin typeface="Times New Roman"/>
                <a:cs typeface="Times New Roman"/>
              </a:rPr>
              <a:t> languages. The </a:t>
            </a:r>
            <a:r>
              <a:rPr dirty="0" sz="1100">
                <a:latin typeface="Times New Roman"/>
                <a:cs typeface="Times New Roman"/>
              </a:rPr>
              <a:t>following factors</a:t>
            </a:r>
            <a:r>
              <a:rPr dirty="0" sz="1100" spc="-5">
                <a:latin typeface="Times New Roman"/>
                <a:cs typeface="Times New Roman"/>
              </a:rPr>
              <a:t> in involved in linguistic complacency.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money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opportunity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attitude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needed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minor languages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elimination.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Breakaway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monolingual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bias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Sensitivity 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business partner’s language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Respect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Readiness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10: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Loss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Diversity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698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phenomenon 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death </a:t>
            </a:r>
            <a:r>
              <a:rPr dirty="0" sz="1100" spc="-5">
                <a:latin typeface="Times New Roman"/>
                <a:cs typeface="Times New Roman"/>
              </a:rPr>
              <a:t>is an </a:t>
            </a:r>
            <a:r>
              <a:rPr dirty="0" sz="1100">
                <a:latin typeface="Times New Roman"/>
                <a:cs typeface="Times New Roman"/>
              </a:rPr>
              <a:t>occurrence </a:t>
            </a:r>
            <a:r>
              <a:rPr dirty="0" sz="1100" spc="-5">
                <a:latin typeface="Times New Roman"/>
                <a:cs typeface="Times New Roman"/>
              </a:rPr>
              <a:t>throughout the </a:t>
            </a:r>
            <a:r>
              <a:rPr dirty="0" sz="1100">
                <a:latin typeface="Times New Roman"/>
                <a:cs typeface="Times New Roman"/>
              </a:rPr>
              <a:t>history.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 are </a:t>
            </a:r>
            <a:r>
              <a:rPr dirty="0" sz="1100">
                <a:latin typeface="Times New Roman"/>
                <a:cs typeface="Times New Roman"/>
              </a:rPr>
              <a:t>7, 099 </a:t>
            </a:r>
            <a:r>
              <a:rPr dirty="0" sz="1100" spc="-5">
                <a:latin typeface="Times New Roman"/>
                <a:cs typeface="Times New Roman"/>
              </a:rPr>
              <a:t>languages in 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 </a:t>
            </a:r>
            <a:r>
              <a:rPr dirty="0" sz="1100">
                <a:latin typeface="Times New Roman"/>
                <a:cs typeface="Times New Roman"/>
              </a:rPr>
              <a:t>days out of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fifty percent</a:t>
            </a:r>
            <a:r>
              <a:rPr dirty="0" sz="1100" spc="-5">
                <a:latin typeface="Times New Roman"/>
                <a:cs typeface="Times New Roman"/>
              </a:rPr>
              <a:t> are at </a:t>
            </a:r>
            <a:r>
              <a:rPr dirty="0" sz="1100">
                <a:latin typeface="Times New Roman"/>
                <a:cs typeface="Times New Roman"/>
              </a:rPr>
              <a:t>risk.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natural</a:t>
            </a:r>
            <a:r>
              <a:rPr dirty="0" sz="1100" spc="-5">
                <a:latin typeface="Times New Roman"/>
                <a:cs typeface="Times New Roman"/>
              </a:rPr>
              <a:t> catastrophes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often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death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Earthquakes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Floods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Storms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Famines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Droughts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factors</a:t>
            </a:r>
            <a:r>
              <a:rPr dirty="0" sz="1100" spc="-5">
                <a:latin typeface="Times New Roman"/>
                <a:cs typeface="Times New Roman"/>
              </a:rPr>
              <a:t> that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death</a:t>
            </a:r>
            <a:r>
              <a:rPr dirty="0" sz="1100" spc="-5">
                <a:latin typeface="Times New Roman"/>
                <a:cs typeface="Times New Roman"/>
              </a:rPr>
              <a:t> 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mentioned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below.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assimilation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Demographic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submersion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Military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superiority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reasons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Urbanisation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Consumer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5">
                <a:latin typeface="Times New Roman"/>
                <a:cs typeface="Times New Roman"/>
              </a:rPr>
              <a:t> 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organizations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conservation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endangered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Endangered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Tokyo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Endangered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Endangered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Fund,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8579554"/>
            <a:ext cx="6380480" cy="740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11: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Loss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Diversity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469900" marR="5080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affected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minority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areas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North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Therefore,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had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disappearance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88100" cy="636460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earth.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Impact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linguistic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diversity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Influences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loan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diversity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Correlation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adoption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decline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minority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Asymmetrical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relations</a:t>
            </a:r>
            <a:endParaRPr sz="1100">
              <a:latin typeface="Times New Roman"/>
              <a:cs typeface="Times New Roman"/>
            </a:endParaRPr>
          </a:p>
          <a:p>
            <a:pPr marL="12700" marR="3880485" indent="228600">
              <a:lnSpc>
                <a:spcPct val="1102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Impact on first </a:t>
            </a:r>
            <a:r>
              <a:rPr dirty="0" sz="1100" spc="-5">
                <a:latin typeface="Times New Roman"/>
                <a:cs typeface="Times New Roman"/>
              </a:rPr>
              <a:t>world countries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behind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adoption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interdependence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forums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Access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markets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Functional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Empowerment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subjugated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marginalized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12: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Issues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National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Cultural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Identity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200"/>
              </a:lnSpc>
            </a:pPr>
            <a:r>
              <a:rPr dirty="0" sz="1200" spc="-5">
                <a:latin typeface="Times New Roman"/>
                <a:cs typeface="Times New Roman"/>
              </a:rPr>
              <a:t>Language is </a:t>
            </a:r>
            <a:r>
              <a:rPr dirty="0" sz="1200">
                <a:latin typeface="Times New Roman"/>
                <a:cs typeface="Times New Roman"/>
              </a:rPr>
              <a:t>a </a:t>
            </a:r>
            <a:r>
              <a:rPr dirty="0" sz="1200" spc="-5">
                <a:latin typeface="Times New Roman"/>
                <a:cs typeface="Times New Roman"/>
              </a:rPr>
              <a:t>major means(some would say the chief means)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-5">
                <a:latin typeface="Times New Roman"/>
                <a:cs typeface="Times New Roman"/>
              </a:rPr>
              <a:t>showing where we </a:t>
            </a:r>
            <a:r>
              <a:rPr dirty="0" sz="1200">
                <a:latin typeface="Times New Roman"/>
                <a:cs typeface="Times New Roman"/>
              </a:rPr>
              <a:t>belong,and of 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distinguishing one </a:t>
            </a:r>
            <a:r>
              <a:rPr dirty="0" sz="1200" spc="-5">
                <a:latin typeface="Times New Roman"/>
                <a:cs typeface="Times New Roman"/>
              </a:rPr>
              <a:t>social </a:t>
            </a:r>
            <a:r>
              <a:rPr dirty="0" sz="1200">
                <a:latin typeface="Times New Roman"/>
                <a:cs typeface="Times New Roman"/>
              </a:rPr>
              <a:t>group from </a:t>
            </a:r>
            <a:r>
              <a:rPr dirty="0" sz="1200" spc="-5">
                <a:latin typeface="Times New Roman"/>
                <a:cs typeface="Times New Roman"/>
              </a:rPr>
              <a:t>another, and allover the world we can see evidence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-5">
                <a:latin typeface="Times New Roman"/>
                <a:cs typeface="Times New Roman"/>
              </a:rPr>
              <a:t>linguistic </a:t>
            </a:r>
            <a:r>
              <a:rPr dirty="0" sz="1200">
                <a:latin typeface="Times New Roman"/>
                <a:cs typeface="Times New Roman"/>
              </a:rPr>
              <a:t> divergencerather </a:t>
            </a:r>
            <a:r>
              <a:rPr dirty="0" sz="1200" spc="-5">
                <a:latin typeface="Times New Roman"/>
                <a:cs typeface="Times New Roman"/>
              </a:rPr>
              <a:t>than convergence. For </a:t>
            </a:r>
            <a:r>
              <a:rPr dirty="0" sz="1200">
                <a:latin typeface="Times New Roman"/>
                <a:cs typeface="Times New Roman"/>
              </a:rPr>
              <a:t>decades, </a:t>
            </a:r>
            <a:r>
              <a:rPr dirty="0" sz="1200" spc="-5">
                <a:latin typeface="Times New Roman"/>
                <a:cs typeface="Times New Roman"/>
              </a:rPr>
              <a:t>many </a:t>
            </a:r>
            <a:r>
              <a:rPr dirty="0" sz="1200">
                <a:latin typeface="Times New Roman"/>
                <a:cs typeface="Times New Roman"/>
              </a:rPr>
              <a:t>people </a:t>
            </a:r>
            <a:r>
              <a:rPr dirty="0" sz="1200" spc="-5">
                <a:latin typeface="Times New Roman"/>
                <a:cs typeface="Times New Roman"/>
              </a:rPr>
              <a:t>in thecountries </a:t>
            </a:r>
            <a:r>
              <a:rPr dirty="0" sz="1200">
                <a:latin typeface="Times New Roman"/>
                <a:cs typeface="Times New Roman"/>
              </a:rPr>
              <a:t>of former </a:t>
            </a:r>
            <a:r>
              <a:rPr dirty="0" sz="1200" spc="-5">
                <a:latin typeface="Times New Roman"/>
                <a:cs typeface="Times New Roman"/>
              </a:rPr>
              <a:t>Yugoslavia 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made </a:t>
            </a:r>
            <a:r>
              <a:rPr dirty="0" sz="1200">
                <a:latin typeface="Times New Roman"/>
                <a:cs typeface="Times New Roman"/>
              </a:rPr>
              <a:t>use of a </a:t>
            </a:r>
            <a:r>
              <a:rPr dirty="0" sz="1200" spc="-5">
                <a:latin typeface="Times New Roman"/>
                <a:cs typeface="Times New Roman"/>
              </a:rPr>
              <a:t>common language,Serbo-Croatian. But since the civil wars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-5">
                <a:latin typeface="Times New Roman"/>
                <a:cs typeface="Times New Roman"/>
              </a:rPr>
              <a:t>the early </a:t>
            </a:r>
            <a:r>
              <a:rPr dirty="0" sz="1200">
                <a:latin typeface="Times New Roman"/>
                <a:cs typeface="Times New Roman"/>
              </a:rPr>
              <a:t>1990s, </a:t>
            </a:r>
            <a:r>
              <a:rPr dirty="0" sz="1200" spc="-5">
                <a:latin typeface="Times New Roman"/>
                <a:cs typeface="Times New Roman"/>
              </a:rPr>
              <a:t>theSerbs </a:t>
            </a:r>
            <a:r>
              <a:rPr dirty="0" sz="1200">
                <a:latin typeface="Times New Roman"/>
                <a:cs typeface="Times New Roman"/>
              </a:rPr>
              <a:t> have referred </a:t>
            </a:r>
            <a:r>
              <a:rPr dirty="0" sz="1200" spc="-5">
                <a:latin typeface="Times New Roman"/>
                <a:cs typeface="Times New Roman"/>
              </a:rPr>
              <a:t>to their language as Serbian, the Bosnians totheirs as Bosnian, and the Croats to theirs as 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Croatian,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with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eachcommunity</a:t>
            </a:r>
            <a:r>
              <a:rPr dirty="0" sz="1200">
                <a:latin typeface="Times New Roman"/>
                <a:cs typeface="Times New Roman"/>
              </a:rPr>
              <a:t> drawing </a:t>
            </a:r>
            <a:r>
              <a:rPr dirty="0" sz="1200" spc="-5">
                <a:latin typeface="Times New Roman"/>
                <a:cs typeface="Times New Roman"/>
              </a:rPr>
              <a:t>attention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linguistic</a:t>
            </a:r>
            <a:r>
              <a:rPr dirty="0" sz="1200">
                <a:latin typeface="Times New Roman"/>
                <a:cs typeface="Times New Roman"/>
              </a:rPr>
              <a:t> features </a:t>
            </a:r>
            <a:r>
              <a:rPr dirty="0" sz="1200" spc="-5">
                <a:latin typeface="Times New Roman"/>
                <a:cs typeface="Times New Roman"/>
              </a:rPr>
              <a:t>whichare</a:t>
            </a:r>
            <a:r>
              <a:rPr dirty="0" sz="1200" spc="2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distinctive. A 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similar situation exists in Scandinavia, whereSwedish, Norwegian, and Danish are largely mutually 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intelligible,but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are </a:t>
            </a:r>
            <a:r>
              <a:rPr dirty="0" sz="1200">
                <a:latin typeface="Times New Roman"/>
                <a:cs typeface="Times New Roman"/>
              </a:rPr>
              <a:t>none </a:t>
            </a:r>
            <a:r>
              <a:rPr dirty="0" sz="1200" spc="-5">
                <a:latin typeface="Times New Roman"/>
                <a:cs typeface="Times New Roman"/>
              </a:rPr>
              <a:t>the less considered to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 different languages.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algn="just" marL="12700" marR="23495">
              <a:lnSpc>
                <a:spcPct val="110200"/>
              </a:lnSpc>
            </a:pPr>
            <a:r>
              <a:rPr dirty="0" sz="1200" spc="-5">
                <a:latin typeface="Times New Roman"/>
                <a:cs typeface="Times New Roman"/>
              </a:rPr>
              <a:t>Arguments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about the</a:t>
            </a:r>
            <a:r>
              <a:rPr dirty="0" sz="1200">
                <a:latin typeface="Times New Roman"/>
                <a:cs typeface="Times New Roman"/>
              </a:rPr>
              <a:t> need for national or </a:t>
            </a:r>
            <a:r>
              <a:rPr dirty="0" sz="1200" spc="-5">
                <a:latin typeface="Times New Roman"/>
                <a:cs typeface="Times New Roman"/>
              </a:rPr>
              <a:t>cultural identity</a:t>
            </a:r>
            <a:r>
              <a:rPr dirty="0" sz="1200" spc="29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areoften seen</a:t>
            </a:r>
            <a:r>
              <a:rPr dirty="0" sz="1200" spc="29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 </a:t>
            </a:r>
            <a:r>
              <a:rPr dirty="0" sz="1200">
                <a:latin typeface="Times New Roman"/>
                <a:cs typeface="Times New Roman"/>
              </a:rPr>
              <a:t>being opposed </a:t>
            </a:r>
            <a:r>
              <a:rPr dirty="0" sz="1200" spc="-5">
                <a:latin typeface="Times New Roman"/>
                <a:cs typeface="Times New Roman"/>
              </a:rPr>
              <a:t>to</a:t>
            </a:r>
            <a:r>
              <a:rPr dirty="0" sz="1200" spc="29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those 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about the </a:t>
            </a:r>
            <a:r>
              <a:rPr dirty="0" sz="1200">
                <a:latin typeface="Times New Roman"/>
                <a:cs typeface="Times New Roman"/>
              </a:rPr>
              <a:t>need for </a:t>
            </a:r>
            <a:r>
              <a:rPr dirty="0" sz="1200" spc="-5">
                <a:latin typeface="Times New Roman"/>
                <a:cs typeface="Times New Roman"/>
              </a:rPr>
              <a:t>mutualintelligibility. But this is misleading. </a:t>
            </a:r>
            <a:r>
              <a:rPr dirty="0" sz="1200">
                <a:latin typeface="Times New Roman"/>
                <a:cs typeface="Times New Roman"/>
              </a:rPr>
              <a:t>It </a:t>
            </a:r>
            <a:r>
              <a:rPr dirty="0" sz="1200" spc="-5">
                <a:latin typeface="Times New Roman"/>
                <a:cs typeface="Times New Roman"/>
              </a:rPr>
              <a:t>is </a:t>
            </a:r>
            <a:r>
              <a:rPr dirty="0" sz="1200">
                <a:latin typeface="Times New Roman"/>
                <a:cs typeface="Times New Roman"/>
              </a:rPr>
              <a:t>perfectly possible </a:t>
            </a:r>
            <a:r>
              <a:rPr dirty="0" sz="1200" spc="-5">
                <a:latin typeface="Times New Roman"/>
                <a:cs typeface="Times New Roman"/>
              </a:rPr>
              <a:t>todevelop </a:t>
            </a:r>
            <a:r>
              <a:rPr dirty="0" sz="1200">
                <a:latin typeface="Times New Roman"/>
                <a:cs typeface="Times New Roman"/>
              </a:rPr>
              <a:t>a 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situation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which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intelligibility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identity</a:t>
            </a:r>
            <a:r>
              <a:rPr dirty="0" sz="1200">
                <a:latin typeface="Times New Roman"/>
                <a:cs typeface="Times New Roman"/>
              </a:rPr>
              <a:t> happilyco-exist. </a:t>
            </a:r>
            <a:r>
              <a:rPr dirty="0" sz="1200" spc="-5">
                <a:latin typeface="Times New Roman"/>
                <a:cs typeface="Times New Roman"/>
              </a:rPr>
              <a:t>This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situation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>
                <a:latin typeface="Times New Roman"/>
                <a:cs typeface="Times New Roman"/>
              </a:rPr>
              <a:t> familiar one of 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bilingualism </a:t>
            </a:r>
            <a:r>
              <a:rPr dirty="0" sz="1200">
                <a:latin typeface="Times New Roman"/>
                <a:cs typeface="Times New Roman"/>
              </a:rPr>
              <a:t>– </a:t>
            </a:r>
            <a:r>
              <a:rPr dirty="0" sz="1200" spc="-5">
                <a:latin typeface="Times New Roman"/>
                <a:cs typeface="Times New Roman"/>
              </a:rPr>
              <a:t>buta bilingualism where </a:t>
            </a:r>
            <a:r>
              <a:rPr dirty="0" sz="1200">
                <a:latin typeface="Times New Roman"/>
                <a:cs typeface="Times New Roman"/>
              </a:rPr>
              <a:t>one of </a:t>
            </a:r>
            <a:r>
              <a:rPr dirty="0" sz="1200" spc="-5">
                <a:latin typeface="Times New Roman"/>
                <a:cs typeface="Times New Roman"/>
              </a:rPr>
              <a:t>the languages within </a:t>
            </a:r>
            <a:r>
              <a:rPr dirty="0" sz="1200">
                <a:latin typeface="Times New Roman"/>
                <a:cs typeface="Times New Roman"/>
              </a:rPr>
              <a:t>a </a:t>
            </a:r>
            <a:r>
              <a:rPr dirty="0" sz="1200" spc="-5">
                <a:latin typeface="Times New Roman"/>
                <a:cs typeface="Times New Roman"/>
              </a:rPr>
              <a:t>speaker isthe global language, </a:t>
            </a:r>
            <a:r>
              <a:rPr dirty="0" sz="1200">
                <a:latin typeface="Times New Roman"/>
                <a:cs typeface="Times New Roman"/>
              </a:rPr>
              <a:t> providing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access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to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community,and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>
                <a:latin typeface="Times New Roman"/>
                <a:cs typeface="Times New Roman"/>
              </a:rPr>
              <a:t> other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>
                <a:latin typeface="Times New Roman"/>
                <a:cs typeface="Times New Roman"/>
              </a:rPr>
              <a:t> 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well-resourced</a:t>
            </a:r>
            <a:r>
              <a:rPr dirty="0" sz="1200">
                <a:latin typeface="Times New Roman"/>
                <a:cs typeface="Times New Roman"/>
              </a:rPr>
              <a:t> regional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language, </a:t>
            </a:r>
            <a:r>
              <a:rPr dirty="0" sz="1200">
                <a:latin typeface="Times New Roman"/>
                <a:cs typeface="Times New Roman"/>
              </a:rPr>
              <a:t> providingaccess</a:t>
            </a:r>
            <a:r>
              <a:rPr dirty="0" sz="1200" spc="-5">
                <a:latin typeface="Times New Roman"/>
                <a:cs typeface="Times New Roman"/>
              </a:rPr>
              <a:t> to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 local community.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61912"/>
            <a:ext cx="6377940" cy="8751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6896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Lesson-03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198120">
              <a:lnSpc>
                <a:spcPct val="100000"/>
              </a:lnSpc>
            </a:pPr>
            <a:r>
              <a:rPr dirty="0" sz="1400" spc="30">
                <a:latin typeface="Times New Roman"/>
                <a:cs typeface="Times New Roman"/>
              </a:rPr>
              <a:t>Historical,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Political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and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5">
                <a:latin typeface="Times New Roman"/>
                <a:cs typeface="Times New Roman"/>
              </a:rPr>
              <a:t>Social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30">
                <a:latin typeface="Times New Roman"/>
                <a:cs typeface="Times New Roman"/>
              </a:rPr>
              <a:t>Contexts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13: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Introducing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World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7044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World Englishes as </a:t>
            </a:r>
            <a:r>
              <a:rPr dirty="0" sz="1100">
                <a:latin typeface="Times New Roman"/>
                <a:cs typeface="Times New Roman"/>
              </a:rPr>
              <a:t>a field of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has been recently </a:t>
            </a:r>
            <a:r>
              <a:rPr dirty="0" sz="1100" spc="-5">
                <a:latin typeface="Times New Roman"/>
                <a:cs typeface="Times New Roman"/>
              </a:rPr>
              <a:t>established.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two </a:t>
            </a:r>
            <a:r>
              <a:rPr dirty="0" sz="1100">
                <a:latin typeface="Times New Roman"/>
                <a:cs typeface="Times New Roman"/>
              </a:rPr>
              <a:t>distinct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positions on </a:t>
            </a:r>
            <a:r>
              <a:rPr dirty="0" sz="1100" spc="-5">
                <a:latin typeface="Times New Roman"/>
                <a:cs typeface="Times New Roman"/>
              </a:rPr>
              <a:t>it:</a:t>
            </a:r>
            <a:endParaRPr sz="1100">
              <a:latin typeface="Times New Roman"/>
              <a:cs typeface="Times New Roman"/>
            </a:endParaRPr>
          </a:p>
          <a:p>
            <a:pPr marL="553720" indent="-83820">
              <a:lnSpc>
                <a:spcPct val="100000"/>
              </a:lnSpc>
              <a:spcBef>
                <a:spcPts val="135"/>
              </a:spcBef>
              <a:buChar char="•"/>
              <a:tabLst>
                <a:tab pos="55372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single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standardised</a:t>
            </a:r>
            <a:r>
              <a:rPr dirty="0" sz="1100">
                <a:latin typeface="Times New Roman"/>
                <a:cs typeface="Times New Roman"/>
              </a:rPr>
              <a:t> form 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(Randolph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Quirk,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1985)</a:t>
            </a:r>
            <a:endParaRPr sz="1100">
              <a:latin typeface="Times New Roman"/>
              <a:cs typeface="Times New Roman"/>
            </a:endParaRPr>
          </a:p>
          <a:p>
            <a:pPr marL="553720" indent="-83820">
              <a:lnSpc>
                <a:spcPct val="100000"/>
              </a:lnSpc>
              <a:spcBef>
                <a:spcPts val="135"/>
              </a:spcBef>
              <a:buChar char="•"/>
              <a:tabLst>
                <a:tab pos="553720" algn="l"/>
              </a:tabLst>
            </a:pP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equal varieties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(BarajKachru,</a:t>
            </a:r>
            <a:r>
              <a:rPr dirty="0" sz="1100">
                <a:latin typeface="Times New Roman"/>
                <a:cs typeface="Times New Roman"/>
              </a:rPr>
              <a:t> 1985)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40">
                <a:latin typeface="Times New Roman"/>
                <a:cs typeface="Times New Roman"/>
              </a:rPr>
              <a:t>Kachru’s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10">
                <a:latin typeface="Times New Roman"/>
                <a:cs typeface="Times New Roman"/>
              </a:rPr>
              <a:t>classification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20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Kachru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classified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concentric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circles: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SzPct val="90909"/>
              <a:buAutoNum type="arabicPeriod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Inner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SzPct val="90909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Oute</a:t>
            </a:r>
            <a:r>
              <a:rPr dirty="0" sz="1100">
                <a:latin typeface="Times New Roman"/>
                <a:cs typeface="Times New Roman"/>
              </a:rPr>
              <a:t>r</a:t>
            </a:r>
            <a:r>
              <a:rPr dirty="0" sz="1100" spc="-5">
                <a:latin typeface="Times New Roman"/>
                <a:cs typeface="Times New Roman"/>
              </a:rPr>
              <a:t> Circle</a:t>
            </a:r>
            <a:endParaRPr sz="1100">
              <a:latin typeface="Times New Roman"/>
              <a:cs typeface="Times New Roman"/>
            </a:endParaRPr>
          </a:p>
          <a:p>
            <a:pPr marL="12700" marR="4304030" indent="342900">
              <a:lnSpc>
                <a:spcPct val="110200"/>
              </a:lnSpc>
              <a:buSzPct val="90909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Traditional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classifications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(ENL)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(ESL)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(EFL)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Phases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SzPct val="90909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remains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unrecognized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SzPct val="90909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side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SzPct val="90909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becomes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recognized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endParaRPr sz="1100">
              <a:latin typeface="Times New Roman"/>
              <a:cs typeface="Times New Roman"/>
            </a:endParaRPr>
          </a:p>
          <a:p>
            <a:pPr marL="12700" marR="5158105">
              <a:lnSpc>
                <a:spcPct val="2162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 14: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Origins-I 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-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15:</a:t>
            </a:r>
            <a:r>
              <a:rPr dirty="0" u="sng" sz="1100" spc="-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Origins-II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north-west</a:t>
            </a:r>
            <a:r>
              <a:rPr dirty="0" sz="1100" spc="-5">
                <a:latin typeface="Times New Roman"/>
                <a:cs typeface="Times New Roman"/>
              </a:rPr>
              <a:t> corner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Teutish,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Teutsch,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Deutsch</a:t>
            </a:r>
            <a:endParaRPr sz="1100">
              <a:latin typeface="Times New Roman"/>
              <a:cs typeface="Times New Roman"/>
            </a:endParaRPr>
          </a:p>
          <a:p>
            <a:pPr marL="12700" marR="2120900" indent="34290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Brought to Britain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settlers like Jutes,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Angles and Saxons in</a:t>
            </a:r>
            <a:r>
              <a:rPr dirty="0" sz="1100">
                <a:latin typeface="Times New Roman"/>
                <a:cs typeface="Times New Roman"/>
              </a:rPr>
              <a:t> 449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Arrival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 Britain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invading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army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uncoordinated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bands?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Ruling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minority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settlers?</a:t>
            </a:r>
            <a:endParaRPr sz="1100">
              <a:latin typeface="Times New Roman"/>
              <a:cs typeface="Times New Roman"/>
            </a:endParaRPr>
          </a:p>
          <a:p>
            <a:pPr marL="355600" marR="508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Pushed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inhabitants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island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Britons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north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(Scotland,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Wales,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Cornwall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Ireland)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Arrival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Britain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had</a:t>
            </a:r>
            <a:r>
              <a:rPr dirty="0" sz="1100" spc="-5">
                <a:latin typeface="Times New Roman"/>
                <a:cs typeface="Times New Roman"/>
              </a:rPr>
              <a:t> 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prestige</a:t>
            </a:r>
            <a:r>
              <a:rPr dirty="0" sz="1100" spc="-5">
                <a:latin typeface="Times New Roman"/>
                <a:cs typeface="Times New Roman"/>
              </a:rPr>
              <a:t> e.g.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Wealh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Britons,foreigners/slaves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Germanic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groups</a:t>
            </a:r>
            <a:r>
              <a:rPr dirty="0" sz="1100" spc="-5">
                <a:latin typeface="Times New Roman"/>
                <a:cs typeface="Times New Roman"/>
              </a:rPr>
              <a:t> were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culture.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‘the Angles’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settlers.</a:t>
            </a:r>
            <a:endParaRPr sz="1100">
              <a:latin typeface="Times New Roman"/>
              <a:cs typeface="Times New Roman"/>
            </a:endParaRPr>
          </a:p>
          <a:p>
            <a:pPr marL="12700" marR="1439545" indent="34290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related </a:t>
            </a:r>
            <a:r>
              <a:rPr dirty="0" sz="1100" spc="-5">
                <a:latin typeface="Times New Roman"/>
                <a:cs typeface="Times New Roman"/>
              </a:rPr>
              <a:t>adjective Engliscwas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 to all these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and their language.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over </a:t>
            </a:r>
            <a:r>
              <a:rPr dirty="0" sz="1100" spc="-5">
                <a:latin typeface="Times New Roman"/>
                <a:cs typeface="Times New Roman"/>
              </a:rPr>
              <a:t>Britain</a:t>
            </a:r>
            <a:endParaRPr sz="1100">
              <a:latin typeface="Times New Roman"/>
              <a:cs typeface="Times New Roman"/>
            </a:endParaRPr>
          </a:p>
          <a:p>
            <a:pPr lvl="1"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Juteland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(Jutland)</a:t>
            </a:r>
            <a:r>
              <a:rPr dirty="0" sz="1100" spc="-5">
                <a:latin typeface="Times New Roman"/>
                <a:cs typeface="Times New Roman"/>
              </a:rPr>
              <a:t> settled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Kent</a:t>
            </a:r>
            <a:endParaRPr sz="1100">
              <a:latin typeface="Times New Roman"/>
              <a:cs typeface="Times New Roman"/>
            </a:endParaRPr>
          </a:p>
          <a:p>
            <a:pPr lvl="1" marL="469900" indent="-57150">
              <a:lnSpc>
                <a:spcPct val="100000"/>
              </a:lnSpc>
              <a:spcBef>
                <a:spcPts val="130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Saxons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western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England.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125085" cy="867918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Britain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0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Essex: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kingdom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Saxons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Wessex: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kingdom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West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Saxons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Middlesex: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kingdom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Middle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Saxons</a:t>
            </a:r>
            <a:endParaRPr sz="1100">
              <a:latin typeface="Times New Roman"/>
              <a:cs typeface="Times New Roman"/>
            </a:endParaRPr>
          </a:p>
          <a:p>
            <a:pPr marL="412750" marR="2281555">
              <a:lnSpc>
                <a:spcPct val="110200"/>
              </a:lnSpc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Sussex: The </a:t>
            </a:r>
            <a:r>
              <a:rPr dirty="0" sz="1100">
                <a:latin typeface="Times New Roman"/>
                <a:cs typeface="Times New Roman"/>
              </a:rPr>
              <a:t>kingdom of </a:t>
            </a:r>
            <a:r>
              <a:rPr dirty="0" sz="1100" spc="-5">
                <a:latin typeface="Times New Roman"/>
                <a:cs typeface="Times New Roman"/>
              </a:rPr>
              <a:t>the South Saxons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 </a:t>
            </a:r>
            <a:r>
              <a:rPr dirty="0" sz="1100" spc="-5">
                <a:latin typeface="Times New Roman"/>
                <a:cs typeface="Times New Roman"/>
              </a:rPr>
              <a:t>Britain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Angles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chiefly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coast.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kingdom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East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Anglia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divided</a:t>
            </a:r>
            <a:r>
              <a:rPr dirty="0" sz="1100" spc="-5">
                <a:latin typeface="Times New Roman"/>
                <a:cs typeface="Times New Roman"/>
              </a:rPr>
              <a:t> into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the:</a:t>
            </a:r>
            <a:endParaRPr sz="1100">
              <a:latin typeface="Times New Roman"/>
              <a:cs typeface="Times New Roman"/>
            </a:endParaRPr>
          </a:p>
          <a:p>
            <a:pPr marL="504825" indent="-92075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North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Folk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(Norfolk)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Folk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(Suffolk)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16: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Spread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Through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Migrations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Settlements: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America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780154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Settlement </a:t>
            </a:r>
            <a:r>
              <a:rPr dirty="0" sz="1100">
                <a:latin typeface="Times New Roman"/>
                <a:cs typeface="Times New Roman"/>
              </a:rPr>
              <a:t>history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Expeditions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1584</a:t>
            </a:r>
            <a:endParaRPr sz="1100">
              <a:latin typeface="Times New Roman"/>
              <a:cs typeface="Times New Roman"/>
            </a:endParaRPr>
          </a:p>
          <a:p>
            <a:pPr lvl="1" marL="469900" marR="2760345">
              <a:lnSpc>
                <a:spcPct val="110200"/>
              </a:lnSpc>
              <a:buSzPct val="90909"/>
              <a:buChar char="•"/>
              <a:tabLst>
                <a:tab pos="520065" algn="l"/>
              </a:tabLst>
            </a:pPr>
            <a:r>
              <a:rPr dirty="0" sz="1100" spc="-5">
                <a:latin typeface="Times New Roman"/>
                <a:cs typeface="Times New Roman"/>
              </a:rPr>
              <a:t>First expedition ending in failure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1607</a:t>
            </a:r>
            <a:endParaRPr sz="1100">
              <a:latin typeface="Times New Roman"/>
              <a:cs typeface="Times New Roman"/>
            </a:endParaRPr>
          </a:p>
          <a:p>
            <a:pPr lvl="1" marL="12700" marR="1982470" indent="457200">
              <a:lnSpc>
                <a:spcPct val="110200"/>
              </a:lnSpc>
              <a:buSzPct val="90909"/>
              <a:buChar char="•"/>
              <a:tabLst>
                <a:tab pos="553720" algn="l"/>
              </a:tabLst>
            </a:pPr>
            <a:r>
              <a:rPr dirty="0" sz="1100" spc="-5">
                <a:latin typeface="Times New Roman"/>
                <a:cs typeface="Times New Roman"/>
              </a:rPr>
              <a:t>(Chesapeake Bay): First permanent settlement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Expeditions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America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1640</a:t>
            </a:r>
            <a:endParaRPr sz="1100">
              <a:latin typeface="Times New Roman"/>
              <a:cs typeface="Times New Roman"/>
            </a:endParaRPr>
          </a:p>
          <a:p>
            <a:pPr lvl="1" marL="519430" indent="-50165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520065" algn="l"/>
              </a:tabLst>
            </a:pPr>
            <a:r>
              <a:rPr dirty="0" sz="1100" spc="-5">
                <a:latin typeface="Times New Roman"/>
                <a:cs typeface="Times New Roman"/>
              </a:rPr>
              <a:t>Successful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settlement</a:t>
            </a:r>
            <a:endParaRPr sz="1100">
              <a:latin typeface="Times New Roman"/>
              <a:cs typeface="Times New Roman"/>
            </a:endParaRPr>
          </a:p>
          <a:p>
            <a:pPr lvl="1" marL="519430" indent="-50165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520065" algn="l"/>
              </a:tabLst>
            </a:pPr>
            <a:r>
              <a:rPr dirty="0" sz="1100" spc="-5">
                <a:latin typeface="Times New Roman"/>
                <a:cs typeface="Times New Roman"/>
              </a:rPr>
              <a:t>Number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immigrants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(twenty-five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thousand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immigrants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arrived)</a:t>
            </a:r>
            <a:endParaRPr sz="11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Dialectical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diffusion</a:t>
            </a:r>
            <a:endParaRPr sz="1100">
              <a:latin typeface="Times New Roman"/>
              <a:cs typeface="Times New Roman"/>
            </a:endParaRPr>
          </a:p>
          <a:p>
            <a:pPr lvl="1" marL="12700" marR="5080" indent="457200">
              <a:lnSpc>
                <a:spcPct val="110200"/>
              </a:lnSpc>
              <a:buSzPct val="90909"/>
              <a:buChar char="•"/>
              <a:tabLst>
                <a:tab pos="553720" algn="l"/>
              </a:tabLst>
            </a:pPr>
            <a:r>
              <a:rPr dirty="0" sz="1100" spc="-5">
                <a:latin typeface="Times New Roman"/>
                <a:cs typeface="Times New Roman"/>
              </a:rPr>
              <a:t>Diverse</a:t>
            </a:r>
            <a:r>
              <a:rPr dirty="0" sz="1100">
                <a:latin typeface="Times New Roman"/>
                <a:cs typeface="Times New Roman"/>
              </a:rPr>
              <a:t> group: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regional,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occupational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backgrounds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Tidewater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</a:t>
            </a:r>
            <a:endParaRPr sz="1100">
              <a:latin typeface="Times New Roman"/>
              <a:cs typeface="Times New Roman"/>
            </a:endParaRPr>
          </a:p>
          <a:p>
            <a:pPr lvl="1" marL="519430" indent="-50165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520065" algn="l"/>
              </a:tabLst>
            </a:pPr>
            <a:r>
              <a:rPr dirty="0" sz="1100" spc="-5">
                <a:latin typeface="Times New Roman"/>
                <a:cs typeface="Times New Roman"/>
              </a:rPr>
              <a:t>Southern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settlement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settlers</a:t>
            </a:r>
            <a:r>
              <a:rPr dirty="0" sz="1100">
                <a:latin typeface="Times New Roman"/>
                <a:cs typeface="Times New Roman"/>
              </a:rPr>
              <a:t> from </a:t>
            </a:r>
            <a:r>
              <a:rPr dirty="0" sz="1100" spc="-5">
                <a:latin typeface="Times New Roman"/>
                <a:cs typeface="Times New Roman"/>
              </a:rPr>
              <a:t>England’s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‘West Country’</a:t>
            </a:r>
            <a:endParaRPr sz="1100">
              <a:latin typeface="Times New Roman"/>
              <a:cs typeface="Times New Roman"/>
            </a:endParaRPr>
          </a:p>
          <a:p>
            <a:pPr lvl="1" marL="519430" indent="-50165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520065" algn="l"/>
              </a:tabLst>
            </a:pPr>
            <a:r>
              <a:rPr dirty="0" sz="1100" spc="-5">
                <a:latin typeface="Times New Roman"/>
                <a:cs typeface="Times New Roman"/>
              </a:rPr>
              <a:t>Brought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characteristic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</a:t>
            </a:r>
            <a:endParaRPr sz="1100">
              <a:latin typeface="Times New Roman"/>
              <a:cs typeface="Times New Roman"/>
            </a:endParaRPr>
          </a:p>
          <a:p>
            <a:pPr lvl="1" marL="519430" indent="-50165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520065" algn="l"/>
              </a:tabLst>
            </a:pPr>
            <a:r>
              <a:rPr dirty="0" sz="1100">
                <a:latin typeface="Times New Roman"/>
                <a:cs typeface="Times New Roman"/>
              </a:rPr>
              <a:t>z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voicing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sounds</a:t>
            </a:r>
            <a:endParaRPr sz="1100">
              <a:latin typeface="Times New Roman"/>
              <a:cs typeface="Times New Roman"/>
            </a:endParaRPr>
          </a:p>
          <a:p>
            <a:pPr lvl="1" marL="12700" marR="2643505" indent="457200">
              <a:lnSpc>
                <a:spcPct val="110200"/>
              </a:lnSpc>
              <a:buSzPct val="90909"/>
              <a:buChar char="•"/>
              <a:tabLst>
                <a:tab pos="520065" algn="l"/>
              </a:tabLst>
            </a:pPr>
            <a:r>
              <a:rPr dirty="0" sz="1100">
                <a:latin typeface="Times New Roman"/>
                <a:cs typeface="Times New Roman"/>
              </a:rPr>
              <a:t>r</a:t>
            </a:r>
            <a:r>
              <a:rPr dirty="0" sz="1100" spc="-5">
                <a:latin typeface="Times New Roman"/>
                <a:cs typeface="Times New Roman"/>
              </a:rPr>
              <a:t> strongly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pronounced after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Dialectical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diffusion</a:t>
            </a:r>
            <a:endParaRPr sz="1100">
              <a:latin typeface="Times New Roman"/>
              <a:cs typeface="Times New Roman"/>
            </a:endParaRPr>
          </a:p>
          <a:p>
            <a:pPr lvl="1" marL="519430" indent="-50165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520065" algn="l"/>
              </a:tabLst>
            </a:pPr>
            <a:r>
              <a:rPr dirty="0" sz="1100" spc="-5">
                <a:latin typeface="Times New Roman"/>
                <a:cs typeface="Times New Roman"/>
              </a:rPr>
              <a:t>Northern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colonists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came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the east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lacked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 </a:t>
            </a:r>
            <a:r>
              <a:rPr dirty="0" sz="1100" spc="-5">
                <a:latin typeface="Times New Roman"/>
                <a:cs typeface="Times New Roman"/>
              </a:rPr>
              <a:t>sound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vowels</a:t>
            </a:r>
            <a:endParaRPr sz="1100">
              <a:latin typeface="Times New Roman"/>
              <a:cs typeface="Times New Roman"/>
            </a:endParaRPr>
          </a:p>
          <a:p>
            <a:pPr lvl="1" marL="519430" indent="-50165">
              <a:lnSpc>
                <a:spcPct val="100000"/>
              </a:lnSpc>
              <a:spcBef>
                <a:spcPts val="130"/>
              </a:spcBef>
              <a:buSzPct val="90909"/>
              <a:buChar char="•"/>
              <a:tabLst>
                <a:tab pos="520065" algn="l"/>
              </a:tabLst>
            </a:pPr>
            <a:r>
              <a:rPr dirty="0" sz="1100" spc="-5">
                <a:latin typeface="Times New Roman"/>
                <a:cs typeface="Times New Roman"/>
              </a:rPr>
              <a:t>Later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population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movements preserved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 dialect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distinction</a:t>
            </a:r>
            <a:endParaRPr sz="1100">
              <a:latin typeface="Times New Roman"/>
              <a:cs typeface="Times New Roman"/>
            </a:endParaRPr>
          </a:p>
          <a:p>
            <a:pPr lvl="1" marL="519430" indent="-50165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520065" algn="l"/>
              </a:tabLst>
            </a:pPr>
            <a:r>
              <a:rPr dirty="0" sz="1100" spc="-5">
                <a:latin typeface="Times New Roman"/>
                <a:cs typeface="Times New Roman"/>
              </a:rPr>
              <a:t>Blurred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dialect picture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frequent movements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17: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Spread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Through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Migrations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Settlements: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America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86334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Seventeenth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endParaRPr sz="1100">
              <a:latin typeface="Times New Roman"/>
              <a:cs typeface="Times New Roman"/>
            </a:endParaRPr>
          </a:p>
          <a:p>
            <a:pPr marL="241300" marR="8388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large </a:t>
            </a:r>
            <a:r>
              <a:rPr dirty="0" sz="1100">
                <a:latin typeface="Times New Roman"/>
                <a:cs typeface="Times New Roman"/>
              </a:rPr>
              <a:t>number of </a:t>
            </a:r>
            <a:r>
              <a:rPr dirty="0" sz="1100" spc="-5">
                <a:latin typeface="Times New Roman"/>
                <a:cs typeface="Times New Roman"/>
              </a:rPr>
              <a:t>immigrants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Midlands and </a:t>
            </a:r>
            <a:r>
              <a:rPr dirty="0" sz="1100">
                <a:latin typeface="Times New Roman"/>
                <a:cs typeface="Times New Roman"/>
              </a:rPr>
              <a:t>northern </a:t>
            </a:r>
            <a:r>
              <a:rPr dirty="0" sz="1100" spc="-5">
                <a:latin typeface="Times New Roman"/>
                <a:cs typeface="Times New Roman"/>
              </a:rPr>
              <a:t>England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1720s</a:t>
            </a:r>
            <a:endParaRPr sz="1100">
              <a:latin typeface="Times New Roman"/>
              <a:cs typeface="Times New Roman"/>
            </a:endParaRPr>
          </a:p>
          <a:p>
            <a:pPr marL="241300" marR="24961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immigrants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Ireland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Nineteenth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immigration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poverty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641975" cy="869315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Revolutions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Germany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Italy</a:t>
            </a:r>
            <a:endParaRPr sz="1100">
              <a:latin typeface="Times New Roman"/>
              <a:cs typeface="Times New Roman"/>
            </a:endParaRPr>
          </a:p>
          <a:p>
            <a:pPr marL="241300" marR="37338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Jewish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pogrom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Population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1790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1890,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50</a:t>
            </a:r>
            <a:r>
              <a:rPr dirty="0" sz="1100" spc="-5">
                <a:latin typeface="Times New Roman"/>
                <a:cs typeface="Times New Roman"/>
              </a:rPr>
              <a:t> million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1900: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75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1950: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total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doubled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2016: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323.1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generations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immigrants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began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massive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growth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mother-tongue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Eighty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323.1</a:t>
            </a:r>
            <a:r>
              <a:rPr dirty="0" sz="1100" spc="-5">
                <a:latin typeface="Times New Roman"/>
                <a:cs typeface="Times New Roman"/>
              </a:rPr>
              <a:t> million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18: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Spread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of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Through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Migrations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Settlements: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Australia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New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Zealand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355600" marR="4601210" indent="-3429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Settlemen</a:t>
            </a:r>
            <a:r>
              <a:rPr dirty="0" sz="1100">
                <a:latin typeface="Times New Roman"/>
                <a:cs typeface="Times New Roman"/>
              </a:rPr>
              <a:t>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  </a:t>
            </a:r>
            <a:r>
              <a:rPr dirty="0" sz="1100">
                <a:latin typeface="Times New Roman"/>
                <a:cs typeface="Times New Roman"/>
              </a:rPr>
              <a:t>1770</a:t>
            </a:r>
            <a:endParaRPr sz="1100">
              <a:latin typeface="Times New Roman"/>
              <a:cs typeface="Times New Roman"/>
            </a:endParaRPr>
          </a:p>
          <a:p>
            <a:pPr lvl="1" marL="355600" marR="160147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James Cook </a:t>
            </a:r>
            <a:r>
              <a:rPr dirty="0" sz="1100">
                <a:latin typeface="Times New Roman"/>
                <a:cs typeface="Times New Roman"/>
              </a:rPr>
              <a:t>discovered </a:t>
            </a:r>
            <a:r>
              <a:rPr dirty="0" sz="1100" spc="-5">
                <a:latin typeface="Times New Roman"/>
                <a:cs typeface="Times New Roman"/>
              </a:rPr>
              <a:t>and charted New Zealand and Australia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1788</a:t>
            </a:r>
            <a:endParaRPr sz="1100">
              <a:latin typeface="Times New Roman"/>
              <a:cs typeface="Times New Roman"/>
            </a:endParaRPr>
          </a:p>
          <a:p>
            <a:pPr lvl="1" marL="355600" marR="303022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Australia was colonized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the British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1840</a:t>
            </a:r>
            <a:endParaRPr sz="1100">
              <a:latin typeface="Times New Roman"/>
              <a:cs typeface="Times New Roman"/>
            </a:endParaRPr>
          </a:p>
          <a:p>
            <a:pPr lvl="1" marL="355600" marR="279527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New Zealand was colonized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the British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Australia</a:t>
            </a:r>
            <a:endParaRPr sz="1100">
              <a:latin typeface="Times New Roman"/>
              <a:cs typeface="Times New Roman"/>
            </a:endParaRPr>
          </a:p>
          <a:p>
            <a:pPr lvl="1" marL="469900" indent="-11430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Australia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colony.</a:t>
            </a:r>
            <a:endParaRPr sz="1100">
              <a:latin typeface="Times New Roman"/>
              <a:cs typeface="Times New Roman"/>
            </a:endParaRPr>
          </a:p>
          <a:p>
            <a:pPr lvl="1"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Housed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130,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000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prisoners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1788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1808</a:t>
            </a:r>
            <a:endParaRPr sz="1100">
              <a:latin typeface="Times New Roman"/>
              <a:cs typeface="Times New Roman"/>
            </a:endParaRPr>
          </a:p>
          <a:p>
            <a:pPr lvl="1" marL="355600" marR="1837689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Other settlers also entered the country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in small </a:t>
            </a:r>
            <a:r>
              <a:rPr dirty="0" sz="1100">
                <a:latin typeface="Times New Roman"/>
                <a:cs typeface="Times New Roman"/>
              </a:rPr>
              <a:t>numbers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5">
                <a:latin typeface="Times New Roman"/>
                <a:cs typeface="Times New Roman"/>
              </a:rPr>
              <a:t> in Population</a:t>
            </a:r>
            <a:endParaRPr sz="1100">
              <a:latin typeface="Times New Roman"/>
              <a:cs typeface="Times New Roman"/>
            </a:endParaRPr>
          </a:p>
          <a:p>
            <a:pPr lvl="1"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Rate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immigration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rapidly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nineteenth</a:t>
            </a:r>
            <a:r>
              <a:rPr dirty="0" sz="1100" spc="-5">
                <a:latin typeface="Times New Roman"/>
                <a:cs typeface="Times New Roman"/>
              </a:rPr>
              <a:t> century</a:t>
            </a:r>
            <a:endParaRPr sz="1100">
              <a:latin typeface="Times New Roman"/>
              <a:cs typeface="Times New Roman"/>
            </a:endParaRPr>
          </a:p>
          <a:p>
            <a:pPr lvl="1"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Population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400,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000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4</a:t>
            </a:r>
            <a:r>
              <a:rPr dirty="0" sz="1100" spc="-5">
                <a:latin typeface="Times New Roman"/>
                <a:cs typeface="Times New Roman"/>
              </a:rPr>
              <a:t> million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50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years</a:t>
            </a:r>
            <a:endParaRPr sz="1100">
              <a:latin typeface="Times New Roman"/>
              <a:cs typeface="Times New Roman"/>
            </a:endParaRPr>
          </a:p>
          <a:p>
            <a:pPr lvl="1"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2002,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nearly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endParaRPr sz="1100">
              <a:latin typeface="Times New Roman"/>
              <a:cs typeface="Times New Roman"/>
            </a:endParaRPr>
          </a:p>
          <a:p>
            <a:pPr lvl="1" marL="355600" marR="344424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 2016, 24.13 </a:t>
            </a:r>
            <a:r>
              <a:rPr dirty="0" sz="1100" spc="-5">
                <a:latin typeface="Times New Roman"/>
                <a:cs typeface="Times New Roman"/>
              </a:rPr>
              <a:t>million </a:t>
            </a:r>
            <a:r>
              <a:rPr dirty="0" sz="1100">
                <a:latin typeface="Times New Roman"/>
                <a:cs typeface="Times New Roman"/>
              </a:rPr>
              <a:t> Influences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lvl="1"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Settlers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convicts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London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Ireland</a:t>
            </a:r>
            <a:endParaRPr sz="1100">
              <a:latin typeface="Times New Roman"/>
              <a:cs typeface="Times New Roman"/>
            </a:endParaRPr>
          </a:p>
          <a:p>
            <a:pPr lvl="1"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Cockney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London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brogue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Ireland</a:t>
            </a:r>
            <a:endParaRPr sz="1100">
              <a:latin typeface="Times New Roman"/>
              <a:cs typeface="Times New Roman"/>
            </a:endParaRPr>
          </a:p>
          <a:p>
            <a:pPr lvl="1"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Aboriginal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lvl="1" marL="469900" indent="-11430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lvl="1"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Immigrants</a:t>
            </a:r>
            <a:endParaRPr sz="1100">
              <a:latin typeface="Times New Roman"/>
              <a:cs typeface="Times New Roman"/>
            </a:endParaRPr>
          </a:p>
          <a:p>
            <a:pPr marL="355600" marR="3667125" indent="-3429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Settlement </a:t>
            </a:r>
            <a:r>
              <a:rPr dirty="0" sz="1100">
                <a:latin typeface="Times New Roman"/>
                <a:cs typeface="Times New Roman"/>
              </a:rPr>
              <a:t>history of </a:t>
            </a:r>
            <a:r>
              <a:rPr dirty="0" sz="1100" spc="-5">
                <a:latin typeface="Times New Roman"/>
                <a:cs typeface="Times New Roman"/>
              </a:rPr>
              <a:t>New Zealand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1790</a:t>
            </a:r>
            <a:endParaRPr sz="1100">
              <a:latin typeface="Times New Roman"/>
              <a:cs typeface="Times New Roman"/>
            </a:endParaRPr>
          </a:p>
          <a:p>
            <a:pPr lvl="1" marL="355600" marR="3599179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settlements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began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1814</a:t>
            </a:r>
            <a:endParaRPr sz="1100">
              <a:latin typeface="Times New Roman"/>
              <a:cs typeface="Times New Roman"/>
            </a:endParaRPr>
          </a:p>
          <a:p>
            <a:pPr lvl="1" marL="355600" marR="3324225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Christian missionary work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Settlement </a:t>
            </a:r>
            <a:r>
              <a:rPr dirty="0" sz="1100">
                <a:latin typeface="Times New Roman"/>
                <a:cs typeface="Times New Roman"/>
              </a:rPr>
              <a:t>history of </a:t>
            </a:r>
            <a:r>
              <a:rPr dirty="0" sz="1100" spc="-5">
                <a:latin typeface="Times New Roman"/>
                <a:cs typeface="Times New Roman"/>
              </a:rPr>
              <a:t>New Zealand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1840</a:t>
            </a:r>
            <a:endParaRPr sz="1100">
              <a:latin typeface="Times New Roman"/>
              <a:cs typeface="Times New Roman"/>
            </a:endParaRPr>
          </a:p>
          <a:p>
            <a:pPr lvl="1"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Treaty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Waitangi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Maori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chiefs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Crown</a:t>
            </a:r>
            <a:endParaRPr sz="1100">
              <a:latin typeface="Times New Roman"/>
              <a:cs typeface="Times New Roman"/>
            </a:endParaRPr>
          </a:p>
          <a:p>
            <a:pPr lvl="1" marL="12700" marR="2854325" indent="34290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Official establishment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British colony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immigrant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4600" y="647368"/>
            <a:ext cx="3095625" cy="1872614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0" indent="-114300">
              <a:lnSpc>
                <a:spcPct val="100000"/>
              </a:lnSpc>
              <a:spcBef>
                <a:spcPts val="234"/>
              </a:spcBef>
              <a:buChar char="•"/>
              <a:tabLst>
                <a:tab pos="127000" algn="l"/>
              </a:tabLst>
            </a:pPr>
            <a:r>
              <a:rPr dirty="0" sz="1100">
                <a:latin typeface="Times New Roman"/>
                <a:cs typeface="Times New Roman"/>
              </a:rPr>
              <a:t>1840-1850: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000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25,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000</a:t>
            </a:r>
            <a:endParaRPr sz="1100">
              <a:latin typeface="Times New Roman"/>
              <a:cs typeface="Times New Roman"/>
            </a:endParaRPr>
          </a:p>
          <a:p>
            <a:pPr marL="127000" indent="-114300">
              <a:lnSpc>
                <a:spcPct val="100000"/>
              </a:lnSpc>
              <a:spcBef>
                <a:spcPts val="130"/>
              </a:spcBef>
              <a:buChar char="•"/>
              <a:tabLst>
                <a:tab pos="127000" algn="l"/>
              </a:tabLst>
            </a:pPr>
            <a:r>
              <a:rPr dirty="0" sz="1100">
                <a:latin typeface="Times New Roman"/>
                <a:cs typeface="Times New Roman"/>
              </a:rPr>
              <a:t>1850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1900: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25,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000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–750,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000</a:t>
            </a:r>
            <a:endParaRPr sz="1100">
              <a:latin typeface="Times New Roman"/>
              <a:cs typeface="Times New Roman"/>
            </a:endParaRPr>
          </a:p>
          <a:p>
            <a:pPr marL="1270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127000" algn="l"/>
              </a:tabLst>
            </a:pPr>
            <a:r>
              <a:rPr dirty="0" sz="1100" spc="-5">
                <a:latin typeface="Times New Roman"/>
                <a:cs typeface="Times New Roman"/>
              </a:rPr>
              <a:t>Gold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rush</a:t>
            </a:r>
            <a:endParaRPr sz="1100">
              <a:latin typeface="Times New Roman"/>
              <a:cs typeface="Times New Roman"/>
            </a:endParaRPr>
          </a:p>
          <a:p>
            <a:pPr marL="1270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127000" algn="l"/>
              </a:tabLst>
            </a:pPr>
            <a:r>
              <a:rPr dirty="0" sz="1100">
                <a:latin typeface="Times New Roman"/>
                <a:cs typeface="Times New Roman"/>
              </a:rPr>
              <a:t>Increased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immigration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Britain</a:t>
            </a:r>
            <a:endParaRPr sz="1100">
              <a:latin typeface="Times New Roman"/>
              <a:cs typeface="Times New Roman"/>
            </a:endParaRPr>
          </a:p>
          <a:p>
            <a:pPr marL="1270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127000" algn="l"/>
              </a:tabLst>
            </a:pPr>
            <a:r>
              <a:rPr dirty="0" sz="1100">
                <a:latin typeface="Times New Roman"/>
                <a:cs typeface="Times New Roman"/>
              </a:rPr>
              <a:t>2002: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3.8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endParaRPr sz="1100">
              <a:latin typeface="Times New Roman"/>
              <a:cs typeface="Times New Roman"/>
            </a:endParaRPr>
          </a:p>
          <a:p>
            <a:pPr marL="1270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127000" algn="l"/>
              </a:tabLst>
            </a:pPr>
            <a:r>
              <a:rPr dirty="0" sz="1100">
                <a:latin typeface="Times New Roman"/>
                <a:cs typeface="Times New Roman"/>
              </a:rPr>
              <a:t>2016: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4.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693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Influences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Zealand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1270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Perception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Britain</a:t>
            </a:r>
            <a:endParaRPr sz="1100">
              <a:latin typeface="Times New Roman"/>
              <a:cs typeface="Times New Roman"/>
            </a:endParaRPr>
          </a:p>
          <a:p>
            <a:pPr marL="1270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1270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identity</a:t>
            </a:r>
            <a:endParaRPr sz="1100">
              <a:latin typeface="Times New Roman"/>
              <a:cs typeface="Times New Roman"/>
            </a:endParaRPr>
          </a:p>
          <a:p>
            <a:pPr marL="127000" indent="-114300">
              <a:lnSpc>
                <a:spcPct val="100000"/>
              </a:lnSpc>
              <a:spcBef>
                <a:spcPts val="130"/>
              </a:spcBef>
              <a:buChar char="•"/>
              <a:tabLst>
                <a:tab pos="1270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Concern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rights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Maori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2871039"/>
            <a:ext cx="6371590" cy="6542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61975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Lesson-04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191770">
              <a:lnSpc>
                <a:spcPct val="100000"/>
              </a:lnSpc>
            </a:pPr>
            <a:r>
              <a:rPr dirty="0" sz="1400" spc="30">
                <a:latin typeface="Times New Roman"/>
                <a:cs typeface="Times New Roman"/>
              </a:rPr>
              <a:t>Historical,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Political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and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5">
                <a:latin typeface="Times New Roman"/>
                <a:cs typeface="Times New Roman"/>
              </a:rPr>
              <a:t>Social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30">
                <a:latin typeface="Times New Roman"/>
                <a:cs typeface="Times New Roman"/>
              </a:rPr>
              <a:t>Contexts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19: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Spread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English: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Caribbean</a:t>
            </a:r>
            <a:endParaRPr sz="1100">
              <a:latin typeface="Times New Roman"/>
              <a:cs typeface="Times New Roman"/>
            </a:endParaRPr>
          </a:p>
          <a:p>
            <a:pPr marL="12700" marR="1261110">
              <a:lnSpc>
                <a:spcPts val="2910"/>
              </a:lnSpc>
              <a:spcBef>
                <a:spcPts val="305"/>
              </a:spcBef>
            </a:pPr>
            <a:r>
              <a:rPr dirty="0" sz="1100" spc="-5">
                <a:latin typeface="Times New Roman"/>
                <a:cs typeface="Times New Roman"/>
              </a:rPr>
              <a:t>Slave trade </a:t>
            </a:r>
            <a:r>
              <a:rPr dirty="0" sz="1100">
                <a:latin typeface="Times New Roman"/>
                <a:cs typeface="Times New Roman"/>
              </a:rPr>
              <a:t>gave rise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a distinctive kind of </a:t>
            </a:r>
            <a:r>
              <a:rPr dirty="0" sz="1100" spc="-5">
                <a:latin typeface="Times New Roman"/>
                <a:cs typeface="Times New Roman"/>
              </a:rPr>
              <a:t>English in West </a:t>
            </a:r>
            <a:r>
              <a:rPr dirty="0" sz="1100">
                <a:latin typeface="Times New Roman"/>
                <a:cs typeface="Times New Roman"/>
              </a:rPr>
              <a:t>Indies </a:t>
            </a:r>
            <a:r>
              <a:rPr dirty="0" sz="1100" spc="-5">
                <a:latin typeface="Times New Roman"/>
                <a:cs typeface="Times New Roman"/>
              </a:rPr>
              <a:t>and mainland America.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Black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slave trade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ts val="109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Cheap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goods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exchanged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black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slaves</a:t>
            </a:r>
            <a:endParaRPr sz="1100">
              <a:latin typeface="Times New Roman"/>
              <a:cs typeface="Times New Roman"/>
            </a:endParaRPr>
          </a:p>
          <a:p>
            <a:pPr marL="12700" marR="949325" indent="34290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Atlantic triangle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journeys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Europe, West Africa and West </a:t>
            </a:r>
            <a:r>
              <a:rPr dirty="0" sz="1100">
                <a:latin typeface="Times New Roman"/>
                <a:cs typeface="Times New Roman"/>
              </a:rPr>
              <a:t>Indies </a:t>
            </a:r>
            <a:r>
              <a:rPr dirty="0" sz="1100" spc="-5">
                <a:latin typeface="Times New Roman"/>
                <a:cs typeface="Times New Roman"/>
              </a:rPr>
              <a:t>and America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slave trade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Stage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SzPct val="90909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Ships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left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ports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SzPct val="90909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Carried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finished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goods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(cloth,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guns,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ironware,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drinks)</a:t>
            </a:r>
            <a:endParaRPr sz="1100">
              <a:latin typeface="Times New Roman"/>
              <a:cs typeface="Times New Roman"/>
            </a:endParaRPr>
          </a:p>
          <a:p>
            <a:pPr marL="12700" marR="3597275" indent="342900">
              <a:lnSpc>
                <a:spcPct val="110200"/>
              </a:lnSpc>
              <a:buSzPct val="90909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West African countries: Senegal, Nigeria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II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SzPct val="90909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dealers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kidnapped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villagers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hundreds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inland.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SzPct val="90909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Treated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cruelly.</a:t>
            </a:r>
            <a:endParaRPr sz="1100">
              <a:latin typeface="Times New Roman"/>
              <a:cs typeface="Times New Roman"/>
            </a:endParaRPr>
          </a:p>
          <a:p>
            <a:pPr marL="12700" marR="2820670" indent="342900">
              <a:lnSpc>
                <a:spcPct val="110200"/>
              </a:lnSpc>
              <a:buSzPct val="90909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Slaves were traded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goods brought from </a:t>
            </a:r>
            <a:r>
              <a:rPr dirty="0" sz="1100" spc="-5">
                <a:latin typeface="Times New Roman"/>
                <a:cs typeface="Times New Roman"/>
              </a:rPr>
              <a:t>Europe.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III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SzPct val="90909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Slaves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transported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Caribbean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islands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coasts.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0"/>
              </a:spcBef>
              <a:buSzPct val="90909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bidder</a:t>
            </a:r>
            <a:r>
              <a:rPr dirty="0" sz="1100" spc="-5">
                <a:latin typeface="Times New Roman"/>
                <a:cs typeface="Times New Roman"/>
              </a:rPr>
              <a:t> 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auctions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SzPct val="90909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Worked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sugar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plantations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nothing</a:t>
            </a:r>
            <a:endParaRPr sz="1100">
              <a:latin typeface="Times New Roman"/>
              <a:cs typeface="Times New Roman"/>
            </a:endParaRPr>
          </a:p>
          <a:p>
            <a:pPr marL="12700" marR="2270760" indent="342900">
              <a:lnSpc>
                <a:spcPct val="110200"/>
              </a:lnSpc>
              <a:buSzPct val="90909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Goods were </a:t>
            </a:r>
            <a:r>
              <a:rPr dirty="0" sz="1100">
                <a:latin typeface="Times New Roman"/>
                <a:cs typeface="Times New Roman"/>
              </a:rPr>
              <a:t>bought </a:t>
            </a:r>
            <a:r>
              <a:rPr dirty="0" sz="1100" spc="-5">
                <a:latin typeface="Times New Roman"/>
                <a:cs typeface="Times New Roman"/>
              </a:rPr>
              <a:t>with the money made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the sale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slaves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5">
                <a:latin typeface="Times New Roman"/>
                <a:cs typeface="Times New Roman"/>
              </a:rPr>
              <a:t> linguistic code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SzPct val="90909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Growth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unique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communication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SzPct val="90909"/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Pidgins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gave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SzPct val="90909"/>
              <a:buAutoNum type="arabicPeriod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Intermingling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Creoles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resulted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20: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Spread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English: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South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East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Asia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algn="just" marL="12700" marR="5080" indent="4572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America established its sovereignty </a:t>
            </a:r>
            <a:r>
              <a:rPr dirty="0" sz="1100">
                <a:latin typeface="Times New Roman"/>
                <a:cs typeface="Times New Roman"/>
              </a:rPr>
              <a:t>over </a:t>
            </a:r>
            <a:r>
              <a:rPr dirty="0" sz="1100" spc="-5">
                <a:latin typeface="Times New Roman"/>
                <a:cs typeface="Times New Roman"/>
              </a:rPr>
              <a:t>Philippines in </a:t>
            </a:r>
            <a:r>
              <a:rPr dirty="0" sz="1100">
                <a:latin typeface="Times New Roman"/>
                <a:cs typeface="Times New Roman"/>
              </a:rPr>
              <a:t>1898. </a:t>
            </a:r>
            <a:r>
              <a:rPr dirty="0" sz="1100" spc="-5">
                <a:latin typeface="Times New Roman"/>
                <a:cs typeface="Times New Roman"/>
              </a:rPr>
              <a:t>Strong influence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American English 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Philippines </a:t>
            </a:r>
            <a:r>
              <a:rPr dirty="0" sz="1100">
                <a:latin typeface="Times New Roman"/>
                <a:cs typeface="Times New Roman"/>
              </a:rPr>
              <a:t>persists. It </a:t>
            </a:r>
            <a:r>
              <a:rPr dirty="0" sz="1100" spc="-5">
                <a:latin typeface="Times New Roman"/>
                <a:cs typeface="Times New Roman"/>
              </a:rPr>
              <a:t>includes the largest </a:t>
            </a:r>
            <a:r>
              <a:rPr dirty="0" sz="1100">
                <a:latin typeface="Times New Roman"/>
                <a:cs typeface="Times New Roman"/>
              </a:rPr>
              <a:t>population of </a:t>
            </a:r>
            <a:r>
              <a:rPr dirty="0" sz="1100" spc="-5">
                <a:latin typeface="Times New Roman"/>
                <a:cs typeface="Times New Roman"/>
              </a:rPr>
              <a:t>the English speaking states in the </a:t>
            </a:r>
            <a:r>
              <a:rPr dirty="0" sz="1100">
                <a:latin typeface="Times New Roman"/>
                <a:cs typeface="Times New Roman"/>
              </a:rPr>
              <a:t>region (90 </a:t>
            </a:r>
            <a:r>
              <a:rPr dirty="0" sz="1100" spc="-5">
                <a:latin typeface="Times New Roman"/>
                <a:cs typeface="Times New Roman"/>
              </a:rPr>
              <a:t>million in </a:t>
            </a:r>
            <a:r>
              <a:rPr dirty="0" sz="1100">
                <a:latin typeface="Times New Roman"/>
                <a:cs typeface="Times New Roman"/>
              </a:rPr>
              <a:t> 2016).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empire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Southeast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begun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Thomas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Stamford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Raffles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(British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statesman).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821805" cy="9135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that, several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 settlements took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place </a:t>
            </a:r>
            <a:r>
              <a:rPr dirty="0" sz="1100" spc="-5">
                <a:latin typeface="Times New Roman"/>
                <a:cs typeface="Times New Roman"/>
              </a:rPr>
              <a:t>in Penang,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Malacca and most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notable </a:t>
            </a:r>
            <a:r>
              <a:rPr dirty="0" sz="1100" spc="-5">
                <a:latin typeface="Times New Roman"/>
                <a:cs typeface="Times New Roman"/>
              </a:rPr>
              <a:t>Singapore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(1786 - 1824).</a:t>
            </a:r>
            <a:r>
              <a:rPr dirty="0" sz="1100" spc="-5">
                <a:latin typeface="Times New Roman"/>
                <a:cs typeface="Times New Roman"/>
              </a:rPr>
              <a:t> By </a:t>
            </a:r>
            <a:r>
              <a:rPr dirty="0" sz="1100">
                <a:latin typeface="Times New Roman"/>
                <a:cs typeface="Times New Roman"/>
              </a:rPr>
              <a:t>1867,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0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Kong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island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(1842)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Kowloon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(1860)</a:t>
            </a:r>
            <a:endParaRPr sz="1100">
              <a:latin typeface="Times New Roman"/>
              <a:cs typeface="Times New Roman"/>
            </a:endParaRPr>
          </a:p>
          <a:p>
            <a:pPr marL="412750" marR="442595">
              <a:lnSpc>
                <a:spcPct val="110200"/>
              </a:lnSpc>
              <a:buSzPct val="90909"/>
              <a:buChar char="•"/>
              <a:tabLst>
                <a:tab pos="52324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Territories,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largest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colony,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leased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China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1898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ninety-nine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years.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Introduction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system: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Penang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(now</a:t>
            </a:r>
            <a:r>
              <a:rPr dirty="0" sz="1100" spc="-5">
                <a:latin typeface="Times New Roman"/>
                <a:cs typeface="Times New Roman"/>
              </a:rPr>
              <a:t> Malaysia’s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leading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port)in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1816.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staff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routinely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brought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Britain.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became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professional</a:t>
            </a:r>
            <a:r>
              <a:rPr dirty="0" sz="1100" spc="-5">
                <a:latin typeface="Times New Roman"/>
                <a:cs typeface="Times New Roman"/>
              </a:rPr>
              <a:t> advancement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higher</a:t>
            </a:r>
            <a:r>
              <a:rPr dirty="0" sz="1100" spc="-5">
                <a:latin typeface="Times New Roman"/>
                <a:cs typeface="Times New Roman"/>
              </a:rPr>
              <a:t> education</a:t>
            </a:r>
            <a:endParaRPr sz="1100">
              <a:latin typeface="Times New Roman"/>
              <a:cs typeface="Times New Roman"/>
            </a:endParaRPr>
          </a:p>
          <a:p>
            <a:pPr marL="12700" marR="1419225" indent="400050">
              <a:lnSpc>
                <a:spcPct val="110200"/>
              </a:lnSpc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Became </a:t>
            </a:r>
            <a:r>
              <a:rPr dirty="0" sz="1100">
                <a:latin typeface="Times New Roman"/>
                <a:cs typeface="Times New Roman"/>
              </a:rPr>
              <a:t>a prestigious </a:t>
            </a:r>
            <a:r>
              <a:rPr dirty="0" sz="1100" spc="-5">
                <a:latin typeface="Times New Roman"/>
                <a:cs typeface="Times New Roman"/>
              </a:rPr>
              <a:t>lingua </a:t>
            </a:r>
            <a:r>
              <a:rPr dirty="0" sz="1100">
                <a:latin typeface="Times New Roman"/>
                <a:cs typeface="Times New Roman"/>
              </a:rPr>
              <a:t>franca </a:t>
            </a:r>
            <a:r>
              <a:rPr dirty="0" sz="1100" spc="-5">
                <a:latin typeface="Times New Roman"/>
                <a:cs typeface="Times New Roman"/>
              </a:rPr>
              <a:t>among those who </a:t>
            </a:r>
            <a:r>
              <a:rPr dirty="0" sz="1100">
                <a:latin typeface="Times New Roman"/>
                <a:cs typeface="Times New Roman"/>
              </a:rPr>
              <a:t>had received </a:t>
            </a:r>
            <a:r>
              <a:rPr dirty="0" sz="1100" spc="-5">
                <a:latin typeface="Times New Roman"/>
                <a:cs typeface="Times New Roman"/>
              </a:rPr>
              <a:t>an English education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Southeast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 Englishes: Singapore</a:t>
            </a:r>
            <a:endParaRPr sz="1100">
              <a:latin typeface="Times New Roman"/>
              <a:cs typeface="Times New Roman"/>
            </a:endParaRPr>
          </a:p>
          <a:p>
            <a:pPr marL="504825" indent="-92075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504825" algn="l"/>
              </a:tabLst>
            </a:pPr>
            <a:r>
              <a:rPr dirty="0" sz="1100">
                <a:latin typeface="Times New Roman"/>
                <a:cs typeface="Times New Roman"/>
              </a:rPr>
              <a:t>1950s: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bilingual</a:t>
            </a:r>
            <a:r>
              <a:rPr dirty="0" sz="1100" spc="-5">
                <a:latin typeface="Times New Roman"/>
                <a:cs typeface="Times New Roman"/>
              </a:rPr>
              <a:t> educational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alongside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Malay,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Tamil.</a:t>
            </a:r>
            <a:endParaRPr sz="1100">
              <a:latin typeface="Times New Roman"/>
              <a:cs typeface="Times New Roman"/>
            </a:endParaRPr>
          </a:p>
          <a:p>
            <a:pPr marL="504825" indent="-92075">
              <a:lnSpc>
                <a:spcPct val="100000"/>
              </a:lnSpc>
              <a:spcBef>
                <a:spcPts val="130"/>
              </a:spcBef>
              <a:buSzPct val="90909"/>
              <a:buChar char="•"/>
              <a:tabLst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remained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government,</a:t>
            </a:r>
            <a:r>
              <a:rPr dirty="0" sz="1100" spc="-5">
                <a:latin typeface="Times New Roman"/>
                <a:cs typeface="Times New Roman"/>
              </a:rPr>
              <a:t> legal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media.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Popular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family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settings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Singlish</a:t>
            </a:r>
            <a:endParaRPr sz="1100">
              <a:latin typeface="Times New Roman"/>
              <a:cs typeface="Times New Roman"/>
            </a:endParaRPr>
          </a:p>
          <a:p>
            <a:pPr marL="41275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Southeast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Englishes: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Malaysia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Bahasa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Malaysia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adopted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independence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1957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restricted.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Malay-medium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introduced,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compulsory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41275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Southeast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Kong</a:t>
            </a:r>
            <a:endParaRPr sz="1100">
              <a:latin typeface="Times New Roman"/>
              <a:cs typeface="Times New Roman"/>
            </a:endParaRPr>
          </a:p>
          <a:p>
            <a:pPr marL="504825" indent="-92075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Limited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government,</a:t>
            </a:r>
            <a:r>
              <a:rPr dirty="0" sz="1100" spc="-5">
                <a:latin typeface="Times New Roman"/>
                <a:cs typeface="Times New Roman"/>
              </a:rPr>
              <a:t> military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administration,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law,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business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media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 have joint ofﬁcial status.</a:t>
            </a:r>
            <a:endParaRPr sz="1100">
              <a:latin typeface="Times New Roman"/>
              <a:cs typeface="Times New Roman"/>
            </a:endParaRPr>
          </a:p>
          <a:p>
            <a:pPr marL="504825" indent="-92075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predominates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21: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Spread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English: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South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Africa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Contemporary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Eleven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Afrikaans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Dutch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origin.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Symbol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Afrikaners</a:t>
            </a:r>
            <a:endParaRPr sz="1100">
              <a:latin typeface="Times New Roman"/>
              <a:cs typeface="Times New Roman"/>
            </a:endParaRPr>
          </a:p>
          <a:p>
            <a:pPr marL="504825" indent="-92075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coloured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endParaRPr sz="1100">
              <a:latin typeface="Times New Roman"/>
              <a:cs typeface="Times New Roman"/>
            </a:endParaRPr>
          </a:p>
          <a:p>
            <a:pPr marL="12700" marR="3351529" indent="400050">
              <a:lnSpc>
                <a:spcPct val="110200"/>
              </a:lnSpc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enjoys more </a:t>
            </a:r>
            <a:r>
              <a:rPr dirty="0" sz="1100">
                <a:latin typeface="Times New Roman"/>
                <a:cs typeface="Times New Roman"/>
              </a:rPr>
              <a:t>prestige </a:t>
            </a:r>
            <a:r>
              <a:rPr dirty="0" sz="1100" spc="-5">
                <a:latin typeface="Times New Roman"/>
                <a:cs typeface="Times New Roman"/>
              </a:rPr>
              <a:t>than any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Contemporary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belongs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concentric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Kachru’s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Englishes: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Inner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0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Outer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40"/>
              </a:spcBef>
              <a:buSzPct val="90909"/>
              <a:buFont typeface="Arial MT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Expanding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Contemporary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whites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background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4.9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9.6%)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0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Increasingly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black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Taken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Afrikaners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upward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mobility</a:t>
            </a:r>
            <a:endParaRPr sz="1100">
              <a:latin typeface="Times New Roman"/>
              <a:cs typeface="Times New Roman"/>
            </a:endParaRPr>
          </a:p>
          <a:p>
            <a:pPr marL="12700" marR="3110865" indent="400050">
              <a:lnSpc>
                <a:spcPct val="110200"/>
              </a:lnSpc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Roughly </a:t>
            </a:r>
            <a:r>
              <a:rPr dirty="0" sz="1100">
                <a:latin typeface="Times New Roman"/>
                <a:cs typeface="Times New Roman"/>
              </a:rPr>
              <a:t>11 </a:t>
            </a:r>
            <a:r>
              <a:rPr dirty="0" sz="1100" spc="-5">
                <a:latin typeface="Times New Roman"/>
                <a:cs typeface="Times New Roman"/>
              </a:rPr>
              <a:t>million </a:t>
            </a:r>
            <a:r>
              <a:rPr dirty="0" sz="1100">
                <a:latin typeface="Times New Roman"/>
                <a:cs typeface="Times New Roman"/>
              </a:rPr>
              <a:t>users of </a:t>
            </a:r>
            <a:r>
              <a:rPr dirty="0" sz="1100" spc="-5">
                <a:latin typeface="Times New Roman"/>
                <a:cs typeface="Times New Roman"/>
              </a:rPr>
              <a:t>English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second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 Varieties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41275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continuum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exists: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Inﬂuenced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Afrikaans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267450" cy="869315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57150">
              <a:lnSpc>
                <a:spcPct val="100000"/>
              </a:lnSpc>
              <a:spcBef>
                <a:spcPts val="234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Influenced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Received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Pronunciation</a:t>
            </a:r>
            <a:endParaRPr sz="1100">
              <a:latin typeface="Times New Roman"/>
              <a:cs typeface="Times New Roman"/>
            </a:endParaRPr>
          </a:p>
          <a:p>
            <a:pPr marL="12700" marR="3963670" indent="400050">
              <a:lnSpc>
                <a:spcPct val="110200"/>
              </a:lnSpc>
              <a:buSzPct val="90909"/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Influenced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41275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continuum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exists: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White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(SAE)</a:t>
            </a:r>
            <a:endParaRPr sz="1100">
              <a:latin typeface="Times New Roman"/>
              <a:cs typeface="Times New Roman"/>
            </a:endParaRPr>
          </a:p>
          <a:p>
            <a:pPr marL="504825" indent="-92075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Black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SAE</a:t>
            </a:r>
            <a:endParaRPr sz="1100">
              <a:latin typeface="Times New Roman"/>
              <a:cs typeface="Times New Roman"/>
            </a:endParaRPr>
          </a:p>
          <a:p>
            <a:pPr marL="504825" indent="-92075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504825" algn="l"/>
              </a:tabLst>
            </a:pPr>
            <a:r>
              <a:rPr dirty="0" sz="1100">
                <a:latin typeface="Times New Roman"/>
                <a:cs typeface="Times New Roman"/>
              </a:rPr>
              <a:t>Indian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SAE</a:t>
            </a:r>
            <a:endParaRPr sz="1100">
              <a:latin typeface="Times New Roman"/>
              <a:cs typeface="Times New Roman"/>
            </a:endParaRPr>
          </a:p>
          <a:p>
            <a:pPr marL="504825" indent="-92075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Colored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Gradually,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homogeneous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emerged.</a:t>
            </a:r>
            <a:endParaRPr sz="1100">
              <a:latin typeface="Times New Roman"/>
              <a:cs typeface="Times New Roman"/>
            </a:endParaRPr>
          </a:p>
          <a:p>
            <a:pPr marL="412750">
              <a:lnSpc>
                <a:spcPct val="100000"/>
              </a:lnSpc>
              <a:spcBef>
                <a:spcPts val="135"/>
              </a:spcBef>
            </a:pPr>
            <a:r>
              <a:rPr dirty="0" sz="1100" spc="10">
                <a:latin typeface="Times New Roman"/>
                <a:cs typeface="Times New Roman"/>
              </a:rPr>
              <a:t>1.Uses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0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Interpersonal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Instrumental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Regulative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Innovative/imaginative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22: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Spread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English: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South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Africa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rules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Dutch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1652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1795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1795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1948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Dutch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(by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 Afrikaners)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1948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1994</a:t>
            </a:r>
            <a:endParaRPr sz="1100">
              <a:latin typeface="Times New Roman"/>
              <a:cs typeface="Times New Roman"/>
            </a:endParaRPr>
          </a:p>
          <a:p>
            <a:pPr marL="12700" marR="2219325" indent="2286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Several British settlements were established in </a:t>
            </a:r>
            <a:r>
              <a:rPr dirty="0" sz="1100">
                <a:latin typeface="Times New Roman"/>
                <a:cs typeface="Times New Roman"/>
              </a:rPr>
              <a:t>1840s </a:t>
            </a:r>
            <a:r>
              <a:rPr dirty="0" sz="1100" spc="-5">
                <a:latin typeface="Times New Roman"/>
                <a:cs typeface="Times New Roman"/>
              </a:rPr>
              <a:t>and1850s.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Immigrations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Witwatersrand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rush</a:t>
            </a:r>
            <a:r>
              <a:rPr dirty="0" sz="1100" spc="-5">
                <a:latin typeface="Times New Roman"/>
                <a:cs typeface="Times New Roman"/>
              </a:rPr>
              <a:t> attracted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immigrants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1870s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Arrival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half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 immigrants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nineteenth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Dutch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(later</a:t>
            </a:r>
            <a:r>
              <a:rPr dirty="0" sz="1100" spc="-5">
                <a:latin typeface="Times New Roman"/>
                <a:cs typeface="Times New Roman"/>
              </a:rPr>
              <a:t> Afrikaan)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5">
                <a:latin typeface="Times New Roman"/>
                <a:cs typeface="Times New Roman"/>
              </a:rPr>
              <a:t> languages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Struggle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privilege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particular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strengthen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apartheid.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Dutch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1806,</a:t>
            </a:r>
            <a:r>
              <a:rPr dirty="0" sz="1100" spc="-5">
                <a:latin typeface="Times New Roman"/>
                <a:cs typeface="Times New Roman"/>
              </a:rPr>
              <a:t> 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tried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Anglicise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1910: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Declaration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Dutch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co-official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241300" marR="190436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 1948 </a:t>
            </a:r>
            <a:r>
              <a:rPr dirty="0" sz="1100" spc="-5">
                <a:latin typeface="Times New Roman"/>
                <a:cs typeface="Times New Roman"/>
              </a:rPr>
              <a:t>Afrikaners came into </a:t>
            </a:r>
            <a:r>
              <a:rPr dirty="0" sz="1100">
                <a:latin typeface="Times New Roman"/>
                <a:cs typeface="Times New Roman"/>
              </a:rPr>
              <a:t>power </a:t>
            </a:r>
            <a:r>
              <a:rPr dirty="0" sz="1100" spc="-5">
                <a:latin typeface="Times New Roman"/>
                <a:cs typeface="Times New Roman"/>
              </a:rPr>
              <a:t>and introduced Afrikanerization.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South Africa</a:t>
            </a:r>
            <a:endParaRPr sz="1100">
              <a:latin typeface="Times New Roman"/>
              <a:cs typeface="Times New Roman"/>
            </a:endParaRPr>
          </a:p>
          <a:p>
            <a:pPr marL="504825" indent="-2635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those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ethnically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background.</a:t>
            </a:r>
            <a:endParaRPr sz="1100">
              <a:latin typeface="Times New Roman"/>
              <a:cs typeface="Times New Roman"/>
            </a:endParaRPr>
          </a:p>
          <a:p>
            <a:pPr marL="241300" marR="3199130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Also adopted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many immigrants </a:t>
            </a:r>
            <a:r>
              <a:rPr dirty="0" sz="1100">
                <a:latin typeface="Times New Roman"/>
                <a:cs typeface="Times New Roman"/>
              </a:rPr>
              <a:t>from India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Controversial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Bantu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</a:t>
            </a:r>
            <a:endParaRPr sz="1100">
              <a:latin typeface="Times New Roman"/>
              <a:cs typeface="Times New Roman"/>
            </a:endParaRPr>
          </a:p>
          <a:p>
            <a:pPr marL="504825" indent="-263525">
              <a:lnSpc>
                <a:spcPct val="100000"/>
              </a:lnSpc>
              <a:spcBef>
                <a:spcPts val="130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>
                <a:latin typeface="Times New Roman"/>
                <a:cs typeface="Times New Roman"/>
              </a:rPr>
              <a:t>Imposition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Afrikaans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instruction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black</a:t>
            </a:r>
            <a:r>
              <a:rPr dirty="0" sz="1100" spc="-5">
                <a:latin typeface="Times New Roman"/>
                <a:cs typeface="Times New Roman"/>
              </a:rPr>
              <a:t> schools</a:t>
            </a:r>
            <a:endParaRPr sz="1100">
              <a:latin typeface="Times New Roman"/>
              <a:cs typeface="Times New Roman"/>
            </a:endParaRPr>
          </a:p>
          <a:p>
            <a:pPr marL="241300" marR="25006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Resistance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Black students </a:t>
            </a:r>
            <a:r>
              <a:rPr dirty="0" sz="1100">
                <a:latin typeface="Times New Roman"/>
                <a:cs typeface="Times New Roman"/>
              </a:rPr>
              <a:t>resulted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bloody uprising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Controversial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Policy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Afrikaan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perceived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black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oppression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liberation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Blacks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viewed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achieving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voice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64444"/>
            <a:ext cx="5353685" cy="86620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Bantu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had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opposite</a:t>
            </a:r>
            <a:r>
              <a:rPr dirty="0" sz="1100" spc="-5">
                <a:latin typeface="Times New Roman"/>
                <a:cs typeface="Times New Roman"/>
              </a:rPr>
              <a:t> effect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desired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it.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23: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Spread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English: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Africa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Cape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Good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Hope: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until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1794</a:t>
            </a:r>
            <a:endParaRPr sz="1100">
              <a:latin typeface="Times New Roman"/>
              <a:cs typeface="Times New Roman"/>
            </a:endParaRPr>
          </a:p>
          <a:p>
            <a:pPr marL="241300" marR="21234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By </a:t>
            </a:r>
            <a:r>
              <a:rPr dirty="0" sz="1100">
                <a:latin typeface="Times New Roman"/>
                <a:cs typeface="Times New Roman"/>
              </a:rPr>
              <a:t>1914 </a:t>
            </a:r>
            <a:r>
              <a:rPr dirty="0" sz="1100" spc="-5">
                <a:latin typeface="Times New Roman"/>
                <a:cs typeface="Times New Roman"/>
              </a:rPr>
              <a:t>several colonial territories </a:t>
            </a:r>
            <a:r>
              <a:rPr dirty="0" sz="1100">
                <a:latin typeface="Times New Roman"/>
                <a:cs typeface="Times New Roman"/>
              </a:rPr>
              <a:t>had </a:t>
            </a:r>
            <a:r>
              <a:rPr dirty="0" sz="1100" spc="-5">
                <a:latin typeface="Times New Roman"/>
                <a:cs typeface="Times New Roman"/>
              </a:rPr>
              <a:t>emerged.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Repartitioning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Wars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Liberation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African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half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20th</a:t>
            </a:r>
            <a:r>
              <a:rPr dirty="0" sz="1100" spc="-5">
                <a:latin typeface="Times New Roman"/>
                <a:cs typeface="Times New Roman"/>
              </a:rPr>
              <a:t> century</a:t>
            </a:r>
            <a:endParaRPr sz="1100">
              <a:latin typeface="Times New Roman"/>
              <a:cs typeface="Times New Roman"/>
            </a:endParaRPr>
          </a:p>
          <a:p>
            <a:pPr marL="241300" marR="24130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Formation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Organization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African Unity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Africa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commerce</a:t>
            </a:r>
            <a:endParaRPr sz="1100">
              <a:latin typeface="Times New Roman"/>
              <a:cs typeface="Times New Roman"/>
            </a:endParaRPr>
          </a:p>
          <a:p>
            <a:pPr marL="241300" marR="19126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Anti-slave activities </a:t>
            </a:r>
            <a:r>
              <a:rPr dirty="0" sz="1100">
                <a:latin typeface="Times New Roman"/>
                <a:cs typeface="Times New Roman"/>
              </a:rPr>
              <a:t>facilitated </a:t>
            </a:r>
            <a:r>
              <a:rPr dirty="0" sz="1100" spc="-5">
                <a:latin typeface="Times New Roman"/>
                <a:cs typeface="Times New Roman"/>
              </a:rPr>
              <a:t>the spread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1807,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 Parliament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passed</a:t>
            </a:r>
            <a:r>
              <a:rPr dirty="0" sz="1100" spc="-5">
                <a:latin typeface="Times New Roman"/>
                <a:cs typeface="Times New Roman"/>
              </a:rPr>
              <a:t> 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abolition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trade.</a:t>
            </a:r>
            <a:endParaRPr sz="1100">
              <a:latin typeface="Times New Roman"/>
              <a:cs typeface="Times New Roman"/>
            </a:endParaRPr>
          </a:p>
          <a:p>
            <a:pPr marL="241300" marR="1339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Royal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Navy’s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West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squadron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seized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thousands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ships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slaves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freed.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 Africa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Settlements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slaves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Served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anti-slave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squadrons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Later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became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crown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Visited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missionaries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endParaRPr sz="1100">
              <a:latin typeface="Times New Roman"/>
              <a:cs typeface="Times New Roman"/>
            </a:endParaRPr>
          </a:p>
          <a:p>
            <a:pPr lvl="1" marL="469900" indent="-171450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Sierra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Leone</a:t>
            </a:r>
            <a:endParaRPr sz="1100">
              <a:latin typeface="Times New Roman"/>
              <a:cs typeface="Times New Roman"/>
            </a:endParaRPr>
          </a:p>
          <a:p>
            <a:pPr lvl="1" marL="469900" indent="-171450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Ghana</a:t>
            </a:r>
            <a:endParaRPr sz="1100">
              <a:latin typeface="Times New Roman"/>
              <a:cs typeface="Times New Roman"/>
            </a:endParaRPr>
          </a:p>
          <a:p>
            <a:pPr lvl="1" marL="469900" indent="-171450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Nigeria</a:t>
            </a:r>
            <a:endParaRPr sz="1100">
              <a:latin typeface="Times New Roman"/>
              <a:cs typeface="Times New Roman"/>
            </a:endParaRPr>
          </a:p>
          <a:p>
            <a:pPr lvl="1" marL="469900" indent="-171450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Gambia</a:t>
            </a:r>
            <a:endParaRPr sz="1100">
              <a:latin typeface="Times New Roman"/>
              <a:cs typeface="Times New Roman"/>
            </a:endParaRPr>
          </a:p>
          <a:p>
            <a:pPr lvl="1" marL="469900" indent="-171450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Cameroon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Highly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</a:t>
            </a:r>
            <a:endParaRPr sz="1100">
              <a:latin typeface="Times New Roman"/>
              <a:cs typeface="Times New Roman"/>
            </a:endParaRPr>
          </a:p>
          <a:p>
            <a:pPr marL="298450" marR="645795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Standard </a:t>
            </a:r>
            <a:r>
              <a:rPr dirty="0" sz="1100">
                <a:latin typeface="Times New Roman"/>
                <a:cs typeface="Times New Roman"/>
              </a:rPr>
              <a:t>varieties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used by </a:t>
            </a:r>
            <a:r>
              <a:rPr dirty="0" sz="1100" spc="-5">
                <a:latin typeface="Times New Roman"/>
                <a:cs typeface="Times New Roman"/>
              </a:rPr>
              <a:t>the colonial </a:t>
            </a:r>
            <a:r>
              <a:rPr dirty="0" sz="1100">
                <a:latin typeface="Times New Roman"/>
                <a:cs typeface="Times New Roman"/>
              </a:rPr>
              <a:t>officials </a:t>
            </a:r>
            <a:r>
              <a:rPr dirty="0" sz="1100" spc="-5">
                <a:latin typeface="Times New Roman"/>
                <a:cs typeface="Times New Roman"/>
              </a:rPr>
              <a:t>and missionaries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 Africa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Emergence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creoles</a:t>
            </a:r>
            <a:endParaRPr sz="1100">
              <a:latin typeface="Times New Roman"/>
              <a:cs typeface="Times New Roman"/>
            </a:endParaRPr>
          </a:p>
          <a:p>
            <a:pPr marL="298450" marR="160401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based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Krio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East Africa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Formation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1888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Establishment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protectorates</a:t>
            </a:r>
            <a:endParaRPr sz="1100">
              <a:latin typeface="Times New Roman"/>
              <a:cs typeface="Times New Roman"/>
            </a:endParaRPr>
          </a:p>
          <a:p>
            <a:pPr marL="298450" marR="508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Almost all the </a:t>
            </a:r>
            <a:r>
              <a:rPr dirty="0" sz="1100">
                <a:latin typeface="Times New Roman"/>
                <a:cs typeface="Times New Roman"/>
              </a:rPr>
              <a:t>protectorates declared </a:t>
            </a:r>
            <a:r>
              <a:rPr dirty="0" sz="1100" spc="-5">
                <a:latin typeface="Times New Roman"/>
                <a:cs typeface="Times New Roman"/>
              </a:rPr>
              <a:t>English their </a:t>
            </a:r>
            <a:r>
              <a:rPr dirty="0" sz="1100">
                <a:latin typeface="Times New Roman"/>
                <a:cs typeface="Times New Roman"/>
              </a:rPr>
              <a:t>official </a:t>
            </a:r>
            <a:r>
              <a:rPr dirty="0" sz="1100" spc="-5">
                <a:latin typeface="Times New Roman"/>
                <a:cs typeface="Times New Roman"/>
              </a:rPr>
              <a:t>language after independence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 English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emigrants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Africa-born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whites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schools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24: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Spread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English: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South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Asia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121910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114300">
              <a:lnSpc>
                <a:spcPct val="100000"/>
              </a:lnSpc>
              <a:spcBef>
                <a:spcPts val="234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India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Pakistan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Bangladesh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Sri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Lanka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Nepal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Bhutan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Arrival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Formation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</a:t>
            </a:r>
            <a:r>
              <a:rPr dirty="0" sz="1100" spc="-5">
                <a:latin typeface="Times New Roman"/>
                <a:cs typeface="Times New Roman"/>
              </a:rPr>
              <a:t> Company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1600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decline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Mughal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emperors</a:t>
            </a:r>
            <a:endParaRPr sz="1100">
              <a:latin typeface="Times New Roman"/>
              <a:cs typeface="Times New Roman"/>
            </a:endParaRPr>
          </a:p>
          <a:p>
            <a:pPr marL="12700" marR="1991995" indent="34290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Trading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transformed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Empire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Became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administration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1835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Became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12700" marR="2272030" indent="34290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growth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Empire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vernacular</a:t>
            </a:r>
            <a:r>
              <a:rPr dirty="0" sz="1100" spc="-5">
                <a:latin typeface="Times New Roman"/>
                <a:cs typeface="Times New Roman"/>
              </a:rPr>
              <a:t> medium</a:t>
            </a:r>
            <a:endParaRPr sz="1100">
              <a:latin typeface="Times New Roman"/>
              <a:cs typeface="Times New Roman"/>
            </a:endParaRPr>
          </a:p>
          <a:p>
            <a:pPr marL="12700" marR="2235835" indent="34290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became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empowerment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Pakistan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Inherited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Urdu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declared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1947.</a:t>
            </a:r>
            <a:endParaRPr sz="1100">
              <a:latin typeface="Times New Roman"/>
              <a:cs typeface="Times New Roman"/>
            </a:endParaRPr>
          </a:p>
          <a:p>
            <a:pPr marL="12700" marR="1104265" indent="34290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government </a:t>
            </a:r>
            <a:r>
              <a:rPr dirty="0" sz="1100" spc="-5">
                <a:latin typeface="Times New Roman"/>
                <a:cs typeface="Times New Roman"/>
              </a:rPr>
              <a:t>continued to support English medium schools.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domains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courts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Government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administration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Highe</a:t>
            </a:r>
            <a:r>
              <a:rPr dirty="0" sz="1100">
                <a:latin typeface="Times New Roman"/>
                <a:cs typeface="Times New Roman"/>
              </a:rPr>
              <a:t>r</a:t>
            </a:r>
            <a:r>
              <a:rPr dirty="0" sz="1100" spc="-5">
                <a:latin typeface="Times New Roman"/>
                <a:cs typeface="Times New Roman"/>
              </a:rPr>
              <a:t> education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armed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forces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media</a:t>
            </a:r>
            <a:endParaRPr sz="1100">
              <a:latin typeface="Times New Roman"/>
              <a:cs typeface="Times New Roman"/>
            </a:endParaRPr>
          </a:p>
          <a:p>
            <a:pPr marL="504825" indent="-149225">
              <a:lnSpc>
                <a:spcPct val="100000"/>
              </a:lnSpc>
              <a:spcBef>
                <a:spcPts val="135"/>
              </a:spcBef>
              <a:buChar char="•"/>
              <a:tabLst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Business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tourism</a:t>
            </a:r>
            <a:endParaRPr sz="1100">
              <a:latin typeface="Times New Roman"/>
              <a:cs typeface="Times New Roman"/>
            </a:endParaRPr>
          </a:p>
          <a:p>
            <a:pPr marL="12700" marR="3252470" indent="34290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In-group </a:t>
            </a:r>
            <a:r>
              <a:rPr dirty="0" sz="1100" spc="-5">
                <a:latin typeface="Times New Roman"/>
                <a:cs typeface="Times New Roman"/>
              </a:rPr>
              <a:t>communication 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Associated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Pakistan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Emergence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indigenized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12700" marR="5080" indent="34290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Majority showing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leaning towards British English </a:t>
            </a:r>
            <a:r>
              <a:rPr dirty="0" sz="1100">
                <a:latin typeface="Times New Roman"/>
                <a:cs typeface="Times New Roman"/>
              </a:rPr>
              <a:t>followed by </a:t>
            </a:r>
            <a:r>
              <a:rPr dirty="0" sz="1100" spc="-5">
                <a:latin typeface="Times New Roman"/>
                <a:cs typeface="Times New Roman"/>
              </a:rPr>
              <a:t>American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Pakistan: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17,000,000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  <a:tab pos="926465" algn="l"/>
              </a:tabLst>
            </a:pPr>
            <a:r>
              <a:rPr dirty="0" sz="1100">
                <a:latin typeface="Times New Roman"/>
                <a:cs typeface="Times New Roman"/>
              </a:rPr>
              <a:t>India:	200,350,000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Outnumbers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combined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India.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Twenty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billion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English.</a:t>
            </a:r>
            <a:endParaRPr sz="1100">
              <a:latin typeface="Times New Roman"/>
              <a:cs typeface="Times New Roman"/>
            </a:endParaRPr>
          </a:p>
          <a:p>
            <a:pPr marL="12700" marR="2184400" indent="34290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lingua </a:t>
            </a:r>
            <a:r>
              <a:rPr dirty="0" sz="1100">
                <a:latin typeface="Times New Roman"/>
                <a:cs typeface="Times New Roman"/>
              </a:rPr>
              <a:t>franca </a:t>
            </a:r>
            <a:r>
              <a:rPr dirty="0" sz="1100" spc="-5">
                <a:latin typeface="Times New Roman"/>
                <a:cs typeface="Times New Roman"/>
              </a:rPr>
              <a:t>in the south </a:t>
            </a:r>
            <a:r>
              <a:rPr dirty="0" sz="1100">
                <a:latin typeface="Times New Roman"/>
                <a:cs typeface="Times New Roman"/>
              </a:rPr>
              <a:t>of India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5">
                <a:latin typeface="Times New Roman"/>
                <a:cs typeface="Times New Roman"/>
              </a:rPr>
              <a:t> South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 countries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 ofﬁcial status 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Sign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modernity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1023989"/>
            <a:ext cx="6374765" cy="83889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65785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Lesson-05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194945">
              <a:lnSpc>
                <a:spcPct val="100000"/>
              </a:lnSpc>
            </a:pPr>
            <a:r>
              <a:rPr dirty="0" sz="1400" spc="30">
                <a:latin typeface="Times New Roman"/>
                <a:cs typeface="Times New Roman"/>
              </a:rPr>
              <a:t>Historical,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Political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and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5">
                <a:latin typeface="Times New Roman"/>
                <a:cs typeface="Times New Roman"/>
              </a:rPr>
              <a:t>Social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30">
                <a:latin typeface="Times New Roman"/>
                <a:cs typeface="Times New Roman"/>
              </a:rPr>
              <a:t>Contexts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25: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Political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Developments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Empire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Exerting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civilising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goal.</a:t>
            </a:r>
            <a:endParaRPr sz="1100">
              <a:latin typeface="Times New Roman"/>
              <a:cs typeface="Times New Roman"/>
            </a:endParaRPr>
          </a:p>
          <a:p>
            <a:pPr marL="12700" marR="3237865" indent="2286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facilitated </a:t>
            </a:r>
            <a:r>
              <a:rPr dirty="0" sz="1100" spc="-5">
                <a:latin typeface="Times New Roman"/>
                <a:cs typeface="Times New Roman"/>
              </a:rPr>
              <a:t>the achievement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goal.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Empire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symbol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unity.</a:t>
            </a:r>
            <a:endParaRPr sz="1100">
              <a:latin typeface="Times New Roman"/>
              <a:cs typeface="Times New Roman"/>
            </a:endParaRPr>
          </a:p>
          <a:p>
            <a:pPr marL="241300" marR="101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Developments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railway,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roads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telegraph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symbolized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Empire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unifying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colony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Showed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bonds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home</a:t>
            </a:r>
            <a:r>
              <a:rPr dirty="0" sz="1100" spc="-5">
                <a:latin typeface="Times New Roman"/>
                <a:cs typeface="Times New Roman"/>
              </a:rPr>
              <a:t> country</a:t>
            </a:r>
            <a:endParaRPr sz="1100">
              <a:latin typeface="Times New Roman"/>
              <a:cs typeface="Times New Roman"/>
            </a:endParaRPr>
          </a:p>
          <a:p>
            <a:pPr marL="241300" marR="39871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Access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industrial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Triumphalist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bringing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peacefully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</a:t>
            </a:r>
            <a:r>
              <a:rPr dirty="0" sz="1100" spc="-5">
                <a:latin typeface="Times New Roman"/>
                <a:cs typeface="Times New Roman"/>
              </a:rPr>
              <a:t> subjugation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delivered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English.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Triumphalist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</a:t>
            </a:r>
            <a:endParaRPr sz="1100">
              <a:latin typeface="Times New Roman"/>
              <a:cs typeface="Times New Roman"/>
            </a:endParaRPr>
          </a:p>
          <a:p>
            <a:pPr marL="2413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“We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taught—and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believed—that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ideas,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government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government,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best men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Englishmen” (Mandela as quoted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Rahman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2005, p.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26).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Enduring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chosen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many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Asian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Still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symbol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progress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26:Technological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Industrial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Development-I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algn="r" marR="4924425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Britain’s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industrialization</a:t>
            </a:r>
            <a:endParaRPr sz="1100">
              <a:latin typeface="Times New Roman"/>
              <a:cs typeface="Times New Roman"/>
            </a:endParaRPr>
          </a:p>
          <a:p>
            <a:pPr algn="r" marL="227965" marR="4861560" indent="-227965">
              <a:lnSpc>
                <a:spcPct val="100000"/>
              </a:lnSpc>
              <a:spcBef>
                <a:spcPts val="135"/>
              </a:spcBef>
              <a:buChar char="•"/>
              <a:tabLst>
                <a:tab pos="2279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Populatio</a:t>
            </a:r>
            <a:r>
              <a:rPr dirty="0" sz="1100">
                <a:latin typeface="Times New Roman"/>
                <a:cs typeface="Times New Roman"/>
              </a:rPr>
              <a:t>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growth</a:t>
            </a:r>
            <a:endParaRPr sz="1100">
              <a:latin typeface="Times New Roman"/>
              <a:cs typeface="Times New Roman"/>
            </a:endParaRPr>
          </a:p>
          <a:p>
            <a:pPr algn="r" marL="227965" marR="4901565" indent="-227965">
              <a:lnSpc>
                <a:spcPct val="100000"/>
              </a:lnSpc>
              <a:spcBef>
                <a:spcPts val="135"/>
              </a:spcBef>
              <a:buChar char="•"/>
              <a:tabLst>
                <a:tab pos="2279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Economi</a:t>
            </a:r>
            <a:r>
              <a:rPr dirty="0" sz="1100">
                <a:latin typeface="Times New Roman"/>
                <a:cs typeface="Times New Roman"/>
              </a:rPr>
              <a:t>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growth</a:t>
            </a:r>
            <a:endParaRPr sz="1100">
              <a:latin typeface="Times New Roman"/>
              <a:cs typeface="Times New Roman"/>
            </a:endParaRPr>
          </a:p>
          <a:p>
            <a:pPr marL="12700" marR="4853305" indent="2286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Productio</a:t>
            </a:r>
            <a:r>
              <a:rPr dirty="0" sz="1100">
                <a:latin typeface="Times New Roman"/>
                <a:cs typeface="Times New Roman"/>
              </a:rPr>
              <a:t>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growth  </a:t>
            </a:r>
            <a:r>
              <a:rPr dirty="0" sz="1100" spc="-5">
                <a:latin typeface="Times New Roman"/>
                <a:cs typeface="Times New Roman"/>
              </a:rPr>
              <a:t>Production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growth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Massive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organization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scale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manufactured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goods</a:t>
            </a:r>
            <a:endParaRPr sz="1100">
              <a:latin typeface="Times New Roman"/>
              <a:cs typeface="Times New Roman"/>
            </a:endParaRPr>
          </a:p>
          <a:p>
            <a:pPr marL="12700" marR="3417570" indent="2286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Britain </a:t>
            </a:r>
            <a:r>
              <a:rPr dirty="0" sz="1100">
                <a:latin typeface="Times New Roman"/>
                <a:cs typeface="Times New Roman"/>
              </a:rPr>
              <a:t>becoming </a:t>
            </a:r>
            <a:r>
              <a:rPr dirty="0" sz="1100" spc="-5">
                <a:latin typeface="Times New Roman"/>
                <a:cs typeface="Times New Roman"/>
              </a:rPr>
              <a:t>the workshop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world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industrialization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took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Britain</a:t>
            </a:r>
            <a:endParaRPr sz="1100">
              <a:latin typeface="Times New Roman"/>
              <a:cs typeface="Times New Roman"/>
            </a:endParaRPr>
          </a:p>
          <a:p>
            <a:pPr marL="12700" marR="3655060" indent="2286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Many American inventers came to </a:t>
            </a:r>
            <a:r>
              <a:rPr dirty="0" sz="1100">
                <a:latin typeface="Times New Roman"/>
                <a:cs typeface="Times New Roman"/>
              </a:rPr>
              <a:t>fame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consequences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collaboration</a:t>
            </a:r>
            <a:endParaRPr sz="1100">
              <a:latin typeface="Times New Roman"/>
              <a:cs typeface="Times New Roman"/>
            </a:endParaRPr>
          </a:p>
          <a:p>
            <a:pPr marL="12700" marR="1109980" indent="2286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>
                <a:latin typeface="Times New Roman"/>
                <a:cs typeface="Times New Roman"/>
              </a:rPr>
              <a:t> 1700 – 1900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scientific research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documented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consequences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industrialization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Addition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lexicon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566410" cy="867219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borrowing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buying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technology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Exchange/hiring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expertise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27:Technological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Industrial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Development-II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marR="3862704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Access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knowledge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by:</a:t>
            </a:r>
            <a:endParaRPr sz="1100">
              <a:latin typeface="Times New Roman"/>
              <a:cs typeface="Times New Roman"/>
            </a:endParaRPr>
          </a:p>
          <a:p>
            <a:pPr marL="504825" indent="-2635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  <a:tab pos="2070735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Developments in </a:t>
            </a:r>
            <a:r>
              <a:rPr dirty="0" sz="1100">
                <a:latin typeface="Times New Roman"/>
                <a:cs typeface="Times New Roman"/>
              </a:rPr>
              <a:t>printing	press</a:t>
            </a:r>
            <a:endParaRPr sz="1100">
              <a:latin typeface="Times New Roman"/>
              <a:cs typeface="Times New Roman"/>
            </a:endParaRPr>
          </a:p>
          <a:p>
            <a:pPr marL="241300" marR="355790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Transportation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Developments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transportation</a:t>
            </a:r>
            <a:endParaRPr sz="1100">
              <a:latin typeface="Times New Roman"/>
              <a:cs typeface="Times New Roman"/>
            </a:endParaRPr>
          </a:p>
          <a:p>
            <a:pPr marL="504825" indent="-2635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Railway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Road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network</a:t>
            </a:r>
            <a:endParaRPr sz="1100">
              <a:latin typeface="Times New Roman"/>
              <a:cs typeface="Times New Roman"/>
            </a:endParaRPr>
          </a:p>
          <a:p>
            <a:pPr marL="241300" marR="34359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energy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business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giants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John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D.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Rockfeller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William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Randolph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Hearst</a:t>
            </a:r>
            <a:endParaRPr sz="1100">
              <a:latin typeface="Times New Roman"/>
              <a:cs typeface="Times New Roman"/>
            </a:endParaRPr>
          </a:p>
          <a:p>
            <a:pPr marL="241300" marR="38392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John Pierpont Morgan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Growth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banking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Growth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investment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Investments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provided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5">
                <a:latin typeface="Times New Roman"/>
                <a:cs typeface="Times New Roman"/>
              </a:rPr>
              <a:t> colonies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wealthy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London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York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became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capitals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£4,500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thousand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investment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abroad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28:Social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Cultural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Trends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Consolidation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WWI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mediating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legacies</a:t>
            </a:r>
            <a:endParaRPr sz="1100">
              <a:latin typeface="Times New Roman"/>
              <a:cs typeface="Times New Roman"/>
            </a:endParaRPr>
          </a:p>
          <a:p>
            <a:pPr marL="241300" marR="27273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Expansion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technological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revolution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relations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co-official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most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organizations</a:t>
            </a:r>
            <a:endParaRPr sz="1100">
              <a:latin typeface="Times New Roman"/>
              <a:cs typeface="Times New Roman"/>
            </a:endParaRPr>
          </a:p>
          <a:p>
            <a:pPr marL="241300" marR="26168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restricted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membership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organizations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English-only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organizations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Scientiﬁc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organizations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Association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Editors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Cairo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Demographic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Baltic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Marine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Biologists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Association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Cancer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Association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Fish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Pathology</a:t>
            </a:r>
            <a:endParaRPr sz="1100">
              <a:latin typeface="Times New Roman"/>
              <a:cs typeface="Times New Roman"/>
            </a:endParaRPr>
          </a:p>
          <a:p>
            <a:pPr marL="241300" marR="3784600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Sportin</a:t>
            </a:r>
            <a:r>
              <a:rPr dirty="0" sz="1100">
                <a:latin typeface="Times New Roman"/>
                <a:cs typeface="Times New Roman"/>
              </a:rPr>
              <a:t>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organizations 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kind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protests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right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one’s own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29:International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Travel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6759"/>
            <a:ext cx="4429760" cy="722757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240"/>
              </a:spcBef>
            </a:pP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travel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USA: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tourism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spender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2001,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earned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$72,000.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travel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Staff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hotels</a:t>
            </a:r>
            <a:endParaRPr sz="1100">
              <a:latin typeface="Times New Roman"/>
              <a:cs typeface="Times New Roman"/>
            </a:endParaRPr>
          </a:p>
          <a:p>
            <a:pPr marL="241300" marR="1675764">
              <a:lnSpc>
                <a:spcPct val="1102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Signs at airports and </a:t>
            </a:r>
            <a:r>
              <a:rPr dirty="0" sz="1100">
                <a:latin typeface="Times New Roman"/>
                <a:cs typeface="Times New Roman"/>
              </a:rPr>
              <a:t>popular </a:t>
            </a:r>
            <a:r>
              <a:rPr dirty="0" sz="1100" spc="-5">
                <a:latin typeface="Times New Roman"/>
                <a:cs typeface="Times New Roman"/>
              </a:rPr>
              <a:t>tourist sites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travel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Signs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shop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windows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Restaurant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menus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Credit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facilities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Selling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artefacts</a:t>
            </a:r>
            <a:endParaRPr sz="1100">
              <a:latin typeface="Times New Roman"/>
              <a:cs typeface="Times New Roman"/>
            </a:endParaRPr>
          </a:p>
          <a:p>
            <a:pPr marL="241300" marR="1956435">
              <a:lnSpc>
                <a:spcPct val="1102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money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passing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visitor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auxiliary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Safety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instructions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Notices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Road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signs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military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travel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Songs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music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Radi</a:t>
            </a:r>
            <a:r>
              <a:rPr dirty="0" sz="1100">
                <a:latin typeface="Times New Roman"/>
                <a:cs typeface="Times New Roman"/>
              </a:rPr>
              <a:t>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broadcasts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Peace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keeping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missions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30:English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Lingua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Franca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Reasons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franca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Retaining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former</a:t>
            </a:r>
            <a:r>
              <a:rPr dirty="0" sz="1100" spc="-5">
                <a:latin typeface="Times New Roman"/>
                <a:cs typeface="Times New Roman"/>
              </a:rPr>
              <a:t> 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USA’s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Reasons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franca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Internal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reasons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Intellectual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reasons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Practical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reasons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Entertainment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reasons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Points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regarding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jeopardizes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 marL="241300" marR="14846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Restricts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Points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regarding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Wide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acknowledges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diversity.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Strengthens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possibility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planetary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citizenship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61912"/>
            <a:ext cx="6367780" cy="8758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58165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Lesson-06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76200">
              <a:lnSpc>
                <a:spcPct val="100000"/>
              </a:lnSpc>
            </a:pPr>
            <a:r>
              <a:rPr dirty="0" sz="1400" spc="50">
                <a:latin typeface="Times New Roman"/>
                <a:cs typeface="Times New Roman"/>
              </a:rPr>
              <a:t>Contact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50">
                <a:latin typeface="Times New Roman"/>
                <a:cs typeface="Times New Roman"/>
              </a:rPr>
              <a:t>Induced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30">
                <a:latin typeface="Times New Roman"/>
                <a:cs typeface="Times New Roman"/>
              </a:rPr>
              <a:t>Varieties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25">
                <a:latin typeface="Times New Roman"/>
                <a:cs typeface="Times New Roman"/>
              </a:rPr>
              <a:t>English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Topic-031:Pidgins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Creoles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Pidgin</a:t>
            </a:r>
            <a:endParaRPr sz="1100">
              <a:latin typeface="Times New Roman"/>
              <a:cs typeface="Times New Roman"/>
            </a:endParaRPr>
          </a:p>
          <a:p>
            <a:pPr marL="241300" marR="825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product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wish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ﬁnd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improvise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simple language system that will enable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 to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so.</a:t>
            </a:r>
            <a:endParaRPr sz="11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phenomenon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endParaRPr sz="1100">
              <a:latin typeface="Times New Roman"/>
              <a:cs typeface="Times New Roman"/>
            </a:endParaRPr>
          </a:p>
          <a:p>
            <a:pPr marL="241300" marR="3423920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results </a:t>
            </a:r>
            <a:r>
              <a:rPr dirty="0" sz="1100" spc="-5">
                <a:latin typeface="Times New Roman"/>
                <a:cs typeface="Times New Roman"/>
              </a:rPr>
              <a:t>in transfer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features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Pidgin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reduced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Results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extended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-5">
                <a:latin typeface="Times New Roman"/>
                <a:cs typeface="Times New Roman"/>
              </a:rPr>
              <a:t> 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endParaRPr sz="1100">
              <a:latin typeface="Times New Roman"/>
              <a:cs typeface="Times New Roman"/>
            </a:endParaRPr>
          </a:p>
          <a:p>
            <a:pPr marL="241300" marR="21742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Arises to </a:t>
            </a:r>
            <a:r>
              <a:rPr dirty="0" sz="1100">
                <a:latin typeface="Times New Roman"/>
                <a:cs typeface="Times New Roman"/>
              </a:rPr>
              <a:t>fulfill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restricted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needs of </a:t>
            </a:r>
            <a:r>
              <a:rPr dirty="0" sz="1100" spc="-5">
                <a:latin typeface="Times New Roman"/>
                <a:cs typeface="Times New Roman"/>
              </a:rPr>
              <a:t>such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term </a:t>
            </a:r>
            <a:r>
              <a:rPr dirty="0" sz="1100">
                <a:latin typeface="Times New Roman"/>
                <a:cs typeface="Times New Roman"/>
              </a:rPr>
              <a:t>pidgin</a:t>
            </a:r>
            <a:endParaRPr sz="1100">
              <a:latin typeface="Times New Roman"/>
              <a:cs typeface="Times New Roman"/>
            </a:endParaRPr>
          </a:p>
          <a:p>
            <a:pPr marL="12700" marR="2946400" indent="2286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Chinese corruption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‘business’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gospidgin man</a:t>
            </a:r>
            <a:r>
              <a:rPr dirty="0" sz="1100">
                <a:latin typeface="Times New Roman"/>
                <a:cs typeface="Times New Roman"/>
              </a:rPr>
              <a:t> =</a:t>
            </a:r>
            <a:r>
              <a:rPr dirty="0" sz="1100" spc="-5">
                <a:latin typeface="Times New Roman"/>
                <a:cs typeface="Times New Roman"/>
              </a:rPr>
              <a:t> God’s businessman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(priest)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chowchow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cooking</a:t>
            </a:r>
            <a:endParaRPr sz="1100">
              <a:latin typeface="Times New Roman"/>
              <a:cs typeface="Times New Roman"/>
            </a:endParaRPr>
          </a:p>
          <a:p>
            <a:pPr lvl="1" marL="355600" marR="2820035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Portuguese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ocupaçao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‘trade,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occupation’.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term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</a:t>
            </a:r>
            <a:endParaRPr sz="1100">
              <a:latin typeface="Times New Roman"/>
              <a:cs typeface="Times New Roman"/>
            </a:endParaRPr>
          </a:p>
          <a:p>
            <a:pPr lvl="1"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 from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Yayo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‘pidian’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‘people’</a:t>
            </a:r>
            <a:endParaRPr sz="1100">
              <a:latin typeface="Times New Roman"/>
              <a:cs typeface="Times New Roman"/>
            </a:endParaRPr>
          </a:p>
          <a:p>
            <a:pPr lvl="1" marL="355600" marR="363347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Hebrew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‘pidjom’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‘barter’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</a:t>
            </a:r>
            <a:endParaRPr sz="1100">
              <a:latin typeface="Times New Roman"/>
              <a:cs typeface="Times New Roman"/>
            </a:endParaRPr>
          </a:p>
          <a:p>
            <a:pPr lvl="1"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pidgin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ﬁrst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of a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speakers.</a:t>
            </a:r>
            <a:endParaRPr sz="1100">
              <a:latin typeface="Times New Roman"/>
              <a:cs typeface="Times New Roman"/>
            </a:endParaRPr>
          </a:p>
          <a:p>
            <a:pPr lvl="1"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Creoles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arise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Topic-032:Process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Pidginization-I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Background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European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colonization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</a:t>
            </a:r>
            <a:endParaRPr sz="1100">
              <a:latin typeface="Times New Roman"/>
              <a:cs typeface="Times New Roman"/>
            </a:endParaRPr>
          </a:p>
          <a:p>
            <a:pPr marL="298450" marR="4797425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slavery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Background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Slaves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deliberately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drawn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backgrounds.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reason</a:t>
            </a:r>
            <a:r>
              <a:rPr dirty="0" sz="1100" spc="-5">
                <a:latin typeface="Times New Roman"/>
                <a:cs typeface="Times New Roman"/>
              </a:rPr>
              <a:t> was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avoid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rebellion</a:t>
            </a:r>
            <a:r>
              <a:rPr dirty="0" sz="1100" spc="-5">
                <a:latin typeface="Times New Roman"/>
                <a:cs typeface="Times New Roman"/>
              </a:rPr>
              <a:t> against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masters.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Background</a:t>
            </a:r>
            <a:endParaRPr sz="110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between: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Slave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master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slave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Slave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slave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pidginization</a:t>
            </a:r>
            <a:endParaRPr sz="1100">
              <a:latin typeface="Times New Roman"/>
              <a:cs typeface="Times New Roman"/>
            </a:endParaRPr>
          </a:p>
          <a:p>
            <a:pPr marL="29845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simpliﬁcation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separated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832077"/>
            <a:ext cx="3520440" cy="8522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marR="1575435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Process </a:t>
            </a:r>
            <a:r>
              <a:rPr dirty="0" sz="1100">
                <a:latin typeface="Times New Roman"/>
                <a:cs typeface="Times New Roman"/>
              </a:rPr>
              <a:t>of pidginization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of: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Mutually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unintelligible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Topic-033: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Pidginization-II</a:t>
            </a:r>
            <a:endParaRPr sz="110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Simplification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restricted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endParaRPr sz="1100">
              <a:latin typeface="Times New Roman"/>
              <a:cs typeface="Times New Roman"/>
            </a:endParaRPr>
          </a:p>
          <a:p>
            <a:pPr marL="298450" marR="786765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Simplification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dominant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Simplification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dominant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simplified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Fewer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(700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2000)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Less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morphology</a:t>
            </a:r>
            <a:endParaRPr sz="1100">
              <a:latin typeface="Times New Roman"/>
              <a:cs typeface="Times New Roman"/>
            </a:endParaRPr>
          </a:p>
          <a:p>
            <a:pPr marL="12700" marR="5080" indent="28575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Restricted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phonological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Simplification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dominant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 marL="12700" marR="855344" indent="28575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redundancy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</a:t>
            </a:r>
            <a:endParaRPr sz="1100">
              <a:latin typeface="Times New Roman"/>
              <a:cs typeface="Times New Roman"/>
            </a:endParaRPr>
          </a:p>
          <a:p>
            <a:pPr marL="12700" marR="234378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big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newspapers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girls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Les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deuxgrandsjournax</a:t>
            </a:r>
            <a:endParaRPr sz="1100">
              <a:latin typeface="Times New Roman"/>
              <a:cs typeface="Times New Roman"/>
            </a:endParaRPr>
          </a:p>
          <a:p>
            <a:pPr marL="12700" marR="1448435" indent="4572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Di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big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pepa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Simplification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lvl="1"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Bros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friend,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friend</a:t>
            </a:r>
            <a:endParaRPr sz="1100">
              <a:latin typeface="Times New Roman"/>
              <a:cs typeface="Times New Roman"/>
            </a:endParaRPr>
          </a:p>
          <a:p>
            <a:pPr lvl="1" marL="469900" indent="-11430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arrive</a:t>
            </a:r>
            <a:endParaRPr sz="1100">
              <a:latin typeface="Times New Roman"/>
              <a:cs typeface="Times New Roman"/>
            </a:endParaRPr>
          </a:p>
          <a:p>
            <a:pPr lvl="1"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Haus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house</a:t>
            </a:r>
            <a:endParaRPr sz="1100">
              <a:latin typeface="Times New Roman"/>
              <a:cs typeface="Times New Roman"/>
            </a:endParaRPr>
          </a:p>
          <a:p>
            <a:pPr marL="469900" marR="195389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Bros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haus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animal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Sik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sick</a:t>
            </a:r>
            <a:endParaRPr sz="1100">
              <a:latin typeface="Times New Roman"/>
              <a:cs typeface="Times New Roman"/>
            </a:endParaRPr>
          </a:p>
          <a:p>
            <a:pPr marL="12700" marR="834390" indent="4572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Hausdoksik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hospital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(house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sick)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Simplification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dominant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 lvl="2"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Dogbaby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puppy</a:t>
            </a:r>
            <a:endParaRPr sz="1100">
              <a:latin typeface="Times New Roman"/>
              <a:cs typeface="Times New Roman"/>
            </a:endParaRPr>
          </a:p>
          <a:p>
            <a:pPr lvl="2"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Cowbaby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calf</a:t>
            </a:r>
            <a:endParaRPr sz="1100">
              <a:latin typeface="Times New Roman"/>
              <a:cs typeface="Times New Roman"/>
            </a:endParaRPr>
          </a:p>
          <a:p>
            <a:pPr lvl="2"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Talkitalki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talkative</a:t>
            </a:r>
            <a:endParaRPr sz="1100">
              <a:latin typeface="Times New Roman"/>
              <a:cs typeface="Times New Roman"/>
            </a:endParaRPr>
          </a:p>
          <a:p>
            <a:pPr lvl="2"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bilong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hair</a:t>
            </a:r>
            <a:endParaRPr sz="1100">
              <a:latin typeface="Times New Roman"/>
              <a:cs typeface="Times New Roman"/>
            </a:endParaRPr>
          </a:p>
          <a:p>
            <a:pPr lvl="2" marL="12700" marR="1390650" indent="400050">
              <a:lnSpc>
                <a:spcPct val="110200"/>
              </a:lnSpc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moustache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views</a:t>
            </a:r>
            <a:r>
              <a:rPr dirty="0" sz="1100" spc="-5">
                <a:latin typeface="Times New Roman"/>
                <a:cs typeface="Times New Roman"/>
              </a:rPr>
              <a:t> about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pidgins</a:t>
            </a:r>
            <a:endParaRPr sz="1100">
              <a:latin typeface="Times New Roman"/>
              <a:cs typeface="Times New Roman"/>
            </a:endParaRPr>
          </a:p>
          <a:p>
            <a:pPr lvl="2" marL="469900" indent="-57150">
              <a:lnSpc>
                <a:spcPct val="100000"/>
              </a:lnSpc>
              <a:spcBef>
                <a:spcPts val="130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Marginal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lvl="2"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Degenerations</a:t>
            </a:r>
            <a:endParaRPr sz="1100">
              <a:latin typeface="Times New Roman"/>
              <a:cs typeface="Times New Roman"/>
            </a:endParaRPr>
          </a:p>
          <a:p>
            <a:pPr lvl="2"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Deviations</a:t>
            </a:r>
            <a:endParaRPr sz="1100">
              <a:latin typeface="Times New Roman"/>
              <a:cs typeface="Times New Roman"/>
            </a:endParaRPr>
          </a:p>
          <a:p>
            <a:pPr lvl="2" marL="12700" marR="1163320" indent="400050">
              <a:lnSpc>
                <a:spcPct val="110200"/>
              </a:lnSpc>
              <a:buSzPct val="90909"/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Imperfectly </a:t>
            </a:r>
            <a:r>
              <a:rPr dirty="0" sz="1100" spc="-5">
                <a:latin typeface="Times New Roman"/>
                <a:cs typeface="Times New Roman"/>
              </a:rPr>
              <a:t>learned languages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pidgins</a:t>
            </a:r>
            <a:endParaRPr sz="1100">
              <a:latin typeface="Times New Roman"/>
              <a:cs typeface="Times New Roman"/>
            </a:endParaRPr>
          </a:p>
          <a:p>
            <a:pPr lvl="2"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Deficient</a:t>
            </a:r>
            <a:endParaRPr sz="1100">
              <a:latin typeface="Times New Roman"/>
              <a:cs typeface="Times New Roman"/>
            </a:endParaRPr>
          </a:p>
          <a:p>
            <a:pPr lvl="2"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Ignorant</a:t>
            </a:r>
            <a:endParaRPr sz="1100">
              <a:latin typeface="Times New Roman"/>
              <a:cs typeface="Times New Roman"/>
            </a:endParaRPr>
          </a:p>
          <a:p>
            <a:pPr lvl="2"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Inferior</a:t>
            </a:r>
            <a:endParaRPr sz="1100">
              <a:latin typeface="Times New Roman"/>
              <a:cs typeface="Times New Roman"/>
            </a:endParaRPr>
          </a:p>
          <a:p>
            <a:pPr lvl="2" marL="12700" marR="2386965" indent="400050">
              <a:lnSpc>
                <a:spcPct val="110200"/>
              </a:lnSpc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Lazy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4937760" cy="870902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57150">
              <a:lnSpc>
                <a:spcPct val="100000"/>
              </a:lnSpc>
              <a:spcBef>
                <a:spcPts val="234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0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5">
                <a:latin typeface="Times New Roman"/>
                <a:cs typeface="Times New Roman"/>
              </a:rPr>
              <a:t> one’s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simplistic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adjunct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(no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Topic-034: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Creolization-I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Creole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Evolves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richer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412750" indent="400050">
              <a:lnSpc>
                <a:spcPct val="110200"/>
              </a:lnSpc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>
                <a:latin typeface="Times New Roman"/>
                <a:cs typeface="Times New Roman"/>
              </a:rPr>
              <a:t>(the </a:t>
            </a:r>
            <a:r>
              <a:rPr dirty="0" sz="1100" spc="-5">
                <a:latin typeface="Times New Roman"/>
                <a:cs typeface="Times New Roman"/>
              </a:rPr>
              <a:t>children learn the </a:t>
            </a:r>
            <a:r>
              <a:rPr dirty="0" sz="1100">
                <a:latin typeface="Times New Roman"/>
                <a:cs typeface="Times New Roman"/>
              </a:rPr>
              <a:t>pidgin </a:t>
            </a:r>
            <a:r>
              <a:rPr dirty="0" sz="1100" spc="-5">
                <a:latin typeface="Times New Roman"/>
                <a:cs typeface="Times New Roman"/>
              </a:rPr>
              <a:t>as their </a:t>
            </a:r>
            <a:r>
              <a:rPr dirty="0" sz="1100">
                <a:latin typeface="Times New Roman"/>
                <a:cs typeface="Times New Roman"/>
              </a:rPr>
              <a:t>first </a:t>
            </a:r>
            <a:r>
              <a:rPr dirty="0" sz="1100" spc="-5">
                <a:latin typeface="Times New Roman"/>
                <a:cs typeface="Times New Roman"/>
              </a:rPr>
              <a:t>language)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term creole</a:t>
            </a:r>
            <a:endParaRPr sz="1100">
              <a:latin typeface="Times New Roman"/>
              <a:cs typeface="Times New Roman"/>
            </a:endParaRPr>
          </a:p>
          <a:p>
            <a:pPr marL="469900" indent="-57150">
              <a:lnSpc>
                <a:spcPct val="100000"/>
              </a:lnSpc>
              <a:spcBef>
                <a:spcPts val="130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Comes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Portuguese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‘criar’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nurse’,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‘breed’,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‘bring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up’</a:t>
            </a:r>
            <a:endParaRPr sz="1100">
              <a:latin typeface="Times New Roman"/>
              <a:cs typeface="Times New Roman"/>
            </a:endParaRPr>
          </a:p>
          <a:p>
            <a:pPr marL="12700" marR="1596390" indent="400050">
              <a:lnSpc>
                <a:spcPct val="110200"/>
              </a:lnSpc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Crioulo </a:t>
            </a:r>
            <a:r>
              <a:rPr dirty="0" sz="1100">
                <a:latin typeface="Times New Roman"/>
                <a:cs typeface="Times New Roman"/>
              </a:rPr>
              <a:t>= </a:t>
            </a:r>
            <a:r>
              <a:rPr dirty="0" sz="1100" spc="-5">
                <a:latin typeface="Times New Roman"/>
                <a:cs typeface="Times New Roman"/>
              </a:rPr>
              <a:t>an African slave </a:t>
            </a:r>
            <a:r>
              <a:rPr dirty="0" sz="1100">
                <a:latin typeface="Times New Roman"/>
                <a:cs typeface="Times New Roman"/>
              </a:rPr>
              <a:t>born </a:t>
            </a:r>
            <a:r>
              <a:rPr dirty="0" sz="1100" spc="-5">
                <a:latin typeface="Times New Roman"/>
                <a:cs typeface="Times New Roman"/>
              </a:rPr>
              <a:t>into the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world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 or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creole?</a:t>
            </a:r>
            <a:endParaRPr sz="1100">
              <a:latin typeface="Times New Roman"/>
              <a:cs typeface="Times New Roman"/>
            </a:endParaRPr>
          </a:p>
          <a:p>
            <a:pPr marL="12700" marR="1816735" indent="34290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pidgins </a:t>
            </a:r>
            <a:r>
              <a:rPr dirty="0" sz="1100" spc="-5">
                <a:latin typeface="Times New Roman"/>
                <a:cs typeface="Times New Roman"/>
              </a:rPr>
              <a:t>exist as </a:t>
            </a:r>
            <a:r>
              <a:rPr dirty="0" sz="1100">
                <a:latin typeface="Times New Roman"/>
                <a:cs typeface="Times New Roman"/>
              </a:rPr>
              <a:t>both pidgins </a:t>
            </a:r>
            <a:r>
              <a:rPr dirty="0" sz="1100" spc="-5">
                <a:latin typeface="Times New Roman"/>
                <a:cs typeface="Times New Roman"/>
              </a:rPr>
              <a:t>and creoles.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creolization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Opposed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pidginization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vocabulary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complicated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grammatical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resources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pidgins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Expansion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syntax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Regularization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phonology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Deliberate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  <a:p>
            <a:pPr marL="12700" marR="1327785" indent="34290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Development </a:t>
            </a:r>
            <a:r>
              <a:rPr dirty="0" sz="1100">
                <a:latin typeface="Times New Roman"/>
                <a:cs typeface="Times New Roman"/>
              </a:rPr>
              <a:t>of a rational </a:t>
            </a:r>
            <a:r>
              <a:rPr dirty="0" sz="1100" spc="-5">
                <a:latin typeface="Times New Roman"/>
                <a:cs typeface="Times New Roman"/>
              </a:rPr>
              <a:t>and stable system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"Saposyukaikaiplantipinat,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baiyukamap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olsem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phantom."</a:t>
            </a:r>
            <a:endParaRPr sz="1100">
              <a:latin typeface="Times New Roman"/>
              <a:cs typeface="Times New Roman"/>
            </a:endParaRPr>
          </a:p>
          <a:p>
            <a:pPr marL="12700" marR="1622425">
              <a:lnSpc>
                <a:spcPct val="220400"/>
              </a:lnSpc>
            </a:pPr>
            <a:r>
              <a:rPr dirty="0" sz="1100" spc="-5">
                <a:latin typeface="Times New Roman"/>
                <a:cs typeface="Times New Roman"/>
              </a:rPr>
              <a:t>"Fantom,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yuprentrubilong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Inapyu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helpim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nau?“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"Fantom,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</a:t>
            </a:r>
            <a:r>
              <a:rPr dirty="0" sz="1100" spc="-5">
                <a:latin typeface="Times New Roman"/>
                <a:cs typeface="Times New Roman"/>
              </a:rPr>
              <a:t> we?"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creolization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"Saposyukaikaiplantipinat,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baiyukamap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olsem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phantom."</a:t>
            </a:r>
            <a:endParaRPr sz="1100">
              <a:latin typeface="Times New Roman"/>
              <a:cs typeface="Times New Roman"/>
            </a:endParaRPr>
          </a:p>
          <a:p>
            <a:pPr marL="12700" marR="1622425">
              <a:lnSpc>
                <a:spcPct val="220400"/>
              </a:lnSpc>
            </a:pPr>
            <a:r>
              <a:rPr dirty="0" sz="1100" spc="-5">
                <a:latin typeface="Times New Roman"/>
                <a:cs typeface="Times New Roman"/>
              </a:rPr>
              <a:t>"Fantom,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yuprentrubilong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Inapyu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helpim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nau?“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"Fantom,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</a:t>
            </a:r>
            <a:r>
              <a:rPr dirty="0" sz="1100" spc="-5">
                <a:latin typeface="Times New Roman"/>
                <a:cs typeface="Times New Roman"/>
              </a:rPr>
              <a:t> we?"</a:t>
            </a:r>
            <a:endParaRPr sz="1100">
              <a:latin typeface="Times New Roman"/>
              <a:cs typeface="Times New Roman"/>
            </a:endParaRPr>
          </a:p>
          <a:p>
            <a:pPr marL="12700" marR="791845" indent="349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“If</a:t>
            </a:r>
            <a:r>
              <a:rPr dirty="0" sz="1100">
                <a:latin typeface="Times New Roman"/>
                <a:cs typeface="Times New Roman"/>
              </a:rPr>
              <a:t> 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eat plenty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peanuts,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phantom.”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“Phantom,</a:t>
            </a:r>
            <a:r>
              <a:rPr dirty="0" sz="1100">
                <a:latin typeface="Times New Roman"/>
                <a:cs typeface="Times New Roman"/>
              </a:rPr>
              <a:t> you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-5">
                <a:latin typeface="Times New Roman"/>
                <a:cs typeface="Times New Roman"/>
              </a:rPr>
              <a:t> true friend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mine.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you </a:t>
            </a:r>
            <a:r>
              <a:rPr dirty="0" sz="1100" spc="-5">
                <a:latin typeface="Times New Roman"/>
                <a:cs typeface="Times New Roman"/>
              </a:rPr>
              <a:t>able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 now?”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“Where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</a:t>
            </a:r>
            <a:r>
              <a:rPr dirty="0" sz="1100">
                <a:latin typeface="Times New Roman"/>
                <a:cs typeface="Times New Roman"/>
              </a:rPr>
              <a:t> he</a:t>
            </a:r>
            <a:r>
              <a:rPr dirty="0" sz="1100" spc="-5">
                <a:latin typeface="Times New Roman"/>
                <a:cs typeface="Times New Roman"/>
              </a:rPr>
              <a:t> go?”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creoles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range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low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6–7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as many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10–17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regarded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900" indent="-11430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feel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great</a:t>
            </a:r>
            <a:r>
              <a:rPr dirty="0" sz="1100" spc="-5">
                <a:latin typeface="Times New Roman"/>
                <a:cs typeface="Times New Roman"/>
              </a:rPr>
              <a:t> sense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inferiority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Topic-035: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Process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Creolization-II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Creolization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pidgins</a:t>
            </a:r>
            <a:r>
              <a:rPr dirty="0" sz="1100" spc="-5">
                <a:latin typeface="Times New Roman"/>
                <a:cs typeface="Times New Roman"/>
              </a:rPr>
              <a:t> 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francas,</a:t>
            </a:r>
            <a:r>
              <a:rPr dirty="0" sz="1100" spc="-5">
                <a:latin typeface="Times New Roman"/>
                <a:cs typeface="Times New Roman"/>
              </a:rPr>
              <a:t> existing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temporary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undergo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creolisation.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Pidgins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901"/>
            <a:ext cx="6358255" cy="87204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484879" indent="228600">
              <a:lnSpc>
                <a:spcPct val="110200"/>
              </a:lnSpc>
              <a:spcBef>
                <a:spcPts val="100"/>
              </a:spcBef>
              <a:buFont typeface="Arial MT"/>
              <a:buChar char="•"/>
              <a:tabLst>
                <a:tab pos="504190" algn="l"/>
                <a:tab pos="504825" algn="l"/>
              </a:tabLst>
            </a:pP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needed,</a:t>
            </a:r>
            <a:r>
              <a:rPr dirty="0" sz="1100" spc="-5">
                <a:latin typeface="Times New Roman"/>
                <a:cs typeface="Times New Roman"/>
              </a:rPr>
              <a:t> it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creole continuum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continuum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arises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relationship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superstrate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166370" indent="228600">
              <a:lnSpc>
                <a:spcPct val="1102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 English </a:t>
            </a:r>
            <a:r>
              <a:rPr dirty="0" sz="1100">
                <a:latin typeface="Times New Roman"/>
                <a:cs typeface="Times New Roman"/>
              </a:rPr>
              <a:t>based </a:t>
            </a:r>
            <a:r>
              <a:rPr dirty="0" sz="1100" spc="-5">
                <a:latin typeface="Times New Roman"/>
                <a:cs typeface="Times New Roman"/>
              </a:rPr>
              <a:t>creole can </a:t>
            </a:r>
            <a:r>
              <a:rPr dirty="0" sz="1100">
                <a:latin typeface="Times New Roman"/>
                <a:cs typeface="Times New Roman"/>
              </a:rPr>
              <a:t>develop a number of varieties </a:t>
            </a:r>
            <a:r>
              <a:rPr dirty="0" sz="1100" spc="-5">
                <a:latin typeface="Times New Roman"/>
                <a:cs typeface="Times New Roman"/>
              </a:rPr>
              <a:t>when it is in contact with Standard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Decreolization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leads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 i="1">
                <a:latin typeface="Times New Roman"/>
                <a:cs typeface="Times New Roman"/>
              </a:rPr>
              <a:t>decreolization</a:t>
            </a:r>
            <a:endParaRPr sz="1100">
              <a:latin typeface="Times New Roman"/>
              <a:cs typeface="Times New Roman"/>
            </a:endParaRPr>
          </a:p>
          <a:p>
            <a:pPr marL="12700" marR="2593975" indent="228600">
              <a:lnSpc>
                <a:spcPct val="1102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Considerable social stratification is involved in the </a:t>
            </a:r>
            <a:r>
              <a:rPr dirty="0" sz="1100">
                <a:latin typeface="Times New Roman"/>
                <a:cs typeface="Times New Roman"/>
              </a:rPr>
              <a:t>process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creole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continuum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Acrolect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(High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speech)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Shift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Educated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12700" marR="2922905" indent="228600">
              <a:lnSpc>
                <a:spcPct val="1102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 </a:t>
            </a:r>
            <a:r>
              <a:rPr dirty="0" sz="1100">
                <a:latin typeface="Times New Roman"/>
                <a:cs typeface="Times New Roman"/>
              </a:rPr>
              <a:t>very few differences from </a:t>
            </a:r>
            <a:r>
              <a:rPr dirty="0" sz="1100" spc="-5">
                <a:latin typeface="Times New Roman"/>
                <a:cs typeface="Times New Roman"/>
              </a:rPr>
              <a:t>the standard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Basilect(Low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speech)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extreme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continuum</a:t>
            </a:r>
            <a:endParaRPr sz="1100">
              <a:latin typeface="Times New Roman"/>
              <a:cs typeface="Times New Roman"/>
            </a:endParaRPr>
          </a:p>
          <a:p>
            <a:pPr marL="12700" marR="2559685" indent="228600">
              <a:lnSpc>
                <a:spcPct val="1102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Least comprehensible to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speaker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standard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Mesolect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(Middle </a:t>
            </a:r>
            <a:r>
              <a:rPr dirty="0" sz="1100" spc="-5">
                <a:latin typeface="Times New Roman"/>
                <a:cs typeface="Times New Roman"/>
              </a:rPr>
              <a:t>speech)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Intermediate varieties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discrete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4684395" indent="228600">
              <a:lnSpc>
                <a:spcPct val="1102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Blend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Condition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continuum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extreme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languages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continuum</a:t>
            </a:r>
            <a:endParaRPr sz="1100">
              <a:latin typeface="Times New Roman"/>
              <a:cs typeface="Times New Roman"/>
            </a:endParaRPr>
          </a:p>
          <a:p>
            <a:pPr marL="12700" marR="622935" indent="228600">
              <a:lnSpc>
                <a:spcPct val="1102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case </a:t>
            </a:r>
            <a:r>
              <a:rPr dirty="0" sz="1100">
                <a:latin typeface="Times New Roman"/>
                <a:cs typeface="Times New Roman"/>
              </a:rPr>
              <a:t>of no </a:t>
            </a:r>
            <a:r>
              <a:rPr dirty="0" sz="1100" spc="-5">
                <a:latin typeface="Times New Roman"/>
                <a:cs typeface="Times New Roman"/>
              </a:rPr>
              <a:t>contact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the standard language and the creole there will </a:t>
            </a:r>
            <a:r>
              <a:rPr dirty="0" sz="1100">
                <a:latin typeface="Times New Roman"/>
                <a:cs typeface="Times New Roman"/>
              </a:rPr>
              <a:t>be no </a:t>
            </a:r>
            <a:r>
              <a:rPr dirty="0" sz="1100" spc="-5">
                <a:latin typeface="Times New Roman"/>
                <a:cs typeface="Times New Roman"/>
              </a:rPr>
              <a:t>continuum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Hypercreolization</a:t>
            </a:r>
            <a:endParaRPr sz="1100">
              <a:latin typeface="Times New Roman"/>
              <a:cs typeface="Times New Roman"/>
            </a:endParaRPr>
          </a:p>
          <a:p>
            <a:pPr lvl="1" marL="927100" indent="-228600">
              <a:lnSpc>
                <a:spcPct val="100000"/>
              </a:lnSpc>
              <a:spcBef>
                <a:spcPts val="140"/>
              </a:spcBef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Aggressive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reaction</a:t>
            </a:r>
            <a:r>
              <a:rPr dirty="0" sz="1100" spc="-5">
                <a:latin typeface="Times New Roman"/>
                <a:cs typeface="Times New Roman"/>
              </a:rPr>
              <a:t> against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creole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lvl="1" marL="12700" marR="1810385" indent="685800">
              <a:lnSpc>
                <a:spcPct val="110200"/>
              </a:lnSpc>
              <a:spcBef>
                <a:spcPts val="5"/>
              </a:spcBef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Speakers focus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 they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 as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“pure” </a:t>
            </a:r>
            <a:r>
              <a:rPr dirty="0" sz="1100">
                <a:latin typeface="Times New Roman"/>
                <a:cs typeface="Times New Roman"/>
              </a:rPr>
              <a:t>form of </a:t>
            </a:r>
            <a:r>
              <a:rPr dirty="0" sz="1100" spc="-5">
                <a:latin typeface="Times New Roman"/>
                <a:cs typeface="Times New Roman"/>
              </a:rPr>
              <a:t>the creole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Recreolization</a:t>
            </a:r>
            <a:endParaRPr sz="1100">
              <a:latin typeface="Times New Roman"/>
              <a:cs typeface="Times New Roman"/>
            </a:endParaRPr>
          </a:p>
          <a:p>
            <a:pPr lvl="1" marL="927100" marR="5080" indent="-228600">
              <a:lnSpc>
                <a:spcPct val="110200"/>
              </a:lnSpc>
              <a:spcBef>
                <a:spcPts val="5"/>
              </a:spcBef>
              <a:buFont typeface="Arial MT"/>
              <a:buChar char="•"/>
              <a:tabLst>
                <a:tab pos="926465" algn="l"/>
                <a:tab pos="9271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Deliberately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recreolize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assert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ethnic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solidarity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Samples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continuum</a:t>
            </a:r>
            <a:endParaRPr sz="1100">
              <a:latin typeface="Times New Roman"/>
              <a:cs typeface="Times New Roman"/>
            </a:endParaRPr>
          </a:p>
          <a:p>
            <a:pPr marL="151765" indent="-139700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152400" algn="l"/>
              </a:tabLst>
            </a:pPr>
            <a:r>
              <a:rPr dirty="0" sz="1100" i="1">
                <a:latin typeface="Times New Roman"/>
                <a:cs typeface="Times New Roman"/>
              </a:rPr>
              <a:t>aitÑuld</a:t>
            </a:r>
            <a:r>
              <a:rPr dirty="0" sz="1100" spc="-4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him</a:t>
            </a:r>
            <a:endParaRPr sz="1100">
              <a:latin typeface="Times New Roman"/>
              <a:cs typeface="Times New Roman"/>
            </a:endParaRPr>
          </a:p>
          <a:p>
            <a:pPr marL="151765" indent="-139700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152400" algn="l"/>
              </a:tabLst>
            </a:pPr>
            <a:r>
              <a:rPr dirty="0" sz="1100" i="1">
                <a:latin typeface="Times New Roman"/>
                <a:cs typeface="Times New Roman"/>
              </a:rPr>
              <a:t>aito:ld</a:t>
            </a:r>
            <a:r>
              <a:rPr dirty="0" sz="1100" spc="-4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him</a:t>
            </a:r>
            <a:endParaRPr sz="1100">
              <a:latin typeface="Times New Roman"/>
              <a:cs typeface="Times New Roman"/>
            </a:endParaRPr>
          </a:p>
          <a:p>
            <a:pPr marL="151765" indent="-139700">
              <a:lnSpc>
                <a:spcPct val="100000"/>
              </a:lnSpc>
              <a:spcBef>
                <a:spcPts val="130"/>
              </a:spcBef>
              <a:buAutoNum type="arabicPeriod"/>
              <a:tabLst>
                <a:tab pos="152400" algn="l"/>
              </a:tabLst>
            </a:pPr>
            <a:r>
              <a:rPr dirty="0" sz="1100" i="1">
                <a:latin typeface="Times New Roman"/>
                <a:cs typeface="Times New Roman"/>
              </a:rPr>
              <a:t>aito:lim</a:t>
            </a:r>
            <a:endParaRPr sz="1100">
              <a:latin typeface="Times New Roman"/>
              <a:cs typeface="Times New Roman"/>
            </a:endParaRPr>
          </a:p>
          <a:p>
            <a:pPr marL="151765" indent="-139700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152400" algn="l"/>
              </a:tabLst>
            </a:pPr>
            <a:r>
              <a:rPr dirty="0" sz="1100" i="1">
                <a:latin typeface="Times New Roman"/>
                <a:cs typeface="Times New Roman"/>
              </a:rPr>
              <a:t>aitylim</a:t>
            </a:r>
            <a:endParaRPr sz="1100">
              <a:latin typeface="Times New Roman"/>
              <a:cs typeface="Times New Roman"/>
            </a:endParaRPr>
          </a:p>
          <a:p>
            <a:pPr marL="151765" indent="-139700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152400" algn="l"/>
              </a:tabLst>
            </a:pPr>
            <a:r>
              <a:rPr dirty="0" sz="1100" i="1">
                <a:latin typeface="Times New Roman"/>
                <a:cs typeface="Times New Roman"/>
              </a:rPr>
              <a:t>atylim</a:t>
            </a:r>
            <a:endParaRPr sz="1100">
              <a:latin typeface="Times New Roman"/>
              <a:cs typeface="Times New Roman"/>
            </a:endParaRPr>
          </a:p>
          <a:p>
            <a:pPr marL="151765" indent="-139700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152400" algn="l"/>
              </a:tabLst>
            </a:pPr>
            <a:r>
              <a:rPr dirty="0" sz="1100" i="1">
                <a:latin typeface="Times New Roman"/>
                <a:cs typeface="Times New Roman"/>
              </a:rPr>
              <a:t>aityl</a:t>
            </a:r>
            <a:r>
              <a:rPr dirty="0" sz="1100" spc="-4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  <a:p>
            <a:pPr marL="151765" indent="-139700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152400" algn="l"/>
              </a:tabLst>
            </a:pPr>
            <a:r>
              <a:rPr dirty="0" sz="1100" i="1">
                <a:latin typeface="Times New Roman"/>
                <a:cs typeface="Times New Roman"/>
              </a:rPr>
              <a:t>atyl</a:t>
            </a:r>
            <a:r>
              <a:rPr dirty="0" sz="1100" spc="-45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  <a:p>
            <a:pPr marL="151765" indent="-139700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152400" algn="l"/>
              </a:tabLst>
            </a:pPr>
            <a:r>
              <a:rPr dirty="0" sz="1100" spc="-5" i="1">
                <a:latin typeface="Times New Roman"/>
                <a:cs typeface="Times New Roman"/>
              </a:rPr>
              <a:t>mityl</a:t>
            </a:r>
            <a:r>
              <a:rPr dirty="0" sz="1100" spc="-5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  <a:p>
            <a:pPr marL="151765" indent="-139700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152400" algn="l"/>
              </a:tabLst>
            </a:pPr>
            <a:r>
              <a:rPr dirty="0" sz="1100" spc="-5" i="1">
                <a:latin typeface="Times New Roman"/>
                <a:cs typeface="Times New Roman"/>
              </a:rPr>
              <a:t>mityl</a:t>
            </a:r>
            <a:r>
              <a:rPr dirty="0" sz="1100" spc="-50" i="1">
                <a:latin typeface="Times New Roman"/>
                <a:cs typeface="Times New Roman"/>
              </a:rPr>
              <a:t> </a:t>
            </a:r>
            <a:r>
              <a:rPr dirty="0" sz="1100" i="1">
                <a:latin typeface="Times New Roman"/>
                <a:cs typeface="Times New Roman"/>
              </a:rPr>
              <a:t>am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AutoNum type="arabicPeriod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Topic-036: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Geographical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Distribution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lvl="1" marL="469900" indent="-171450">
              <a:lnSpc>
                <a:spcPct val="100000"/>
              </a:lnSpc>
              <a:spcBef>
                <a:spcPts val="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Distributed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equatorial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around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endParaRPr sz="1100">
              <a:latin typeface="Times New Roman"/>
              <a:cs typeface="Times New Roman"/>
            </a:endParaRPr>
          </a:p>
          <a:p>
            <a:pPr lvl="1" marL="469900" indent="-17145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places</a:t>
            </a:r>
            <a:r>
              <a:rPr dirty="0" sz="1100" spc="-5">
                <a:latin typeface="Times New Roman"/>
                <a:cs typeface="Times New Roman"/>
              </a:rPr>
              <a:t> 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direct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easy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oceans</a:t>
            </a:r>
            <a:endParaRPr sz="1100">
              <a:latin typeface="Times New Roman"/>
              <a:cs typeface="Times New Roman"/>
            </a:endParaRPr>
          </a:p>
          <a:p>
            <a:pPr lvl="1"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found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mainly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in: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364605" cy="3237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Caribbean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around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coasts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around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coasts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Africa,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particularly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coast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across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Indian and Paciﬁc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Oceans</a:t>
            </a:r>
            <a:endParaRPr sz="1100">
              <a:latin typeface="Times New Roman"/>
              <a:cs typeface="Times New Roman"/>
            </a:endParaRPr>
          </a:p>
          <a:p>
            <a:pPr marL="12700" marR="12700" indent="285750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Hancock </a:t>
            </a:r>
            <a:r>
              <a:rPr dirty="0" sz="1100">
                <a:latin typeface="Times New Roman"/>
                <a:cs typeface="Times New Roman"/>
              </a:rPr>
              <a:t>(cited </a:t>
            </a:r>
            <a:r>
              <a:rPr dirty="0" sz="1100" spc="-5">
                <a:latin typeface="Times New Roman"/>
                <a:cs typeface="Times New Roman"/>
              </a:rPr>
              <a:t>in Wardaugh, </a:t>
            </a:r>
            <a:r>
              <a:rPr dirty="0" sz="1100">
                <a:latin typeface="Times New Roman"/>
                <a:cs typeface="Times New Roman"/>
              </a:rPr>
              <a:t>2006) </a:t>
            </a:r>
            <a:r>
              <a:rPr dirty="0" sz="1100" spc="-5">
                <a:latin typeface="Times New Roman"/>
                <a:cs typeface="Times New Roman"/>
              </a:rPr>
              <a:t>lists </a:t>
            </a:r>
            <a:r>
              <a:rPr dirty="0" sz="1100">
                <a:latin typeface="Times New Roman"/>
                <a:cs typeface="Times New Roman"/>
              </a:rPr>
              <a:t>127 pidgins </a:t>
            </a:r>
            <a:r>
              <a:rPr dirty="0" sz="1100" spc="-5">
                <a:latin typeface="Times New Roman"/>
                <a:cs typeface="Times New Roman"/>
              </a:rPr>
              <a:t>and creoles, </a:t>
            </a:r>
            <a:r>
              <a:rPr dirty="0" sz="1100">
                <a:latin typeface="Times New Roman"/>
                <a:cs typeface="Times New Roman"/>
              </a:rPr>
              <a:t>out of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35 </a:t>
            </a:r>
            <a:r>
              <a:rPr dirty="0" sz="1100" spc="-5">
                <a:latin typeface="Times New Roman"/>
                <a:cs typeface="Times New Roman"/>
              </a:rPr>
              <a:t>are English-based.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areas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almost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exclusively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Spanish-speaking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surviving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pidgins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 of</a:t>
            </a:r>
            <a:r>
              <a:rPr dirty="0" sz="1100" spc="-5">
                <a:latin typeface="Times New Roman"/>
                <a:cs typeface="Times New Roman"/>
              </a:rPr>
              <a:t> their settlement </a:t>
            </a:r>
            <a:r>
              <a:rPr dirty="0" sz="1100">
                <a:latin typeface="Times New Roman"/>
                <a:cs typeface="Times New Roman"/>
              </a:rPr>
              <a:t>histories, </a:t>
            </a:r>
            <a:r>
              <a:rPr dirty="0" sz="1100" spc="-5">
                <a:latin typeface="Times New Roman"/>
                <a:cs typeface="Times New Roman"/>
              </a:rPr>
              <a:t>e.g.,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Dominican Republic, Cuba,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Puerto Rico.</a:t>
            </a:r>
            <a:endParaRPr sz="1100">
              <a:latin typeface="Times New Roman"/>
              <a:cs typeface="Times New Roman"/>
            </a:endParaRPr>
          </a:p>
          <a:p>
            <a:pPr marL="298450" marR="5080">
              <a:lnSpc>
                <a:spcPct val="110200"/>
              </a:lnSpc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English-based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creoles,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Antigua,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Barbados,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Grenada,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Jamaica,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Guyana.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5">
                <a:latin typeface="Times New Roman"/>
                <a:cs typeface="Times New Roman"/>
              </a:rPr>
              <a:t> French-based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ones,</a:t>
            </a:r>
            <a:r>
              <a:rPr dirty="0" sz="1100" spc="-5">
                <a:latin typeface="Times New Roman"/>
                <a:cs typeface="Times New Roman"/>
              </a:rPr>
              <a:t> e.g.,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Martinique,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Guadeloupe,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 Lucia,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Haiti.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Sierra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Leone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pidginized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creolized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Englishes.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</a:t>
            </a:r>
            <a:r>
              <a:rPr dirty="0" sz="1100" spc="-5">
                <a:latin typeface="Times New Roman"/>
                <a:cs typeface="Times New Roman"/>
              </a:rPr>
              <a:t> 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indigenous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 Pidgin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trading language.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Krio,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found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around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capital,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Freetown.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0"/>
              </a:spcBef>
              <a:buChar char="•"/>
              <a:tabLst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originated</a:t>
            </a:r>
            <a:r>
              <a:rPr dirty="0" sz="1100" spc="-5">
                <a:latin typeface="Times New Roman"/>
                <a:cs typeface="Times New Roman"/>
              </a:rPr>
              <a:t> among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returning</a:t>
            </a:r>
            <a:r>
              <a:rPr dirty="0" sz="1100" spc="-5">
                <a:latin typeface="Times New Roman"/>
                <a:cs typeface="Times New Roman"/>
              </a:rPr>
              <a:t> slaves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Jamaica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Britain.</a:t>
            </a:r>
            <a:endParaRPr sz="1100">
              <a:latin typeface="Times New Roman"/>
              <a:cs typeface="Times New Roman"/>
            </a:endParaRPr>
          </a:p>
          <a:p>
            <a:pPr marL="469900" indent="-171450">
              <a:lnSpc>
                <a:spcPct val="100000"/>
              </a:lnSpc>
              <a:spcBef>
                <a:spcPts val="135"/>
              </a:spcBef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distribution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reﬂects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political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regions.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4171303"/>
            <a:ext cx="6324600" cy="45243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1562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Lesson-07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4445">
              <a:lnSpc>
                <a:spcPct val="100000"/>
              </a:lnSpc>
            </a:pPr>
            <a:r>
              <a:rPr dirty="0" sz="1400" spc="25">
                <a:latin typeface="Times New Roman"/>
                <a:cs typeface="Times New Roman"/>
              </a:rPr>
              <a:t>Pidgins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and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30">
                <a:latin typeface="Times New Roman"/>
                <a:cs typeface="Times New Roman"/>
              </a:rPr>
              <a:t>Creoles: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30">
                <a:latin typeface="Times New Roman"/>
                <a:cs typeface="Times New Roman"/>
              </a:rPr>
              <a:t>Theories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45">
                <a:latin typeface="Times New Roman"/>
                <a:cs typeface="Times New Roman"/>
              </a:rPr>
              <a:t>Origin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Topic-037:Independent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Parallel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Development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Theory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Theories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divided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3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groups:</a:t>
            </a:r>
            <a:endParaRPr sz="1100">
              <a:latin typeface="Times New Roman"/>
              <a:cs typeface="Times New Roman"/>
            </a:endParaRPr>
          </a:p>
          <a:p>
            <a:pPr marL="151765" indent="-139700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1524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Polygenesis</a:t>
            </a:r>
            <a:endParaRPr sz="1100">
              <a:latin typeface="Times New Roman"/>
              <a:cs typeface="Times New Roman"/>
            </a:endParaRPr>
          </a:p>
          <a:p>
            <a:pPr marL="18669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Evolved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various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sources</a:t>
            </a:r>
            <a:endParaRPr sz="1100">
              <a:latin typeface="Times New Roman"/>
              <a:cs typeface="Times New Roman"/>
            </a:endParaRPr>
          </a:p>
          <a:p>
            <a:pPr marL="186690" indent="-174625">
              <a:lnSpc>
                <a:spcPct val="100000"/>
              </a:lnSpc>
              <a:spcBef>
                <a:spcPts val="135"/>
              </a:spcBef>
              <a:buAutoNum type="arabicPeriod" startAt="2"/>
              <a:tabLst>
                <a:tab pos="187325" algn="l"/>
              </a:tabLst>
            </a:pPr>
            <a:r>
              <a:rPr dirty="0" sz="1100" spc="-5">
                <a:latin typeface="Times New Roman"/>
                <a:cs typeface="Times New Roman"/>
              </a:rPr>
              <a:t>Monogenesis</a:t>
            </a:r>
            <a:endParaRPr sz="1100">
              <a:latin typeface="Times New Roman"/>
              <a:cs typeface="Times New Roman"/>
            </a:endParaRPr>
          </a:p>
          <a:p>
            <a:pPr marL="18669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Evolved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</a:t>
            </a:r>
            <a:endParaRPr sz="1100">
              <a:latin typeface="Times New Roman"/>
              <a:cs typeface="Times New Roman"/>
            </a:endParaRPr>
          </a:p>
          <a:p>
            <a:pPr marL="186690" indent="-174625">
              <a:lnSpc>
                <a:spcPct val="100000"/>
              </a:lnSpc>
              <a:spcBef>
                <a:spcPts val="130"/>
              </a:spcBef>
              <a:buAutoNum type="arabicPeriod" startAt="3"/>
              <a:tabLst>
                <a:tab pos="187325" algn="l"/>
              </a:tabLst>
            </a:pPr>
            <a:r>
              <a:rPr dirty="0" sz="1100" spc="-5">
                <a:latin typeface="Times New Roman"/>
                <a:cs typeface="Times New Roman"/>
              </a:rPr>
              <a:t>Universal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strategies</a:t>
            </a:r>
            <a:endParaRPr sz="1100">
              <a:latin typeface="Times New Roman"/>
              <a:cs typeface="Times New Roman"/>
            </a:endParaRPr>
          </a:p>
          <a:p>
            <a:pPr marL="18669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Derived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strategies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parallel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(Polygenetic)</a:t>
            </a:r>
            <a:endParaRPr sz="1100">
              <a:latin typeface="Times New Roman"/>
              <a:cs typeface="Times New Roman"/>
            </a:endParaRPr>
          </a:p>
          <a:p>
            <a:pPr lvl="1"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Pidgins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developed</a:t>
            </a:r>
            <a:r>
              <a:rPr dirty="0" sz="1100" spc="-5">
                <a:latin typeface="Times New Roman"/>
                <a:cs typeface="Times New Roman"/>
              </a:rPr>
              <a:t> independently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origins</a:t>
            </a:r>
            <a:endParaRPr sz="1100">
              <a:latin typeface="Times New Roman"/>
              <a:cs typeface="Times New Roman"/>
            </a:endParaRPr>
          </a:p>
          <a:p>
            <a:pPr lvl="1" marL="412750" marR="3081020">
              <a:lnSpc>
                <a:spcPct val="110200"/>
              </a:lnSpc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Similarities </a:t>
            </a:r>
            <a:r>
              <a:rPr dirty="0" sz="1100">
                <a:latin typeface="Times New Roman"/>
                <a:cs typeface="Times New Roman"/>
              </a:rPr>
              <a:t>due </a:t>
            </a:r>
            <a:r>
              <a:rPr dirty="0" sz="1100" spc="-5">
                <a:latin typeface="Times New Roman"/>
                <a:cs typeface="Times New Roman"/>
              </a:rPr>
              <a:t>to shared circumstances </a:t>
            </a:r>
            <a:r>
              <a:rPr dirty="0" sz="1100">
                <a:latin typeface="Times New Roman"/>
                <a:cs typeface="Times New Roman"/>
              </a:rPr>
              <a:t>of origin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circumstances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origin</a:t>
            </a:r>
            <a:endParaRPr sz="1100">
              <a:latin typeface="Times New Roman"/>
              <a:cs typeface="Times New Roman"/>
            </a:endParaRPr>
          </a:p>
          <a:p>
            <a:pPr lvl="1"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purposes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trade</a:t>
            </a:r>
            <a:endParaRPr sz="1100">
              <a:latin typeface="Times New Roman"/>
              <a:cs typeface="Times New Roman"/>
            </a:endParaRPr>
          </a:p>
          <a:p>
            <a:pPr lvl="1"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Often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superstrate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i.e.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lvl="1"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superstrates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belong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family</a:t>
            </a:r>
            <a:r>
              <a:rPr dirty="0" sz="1100" spc="-5">
                <a:latin typeface="Times New Roman"/>
                <a:cs typeface="Times New Roman"/>
              </a:rPr>
              <a:t> i.e.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Indo-EuropeanShared</a:t>
            </a:r>
            <a:r>
              <a:rPr dirty="0" sz="1100" spc="-5">
                <a:latin typeface="Times New Roman"/>
                <a:cs typeface="Times New Roman"/>
              </a:rPr>
              <a:t> circumstances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origin</a:t>
            </a:r>
            <a:endParaRPr sz="1100">
              <a:latin typeface="Times New Roman"/>
              <a:cs typeface="Times New Roman"/>
            </a:endParaRPr>
          </a:p>
          <a:p>
            <a:pPr lvl="1"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Simplification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endParaRPr sz="1100">
              <a:latin typeface="Times New Roman"/>
              <a:cs typeface="Times New Roman"/>
            </a:endParaRPr>
          </a:p>
          <a:p>
            <a:pPr lvl="1" marL="469900" indent="-57150">
              <a:lnSpc>
                <a:spcPct val="100000"/>
              </a:lnSpc>
              <a:spcBef>
                <a:spcPts val="130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Shared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endParaRPr sz="1100">
              <a:latin typeface="Times New Roman"/>
              <a:cs typeface="Times New Roman"/>
            </a:endParaRPr>
          </a:p>
          <a:p>
            <a:pPr lvl="1"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endParaRPr sz="1100">
              <a:latin typeface="Times New Roman"/>
              <a:cs typeface="Times New Roman"/>
            </a:endParaRPr>
          </a:p>
          <a:p>
            <a:pPr lvl="1" marL="469900" indent="-57150">
              <a:lnSpc>
                <a:spcPct val="100000"/>
              </a:lnSpc>
              <a:spcBef>
                <a:spcPts val="135"/>
              </a:spcBef>
              <a:buSzPct val="90909"/>
              <a:buChar char="•"/>
              <a:tabLst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Shared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substrate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842244"/>
            <a:ext cx="6243955" cy="7560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Topic-038:Nautical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Jargon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Theory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Developed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franca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possible</a:t>
            </a:r>
            <a:r>
              <a:rPr dirty="0" sz="1100" spc="-5">
                <a:latin typeface="Times New Roman"/>
                <a:cs typeface="Times New Roman"/>
              </a:rPr>
              <a:t> influence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nautical</a:t>
            </a:r>
            <a:r>
              <a:rPr dirty="0" sz="1100" spc="-5">
                <a:latin typeface="Times New Roman"/>
                <a:cs typeface="Times New Roman"/>
              </a:rPr>
              <a:t> jargon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 John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Reinecke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1938.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Ships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crews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nationalities.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shipboard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franca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franca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pidginized</a:t>
            </a:r>
            <a:r>
              <a:rPr dirty="0" sz="1100" spc="-5">
                <a:latin typeface="Times New Roman"/>
                <a:cs typeface="Times New Roman"/>
              </a:rPr>
              <a:t> 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trading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routes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Asians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sailors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came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endParaRPr sz="1100">
              <a:latin typeface="Times New Roman"/>
              <a:cs typeface="Times New Roman"/>
            </a:endParaRPr>
          </a:p>
          <a:p>
            <a:pPr marL="12700" marR="35636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Served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origin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various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Consisted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vocabulary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nautical</a:t>
            </a:r>
            <a:r>
              <a:rPr dirty="0" sz="1100" spc="-5">
                <a:latin typeface="Times New Roman"/>
                <a:cs typeface="Times New Roman"/>
              </a:rPr>
              <a:t> items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simplified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 marL="12700" marR="163448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Evidence is the </a:t>
            </a:r>
            <a:r>
              <a:rPr dirty="0" sz="1100">
                <a:latin typeface="Times New Roman"/>
                <a:cs typeface="Times New Roman"/>
              </a:rPr>
              <a:t>presence of nautical </a:t>
            </a:r>
            <a:r>
              <a:rPr dirty="0" sz="1100" spc="-5">
                <a:latin typeface="Times New Roman"/>
                <a:cs typeface="Times New Roman"/>
              </a:rPr>
              <a:t>elements in many </a:t>
            </a:r>
            <a:r>
              <a:rPr dirty="0" sz="1100">
                <a:latin typeface="Times New Roman"/>
                <a:cs typeface="Times New Roman"/>
              </a:rPr>
              <a:t>pidgins </a:t>
            </a:r>
            <a:r>
              <a:rPr dirty="0" sz="1100" spc="-5">
                <a:latin typeface="Times New Roman"/>
                <a:cs typeface="Times New Roman"/>
              </a:rPr>
              <a:t>and creoles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12700" marR="526859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hivim = heave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kapsite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capsize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haisim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hoist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Evidence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against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sea-based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Structural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similarities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pidgins</a:t>
            </a:r>
            <a:r>
              <a:rPr dirty="0" sz="1100" spc="-5">
                <a:latin typeface="Times New Roman"/>
                <a:cs typeface="Times New Roman"/>
              </a:rPr>
              <a:t> and creoles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European languages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Topic-039:Monogenesis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Theory: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Afrogenesis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Hypothesis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4598670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Polygenesis </a:t>
            </a:r>
            <a:r>
              <a:rPr dirty="0" sz="1100">
                <a:latin typeface="Times New Roman"/>
                <a:cs typeface="Times New Roman"/>
              </a:rPr>
              <a:t>vs. </a:t>
            </a:r>
            <a:r>
              <a:rPr dirty="0" sz="1100" spc="-5">
                <a:latin typeface="Times New Roman"/>
                <a:cs typeface="Times New Roman"/>
              </a:rPr>
              <a:t>monogenesis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Polygenesis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Pidgins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European-language-based.</a:t>
            </a:r>
            <a:endParaRPr sz="1100">
              <a:latin typeface="Times New Roman"/>
              <a:cs typeface="Times New Roman"/>
            </a:endParaRPr>
          </a:p>
          <a:p>
            <a:pPr marL="12700" marR="39141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Newly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places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Monogenesis</a:t>
            </a:r>
            <a:endParaRPr sz="1100">
              <a:latin typeface="Times New Roman"/>
              <a:cs typeface="Times New Roman"/>
            </a:endParaRPr>
          </a:p>
          <a:p>
            <a:pPr marL="12700" marR="39979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Originated </a:t>
            </a:r>
            <a:r>
              <a:rPr dirty="0" sz="1100">
                <a:latin typeface="Times New Roman"/>
                <a:cs typeface="Times New Roman"/>
              </a:rPr>
              <a:t>from a </a:t>
            </a:r>
            <a:r>
              <a:rPr dirty="0" sz="1100" spc="-5">
                <a:latin typeface="Times New Roman"/>
                <a:cs typeface="Times New Roman"/>
              </a:rPr>
              <a:t>single source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Afrogenesis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hypothesis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Presented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McWhorter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1995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Monogenetic</a:t>
            </a:r>
            <a:endParaRPr sz="1100">
              <a:latin typeface="Times New Roman"/>
              <a:cs typeface="Times New Roman"/>
            </a:endParaRPr>
          </a:p>
          <a:p>
            <a:pPr marL="12700" marR="18796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single source accounts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perceived </a:t>
            </a:r>
            <a:r>
              <a:rPr dirty="0" sz="1100" spc="-5">
                <a:latin typeface="Times New Roman"/>
                <a:cs typeface="Times New Roman"/>
              </a:rPr>
              <a:t>similarities among </a:t>
            </a:r>
            <a:r>
              <a:rPr dirty="0" sz="1100">
                <a:latin typeface="Times New Roman"/>
                <a:cs typeface="Times New Roman"/>
              </a:rPr>
              <a:t>pidgins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trade as the </a:t>
            </a:r>
            <a:r>
              <a:rPr dirty="0" sz="1100">
                <a:latin typeface="Times New Roman"/>
                <a:cs typeface="Times New Roman"/>
              </a:rPr>
              <a:t>origin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Existence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French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forts</a:t>
            </a:r>
            <a:endParaRPr sz="1100">
              <a:latin typeface="Times New Roman"/>
              <a:cs typeface="Times New Roman"/>
            </a:endParaRPr>
          </a:p>
          <a:p>
            <a:pPr marL="12700" marR="30911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Contact languages are the </a:t>
            </a:r>
            <a:r>
              <a:rPr dirty="0" sz="1100">
                <a:latin typeface="Times New Roman"/>
                <a:cs typeface="Times New Roman"/>
              </a:rPr>
              <a:t>bases of </a:t>
            </a:r>
            <a:r>
              <a:rPr dirty="0" sz="1100" spc="-5">
                <a:latin typeface="Times New Roman"/>
                <a:cs typeface="Times New Roman"/>
              </a:rPr>
              <a:t>most </a:t>
            </a:r>
            <a:r>
              <a:rPr dirty="0" sz="1100">
                <a:latin typeface="Times New Roman"/>
                <a:cs typeface="Times New Roman"/>
              </a:rPr>
              <a:t>pidgins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hypothesis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Relative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paucity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Spanish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5">
                <a:latin typeface="Times New Roman"/>
                <a:cs typeface="Times New Roman"/>
              </a:rPr>
              <a:t> creoles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Spain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large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forts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settlements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labour-based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cultivation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842244"/>
            <a:ext cx="6327775" cy="8484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Topic-040:Baby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Talk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Theory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Origin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Proposed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1876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Charles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Leland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earliest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generation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Compares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</a:t>
            </a:r>
            <a:r>
              <a:rPr dirty="0" sz="1100" spc="-5">
                <a:latin typeface="Times New Roman"/>
                <a:cs typeface="Times New Roman"/>
              </a:rPr>
              <a:t> speakers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young</a:t>
            </a:r>
            <a:r>
              <a:rPr dirty="0" sz="1100" spc="-5">
                <a:latin typeface="Times New Roman"/>
                <a:cs typeface="Times New Roman"/>
              </a:rPr>
              <a:t> children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5">
                <a:latin typeface="Times New Roman"/>
                <a:cs typeface="Times New Roman"/>
              </a:rPr>
              <a:t> learning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Rationale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Similarities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identified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early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children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proportion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morphological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endParaRPr sz="1100">
              <a:latin typeface="Times New Roman"/>
              <a:cs typeface="Times New Roman"/>
            </a:endParaRPr>
          </a:p>
          <a:p>
            <a:pPr marL="12700" marR="35267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Approximation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standard </a:t>
            </a:r>
            <a:r>
              <a:rPr dirty="0" sz="1100">
                <a:latin typeface="Times New Roman"/>
                <a:cs typeface="Times New Roman"/>
              </a:rPr>
              <a:t>pronunciation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baby-talk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subordinate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perceived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dominant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Masters try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imitate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servants’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incorrect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patterns</a:t>
            </a:r>
            <a:endParaRPr sz="1100">
              <a:latin typeface="Times New Roman"/>
              <a:cs typeface="Times New Roman"/>
            </a:endParaRPr>
          </a:p>
          <a:p>
            <a:pPr marL="12700" marR="31273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Results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intentional simplification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speech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baby-talk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Deprives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opportunity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“baby-talk" pidgin.</a:t>
            </a:r>
            <a:endParaRPr sz="1100">
              <a:latin typeface="Times New Roman"/>
              <a:cs typeface="Times New Roman"/>
            </a:endParaRPr>
          </a:p>
          <a:p>
            <a:pPr marL="12700" marR="18453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Simpliﬁed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pidgins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against the theory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Pidgins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frequently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among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non-Europeans</a:t>
            </a:r>
            <a:r>
              <a:rPr dirty="0" sz="1100" spc="-5">
                <a:latin typeface="Times New Roman"/>
                <a:cs typeface="Times New Roman"/>
              </a:rPr>
              <a:t> 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Europeans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non-Europeans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Topic-041:Theory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Relexification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Theory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relexification</a:t>
            </a:r>
            <a:endParaRPr sz="1100">
              <a:latin typeface="Times New Roman"/>
              <a:cs typeface="Times New Roman"/>
            </a:endParaRPr>
          </a:p>
          <a:p>
            <a:pPr marL="12700" marR="9271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All European-language-based </a:t>
            </a:r>
            <a:r>
              <a:rPr dirty="0" sz="1100">
                <a:latin typeface="Times New Roman"/>
                <a:cs typeface="Times New Roman"/>
              </a:rPr>
              <a:t>pidgins derive from a </a:t>
            </a:r>
            <a:r>
              <a:rPr dirty="0" sz="1100" spc="-5">
                <a:latin typeface="Times New Roman"/>
                <a:cs typeface="Times New Roman"/>
              </a:rPr>
              <a:t>single source: </a:t>
            </a:r>
            <a:r>
              <a:rPr dirty="0" sz="1100">
                <a:latin typeface="Times New Roman"/>
                <a:cs typeface="Times New Roman"/>
              </a:rPr>
              <a:t>A pidgin </a:t>
            </a:r>
            <a:r>
              <a:rPr dirty="0" sz="1100" spc="-5">
                <a:latin typeface="Times New Roman"/>
                <a:cs typeface="Times New Roman"/>
              </a:rPr>
              <a:t>called Sabir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relexification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Sabir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as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lingua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franca by </a:t>
            </a:r>
            <a:r>
              <a:rPr dirty="0" sz="1100" spc="-5">
                <a:latin typeface="Times New Roman"/>
                <a:cs typeface="Times New Roman"/>
              </a:rPr>
              <a:t>traders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trade </a:t>
            </a:r>
            <a:r>
              <a:rPr dirty="0" sz="1100">
                <a:latin typeface="Times New Roman"/>
                <a:cs typeface="Times New Roman"/>
              </a:rPr>
              <a:t>routes</a:t>
            </a:r>
            <a:r>
              <a:rPr dirty="0" sz="1100" spc="-5">
                <a:latin typeface="Times New Roman"/>
                <a:cs typeface="Times New Roman"/>
              </a:rPr>
              <a:t> in the Mediterranean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 in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Middle Ages</a:t>
            </a:r>
            <a:endParaRPr sz="1100">
              <a:latin typeface="Times New Roman"/>
              <a:cs typeface="Times New Roman"/>
            </a:endParaRPr>
          </a:p>
          <a:p>
            <a:pPr marL="12700" marR="43643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Portugues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relexifiedSabir 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relexification?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mechanism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vocabulary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vocabulary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another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23939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Not much change </a:t>
            </a:r>
            <a:r>
              <a:rPr dirty="0" sz="1100">
                <a:latin typeface="Times New Roman"/>
                <a:cs typeface="Times New Roman"/>
              </a:rPr>
              <a:t>occurs </a:t>
            </a:r>
            <a:r>
              <a:rPr dirty="0" sz="1100" spc="-5">
                <a:latin typeface="Times New Roman"/>
                <a:cs typeface="Times New Roman"/>
              </a:rPr>
              <a:t>in the </a:t>
            </a:r>
            <a:r>
              <a:rPr dirty="0" sz="1100">
                <a:latin typeface="Times New Roman"/>
                <a:cs typeface="Times New Roman"/>
              </a:rPr>
              <a:t>relexified </a:t>
            </a:r>
            <a:r>
              <a:rPr dirty="0" sz="1100" spc="-5">
                <a:latin typeface="Times New Roman"/>
                <a:cs typeface="Times New Roman"/>
              </a:rPr>
              <a:t>language's </a:t>
            </a:r>
            <a:r>
              <a:rPr dirty="0" sz="1100">
                <a:latin typeface="Times New Roman"/>
                <a:cs typeface="Times New Roman"/>
              </a:rPr>
              <a:t>grammar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relexification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This pidgin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relexiﬁed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pidginized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French,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Spanish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Vocabulary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replaced</a:t>
            </a:r>
            <a:endParaRPr sz="1100">
              <a:latin typeface="Times New Roman"/>
              <a:cs typeface="Times New Roman"/>
            </a:endParaRPr>
          </a:p>
          <a:p>
            <a:pPr marL="469900" marR="4415790" indent="-4572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remained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intact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Sabir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4772025">
              <a:lnSpc>
                <a:spcPct val="110200"/>
              </a:lnSpc>
              <a:spcBef>
                <a:spcPts val="5"/>
              </a:spcBef>
              <a:tabLst>
                <a:tab pos="926465" algn="l"/>
              </a:tabLst>
            </a:pPr>
            <a:r>
              <a:rPr dirty="0" sz="1100" spc="-5">
                <a:latin typeface="Times New Roman"/>
                <a:cs typeface="Times New Roman"/>
              </a:rPr>
              <a:t>Portuguese Pidgin </a:t>
            </a:r>
            <a:r>
              <a:rPr dirty="0" sz="1100">
                <a:latin typeface="Times New Roman"/>
                <a:cs typeface="Times New Roman"/>
              </a:rPr>
              <a:t> AtlanticIndian-Pacific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Portugues</a:t>
            </a:r>
            <a:r>
              <a:rPr dirty="0" sz="1100">
                <a:latin typeface="Times New Roman"/>
                <a:cs typeface="Times New Roman"/>
              </a:rPr>
              <a:t>e	</a:t>
            </a:r>
            <a:r>
              <a:rPr dirty="0" sz="1100" spc="-5">
                <a:latin typeface="Times New Roman"/>
                <a:cs typeface="Times New Roman"/>
              </a:rPr>
              <a:t>Portuguese  Pidgin	Pidgin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Classification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1403267"/>
            <a:ext cx="749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1772685"/>
            <a:ext cx="749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647368"/>
            <a:ext cx="2569845" cy="150304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Atlantic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Portuguese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Pidgin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Portuguese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4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(GuinéCrioule)</a:t>
            </a:r>
            <a:endParaRPr sz="1100">
              <a:latin typeface="Times New Roman"/>
              <a:cs typeface="Times New Roman"/>
            </a:endParaRPr>
          </a:p>
          <a:p>
            <a:pPr marL="469900" marR="966469" indent="-4572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Hispanic </a:t>
            </a:r>
            <a:r>
              <a:rPr dirty="0" sz="1100">
                <a:latin typeface="Times New Roman"/>
                <a:cs typeface="Times New Roman"/>
              </a:rPr>
              <a:t>varieties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(Papiamentu)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Anglicize</a:t>
            </a:r>
            <a:r>
              <a:rPr dirty="0" sz="1100">
                <a:latin typeface="Times New Roman"/>
                <a:cs typeface="Times New Roman"/>
              </a:rPr>
              <a:t>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  (Jamaican)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Gallicized </a:t>
            </a:r>
            <a:r>
              <a:rPr dirty="0" sz="1100">
                <a:latin typeface="Times New Roman"/>
                <a:cs typeface="Times New Roman"/>
              </a:rPr>
              <a:t>varieties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(Louisiana, </a:t>
            </a:r>
            <a:r>
              <a:rPr dirty="0" sz="1100" spc="-5">
                <a:latin typeface="Times New Roman"/>
                <a:cs typeface="Times New Roman"/>
              </a:rPr>
              <a:t>Haitian)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2125014"/>
            <a:ext cx="6358890" cy="536829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Classification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Indo-Pacific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Portuguese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Pidgin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Gallicized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(Seychelles)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Nederlandized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(Afrikaan)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Anglicized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(TokPisin)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Topic-042:Universal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Principles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Theory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Universal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principles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Baby-Talk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Presents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perspective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behaviour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L1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simplify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ways</a:t>
            </a:r>
            <a:endParaRPr sz="1100">
              <a:latin typeface="Times New Roman"/>
              <a:cs typeface="Times New Roman"/>
            </a:endParaRPr>
          </a:p>
          <a:p>
            <a:pPr marL="12700" marR="30079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 simplification </a:t>
            </a:r>
            <a:r>
              <a:rPr dirty="0" sz="1100">
                <a:latin typeface="Times New Roman"/>
                <a:cs typeface="Times New Roman"/>
              </a:rPr>
              <a:t>process </a:t>
            </a:r>
            <a:r>
              <a:rPr dirty="0" sz="1100" spc="-5">
                <a:latin typeface="Times New Roman"/>
                <a:cs typeface="Times New Roman"/>
              </a:rPr>
              <a:t>is an innate ability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theory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</a:t>
            </a:r>
            <a:r>
              <a:rPr dirty="0" sz="1100" spc="-5">
                <a:latin typeface="Times New Roman"/>
                <a:cs typeface="Times New Roman"/>
              </a:rPr>
              <a:t> through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mastery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produce</a:t>
            </a:r>
            <a:r>
              <a:rPr dirty="0" sz="1100" spc="-5">
                <a:latin typeface="Times New Roman"/>
                <a:cs typeface="Times New Roman"/>
              </a:rPr>
              <a:t> their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regular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patterns</a:t>
            </a:r>
            <a:r>
              <a:rPr dirty="0" sz="1100" spc="-5">
                <a:latin typeface="Times New Roman"/>
                <a:cs typeface="Times New Roman"/>
              </a:rPr>
              <a:t> across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L1s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adults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simplification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practiced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communities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L1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endParaRPr sz="1100">
              <a:latin typeface="Times New Roman"/>
              <a:cs typeface="Times New Roman"/>
            </a:endParaRPr>
          </a:p>
          <a:p>
            <a:pPr marL="12700" marR="20129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Children move </a:t>
            </a:r>
            <a:r>
              <a:rPr dirty="0" sz="1100">
                <a:latin typeface="Times New Roman"/>
                <a:cs typeface="Times New Roman"/>
              </a:rPr>
              <a:t>on from </a:t>
            </a:r>
            <a:r>
              <a:rPr dirty="0" sz="1100" spc="-5">
                <a:latin typeface="Times New Roman"/>
                <a:cs typeface="Times New Roman"/>
              </a:rPr>
              <a:t>simple </a:t>
            </a:r>
            <a:r>
              <a:rPr dirty="0" sz="1100">
                <a:latin typeface="Times New Roman"/>
                <a:cs typeface="Times New Roman"/>
              </a:rPr>
              <a:t>register </a:t>
            </a:r>
            <a:r>
              <a:rPr dirty="0" sz="1100" spc="-5">
                <a:latin typeface="Times New Roman"/>
                <a:cs typeface="Times New Roman"/>
              </a:rPr>
              <a:t>to conform to the adult </a:t>
            </a:r>
            <a:r>
              <a:rPr dirty="0" sz="1100">
                <a:latin typeface="Times New Roman"/>
                <a:cs typeface="Times New Roman"/>
              </a:rPr>
              <a:t>norms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Retention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simplified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pidgin users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</a:t>
            </a:r>
            <a:r>
              <a:rPr dirty="0" sz="1100" spc="-5">
                <a:latin typeface="Times New Roman"/>
                <a:cs typeface="Times New Roman"/>
              </a:rPr>
              <a:t> 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unsimplified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conform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endParaRPr sz="1100">
              <a:latin typeface="Times New Roman"/>
              <a:cs typeface="Times New Roman"/>
            </a:endParaRPr>
          </a:p>
          <a:p>
            <a:pPr marL="12700" marR="13315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the innate ability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language learning to transform </a:t>
            </a:r>
            <a:r>
              <a:rPr dirty="0" sz="1100">
                <a:latin typeface="Times New Roman"/>
                <a:cs typeface="Times New Roman"/>
              </a:rPr>
              <a:t>pidgins </a:t>
            </a:r>
            <a:r>
              <a:rPr dirty="0" sz="1100" spc="-5">
                <a:latin typeface="Times New Roman"/>
                <a:cs typeface="Times New Roman"/>
              </a:rPr>
              <a:t>into creoles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Retention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simplified language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 users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</a:t>
            </a:r>
            <a:r>
              <a:rPr dirty="0" sz="1100" spc="-5">
                <a:latin typeface="Times New Roman"/>
                <a:cs typeface="Times New Roman"/>
              </a:rPr>
              <a:t> 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unsimplified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conform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endParaRPr sz="1100">
              <a:latin typeface="Times New Roman"/>
              <a:cs typeface="Times New Roman"/>
            </a:endParaRPr>
          </a:p>
          <a:p>
            <a:pPr marL="12700" marR="13315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the innate ability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language learning to transform </a:t>
            </a:r>
            <a:r>
              <a:rPr dirty="0" sz="1100">
                <a:latin typeface="Times New Roman"/>
                <a:cs typeface="Times New Roman"/>
              </a:rPr>
              <a:t>pidgins </a:t>
            </a:r>
            <a:r>
              <a:rPr dirty="0" sz="1100" spc="-5">
                <a:latin typeface="Times New Roman"/>
                <a:cs typeface="Times New Roman"/>
              </a:rPr>
              <a:t>into creoles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Monogenetic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Polygenetic?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Monogenetic: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bioprogramme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Polygenetic: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Independent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origin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separate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locations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61912"/>
            <a:ext cx="5814060" cy="8758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Lesson-08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marL="1649730">
              <a:lnSpc>
                <a:spcPct val="100000"/>
              </a:lnSpc>
            </a:pPr>
            <a:r>
              <a:rPr dirty="0" sz="1400" spc="25">
                <a:latin typeface="Times New Roman"/>
                <a:cs typeface="Times New Roman"/>
              </a:rPr>
              <a:t>Pidgins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and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30">
                <a:latin typeface="Times New Roman"/>
                <a:cs typeface="Times New Roman"/>
              </a:rPr>
              <a:t>Creoles: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30">
                <a:latin typeface="Times New Roman"/>
                <a:cs typeface="Times New Roman"/>
              </a:rPr>
              <a:t>Theories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45">
                <a:latin typeface="Times New Roman"/>
                <a:cs typeface="Times New Roman"/>
              </a:rPr>
              <a:t>Origin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Topic-043:Pidgins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Creoles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Linguistic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Features: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Lexis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Source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Dominant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28829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dominant </a:t>
            </a:r>
            <a:r>
              <a:rPr dirty="0" sz="1100" spc="-5">
                <a:latin typeface="Times New Roman"/>
                <a:cs typeface="Times New Roman"/>
              </a:rPr>
              <a:t>language is called the lexifier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Pidgin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systematic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rules</a:t>
            </a:r>
            <a:endParaRPr sz="1100">
              <a:latin typeface="Times New Roman"/>
              <a:cs typeface="Times New Roman"/>
            </a:endParaRPr>
          </a:p>
          <a:p>
            <a:pPr marL="12700" marR="2699385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Rules move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simpler to more complicated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pidgin </a:t>
            </a:r>
            <a:r>
              <a:rPr dirty="0" sz="1100" spc="-5">
                <a:latin typeface="Times New Roman"/>
                <a:cs typeface="Times New Roman"/>
              </a:rPr>
              <a:t>lexis</a:t>
            </a:r>
            <a:endParaRPr sz="1100">
              <a:latin typeface="Times New Roman"/>
              <a:cs typeface="Times New Roman"/>
            </a:endParaRPr>
          </a:p>
          <a:p>
            <a:pPr marL="12700" marR="42411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Lengthy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Bilong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(of)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Belong</a:t>
            </a:r>
            <a:endParaRPr sz="1100">
              <a:latin typeface="Times New Roman"/>
              <a:cs typeface="Times New Roman"/>
            </a:endParaRPr>
          </a:p>
          <a:p>
            <a:pPr marL="12700" marR="4139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Papa </a:t>
            </a:r>
            <a:r>
              <a:rPr dirty="0" sz="1100">
                <a:latin typeface="Times New Roman"/>
                <a:cs typeface="Times New Roman"/>
              </a:rPr>
              <a:t>bilong </a:t>
            </a:r>
            <a:r>
              <a:rPr dirty="0" sz="1100" spc="-5">
                <a:latin typeface="Times New Roman"/>
                <a:cs typeface="Times New Roman"/>
              </a:rPr>
              <a:t>me </a:t>
            </a:r>
            <a:r>
              <a:rPr dirty="0" sz="1100">
                <a:latin typeface="Times New Roman"/>
                <a:cs typeface="Times New Roman"/>
              </a:rPr>
              <a:t>= </a:t>
            </a:r>
            <a:r>
              <a:rPr dirty="0" sz="1100" spc="-5">
                <a:latin typeface="Times New Roman"/>
                <a:cs typeface="Times New Roman"/>
              </a:rPr>
              <a:t>my </a:t>
            </a:r>
            <a:r>
              <a:rPr dirty="0" sz="1100">
                <a:latin typeface="Times New Roman"/>
                <a:cs typeface="Times New Roman"/>
              </a:rPr>
              <a:t>father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Hausbilong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house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 </a:t>
            </a:r>
            <a:r>
              <a:rPr dirty="0" sz="1100">
                <a:latin typeface="Times New Roman"/>
                <a:cs typeface="Times New Roman"/>
              </a:rPr>
              <a:t>of pidgin </a:t>
            </a:r>
            <a:r>
              <a:rPr dirty="0" sz="1100" spc="-5">
                <a:latin typeface="Times New Roman"/>
                <a:cs typeface="Times New Roman"/>
              </a:rPr>
              <a:t>lexis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Reduplication</a:t>
            </a:r>
            <a:endParaRPr sz="1100">
              <a:latin typeface="Times New Roman"/>
              <a:cs typeface="Times New Roman"/>
            </a:endParaRPr>
          </a:p>
          <a:p>
            <a:pPr marL="12700" marR="41446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intensify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 marR="490982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tok=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talk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toktok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chatter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looklook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stare</a:t>
            </a:r>
            <a:endParaRPr sz="1100">
              <a:latin typeface="Times New Roman"/>
              <a:cs typeface="Times New Roman"/>
            </a:endParaRPr>
          </a:p>
          <a:p>
            <a:pPr marL="12700" marR="4139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Hausbilong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house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Rules </a:t>
            </a:r>
            <a:r>
              <a:rPr dirty="0" sz="1100">
                <a:latin typeface="Times New Roman"/>
                <a:cs typeface="Times New Roman"/>
              </a:rPr>
              <a:t>of pidgin </a:t>
            </a:r>
            <a:r>
              <a:rPr dirty="0" sz="1100" spc="-5">
                <a:latin typeface="Times New Roman"/>
                <a:cs typeface="Times New Roman"/>
              </a:rPr>
              <a:t>lexis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Reduplication</a:t>
            </a:r>
            <a:endParaRPr sz="1100">
              <a:latin typeface="Times New Roman"/>
              <a:cs typeface="Times New Roman"/>
            </a:endParaRPr>
          </a:p>
          <a:p>
            <a:pPr marL="12700" marR="42519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avoid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confusion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 marR="492379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sip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ship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sipsip </a:t>
            </a:r>
            <a:r>
              <a:rPr dirty="0" sz="1100">
                <a:latin typeface="Times New Roman"/>
                <a:cs typeface="Times New Roman"/>
              </a:rPr>
              <a:t>= </a:t>
            </a:r>
            <a:r>
              <a:rPr dirty="0" sz="1100" spc="-5">
                <a:latin typeface="Times New Roman"/>
                <a:cs typeface="Times New Roman"/>
              </a:rPr>
              <a:t>sheep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= </a:t>
            </a:r>
            <a:r>
              <a:rPr dirty="0" sz="1100" spc="-5">
                <a:latin typeface="Times New Roman"/>
                <a:cs typeface="Times New Roman"/>
              </a:rPr>
              <a:t>watch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waswas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Topic-044:Phonology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464693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Reduction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fewer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corresponding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Pacific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vowel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Caribbean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12</a:t>
            </a:r>
            <a:endParaRPr sz="1100">
              <a:latin typeface="Times New Roman"/>
              <a:cs typeface="Times New Roman"/>
            </a:endParaRPr>
          </a:p>
          <a:p>
            <a:pPr marL="12700" marR="14395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Compared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English’s</a:t>
            </a:r>
            <a:r>
              <a:rPr dirty="0" sz="1100">
                <a:latin typeface="Times New Roman"/>
                <a:cs typeface="Times New Roman"/>
              </a:rPr>
              <a:t> 17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English’s </a:t>
            </a:r>
            <a:r>
              <a:rPr dirty="0" sz="1100">
                <a:latin typeface="Times New Roman"/>
                <a:cs typeface="Times New Roman"/>
              </a:rPr>
              <a:t>20 </a:t>
            </a:r>
            <a:r>
              <a:rPr dirty="0" sz="1100" spc="-5">
                <a:latin typeface="Times New Roman"/>
                <a:cs typeface="Times New Roman"/>
              </a:rPr>
              <a:t>Vowels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4392295" cy="8693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219450">
              <a:lnSpc>
                <a:spcPct val="110200"/>
              </a:lnSpc>
              <a:spcBef>
                <a:spcPts val="100"/>
              </a:spcBef>
              <a:tabLst>
                <a:tab pos="349250" algn="l"/>
              </a:tabLst>
            </a:pPr>
            <a:r>
              <a:rPr dirty="0" sz="1100" spc="-5">
                <a:latin typeface="Times New Roman"/>
                <a:cs typeface="Times New Roman"/>
              </a:rPr>
              <a:t>/i:/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(deep)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ɪ/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(dip)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eat	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endParaRPr sz="1100">
              <a:latin typeface="Times New Roman"/>
              <a:cs typeface="Times New Roman"/>
            </a:endParaRPr>
          </a:p>
          <a:p>
            <a:pPr marL="12700" marR="2361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ɔ: (walk) </a:t>
            </a:r>
            <a:r>
              <a:rPr dirty="0" sz="1100">
                <a:latin typeface="Times New Roman"/>
                <a:cs typeface="Times New Roman"/>
              </a:rPr>
              <a:t>= </a:t>
            </a:r>
            <a:r>
              <a:rPr dirty="0" sz="1100" spc="-5">
                <a:latin typeface="Times New Roman"/>
                <a:cs typeface="Times New Roman"/>
              </a:rPr>
              <a:t>/3:/ (work)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Simplification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consonant clusters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12700" marR="366458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friend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fren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salt </a:t>
            </a:r>
            <a:r>
              <a:rPr dirty="0" sz="1100">
                <a:latin typeface="Times New Roman"/>
                <a:cs typeface="Times New Roman"/>
              </a:rPr>
              <a:t>= </a:t>
            </a:r>
            <a:r>
              <a:rPr dirty="0" sz="1100" spc="-5">
                <a:latin typeface="Times New Roman"/>
                <a:cs typeface="Times New Roman"/>
              </a:rPr>
              <a:t>sol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Conflation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process of reducing </a:t>
            </a:r>
            <a:r>
              <a:rPr dirty="0" sz="1100" spc="-5">
                <a:latin typeface="Times New Roman"/>
                <a:cs typeface="Times New Roman"/>
              </a:rPr>
              <a:t>inflected words to their word stem, </a:t>
            </a:r>
            <a:r>
              <a:rPr dirty="0" sz="1100">
                <a:latin typeface="Times New Roman"/>
                <a:cs typeface="Times New Roman"/>
              </a:rPr>
              <a:t>base or root form.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(Caribbean </a:t>
            </a:r>
            <a:r>
              <a:rPr dirty="0" sz="1100" spc="-5">
                <a:latin typeface="Times New Roman"/>
                <a:cs typeface="Times New Roman"/>
              </a:rPr>
              <a:t>Creoles)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/t/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/θ/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/d/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/ð/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/tʃ/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/ʃ/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Conflation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(Pacific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Pidgin:TokPisin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Creoles)</a:t>
            </a:r>
            <a:endParaRPr sz="1100">
              <a:latin typeface="Times New Roman"/>
              <a:cs typeface="Times New Roman"/>
            </a:endParaRPr>
          </a:p>
          <a:p>
            <a:pPr marL="12700" marR="36417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/f/ </a:t>
            </a:r>
            <a:r>
              <a:rPr dirty="0" sz="1100">
                <a:latin typeface="Times New Roman"/>
                <a:cs typeface="Times New Roman"/>
              </a:rPr>
              <a:t>= </a:t>
            </a:r>
            <a:r>
              <a:rPr dirty="0" sz="1100" spc="-5">
                <a:latin typeface="Times New Roman"/>
                <a:cs typeface="Times New Roman"/>
              </a:rPr>
              <a:t>/p/ </a:t>
            </a:r>
            <a:r>
              <a:rPr dirty="0" sz="1100">
                <a:latin typeface="Times New Roman"/>
                <a:cs typeface="Times New Roman"/>
              </a:rPr>
              <a:t> friend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/s/,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ʃ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/tʃ/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Topic-045:Grammar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9963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Pidgins show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simplification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 structure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Few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inflections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Nouns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gender</a:t>
            </a:r>
            <a:endParaRPr sz="1100">
              <a:latin typeface="Times New Roman"/>
              <a:cs typeface="Times New Roman"/>
            </a:endParaRPr>
          </a:p>
          <a:p>
            <a:pPr marL="12700" marR="23571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 marL="12700" marR="367347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Morphology  </a:t>
            </a:r>
            <a:r>
              <a:rPr dirty="0" sz="1100" spc="-5">
                <a:latin typeface="Times New Roman"/>
                <a:cs typeface="Times New Roman"/>
              </a:rPr>
              <a:t>Case</a:t>
            </a:r>
            <a:endParaRPr sz="1100">
              <a:latin typeface="Times New Roman"/>
              <a:cs typeface="Times New Roman"/>
            </a:endParaRPr>
          </a:p>
          <a:p>
            <a:pPr marL="469900" marR="1138555" indent="-4572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single </a:t>
            </a:r>
            <a:r>
              <a:rPr dirty="0" sz="1100">
                <a:latin typeface="Times New Roman"/>
                <a:cs typeface="Times New Roman"/>
              </a:rPr>
              <a:t>pronoun </a:t>
            </a:r>
            <a:r>
              <a:rPr dirty="0" sz="1100" spc="-5">
                <a:latin typeface="Times New Roman"/>
                <a:cs typeface="Times New Roman"/>
              </a:rPr>
              <a:t>serves as </a:t>
            </a:r>
            <a:r>
              <a:rPr dirty="0" sz="1100">
                <a:latin typeface="Times New Roman"/>
                <a:cs typeface="Times New Roman"/>
              </a:rPr>
              <a:t>both </a:t>
            </a:r>
            <a:r>
              <a:rPr dirty="0" sz="1100" spc="-5">
                <a:latin typeface="Times New Roman"/>
                <a:cs typeface="Times New Roman"/>
              </a:rPr>
              <a:t>subject and </a:t>
            </a:r>
            <a:r>
              <a:rPr dirty="0" sz="1100">
                <a:latin typeface="Times New Roman"/>
                <a:cs typeface="Times New Roman"/>
              </a:rPr>
              <a:t>verb: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5">
                <a:latin typeface="Times New Roman"/>
                <a:cs typeface="Times New Roman"/>
              </a:rPr>
              <a:t> 'he' 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'him‘</a:t>
            </a:r>
            <a:endParaRPr sz="1100">
              <a:latin typeface="Times New Roman"/>
              <a:cs typeface="Times New Roman"/>
            </a:endParaRPr>
          </a:p>
          <a:p>
            <a:pPr marL="12700" marR="2719070" indent="45720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ol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‘they’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‘then’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 marL="12700" marR="367347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Morphology  </a:t>
            </a:r>
            <a:r>
              <a:rPr dirty="0" sz="1100" spc="-5">
                <a:latin typeface="Times New Roman"/>
                <a:cs typeface="Times New Roman"/>
              </a:rPr>
              <a:t>Number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Plurality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inflection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Plural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realized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actual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endParaRPr sz="1100">
              <a:latin typeface="Times New Roman"/>
              <a:cs typeface="Times New Roman"/>
            </a:endParaRPr>
          </a:p>
          <a:p>
            <a:pPr marL="12700" marR="25755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separate lexical item 'ol'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Morphology</a:t>
            </a:r>
            <a:endParaRPr sz="1100">
              <a:latin typeface="Times New Roman"/>
              <a:cs typeface="Times New Roman"/>
            </a:endParaRPr>
          </a:p>
          <a:p>
            <a:pPr marL="12700" marR="3837304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Number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Actual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plurality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dispelawik,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40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meribilongMilen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832077"/>
            <a:ext cx="4344670" cy="832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44525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Along this-fellow week, more along </a:t>
            </a:r>
            <a:r>
              <a:rPr dirty="0" sz="1100">
                <a:latin typeface="Times New Roman"/>
                <a:cs typeface="Times New Roman"/>
              </a:rPr>
              <a:t>40 </a:t>
            </a:r>
            <a:r>
              <a:rPr dirty="0" sz="1100" spc="-5">
                <a:latin typeface="Times New Roman"/>
                <a:cs typeface="Times New Roman"/>
              </a:rPr>
              <a:t>woman </a:t>
            </a:r>
            <a:r>
              <a:rPr dirty="0" sz="1100">
                <a:latin typeface="Times New Roman"/>
                <a:cs typeface="Times New Roman"/>
              </a:rPr>
              <a:t>belong </a:t>
            </a:r>
            <a:r>
              <a:rPr dirty="0" sz="1100" spc="-5">
                <a:latin typeface="Times New Roman"/>
                <a:cs typeface="Times New Roman"/>
              </a:rPr>
              <a:t>Milne Bay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week, 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 </a:t>
            </a:r>
            <a:r>
              <a:rPr dirty="0" sz="1100">
                <a:latin typeface="Times New Roman"/>
                <a:cs typeface="Times New Roman"/>
              </a:rPr>
              <a:t>40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Milne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362521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Morphology  </a:t>
            </a:r>
            <a:r>
              <a:rPr dirty="0" sz="1100" spc="-5">
                <a:latin typeface="Times New Roman"/>
                <a:cs typeface="Times New Roman"/>
              </a:rPr>
              <a:t>Number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 marR="16706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Lexical item indicating </a:t>
            </a:r>
            <a:r>
              <a:rPr dirty="0" sz="1100">
                <a:latin typeface="Times New Roman"/>
                <a:cs typeface="Times New Roman"/>
              </a:rPr>
              <a:t>plurality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OlopisabilongMelanesinEnvairomenFaundesen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1250">
              <a:latin typeface="Times New Roman"/>
              <a:cs typeface="Times New Roman"/>
            </a:endParaRPr>
          </a:p>
          <a:p>
            <a:pPr marL="12700" marR="11779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All </a:t>
            </a:r>
            <a:r>
              <a:rPr dirty="0" sz="1100">
                <a:latin typeface="Times New Roman"/>
                <a:cs typeface="Times New Roman"/>
              </a:rPr>
              <a:t>officer belong </a:t>
            </a:r>
            <a:r>
              <a:rPr dirty="0" sz="1100" spc="-5">
                <a:latin typeface="Times New Roman"/>
                <a:cs typeface="Times New Roman"/>
              </a:rPr>
              <a:t>Melanesian Environment Foundation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Melanesian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Environment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Foundation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362521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Morphology  </a:t>
            </a:r>
            <a:r>
              <a:rPr dirty="0" sz="1100" spc="-5">
                <a:latin typeface="Times New Roman"/>
                <a:cs typeface="Times New Roman"/>
              </a:rPr>
              <a:t>Gender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missing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pronoun</a:t>
            </a:r>
            <a:r>
              <a:rPr dirty="0" sz="1100" spc="-5">
                <a:latin typeface="Times New Roman"/>
                <a:cs typeface="Times New Roman"/>
              </a:rPr>
              <a:t> stands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female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referents:</a:t>
            </a:r>
            <a:endParaRPr sz="1100">
              <a:latin typeface="Times New Roman"/>
              <a:cs typeface="Times New Roman"/>
            </a:endParaRPr>
          </a:p>
          <a:p>
            <a:pPr marL="469265" marR="2764790" indent="-4692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 </a:t>
            </a:r>
            <a:r>
              <a:rPr dirty="0" sz="1100">
                <a:latin typeface="Times New Roman"/>
                <a:cs typeface="Times New Roman"/>
              </a:rPr>
              <a:t>= </a:t>
            </a:r>
            <a:r>
              <a:rPr dirty="0" sz="1100" spc="-5">
                <a:latin typeface="Times New Roman"/>
                <a:cs typeface="Times New Roman"/>
              </a:rPr>
              <a:t>'he' and 'him‘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‘she’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‘her’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Prepositions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proper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prepositions: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bilon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"of"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"for“</a:t>
            </a:r>
            <a:endParaRPr sz="1100">
              <a:latin typeface="Times New Roman"/>
              <a:cs typeface="Times New Roman"/>
            </a:endParaRPr>
          </a:p>
          <a:p>
            <a:pPr marL="12700" marR="22523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(means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everything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else)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inflected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</a:t>
            </a:r>
            <a:endParaRPr sz="1100">
              <a:latin typeface="Times New Roman"/>
              <a:cs typeface="Times New Roman"/>
            </a:endParaRPr>
          </a:p>
          <a:p>
            <a:pPr marL="12700" marR="7721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Tense is marked externally to the </a:t>
            </a:r>
            <a:r>
              <a:rPr dirty="0" sz="1100">
                <a:latin typeface="Times New Roman"/>
                <a:cs typeface="Times New Roman"/>
              </a:rPr>
              <a:t>verb by a </a:t>
            </a:r>
            <a:r>
              <a:rPr dirty="0" sz="1100" spc="-5">
                <a:latin typeface="Times New Roman"/>
                <a:cs typeface="Times New Roman"/>
              </a:rPr>
              <a:t>lexical item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Bung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Mande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22733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Meeting </a:t>
            </a:r>
            <a:r>
              <a:rPr dirty="0" sz="1100">
                <a:latin typeface="Times New Roman"/>
                <a:cs typeface="Times New Roman"/>
              </a:rPr>
              <a:t>he been </a:t>
            </a:r>
            <a:r>
              <a:rPr dirty="0" sz="1100" spc="-5">
                <a:latin typeface="Times New Roman"/>
                <a:cs typeface="Times New Roman"/>
              </a:rPr>
              <a:t>start along Monday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started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Monday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Topic-046:Grammar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329628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Grammar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structure</a:t>
            </a:r>
            <a:endParaRPr sz="1100">
              <a:latin typeface="Times New Roman"/>
              <a:cs typeface="Times New Roman"/>
            </a:endParaRPr>
          </a:p>
          <a:p>
            <a:pPr marL="12700" marR="13163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Negative formed with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negative particle </a:t>
            </a:r>
            <a:r>
              <a:rPr dirty="0" sz="1100">
                <a:latin typeface="Times New Roman"/>
                <a:cs typeface="Times New Roman"/>
              </a:rPr>
              <a:t>‘no’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waan </a:t>
            </a:r>
            <a:r>
              <a:rPr dirty="0" sz="1100">
                <a:latin typeface="Times New Roman"/>
                <a:cs typeface="Times New Roman"/>
              </a:rPr>
              <a:t>go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John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John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Clause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complicated</a:t>
            </a:r>
            <a:endParaRPr sz="1100">
              <a:latin typeface="Times New Roman"/>
              <a:cs typeface="Times New Roman"/>
            </a:endParaRPr>
          </a:p>
          <a:p>
            <a:pPr marL="12700" marR="21177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There are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embedded clauses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There are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complex sentences </a:t>
            </a:r>
            <a:r>
              <a:rPr dirty="0" sz="1100">
                <a:latin typeface="Times New Roman"/>
                <a:cs typeface="Times New Roman"/>
              </a:rPr>
              <a:t>(e.g. </a:t>
            </a:r>
            <a:r>
              <a:rPr dirty="0" sz="1100" spc="-5">
                <a:latin typeface="Times New Roman"/>
                <a:cs typeface="Times New Roman"/>
              </a:rPr>
              <a:t>sentences with </a:t>
            </a:r>
            <a:r>
              <a:rPr dirty="0" sz="1100">
                <a:latin typeface="Times New Roman"/>
                <a:cs typeface="Times New Roman"/>
              </a:rPr>
              <a:t>relative </a:t>
            </a:r>
            <a:r>
              <a:rPr dirty="0" sz="1100" spc="-5">
                <a:latin typeface="Times New Roman"/>
                <a:cs typeface="Times New Roman"/>
              </a:rPr>
              <a:t>clauses)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Upi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 </a:t>
            </a:r>
            <a:r>
              <a:rPr dirty="0" sz="1100">
                <a:latin typeface="Times New Roman"/>
                <a:cs typeface="Times New Roman"/>
              </a:rPr>
              <a:t>pikaninyenafunaskafu?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64444"/>
            <a:ext cx="3604895" cy="277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s/he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food?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150685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Where is the child who wants </a:t>
            </a:r>
            <a:r>
              <a:rPr dirty="0" sz="1100">
                <a:latin typeface="Times New Roman"/>
                <a:cs typeface="Times New Roman"/>
              </a:rPr>
              <a:t>food?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place: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AutoNum type="arabicPeriod"/>
              <a:tabLst>
                <a:tab pos="152400" algn="l"/>
                <a:tab pos="1022350" algn="l"/>
              </a:tabLst>
            </a:pPr>
            <a:r>
              <a:rPr dirty="0" sz="1100">
                <a:latin typeface="Times New Roman"/>
                <a:cs typeface="Times New Roman"/>
              </a:rPr>
              <a:t>Increase </a:t>
            </a:r>
            <a:r>
              <a:rPr dirty="0" sz="1100" spc="-5">
                <a:latin typeface="Times New Roman"/>
                <a:cs typeface="Times New Roman"/>
              </a:rPr>
              <a:t>in speech </a:t>
            </a:r>
            <a:r>
              <a:rPr dirty="0" sz="1100">
                <a:latin typeface="Times New Roman"/>
                <a:cs typeface="Times New Roman"/>
              </a:rPr>
              <a:t>rate resulting </a:t>
            </a:r>
            <a:r>
              <a:rPr dirty="0" sz="1100" spc="-5">
                <a:latin typeface="Times New Roman"/>
                <a:cs typeface="Times New Roman"/>
              </a:rPr>
              <a:t>in assimilation and </a:t>
            </a:r>
            <a:r>
              <a:rPr dirty="0" sz="1100">
                <a:latin typeface="Times New Roman"/>
                <a:cs typeface="Times New Roman"/>
              </a:rPr>
              <a:t>reduction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manbilong me	momblomi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husband</a:t>
            </a:r>
            <a:endParaRPr sz="1100">
              <a:latin typeface="Times New Roman"/>
              <a:cs typeface="Times New Roman"/>
            </a:endParaRPr>
          </a:p>
          <a:p>
            <a:pPr marL="151765" indent="-139700">
              <a:lnSpc>
                <a:spcPct val="100000"/>
              </a:lnSpc>
              <a:spcBef>
                <a:spcPts val="135"/>
              </a:spcBef>
              <a:buAutoNum type="arabicPeriod" startAt="2"/>
              <a:tabLst>
                <a:tab pos="1524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Expansion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vocabulary</a:t>
            </a:r>
            <a:endParaRPr sz="1100">
              <a:latin typeface="Times New Roman"/>
              <a:cs typeface="Times New Roman"/>
            </a:endParaRPr>
          </a:p>
          <a:p>
            <a:pPr marL="12700" marR="14217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New shorter words are </a:t>
            </a:r>
            <a:r>
              <a:rPr dirty="0" sz="1100">
                <a:latin typeface="Times New Roman"/>
                <a:cs typeface="Times New Roman"/>
              </a:rPr>
              <a:t>formed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manbilongpait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man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belong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fight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Paitman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fightman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(fighter)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building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capacity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im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6100" y="3417949"/>
            <a:ext cx="672465" cy="39497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bikim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(to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enlarge)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3417949"/>
            <a:ext cx="685165" cy="764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92100">
              <a:lnSpc>
                <a:spcPct val="1102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bik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(large)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braitbraitim  </a:t>
            </a:r>
            <a:r>
              <a:rPr dirty="0" sz="1100">
                <a:latin typeface="Times New Roman"/>
                <a:cs typeface="Times New Roman"/>
              </a:rPr>
              <a:t>(wide)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6100" y="3989139"/>
            <a:ext cx="60388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(to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widen)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700" y="4156784"/>
            <a:ext cx="3233420" cy="5183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29055">
              <a:lnSpc>
                <a:spcPct val="110200"/>
              </a:lnSpc>
              <a:spcBef>
                <a:spcPts val="100"/>
              </a:spcBef>
              <a:buAutoNum type="arabicPeriod" startAt="3"/>
              <a:tabLst>
                <a:tab pos="152400" algn="l"/>
                <a:tab pos="7493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Development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tense system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bin	past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Bung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Mande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46990" marR="1662430" indent="-349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Meeting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start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Monday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started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Monday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1135380">
              <a:lnSpc>
                <a:spcPct val="110200"/>
              </a:lnSpc>
              <a:tabLst>
                <a:tab pos="88138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bai	future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(from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by)</a:t>
            </a:r>
            <a:endParaRPr sz="1100">
              <a:latin typeface="Times New Roman"/>
              <a:cs typeface="Times New Roman"/>
            </a:endParaRPr>
          </a:p>
          <a:p>
            <a:pPr marL="12700" marR="119697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nabaipinis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Fraide,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Epril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22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by finish </a:t>
            </a:r>
            <a:r>
              <a:rPr dirty="0" sz="1100" spc="-5">
                <a:latin typeface="Times New Roman"/>
                <a:cs typeface="Times New Roman"/>
              </a:rPr>
              <a:t>along Friday April </a:t>
            </a:r>
            <a:r>
              <a:rPr dirty="0" sz="1100">
                <a:latin typeface="Times New Roman"/>
                <a:cs typeface="Times New Roman"/>
              </a:rPr>
              <a:t>22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Friday,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April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22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creoles</a:t>
            </a:r>
            <a:endParaRPr sz="1100">
              <a:latin typeface="Times New Roman"/>
              <a:cs typeface="Times New Roman"/>
            </a:endParaRPr>
          </a:p>
          <a:p>
            <a:pPr marL="12700" marR="1477010">
              <a:lnSpc>
                <a:spcPct val="110200"/>
              </a:lnSpc>
              <a:buAutoNum type="arabicPeriod" startAt="4"/>
              <a:tabLst>
                <a:tab pos="1524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Greater sentence complexity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relative</a:t>
            </a:r>
            <a:r>
              <a:rPr dirty="0" sz="1100" spc="-5">
                <a:latin typeface="Times New Roman"/>
                <a:cs typeface="Times New Roman"/>
              </a:rPr>
              <a:t> clauses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Meriya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i-stap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hul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i-hangre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Woman </a:t>
            </a:r>
            <a:r>
              <a:rPr dirty="0" sz="1100">
                <a:latin typeface="Times New Roman"/>
                <a:cs typeface="Times New Roman"/>
              </a:rPr>
              <a:t>(relative </a:t>
            </a:r>
            <a:r>
              <a:rPr dirty="0" sz="1100" spc="-5">
                <a:latin typeface="Times New Roman"/>
                <a:cs typeface="Times New Roman"/>
              </a:rPr>
              <a:t>subject marker) stay in </a:t>
            </a:r>
            <a:r>
              <a:rPr dirty="0" sz="1100">
                <a:latin typeface="Times New Roman"/>
                <a:cs typeface="Times New Roman"/>
              </a:rPr>
              <a:t>hole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hungry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 stayed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hole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hungry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Topic-047:Social</a:t>
            </a:r>
            <a:r>
              <a:rPr dirty="0" u="sng" sz="1100" spc="-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Perform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Capable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in: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208905" cy="869315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Literature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Mas</a:t>
            </a:r>
            <a:r>
              <a:rPr dirty="0" sz="1100">
                <a:latin typeface="Times New Roman"/>
                <a:cs typeface="Times New Roman"/>
              </a:rPr>
              <a:t>s</a:t>
            </a:r>
            <a:r>
              <a:rPr dirty="0" sz="1100" spc="-5">
                <a:latin typeface="Times New Roman"/>
                <a:cs typeface="Times New Roman"/>
              </a:rPr>
              <a:t> media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Advertising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Leads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elaboration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vocabulary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 marL="12700" marR="5715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Its </a:t>
            </a:r>
            <a:r>
              <a:rPr dirty="0" sz="1100" spc="-5">
                <a:latin typeface="Times New Roman"/>
                <a:cs typeface="Times New Roman"/>
              </a:rPr>
              <a:t>initial structural simplicity </a:t>
            </a:r>
            <a:r>
              <a:rPr dirty="0" sz="1100">
                <a:latin typeface="Times New Roman"/>
                <a:cs typeface="Times New Roman"/>
              </a:rPr>
              <a:t>becomes </a:t>
            </a:r>
            <a:r>
              <a:rPr dirty="0" sz="1100" spc="-5">
                <a:latin typeface="Times New Roman"/>
                <a:cs typeface="Times New Roman"/>
              </a:rPr>
              <a:t>much more complex in the </a:t>
            </a:r>
            <a:r>
              <a:rPr dirty="0" sz="1100">
                <a:latin typeface="Times New Roman"/>
                <a:cs typeface="Times New Roman"/>
              </a:rPr>
              <a:t>process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expanded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 </a:t>
            </a:r>
            <a:r>
              <a:rPr dirty="0" sz="1100">
                <a:latin typeface="Times New Roman"/>
                <a:cs typeface="Times New Roman"/>
              </a:rPr>
              <a:t>functions 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pidgins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Literature</a:t>
            </a:r>
            <a:endParaRPr sz="1100">
              <a:latin typeface="Times New Roman"/>
              <a:cs typeface="Times New Roman"/>
            </a:endParaRPr>
          </a:p>
          <a:p>
            <a:pPr marL="12700" marR="21513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Pren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bilong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Rom,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Wantok,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harimnau.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Mikamtasol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plantimKaesar.Minokenbeitinlongen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Literature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(English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version)</a:t>
            </a:r>
            <a:endParaRPr sz="1100">
              <a:latin typeface="Times New Roman"/>
              <a:cs typeface="Times New Roman"/>
            </a:endParaRPr>
          </a:p>
          <a:p>
            <a:pPr marL="12700" marR="237871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Friends, Romans, Countrymen, lend me </a:t>
            </a:r>
            <a:r>
              <a:rPr dirty="0" sz="1100">
                <a:latin typeface="Times New Roman"/>
                <a:cs typeface="Times New Roman"/>
              </a:rPr>
              <a:t>your </a:t>
            </a:r>
            <a:r>
              <a:rPr dirty="0" sz="1100" spc="-5">
                <a:latin typeface="Times New Roman"/>
                <a:cs typeface="Times New Roman"/>
              </a:rPr>
              <a:t>ears.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bury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Caesar,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praise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him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Advertising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Colgate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strongim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bilongyu</a:t>
            </a:r>
            <a:endParaRPr sz="1100">
              <a:latin typeface="Times New Roman"/>
              <a:cs typeface="Times New Roman"/>
            </a:endParaRPr>
          </a:p>
          <a:p>
            <a:pPr marL="12700" marR="181991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Lukaut: </a:t>
            </a:r>
            <a:r>
              <a:rPr dirty="0" sz="1100">
                <a:latin typeface="Times New Roman"/>
                <a:cs typeface="Times New Roman"/>
              </a:rPr>
              <a:t>plantiswitpelakaikainaloli i </a:t>
            </a:r>
            <a:r>
              <a:rPr dirty="0" sz="1100" spc="-5">
                <a:latin typeface="Times New Roman"/>
                <a:cs typeface="Times New Roman"/>
              </a:rPr>
              <a:t>savibagarapim tit </a:t>
            </a:r>
            <a:r>
              <a:rPr dirty="0" sz="1100">
                <a:latin typeface="Times New Roman"/>
                <a:cs typeface="Times New Roman"/>
              </a:rPr>
              <a:t>hariap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12700" marR="3488054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Advertising </a:t>
            </a:r>
            <a:r>
              <a:rPr dirty="0" sz="1100">
                <a:latin typeface="Times New Roman"/>
                <a:cs typeface="Times New Roman"/>
              </a:rPr>
              <a:t>(English version)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Colgate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strengthens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teeth</a:t>
            </a:r>
            <a:endParaRPr sz="1100">
              <a:latin typeface="Times New Roman"/>
              <a:cs typeface="Times New Roman"/>
            </a:endParaRPr>
          </a:p>
          <a:p>
            <a:pPr marL="12700" marR="175641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Take care. Lots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sugary </a:t>
            </a:r>
            <a:r>
              <a:rPr dirty="0" sz="1100">
                <a:latin typeface="Times New Roman"/>
                <a:cs typeface="Times New Roman"/>
              </a:rPr>
              <a:t>foods </a:t>
            </a:r>
            <a:r>
              <a:rPr dirty="0" sz="1100" spc="-5">
                <a:latin typeface="Times New Roman"/>
                <a:cs typeface="Times New Roman"/>
              </a:rPr>
              <a:t>and sweets </a:t>
            </a:r>
            <a:r>
              <a:rPr dirty="0" sz="1100">
                <a:latin typeface="Times New Roman"/>
                <a:cs typeface="Times New Roman"/>
              </a:rPr>
              <a:t>rot your </a:t>
            </a:r>
            <a:r>
              <a:rPr dirty="0" sz="1100" spc="-5">
                <a:latin typeface="Times New Roman"/>
                <a:cs typeface="Times New Roman"/>
              </a:rPr>
              <a:t>teeth </a:t>
            </a:r>
            <a:r>
              <a:rPr dirty="0" sz="1100">
                <a:latin typeface="Times New Roman"/>
                <a:cs typeface="Times New Roman"/>
              </a:rPr>
              <a:t>fast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News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headline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Olmeri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gat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bikpelawari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yet</a:t>
            </a:r>
            <a:endParaRPr sz="1100">
              <a:latin typeface="Times New Roman"/>
              <a:cs typeface="Times New Roman"/>
            </a:endParaRPr>
          </a:p>
          <a:p>
            <a:pPr marL="12700" marR="317119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fellow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yet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still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worries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Topic-048:Creole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Development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UK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42005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Londo</a:t>
            </a:r>
            <a:r>
              <a:rPr dirty="0" sz="1100">
                <a:latin typeface="Times New Roman"/>
                <a:cs typeface="Times New Roman"/>
              </a:rPr>
              <a:t>n</a:t>
            </a:r>
            <a:r>
              <a:rPr dirty="0" sz="1100" spc="-5">
                <a:latin typeface="Times New Roman"/>
                <a:cs typeface="Times New Roman"/>
              </a:rPr>
              <a:t> Jamaican  </a:t>
            </a:r>
            <a:r>
              <a:rPr dirty="0" sz="1100">
                <a:latin typeface="Times New Roman"/>
                <a:cs typeface="Times New Roman"/>
              </a:rPr>
              <a:t>(Patios/Patwa)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Originated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Atlantic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Caribbean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creole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non-standard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Black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talk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Nation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37807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Black slang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Symbol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symbol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Black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Black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adolescents</a:t>
            </a:r>
            <a:endParaRPr sz="1100">
              <a:latin typeface="Times New Roman"/>
              <a:cs typeface="Times New Roman"/>
            </a:endParaRPr>
          </a:p>
          <a:p>
            <a:pPr marL="12700" marR="37128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Whit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adolescents  </a:t>
            </a:r>
            <a:r>
              <a:rPr dirty="0" sz="1100" spc="-5">
                <a:latin typeface="Times New Roman"/>
                <a:cs typeface="Times New Roman"/>
              </a:rPr>
              <a:t>Recreolization</a:t>
            </a:r>
            <a:endParaRPr sz="1100">
              <a:latin typeface="Times New Roman"/>
              <a:cs typeface="Times New Roman"/>
            </a:endParaRPr>
          </a:p>
          <a:p>
            <a:pPr marL="12700" marR="57912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 movement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creole language towards the more-creole end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continuum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Recreolization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Jamaican Creole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Post-creole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continuum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5943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</a:t>
            </a:r>
            <a:r>
              <a:rPr dirty="0" sz="1200">
                <a:latin typeface="Times New Roman"/>
                <a:cs typeface="Times New Roman"/>
              </a:rPr>
              <a:t>d</a:t>
            </a:r>
            <a:r>
              <a:rPr dirty="0" sz="1200" spc="-5">
                <a:latin typeface="Times New Roman"/>
                <a:cs typeface="Times New Roman"/>
              </a:rPr>
              <a:t> Englishe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664444"/>
            <a:ext cx="749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3823" y="664444"/>
            <a:ext cx="637286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consists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spectrum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varieties</a:t>
            </a:r>
            <a:r>
              <a:rPr dirty="0" sz="1100" spc="-5">
                <a:latin typeface="Times New Roman"/>
                <a:cs typeface="Times New Roman"/>
              </a:rPr>
              <a:t> arranged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continuum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according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832077"/>
            <a:ext cx="6376035" cy="704469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Post-Creole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Continuum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London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Jamaican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Interchangeable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pronouns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‘i’ and ‘me’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 used </a:t>
            </a:r>
            <a:r>
              <a:rPr dirty="0" sz="1100">
                <a:latin typeface="Times New Roman"/>
                <a:cs typeface="Times New Roman"/>
              </a:rPr>
              <a:t>for I</a:t>
            </a:r>
            <a:r>
              <a:rPr dirty="0" sz="1100" spc="-5">
                <a:latin typeface="Times New Roman"/>
                <a:cs typeface="Times New Roman"/>
              </a:rPr>
              <a:t> and me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‘im’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he,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, </a:t>
            </a:r>
            <a:r>
              <a:rPr dirty="0" sz="1100" spc="-5">
                <a:latin typeface="Times New Roman"/>
                <a:cs typeface="Times New Roman"/>
              </a:rPr>
              <a:t>him,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past</a:t>
            </a:r>
            <a:endParaRPr sz="1100">
              <a:latin typeface="Times New Roman"/>
              <a:cs typeface="Times New Roman"/>
            </a:endParaRPr>
          </a:p>
          <a:p>
            <a:pPr marL="12700" marR="43027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‘an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se’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said)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London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Jamaican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Elimination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tense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suffixes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participle</a:t>
            </a:r>
            <a:r>
              <a:rPr dirty="0" sz="1100" spc="-5">
                <a:latin typeface="Times New Roman"/>
                <a:cs typeface="Times New Roman"/>
              </a:rPr>
              <a:t> endings: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5">
                <a:latin typeface="Times New Roman"/>
                <a:cs typeface="Times New Roman"/>
              </a:rPr>
              <a:t> es, </a:t>
            </a:r>
            <a:r>
              <a:rPr dirty="0" sz="1100">
                <a:latin typeface="Times New Roman"/>
                <a:cs typeface="Times New Roman"/>
              </a:rPr>
              <a:t>-ed,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-t,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5">
                <a:latin typeface="Times New Roman"/>
                <a:cs typeface="Times New Roman"/>
              </a:rPr>
              <a:t> ing,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-ed, -en,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Yu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bret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stink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(Your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breath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stinks)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Expressing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‘no’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phonological changes</a:t>
            </a:r>
            <a:endParaRPr sz="1100">
              <a:latin typeface="Times New Roman"/>
              <a:cs typeface="Times New Roman"/>
            </a:endParaRPr>
          </a:p>
          <a:p>
            <a:pPr marL="12700" marR="36518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‘no</a:t>
            </a:r>
            <a:r>
              <a:rPr dirty="0" sz="1100" spc="-5">
                <a:latin typeface="Times New Roman"/>
                <a:cs typeface="Times New Roman"/>
              </a:rPr>
              <a:t> bret stink’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(my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breath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doesn’t stink)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Ebonics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(African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Vernacular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blend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‘ebony’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(black)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‘phonics’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(sound)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improper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Americans</a:t>
            </a:r>
            <a:endParaRPr sz="1100">
              <a:latin typeface="Times New Roman"/>
              <a:cs typeface="Times New Roman"/>
            </a:endParaRPr>
          </a:p>
          <a:p>
            <a:pPr marL="12700" marR="21882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Symbol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 and social identity among African Americans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Ebonics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Habitual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intermitten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Sometimes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itching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Absence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copula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contracted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‘is’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‘are’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nice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third person</a:t>
            </a:r>
            <a:r>
              <a:rPr dirty="0" sz="1100">
                <a:latin typeface="Times New Roman"/>
                <a:cs typeface="Times New Roman"/>
              </a:rPr>
              <a:t> –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absence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walk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Ebonics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Ain’t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didn’t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ain’t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‘f’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‘v’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final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‘th’</a:t>
            </a:r>
            <a:endParaRPr sz="1100">
              <a:latin typeface="Times New Roman"/>
              <a:cs typeface="Times New Roman"/>
            </a:endParaRPr>
          </a:p>
          <a:p>
            <a:pPr marL="12700" marR="384365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Smoov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smooth and toof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tooth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Ebonics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controversy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(1996)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Oakland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(CA)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Board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recognized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'primary'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majority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endParaRPr sz="1100">
              <a:latin typeface="Times New Roman"/>
              <a:cs typeface="Times New Roman"/>
            </a:endParaRPr>
          </a:p>
          <a:p>
            <a:pPr marL="12700" marR="4000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Resolved to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teaching them standard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academic English and subsequently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subjects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Ebonics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controversy </a:t>
            </a:r>
            <a:r>
              <a:rPr dirty="0" sz="1100">
                <a:latin typeface="Times New Roman"/>
                <a:cs typeface="Times New Roman"/>
              </a:rPr>
              <a:t>(1996)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as: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separatist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stigmatized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disenfranchised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Labelling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Encouraging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dialect</a:t>
            </a:r>
            <a:r>
              <a:rPr dirty="0" sz="1100" spc="-5">
                <a:latin typeface="Times New Roman"/>
                <a:cs typeface="Times New Roman"/>
              </a:rPr>
              <a:t> 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alienation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61912"/>
            <a:ext cx="6369685" cy="8573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6007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Lesson-09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140970">
              <a:lnSpc>
                <a:spcPct val="100000"/>
              </a:lnSpc>
            </a:pPr>
            <a:r>
              <a:rPr dirty="0" sz="1400" spc="20">
                <a:latin typeface="Times New Roman"/>
                <a:cs typeface="Times New Roman"/>
              </a:rPr>
              <a:t>Models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and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Classifications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Topic-049:English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Native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95211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Distinction </a:t>
            </a:r>
            <a:r>
              <a:rPr dirty="0" sz="1100">
                <a:latin typeface="Times New Roman"/>
                <a:cs typeface="Times New Roman"/>
              </a:rPr>
              <a:t>between native </a:t>
            </a:r>
            <a:r>
              <a:rPr dirty="0" sz="1100" spc="-5">
                <a:latin typeface="Times New Roman"/>
                <a:cs typeface="Times New Roman"/>
              </a:rPr>
              <a:t>speakers and </a:t>
            </a:r>
            <a:r>
              <a:rPr dirty="0" sz="1100">
                <a:latin typeface="Times New Roman"/>
                <a:cs typeface="Times New Roman"/>
              </a:rPr>
              <a:t>non-native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Accents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that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1250">
              <a:latin typeface="Times New Roman"/>
              <a:cs typeface="Times New Roman"/>
            </a:endParaRPr>
          </a:p>
          <a:p>
            <a:pPr marL="46990" marR="2952115" indent="-349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Distinction </a:t>
            </a:r>
            <a:r>
              <a:rPr dirty="0" sz="1100">
                <a:latin typeface="Times New Roman"/>
                <a:cs typeface="Times New Roman"/>
              </a:rPr>
              <a:t>between native </a:t>
            </a:r>
            <a:r>
              <a:rPr dirty="0" sz="1100" spc="-5">
                <a:latin typeface="Times New Roman"/>
                <a:cs typeface="Times New Roman"/>
              </a:rPr>
              <a:t>speakers and </a:t>
            </a:r>
            <a:r>
              <a:rPr dirty="0" sz="1100">
                <a:latin typeface="Times New Roman"/>
                <a:cs typeface="Times New Roman"/>
              </a:rPr>
              <a:t>non-native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12700" marR="204787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“internalized”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deliberately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vs. non-native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ELT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distinction</a:t>
            </a:r>
            <a:r>
              <a:rPr dirty="0" sz="1100" spc="-5">
                <a:latin typeface="Times New Roman"/>
                <a:cs typeface="Times New Roman"/>
              </a:rPr>
              <a:t> 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particular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relevance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preference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endParaRPr sz="1100">
              <a:latin typeface="Times New Roman"/>
              <a:cs typeface="Times New Roman"/>
            </a:endParaRPr>
          </a:p>
          <a:p>
            <a:pPr marL="12700" marR="25012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Considered superior to </a:t>
            </a:r>
            <a:r>
              <a:rPr dirty="0" sz="1100">
                <a:latin typeface="Times New Roman"/>
                <a:cs typeface="Times New Roman"/>
              </a:rPr>
              <a:t>non-native </a:t>
            </a:r>
            <a:r>
              <a:rPr dirty="0" sz="1100" spc="-5">
                <a:latin typeface="Times New Roman"/>
                <a:cs typeface="Times New Roman"/>
              </a:rPr>
              <a:t>English language teachers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 criteria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Exposure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childhood</a:t>
            </a:r>
            <a:endParaRPr sz="1100">
              <a:latin typeface="Times New Roman"/>
              <a:cs typeface="Times New Roman"/>
            </a:endParaRPr>
          </a:p>
          <a:p>
            <a:pPr marL="12700" marR="31318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as </a:t>
            </a:r>
            <a:r>
              <a:rPr dirty="0" sz="1100">
                <a:latin typeface="Times New Roman"/>
                <a:cs typeface="Times New Roman"/>
              </a:rPr>
              <a:t>a first </a:t>
            </a:r>
            <a:r>
              <a:rPr dirty="0" sz="1100" spc="-5">
                <a:latin typeface="Times New Roman"/>
                <a:cs typeface="Times New Roman"/>
              </a:rPr>
              <a:t>language/home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 criteria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criteria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Intuitive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knowledge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43046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Creative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criteria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criteria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depend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parameters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Opportunities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30886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Others’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 towards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one’s use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the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Discrimination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5">
                <a:latin typeface="Times New Roman"/>
                <a:cs typeface="Times New Roman"/>
              </a:rPr>
              <a:t> speakers</a:t>
            </a:r>
            <a:endParaRPr sz="1100">
              <a:latin typeface="Times New Roman"/>
              <a:cs typeface="Times New Roman"/>
            </a:endParaRPr>
          </a:p>
          <a:p>
            <a:pPr marL="12700" marR="8890" indent="55244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discrimination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basis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accents,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vocabulary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‘politics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identity’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Topic-050:Native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Non-Native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Discrimination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12700" marR="1143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discrimination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basis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accents,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vocabulary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‘politics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identity’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vs.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fundamental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opposition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speaker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5">
                <a:latin typeface="Times New Roman"/>
                <a:cs typeface="Times New Roman"/>
              </a:rPr>
              <a:t> speaker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vs.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responsible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marginalizing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periphery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communities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Phillipson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“monolingual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tenet”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0900" y="647368"/>
            <a:ext cx="6440805" cy="775652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speakerism</a:t>
            </a:r>
            <a:endParaRPr sz="1100">
              <a:latin typeface="Times New Roman"/>
              <a:cs typeface="Times New Roman"/>
            </a:endParaRPr>
          </a:p>
          <a:p>
            <a:pPr marL="5207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520065" algn="l"/>
                <a:tab pos="5207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monolingual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tenet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agenda</a:t>
            </a:r>
            <a:endParaRPr sz="1100">
              <a:latin typeface="Times New Roman"/>
              <a:cs typeface="Times New Roman"/>
            </a:endParaRPr>
          </a:p>
          <a:p>
            <a:pPr marL="5207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520065" algn="l"/>
                <a:tab pos="520700" algn="l"/>
              </a:tabLst>
            </a:pP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marginalizes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privileges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5207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520065" algn="l"/>
                <a:tab pos="5207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Extends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agenda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economic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exploitation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speakerism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exploitation</a:t>
            </a:r>
            <a:endParaRPr sz="1100">
              <a:latin typeface="Times New Roman"/>
              <a:cs typeface="Times New Roman"/>
            </a:endParaRPr>
          </a:p>
          <a:p>
            <a:pPr marL="5207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520065" algn="l"/>
                <a:tab pos="520700" algn="l"/>
              </a:tabLst>
            </a:pPr>
            <a:r>
              <a:rPr dirty="0" sz="1100" spc="-5">
                <a:latin typeface="Times New Roman"/>
                <a:cs typeface="Times New Roman"/>
              </a:rPr>
              <a:t>“Economy is the engine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drives ELT”</a:t>
            </a:r>
            <a:endParaRPr sz="1100">
              <a:latin typeface="Times New Roman"/>
              <a:cs typeface="Times New Roman"/>
            </a:endParaRPr>
          </a:p>
          <a:p>
            <a:pPr marL="63500" marR="2174875">
              <a:lnSpc>
                <a:spcPct val="110200"/>
              </a:lnSpc>
              <a:buChar char="•"/>
              <a:tabLst>
                <a:tab pos="520065" algn="l"/>
                <a:tab pos="5207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Native speakerism </a:t>
            </a:r>
            <a:r>
              <a:rPr dirty="0" sz="1100">
                <a:latin typeface="Times New Roman"/>
                <a:cs typeface="Times New Roman"/>
              </a:rPr>
              <a:t>unveils </a:t>
            </a:r>
            <a:r>
              <a:rPr dirty="0" sz="1100" spc="-5">
                <a:latin typeface="Times New Roman"/>
                <a:cs typeface="Times New Roman"/>
              </a:rPr>
              <a:t>ELT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tool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economic exploitation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speakerism and economic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exploitation</a:t>
            </a:r>
            <a:endParaRPr sz="1100">
              <a:latin typeface="Times New Roman"/>
              <a:cs typeface="Times New Roman"/>
            </a:endParaRPr>
          </a:p>
          <a:p>
            <a:pPr marL="5207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520065" algn="l"/>
                <a:tab pos="520700" algn="l"/>
              </a:tabLst>
            </a:pPr>
            <a:r>
              <a:rPr dirty="0" sz="1100">
                <a:latin typeface="Times New Roman"/>
                <a:cs typeface="Times New Roman"/>
              </a:rPr>
              <a:t>Internationally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reserved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endParaRPr sz="1100">
              <a:latin typeface="Times New Roman"/>
              <a:cs typeface="Times New Roman"/>
            </a:endParaRPr>
          </a:p>
          <a:p>
            <a:pPr marL="5207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520065" algn="l"/>
                <a:tab pos="5207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books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published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publishers</a:t>
            </a:r>
            <a:endParaRPr sz="1100">
              <a:latin typeface="Times New Roman"/>
              <a:cs typeface="Times New Roman"/>
            </a:endParaRPr>
          </a:p>
          <a:p>
            <a:pPr marL="5207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520065" algn="l"/>
                <a:tab pos="5207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theorists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practitioners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contextualize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endParaRPr sz="1100">
              <a:latin typeface="Times New Roman"/>
              <a:cs typeface="Times New Roman"/>
            </a:endParaRPr>
          </a:p>
          <a:p>
            <a:pPr marL="5207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520065" algn="l"/>
                <a:tab pos="5207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pedagogy,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endParaRPr sz="1100">
              <a:latin typeface="Times New Roman"/>
              <a:cs typeface="Times New Roman"/>
            </a:endParaRPr>
          </a:p>
          <a:p>
            <a:pPr marL="5207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520065" algn="l"/>
                <a:tab pos="5207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Understanding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sociocultural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particularities</a:t>
            </a:r>
            <a:endParaRPr sz="1100">
              <a:latin typeface="Times New Roman"/>
              <a:cs typeface="Times New Roman"/>
            </a:endParaRPr>
          </a:p>
          <a:p>
            <a:pPr marL="5207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520065" algn="l"/>
                <a:tab pos="5207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ignore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r>
              <a:rPr dirty="0" sz="1100" spc="-5">
                <a:latin typeface="Times New Roman"/>
                <a:cs typeface="Times New Roman"/>
              </a:rPr>
              <a:t> 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ignore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context-sensitive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pedagogic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knowledge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Topic-051:English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Foreign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</a:pPr>
            <a:r>
              <a:rPr dirty="0" sz="1200" spc="25">
                <a:latin typeface="Times New Roman"/>
                <a:cs typeface="Times New Roman"/>
              </a:rPr>
              <a:t>Different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20">
                <a:latin typeface="Times New Roman"/>
                <a:cs typeface="Times New Roman"/>
              </a:rPr>
              <a:t>English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25">
                <a:latin typeface="Times New Roman"/>
                <a:cs typeface="Times New Roman"/>
              </a:rPr>
              <a:t>language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35">
                <a:latin typeface="Times New Roman"/>
                <a:cs typeface="Times New Roman"/>
              </a:rPr>
              <a:t>learning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25">
                <a:latin typeface="Times New Roman"/>
                <a:cs typeface="Times New Roman"/>
              </a:rPr>
              <a:t>situations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lvl="1" marL="520700" marR="93980" indent="-228600">
              <a:lnSpc>
                <a:spcPct val="110200"/>
              </a:lnSpc>
              <a:spcBef>
                <a:spcPts val="5"/>
              </a:spcBef>
              <a:buFont typeface="Arial MT"/>
              <a:buChar char="•"/>
              <a:tabLst>
                <a:tab pos="520065" algn="l"/>
                <a:tab pos="520700" algn="l"/>
              </a:tabLst>
            </a:pPr>
            <a:r>
              <a:rPr dirty="0" sz="1200" spc="-5">
                <a:latin typeface="Times New Roman"/>
                <a:cs typeface="Times New Roman"/>
              </a:rPr>
              <a:t>Mid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20</a:t>
            </a:r>
            <a:r>
              <a:rPr dirty="0" baseline="31746" sz="1050">
                <a:latin typeface="Times New Roman"/>
                <a:cs typeface="Times New Roman"/>
              </a:rPr>
              <a:t>th</a:t>
            </a:r>
            <a:r>
              <a:rPr dirty="0" baseline="31746" sz="1050" spc="37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century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brought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realization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that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all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language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learning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situations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were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same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English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Language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Teaching(ELT)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tabLst>
                <a:tab pos="977265" algn="l"/>
              </a:tabLst>
            </a:pPr>
            <a:r>
              <a:rPr dirty="0" sz="1200" spc="-5">
                <a:latin typeface="Times New Roman"/>
                <a:cs typeface="Times New Roman"/>
              </a:rPr>
              <a:t>English	English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endParaRPr sz="1200">
              <a:latin typeface="Times New Roman"/>
              <a:cs typeface="Times New Roman"/>
            </a:endParaRPr>
          </a:p>
          <a:p>
            <a:pPr marL="63500" marR="4532630">
              <a:lnSpc>
                <a:spcPct val="207399"/>
              </a:lnSpc>
              <a:tabLst>
                <a:tab pos="977265" algn="l"/>
                <a:tab pos="1320165" algn="l"/>
              </a:tabLst>
            </a:pPr>
            <a:r>
              <a:rPr dirty="0" sz="1200" spc="-5">
                <a:latin typeface="Times New Roman"/>
                <a:cs typeface="Times New Roman"/>
              </a:rPr>
              <a:t>a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 Secon</a:t>
            </a:r>
            <a:r>
              <a:rPr dirty="0" sz="1200">
                <a:latin typeface="Times New Roman"/>
                <a:cs typeface="Times New Roman"/>
              </a:rPr>
              <a:t>d		a</a:t>
            </a:r>
            <a:r>
              <a:rPr dirty="0" sz="1200" spc="-5">
                <a:latin typeface="Times New Roman"/>
                <a:cs typeface="Times New Roman"/>
              </a:rPr>
              <a:t> Foreign  </a:t>
            </a:r>
            <a:r>
              <a:rPr dirty="0" sz="1200" spc="-5">
                <a:latin typeface="Times New Roman"/>
                <a:cs typeface="Times New Roman"/>
              </a:rPr>
              <a:t>Language	Language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Times New Roman"/>
              <a:cs typeface="Times New Roman"/>
            </a:endParaRPr>
          </a:p>
          <a:p>
            <a:pPr marL="177165">
              <a:lnSpc>
                <a:spcPct val="100000"/>
              </a:lnSpc>
              <a:spcBef>
                <a:spcPts val="5"/>
              </a:spcBef>
              <a:tabLst>
                <a:tab pos="1929764" algn="l"/>
              </a:tabLst>
            </a:pPr>
            <a:r>
              <a:rPr dirty="0" sz="1200">
                <a:latin typeface="Times New Roman"/>
                <a:cs typeface="Times New Roman"/>
              </a:rPr>
              <a:t>(ESL)	(EFL)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Times New Roman"/>
              <a:cs typeface="Times New Roman"/>
            </a:endParaRPr>
          </a:p>
          <a:p>
            <a:pPr lvl="1" marL="520700" indent="-228600">
              <a:lnSpc>
                <a:spcPct val="100000"/>
              </a:lnSpc>
              <a:buFont typeface="Arial MT"/>
              <a:buChar char="•"/>
              <a:tabLst>
                <a:tab pos="520065" algn="l"/>
                <a:tab pos="520700" algn="l"/>
              </a:tabLst>
            </a:pPr>
            <a:r>
              <a:rPr dirty="0" sz="1200" spc="-5">
                <a:latin typeface="Times New Roman"/>
                <a:cs typeface="Times New Roman"/>
              </a:rPr>
              <a:t>Learners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have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other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languages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their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disposal</a:t>
            </a:r>
            <a:endParaRPr sz="1200">
              <a:latin typeface="Times New Roman"/>
              <a:cs typeface="Times New Roman"/>
            </a:endParaRPr>
          </a:p>
          <a:p>
            <a:pPr lvl="1" marL="520700" indent="-2286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520065" algn="l"/>
                <a:tab pos="520700" algn="l"/>
              </a:tabLst>
            </a:pPr>
            <a:r>
              <a:rPr dirty="0" sz="1200" spc="-5">
                <a:latin typeface="Times New Roman"/>
                <a:cs typeface="Times New Roman"/>
              </a:rPr>
              <a:t>Learn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without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native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speakers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around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them</a:t>
            </a:r>
            <a:endParaRPr sz="1200">
              <a:latin typeface="Times New Roman"/>
              <a:cs typeface="Times New Roman"/>
            </a:endParaRPr>
          </a:p>
          <a:p>
            <a:pPr lvl="1" marL="5207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520065" algn="l"/>
                <a:tab pos="520700" algn="l"/>
              </a:tabLst>
            </a:pPr>
            <a:r>
              <a:rPr dirty="0" sz="1200" spc="-5">
                <a:latin typeface="Times New Roman"/>
                <a:cs typeface="Times New Roman"/>
              </a:rPr>
              <a:t>Learn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restricted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purposes:</a:t>
            </a:r>
            <a:endParaRPr sz="1200">
              <a:latin typeface="Times New Roman"/>
              <a:cs typeface="Times New Roman"/>
            </a:endParaRPr>
          </a:p>
          <a:p>
            <a:pPr lvl="2" marL="977900" indent="-2286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977265" algn="l"/>
                <a:tab pos="977900" algn="l"/>
              </a:tabLst>
            </a:pPr>
            <a:r>
              <a:rPr dirty="0" sz="1200" spc="-5">
                <a:latin typeface="Times New Roman"/>
                <a:cs typeface="Times New Roman"/>
              </a:rPr>
              <a:t>Reading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keep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up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with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Western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science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technology</a:t>
            </a:r>
            <a:endParaRPr sz="1200">
              <a:latin typeface="Times New Roman"/>
              <a:cs typeface="Times New Roman"/>
            </a:endParaRPr>
          </a:p>
          <a:p>
            <a:pPr lvl="2" marL="9779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977265" algn="l"/>
                <a:tab pos="977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Academics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0300" y="8935523"/>
            <a:ext cx="2985770" cy="43053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spc="-5">
                <a:latin typeface="Times New Roman"/>
                <a:cs typeface="Times New Roman"/>
              </a:rPr>
              <a:t>Typically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takes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place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foreign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country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spc="-5">
                <a:latin typeface="Times New Roman"/>
                <a:cs typeface="Times New Roman"/>
              </a:rPr>
              <a:t>Usually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with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students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same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country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0300" y="644879"/>
            <a:ext cx="4591685" cy="1821814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spc="-5">
                <a:latin typeface="Times New Roman"/>
                <a:cs typeface="Times New Roman"/>
              </a:rPr>
              <a:t>Students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share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same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language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culture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spc="-5">
                <a:latin typeface="Times New Roman"/>
                <a:cs typeface="Times New Roman"/>
              </a:rPr>
              <a:t>Learning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may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have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any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obvious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practical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benefit.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teacher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only</a:t>
            </a:r>
            <a:r>
              <a:rPr dirty="0" sz="1200" spc="-5">
                <a:latin typeface="Times New Roman"/>
                <a:cs typeface="Times New Roman"/>
              </a:rPr>
              <a:t> English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speaker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students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have</a:t>
            </a:r>
            <a:r>
              <a:rPr dirty="0" sz="1200" spc="-5">
                <a:latin typeface="Times New Roman"/>
                <a:cs typeface="Times New Roman"/>
              </a:rPr>
              <a:t> exposure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to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spc="-5">
                <a:latin typeface="Times New Roman"/>
                <a:cs typeface="Times New Roman"/>
              </a:rPr>
              <a:t>Few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opportunities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to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outside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classroom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spc="-5">
                <a:latin typeface="Times New Roman"/>
                <a:cs typeface="Times New Roman"/>
              </a:rPr>
              <a:t>Students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have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limited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exposure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to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English-speaking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culture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spc="-5">
                <a:latin typeface="Times New Roman"/>
                <a:cs typeface="Times New Roman"/>
              </a:rPr>
              <a:t>Users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</a:t>
            </a:r>
            <a:r>
              <a:rPr dirty="0" sz="1200" spc="-5">
                <a:latin typeface="Times New Roman"/>
                <a:cs typeface="Times New Roman"/>
              </a:rPr>
              <a:t> expected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to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</a:t>
            </a:r>
            <a:r>
              <a:rPr dirty="0" sz="1200" spc="-5">
                <a:latin typeface="Times New Roman"/>
                <a:cs typeface="Times New Roman"/>
              </a:rPr>
              <a:t> able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to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speak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language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spc="-5">
                <a:latin typeface="Times New Roman"/>
                <a:cs typeface="Times New Roman"/>
              </a:rPr>
              <a:t>Lower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proficiency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level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expected</a:t>
            </a: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240665" algn="l"/>
                <a:tab pos="241300" algn="l"/>
              </a:tabLst>
            </a:pPr>
            <a:r>
              <a:rPr dirty="0" sz="1200" spc="-5">
                <a:latin typeface="Times New Roman"/>
                <a:cs typeface="Times New Roman"/>
              </a:rPr>
              <a:t>Perceived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less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than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ESL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3000610"/>
            <a:ext cx="6359525" cy="6466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Topic-052:English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Second</a:t>
            </a:r>
            <a:r>
              <a:rPr dirty="0" u="sng" sz="1100" spc="27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(ESL)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Generic</a:t>
            </a:r>
            <a:endParaRPr sz="1100">
              <a:latin typeface="Times New Roman"/>
              <a:cs typeface="Times New Roman"/>
            </a:endParaRPr>
          </a:p>
          <a:p>
            <a:pPr marL="12700" marR="14420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Inclusive </a:t>
            </a:r>
            <a:r>
              <a:rPr dirty="0" sz="1100" spc="-5">
                <a:latin typeface="Times New Roman"/>
                <a:cs typeface="Times New Roman"/>
              </a:rPr>
              <a:t>label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teaching English to those who already speak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second language situations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ESL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immigrants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Learners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necessary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business</a:t>
            </a:r>
            <a:endParaRPr sz="1100">
              <a:latin typeface="Times New Roman"/>
              <a:cs typeface="Times New Roman"/>
            </a:endParaRPr>
          </a:p>
          <a:p>
            <a:pPr marL="12700" marR="338962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Social interactions also take </a:t>
            </a:r>
            <a:r>
              <a:rPr dirty="0" sz="1100">
                <a:latin typeface="Times New Roman"/>
                <a:cs typeface="Times New Roman"/>
              </a:rPr>
              <a:t>place </a:t>
            </a:r>
            <a:r>
              <a:rPr dirty="0" sz="1100" spc="-5">
                <a:latin typeface="Times New Roman"/>
                <a:cs typeface="Times New Roman"/>
              </a:rPr>
              <a:t>in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situations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ESL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ESL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intensive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12700" marR="30143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Learners aim at </a:t>
            </a:r>
            <a:r>
              <a:rPr dirty="0" sz="1100">
                <a:latin typeface="Times New Roman"/>
                <a:cs typeface="Times New Roman"/>
              </a:rPr>
              <a:t>developing proficiency </a:t>
            </a:r>
            <a:r>
              <a:rPr dirty="0" sz="1100" spc="-5">
                <a:latin typeface="Times New Roman"/>
                <a:cs typeface="Times New Roman"/>
              </a:rPr>
              <a:t>in speaking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 </a:t>
            </a:r>
            <a:r>
              <a:rPr dirty="0" sz="1100">
                <a:latin typeface="Times New Roman"/>
                <a:cs typeface="Times New Roman"/>
              </a:rPr>
              <a:t>perceived</a:t>
            </a:r>
            <a:r>
              <a:rPr dirty="0" sz="1100" spc="-5">
                <a:latin typeface="Times New Roman"/>
                <a:cs typeface="Times New Roman"/>
              </a:rPr>
              <a:t> as superior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ESL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5">
                <a:latin typeface="Times New Roman"/>
                <a:cs typeface="Times New Roman"/>
              </a:rPr>
              <a:t> 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proficient,</a:t>
            </a:r>
            <a:r>
              <a:rPr dirty="0" sz="1100" spc="-5">
                <a:latin typeface="Times New Roman"/>
                <a:cs typeface="Times New Roman"/>
              </a:rPr>
              <a:t> thus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superior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ESL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intensive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12700" marR="29419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Learners aim at </a:t>
            </a:r>
            <a:r>
              <a:rPr dirty="0" sz="1100">
                <a:latin typeface="Times New Roman"/>
                <a:cs typeface="Times New Roman"/>
              </a:rPr>
              <a:t>developing proficiency </a:t>
            </a:r>
            <a:r>
              <a:rPr dirty="0" sz="1100" spc="-5">
                <a:latin typeface="Times New Roman"/>
                <a:cs typeface="Times New Roman"/>
              </a:rPr>
              <a:t>in speaking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primary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primary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 </a:t>
            </a:r>
            <a:r>
              <a:rPr dirty="0" sz="1100">
                <a:latin typeface="Times New Roman"/>
                <a:cs typeface="Times New Roman"/>
              </a:rPr>
              <a:t>grow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speaking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environment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secondary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purposes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business,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diplomacy</a:t>
            </a:r>
            <a:endParaRPr sz="1100">
              <a:latin typeface="Times New Roman"/>
              <a:cs typeface="Times New Roman"/>
            </a:endParaRPr>
          </a:p>
          <a:p>
            <a:pPr marL="12700" marR="452755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English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secondary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</a:t>
            </a:r>
            <a:r>
              <a:rPr dirty="0" sz="1100" spc="-5">
                <a:latin typeface="Times New Roman"/>
                <a:cs typeface="Times New Roman"/>
              </a:rPr>
              <a:t> contexts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41624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secondary language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instruction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administration</a:t>
            </a:r>
            <a:endParaRPr sz="1100">
              <a:latin typeface="Times New Roman"/>
              <a:cs typeface="Times New Roman"/>
            </a:endParaRPr>
          </a:p>
          <a:p>
            <a:pPr marL="12700" marR="7391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medium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education, legal affairs, </a:t>
            </a:r>
            <a:r>
              <a:rPr dirty="0" sz="1100">
                <a:latin typeface="Times New Roman"/>
                <a:cs typeface="Times New Roman"/>
              </a:rPr>
              <a:t>broadcasting, print </a:t>
            </a:r>
            <a:r>
              <a:rPr dirty="0" sz="1100" spc="-5">
                <a:latin typeface="Times New Roman"/>
                <a:cs typeface="Times New Roman"/>
              </a:rPr>
              <a:t>media, </a:t>
            </a:r>
            <a:r>
              <a:rPr dirty="0" sz="1100">
                <a:latin typeface="Times New Roman"/>
                <a:cs typeface="Times New Roman"/>
              </a:rPr>
              <a:t>public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private discourse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secondary language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6510" cy="8309609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creative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officially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designated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Topic-053:English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International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(EIL)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particular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Singaporean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(IE)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EIL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paradigm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overlooks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symbolic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politicized</a:t>
            </a:r>
            <a:r>
              <a:rPr dirty="0" sz="1100" spc="-5">
                <a:latin typeface="Times New Roman"/>
                <a:cs typeface="Times New Roman"/>
              </a:rPr>
              <a:t> construct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speaker</a:t>
            </a:r>
            <a:endParaRPr sz="1100">
              <a:latin typeface="Times New Roman"/>
              <a:cs typeface="Times New Roman"/>
            </a:endParaRPr>
          </a:p>
          <a:p>
            <a:pPr marL="12700" marR="18732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focuses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instead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the speakers’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nationality</a:t>
            </a:r>
            <a:r>
              <a:rPr dirty="0" sz="1100">
                <a:latin typeface="Times New Roman"/>
                <a:cs typeface="Times New Roman"/>
              </a:rPr>
              <a:t> or </a:t>
            </a:r>
            <a:r>
              <a:rPr dirty="0" sz="1100" spc="-5">
                <a:latin typeface="Times New Roman"/>
                <a:cs typeface="Times New Roman"/>
              </a:rPr>
              <a:t>race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an </a:t>
            </a:r>
            <a:r>
              <a:rPr dirty="0" sz="1100">
                <a:latin typeface="Times New Roman"/>
                <a:cs typeface="Times New Roman"/>
              </a:rPr>
              <a:t>International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particular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315595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Rejects the idea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selecting </a:t>
            </a:r>
            <a:r>
              <a:rPr dirty="0" sz="1100">
                <a:latin typeface="Times New Roman"/>
                <a:cs typeface="Times New Roman"/>
              </a:rPr>
              <a:t>a particular variety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lingua </a:t>
            </a:r>
            <a:r>
              <a:rPr dirty="0" sz="1100">
                <a:latin typeface="Times New Roman"/>
                <a:cs typeface="Times New Roman"/>
              </a:rPr>
              <a:t>franca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 communication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the </a:t>
            </a:r>
            <a:r>
              <a:rPr dirty="0" sz="1100">
                <a:latin typeface="Times New Roman"/>
                <a:cs typeface="Times New Roman"/>
              </a:rPr>
              <a:t>paradigm </a:t>
            </a:r>
            <a:r>
              <a:rPr dirty="0" sz="1100" spc="-5">
                <a:latin typeface="Times New Roman"/>
                <a:cs typeface="Times New Roman"/>
              </a:rPr>
              <a:t>shift</a:t>
            </a:r>
            <a:endParaRPr sz="1100">
              <a:latin typeface="Times New Roman"/>
              <a:cs typeface="Times New Roman"/>
            </a:endParaRPr>
          </a:p>
          <a:p>
            <a:pPr marL="12700" marR="95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Refers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paradigm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shift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response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complexities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emerging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rapid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139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Suggests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revisiting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notions,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analytical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tools,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approaches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methodologies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disciplines  of </a:t>
            </a:r>
            <a:r>
              <a:rPr dirty="0" sz="1100" spc="-5">
                <a:latin typeface="Times New Roman"/>
                <a:cs typeface="Times New Roman"/>
              </a:rPr>
              <a:t>English studies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12604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Recognizes English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international and intercultural communication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the </a:t>
            </a:r>
            <a:r>
              <a:rPr dirty="0" sz="1100">
                <a:latin typeface="Times New Roman"/>
                <a:cs typeface="Times New Roman"/>
              </a:rPr>
              <a:t>paradigm </a:t>
            </a:r>
            <a:r>
              <a:rPr dirty="0" sz="1100" spc="-5">
                <a:latin typeface="Times New Roman"/>
                <a:cs typeface="Times New Roman"/>
              </a:rPr>
              <a:t>shift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EIL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cultural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backgrounds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Recognizes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irrespective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origin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Topic-054:Speech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Community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Speech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Fellowship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</a:t>
            </a:r>
            <a:endParaRPr sz="1100">
              <a:latin typeface="Times New Roman"/>
              <a:cs typeface="Times New Roman"/>
            </a:endParaRPr>
          </a:p>
          <a:p>
            <a:pPr marL="12700" marR="127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communities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share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use,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practices</a:t>
            </a:r>
            <a:endParaRPr sz="1100">
              <a:latin typeface="Times New Roman"/>
              <a:cs typeface="Times New Roman"/>
            </a:endParaRPr>
          </a:p>
          <a:p>
            <a:pPr marL="12700" marR="524129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Speec</a:t>
            </a:r>
            <a:r>
              <a:rPr dirty="0" sz="1100">
                <a:latin typeface="Times New Roman"/>
                <a:cs typeface="Times New Roman"/>
              </a:rPr>
              <a:t>h</a:t>
            </a:r>
            <a:r>
              <a:rPr dirty="0" sz="1100" spc="-5">
                <a:latin typeface="Times New Roman"/>
                <a:cs typeface="Times New Roman"/>
              </a:rPr>
              <a:t> Community  </a:t>
            </a:r>
            <a:r>
              <a:rPr dirty="0" sz="1100" spc="-5">
                <a:latin typeface="Times New Roman"/>
                <a:cs typeface="Times New Roman"/>
              </a:rPr>
              <a:t>Speech: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identity</a:t>
            </a:r>
            <a:endParaRPr sz="1100">
              <a:latin typeface="Times New Roman"/>
              <a:cs typeface="Times New Roman"/>
            </a:endParaRPr>
          </a:p>
          <a:p>
            <a:pPr marL="12700" marR="86486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Is used </a:t>
            </a:r>
            <a:r>
              <a:rPr dirty="0" sz="1100" spc="-5">
                <a:latin typeface="Times New Roman"/>
                <a:cs typeface="Times New Roman"/>
              </a:rPr>
              <a:t>as an indication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membership </a:t>
            </a:r>
            <a:r>
              <a:rPr dirty="0" sz="1100">
                <a:latin typeface="Times New Roman"/>
                <a:cs typeface="Times New Roman"/>
              </a:rPr>
              <a:t>of different </a:t>
            </a:r>
            <a:r>
              <a:rPr dirty="0" sz="1100" spc="-5">
                <a:latin typeface="Times New Roman"/>
                <a:cs typeface="Times New Roman"/>
              </a:rPr>
              <a:t>social </a:t>
            </a:r>
            <a:r>
              <a:rPr dirty="0" sz="1100">
                <a:latin typeface="Times New Roman"/>
                <a:cs typeface="Times New Roman"/>
              </a:rPr>
              <a:t>groups </a:t>
            </a:r>
            <a:r>
              <a:rPr dirty="0" sz="1100" spc="-5">
                <a:latin typeface="Times New Roman"/>
                <a:cs typeface="Times New Roman"/>
              </a:rPr>
              <a:t>and speech communities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Membership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5">
                <a:latin typeface="Times New Roman"/>
                <a:cs typeface="Times New Roman"/>
              </a:rPr>
              <a:t> speech community</a:t>
            </a:r>
            <a:endParaRPr sz="1100">
              <a:latin typeface="Times New Roman"/>
              <a:cs typeface="Times New Roman"/>
            </a:endParaRPr>
          </a:p>
          <a:p>
            <a:pPr marL="12700" marR="112585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People who speak the same language are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always members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same speech community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 and speech </a:t>
            </a:r>
            <a:r>
              <a:rPr dirty="0" sz="1100">
                <a:latin typeface="Times New Roman"/>
                <a:cs typeface="Times New Roman"/>
              </a:rPr>
              <a:t>fellowship</a:t>
            </a:r>
            <a:endParaRPr sz="1100">
              <a:latin typeface="Times New Roman"/>
              <a:cs typeface="Times New Roman"/>
            </a:endParaRPr>
          </a:p>
          <a:p>
            <a:pPr marL="12700" marR="29908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 current state English </a:t>
            </a:r>
            <a:r>
              <a:rPr dirty="0" sz="1100">
                <a:latin typeface="Times New Roman"/>
                <a:cs typeface="Times New Roman"/>
              </a:rPr>
              <a:t>require us </a:t>
            </a:r>
            <a:r>
              <a:rPr dirty="0" sz="1100" spc="-5">
                <a:latin typeface="Times New Roman"/>
                <a:cs typeface="Times New Roman"/>
              </a:rPr>
              <a:t>to make </a:t>
            </a:r>
            <a:r>
              <a:rPr dirty="0" sz="1100">
                <a:latin typeface="Times New Roman"/>
                <a:cs typeface="Times New Roman"/>
              </a:rPr>
              <a:t>a distinction between </a:t>
            </a:r>
            <a:r>
              <a:rPr dirty="0" sz="1100" spc="-5">
                <a:latin typeface="Times New Roman"/>
                <a:cs typeface="Times New Roman"/>
              </a:rPr>
              <a:t>speech community and speech </a:t>
            </a:r>
            <a:r>
              <a:rPr dirty="0" sz="1100">
                <a:latin typeface="Times New Roman"/>
                <a:cs typeface="Times New Roman"/>
              </a:rPr>
              <a:t>fellowship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 and speech </a:t>
            </a:r>
            <a:r>
              <a:rPr dirty="0" sz="1100">
                <a:latin typeface="Times New Roman"/>
                <a:cs typeface="Times New Roman"/>
              </a:rPr>
              <a:t>fellowship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wide-ranging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‘association’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different varieties</a:t>
            </a:r>
            <a:endParaRPr sz="1100">
              <a:latin typeface="Times New Roman"/>
              <a:cs typeface="Times New Roman"/>
            </a:endParaRPr>
          </a:p>
          <a:p>
            <a:pPr marL="12700" marR="3070225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Subsumable as ‘sub-varieties’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broad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label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fellowship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Refers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8931475"/>
            <a:ext cx="74930" cy="39497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3823" y="8931475"/>
            <a:ext cx="3136900" cy="39497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Real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underlying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differences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4864100" cy="764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660775">
              <a:lnSpc>
                <a:spcPct val="1102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Su</a:t>
            </a:r>
            <a:r>
              <a:rPr dirty="0" sz="1100">
                <a:latin typeface="Times New Roman"/>
                <a:cs typeface="Times New Roman"/>
              </a:rPr>
              <a:t>b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 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fellowship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distinction </a:t>
            </a:r>
            <a:r>
              <a:rPr dirty="0" sz="1100" spc="-5">
                <a:latin typeface="Times New Roman"/>
                <a:cs typeface="Times New Roman"/>
              </a:rPr>
              <a:t>suggests </a:t>
            </a:r>
            <a:r>
              <a:rPr dirty="0" sz="1100">
                <a:latin typeface="Times New Roman"/>
                <a:cs typeface="Times New Roman"/>
              </a:rPr>
              <a:t>fellowship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be narrow </a:t>
            </a:r>
            <a:r>
              <a:rPr dirty="0" sz="1100" spc="-5">
                <a:latin typeface="Times New Roman"/>
                <a:cs typeface="Times New Roman"/>
              </a:rPr>
              <a:t>and close and community 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wider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fellowship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1403267"/>
            <a:ext cx="749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1385" y="1403267"/>
            <a:ext cx="58724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distinctions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dichotomies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NS/NNS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ESL/EFL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basis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1587976"/>
            <a:ext cx="8636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very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useful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1772685"/>
            <a:ext cx="495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6101" y="1772685"/>
            <a:ext cx="58559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Grouping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together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functional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400" y="1957381"/>
            <a:ext cx="5048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desirable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700" y="2863724"/>
            <a:ext cx="6359525" cy="5632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50545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Lesson-10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29845">
              <a:lnSpc>
                <a:spcPct val="100000"/>
              </a:lnSpc>
            </a:pPr>
            <a:r>
              <a:rPr dirty="0" sz="1400" spc="20">
                <a:latin typeface="Times New Roman"/>
                <a:cs typeface="Times New Roman"/>
              </a:rPr>
              <a:t>Models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60">
                <a:latin typeface="Times New Roman"/>
                <a:cs typeface="Times New Roman"/>
              </a:rPr>
              <a:t>World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Englishes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Topic-055:Models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World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Models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classification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Classifications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attempt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explain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differences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ways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classification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(ENL)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(ESL)</a:t>
            </a:r>
            <a:endParaRPr sz="1100">
              <a:latin typeface="Times New Roman"/>
              <a:cs typeface="Times New Roman"/>
            </a:endParaRPr>
          </a:p>
          <a:p>
            <a:pPr marL="12700" marR="38569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(EFL)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Shortcomings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classification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Misunderstandings caused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 ‘native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superior</a:t>
            </a:r>
            <a:endParaRPr sz="1100">
              <a:latin typeface="Times New Roman"/>
              <a:cs typeface="Times New Roman"/>
            </a:endParaRPr>
          </a:p>
          <a:p>
            <a:pPr marL="12700" marR="17557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Represents </a:t>
            </a:r>
            <a:r>
              <a:rPr dirty="0" sz="1100">
                <a:latin typeface="Times New Roman"/>
                <a:cs typeface="Times New Roman"/>
              </a:rPr>
              <a:t>a good </a:t>
            </a:r>
            <a:r>
              <a:rPr dirty="0" sz="1100" spc="-5">
                <a:latin typeface="Times New Roman"/>
                <a:cs typeface="Times New Roman"/>
              </a:rPr>
              <a:t>model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English language speakers in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countries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Shortcomings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this classification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Inadequacy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classification</a:t>
            </a:r>
            <a:endParaRPr sz="1100">
              <a:latin typeface="Times New Roman"/>
              <a:cs typeface="Times New Roman"/>
            </a:endParaRPr>
          </a:p>
          <a:p>
            <a:pPr marL="12700" marR="25006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more applicable to the contrast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city and countryside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Alternative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Geographical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Regional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49853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Individual users  </a:t>
            </a:r>
            <a:r>
              <a:rPr dirty="0" sz="1100" spc="-5">
                <a:latin typeface="Times New Roman"/>
                <a:cs typeface="Times New Roman"/>
              </a:rPr>
              <a:t>Advantages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Offer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pluralistic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superiority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multicultural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identities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64444"/>
            <a:ext cx="6367145" cy="8786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5">
                <a:latin typeface="Times New Roman"/>
                <a:cs typeface="Times New Roman"/>
              </a:rPr>
              <a:t>Topic-056:Strevens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20">
                <a:latin typeface="Times New Roman"/>
                <a:cs typeface="Times New Roman"/>
              </a:rPr>
              <a:t>Model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45">
                <a:latin typeface="Times New Roman"/>
                <a:cs typeface="Times New Roman"/>
              </a:rPr>
              <a:t>World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15">
                <a:latin typeface="Times New Roman"/>
                <a:cs typeface="Times New Roman"/>
              </a:rPr>
              <a:t>Englishes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(1980)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25">
                <a:latin typeface="Times New Roman"/>
                <a:cs typeface="Times New Roman"/>
              </a:rPr>
              <a:t>Strevens’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20">
                <a:latin typeface="Times New Roman"/>
                <a:cs typeface="Times New Roman"/>
              </a:rPr>
              <a:t>Model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(1980)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oldest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Shows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relationship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different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varieties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5">
                <a:latin typeface="Times New Roman"/>
                <a:cs typeface="Times New Roman"/>
              </a:rPr>
              <a:t> English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with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British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American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</a:t>
            </a:r>
            <a:endParaRPr sz="1200">
              <a:latin typeface="Times New Roman"/>
              <a:cs typeface="Times New Roman"/>
            </a:endParaRPr>
          </a:p>
          <a:p>
            <a:pPr marL="12700" marR="4239260">
              <a:lnSpc>
                <a:spcPct val="220400"/>
              </a:lnSpc>
            </a:pPr>
            <a:r>
              <a:rPr dirty="0" sz="1200" spc="25">
                <a:latin typeface="Times New Roman"/>
                <a:cs typeface="Times New Roman"/>
              </a:rPr>
              <a:t>Strevens’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50">
                <a:latin typeface="Times New Roman"/>
                <a:cs typeface="Times New Roman"/>
              </a:rPr>
              <a:t>World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65">
                <a:latin typeface="Times New Roman"/>
                <a:cs typeface="Times New Roman"/>
              </a:rPr>
              <a:t>Map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25">
                <a:latin typeface="Times New Roman"/>
                <a:cs typeface="Times New Roman"/>
              </a:rPr>
              <a:t>English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25">
                <a:latin typeface="Times New Roman"/>
                <a:cs typeface="Times New Roman"/>
              </a:rPr>
              <a:t>Strevens’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20">
                <a:latin typeface="Times New Roman"/>
                <a:cs typeface="Times New Roman"/>
              </a:rPr>
              <a:t>Model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Provides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historical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overview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development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globalized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Presents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all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varieties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having</a:t>
            </a:r>
            <a:r>
              <a:rPr dirty="0" sz="1200" spc="-5">
                <a:latin typeface="Times New Roman"/>
                <a:cs typeface="Times New Roman"/>
              </a:rPr>
              <a:t> either British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5">
                <a:latin typeface="Times New Roman"/>
                <a:cs typeface="Times New Roman"/>
              </a:rPr>
              <a:t> American standards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their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origin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Char char="•"/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25">
                <a:latin typeface="Times New Roman"/>
                <a:cs typeface="Times New Roman"/>
              </a:rPr>
              <a:t>Strevens’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20">
                <a:latin typeface="Times New Roman"/>
                <a:cs typeface="Times New Roman"/>
              </a:rPr>
              <a:t>Model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American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accounts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5">
                <a:latin typeface="Times New Roman"/>
                <a:cs typeface="Times New Roman"/>
              </a:rPr>
              <a:t> Canada,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 US,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Puerto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Rico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 Philippines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British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accounts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world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200" spc="30">
                <a:latin typeface="Times New Roman"/>
                <a:cs typeface="Times New Roman"/>
              </a:rPr>
              <a:t>Weakness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25">
                <a:latin typeface="Times New Roman"/>
                <a:cs typeface="Times New Roman"/>
              </a:rPr>
              <a:t>Strevens’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20">
                <a:latin typeface="Times New Roman"/>
                <a:cs typeface="Times New Roman"/>
              </a:rPr>
              <a:t>Model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Overlooks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varieties</a:t>
            </a:r>
            <a:r>
              <a:rPr dirty="0" sz="1200" spc="-5">
                <a:latin typeface="Times New Roman"/>
                <a:cs typeface="Times New Roman"/>
              </a:rPr>
              <a:t> that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developed</a:t>
            </a:r>
            <a:r>
              <a:rPr dirty="0" sz="1200" spc="-5">
                <a:latin typeface="Times New Roman"/>
                <a:cs typeface="Times New Roman"/>
              </a:rPr>
              <a:t> through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contact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with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local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vernaculars</a:t>
            </a:r>
            <a:endParaRPr sz="1200">
              <a:latin typeface="Times New Roman"/>
              <a:cs typeface="Times New Roman"/>
            </a:endParaRPr>
          </a:p>
          <a:p>
            <a:pPr marL="469900" marR="5080" indent="-228600">
              <a:lnSpc>
                <a:spcPct val="1102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Developed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without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any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direct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association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with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either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British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American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Standard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(e.g.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China)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469900" marR="14604" indent="-228600">
              <a:lnSpc>
                <a:spcPct val="110200"/>
              </a:lnSpc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Mainly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influenced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2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other</a:t>
            </a:r>
            <a:r>
              <a:rPr dirty="0" sz="1200" spc="2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culturally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relevant</a:t>
            </a:r>
            <a:r>
              <a:rPr dirty="0" sz="1200" spc="2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sources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that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are</a:t>
            </a:r>
            <a:r>
              <a:rPr dirty="0" sz="1200" spc="2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available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through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global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media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15">
                <a:latin typeface="Times New Roman"/>
                <a:cs typeface="Times New Roman"/>
              </a:rPr>
              <a:t>Topic-057:Mc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50">
                <a:latin typeface="Times New Roman"/>
                <a:cs typeface="Times New Roman"/>
              </a:rPr>
              <a:t>Arthur’s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2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45">
                <a:latin typeface="Times New Roman"/>
                <a:cs typeface="Times New Roman"/>
              </a:rPr>
              <a:t>World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1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Concentric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circle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5">
                <a:latin typeface="Times New Roman"/>
                <a:cs typeface="Times New Roman"/>
              </a:rPr>
              <a:t>Later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were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concentric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circles.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These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included: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Times New Roman"/>
              <a:cs typeface="Times New Roman"/>
            </a:endParaRPr>
          </a:p>
          <a:p>
            <a:pPr marL="508000" indent="-266700">
              <a:lnSpc>
                <a:spcPct val="100000"/>
              </a:lnSpc>
              <a:buFont typeface="Arial MT"/>
              <a:buChar char="•"/>
              <a:tabLst>
                <a:tab pos="507365" algn="l"/>
                <a:tab pos="508000" algn="l"/>
              </a:tabLst>
            </a:pPr>
            <a:r>
              <a:rPr dirty="0" sz="1200" spc="-5">
                <a:latin typeface="Times New Roman"/>
                <a:cs typeface="Times New Roman"/>
              </a:rPr>
              <a:t>McArthur’s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Gorlarch’s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Kachru’s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Concentric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circle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models</a:t>
            </a:r>
            <a:endParaRPr sz="1200">
              <a:latin typeface="Times New Roman"/>
              <a:cs typeface="Times New Roman"/>
            </a:endParaRPr>
          </a:p>
          <a:p>
            <a:pPr marL="469900" marR="74295" indent="-228600">
              <a:lnSpc>
                <a:spcPct val="110200"/>
              </a:lnSpc>
              <a:spcBef>
                <a:spcPts val="118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Concentric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circles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reflect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cline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intelligibility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that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all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varieties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(native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non-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native)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demonstrate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distance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-5">
                <a:latin typeface="Times New Roman"/>
                <a:cs typeface="Times New Roman"/>
              </a:rPr>
              <a:t> the center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5">
                <a:latin typeface="Times New Roman"/>
                <a:cs typeface="Times New Roman"/>
              </a:rPr>
              <a:t> 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circle </a:t>
            </a:r>
            <a:r>
              <a:rPr dirty="0" sz="1200">
                <a:latin typeface="Times New Roman"/>
                <a:cs typeface="Times New Roman"/>
              </a:rPr>
              <a:t>decreases</a:t>
            </a:r>
            <a:r>
              <a:rPr dirty="0" sz="1200" spc="-5">
                <a:latin typeface="Times New Roman"/>
                <a:cs typeface="Times New Roman"/>
              </a:rPr>
              <a:t> 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mutual intelligibility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5">
                <a:latin typeface="Times New Roman"/>
                <a:cs typeface="Times New Roman"/>
              </a:rPr>
              <a:t> 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variety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McArthur’s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Wheel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(1987)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wheel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divided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into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geographical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sections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varieties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become</a:t>
            </a:r>
            <a:r>
              <a:rPr dirty="0" sz="1200" spc="-5">
                <a:latin typeface="Times New Roman"/>
                <a:cs typeface="Times New Roman"/>
              </a:rPr>
              <a:t> more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localized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further</a:t>
            </a:r>
            <a:r>
              <a:rPr dirty="0" sz="1200" spc="-5">
                <a:latin typeface="Times New Roman"/>
                <a:cs typeface="Times New Roman"/>
              </a:rPr>
              <a:t> they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from</a:t>
            </a:r>
            <a:r>
              <a:rPr dirty="0" sz="1200" spc="-5">
                <a:latin typeface="Times New Roman"/>
                <a:cs typeface="Times New Roman"/>
              </a:rPr>
              <a:t> 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centre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McArthur’s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Wheel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(1987)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4879"/>
            <a:ext cx="4768215" cy="139192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469900" indent="-228600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Varieties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connected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to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previous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geographically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situated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variety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They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connected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linearly,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like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spoke,</a:t>
            </a:r>
            <a:r>
              <a:rPr dirty="0" sz="1200" spc="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back</a:t>
            </a:r>
            <a:r>
              <a:rPr dirty="0" sz="1200" spc="-5">
                <a:latin typeface="Times New Roman"/>
                <a:cs typeface="Times New Roman"/>
              </a:rPr>
              <a:t> to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centre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McArthur’s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Wheel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(1987)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lines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separating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variety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segments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are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permeable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Varieties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may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mutually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intelligible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2570867"/>
            <a:ext cx="6238875" cy="6487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30">
                <a:latin typeface="Times New Roman"/>
                <a:cs typeface="Times New Roman"/>
              </a:rPr>
              <a:t>Topic-058:Manfred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30">
                <a:latin typeface="Times New Roman"/>
                <a:cs typeface="Times New Roman"/>
              </a:rPr>
              <a:t>Gorlach’s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2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20">
                <a:latin typeface="Times New Roman"/>
                <a:cs typeface="Times New Roman"/>
              </a:rPr>
              <a:t>Model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20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3541395">
              <a:lnSpc>
                <a:spcPts val="2990"/>
              </a:lnSpc>
              <a:spcBef>
                <a:spcPts val="335"/>
              </a:spcBef>
            </a:pPr>
            <a:r>
              <a:rPr dirty="0" sz="1200" spc="-5">
                <a:latin typeface="Times New Roman"/>
                <a:cs typeface="Times New Roman"/>
              </a:rPr>
              <a:t>Manfred Gorlach’s Circle Model </a:t>
            </a:r>
            <a:r>
              <a:rPr dirty="0" sz="1200">
                <a:latin typeface="Times New Roman"/>
                <a:cs typeface="Times New Roman"/>
              </a:rPr>
              <a:t>of </a:t>
            </a:r>
            <a:r>
              <a:rPr dirty="0" sz="1200" spc="-5">
                <a:latin typeface="Times New Roman"/>
                <a:cs typeface="Times New Roman"/>
              </a:rPr>
              <a:t>English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Gorlach’s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Circle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5">
                <a:latin typeface="Times New Roman"/>
                <a:cs typeface="Times New Roman"/>
              </a:rPr>
              <a:t> English </a:t>
            </a:r>
            <a:r>
              <a:rPr dirty="0" sz="1200">
                <a:latin typeface="Times New Roman"/>
                <a:cs typeface="Times New Roman"/>
              </a:rPr>
              <a:t>(1988)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19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Similar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to McArthur’s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wheel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</a:t>
            </a:r>
            <a:endParaRPr sz="1200">
              <a:latin typeface="Times New Roman"/>
              <a:cs typeface="Times New Roman"/>
            </a:endParaRPr>
          </a:p>
          <a:p>
            <a:pPr marL="546100" indent="-3048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545465" algn="l"/>
                <a:tab pos="546100" algn="l"/>
              </a:tabLst>
            </a:pPr>
            <a:r>
              <a:rPr dirty="0" sz="1200" spc="-5">
                <a:latin typeface="Times New Roman"/>
                <a:cs typeface="Times New Roman"/>
              </a:rPr>
              <a:t>Standard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the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centre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surrounded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regional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standard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Gorlach’s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Circle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organized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with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greater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depth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spcBef>
                <a:spcPts val="15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Places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varieties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in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series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expanding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rings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Rings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5">
                <a:latin typeface="Times New Roman"/>
                <a:cs typeface="Times New Roman"/>
              </a:rPr>
              <a:t> Gorlach’s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circle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Times New Roman"/>
              <a:cs typeface="Times New Roman"/>
            </a:endParaRPr>
          </a:p>
          <a:p>
            <a:pPr marL="469900" indent="-2286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dirty="0" sz="1200" spc="-5">
                <a:latin typeface="Times New Roman"/>
                <a:cs typeface="Times New Roman"/>
              </a:rPr>
              <a:t>Regional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national</a:t>
            </a:r>
            <a:r>
              <a:rPr dirty="0" sz="1200" spc="-5">
                <a:latin typeface="Times New Roman"/>
                <a:cs typeface="Times New Roman"/>
              </a:rPr>
              <a:t> standards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(e.g.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(African,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British Canadian,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Caribbean,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South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Asian,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US)</a:t>
            </a:r>
            <a:endParaRPr sz="1200">
              <a:latin typeface="Times New Roman"/>
              <a:cs typeface="Times New Roman"/>
            </a:endParaRPr>
          </a:p>
          <a:p>
            <a:pPr marL="508000" indent="-266700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507365" algn="l"/>
                <a:tab pos="508000" algn="l"/>
              </a:tabLst>
            </a:pPr>
            <a:r>
              <a:rPr dirty="0" sz="1200" spc="-5">
                <a:latin typeface="Times New Roman"/>
                <a:cs typeface="Times New Roman"/>
              </a:rPr>
              <a:t>Sub/Semi-regional</a:t>
            </a:r>
            <a:r>
              <a:rPr dirty="0" sz="1200" spc="28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standards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(e.g.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Indian,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Irish,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Kenyan,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Papua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New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Guinean)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Times New Roman"/>
              <a:buAutoNum type="arabicPeriod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5">
                <a:latin typeface="Times New Roman"/>
                <a:cs typeface="Times New Roman"/>
              </a:rPr>
              <a:t>Rings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5">
                <a:latin typeface="Times New Roman"/>
                <a:cs typeface="Times New Roman"/>
              </a:rPr>
              <a:t> Gorlach’s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circle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model</a:t>
            </a:r>
            <a:endParaRPr sz="1200">
              <a:latin typeface="Times New Roman"/>
              <a:cs typeface="Times New Roman"/>
            </a:endParaRPr>
          </a:p>
          <a:p>
            <a:pPr marL="164465" marR="4312285" indent="-152400">
              <a:lnSpc>
                <a:spcPct val="207399"/>
              </a:lnSpc>
              <a:buAutoNum type="arabicPeriod" startAt="3"/>
              <a:tabLst>
                <a:tab pos="165100" algn="l"/>
              </a:tabLst>
            </a:pPr>
            <a:r>
              <a:rPr dirty="0" sz="1200" spc="-5">
                <a:latin typeface="Times New Roman"/>
                <a:cs typeface="Times New Roman"/>
              </a:rPr>
              <a:t>Non-standard</a:t>
            </a:r>
            <a:r>
              <a:rPr dirty="0" sz="1200" spc="29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 </a:t>
            </a:r>
            <a:r>
              <a:rPr dirty="0" sz="1200">
                <a:latin typeface="Times New Roman"/>
                <a:cs typeface="Times New Roman"/>
              </a:rPr>
              <a:t> (e.g.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Aboriginal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English,</a:t>
            </a:r>
            <a:endParaRPr sz="1200">
              <a:latin typeface="Times New Roman"/>
              <a:cs typeface="Times New Roman"/>
            </a:endParaRPr>
          </a:p>
          <a:p>
            <a:pPr marL="12700" marR="4312285" indent="151765">
              <a:lnSpc>
                <a:spcPct val="207399"/>
              </a:lnSpc>
            </a:pPr>
            <a:r>
              <a:rPr dirty="0" sz="1200" spc="-5">
                <a:latin typeface="Times New Roman"/>
                <a:cs typeface="Times New Roman"/>
              </a:rPr>
              <a:t>Jamaican English, Yorkshire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dialect)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Times New Roman"/>
              <a:cs typeface="Times New Roman"/>
            </a:endParaRPr>
          </a:p>
          <a:p>
            <a:pPr marL="164465" indent="-152400">
              <a:lnSpc>
                <a:spcPct val="100000"/>
              </a:lnSpc>
              <a:buAutoNum type="arabicPeriod" startAt="4"/>
              <a:tabLst>
                <a:tab pos="165100" algn="l"/>
              </a:tabLst>
            </a:pPr>
            <a:r>
              <a:rPr dirty="0" sz="1200" spc="-5">
                <a:latin typeface="Times New Roman"/>
                <a:cs typeface="Times New Roman"/>
              </a:rPr>
              <a:t>Pidgins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Creoles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(e.g.</a:t>
            </a:r>
            <a:endParaRPr sz="1200">
              <a:latin typeface="Times New Roman"/>
              <a:cs typeface="Times New Roman"/>
            </a:endParaRPr>
          </a:p>
          <a:p>
            <a:pPr marL="12700" marR="4495800" indent="151765">
              <a:lnSpc>
                <a:spcPct val="207399"/>
              </a:lnSpc>
            </a:pPr>
            <a:r>
              <a:rPr dirty="0" sz="1200" spc="-5">
                <a:latin typeface="Times New Roman"/>
                <a:cs typeface="Times New Roman"/>
              </a:rPr>
              <a:t>Cameroon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Pidgin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 </a:t>
            </a:r>
            <a:r>
              <a:rPr dirty="0" sz="1200" spc="-28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andTokPisin)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842244"/>
            <a:ext cx="6363970" cy="4250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Topic-059:Modiano’s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Centripetal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Circles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International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885440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Modiano’s Centripetal Circles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International English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Modiano’s Centripetal Circles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 English</a:t>
            </a:r>
            <a:r>
              <a:rPr dirty="0" sz="1100">
                <a:latin typeface="Times New Roman"/>
                <a:cs typeface="Times New Roman"/>
              </a:rPr>
              <a:t> (1999)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geographical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divisions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12700" marR="17926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Individual users </a:t>
            </a:r>
            <a:r>
              <a:rPr dirty="0" sz="1100" spc="-5">
                <a:latin typeface="Times New Roman"/>
                <a:cs typeface="Times New Roman"/>
              </a:rPr>
              <a:t>and their choices </a:t>
            </a:r>
            <a:r>
              <a:rPr dirty="0" sz="1100">
                <a:latin typeface="Times New Roman"/>
                <a:cs typeface="Times New Roman"/>
              </a:rPr>
              <a:t>of a variety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given </a:t>
            </a:r>
            <a:r>
              <a:rPr dirty="0" sz="1100" spc="-5">
                <a:latin typeface="Times New Roman"/>
                <a:cs typeface="Times New Roman"/>
              </a:rPr>
              <a:t>equal importance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Modiano’s Centripetal Circles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International English</a:t>
            </a:r>
            <a:r>
              <a:rPr dirty="0" sz="1100">
                <a:latin typeface="Times New Roman"/>
                <a:cs typeface="Times New Roman"/>
              </a:rPr>
              <a:t> (1999)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Based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mutual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comprehensibility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Implications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 ‘Centripetal’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“centripetal”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proficiency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users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 </a:t>
            </a:r>
            <a:r>
              <a:rPr dirty="0" sz="1100">
                <a:latin typeface="Times New Roman"/>
                <a:cs typeface="Times New Roman"/>
              </a:rPr>
              <a:t>global </a:t>
            </a:r>
            <a:r>
              <a:rPr dirty="0" sz="1100" spc="-5">
                <a:latin typeface="Times New Roman"/>
                <a:cs typeface="Times New Roman"/>
              </a:rPr>
              <a:t>English-speaking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Implications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 ‘Centripetal’</a:t>
            </a:r>
            <a:endParaRPr sz="1100">
              <a:latin typeface="Times New Roman"/>
              <a:cs typeface="Times New Roman"/>
            </a:endParaRPr>
          </a:p>
          <a:p>
            <a:pPr marL="12700" marR="120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drawn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English-speaking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efforts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themselves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comprehensible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context they </a:t>
            </a:r>
            <a:r>
              <a:rPr dirty="0" sz="1100">
                <a:latin typeface="Times New Roman"/>
                <a:cs typeface="Times New Roman"/>
              </a:rPr>
              <a:t>find </a:t>
            </a:r>
            <a:r>
              <a:rPr dirty="0" sz="1100" spc="-5">
                <a:latin typeface="Times New Roman"/>
                <a:cs typeface="Times New Roman"/>
              </a:rPr>
              <a:t>themselves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Implications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 ‘Centripetal’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replace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revered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centre</a:t>
            </a:r>
            <a:endParaRPr sz="1100">
              <a:latin typeface="Times New Roman"/>
              <a:cs typeface="Times New Roman"/>
            </a:endParaRPr>
          </a:p>
          <a:p>
            <a:pPr marL="12700" marR="47688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acceptance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Language”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(EIL)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  <a:hlinkClick r:id="rId2"/>
              </a:rPr>
              <a:t>Source:http://everythingaboutelf.blogspot.com/2016/12/world</a:t>
            </a:r>
            <a:r>
              <a:rPr dirty="0" sz="1100" spc="-10">
                <a:latin typeface="Times New Roman"/>
                <a:cs typeface="Times New Roman"/>
                <a:hlinkClick r:id="rId2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englishes.html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comprises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5083562"/>
            <a:ext cx="749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6352" y="5083562"/>
            <a:ext cx="58566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Proficient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irrespective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being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5251181"/>
            <a:ext cx="6358890" cy="4075429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12700" marR="28809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Able to speak without any strong </a:t>
            </a:r>
            <a:r>
              <a:rPr dirty="0" sz="1100">
                <a:latin typeface="Times New Roman"/>
                <a:cs typeface="Times New Roman"/>
              </a:rPr>
              <a:t>or regional </a:t>
            </a:r>
            <a:r>
              <a:rPr dirty="0" sz="1100" spc="-5">
                <a:latin typeface="Times New Roman"/>
                <a:cs typeface="Times New Roman"/>
              </a:rPr>
              <a:t>accent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Modiano’s Centripetal Circles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 English</a:t>
            </a:r>
            <a:r>
              <a:rPr dirty="0" sz="1100">
                <a:latin typeface="Times New Roman"/>
                <a:cs typeface="Times New Roman"/>
              </a:rPr>
              <a:t> (1999)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next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consists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rather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Modiano’s Centripetal Circles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 English</a:t>
            </a:r>
            <a:r>
              <a:rPr dirty="0" sz="1100">
                <a:latin typeface="Times New Roman"/>
                <a:cs typeface="Times New Roman"/>
              </a:rPr>
              <a:t> (1999)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learners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13061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final band outside </a:t>
            </a:r>
            <a:r>
              <a:rPr dirty="0" sz="1100" spc="-5">
                <a:latin typeface="Times New Roman"/>
                <a:cs typeface="Times New Roman"/>
              </a:rPr>
              <a:t>this circle</a:t>
            </a:r>
            <a:r>
              <a:rPr dirty="0" sz="1100">
                <a:latin typeface="Times New Roman"/>
                <a:cs typeface="Times New Roman"/>
              </a:rPr>
              <a:t> represents </a:t>
            </a:r>
            <a:r>
              <a:rPr dirty="0" sz="1100" spc="-5">
                <a:latin typeface="Times New Roman"/>
                <a:cs typeface="Times New Roman"/>
              </a:rPr>
              <a:t>those who </a:t>
            </a:r>
            <a:r>
              <a:rPr dirty="0" sz="1100">
                <a:latin typeface="Times New Roman"/>
                <a:cs typeface="Times New Roman"/>
              </a:rPr>
              <a:t>do not know </a:t>
            </a:r>
            <a:r>
              <a:rPr dirty="0" sz="1100" spc="-5">
                <a:latin typeface="Times New Roman"/>
                <a:cs typeface="Times New Roman"/>
              </a:rPr>
              <a:t>English at all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Weaknesses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Modiano’s model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English?</a:t>
            </a:r>
            <a:endParaRPr sz="1100">
              <a:latin typeface="Times New Roman"/>
              <a:cs typeface="Times New Roman"/>
            </a:endParaRPr>
          </a:p>
          <a:p>
            <a:pPr marL="12700" marR="6267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5">
                <a:latin typeface="Times New Roman"/>
                <a:cs typeface="Times New Roman"/>
              </a:rPr>
              <a:t> we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differentiate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non-proficient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5">
                <a:latin typeface="Times New Roman"/>
                <a:cs typeface="Times New Roman"/>
              </a:rPr>
              <a:t> English?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Weaknesses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Modiano’s model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5">
                <a:latin typeface="Times New Roman"/>
                <a:cs typeface="Times New Roman"/>
              </a:rPr>
              <a:t> we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differentiate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strong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regional</a:t>
            </a:r>
            <a:r>
              <a:rPr dirty="0" sz="1100" spc="-5">
                <a:latin typeface="Times New Roman"/>
                <a:cs typeface="Times New Roman"/>
              </a:rPr>
              <a:t> accents?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differentiation?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Topic-060:Modiano’s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as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International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(EIL)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</a:t>
            </a:r>
            <a:r>
              <a:rPr dirty="0" sz="1100" spc="20">
                <a:latin typeface="Times New Roman"/>
                <a:cs typeface="Times New Roman"/>
              </a:rPr>
              <a:t>l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Modiano’s model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23183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Based </a:t>
            </a:r>
            <a:r>
              <a:rPr dirty="0" sz="1100">
                <a:latin typeface="Times New Roman"/>
                <a:cs typeface="Times New Roman"/>
              </a:rPr>
              <a:t>on features of </a:t>
            </a:r>
            <a:r>
              <a:rPr dirty="0" sz="1100" spc="-5">
                <a:latin typeface="Times New Roman"/>
                <a:cs typeface="Times New Roman"/>
              </a:rPr>
              <a:t>English common to all </a:t>
            </a:r>
            <a:r>
              <a:rPr dirty="0" sz="1100">
                <a:latin typeface="Times New Roman"/>
                <a:cs typeface="Times New Roman"/>
              </a:rPr>
              <a:t>varieties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Modiano’s model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 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comprises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(EIL)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EIL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consists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697855" cy="131889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Modiano’s model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-5">
                <a:latin typeface="Times New Roman"/>
                <a:cs typeface="Times New Roman"/>
              </a:rPr>
              <a:t> 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Create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mutual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comprehensibility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Modiano’s model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Languge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second circle consists </a:t>
            </a:r>
            <a:r>
              <a:rPr dirty="0" sz="1100">
                <a:latin typeface="Times New Roman"/>
                <a:cs typeface="Times New Roman"/>
              </a:rPr>
              <a:t>of features </a:t>
            </a:r>
            <a:r>
              <a:rPr dirty="0" sz="1100" spc="-5">
                <a:latin typeface="Times New Roman"/>
                <a:cs typeface="Times New Roman"/>
              </a:rPr>
              <a:t>which may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not become </a:t>
            </a:r>
            <a:r>
              <a:rPr dirty="0" sz="1100" spc="-5">
                <a:latin typeface="Times New Roman"/>
                <a:cs typeface="Times New Roman"/>
              </a:rPr>
              <a:t>internationally common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Modiano’s model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 Languge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consists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1940305"/>
            <a:ext cx="176530" cy="94932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i.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ii.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iii.  iv.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v.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8900" y="1940305"/>
            <a:ext cx="2266950" cy="949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6045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American English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Foreign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2863849"/>
            <a:ext cx="6368415" cy="1872614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Weaknesses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Modiano’s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Difficulty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distinguishing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non-core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Equating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 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‘competent’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non-natives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Labelling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varieties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‘major’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established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Outer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varieties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(such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English)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‘local’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Strengths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Modiano’s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Disapproves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Cares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Understands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geopolitical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Focuses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proficiency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giving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globally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functioning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position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700" y="5648948"/>
            <a:ext cx="6096000" cy="3785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286385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Lesson-11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L="197485">
              <a:lnSpc>
                <a:spcPct val="100000"/>
              </a:lnSpc>
            </a:pPr>
            <a:r>
              <a:rPr dirty="0" sz="1400" spc="55">
                <a:latin typeface="Times New Roman"/>
                <a:cs typeface="Times New Roman"/>
              </a:rPr>
              <a:t>Kachru’s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55">
                <a:latin typeface="Times New Roman"/>
                <a:cs typeface="Times New Roman"/>
              </a:rPr>
              <a:t>Three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30">
                <a:latin typeface="Times New Roman"/>
                <a:cs typeface="Times New Roman"/>
              </a:rPr>
              <a:t>Circle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25">
                <a:latin typeface="Times New Roman"/>
                <a:cs typeface="Times New Roman"/>
              </a:rPr>
              <a:t>Model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60">
                <a:latin typeface="Times New Roman"/>
                <a:cs typeface="Times New Roman"/>
              </a:rPr>
              <a:t>World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30">
                <a:latin typeface="Times New Roman"/>
                <a:cs typeface="Times New Roman"/>
              </a:rPr>
              <a:t>English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Topic-061:The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Inner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4062729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Spread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 the inner circle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Inner</a:t>
            </a:r>
            <a:r>
              <a:rPr dirty="0" sz="1100" spc="-5">
                <a:latin typeface="Times New Roman"/>
                <a:cs typeface="Times New Roman"/>
              </a:rPr>
              <a:t> Circle</a:t>
            </a:r>
            <a:endParaRPr sz="1100">
              <a:latin typeface="Times New Roman"/>
              <a:cs typeface="Times New Roman"/>
            </a:endParaRPr>
          </a:p>
          <a:p>
            <a:pPr marL="12700" marR="89725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This classification is in accordance with the three-way categorization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ENL, ESL and EFL.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Inner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UK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Canada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Australia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Zealand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12700" marR="21793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reached </a:t>
            </a:r>
            <a:r>
              <a:rPr dirty="0" sz="1100" spc="-5">
                <a:latin typeface="Times New Roman"/>
                <a:cs typeface="Times New Roman"/>
              </a:rPr>
              <a:t>these countries as </a:t>
            </a:r>
            <a:r>
              <a:rPr dirty="0" sz="1100">
                <a:latin typeface="Times New Roman"/>
                <a:cs typeface="Times New Roman"/>
              </a:rPr>
              <a:t>a result of </a:t>
            </a:r>
            <a:r>
              <a:rPr dirty="0" sz="1100" spc="-5">
                <a:latin typeface="Times New Roman"/>
                <a:cs typeface="Times New Roman"/>
              </a:rPr>
              <a:t>its </a:t>
            </a:r>
            <a:r>
              <a:rPr dirty="0" sz="1100">
                <a:latin typeface="Times New Roman"/>
                <a:cs typeface="Times New Roman"/>
              </a:rPr>
              <a:t>first diaspora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Diaspora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migration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away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their  established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ancestral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homeland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58255" cy="870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40385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Englis</a:t>
            </a:r>
            <a:r>
              <a:rPr dirty="0" sz="1100">
                <a:latin typeface="Times New Roman"/>
                <a:cs typeface="Times New Roman"/>
              </a:rPr>
              <a:t>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diaspora 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diaspora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Britain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carried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 Zealand,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North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</a:t>
            </a:r>
            <a:endParaRPr sz="1100">
              <a:latin typeface="Times New Roman"/>
              <a:cs typeface="Times New Roman"/>
            </a:endParaRPr>
          </a:p>
          <a:p>
            <a:pPr marL="12700" marR="13646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They established substantial settlements and </a:t>
            </a:r>
            <a:r>
              <a:rPr dirty="0" sz="1100">
                <a:latin typeface="Times New Roman"/>
                <a:cs typeface="Times New Roman"/>
              </a:rPr>
              <a:t>displaced </a:t>
            </a:r>
            <a:r>
              <a:rPr dirty="0" sz="1100" spc="-5">
                <a:latin typeface="Times New Roman"/>
                <a:cs typeface="Times New Roman"/>
              </a:rPr>
              <a:t>the indigenous </a:t>
            </a:r>
            <a:r>
              <a:rPr dirty="0" sz="1100">
                <a:latin typeface="Times New Roman"/>
                <a:cs typeface="Times New Roman"/>
              </a:rPr>
              <a:t>population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inner circle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Traditional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monolingual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found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sometimes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Dominant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around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Topic-062: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Outer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Pakistan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Philippines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Singapore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Nigeria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Gambia</a:t>
            </a:r>
            <a:endParaRPr sz="1100">
              <a:latin typeface="Times New Roman"/>
              <a:cs typeface="Times New Roman"/>
            </a:endParaRPr>
          </a:p>
          <a:p>
            <a:pPr marL="12700" marR="432371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Spread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 the </a:t>
            </a:r>
            <a:r>
              <a:rPr dirty="0" sz="1100">
                <a:latin typeface="Times New Roman"/>
                <a:cs typeface="Times New Roman"/>
              </a:rPr>
              <a:t>outer </a:t>
            </a:r>
            <a:r>
              <a:rPr dirty="0" sz="1100" spc="-5">
                <a:latin typeface="Times New Roman"/>
                <a:cs typeface="Times New Roman"/>
              </a:rPr>
              <a:t>circle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diaspora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diaspora</a:t>
            </a:r>
            <a:r>
              <a:rPr dirty="0" sz="1100" spc="-5">
                <a:latin typeface="Times New Roman"/>
                <a:cs typeface="Times New Roman"/>
              </a:rPr>
              <a:t> spread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through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Africa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Settlements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fewer</a:t>
            </a:r>
            <a:endParaRPr sz="1100">
              <a:latin typeface="Times New Roman"/>
              <a:cs typeface="Times New Roman"/>
            </a:endParaRPr>
          </a:p>
          <a:p>
            <a:pPr marL="12700" marR="29317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Maintained the indigenous </a:t>
            </a:r>
            <a:r>
              <a:rPr dirty="0" sz="1100">
                <a:latin typeface="Times New Roman"/>
                <a:cs typeface="Times New Roman"/>
              </a:rPr>
              <a:t>population </a:t>
            </a:r>
            <a:r>
              <a:rPr dirty="0" sz="1100" spc="-5">
                <a:latin typeface="Times New Roman"/>
                <a:cs typeface="Times New Roman"/>
              </a:rPr>
              <a:t>in subjugation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diaspora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diaspora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Allowed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21463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continued to </a:t>
            </a:r>
            <a:r>
              <a:rPr dirty="0" sz="1100">
                <a:latin typeface="Times New Roman"/>
                <a:cs typeface="Times New Roman"/>
              </a:rPr>
              <a:t>be used </a:t>
            </a:r>
            <a:r>
              <a:rPr dirty="0" sz="1100" spc="-5">
                <a:latin typeface="Times New Roman"/>
                <a:cs typeface="Times New Roman"/>
              </a:rPr>
              <a:t>even after the </a:t>
            </a:r>
            <a:r>
              <a:rPr dirty="0" sz="1100">
                <a:latin typeface="Times New Roman"/>
                <a:cs typeface="Times New Roman"/>
              </a:rPr>
              <a:t>departure of </a:t>
            </a:r>
            <a:r>
              <a:rPr dirty="0" sz="1100" spc="-5">
                <a:latin typeface="Times New Roman"/>
                <a:cs typeface="Times New Roman"/>
              </a:rPr>
              <a:t>the British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Became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colonies</a:t>
            </a:r>
            <a:endParaRPr sz="1100">
              <a:latin typeface="Times New Roman"/>
              <a:cs typeface="Times New Roman"/>
            </a:endParaRPr>
          </a:p>
          <a:p>
            <a:pPr marL="12700" marR="12954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>
                <a:latin typeface="Times New Roman"/>
                <a:cs typeface="Times New Roman"/>
              </a:rPr>
              <a:t>brought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varieties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‘second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varieties’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outer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two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repertoire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enjoys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policies</a:t>
            </a:r>
            <a:endParaRPr sz="1100">
              <a:latin typeface="Times New Roman"/>
              <a:cs typeface="Times New Roman"/>
            </a:endParaRPr>
          </a:p>
          <a:p>
            <a:pPr marL="12700" marR="1060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is either the </a:t>
            </a:r>
            <a:r>
              <a:rPr dirty="0" sz="1100">
                <a:latin typeface="Times New Roman"/>
                <a:cs typeface="Times New Roman"/>
              </a:rPr>
              <a:t>official or a </a:t>
            </a:r>
            <a:r>
              <a:rPr dirty="0" sz="1100" spc="-5">
                <a:latin typeface="Times New Roman"/>
                <a:cs typeface="Times New Roman"/>
              </a:rPr>
              <a:t>major </a:t>
            </a:r>
            <a:r>
              <a:rPr dirty="0" sz="1100">
                <a:latin typeface="Times New Roman"/>
                <a:cs typeface="Times New Roman"/>
              </a:rPr>
              <a:t>government </a:t>
            </a:r>
            <a:r>
              <a:rPr dirty="0" sz="1100" spc="-5">
                <a:latin typeface="Times New Roman"/>
                <a:cs typeface="Times New Roman"/>
              </a:rPr>
              <a:t>language e.g. </a:t>
            </a:r>
            <a:r>
              <a:rPr dirty="0" sz="1100">
                <a:latin typeface="Times New Roman"/>
                <a:cs typeface="Times New Roman"/>
              </a:rPr>
              <a:t>India, </a:t>
            </a:r>
            <a:r>
              <a:rPr dirty="0" sz="1100" spc="-5">
                <a:latin typeface="Times New Roman"/>
                <a:cs typeface="Times New Roman"/>
              </a:rPr>
              <a:t>Pakistan, Singapore, Zambia, Nigeria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outer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performs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social,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educational,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administrative,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literary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domains: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Literature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Courts</a:t>
            </a:r>
            <a:endParaRPr sz="1100">
              <a:latin typeface="Times New Roman"/>
              <a:cs typeface="Times New Roman"/>
            </a:endParaRPr>
          </a:p>
          <a:p>
            <a:pPr marL="12700" marR="43453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Media and </a:t>
            </a:r>
            <a:r>
              <a:rPr dirty="0" sz="1100">
                <a:latin typeface="Times New Roman"/>
                <a:cs typeface="Times New Roman"/>
              </a:rPr>
              <a:t>broadcast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Topic-063: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Expanding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Circle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 </a:t>
            </a:r>
            <a:r>
              <a:rPr dirty="0" sz="1100">
                <a:latin typeface="Times New Roman"/>
                <a:cs typeface="Times New Roman"/>
              </a:rPr>
              <a:t> Includes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countries: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China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>
                <a:latin typeface="Times New Roman"/>
                <a:cs typeface="Times New Roman"/>
              </a:rPr>
              <a:t>Indonesia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Russia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Saudi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Arabia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71590" cy="884364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Japan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Korea</a:t>
            </a:r>
            <a:endParaRPr sz="1100">
              <a:latin typeface="Times New Roman"/>
              <a:cs typeface="Times New Roman"/>
            </a:endParaRPr>
          </a:p>
          <a:p>
            <a:pPr marL="12700" marR="538670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Englis</a:t>
            </a:r>
            <a:r>
              <a:rPr dirty="0" sz="1100">
                <a:latin typeface="Times New Roman"/>
                <a:cs typeface="Times New Roman"/>
              </a:rPr>
              <a:t>h</a:t>
            </a:r>
            <a:r>
              <a:rPr dirty="0" sz="1100" spc="-5">
                <a:latin typeface="Times New Roman"/>
                <a:cs typeface="Times New Roman"/>
              </a:rPr>
              <a:t> Diaspora  </a:t>
            </a:r>
            <a:r>
              <a:rPr dirty="0" sz="1100" spc="-5">
                <a:latin typeface="Times New Roman"/>
                <a:cs typeface="Times New Roman"/>
              </a:rPr>
              <a:t>Third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Diaspora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Distinct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dispersal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5">
                <a:latin typeface="Times New Roman"/>
                <a:cs typeface="Times New Roman"/>
              </a:rPr>
              <a:t> two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Diasporas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</a:t>
            </a:r>
            <a:endParaRPr sz="1100">
              <a:latin typeface="Times New Roman"/>
              <a:cs typeface="Times New Roman"/>
            </a:endParaRPr>
          </a:p>
          <a:p>
            <a:pPr marL="12700" marR="2747010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was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transplanted through speaker migration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Diaspora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Third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Diaspora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Britain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East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Asia,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Middle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East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Europe</a:t>
            </a:r>
            <a:endParaRPr sz="1100">
              <a:latin typeface="Times New Roman"/>
              <a:cs typeface="Times New Roman"/>
            </a:endParaRPr>
          </a:p>
          <a:p>
            <a:pPr marL="12700" marR="222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individuals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acquiring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additional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intranational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public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life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restricted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domain</a:t>
            </a:r>
            <a:endParaRPr sz="1100">
              <a:latin typeface="Times New Roman"/>
              <a:cs typeface="Times New Roman"/>
            </a:endParaRPr>
          </a:p>
          <a:p>
            <a:pPr marL="12700" marR="35369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Dependent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Situation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Asians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European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 introducing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schooling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benefit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technological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developments</a:t>
            </a:r>
            <a:endParaRPr sz="1100">
              <a:latin typeface="Times New Roman"/>
              <a:cs typeface="Times New Roman"/>
            </a:endParaRPr>
          </a:p>
          <a:p>
            <a:pPr marL="12700" marR="1623060">
              <a:lnSpc>
                <a:spcPts val="1260"/>
              </a:lnSpc>
              <a:spcBef>
                <a:spcPts val="225"/>
              </a:spcBef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Topic-064: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Status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Functions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of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Outer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Expanding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Circles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Range 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performs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Formal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Business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Legal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</a:t>
            </a:r>
            <a:endParaRPr sz="1100">
              <a:latin typeface="Times New Roman"/>
              <a:cs typeface="Times New Roman"/>
            </a:endParaRPr>
          </a:p>
          <a:p>
            <a:pPr marL="12700" marR="50482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Administration 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Family</a:t>
            </a:r>
            <a:endParaRPr sz="1100">
              <a:latin typeface="Times New Roman"/>
              <a:cs typeface="Times New Roman"/>
            </a:endParaRPr>
          </a:p>
          <a:p>
            <a:pPr marL="12700" marR="49974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Socia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networks  </a:t>
            </a:r>
            <a:r>
              <a:rPr dirty="0" sz="1100" spc="-5">
                <a:latin typeface="Times New Roman"/>
                <a:cs typeface="Times New Roman"/>
              </a:rPr>
              <a:t>Range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across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utterances</a:t>
            </a:r>
            <a:endParaRPr sz="1100">
              <a:latin typeface="Times New Roman"/>
              <a:cs typeface="Times New Roman"/>
            </a:endParaRPr>
          </a:p>
          <a:p>
            <a:pPr marL="12700" marR="34505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choice </a:t>
            </a:r>
            <a:r>
              <a:rPr dirty="0" sz="1100">
                <a:latin typeface="Times New Roman"/>
                <a:cs typeface="Times New Roman"/>
              </a:rPr>
              <a:t>of variety </a:t>
            </a:r>
            <a:r>
              <a:rPr dirty="0" sz="1100" spc="-5">
                <a:latin typeface="Times New Roman"/>
                <a:cs typeface="Times New Roman"/>
              </a:rPr>
              <a:t>is linked with identity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Depth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Variety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socioeconomic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levels</a:t>
            </a:r>
            <a:endParaRPr sz="1100">
              <a:latin typeface="Times New Roman"/>
              <a:cs typeface="Times New Roman"/>
            </a:endParaRPr>
          </a:p>
          <a:p>
            <a:pPr marL="12700" marR="42081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professions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Depth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degrees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cline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Basilect: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little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Acrolect: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socioeconomic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Topic-065: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Norm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Providing,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Norm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Developing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Norm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Dependent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926465" algn="l"/>
                <a:tab pos="2755265" algn="l"/>
              </a:tabLst>
            </a:pPr>
            <a:r>
              <a:rPr dirty="0" sz="1100">
                <a:latin typeface="Times New Roman"/>
                <a:cs typeface="Times New Roman"/>
              </a:rPr>
              <a:t>Inner </a:t>
            </a:r>
            <a:r>
              <a:rPr dirty="0" sz="1100" spc="-5">
                <a:latin typeface="Times New Roman"/>
                <a:cs typeface="Times New Roman"/>
              </a:rPr>
              <a:t>circle:	Norm	</a:t>
            </a:r>
            <a:r>
              <a:rPr dirty="0" sz="1100">
                <a:latin typeface="Times New Roman"/>
                <a:cs typeface="Times New Roman"/>
              </a:rPr>
              <a:t>providing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726440" cy="579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Oute</a:t>
            </a:r>
            <a:r>
              <a:rPr dirty="0" sz="1100">
                <a:latin typeface="Times New Roman"/>
                <a:cs typeface="Times New Roman"/>
              </a:rPr>
              <a:t>r</a:t>
            </a:r>
            <a:r>
              <a:rPr dirty="0" sz="1100" spc="-5">
                <a:latin typeface="Times New Roman"/>
                <a:cs typeface="Times New Roman"/>
              </a:rPr>
              <a:t> circle:  </a:t>
            </a:r>
            <a:r>
              <a:rPr dirty="0" sz="1100" spc="-5">
                <a:latin typeface="Times New Roman"/>
                <a:cs typeface="Times New Roman"/>
              </a:rPr>
              <a:t>Expanding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16100" y="664444"/>
            <a:ext cx="35115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Norm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44900" y="664444"/>
            <a:ext cx="6464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developing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6100" y="1033862"/>
            <a:ext cx="35115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Norm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44900" y="1033862"/>
            <a:ext cx="6000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dependent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700" y="1201481"/>
            <a:ext cx="3665854" cy="427418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Norm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(Inner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endParaRPr sz="1100">
              <a:latin typeface="Times New Roman"/>
              <a:cs typeface="Times New Roman"/>
            </a:endParaRPr>
          </a:p>
          <a:p>
            <a:pPr marL="12700" marR="21221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Provide</a:t>
            </a:r>
            <a:r>
              <a:rPr dirty="0" sz="1100">
                <a:latin typeface="Times New Roman"/>
                <a:cs typeface="Times New Roman"/>
              </a:rPr>
              <a:t>s</a:t>
            </a:r>
            <a:r>
              <a:rPr dirty="0" sz="1100" spc="-5">
                <a:latin typeface="Times New Roman"/>
                <a:cs typeface="Times New Roman"/>
              </a:rPr>
              <a:t> textbooks  </a:t>
            </a:r>
            <a:r>
              <a:rPr dirty="0" sz="1100" spc="-5">
                <a:latin typeface="Times New Roman"/>
                <a:cs typeface="Times New Roman"/>
              </a:rPr>
              <a:t>Norm-Dependent </a:t>
            </a:r>
            <a:r>
              <a:rPr dirty="0" sz="1100">
                <a:latin typeface="Times New Roman"/>
                <a:cs typeface="Times New Roman"/>
              </a:rPr>
              <a:t> (Expanding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Includes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performance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endParaRPr sz="1100">
              <a:latin typeface="Times New Roman"/>
              <a:cs typeface="Times New Roman"/>
            </a:endParaRPr>
          </a:p>
          <a:p>
            <a:pPr marL="12700" marR="10090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Dependent </a:t>
            </a:r>
            <a:r>
              <a:rPr dirty="0" sz="1100">
                <a:latin typeface="Times New Roman"/>
                <a:cs typeface="Times New Roman"/>
              </a:rPr>
              <a:t>on native </a:t>
            </a:r>
            <a:r>
              <a:rPr dirty="0" sz="1100" spc="-5">
                <a:latin typeface="Times New Roman"/>
                <a:cs typeface="Times New Roman"/>
              </a:rPr>
              <a:t>speaker standards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Norm-Dependent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(Expanding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  <a:p>
            <a:pPr marL="12700" marR="20478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Plurality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Norm-Developing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(Outer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Ambivalence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5842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Concerns about </a:t>
            </a:r>
            <a:r>
              <a:rPr dirty="0" sz="1100">
                <a:latin typeface="Times New Roman"/>
                <a:cs typeface="Times New Roman"/>
              </a:rPr>
              <a:t>political </a:t>
            </a:r>
            <a:r>
              <a:rPr dirty="0" sz="1100" spc="-5">
                <a:latin typeface="Times New Roman"/>
                <a:cs typeface="Times New Roman"/>
              </a:rPr>
              <a:t>and cultural identities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Norm-Developing</a:t>
            </a:r>
            <a:endParaRPr sz="1100">
              <a:latin typeface="Times New Roman"/>
              <a:cs typeface="Times New Roman"/>
            </a:endParaRPr>
          </a:p>
          <a:p>
            <a:pPr marL="12700" marR="271970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(Outer </a:t>
            </a:r>
            <a:r>
              <a:rPr dirty="0" sz="1100" spc="-5">
                <a:latin typeface="Times New Roman"/>
                <a:cs typeface="Times New Roman"/>
              </a:rPr>
              <a:t>Circle)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</a:t>
            </a:r>
            <a:r>
              <a:rPr dirty="0" sz="1100">
                <a:latin typeface="Times New Roman"/>
                <a:cs typeface="Times New Roman"/>
              </a:rPr>
              <a:t>d</a:t>
            </a:r>
            <a:r>
              <a:rPr dirty="0" sz="1100" spc="-5">
                <a:latin typeface="Times New Roman"/>
                <a:cs typeface="Times New Roman"/>
              </a:rPr>
              <a:t> attitudes: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Suggestions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banishing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Adoption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Adoption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00" y="5833644"/>
            <a:ext cx="6383020" cy="35833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7404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Lesson-12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81915">
              <a:lnSpc>
                <a:spcPct val="100000"/>
              </a:lnSpc>
            </a:pPr>
            <a:r>
              <a:rPr dirty="0" sz="1400" spc="55">
                <a:latin typeface="Times New Roman"/>
                <a:cs typeface="Times New Roman"/>
              </a:rPr>
              <a:t>Kachru’s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55">
                <a:latin typeface="Times New Roman"/>
                <a:cs typeface="Times New Roman"/>
              </a:rPr>
              <a:t>Three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25">
                <a:latin typeface="Times New Roman"/>
                <a:cs typeface="Times New Roman"/>
              </a:rPr>
              <a:t>Circle-Model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60">
                <a:latin typeface="Times New Roman"/>
                <a:cs typeface="Times New Roman"/>
              </a:rPr>
              <a:t>World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30">
                <a:latin typeface="Times New Roman"/>
                <a:cs typeface="Times New Roman"/>
              </a:rPr>
              <a:t>English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Topic-066: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Institutionalization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of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>
                <a:latin typeface="Times New Roman"/>
                <a:cs typeface="Times New Roman"/>
              </a:rPr>
              <a:t>Institutionalization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recognition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acceptance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40005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explicitly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recognized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Kenya,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Swahili</a:t>
            </a:r>
            <a:endParaRPr sz="1100">
              <a:latin typeface="Times New Roman"/>
              <a:cs typeface="Times New Roman"/>
            </a:endParaRPr>
          </a:p>
          <a:p>
            <a:pPr marL="12700" marR="25755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Nigeria and Zambia English is </a:t>
            </a:r>
            <a:r>
              <a:rPr dirty="0" sz="1100">
                <a:latin typeface="Times New Roman"/>
                <a:cs typeface="Times New Roman"/>
              </a:rPr>
              <a:t>one of </a:t>
            </a:r>
            <a:r>
              <a:rPr dirty="0" sz="1100" spc="-5">
                <a:latin typeface="Times New Roman"/>
                <a:cs typeface="Times New Roman"/>
              </a:rPr>
              <a:t>the state languages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Caribbean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law</a:t>
            </a:r>
            <a:endParaRPr sz="1100">
              <a:latin typeface="Times New Roman"/>
              <a:cs typeface="Times New Roman"/>
            </a:endParaRPr>
          </a:p>
          <a:p>
            <a:pPr marL="12700" marR="19951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 in addition to the English-based creole and immigrant languages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Pakistan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domains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0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India,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associate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Hindi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504825" algn="l"/>
                <a:tab pos="505459" algn="l"/>
              </a:tabLst>
            </a:pP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one 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four official </a:t>
            </a:r>
            <a:r>
              <a:rPr dirty="0" sz="1100" spc="-5">
                <a:latin typeface="Times New Roman"/>
                <a:cs typeface="Times New Roman"/>
              </a:rPr>
              <a:t>languages in Singapore along 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Malay, Mandarin and Tamil and the most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home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168390" cy="881951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Europe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Emergence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Euro-English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French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meetings</a:t>
            </a:r>
            <a:endParaRPr sz="1100">
              <a:latin typeface="Times New Roman"/>
              <a:cs typeface="Times New Roman"/>
            </a:endParaRPr>
          </a:p>
          <a:p>
            <a:pPr marL="12700" marR="26689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Fluency in English is </a:t>
            </a:r>
            <a:r>
              <a:rPr dirty="0" sz="1100">
                <a:latin typeface="Times New Roman"/>
                <a:cs typeface="Times New Roman"/>
              </a:rPr>
              <a:t>a prerequisite for </a:t>
            </a:r>
            <a:r>
              <a:rPr dirty="0" sz="1100" spc="-5">
                <a:latin typeface="Times New Roman"/>
                <a:cs typeface="Times New Roman"/>
              </a:rPr>
              <a:t>EU employees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very high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profile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Belgium, Germany,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Netherlands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Scandinavian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Ninety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Topic-067: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Limitations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Kachru’s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Three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Circle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Model-</a:t>
            </a:r>
            <a:r>
              <a:rPr dirty="0" sz="1100" spc="2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Limitations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Based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geography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</a:t>
            </a:r>
            <a:endParaRPr sz="1100">
              <a:latin typeface="Times New Roman"/>
              <a:cs typeface="Times New Roman"/>
            </a:endParaRPr>
          </a:p>
          <a:p>
            <a:pPr marL="12700" marR="22225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Actual </a:t>
            </a:r>
            <a:r>
              <a:rPr dirty="0" sz="1100">
                <a:latin typeface="Times New Roman"/>
                <a:cs typeface="Times New Roman"/>
              </a:rPr>
              <a:t>use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speakers in these </a:t>
            </a:r>
            <a:r>
              <a:rPr dirty="0" sz="1100">
                <a:latin typeface="Times New Roman"/>
                <a:cs typeface="Times New Roman"/>
              </a:rPr>
              <a:t>regions overlooked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Limitations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Based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basic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speakers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being</a:t>
            </a:r>
            <a:r>
              <a:rPr dirty="0" sz="1100" spc="-5">
                <a:latin typeface="Times New Roman"/>
                <a:cs typeface="Times New Roman"/>
              </a:rPr>
              <a:t> considered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superior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regardless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quality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27870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Pidgins and creoles </a:t>
            </a:r>
            <a:r>
              <a:rPr dirty="0" sz="1100">
                <a:latin typeface="Times New Roman"/>
                <a:cs typeface="Times New Roman"/>
              </a:rPr>
              <a:t>do not fit </a:t>
            </a:r>
            <a:r>
              <a:rPr dirty="0" sz="1100" spc="-5">
                <a:latin typeface="Times New Roman"/>
                <a:cs typeface="Times New Roman"/>
              </a:rPr>
              <a:t>into the categorisation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circle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purposes</a:t>
            </a:r>
            <a:endParaRPr sz="1100">
              <a:latin typeface="Times New Roman"/>
              <a:cs typeface="Times New Roman"/>
            </a:endParaRPr>
          </a:p>
          <a:p>
            <a:pPr marL="12700" marR="29248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Medium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instruction in schools and </a:t>
            </a:r>
            <a:r>
              <a:rPr dirty="0" sz="1100">
                <a:latin typeface="Times New Roman"/>
                <a:cs typeface="Times New Roman"/>
              </a:rPr>
              <a:t>universities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areas in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classification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Inner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Learnt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416432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home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countries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EFL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Topic-068: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Limitations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Kachru’s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Three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Circle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Model-II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Inner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Circles</a:t>
            </a:r>
            <a:endParaRPr sz="1100">
              <a:latin typeface="Times New Roman"/>
              <a:cs typeface="Times New Roman"/>
            </a:endParaRPr>
          </a:p>
          <a:p>
            <a:pPr marL="12700" marR="15405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Bilinguals and multilinguals </a:t>
            </a:r>
            <a:r>
              <a:rPr dirty="0" sz="1100">
                <a:latin typeface="Times New Roman"/>
                <a:cs typeface="Times New Roman"/>
              </a:rPr>
              <a:t>use different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for different purposes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Outer Circle</a:t>
            </a:r>
            <a:endParaRPr sz="1100">
              <a:latin typeface="Times New Roman"/>
              <a:cs typeface="Times New Roman"/>
            </a:endParaRPr>
          </a:p>
          <a:p>
            <a:pPr marL="12700" marR="281813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A number of </a:t>
            </a:r>
            <a:r>
              <a:rPr dirty="0" sz="1100" spc="-5">
                <a:latin typeface="Times New Roman"/>
                <a:cs typeface="Times New Roman"/>
              </a:rPr>
              <a:t>countries in transition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EFL to ESL status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define users’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proficiency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demonstrate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proficiency</a:t>
            </a:r>
            <a:endParaRPr sz="1100">
              <a:latin typeface="Times New Roman"/>
              <a:cs typeface="Times New Roman"/>
            </a:endParaRPr>
          </a:p>
          <a:p>
            <a:pPr marL="12700" marR="16465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 EFL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ESL </a:t>
            </a:r>
            <a:r>
              <a:rPr dirty="0" sz="1100">
                <a:latin typeface="Times New Roman"/>
                <a:cs typeface="Times New Roman"/>
              </a:rPr>
              <a:t>user </a:t>
            </a:r>
            <a:r>
              <a:rPr dirty="0" sz="1100" spc="-5">
                <a:latin typeface="Times New Roman"/>
                <a:cs typeface="Times New Roman"/>
              </a:rPr>
              <a:t>my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more competent in </a:t>
            </a:r>
            <a:r>
              <a:rPr dirty="0" sz="1100">
                <a:latin typeface="Times New Roman"/>
                <a:cs typeface="Times New Roman"/>
              </a:rPr>
              <a:t>grammar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vocabulary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Ignores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variations </a:t>
            </a:r>
            <a:r>
              <a:rPr dirty="0" sz="1100" spc="-5">
                <a:latin typeface="Times New Roman"/>
                <a:cs typeface="Times New Roman"/>
              </a:rPr>
              <a:t>within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circle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uniform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Varying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degrees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Sociolinguistic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variations</a:t>
            </a:r>
            <a:endParaRPr sz="1100">
              <a:latin typeface="Times New Roman"/>
              <a:cs typeface="Times New Roman"/>
            </a:endParaRPr>
          </a:p>
          <a:p>
            <a:pPr marL="12700" marR="32289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L1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misinterpreted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Misinterpretation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 term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‘inner circle’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appearing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  <a:spcBef>
                <a:spcPts val="135"/>
              </a:spcBef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Topic-069: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Nativeness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Paradigm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Nativeness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Paradigm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360160" cy="9100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nativeness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principle</a:t>
            </a:r>
            <a:r>
              <a:rPr dirty="0" sz="1100" spc="-5">
                <a:latin typeface="Times New Roman"/>
                <a:cs typeface="Times New Roman"/>
              </a:rPr>
              <a:t> 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dominant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paradigm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 teaching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before</a:t>
            </a:r>
            <a:r>
              <a:rPr dirty="0" sz="1100" spc="-5">
                <a:latin typeface="Times New Roman"/>
                <a:cs typeface="Times New Roman"/>
              </a:rPr>
              <a:t> the </a:t>
            </a:r>
            <a:r>
              <a:rPr dirty="0" sz="1100">
                <a:latin typeface="Times New Roman"/>
                <a:cs typeface="Times New Roman"/>
              </a:rPr>
              <a:t>1960s</a:t>
            </a:r>
            <a:endParaRPr sz="1100">
              <a:latin typeface="Times New Roman"/>
              <a:cs typeface="Times New Roman"/>
            </a:endParaRPr>
          </a:p>
          <a:p>
            <a:pPr marL="12700" marR="26708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binary </a:t>
            </a:r>
            <a:r>
              <a:rPr dirty="0" sz="1100" spc="-5">
                <a:latin typeface="Times New Roman"/>
                <a:cs typeface="Times New Roman"/>
              </a:rPr>
              <a:t>classification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speakers: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non-native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Nativeness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Paradigm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Exerts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powerful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impact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society:</a:t>
            </a:r>
            <a:endParaRPr sz="1100">
              <a:latin typeface="Times New Roman"/>
              <a:cs typeface="Times New Roman"/>
            </a:endParaRPr>
          </a:p>
          <a:p>
            <a:pPr marL="12700" marR="31267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 are ‘the best’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Nativeness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Paradigm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Serves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practical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functions:</a:t>
            </a:r>
            <a:endParaRPr sz="1100">
              <a:latin typeface="Times New Roman"/>
              <a:cs typeface="Times New Roman"/>
            </a:endParaRPr>
          </a:p>
          <a:p>
            <a:pPr marL="12700" marR="206311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serves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model and an inspiration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English language learning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Criticism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Determination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identity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5">
                <a:latin typeface="Times New Roman"/>
                <a:cs typeface="Times New Roman"/>
              </a:rPr>
              <a:t> speaker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depends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social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factors rather</a:t>
            </a:r>
            <a:r>
              <a:rPr dirty="0" sz="1100" spc="-5">
                <a:latin typeface="Times New Roman"/>
                <a:cs typeface="Times New Roman"/>
              </a:rPr>
              <a:t> 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endParaRPr sz="1100">
              <a:latin typeface="Times New Roman"/>
              <a:cs typeface="Times New Roman"/>
            </a:endParaRPr>
          </a:p>
          <a:p>
            <a:pPr marL="12700" marR="34194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Restrictive social and </a:t>
            </a:r>
            <a:r>
              <a:rPr dirty="0" sz="1100">
                <a:latin typeface="Times New Roman"/>
                <a:cs typeface="Times New Roman"/>
              </a:rPr>
              <a:t>professional </a:t>
            </a:r>
            <a:r>
              <a:rPr dirty="0" sz="1100" spc="-5">
                <a:latin typeface="Times New Roman"/>
                <a:cs typeface="Times New Roman"/>
              </a:rPr>
              <a:t>identities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Criticism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Proficiency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determined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acquisition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languages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Overlooks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fact</a:t>
            </a:r>
            <a:r>
              <a:rPr dirty="0" sz="1100" spc="-5">
                <a:latin typeface="Times New Roman"/>
                <a:cs typeface="Times New Roman"/>
              </a:rPr>
              <a:t> that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as the </a:t>
            </a:r>
            <a:r>
              <a:rPr dirty="0" sz="1100">
                <a:latin typeface="Times New Roman"/>
                <a:cs typeface="Times New Roman"/>
              </a:rPr>
              <a:t>home</a:t>
            </a:r>
            <a:r>
              <a:rPr dirty="0" sz="1100" spc="-5">
                <a:latin typeface="Times New Roman"/>
                <a:cs typeface="Times New Roman"/>
              </a:rPr>
              <a:t> and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5">
                <a:latin typeface="Times New Roman"/>
                <a:cs typeface="Times New Roman"/>
              </a:rPr>
              <a:t> language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outer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12700" marR="31134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Promotes the English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ethnic Anglo speaker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Criticism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Implies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unidirectional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relationship: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innovations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readily</a:t>
            </a:r>
            <a:r>
              <a:rPr dirty="0" sz="1100" spc="-5">
                <a:latin typeface="Times New Roman"/>
                <a:cs typeface="Times New Roman"/>
              </a:rPr>
              <a:t> accepted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Criticism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fit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design</a:t>
            </a:r>
            <a:r>
              <a:rPr dirty="0" sz="1100" spc="-5">
                <a:latin typeface="Times New Roman"/>
                <a:cs typeface="Times New Roman"/>
              </a:rPr>
              <a:t> teaching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methodologies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Causes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deficiencies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Causes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negative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perceptions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researchers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Topic-070: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Nativeness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Paradigm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Problems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group?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Alternatives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distinction</a:t>
            </a:r>
            <a:endParaRPr sz="1100">
              <a:latin typeface="Times New Roman"/>
              <a:cs typeface="Times New Roman"/>
            </a:endParaRPr>
          </a:p>
          <a:p>
            <a:pPr marL="12700" marR="21609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 ‘expert’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accomplished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users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Advantages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term ‘expert’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Expertise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Expertise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innate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Expertise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relative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Expertise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partial</a:t>
            </a:r>
            <a:endParaRPr sz="1100">
              <a:latin typeface="Times New Roman"/>
              <a:cs typeface="Times New Roman"/>
            </a:endParaRPr>
          </a:p>
          <a:p>
            <a:pPr marL="12700" marR="33401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Expertise </a:t>
            </a:r>
            <a:r>
              <a:rPr dirty="0" sz="1100">
                <a:latin typeface="Times New Roman"/>
                <a:cs typeface="Times New Roman"/>
              </a:rPr>
              <a:t>goes </a:t>
            </a:r>
            <a:r>
              <a:rPr dirty="0" sz="1100" spc="-5">
                <a:latin typeface="Times New Roman"/>
                <a:cs typeface="Times New Roman"/>
              </a:rPr>
              <a:t>through testing and evaluation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Disadvantage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term ‘expert’</a:t>
            </a:r>
            <a:endParaRPr sz="1100">
              <a:latin typeface="Times New Roman"/>
              <a:cs typeface="Times New Roman"/>
            </a:endParaRPr>
          </a:p>
          <a:p>
            <a:pPr marL="12700" marR="26358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Implies value </a:t>
            </a:r>
            <a:r>
              <a:rPr dirty="0" sz="1100" spc="-5">
                <a:latin typeface="Times New Roman"/>
                <a:cs typeface="Times New Roman"/>
              </a:rPr>
              <a:t>judgement when contrasted with </a:t>
            </a:r>
            <a:r>
              <a:rPr dirty="0" sz="1100">
                <a:latin typeface="Times New Roman"/>
                <a:cs typeface="Times New Roman"/>
              </a:rPr>
              <a:t>non-expert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Reconceptualization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concept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Monolingual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(MES)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Bilingual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(BES)</a:t>
            </a:r>
            <a:endParaRPr sz="1100">
              <a:latin typeface="Times New Roman"/>
              <a:cs typeface="Times New Roman"/>
            </a:endParaRPr>
          </a:p>
          <a:p>
            <a:pPr marL="12700" marR="33458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Non-bilingual English speakers </a:t>
            </a:r>
            <a:r>
              <a:rPr dirty="0" sz="1100">
                <a:latin typeface="Times New Roman"/>
                <a:cs typeface="Times New Roman"/>
              </a:rPr>
              <a:t>(NBES)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Advantages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disadvantages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reconceptualization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favourable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</a:t>
            </a:r>
            <a:endParaRPr sz="1100">
              <a:latin typeface="Times New Roman"/>
              <a:cs typeface="Times New Roman"/>
            </a:endParaRPr>
          </a:p>
          <a:p>
            <a:pPr marL="12700" marR="20453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BES </a:t>
            </a:r>
            <a:r>
              <a:rPr dirty="0" sz="1100">
                <a:latin typeface="Times New Roman"/>
                <a:cs typeface="Times New Roman"/>
              </a:rPr>
              <a:t>removes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distinction between </a:t>
            </a:r>
            <a:r>
              <a:rPr dirty="0" sz="1100" spc="-5">
                <a:latin typeface="Times New Roman"/>
                <a:cs typeface="Times New Roman"/>
              </a:rPr>
              <a:t>L1 and L2 speakers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Advantages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disadvantages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reconceptualization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Determining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bilingual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non-bilingual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64444"/>
            <a:ext cx="2887345" cy="2200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100"/>
              </a:spcBef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Topic-071: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Redrawing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Three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Circle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Model-I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David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Graddol’s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Modifications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(1997)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terminology</a:t>
            </a:r>
            <a:endParaRPr sz="1100">
              <a:latin typeface="Times New Roman"/>
              <a:cs typeface="Times New Roman"/>
            </a:endParaRPr>
          </a:p>
          <a:p>
            <a:pPr marL="12700" marR="7112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Inadequacy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Kachru’s model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21st century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David Graddol’s Modifications </a:t>
            </a:r>
            <a:r>
              <a:rPr dirty="0" sz="1100">
                <a:latin typeface="Times New Roman"/>
                <a:cs typeface="Times New Roman"/>
              </a:rPr>
              <a:t>(1997)</a:t>
            </a:r>
            <a:endParaRPr sz="1100">
              <a:latin typeface="Times New Roman"/>
              <a:cs typeface="Times New Roman"/>
            </a:endParaRPr>
          </a:p>
          <a:p>
            <a:pPr marL="12700" marR="1281430">
              <a:lnSpc>
                <a:spcPct val="110200"/>
              </a:lnSpc>
              <a:tabLst>
                <a:tab pos="926465" algn="l"/>
              </a:tabLst>
            </a:pP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terminology </a:t>
            </a:r>
            <a:r>
              <a:rPr dirty="0" sz="1100">
                <a:latin typeface="Times New Roman"/>
                <a:cs typeface="Times New Roman"/>
              </a:rPr>
              <a:t> Inner </a:t>
            </a:r>
            <a:r>
              <a:rPr dirty="0" sz="1100" spc="-5">
                <a:latin typeface="Times New Roman"/>
                <a:cs typeface="Times New Roman"/>
              </a:rPr>
              <a:t>Circl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	</a:t>
            </a:r>
            <a:r>
              <a:rPr dirty="0" sz="1100" spc="-5">
                <a:latin typeface="Times New Roman"/>
                <a:cs typeface="Times New Roman"/>
              </a:rPr>
              <a:t>L</a:t>
            </a:r>
            <a:r>
              <a:rPr dirty="0" sz="1100">
                <a:latin typeface="Times New Roman"/>
                <a:cs typeface="Times New Roman"/>
              </a:rPr>
              <a:t>1</a:t>
            </a:r>
            <a:r>
              <a:rPr dirty="0" sz="1100" spc="-5">
                <a:latin typeface="Times New Roman"/>
                <a:cs typeface="Times New Roman"/>
              </a:rPr>
              <a:t> speakers  Outer Circle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L2 speakers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L3</a:t>
            </a:r>
            <a:endParaRPr sz="1100">
              <a:latin typeface="Times New Roman"/>
              <a:cs typeface="Times New Roman"/>
            </a:endParaRPr>
          </a:p>
          <a:p>
            <a:pPr marL="12700" marR="70675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David Graddol’s Modifications </a:t>
            </a:r>
            <a:r>
              <a:rPr dirty="0" sz="1100">
                <a:latin typeface="Times New Roman"/>
                <a:cs typeface="Times New Roman"/>
              </a:rPr>
              <a:t>(1997)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shift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Shift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L2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L1: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89363" y="2118010"/>
            <a:ext cx="5067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2839770"/>
            <a:ext cx="6356350" cy="6626859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L2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intranational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endParaRPr sz="1100">
              <a:latin typeface="Times New Roman"/>
              <a:cs typeface="Times New Roman"/>
            </a:endParaRPr>
          </a:p>
          <a:p>
            <a:pPr marL="12700" marR="31527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trend </a:t>
            </a:r>
            <a:r>
              <a:rPr dirty="0" sz="1100">
                <a:latin typeface="Times New Roman"/>
                <a:cs typeface="Times New Roman"/>
              </a:rPr>
              <a:t>of using </a:t>
            </a:r>
            <a:r>
              <a:rPr dirty="0" sz="1100" spc="-5">
                <a:latin typeface="Times New Roman"/>
                <a:cs typeface="Times New Roman"/>
              </a:rPr>
              <a:t>English as the </a:t>
            </a:r>
            <a:r>
              <a:rPr dirty="0" sz="1100">
                <a:latin typeface="Times New Roman"/>
                <a:cs typeface="Times New Roman"/>
              </a:rPr>
              <a:t>home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David Graddol’s Modifications </a:t>
            </a:r>
            <a:r>
              <a:rPr dirty="0" sz="1100">
                <a:latin typeface="Times New Roman"/>
                <a:cs typeface="Times New Roman"/>
              </a:rPr>
              <a:t>(1997)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shift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Shift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L3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L2: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endParaRPr sz="1100">
              <a:latin typeface="Times New Roman"/>
              <a:cs typeface="Times New Roman"/>
            </a:endParaRPr>
          </a:p>
          <a:p>
            <a:pPr marL="12700" marR="24320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 increasing </a:t>
            </a:r>
            <a:r>
              <a:rPr dirty="0" sz="1100">
                <a:latin typeface="Times New Roman"/>
                <a:cs typeface="Times New Roman"/>
              </a:rPr>
              <a:t>use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intranational communication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David Graddol’s Modifications </a:t>
            </a:r>
            <a:r>
              <a:rPr dirty="0" sz="1100">
                <a:latin typeface="Times New Roman"/>
                <a:cs typeface="Times New Roman"/>
              </a:rPr>
              <a:t>(1997)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Problems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explanation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abstraction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overlap: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417576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David Graddol’s Modifications </a:t>
            </a:r>
            <a:r>
              <a:rPr dirty="0" sz="1100">
                <a:latin typeface="Times New Roman"/>
                <a:cs typeface="Times New Roman"/>
              </a:rPr>
              <a:t>(1997)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explanation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abstraction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overlap: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417576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David Graddol’s Modifications </a:t>
            </a:r>
            <a:r>
              <a:rPr dirty="0" sz="1100">
                <a:latin typeface="Times New Roman"/>
                <a:cs typeface="Times New Roman"/>
              </a:rPr>
              <a:t>(1997)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Ignores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possibility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shift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opposite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direction: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101090" algn="l"/>
              </a:tabLst>
            </a:pPr>
            <a:r>
              <a:rPr dirty="0" sz="1100">
                <a:latin typeface="Times New Roman"/>
                <a:cs typeface="Times New Roman"/>
              </a:rPr>
              <a:t>outer </a:t>
            </a:r>
            <a:r>
              <a:rPr dirty="0" sz="1100" spc="-5">
                <a:latin typeface="Times New Roman"/>
                <a:cs typeface="Times New Roman"/>
              </a:rPr>
              <a:t>circle	inner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Topic-072: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Redrawing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Three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Circle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Model-II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290"/>
              </a:lnSpc>
            </a:pPr>
            <a:r>
              <a:rPr dirty="0" sz="1100" spc="-5">
                <a:latin typeface="Times New Roman"/>
                <a:cs typeface="Times New Roman"/>
              </a:rPr>
              <a:t>YanuYasukata’s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(2001)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circle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become</a:t>
            </a:r>
            <a:r>
              <a:rPr dirty="0" sz="1100" spc="-5">
                <a:latin typeface="Times New Roman"/>
                <a:cs typeface="Times New Roman"/>
              </a:rPr>
              <a:t> established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23755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Outer circle speakers may consider themselves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YanuYasukata’s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Modification</a:t>
            </a:r>
            <a:r>
              <a:rPr dirty="0" sz="1100">
                <a:latin typeface="Times New Roman"/>
                <a:cs typeface="Times New Roman"/>
              </a:rPr>
              <a:t> (2001)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immigrants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whom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L2</a:t>
            </a:r>
            <a:endParaRPr sz="1100">
              <a:latin typeface="Times New Roman"/>
              <a:cs typeface="Times New Roman"/>
            </a:endParaRPr>
          </a:p>
          <a:p>
            <a:pPr marL="12700" marR="424243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YanuYasukata’s Modification </a:t>
            </a:r>
            <a:r>
              <a:rPr dirty="0" sz="1100">
                <a:latin typeface="Times New Roman"/>
                <a:cs typeface="Times New Roman"/>
              </a:rPr>
              <a:t>(2001)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Redefining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genetic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4149090" cy="949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034539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Outer circle </a:t>
            </a:r>
            <a:r>
              <a:rPr dirty="0" sz="1100">
                <a:latin typeface="Times New Roman"/>
                <a:cs typeface="Times New Roman"/>
              </a:rPr>
              <a:t>= functional </a:t>
            </a:r>
            <a:r>
              <a:rPr dirty="0" sz="1100" spc="-5">
                <a:latin typeface="Times New Roman"/>
                <a:cs typeface="Times New Roman"/>
              </a:rPr>
              <a:t>ENL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YanuYasukata’s Modification </a:t>
            </a:r>
            <a:r>
              <a:rPr dirty="0" sz="1100">
                <a:latin typeface="Times New Roman"/>
                <a:cs typeface="Times New Roman"/>
              </a:rPr>
              <a:t>(2001)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Problems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term ‘genetic’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>
                <a:latin typeface="Times New Roman"/>
                <a:cs typeface="Times New Roman"/>
              </a:rPr>
              <a:t> be</a:t>
            </a:r>
            <a:r>
              <a:rPr dirty="0" sz="1100" spc="-5">
                <a:latin typeface="Times New Roman"/>
                <a:cs typeface="Times New Roman"/>
              </a:rPr>
              <a:t> misunderstood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race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Wide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gap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proficiency</a:t>
            </a:r>
            <a:r>
              <a:rPr dirty="0" sz="1100" spc="-5">
                <a:latin typeface="Times New Roman"/>
                <a:cs typeface="Times New Roman"/>
              </a:rPr>
              <a:t> levels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circle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1947521"/>
            <a:ext cx="5814060" cy="4510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Lesson-13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marL="2117725">
              <a:lnSpc>
                <a:spcPct val="100000"/>
              </a:lnSpc>
            </a:pPr>
            <a:r>
              <a:rPr dirty="0" sz="1400" spc="40">
                <a:latin typeface="Times New Roman"/>
                <a:cs typeface="Times New Roman"/>
              </a:rPr>
              <a:t>Variations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Across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50">
                <a:latin typeface="Times New Roman"/>
                <a:cs typeface="Times New Roman"/>
              </a:rPr>
              <a:t>Cultures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Topic-073:‘new’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Englishes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‘New’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Englishes: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Definitions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 spc="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Difference</a:t>
            </a:r>
            <a:r>
              <a:rPr dirty="0" sz="1100" spc="10">
                <a:latin typeface="Times New Roman"/>
                <a:cs typeface="Times New Roman"/>
              </a:rPr>
              <a:t>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4699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‘new’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Resulting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diaspora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Comprising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(USA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Canada),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Zealand,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endParaRPr sz="1100">
              <a:latin typeface="Times New Roman"/>
              <a:cs typeface="Times New Roman"/>
            </a:endParaRPr>
          </a:p>
          <a:p>
            <a:pPr marL="12700" marR="26308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Developing independently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British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‘New’ 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Resulting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diaspora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bilingual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multilingual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endParaRPr sz="1100">
              <a:latin typeface="Times New Roman"/>
              <a:cs typeface="Times New Roman"/>
            </a:endParaRPr>
          </a:p>
          <a:p>
            <a:pPr marL="12700" marR="6705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Comprising Pakistani English, </a:t>
            </a:r>
            <a:r>
              <a:rPr dirty="0" sz="1100">
                <a:latin typeface="Times New Roman"/>
                <a:cs typeface="Times New Roman"/>
              </a:rPr>
              <a:t>Indian </a:t>
            </a:r>
            <a:r>
              <a:rPr dirty="0" sz="1100" spc="-5">
                <a:latin typeface="Times New Roman"/>
                <a:cs typeface="Times New Roman"/>
              </a:rPr>
              <a:t>English, Nigerian English, Singapore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 status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‘new’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and‘New’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right</a:t>
            </a:r>
            <a:endParaRPr sz="1100">
              <a:latin typeface="Times New Roman"/>
              <a:cs typeface="Times New Roman"/>
            </a:endParaRPr>
          </a:p>
          <a:p>
            <a:pPr marL="12700" marR="21348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Should </a:t>
            </a:r>
            <a:r>
              <a:rPr dirty="0" sz="1100">
                <a:latin typeface="Times New Roman"/>
                <a:cs typeface="Times New Roman"/>
              </a:rPr>
              <a:t>not be </a:t>
            </a:r>
            <a:r>
              <a:rPr dirty="0" sz="1100" spc="-5">
                <a:latin typeface="Times New Roman"/>
                <a:cs typeface="Times New Roman"/>
              </a:rPr>
              <a:t>compared with </a:t>
            </a:r>
            <a:r>
              <a:rPr dirty="0" sz="1100">
                <a:latin typeface="Times New Roman"/>
                <a:cs typeface="Times New Roman"/>
              </a:rPr>
              <a:t>other varieties of </a:t>
            </a:r>
            <a:r>
              <a:rPr dirty="0" sz="1100" spc="-5">
                <a:latin typeface="Times New Roman"/>
                <a:cs typeface="Times New Roman"/>
              </a:rPr>
              <a:t>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 status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‘new’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and‘New’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Acceptance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Reluctance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Topic-074:‘‘new’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Englishes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and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‘New’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Englishe</a:t>
            </a:r>
            <a:r>
              <a:rPr dirty="0" sz="1100" spc="15">
                <a:latin typeface="Times New Roman"/>
                <a:cs typeface="Times New Roman"/>
              </a:rPr>
              <a:t>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4699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‘New’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6432155"/>
            <a:ext cx="74930" cy="39497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8900" y="6432155"/>
            <a:ext cx="2037714" cy="39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Includes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Dissimilar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700" y="6801547"/>
            <a:ext cx="5457825" cy="2611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488054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Characteristics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‘New’ 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Learned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instruction</a:t>
            </a:r>
            <a:endParaRPr sz="1100">
              <a:latin typeface="Times New Roman"/>
              <a:cs typeface="Times New Roman"/>
            </a:endParaRPr>
          </a:p>
          <a:p>
            <a:pPr marL="12700" marR="27901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Additional to some </a:t>
            </a:r>
            <a:r>
              <a:rPr dirty="0" sz="1100">
                <a:latin typeface="Times New Roman"/>
                <a:cs typeface="Times New Roman"/>
              </a:rPr>
              <a:t>other first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‘New’ Englishes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Developed in </a:t>
            </a:r>
            <a:r>
              <a:rPr dirty="0" sz="1100">
                <a:latin typeface="Times New Roman"/>
                <a:cs typeface="Times New Roman"/>
              </a:rPr>
              <a:t>regions </a:t>
            </a:r>
            <a:r>
              <a:rPr dirty="0" sz="1100" spc="-5">
                <a:latin typeface="Times New Roman"/>
                <a:cs typeface="Times New Roman"/>
              </a:rPr>
              <a:t>where </a:t>
            </a:r>
            <a:r>
              <a:rPr dirty="0" sz="1100">
                <a:latin typeface="Times New Roman"/>
                <a:cs typeface="Times New Roman"/>
              </a:rPr>
              <a:t>a native variety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the main language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population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‘New’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Functions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  <a:p>
            <a:pPr marL="12700" marR="171386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 among the speakers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region </a:t>
            </a:r>
            <a:r>
              <a:rPr dirty="0" sz="1100" spc="-5">
                <a:latin typeface="Times New Roman"/>
                <a:cs typeface="Times New Roman"/>
              </a:rPr>
              <a:t>where it </a:t>
            </a:r>
            <a:r>
              <a:rPr dirty="0" sz="1100">
                <a:latin typeface="Times New Roman"/>
                <a:cs typeface="Times New Roman"/>
              </a:rPr>
              <a:t>developed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‘New’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Nativization/Localization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684009" cy="1021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spcBef>
                <a:spcPts val="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 adopted some language </a:t>
            </a:r>
            <a:r>
              <a:rPr dirty="0" sz="1100">
                <a:latin typeface="Times New Roman"/>
                <a:cs typeface="Times New Roman"/>
              </a:rPr>
              <a:t>features (sounds, </a:t>
            </a:r>
            <a:r>
              <a:rPr dirty="0" sz="1100" spc="-5">
                <a:latin typeface="Times New Roman"/>
                <a:cs typeface="Times New Roman"/>
              </a:rPr>
              <a:t>intonation </a:t>
            </a:r>
            <a:r>
              <a:rPr dirty="0" sz="1100">
                <a:latin typeface="Times New Roman"/>
                <a:cs typeface="Times New Roman"/>
              </a:rPr>
              <a:t>patterns, </a:t>
            </a:r>
            <a:r>
              <a:rPr dirty="0" sz="1100" spc="-5">
                <a:latin typeface="Times New Roman"/>
                <a:cs typeface="Times New Roman"/>
              </a:rPr>
              <a:t>sentence structures, words and expressions)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‘New’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Englishes’ norms 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innovations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Factors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determining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innovation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201481"/>
            <a:ext cx="176530" cy="94932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i.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ii.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iii.  iv.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v.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8900" y="1201481"/>
            <a:ext cx="1146175" cy="949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Demographi</a:t>
            </a:r>
            <a:r>
              <a:rPr dirty="0" sz="1100">
                <a:latin typeface="Times New Roman"/>
                <a:cs typeface="Times New Roman"/>
              </a:rPr>
              <a:t>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  </a:t>
            </a:r>
            <a:r>
              <a:rPr dirty="0" sz="1100" spc="-5">
                <a:latin typeface="Times New Roman"/>
                <a:cs typeface="Times New Roman"/>
              </a:rPr>
              <a:t>Geographica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  </a:t>
            </a:r>
            <a:r>
              <a:rPr dirty="0" sz="1100" spc="-5">
                <a:latin typeface="Times New Roman"/>
                <a:cs typeface="Times New Roman"/>
              </a:rPr>
              <a:t>Authoritative </a:t>
            </a:r>
            <a:r>
              <a:rPr dirty="0" sz="1100">
                <a:latin typeface="Times New Roman"/>
                <a:cs typeface="Times New Roman"/>
              </a:rPr>
              <a:t>factor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Codification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Acceptabilit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2142090"/>
            <a:ext cx="6361430" cy="7184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3665" algn="l"/>
              </a:tabLst>
            </a:pPr>
            <a:r>
              <a:rPr dirty="0" sz="1100" spc="-5">
                <a:latin typeface="Times New Roman"/>
                <a:cs typeface="Times New Roman"/>
              </a:rPr>
              <a:t>Bamgbose, cited	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Jenkins,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2000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Topic-075:Nativization-I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Nativization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gains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happens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adult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parents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becomes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Nativization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Acculturization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Indigenization</a:t>
            </a:r>
            <a:endParaRPr sz="1100">
              <a:latin typeface="Times New Roman"/>
              <a:cs typeface="Times New Roman"/>
            </a:endParaRPr>
          </a:p>
          <a:p>
            <a:pPr marL="12700" marR="50380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Hybridization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Nativization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571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undergone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geographical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settings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the </a:t>
            </a:r>
            <a:r>
              <a:rPr dirty="0" sz="1100">
                <a:latin typeface="Times New Roman"/>
                <a:cs typeface="Times New Roman"/>
              </a:rPr>
              <a:t>outer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Nativization</a:t>
            </a:r>
            <a:endParaRPr sz="1100">
              <a:latin typeface="Times New Roman"/>
              <a:cs typeface="Times New Roman"/>
            </a:endParaRPr>
          </a:p>
          <a:p>
            <a:pPr marL="12700" marR="1333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triggered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environment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inevitably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mould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facts,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concepts </a:t>
            </a:r>
            <a:r>
              <a:rPr dirty="0" sz="1100">
                <a:latin typeface="Times New Roman"/>
                <a:cs typeface="Times New Roman"/>
              </a:rPr>
              <a:t>relevant </a:t>
            </a:r>
            <a:r>
              <a:rPr dirty="0" sz="1100" spc="-5">
                <a:latin typeface="Times New Roman"/>
                <a:cs typeface="Times New Roman"/>
              </a:rPr>
              <a:t>to their </a:t>
            </a:r>
            <a:r>
              <a:rPr dirty="0" sz="1100">
                <a:latin typeface="Times New Roman"/>
                <a:cs typeface="Times New Roman"/>
              </a:rPr>
              <a:t>own particular</a:t>
            </a:r>
            <a:r>
              <a:rPr dirty="0" sz="1100" spc="-5">
                <a:latin typeface="Times New Roman"/>
                <a:cs typeface="Times New Roman"/>
              </a:rPr>
              <a:t> context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Nativization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Transfer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15049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Transfer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to the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cultural environment and communicative </a:t>
            </a:r>
            <a:r>
              <a:rPr dirty="0" sz="1100">
                <a:latin typeface="Times New Roman"/>
                <a:cs typeface="Times New Roman"/>
              </a:rPr>
              <a:t>needs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Factors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prompting nativization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typically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endParaRPr sz="1100">
              <a:latin typeface="Times New Roman"/>
              <a:cs typeface="Times New Roman"/>
            </a:endParaRPr>
          </a:p>
          <a:p>
            <a:pPr marL="12700" marR="9975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needs </a:t>
            </a:r>
            <a:r>
              <a:rPr dirty="0" sz="1100" spc="-5">
                <a:latin typeface="Times New Roman"/>
                <a:cs typeface="Times New Roman"/>
              </a:rPr>
              <a:t>to adapt itself to its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environment 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able to express local concepts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Factors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prompting nativization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Absence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Inadequate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Acquisitional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limitations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Topic-076:Nativization-II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Functional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Functional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nativeness</a:t>
            </a:r>
            <a:r>
              <a:rPr dirty="0" sz="1100" spc="-5">
                <a:latin typeface="Times New Roman"/>
                <a:cs typeface="Times New Roman"/>
              </a:rPr>
              <a:t> 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determined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Range: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domains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</a:t>
            </a:r>
            <a:endParaRPr sz="1100">
              <a:latin typeface="Times New Roman"/>
              <a:cs typeface="Times New Roman"/>
            </a:endParaRPr>
          </a:p>
          <a:p>
            <a:pPr marL="12700" marR="28219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Depth: the </a:t>
            </a:r>
            <a:r>
              <a:rPr dirty="0" sz="1100">
                <a:latin typeface="Times New Roman"/>
                <a:cs typeface="Times New Roman"/>
              </a:rPr>
              <a:t>degree of </a:t>
            </a:r>
            <a:r>
              <a:rPr dirty="0" sz="1100" spc="-5">
                <a:latin typeface="Times New Roman"/>
                <a:cs typeface="Times New Roman"/>
              </a:rPr>
              <a:t>social </a:t>
            </a:r>
            <a:r>
              <a:rPr dirty="0" sz="1100">
                <a:latin typeface="Times New Roman"/>
                <a:cs typeface="Times New Roman"/>
              </a:rPr>
              <a:t>penetration of </a:t>
            </a:r>
            <a:r>
              <a:rPr dirty="0" sz="1100" spc="-5">
                <a:latin typeface="Times New Roman"/>
                <a:cs typeface="Times New Roman"/>
              </a:rPr>
              <a:t>the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Deep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penetration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Extended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866890" cy="9134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spcBef>
                <a:spcPts val="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Emergence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several </a:t>
            </a:r>
            <a:r>
              <a:rPr dirty="0" sz="1100">
                <a:latin typeface="Times New Roman"/>
                <a:cs typeface="Times New Roman"/>
              </a:rPr>
              <a:t>varieties, </a:t>
            </a:r>
            <a:r>
              <a:rPr dirty="0" sz="1100" spc="-5">
                <a:latin typeface="Times New Roman"/>
                <a:cs typeface="Times New Roman"/>
              </a:rPr>
              <a:t>localized </a:t>
            </a:r>
            <a:r>
              <a:rPr dirty="0" sz="1100">
                <a:latin typeface="Times New Roman"/>
                <a:cs typeface="Times New Roman"/>
              </a:rPr>
              <a:t>registers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genres for </a:t>
            </a:r>
            <a:r>
              <a:rPr dirty="0" sz="1100" spc="-5">
                <a:latin typeface="Times New Roman"/>
                <a:cs typeface="Times New Roman"/>
              </a:rPr>
              <a:t>expressing local social, cultural and </a:t>
            </a:r>
            <a:r>
              <a:rPr dirty="0" sz="1100">
                <a:latin typeface="Times New Roman"/>
                <a:cs typeface="Times New Roman"/>
              </a:rPr>
              <a:t>religious </a:t>
            </a:r>
            <a:r>
              <a:rPr dirty="0" sz="1100" spc="-5">
                <a:latin typeface="Times New Roman"/>
                <a:cs typeface="Times New Roman"/>
              </a:rPr>
              <a:t>ide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nativized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Indian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Pakistani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Range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domains: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Corporate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trade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Media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Development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Government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Higher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Science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technology</a:t>
            </a:r>
            <a:endParaRPr sz="1100">
              <a:latin typeface="Times New Roman"/>
              <a:cs typeface="Times New Roman"/>
            </a:endParaRPr>
          </a:p>
          <a:p>
            <a:pPr marL="12700" marR="54794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Creativ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writing  </a:t>
            </a:r>
            <a:r>
              <a:rPr dirty="0" sz="1100" spc="-5">
                <a:latin typeface="Times New Roman"/>
                <a:cs typeface="Times New Roman"/>
              </a:rPr>
              <a:t>Functional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estimated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333</a:t>
            </a:r>
            <a:r>
              <a:rPr dirty="0" sz="1100" spc="-5">
                <a:latin typeface="Times New Roman"/>
                <a:cs typeface="Times New Roman"/>
              </a:rPr>
              <a:t> milion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highest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 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(non-creole)</a:t>
            </a:r>
            <a:r>
              <a:rPr dirty="0" sz="1100" spc="-5">
                <a:latin typeface="Times New Roman"/>
                <a:cs typeface="Times New Roman"/>
              </a:rPr>
              <a:t> English 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UK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Topic-077:Nativization-III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Recognition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nativized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socio-cultural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Autonomous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rules</a:t>
            </a:r>
            <a:endParaRPr sz="1100">
              <a:latin typeface="Times New Roman"/>
              <a:cs typeface="Times New Roman"/>
            </a:endParaRPr>
          </a:p>
          <a:p>
            <a:pPr marL="12700" marR="34823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Cannot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treated as mistakes </a:t>
            </a:r>
            <a:r>
              <a:rPr dirty="0" sz="1100">
                <a:latin typeface="Times New Roman"/>
                <a:cs typeface="Times New Roman"/>
              </a:rPr>
              <a:t>of deficient </a:t>
            </a:r>
            <a:r>
              <a:rPr dirty="0" sz="1100" spc="-5">
                <a:latin typeface="Times New Roman"/>
                <a:cs typeface="Times New Roman"/>
              </a:rPr>
              <a:t>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Recognition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nativized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nativized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openly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debated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circle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pronunciation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remains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RP</a:t>
            </a:r>
            <a:endParaRPr sz="1100">
              <a:latin typeface="Times New Roman"/>
              <a:cs typeface="Times New Roman"/>
            </a:endParaRPr>
          </a:p>
          <a:p>
            <a:pPr marL="12700" marR="38969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Indiginized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stigmatized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Recognition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nativized 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Indiginized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stigmatized</a:t>
            </a:r>
            <a:endParaRPr sz="1100">
              <a:latin typeface="Times New Roman"/>
              <a:cs typeface="Times New Roman"/>
            </a:endParaRPr>
          </a:p>
          <a:p>
            <a:pPr marL="12700" marR="5092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Prevailing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perception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inner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recognize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nativized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Recognition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nativized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3578225">
              <a:lnSpc>
                <a:spcPct val="110200"/>
              </a:lnSpc>
              <a:tabLst>
                <a:tab pos="469265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Nativized English social lectal continuum </a:t>
            </a:r>
            <a:r>
              <a:rPr dirty="0" sz="1100">
                <a:latin typeface="Times New Roman"/>
                <a:cs typeface="Times New Roman"/>
              </a:rPr>
              <a:t>ranges between: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Acro-	Meso-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Basi-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69265" algn="l"/>
                <a:tab pos="926465" algn="l"/>
              </a:tabLst>
            </a:pPr>
            <a:r>
              <a:rPr dirty="0" sz="1100" spc="-5">
                <a:latin typeface="Times New Roman"/>
                <a:cs typeface="Times New Roman"/>
              </a:rPr>
              <a:t>lect	lect	lect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Characteristics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nativized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circle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5">
                <a:latin typeface="Times New Roman"/>
                <a:cs typeface="Times New Roman"/>
              </a:rPr>
              <a:t> evolved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-5">
                <a:latin typeface="Times New Roman"/>
                <a:cs typeface="Times New Roman"/>
              </a:rPr>
              <a:t> 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phonological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lexical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syntactic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endParaRPr sz="1100">
              <a:latin typeface="Times New Roman"/>
              <a:cs typeface="Times New Roman"/>
            </a:endParaRPr>
          </a:p>
          <a:p>
            <a:pPr marL="12700" marR="48139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discourse </a:t>
            </a:r>
            <a:r>
              <a:rPr dirty="0" sz="1100" spc="-5">
                <a:latin typeface="Times New Roman"/>
                <a:cs typeface="Times New Roman"/>
              </a:rPr>
              <a:t>level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nativized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Initially,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innovations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rejected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purists</a:t>
            </a:r>
            <a:endParaRPr sz="1100">
              <a:latin typeface="Times New Roman"/>
              <a:cs typeface="Times New Roman"/>
            </a:endParaRPr>
          </a:p>
          <a:p>
            <a:pPr marL="12700" marR="45345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Now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increasingly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nativized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nativization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5">
                <a:latin typeface="Times New Roman"/>
                <a:cs typeface="Times New Roman"/>
              </a:rPr>
              <a:t> enriched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indigenous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through: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79845" cy="869315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Processes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borrowing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Coinage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shifts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Topic-078:Nativization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Pakistan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429450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Native lexicalizatin </a:t>
            </a:r>
            <a:r>
              <a:rPr dirty="0" sz="1100">
                <a:latin typeface="Times New Roman"/>
                <a:cs typeface="Times New Roman"/>
              </a:rPr>
              <a:t>(functional </a:t>
            </a:r>
            <a:r>
              <a:rPr dirty="0" sz="1100" spc="-5">
                <a:latin typeface="Times New Roman"/>
                <a:cs typeface="Times New Roman"/>
              </a:rPr>
              <a:t>shift)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verb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PPP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informed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Election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Commission’s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affairs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handed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Secretary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against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Anti-Corruption Committee conducted 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enquiry and who was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charge- sheeted</a:t>
            </a:r>
            <a:endParaRPr sz="1100">
              <a:latin typeface="Times New Roman"/>
              <a:cs typeface="Times New Roman"/>
            </a:endParaRPr>
          </a:p>
          <a:p>
            <a:pPr marL="12700" marR="495681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Bilingual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functional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shift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As Pakistanis waited</a:t>
            </a:r>
            <a:r>
              <a:rPr dirty="0" sz="1100">
                <a:latin typeface="Times New Roman"/>
                <a:cs typeface="Times New Roman"/>
              </a:rPr>
              <a:t> on a</a:t>
            </a:r>
            <a:r>
              <a:rPr dirty="0" sz="1100" spc="-5">
                <a:latin typeface="Times New Roman"/>
                <a:cs typeface="Times New Roman"/>
              </a:rPr>
              <a:t> cold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December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night </a:t>
            </a:r>
            <a:r>
              <a:rPr dirty="0" sz="1100">
                <a:latin typeface="Times New Roman"/>
                <a:cs typeface="Times New Roman"/>
              </a:rPr>
              <a:t>for 1991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be</a:t>
            </a:r>
            <a:r>
              <a:rPr dirty="0" sz="1100" spc="-5">
                <a:latin typeface="Times New Roman"/>
                <a:cs typeface="Times New Roman"/>
              </a:rPr>
              <a:t> firecrackered…</a:t>
            </a:r>
            <a:endParaRPr sz="1100">
              <a:latin typeface="Times New Roman"/>
              <a:cs typeface="Times New Roman"/>
            </a:endParaRPr>
          </a:p>
          <a:p>
            <a:pPr marL="12700" marR="32772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Multan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traders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gheraoMunicipalCorporation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Adjective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verb</a:t>
            </a:r>
            <a:endParaRPr sz="1100">
              <a:latin typeface="Times New Roman"/>
              <a:cs typeface="Times New Roman"/>
            </a:endParaRPr>
          </a:p>
          <a:p>
            <a:pPr marL="12700" marR="120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Allahyar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Multan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1950s.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wife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cooked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aunt’s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house,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daughter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washed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son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general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factotum who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fetched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carried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“hallaled”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chickens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dickey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diggie</a:t>
            </a:r>
            <a:endParaRPr sz="1100">
              <a:latin typeface="Times New Roman"/>
              <a:cs typeface="Times New Roman"/>
            </a:endParaRPr>
          </a:p>
          <a:p>
            <a:pPr marL="12700" marR="53638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stepney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formation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Compoun</a:t>
            </a:r>
            <a:r>
              <a:rPr dirty="0" sz="1100">
                <a:latin typeface="Times New Roman"/>
                <a:cs typeface="Times New Roman"/>
              </a:rPr>
              <a:t>d</a:t>
            </a:r>
            <a:r>
              <a:rPr dirty="0" sz="1100" spc="-5">
                <a:latin typeface="Times New Roman"/>
                <a:cs typeface="Times New Roman"/>
              </a:rPr>
              <a:t> words  Flying coach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Marriage </a:t>
            </a:r>
            <a:r>
              <a:rPr dirty="0" sz="1100">
                <a:latin typeface="Times New Roman"/>
                <a:cs typeface="Times New Roman"/>
              </a:rPr>
              <a:t>party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 </a:t>
            </a:r>
            <a:r>
              <a:rPr dirty="0" sz="1100">
                <a:latin typeface="Times New Roman"/>
                <a:cs typeface="Times New Roman"/>
              </a:rPr>
              <a:t>percent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Derivations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Affectee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Pointation</a:t>
            </a:r>
            <a:endParaRPr sz="1100">
              <a:latin typeface="Times New Roman"/>
              <a:cs typeface="Times New Roman"/>
            </a:endParaRPr>
          </a:p>
          <a:p>
            <a:pPr marL="12700" marR="52044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meuseumize 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Urdu-English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hybrid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derivations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Goondaism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Dacoit</a:t>
            </a:r>
            <a:endParaRPr sz="1100">
              <a:latin typeface="Times New Roman"/>
              <a:cs typeface="Times New Roman"/>
            </a:endParaRPr>
          </a:p>
          <a:p>
            <a:pPr marL="12700" marR="54051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Dacoitee 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shift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monthly: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bribe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paid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month</a:t>
            </a:r>
            <a:endParaRPr sz="1100">
              <a:latin typeface="Times New Roman"/>
              <a:cs typeface="Times New Roman"/>
            </a:endParaRPr>
          </a:p>
          <a:p>
            <a:pPr marL="12700" marR="45599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gunman: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bank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guard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preposition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Fill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Cope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endParaRPr sz="1100">
              <a:latin typeface="Times New Roman"/>
              <a:cs typeface="Times New Roman"/>
            </a:endParaRPr>
          </a:p>
          <a:p>
            <a:pPr marL="12700" marR="385064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Lack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subject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-5">
                <a:latin typeface="Times New Roman"/>
                <a:cs typeface="Times New Roman"/>
              </a:rPr>
              <a:t> verb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inversion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laughing?</a:t>
            </a:r>
            <a:endParaRPr sz="1100">
              <a:latin typeface="Times New Roman"/>
              <a:cs typeface="Times New Roman"/>
            </a:endParaRPr>
          </a:p>
          <a:p>
            <a:pPr marL="12700" marR="495046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at?</a:t>
            </a:r>
            <a:endParaRPr sz="1100">
              <a:latin typeface="Times New Roman"/>
              <a:cs typeface="Times New Roman"/>
            </a:endParaRPr>
          </a:p>
          <a:p>
            <a:pPr marL="12700" marR="495046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Pluralization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uncountables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Equipments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1204595" cy="57975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Informations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Researches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Hairs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1216026"/>
            <a:ext cx="6376035" cy="7835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6642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Lesson-14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69215">
              <a:lnSpc>
                <a:spcPct val="100000"/>
              </a:lnSpc>
            </a:pPr>
            <a:r>
              <a:rPr dirty="0" sz="1400" spc="40">
                <a:latin typeface="Times New Roman"/>
                <a:cs typeface="Times New Roman"/>
              </a:rPr>
              <a:t>Variations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Across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50">
                <a:latin typeface="Times New Roman"/>
                <a:cs typeface="Times New Roman"/>
              </a:rPr>
              <a:t>Cultures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Topic-079:Contact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Literature-I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</a:t>
            </a:r>
            <a:endParaRPr sz="1100">
              <a:latin typeface="Times New Roman"/>
              <a:cs typeface="Times New Roman"/>
            </a:endParaRPr>
          </a:p>
          <a:p>
            <a:pPr marL="12700" marR="1651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non-Western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enables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</a:t>
            </a:r>
            <a:endParaRPr sz="1100">
              <a:latin typeface="Times New Roman"/>
              <a:cs typeface="Times New Roman"/>
            </a:endParaRPr>
          </a:p>
          <a:p>
            <a:pPr marL="12700" marR="215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Nativized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produced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surrounding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12700" marR="10439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literature written in </a:t>
            </a:r>
            <a:r>
              <a:rPr dirty="0" sz="1100">
                <a:latin typeface="Times New Roman"/>
                <a:cs typeface="Times New Roman"/>
              </a:rPr>
              <a:t>distinctive varieties of </a:t>
            </a:r>
            <a:r>
              <a:rPr dirty="0" sz="1100" spc="-5">
                <a:latin typeface="Times New Roman"/>
                <a:cs typeface="Times New Roman"/>
              </a:rPr>
              <a:t>English is </a:t>
            </a:r>
            <a:r>
              <a:rPr dirty="0" sz="1100">
                <a:latin typeface="Times New Roman"/>
                <a:cs typeface="Times New Roman"/>
              </a:rPr>
              <a:t>often </a:t>
            </a:r>
            <a:r>
              <a:rPr dirty="0" sz="1100" spc="-5">
                <a:latin typeface="Times New Roman"/>
                <a:cs typeface="Times New Roman"/>
              </a:rPr>
              <a:t>called contact literature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</a:t>
            </a:r>
            <a:endParaRPr sz="1100">
              <a:latin typeface="Times New Roman"/>
              <a:cs typeface="Times New Roman"/>
            </a:endParaRPr>
          </a:p>
          <a:p>
            <a:pPr marL="12700" marR="120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becomes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institutionalized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share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Western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traditions,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broadening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Beliefs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aspects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inexpressible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6972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Cultural material in contact literature stretches </a:t>
            </a:r>
            <a:r>
              <a:rPr dirty="0" sz="1100">
                <a:latin typeface="Times New Roman"/>
                <a:cs typeface="Times New Roman"/>
              </a:rPr>
              <a:t>or reshapes </a:t>
            </a:r>
            <a:r>
              <a:rPr dirty="0" sz="1100" spc="-5">
                <a:latin typeface="Times New Roman"/>
                <a:cs typeface="Times New Roman"/>
              </a:rPr>
              <a:t>the expressive </a:t>
            </a:r>
            <a:r>
              <a:rPr dirty="0" sz="1100">
                <a:latin typeface="Times New Roman"/>
                <a:cs typeface="Times New Roman"/>
              </a:rPr>
              <a:t>qualities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Beliefs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contact literature writers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exposure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effort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opportunity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observe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Topic-080:Contact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Literature-II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120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Implicitly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explicitly,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criteria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description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 in them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Choice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institutionalization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resulted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pluricentricity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2927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users of </a:t>
            </a:r>
            <a:r>
              <a:rPr dirty="0" sz="1100" spc="-5">
                <a:latin typeface="Times New Roman"/>
                <a:cs typeface="Times New Roman"/>
              </a:rPr>
              <a:t>English more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less consciously choose which model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to </a:t>
            </a:r>
            <a:r>
              <a:rPr dirty="0" sz="1100">
                <a:latin typeface="Times New Roman"/>
                <a:cs typeface="Times New Roman"/>
              </a:rPr>
              <a:t>follow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develop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variety</a:t>
            </a:r>
            <a:endParaRPr sz="1100">
              <a:latin typeface="Times New Roman"/>
              <a:cs typeface="Times New Roman"/>
            </a:endParaRPr>
          </a:p>
          <a:p>
            <a:pPr marL="12700" marR="305625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Many successful writers </a:t>
            </a:r>
            <a:r>
              <a:rPr dirty="0" sz="1100">
                <a:latin typeface="Times New Roman"/>
                <a:cs typeface="Times New Roman"/>
              </a:rPr>
              <a:t>do not follow Inner-Circle </a:t>
            </a:r>
            <a:r>
              <a:rPr dirty="0" sz="1100" spc="-5">
                <a:latin typeface="Times New Roman"/>
                <a:cs typeface="Times New Roman"/>
              </a:rPr>
              <a:t>models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variety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Depending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Formal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Thought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patterns</a:t>
            </a:r>
            <a:endParaRPr sz="1100">
              <a:latin typeface="Times New Roman"/>
              <a:cs typeface="Times New Roman"/>
            </a:endParaRPr>
          </a:p>
          <a:p>
            <a:pPr marL="12700" marR="48240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Discoursa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  </a:t>
            </a:r>
            <a:r>
              <a:rPr dirty="0" sz="1100" spc="-5">
                <a:latin typeface="Times New Roman"/>
                <a:cs typeface="Times New Roman"/>
              </a:rPr>
              <a:t>Choice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preference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able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present</a:t>
            </a:r>
            <a:r>
              <a:rPr dirty="0" sz="1100" spc="-5">
                <a:latin typeface="Times New Roman"/>
                <a:cs typeface="Times New Roman"/>
              </a:rPr>
              <a:t> the true spirit, traditions and </a:t>
            </a:r>
            <a:r>
              <a:rPr dirty="0" sz="1100">
                <a:latin typeface="Times New Roman"/>
                <a:cs typeface="Times New Roman"/>
              </a:rPr>
              <a:t>values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own </a:t>
            </a:r>
            <a:r>
              <a:rPr dirty="0" sz="1100" spc="-5">
                <a:latin typeface="Times New Roman"/>
                <a:cs typeface="Times New Roman"/>
              </a:rPr>
              <a:t>cultures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decolonized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made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images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Rushdie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Kachru&amp;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Nelson,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2006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842244"/>
            <a:ext cx="6389370" cy="6466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Topic-081:Concerns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about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Contact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Literature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452437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Concerns about contact literature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Credibility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Literature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consists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dimensions: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(conventions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syntax,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lexicon,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forth)</a:t>
            </a:r>
            <a:endParaRPr sz="1100">
              <a:latin typeface="Times New Roman"/>
              <a:cs typeface="Times New Roman"/>
            </a:endParaRPr>
          </a:p>
          <a:p>
            <a:pPr marL="12700" marR="6826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Cultural </a:t>
            </a:r>
            <a:r>
              <a:rPr dirty="0" sz="1100">
                <a:latin typeface="Times New Roman"/>
                <a:cs typeface="Times New Roman"/>
              </a:rPr>
              <a:t>(the personal or </a:t>
            </a:r>
            <a:r>
              <a:rPr dirty="0" sz="1100" spc="-5">
                <a:latin typeface="Times New Roman"/>
                <a:cs typeface="Times New Roman"/>
              </a:rPr>
              <a:t>cultural content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text including </a:t>
            </a:r>
            <a:r>
              <a:rPr dirty="0" sz="1100">
                <a:latin typeface="Times New Roman"/>
                <a:cs typeface="Times New Roman"/>
              </a:rPr>
              <a:t>philosophies, </a:t>
            </a:r>
            <a:r>
              <a:rPr dirty="0" sz="1100" spc="-5">
                <a:latin typeface="Times New Roman"/>
                <a:cs typeface="Times New Roman"/>
              </a:rPr>
              <a:t>attitudes aesthetics)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 contact literature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Credibility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</a:t>
            </a:r>
            <a:endParaRPr sz="1100">
              <a:latin typeface="Times New Roman"/>
              <a:cs typeface="Times New Roman"/>
            </a:endParaRPr>
          </a:p>
          <a:p>
            <a:pPr marL="12700" marR="419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challenge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depicting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life,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alien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endParaRPr sz="1100">
              <a:latin typeface="Times New Roman"/>
              <a:cs typeface="Times New Roman"/>
            </a:endParaRPr>
          </a:p>
          <a:p>
            <a:pPr marL="12700" marR="374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might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ineffective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since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non-English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inexpressible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452437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Concerns about contact literature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Credibility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</a:t>
            </a:r>
            <a:endParaRPr sz="1100">
              <a:latin typeface="Times New Roman"/>
              <a:cs typeface="Times New Roman"/>
            </a:endParaRPr>
          </a:p>
          <a:p>
            <a:pPr marL="12700" marR="311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alien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culture,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altered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suit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surroundings</a:t>
            </a:r>
            <a:endParaRPr sz="1100">
              <a:latin typeface="Times New Roman"/>
              <a:cs typeface="Times New Roman"/>
            </a:endParaRPr>
          </a:p>
          <a:p>
            <a:pPr marL="12700" marR="45008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Concerns about contact literature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Doubts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Mistrust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variation</a:t>
            </a:r>
            <a:endParaRPr sz="1100">
              <a:latin typeface="Times New Roman"/>
              <a:cs typeface="Times New Roman"/>
            </a:endParaRPr>
          </a:p>
          <a:p>
            <a:pPr marL="12700" marR="32353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Standard English is above the </a:t>
            </a:r>
            <a:r>
              <a:rPr dirty="0" sz="1100">
                <a:latin typeface="Times New Roman"/>
                <a:cs typeface="Times New Roman"/>
              </a:rPr>
              <a:t>reach of variation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 contact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Doubts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markedly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endParaRPr sz="1100">
              <a:latin typeface="Times New Roman"/>
              <a:cs typeface="Times New Roman"/>
            </a:endParaRPr>
          </a:p>
          <a:p>
            <a:pPr marL="12700" marR="25742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loan words </a:t>
            </a:r>
            <a:r>
              <a:rPr dirty="0" sz="1100">
                <a:latin typeface="Times New Roman"/>
                <a:cs typeface="Times New Roman"/>
              </a:rPr>
              <a:t>from other </a:t>
            </a:r>
            <a:r>
              <a:rPr dirty="0" sz="1100" spc="-5">
                <a:latin typeface="Times New Roman"/>
                <a:cs typeface="Times New Roman"/>
              </a:rPr>
              <a:t>languages enter the lexicon </a:t>
            </a:r>
            <a:r>
              <a:rPr dirty="0" sz="1100">
                <a:latin typeface="Times New Roman"/>
                <a:cs typeface="Times New Roman"/>
              </a:rPr>
              <a:t>regularly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 contact literature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Doubts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Variations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usage,</a:t>
            </a:r>
            <a:r>
              <a:rPr dirty="0" sz="1100" spc="-5">
                <a:latin typeface="Times New Roman"/>
                <a:cs typeface="Times New Roman"/>
              </a:rPr>
              <a:t> lexicon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American, Canadian,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Irish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1095375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wide </a:t>
            </a:r>
            <a:r>
              <a:rPr dirty="0" sz="1100">
                <a:latin typeface="Times New Roman"/>
                <a:cs typeface="Times New Roman"/>
              </a:rPr>
              <a:t>range of variation </a:t>
            </a:r>
            <a:r>
              <a:rPr dirty="0" sz="1100" spc="-5">
                <a:latin typeface="Times New Roman"/>
                <a:cs typeface="Times New Roman"/>
              </a:rPr>
              <a:t>is tolerable among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"inner circle" speakers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Doubts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 </a:t>
            </a:r>
            <a:r>
              <a:rPr dirty="0" sz="1100">
                <a:latin typeface="Times New Roman"/>
                <a:cs typeface="Times New Roman"/>
              </a:rPr>
              <a:t>varieties 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“We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English....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Indians....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therefore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dialect which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 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day</a:t>
            </a:r>
            <a:r>
              <a:rPr dirty="0" sz="1100">
                <a:latin typeface="Times New Roman"/>
                <a:cs typeface="Times New Roman"/>
              </a:rPr>
              <a:t> prove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be </a:t>
            </a:r>
            <a:r>
              <a:rPr dirty="0" sz="1100" spc="-5">
                <a:latin typeface="Times New Roman"/>
                <a:cs typeface="Times New Roman"/>
              </a:rPr>
              <a:t>as distinctive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colorful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Irish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American”.</a:t>
            </a:r>
            <a:endParaRPr sz="1100">
              <a:latin typeface="Times New Roman"/>
              <a:cs typeface="Times New Roman"/>
            </a:endParaRPr>
          </a:p>
          <a:p>
            <a:pPr marL="12700" marR="3580129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Raja Rao cited in Kachru&amp; Nelson, </a:t>
            </a:r>
            <a:r>
              <a:rPr dirty="0" sz="1100">
                <a:latin typeface="Times New Roman"/>
                <a:cs typeface="Times New Roman"/>
              </a:rPr>
              <a:t>2006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Doubts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 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perspective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reveals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points: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7282940"/>
            <a:ext cx="130175" cy="39497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1.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2.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8900" y="7282940"/>
            <a:ext cx="5904230" cy="39497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newer</a:t>
            </a:r>
            <a:r>
              <a:rPr dirty="0" sz="1100" spc="3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3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3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studied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3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3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</a:t>
            </a:r>
            <a:r>
              <a:rPr dirty="0" sz="1100" spc="3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respect</a:t>
            </a:r>
            <a:r>
              <a:rPr dirty="0" sz="1100" spc="3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3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7669421"/>
            <a:ext cx="6369685" cy="1657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established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Irish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Topic-082:Features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Contact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Literature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Foreign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Foreign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before</a:t>
            </a:r>
            <a:r>
              <a:rPr dirty="0" sz="1100" spc="-5">
                <a:latin typeface="Times New Roman"/>
                <a:cs typeface="Times New Roman"/>
              </a:rPr>
              <a:t> 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endParaRPr sz="1100">
              <a:latin typeface="Times New Roman"/>
              <a:cs typeface="Times New Roman"/>
            </a:endParaRPr>
          </a:p>
          <a:p>
            <a:pPr marL="12700" marR="36506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Most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these influences were European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Foreign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colonization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exhibit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2700" cy="8693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665345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languages and cultures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Foreign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postcolonial</a:t>
            </a:r>
            <a:r>
              <a:rPr dirty="0" sz="1100" spc="-5">
                <a:latin typeface="Times New Roman"/>
                <a:cs typeface="Times New Roman"/>
              </a:rPr>
              <a:t> scenario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undergo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localization</a:t>
            </a:r>
            <a:endParaRPr sz="1100">
              <a:latin typeface="Times New Roman"/>
              <a:cs typeface="Times New Roman"/>
            </a:endParaRPr>
          </a:p>
          <a:p>
            <a:pPr marL="12700" marR="7423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impact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local languages and culture </a:t>
            </a:r>
            <a:r>
              <a:rPr dirty="0" sz="1100">
                <a:latin typeface="Times New Roman"/>
                <a:cs typeface="Times New Roman"/>
              </a:rPr>
              <a:t>has been </a:t>
            </a:r>
            <a:r>
              <a:rPr dirty="0" sz="1100" spc="-5">
                <a:latin typeface="Times New Roman"/>
                <a:cs typeface="Times New Roman"/>
              </a:rPr>
              <a:t>the main cause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language </a:t>
            </a:r>
            <a:r>
              <a:rPr dirty="0" sz="1100">
                <a:latin typeface="Times New Roman"/>
                <a:cs typeface="Times New Roman"/>
              </a:rPr>
              <a:t>variation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contact literature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network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connections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discourse</a:t>
            </a:r>
            <a:endParaRPr sz="1100">
              <a:latin typeface="Times New Roman"/>
              <a:cs typeface="Times New Roman"/>
            </a:endParaRPr>
          </a:p>
          <a:p>
            <a:pPr marL="12700" marR="46691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features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Creativity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literary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creativity,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adapted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represent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reality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situations</a:t>
            </a:r>
            <a:endParaRPr sz="1100">
              <a:latin typeface="Times New Roman"/>
              <a:cs typeface="Times New Roman"/>
            </a:endParaRPr>
          </a:p>
          <a:p>
            <a:pPr marL="12700" marR="21050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should </a:t>
            </a:r>
            <a:r>
              <a:rPr dirty="0" sz="1100">
                <a:latin typeface="Times New Roman"/>
                <a:cs typeface="Times New Roman"/>
              </a:rPr>
              <a:t>represent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fervor </a:t>
            </a:r>
            <a:r>
              <a:rPr dirty="0" sz="1100" spc="-5">
                <a:latin typeface="Times New Roman"/>
                <a:cs typeface="Times New Roman"/>
              </a:rPr>
              <a:t>and zeal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life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region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contact literature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blend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Literary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traditions</a:t>
            </a:r>
            <a:endParaRPr sz="1100">
              <a:latin typeface="Times New Roman"/>
              <a:cs typeface="Times New Roman"/>
            </a:endParaRPr>
          </a:p>
          <a:p>
            <a:pPr marL="12700" marR="40239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Extension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 categories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contact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exhibit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</a:t>
            </a:r>
            <a:r>
              <a:rPr dirty="0" sz="1100" spc="-5">
                <a:latin typeface="Times New Roman"/>
                <a:cs typeface="Times New Roman"/>
              </a:rPr>
              <a:t> identity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distinctiveness</a:t>
            </a:r>
            <a:endParaRPr sz="1100">
              <a:latin typeface="Times New Roman"/>
              <a:cs typeface="Times New Roman"/>
            </a:endParaRPr>
          </a:p>
          <a:p>
            <a:pPr marL="12700" marR="1511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Contact with African and Asian languages and cultures exhibit </a:t>
            </a:r>
            <a:r>
              <a:rPr dirty="0" sz="1100">
                <a:latin typeface="Times New Roman"/>
                <a:cs typeface="Times New Roman"/>
              </a:rPr>
              <a:t>features of </a:t>
            </a:r>
            <a:r>
              <a:rPr dirty="0" sz="1100" spc="-5">
                <a:latin typeface="Times New Roman"/>
                <a:cs typeface="Times New Roman"/>
              </a:rPr>
              <a:t>local languages and cultures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12700" marR="372808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Your </a:t>
            </a:r>
            <a:r>
              <a:rPr dirty="0" sz="1100">
                <a:latin typeface="Times New Roman"/>
                <a:cs typeface="Times New Roman"/>
              </a:rPr>
              <a:t>behavior </a:t>
            </a:r>
            <a:r>
              <a:rPr dirty="0" sz="1100" spc="-5">
                <a:latin typeface="Times New Roman"/>
                <a:cs typeface="Times New Roman"/>
              </a:rPr>
              <a:t>tantamounts to insubordination.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doesn’t worth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price.</a:t>
            </a:r>
            <a:endParaRPr sz="1100">
              <a:latin typeface="Times New Roman"/>
              <a:cs typeface="Times New Roman"/>
            </a:endParaRPr>
          </a:p>
          <a:p>
            <a:pPr marL="12700" marR="40386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They insisted to </a:t>
            </a:r>
            <a:r>
              <a:rPr dirty="0" sz="1100">
                <a:latin typeface="Times New Roman"/>
                <a:cs typeface="Times New Roman"/>
              </a:rPr>
              <a:t>go </a:t>
            </a:r>
            <a:r>
              <a:rPr dirty="0" sz="1100" spc="-5">
                <a:latin typeface="Times New Roman"/>
                <a:cs typeface="Times New Roman"/>
              </a:rPr>
              <a:t>in spite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my advice.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smart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</a:t>
            </a:r>
            <a:r>
              <a:rPr dirty="0" sz="1100" spc="-5">
                <a:latin typeface="Times New Roman"/>
                <a:cs typeface="Times New Roman"/>
              </a:rPr>
              <a:t> specially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kurta.</a:t>
            </a:r>
            <a:endParaRPr sz="1100">
              <a:latin typeface="Times New Roman"/>
              <a:cs typeface="Times New Roman"/>
            </a:endParaRPr>
          </a:p>
          <a:p>
            <a:pPr marL="12700" marR="280797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 sehan would </a:t>
            </a:r>
            <a:r>
              <a:rPr dirty="0" sz="1100">
                <a:latin typeface="Times New Roman"/>
                <a:cs typeface="Times New Roman"/>
              </a:rPr>
              <a:t>have been </a:t>
            </a:r>
            <a:r>
              <a:rPr dirty="0" sz="1100" spc="-5">
                <a:latin typeface="Times New Roman"/>
                <a:cs typeface="Times New Roman"/>
              </a:rPr>
              <a:t>spacious and may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even </a:t>
            </a:r>
            <a:r>
              <a:rPr dirty="0" sz="1100">
                <a:latin typeface="Times New Roman"/>
                <a:cs typeface="Times New Roman"/>
              </a:rPr>
              <a:t>pleasant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 show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when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reaches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cultural contexts,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change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inevitable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Topic-083:Language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Use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by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Multilinguals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Multilingual’s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repertoire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Multilinguals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possess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repertoire</a:t>
            </a:r>
            <a:endParaRPr sz="1100">
              <a:latin typeface="Times New Roman"/>
              <a:cs typeface="Times New Roman"/>
            </a:endParaRPr>
          </a:p>
          <a:p>
            <a:pPr marL="12700" marR="88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choose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resources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repertoire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present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complexity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Mixing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discoursal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stylistic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strategies</a:t>
            </a:r>
            <a:endParaRPr sz="1100">
              <a:latin typeface="Times New Roman"/>
              <a:cs typeface="Times New Roman"/>
            </a:endParaRPr>
          </a:p>
          <a:p>
            <a:pPr marL="12700" marR="26695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Texts are </a:t>
            </a:r>
            <a:r>
              <a:rPr dirty="0" sz="1100">
                <a:latin typeface="Times New Roman"/>
                <a:cs typeface="Times New Roman"/>
              </a:rPr>
              <a:t>nativised by using </a:t>
            </a:r>
            <a:r>
              <a:rPr dirty="0" sz="1100" spc="-5">
                <a:latin typeface="Times New Roman"/>
                <a:cs typeface="Times New Roman"/>
              </a:rPr>
              <a:t>multiple styles and strategies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nature 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nativization of </a:t>
            </a:r>
            <a:r>
              <a:rPr dirty="0" sz="1100" spc="-5">
                <a:latin typeface="Times New Roman"/>
                <a:cs typeface="Times New Roman"/>
              </a:rPr>
              <a:t>texts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readers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cultural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participate</a:t>
            </a:r>
            <a:r>
              <a:rPr dirty="0" sz="1100" spc="-5">
                <a:latin typeface="Times New Roman"/>
                <a:cs typeface="Times New Roman"/>
              </a:rPr>
              <a:t> to </a:t>
            </a:r>
            <a:r>
              <a:rPr dirty="0" sz="1100">
                <a:latin typeface="Times New Roman"/>
                <a:cs typeface="Times New Roman"/>
              </a:rPr>
              <a:t>understand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</a:t>
            </a:r>
            <a:endParaRPr sz="1100">
              <a:latin typeface="Times New Roman"/>
              <a:cs typeface="Times New Roman"/>
            </a:endParaRPr>
          </a:p>
          <a:p>
            <a:pPr marL="12700" marR="32175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If </a:t>
            </a:r>
            <a:r>
              <a:rPr dirty="0" sz="1100" spc="-5">
                <a:latin typeface="Times New Roman"/>
                <a:cs typeface="Times New Roman"/>
              </a:rPr>
              <a:t>they cannot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this, the text </a:t>
            </a:r>
            <a:r>
              <a:rPr dirty="0" sz="1100">
                <a:latin typeface="Times New Roman"/>
                <a:cs typeface="Times New Roman"/>
              </a:rPr>
              <a:t>becomes </a:t>
            </a:r>
            <a:r>
              <a:rPr dirty="0" sz="1100" spc="-5">
                <a:latin typeface="Times New Roman"/>
                <a:cs typeface="Times New Roman"/>
              </a:rPr>
              <a:t>limiting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nature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nativization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texts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Attention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reading</a:t>
            </a:r>
            <a:r>
              <a:rPr dirty="0" sz="1100" spc="-5">
                <a:latin typeface="Times New Roman"/>
                <a:cs typeface="Times New Roman"/>
              </a:rPr>
              <a:t> 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rewarded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improved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characterizations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innovations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7145" cy="813879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such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strengthens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world Englishes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“….Coomar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took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Raman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seated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carpet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offered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him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five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hundred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rupees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tucked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amidst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betel leaves,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coconuts and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-5">
                <a:latin typeface="Times New Roman"/>
                <a:cs typeface="Times New Roman"/>
              </a:rPr>
              <a:t> bunch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bananas </a:t>
            </a:r>
            <a:r>
              <a:rPr dirty="0" sz="1100">
                <a:latin typeface="Times New Roman"/>
                <a:cs typeface="Times New Roman"/>
              </a:rPr>
              <a:t>on a</a:t>
            </a:r>
            <a:r>
              <a:rPr dirty="0" sz="1100" spc="-5">
                <a:latin typeface="Times New Roman"/>
                <a:cs typeface="Times New Roman"/>
              </a:rPr>
              <a:t> tray.”</a:t>
            </a:r>
            <a:endParaRPr sz="1100">
              <a:latin typeface="Times New Roman"/>
              <a:cs typeface="Times New Roman"/>
            </a:endParaRPr>
          </a:p>
          <a:p>
            <a:pPr marL="12700" marR="231838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“….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Goddess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Lakshmi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kind,’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Coomar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say.”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markers</a:t>
            </a:r>
            <a:endParaRPr sz="1100">
              <a:latin typeface="Times New Roman"/>
              <a:cs typeface="Times New Roman"/>
            </a:endParaRPr>
          </a:p>
          <a:p>
            <a:pPr marL="12700" marR="152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Items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signal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solidarity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interlocutors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 </a:t>
            </a:r>
            <a:r>
              <a:rPr dirty="0" sz="1100">
                <a:latin typeface="Times New Roman"/>
                <a:cs typeface="Times New Roman"/>
              </a:rPr>
              <a:t> polite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Zealand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la(h)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Malaysian-Singapore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ji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Pakistani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Topic-084:Strategies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Text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Nativization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Rhetorical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Ways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writers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effectively,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efficiently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coherently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present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points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view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topic.</a:t>
            </a:r>
            <a:endParaRPr sz="1100">
              <a:latin typeface="Times New Roman"/>
              <a:cs typeface="Times New Roman"/>
            </a:endParaRPr>
          </a:p>
          <a:p>
            <a:pPr marL="12700" marR="193928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Methods that allow writers to convey their thoughts most convincingly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Rhetorical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strategies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Figures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rhetorical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device</a:t>
            </a:r>
            <a:r>
              <a:rPr dirty="0" sz="1100" spc="-5">
                <a:latin typeface="Times New Roman"/>
                <a:cs typeface="Times New Roman"/>
              </a:rPr>
              <a:t> 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achieves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using</a:t>
            </a:r>
            <a:r>
              <a:rPr dirty="0" sz="1100" spc="-5">
                <a:latin typeface="Times New Roman"/>
                <a:cs typeface="Times New Roman"/>
              </a:rPr>
              <a:t> words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distinctive</a:t>
            </a:r>
            <a:r>
              <a:rPr dirty="0" sz="1100" spc="-5">
                <a:latin typeface="Times New Roman"/>
                <a:cs typeface="Times New Roman"/>
              </a:rPr>
              <a:t> way.</a:t>
            </a:r>
            <a:endParaRPr sz="1100">
              <a:latin typeface="Times New Roman"/>
              <a:cs typeface="Times New Roman"/>
            </a:endParaRPr>
          </a:p>
          <a:p>
            <a:pPr marL="12700" marR="21304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or phrase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has a </a:t>
            </a:r>
            <a:r>
              <a:rPr dirty="0" sz="1100" spc="-5">
                <a:latin typeface="Times New Roman"/>
                <a:cs typeface="Times New Roman"/>
              </a:rPr>
              <a:t>meaning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than the literal meaning.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Rhetorical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strategies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Figures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endParaRPr sz="1100">
              <a:latin typeface="Times New Roman"/>
              <a:cs typeface="Times New Roman"/>
            </a:endParaRPr>
          </a:p>
          <a:p>
            <a:pPr marL="12700" marR="39401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Evoke the local concepts traditions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12700" marR="371602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‘Pythons as big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coconut trunks’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Authentication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Supporting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cultural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phrases:</a:t>
            </a:r>
            <a:endParaRPr sz="1100">
              <a:latin typeface="Times New Roman"/>
              <a:cs typeface="Times New Roman"/>
            </a:endParaRPr>
          </a:p>
          <a:p>
            <a:pPr marL="12700" marR="486537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‘our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saying’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elders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said’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Transcreating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proverbs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idioms</a:t>
            </a:r>
            <a:endParaRPr sz="1100">
              <a:latin typeface="Times New Roman"/>
              <a:cs typeface="Times New Roman"/>
            </a:endParaRPr>
          </a:p>
          <a:p>
            <a:pPr marL="12700" marR="571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Transcreation: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adapting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another,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while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maintaining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intent,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style,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tone and context</a:t>
            </a:r>
            <a:endParaRPr sz="1100">
              <a:latin typeface="Times New Roman"/>
              <a:cs typeface="Times New Roman"/>
            </a:endParaRPr>
          </a:p>
          <a:p>
            <a:pPr marL="12700" marR="43656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Transcreating </a:t>
            </a:r>
            <a:r>
              <a:rPr dirty="0" sz="1100">
                <a:latin typeface="Times New Roman"/>
                <a:cs typeface="Times New Roman"/>
              </a:rPr>
              <a:t>proverbs </a:t>
            </a:r>
            <a:r>
              <a:rPr dirty="0" sz="1100" spc="-5">
                <a:latin typeface="Times New Roman"/>
                <a:cs typeface="Times New Roman"/>
              </a:rPr>
              <a:t>and idioms </a:t>
            </a:r>
            <a:r>
              <a:rPr dirty="0" sz="1100">
                <a:latin typeface="Times New Roman"/>
                <a:cs typeface="Times New Roman"/>
              </a:rPr>
              <a:t> Indigenization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proverbs: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English: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fire</a:t>
            </a:r>
            <a:endParaRPr sz="1100">
              <a:latin typeface="Times New Roman"/>
              <a:cs typeface="Times New Roman"/>
            </a:endParaRPr>
          </a:p>
          <a:p>
            <a:pPr marL="12700" marR="227203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African: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Okonkwo’s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“had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bush-fire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harmattan.”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palm oil 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 are eaten.’</a:t>
            </a:r>
            <a:endParaRPr sz="1100">
              <a:latin typeface="Times New Roman"/>
              <a:cs typeface="Times New Roman"/>
            </a:endParaRPr>
          </a:p>
          <a:p>
            <a:pPr marL="12700" marR="446024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Culturally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dependent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style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initial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Asking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direct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questions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Asking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rhetorical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questions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61912"/>
            <a:ext cx="6365240" cy="8758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55625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Lesson-15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21590">
              <a:lnSpc>
                <a:spcPct val="100000"/>
              </a:lnSpc>
            </a:pPr>
            <a:r>
              <a:rPr dirty="0" sz="1400" spc="40">
                <a:latin typeface="Times New Roman"/>
                <a:cs typeface="Times New Roman"/>
              </a:rPr>
              <a:t>Variations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35">
                <a:latin typeface="Times New Roman"/>
                <a:cs typeface="Times New Roman"/>
              </a:rPr>
              <a:t>in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60">
                <a:latin typeface="Times New Roman"/>
                <a:cs typeface="Times New Roman"/>
              </a:rPr>
              <a:t>World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25">
                <a:latin typeface="Times New Roman"/>
                <a:cs typeface="Times New Roman"/>
              </a:rPr>
              <a:t>Englishes: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25">
                <a:latin typeface="Times New Roman"/>
                <a:cs typeface="Times New Roman"/>
              </a:rPr>
              <a:t>Linguistic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50">
                <a:latin typeface="Times New Roman"/>
                <a:cs typeface="Times New Roman"/>
              </a:rPr>
              <a:t>Features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Topic-085:Phonology-I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85: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Results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how,</a:t>
            </a:r>
            <a:r>
              <a:rPr dirty="0" sz="1100" spc="-5">
                <a:latin typeface="Times New Roman"/>
                <a:cs typeface="Times New Roman"/>
              </a:rPr>
              <a:t> where,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</a:t>
            </a:r>
            <a:r>
              <a:rPr dirty="0" sz="1100" spc="-5">
                <a:latin typeface="Times New Roman"/>
                <a:cs typeface="Times New Roman"/>
              </a:rPr>
              <a:t> learned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he/she</a:t>
            </a:r>
            <a:r>
              <a:rPr dirty="0" sz="1100" spc="-5">
                <a:latin typeface="Times New Roman"/>
                <a:cs typeface="Times New Roman"/>
              </a:rPr>
              <a:t> speaks</a:t>
            </a:r>
            <a:endParaRPr sz="1100">
              <a:latin typeface="Times New Roman"/>
              <a:cs typeface="Times New Roman"/>
            </a:endParaRPr>
          </a:p>
          <a:p>
            <a:pPr marL="12700" marR="19037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Is determined by </a:t>
            </a:r>
            <a:r>
              <a:rPr dirty="0" sz="1100" spc="-5">
                <a:latin typeface="Times New Roman"/>
                <a:cs typeface="Times New Roman"/>
              </a:rPr>
              <a:t>where they live and what social </a:t>
            </a:r>
            <a:r>
              <a:rPr dirty="0" sz="1100">
                <a:latin typeface="Times New Roman"/>
                <a:cs typeface="Times New Roman"/>
              </a:rPr>
              <a:t>groups </a:t>
            </a: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>
                <a:latin typeface="Times New Roman"/>
                <a:cs typeface="Times New Roman"/>
              </a:rPr>
              <a:t>belong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an accent?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People who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 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 contact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share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way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>
                <a:latin typeface="Times New Roman"/>
                <a:cs typeface="Times New Roman"/>
              </a:rPr>
              <a:t> (accent) 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way</a:t>
            </a:r>
            <a:r>
              <a:rPr dirty="0" sz="1100">
                <a:latin typeface="Times New Roman"/>
                <a:cs typeface="Times New Roman"/>
              </a:rPr>
              <a:t> other groups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places </a:t>
            </a:r>
            <a:r>
              <a:rPr dirty="0" sz="1100" spc="-5">
                <a:latin typeface="Times New Roman"/>
                <a:cs typeface="Times New Roman"/>
              </a:rPr>
              <a:t>speak</a:t>
            </a:r>
            <a:endParaRPr sz="1100">
              <a:latin typeface="Times New Roman"/>
              <a:cs typeface="Times New Roman"/>
            </a:endParaRPr>
          </a:p>
          <a:p>
            <a:pPr marL="12700" marR="21907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differences </a:t>
            </a:r>
            <a:r>
              <a:rPr dirty="0" sz="1100" spc="-5">
                <a:latin typeface="Times New Roman"/>
                <a:cs typeface="Times New Roman"/>
              </a:rPr>
              <a:t>are in stress and </a:t>
            </a:r>
            <a:r>
              <a:rPr dirty="0" sz="1100">
                <a:latin typeface="Times New Roman"/>
                <a:cs typeface="Times New Roman"/>
              </a:rPr>
              <a:t>rhythm </a:t>
            </a:r>
            <a:r>
              <a:rPr dirty="0" sz="1100" spc="-5">
                <a:latin typeface="Times New Roman"/>
                <a:cs typeface="Times New Roman"/>
              </a:rPr>
              <a:t>and in segmental </a:t>
            </a:r>
            <a:r>
              <a:rPr dirty="0" sz="1100">
                <a:latin typeface="Times New Roman"/>
                <a:cs typeface="Times New Roman"/>
              </a:rPr>
              <a:t>features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rhythm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assignment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nativised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 follow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 </a:t>
            </a:r>
            <a:r>
              <a:rPr dirty="0" sz="1100">
                <a:latin typeface="Times New Roman"/>
                <a:cs typeface="Times New Roman"/>
              </a:rPr>
              <a:t>rules</a:t>
            </a:r>
            <a:r>
              <a:rPr dirty="0" sz="1100" spc="-5">
                <a:latin typeface="Times New Roman"/>
                <a:cs typeface="Times New Roman"/>
              </a:rPr>
              <a:t>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inner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26206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distinctive </a:t>
            </a:r>
            <a:r>
              <a:rPr dirty="0" sz="1100" spc="-5">
                <a:latin typeface="Times New Roman"/>
                <a:cs typeface="Times New Roman"/>
              </a:rPr>
              <a:t>and may appear </a:t>
            </a:r>
            <a:r>
              <a:rPr dirty="0" sz="1100">
                <a:latin typeface="Times New Roman"/>
                <a:cs typeface="Times New Roman"/>
              </a:rPr>
              <a:t>peculiar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rhythm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‘success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suc'cess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recog'nize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'recognize</a:t>
            </a:r>
            <a:endParaRPr sz="1100">
              <a:latin typeface="Times New Roman"/>
              <a:cs typeface="Times New Roman"/>
            </a:endParaRPr>
          </a:p>
          <a:p>
            <a:pPr marL="12700" marR="41916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photo'graphy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pho'tography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rhythm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Syllable-timed</a:t>
            </a:r>
            <a:endParaRPr sz="1100">
              <a:latin typeface="Times New Roman"/>
              <a:cs typeface="Times New Roman"/>
            </a:endParaRPr>
          </a:p>
          <a:p>
            <a:pPr marL="12700" marR="114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assignment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attachedto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morae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(weight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duration)</a:t>
            </a:r>
            <a:endParaRPr sz="1100">
              <a:latin typeface="Times New Roman"/>
              <a:cs typeface="Times New Roman"/>
            </a:endParaRPr>
          </a:p>
          <a:p>
            <a:pPr marL="12700" marR="30378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primary </a:t>
            </a:r>
            <a:r>
              <a:rPr dirty="0" sz="1100" spc="-5">
                <a:latin typeface="Times New Roman"/>
                <a:cs typeface="Times New Roman"/>
              </a:rPr>
              <a:t>stress </a:t>
            </a:r>
            <a:r>
              <a:rPr dirty="0" sz="1100">
                <a:latin typeface="Times New Roman"/>
                <a:cs typeface="Times New Roman"/>
              </a:rPr>
              <a:t>goes </a:t>
            </a:r>
            <a:r>
              <a:rPr dirty="0" sz="1100" spc="-5">
                <a:latin typeface="Times New Roman"/>
                <a:cs typeface="Times New Roman"/>
              </a:rPr>
              <a:t>with the weightier syllable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rhythm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Syllable-timed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12700" marR="114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assignment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based on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values </a:t>
            </a:r>
            <a:r>
              <a:rPr dirty="0" sz="1100" spc="-5">
                <a:latin typeface="Times New Roman"/>
                <a:cs typeface="Times New Roman"/>
              </a:rPr>
              <a:t>attached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morae</a:t>
            </a:r>
            <a:r>
              <a:rPr dirty="0" sz="1100">
                <a:latin typeface="Times New Roman"/>
                <a:cs typeface="Times New Roman"/>
              </a:rPr>
              <a:t> (weight of </a:t>
            </a:r>
            <a:r>
              <a:rPr dirty="0" sz="1100" spc="-5">
                <a:latin typeface="Times New Roman"/>
                <a:cs typeface="Times New Roman"/>
              </a:rPr>
              <a:t>syllables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duration)</a:t>
            </a:r>
            <a:endParaRPr sz="1100">
              <a:latin typeface="Times New Roman"/>
              <a:cs typeface="Times New Roman"/>
            </a:endParaRPr>
          </a:p>
          <a:p>
            <a:pPr marL="12700" marR="30378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primary </a:t>
            </a:r>
            <a:r>
              <a:rPr dirty="0" sz="1100" spc="-5">
                <a:latin typeface="Times New Roman"/>
                <a:cs typeface="Times New Roman"/>
              </a:rPr>
              <a:t>stress </a:t>
            </a:r>
            <a:r>
              <a:rPr dirty="0" sz="1100">
                <a:latin typeface="Times New Roman"/>
                <a:cs typeface="Times New Roman"/>
              </a:rPr>
              <a:t>goes </a:t>
            </a:r>
            <a:r>
              <a:rPr dirty="0" sz="1100" spc="-5">
                <a:latin typeface="Times New Roman"/>
                <a:cs typeface="Times New Roman"/>
              </a:rPr>
              <a:t>with the weightier syllable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rhythm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Stress-timed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stresses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occur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regular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intervals</a:t>
            </a:r>
            <a:endParaRPr sz="1100">
              <a:latin typeface="Times New Roman"/>
              <a:cs typeface="Times New Roman"/>
            </a:endParaRPr>
          </a:p>
          <a:p>
            <a:pPr marL="12700" marR="82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unstressed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squeezed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accommodate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regular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rhythm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Topic-086:Phonology-II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471233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Distinctive stress and </a:t>
            </a:r>
            <a:r>
              <a:rPr dirty="0" sz="1100">
                <a:latin typeface="Times New Roman"/>
                <a:cs typeface="Times New Roman"/>
              </a:rPr>
              <a:t>rhythm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L1</a:t>
            </a:r>
            <a:endParaRPr sz="1100">
              <a:latin typeface="Times New Roman"/>
              <a:cs typeface="Times New Roman"/>
            </a:endParaRPr>
          </a:p>
          <a:p>
            <a:pPr marL="12700" marR="9271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Nativized </a:t>
            </a:r>
            <a:r>
              <a:rPr dirty="0" sz="1100">
                <a:latin typeface="Times New Roman"/>
                <a:cs typeface="Times New Roman"/>
              </a:rPr>
              <a:t>varieties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follow </a:t>
            </a:r>
            <a:r>
              <a:rPr dirty="0" sz="1100" spc="-5">
                <a:latin typeface="Times New Roman"/>
                <a:cs typeface="Times New Roman"/>
              </a:rPr>
              <a:t>the conventions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first </a:t>
            </a:r>
            <a:r>
              <a:rPr dirty="0" sz="1100" spc="-5">
                <a:latin typeface="Times New Roman"/>
                <a:cs typeface="Times New Roman"/>
              </a:rPr>
              <a:t>languages in stress assignment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biology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:ba-yo-lo-ji</a:t>
            </a:r>
            <a:endParaRPr sz="1100">
              <a:latin typeface="Times New Roman"/>
              <a:cs typeface="Times New Roman"/>
            </a:endParaRPr>
          </a:p>
          <a:p>
            <a:pPr marL="469900" marR="3995420" indent="-4572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'bi-o-lo-gy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bi-o-'lo-gy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possible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bi'ology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3619500" cy="4089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966595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Distinctive stress and </a:t>
            </a:r>
            <a:r>
              <a:rPr dirty="0" sz="1100">
                <a:latin typeface="Times New Roman"/>
                <a:cs typeface="Times New Roman"/>
              </a:rPr>
              <a:t>rhythm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12700" marR="273748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Development </a:t>
            </a:r>
            <a:r>
              <a:rPr dirty="0" sz="1100">
                <a:latin typeface="Times New Roman"/>
                <a:cs typeface="Times New Roman"/>
              </a:rPr>
              <a:t> de-ve-lop-ment  de'velopment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Distinctive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rhythm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stress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12700" marR="1934845">
              <a:lnSpc>
                <a:spcPct val="110200"/>
              </a:lnSpc>
              <a:tabLst>
                <a:tab pos="926465" algn="l"/>
                <a:tab pos="1136015" algn="l"/>
              </a:tabLst>
            </a:pPr>
            <a:r>
              <a:rPr dirty="0" sz="1100" spc="-5">
                <a:latin typeface="Times New Roman"/>
                <a:cs typeface="Times New Roman"/>
              </a:rPr>
              <a:t>Verb: im'port	con'tent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Noun: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‘import		'content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Distinctive stress and </a:t>
            </a:r>
            <a:r>
              <a:rPr dirty="0" sz="1100">
                <a:latin typeface="Times New Roman"/>
                <a:cs typeface="Times New Roman"/>
              </a:rPr>
              <a:t>rhythm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 </a:t>
            </a:r>
            <a:r>
              <a:rPr dirty="0" sz="1100">
                <a:latin typeface="Times New Roman"/>
                <a:cs typeface="Times New Roman"/>
              </a:rPr>
              <a:t>use of </a:t>
            </a:r>
            <a:r>
              <a:rPr dirty="0" sz="1100" spc="-5">
                <a:latin typeface="Times New Roman"/>
                <a:cs typeface="Times New Roman"/>
              </a:rPr>
              <a:t>contrastive stress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focussing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Jamil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endParaRPr sz="1100">
              <a:latin typeface="Times New Roman"/>
              <a:cs typeface="Times New Roman"/>
            </a:endParaRPr>
          </a:p>
          <a:p>
            <a:pPr marL="12700" marR="2861945" indent="45720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JAMIL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did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endParaRPr sz="1100">
              <a:latin typeface="Times New Roman"/>
              <a:cs typeface="Times New Roman"/>
            </a:endParaRPr>
          </a:p>
          <a:p>
            <a:pPr marL="12700" marR="196659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Distinctive stress and </a:t>
            </a:r>
            <a:r>
              <a:rPr dirty="0" sz="1100">
                <a:latin typeface="Times New Roman"/>
                <a:cs typeface="Times New Roman"/>
              </a:rPr>
              <a:t>rhythm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Spelling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pronunciation</a:t>
            </a:r>
            <a:endParaRPr sz="1100">
              <a:latin typeface="Times New Roman"/>
              <a:cs typeface="Times New Roman"/>
            </a:endParaRPr>
          </a:p>
          <a:p>
            <a:pPr marL="12700" marR="11607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There’s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practice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spelling pronunciation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4727962"/>
            <a:ext cx="8286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52145" algn="l"/>
              </a:tabLst>
            </a:pPr>
            <a:r>
              <a:rPr dirty="0" sz="1100">
                <a:latin typeface="Times New Roman"/>
                <a:cs typeface="Times New Roman"/>
              </a:rPr>
              <a:t>p</a:t>
            </a:r>
            <a:r>
              <a:rPr dirty="0" sz="1100" spc="-5">
                <a:latin typeface="Times New Roman"/>
                <a:cs typeface="Times New Roman"/>
              </a:rPr>
              <a:t>l</a:t>
            </a:r>
            <a:r>
              <a:rPr dirty="0" sz="1100">
                <a:latin typeface="Times New Roman"/>
                <a:cs typeface="Times New Roman"/>
              </a:rPr>
              <a:t>u</a:t>
            </a:r>
            <a:r>
              <a:rPr dirty="0" sz="1100" spc="-5">
                <a:latin typeface="Times New Roman"/>
                <a:cs typeface="Times New Roman"/>
              </a:rPr>
              <a:t>m</a:t>
            </a:r>
            <a:r>
              <a:rPr dirty="0" sz="1100">
                <a:latin typeface="Times New Roman"/>
                <a:cs typeface="Times New Roman"/>
              </a:rPr>
              <a:t>b</a:t>
            </a:r>
            <a:r>
              <a:rPr dirty="0" sz="1100" spc="-5">
                <a:latin typeface="Times New Roman"/>
                <a:cs typeface="Times New Roman"/>
              </a:rPr>
              <a:t>e</a:t>
            </a:r>
            <a:r>
              <a:rPr dirty="0" sz="1100">
                <a:latin typeface="Times New Roman"/>
                <a:cs typeface="Times New Roman"/>
              </a:rPr>
              <a:t>r	for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4895581"/>
            <a:ext cx="344170" cy="39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bomb  ghost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3955" y="4710898"/>
            <a:ext cx="990600" cy="57975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algn="ctr" marL="429895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ˈplʌmə(r)</a:t>
            </a:r>
            <a:endParaRPr sz="1100">
              <a:latin typeface="Times New Roman"/>
              <a:cs typeface="Times New Roman"/>
            </a:endParaRPr>
          </a:p>
          <a:p>
            <a:pPr algn="ctr" marR="218440">
              <a:lnSpc>
                <a:spcPct val="100000"/>
              </a:lnSpc>
              <a:spcBef>
                <a:spcPts val="130"/>
              </a:spcBef>
              <a:tabLst>
                <a:tab pos="316230" algn="l"/>
              </a:tabLst>
            </a:pPr>
            <a:r>
              <a:rPr dirty="0" sz="1100">
                <a:latin typeface="Times New Roman"/>
                <a:cs typeface="Times New Roman"/>
              </a:rPr>
              <a:t>for	</a:t>
            </a:r>
            <a:r>
              <a:rPr dirty="0" sz="1100" spc="-5">
                <a:latin typeface="Times New Roman"/>
                <a:cs typeface="Times New Roman"/>
              </a:rPr>
              <a:t>bɒm</a:t>
            </a:r>
            <a:endParaRPr sz="1100">
              <a:latin typeface="Times New Roman"/>
              <a:cs typeface="Times New Roman"/>
            </a:endParaRPr>
          </a:p>
          <a:p>
            <a:pPr algn="ctr" marR="253365">
              <a:lnSpc>
                <a:spcPct val="100000"/>
              </a:lnSpc>
              <a:spcBef>
                <a:spcPts val="135"/>
              </a:spcBef>
              <a:tabLst>
                <a:tab pos="401955" algn="l"/>
              </a:tabLst>
            </a:pPr>
            <a:r>
              <a:rPr dirty="0" sz="1100">
                <a:latin typeface="Times New Roman"/>
                <a:cs typeface="Times New Roman"/>
              </a:rPr>
              <a:t>for	</a:t>
            </a:r>
            <a:r>
              <a:rPr dirty="0" sz="1100" spc="-5">
                <a:latin typeface="Times New Roman"/>
                <a:cs typeface="Times New Roman"/>
              </a:rPr>
              <a:t>ɡəʊst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700" y="5459876"/>
            <a:ext cx="3954779" cy="3880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Topic-087:Phonology-III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Sound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Simplification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clusters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may lead to the lossof </a:t>
            </a:r>
            <a:r>
              <a:rPr dirty="0" sz="1100">
                <a:latin typeface="Times New Roman"/>
                <a:cs typeface="Times New Roman"/>
              </a:rPr>
              <a:t>past </a:t>
            </a:r>
            <a:r>
              <a:rPr dirty="0" sz="1100" spc="-5">
                <a:latin typeface="Times New Roman"/>
                <a:cs typeface="Times New Roman"/>
              </a:rPr>
              <a:t>tense endings </a:t>
            </a:r>
            <a:r>
              <a:rPr dirty="0" sz="1100">
                <a:latin typeface="Times New Roman"/>
                <a:cs typeface="Times New Roman"/>
              </a:rPr>
              <a:t>of plural </a:t>
            </a:r>
            <a:r>
              <a:rPr dirty="0" sz="1100" spc="-5">
                <a:latin typeface="Times New Roman"/>
                <a:cs typeface="Times New Roman"/>
              </a:rPr>
              <a:t>markers </a:t>
            </a:r>
            <a:r>
              <a:rPr dirty="0" sz="1100">
                <a:latin typeface="Times New Roman"/>
                <a:cs typeface="Times New Roman"/>
              </a:rPr>
              <a:t>on nouns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lef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left</a:t>
            </a:r>
            <a:endParaRPr sz="1100">
              <a:latin typeface="Times New Roman"/>
              <a:cs typeface="Times New Roman"/>
            </a:endParaRPr>
          </a:p>
          <a:p>
            <a:pPr marL="12700" marR="290385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Pick </a:t>
            </a:r>
            <a:r>
              <a:rPr dirty="0" sz="1100">
                <a:latin typeface="Times New Roman"/>
                <a:cs typeface="Times New Roman"/>
              </a:rPr>
              <a:t>for picked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Climb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climbed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bags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3136265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Sound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Consequences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noticeable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lef</a:t>
            </a:r>
            <a:endParaRPr sz="1100">
              <a:latin typeface="Times New Roman"/>
              <a:cs typeface="Times New Roman"/>
            </a:endParaRPr>
          </a:p>
          <a:p>
            <a:pPr marL="12700" marR="9277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inflections may affect comprehension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Voiced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unvoiced </a:t>
            </a:r>
            <a:r>
              <a:rPr dirty="0" sz="1100" spc="-5">
                <a:latin typeface="Times New Roman"/>
                <a:cs typeface="Times New Roman"/>
              </a:rPr>
              <a:t>sounds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vowels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voiced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Consonants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voiced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unvoiced</a:t>
            </a:r>
            <a:endParaRPr sz="1100">
              <a:latin typeface="Times New Roman"/>
              <a:cs typeface="Times New Roman"/>
            </a:endParaRPr>
          </a:p>
          <a:p>
            <a:pPr marL="12700" marR="42290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Voiced consonants are caused </a:t>
            </a:r>
            <a:r>
              <a:rPr dirty="0" sz="1100">
                <a:latin typeface="Times New Roman"/>
                <a:cs typeface="Times New Roman"/>
              </a:rPr>
              <a:t>by vocal </a:t>
            </a:r>
            <a:r>
              <a:rPr dirty="0" sz="1100" spc="-5">
                <a:latin typeface="Times New Roman"/>
                <a:cs typeface="Times New Roman"/>
              </a:rPr>
              <a:t>chords moving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Voiced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unvoiced</a:t>
            </a:r>
            <a:r>
              <a:rPr dirty="0" sz="1100" spc="-5">
                <a:latin typeface="Times New Roman"/>
                <a:cs typeface="Times New Roman"/>
              </a:rPr>
              <a:t> sounds in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Unvoiced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air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699760" cy="610743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234"/>
              </a:spcBef>
              <a:tabLst>
                <a:tab pos="1156335" algn="l"/>
                <a:tab pos="1342390" algn="l"/>
              </a:tabLst>
            </a:pPr>
            <a:r>
              <a:rPr dirty="0" sz="1100">
                <a:latin typeface="Times New Roman"/>
                <a:cs typeface="Times New Roman"/>
              </a:rPr>
              <a:t>p   t</a:t>
            </a:r>
            <a:r>
              <a:rPr dirty="0" sz="1100" spc="5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</a:t>
            </a:r>
            <a:r>
              <a:rPr dirty="0" sz="1100" spc="5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	f	</a:t>
            </a:r>
            <a:r>
              <a:rPr dirty="0" sz="1100" spc="-5">
                <a:latin typeface="Times New Roman"/>
                <a:cs typeface="Times New Roman"/>
              </a:rPr>
              <a:t>th</a:t>
            </a:r>
            <a:endParaRPr sz="1100">
              <a:latin typeface="Times New Roman"/>
              <a:cs typeface="Times New Roman"/>
            </a:endParaRPr>
          </a:p>
          <a:p>
            <a:pPr marL="469900" marR="2360930" indent="-457200">
              <a:lnSpc>
                <a:spcPct val="110200"/>
              </a:lnSpc>
              <a:buChar char="•"/>
              <a:tabLst>
                <a:tab pos="469265" algn="l"/>
                <a:tab pos="469900" algn="l"/>
                <a:tab pos="853440" algn="l"/>
                <a:tab pos="1229995" algn="l"/>
              </a:tabLst>
            </a:pPr>
            <a:r>
              <a:rPr dirty="0" sz="1100" spc="-5">
                <a:latin typeface="Times New Roman"/>
                <a:cs typeface="Times New Roman"/>
              </a:rPr>
              <a:t>Voiced conants are caused </a:t>
            </a:r>
            <a:r>
              <a:rPr dirty="0" sz="1100">
                <a:latin typeface="Times New Roman"/>
                <a:cs typeface="Times New Roman"/>
              </a:rPr>
              <a:t>by vocal </a:t>
            </a:r>
            <a:r>
              <a:rPr dirty="0" sz="1100" spc="-5">
                <a:latin typeface="Times New Roman"/>
                <a:cs typeface="Times New Roman"/>
              </a:rPr>
              <a:t>chords moving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   d	g   z	v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Clear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dark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30530" algn="l"/>
                <a:tab pos="469265" algn="l"/>
                <a:tab pos="469900" algn="l"/>
                <a:tab pos="84455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light </a:t>
            </a:r>
            <a:r>
              <a:rPr dirty="0" sz="1100">
                <a:latin typeface="Times New Roman"/>
                <a:cs typeface="Times New Roman"/>
              </a:rPr>
              <a:t>l </a:t>
            </a:r>
            <a:r>
              <a:rPr dirty="0" sz="1100" spc="-5">
                <a:latin typeface="Times New Roman"/>
                <a:cs typeface="Times New Roman"/>
              </a:rPr>
              <a:t>comes at the </a:t>
            </a:r>
            <a:r>
              <a:rPr dirty="0" sz="1100">
                <a:latin typeface="Times New Roman"/>
                <a:cs typeface="Times New Roman"/>
              </a:rPr>
              <a:t>beginning, near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beginning or before a </a:t>
            </a:r>
            <a:r>
              <a:rPr dirty="0" sz="1100" spc="-5">
                <a:latin typeface="Times New Roman"/>
                <a:cs typeface="Times New Roman"/>
              </a:rPr>
              <a:t>consonant sound 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word.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	love	</a:t>
            </a:r>
            <a:r>
              <a:rPr dirty="0" sz="1100">
                <a:latin typeface="Times New Roman"/>
                <a:cs typeface="Times New Roman"/>
              </a:rPr>
              <a:t>please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Clear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dark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</a:t>
            </a:r>
            <a:endParaRPr sz="1100">
              <a:latin typeface="Times New Roman"/>
              <a:cs typeface="Times New Roman"/>
            </a:endParaRPr>
          </a:p>
          <a:p>
            <a:pPr marL="12700" marR="1619250">
              <a:lnSpc>
                <a:spcPct val="110200"/>
              </a:lnSpc>
              <a:buChar char="•"/>
              <a:tabLst>
                <a:tab pos="396240" algn="l"/>
                <a:tab pos="469265" algn="l"/>
                <a:tab pos="469900" algn="l"/>
                <a:tab pos="803275" algn="l"/>
                <a:tab pos="152908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dark l </a:t>
            </a:r>
            <a:r>
              <a:rPr dirty="0" sz="1100" spc="-5">
                <a:latin typeface="Times New Roman"/>
                <a:cs typeface="Times New Roman"/>
              </a:rPr>
              <a:t>comes at the end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word </a:t>
            </a:r>
            <a:r>
              <a:rPr dirty="0" sz="1100">
                <a:latin typeface="Times New Roman"/>
                <a:cs typeface="Times New Roman"/>
              </a:rPr>
              <a:t>or before a vowel </a:t>
            </a:r>
            <a:r>
              <a:rPr dirty="0" sz="1100" spc="-5">
                <a:latin typeface="Times New Roman"/>
                <a:cs typeface="Times New Roman"/>
              </a:rPr>
              <a:t>sound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feel	peel	pull   full	</a:t>
            </a:r>
            <a:r>
              <a:rPr dirty="0" sz="1100" spc="-5">
                <a:latin typeface="Times New Roman"/>
                <a:cs typeface="Times New Roman"/>
              </a:rPr>
              <a:t>sail</a:t>
            </a:r>
            <a:endParaRPr sz="1100">
              <a:latin typeface="Times New Roman"/>
              <a:cs typeface="Times New Roman"/>
            </a:endParaRPr>
          </a:p>
          <a:p>
            <a:pPr marL="12700" marR="362394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rate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5">
                <a:latin typeface="Times New Roman"/>
                <a:cs typeface="Times New Roman"/>
              </a:rPr>
              <a:t> late</a:t>
            </a:r>
            <a:endParaRPr sz="1100">
              <a:latin typeface="Times New Roman"/>
              <a:cs typeface="Times New Roman"/>
            </a:endParaRPr>
          </a:p>
          <a:p>
            <a:pPr marL="12700" marR="474726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feeling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fearing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Cutter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cuddle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362394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rate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5">
                <a:latin typeface="Times New Roman"/>
                <a:cs typeface="Times New Roman"/>
              </a:rPr>
              <a:t> late</a:t>
            </a:r>
            <a:endParaRPr sz="1100">
              <a:latin typeface="Times New Roman"/>
              <a:cs typeface="Times New Roman"/>
            </a:endParaRPr>
          </a:p>
          <a:p>
            <a:pPr marL="12700" marR="474726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feeling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fearing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Cutter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cuddle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Insertion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vowel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clusters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Simplified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inserting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neutral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vowel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consonants</a:t>
            </a:r>
            <a:endParaRPr sz="1100">
              <a:latin typeface="Times New Roman"/>
              <a:cs typeface="Times New Roman"/>
            </a:endParaRPr>
          </a:p>
          <a:p>
            <a:pPr marL="12700" marR="1269365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Pronounced with an initial </a:t>
            </a:r>
            <a:r>
              <a:rPr dirty="0" sz="1100">
                <a:latin typeface="Times New Roman"/>
                <a:cs typeface="Times New Roman"/>
              </a:rPr>
              <a:t>vowel </a:t>
            </a:r>
            <a:r>
              <a:rPr dirty="0" sz="1100" spc="-5">
                <a:latin typeface="Times New Roman"/>
                <a:cs typeface="Times New Roman"/>
              </a:rPr>
              <a:t>so that the cluster is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longer initial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Sport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5">
                <a:latin typeface="Times New Roman"/>
                <a:cs typeface="Times New Roman"/>
              </a:rPr>
              <a:t> səport</a:t>
            </a:r>
            <a:endParaRPr sz="1100">
              <a:latin typeface="Times New Roman"/>
              <a:cs typeface="Times New Roman"/>
            </a:endParaRPr>
          </a:p>
          <a:p>
            <a:pPr marL="12700" marR="474027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School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ischool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Slow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silow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Topic-088:Lexis-I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Locally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coined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New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many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 Englishes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scholars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Coinage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Addition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prefix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suffix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Compounding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items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6728827"/>
            <a:ext cx="1685925" cy="1503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6924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Adding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prefix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suffix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Stingko: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Smelly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(Singaporian</a:t>
            </a:r>
            <a:endParaRPr sz="1100">
              <a:latin typeface="Times New Roman"/>
              <a:cs typeface="Times New Roman"/>
            </a:endParaRPr>
          </a:p>
          <a:p>
            <a:pPr marL="539115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99060">
              <a:lnSpc>
                <a:spcPct val="110200"/>
              </a:lnSpc>
              <a:tabLst>
                <a:tab pos="523875" algn="l"/>
              </a:tabLst>
            </a:pPr>
            <a:r>
              <a:rPr dirty="0" sz="1100" spc="-5">
                <a:latin typeface="Times New Roman"/>
                <a:cs typeface="Times New Roman"/>
              </a:rPr>
              <a:t>Heaty:	Foods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Adding </a:t>
            </a:r>
            <a:r>
              <a:rPr dirty="0" sz="1100">
                <a:latin typeface="Times New Roman"/>
                <a:cs typeface="Times New Roman"/>
              </a:rPr>
              <a:t>a prefix or </a:t>
            </a:r>
            <a:r>
              <a:rPr dirty="0" sz="1100" spc="-5">
                <a:latin typeface="Times New Roman"/>
                <a:cs typeface="Times New Roman"/>
              </a:rPr>
              <a:t>suffix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Teacheress: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female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57825" y="7115308"/>
            <a:ext cx="4972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English)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64622" y="7115308"/>
            <a:ext cx="4057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Spacy: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44245" y="7115308"/>
            <a:ext cx="9683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Spacious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(Indian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92470" y="7484726"/>
            <a:ext cx="7232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body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64070" y="7484726"/>
            <a:ext cx="7823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(Singaporian,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70593" y="7484726"/>
            <a:ext cx="11144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Malaysian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09887" y="8038839"/>
            <a:ext cx="9366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(Indian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1700" y="8206459"/>
            <a:ext cx="2548890" cy="39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  <a:tabLst>
                <a:tab pos="1383665" algn="l"/>
              </a:tabLst>
            </a:pPr>
            <a:r>
              <a:rPr dirty="0" sz="1100" spc="-5">
                <a:latin typeface="Times New Roman"/>
                <a:cs typeface="Times New Roman"/>
              </a:rPr>
              <a:t>Jeepey</a:t>
            </a:r>
            <a:r>
              <a:rPr dirty="0" sz="1100">
                <a:latin typeface="Times New Roman"/>
                <a:cs typeface="Times New Roman"/>
              </a:rPr>
              <a:t>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smal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bus	(Phillipines </a:t>
            </a:r>
            <a:r>
              <a:rPr dirty="0" sz="1100" spc="-5">
                <a:latin typeface="Times New Roman"/>
                <a:cs typeface="Times New Roman"/>
              </a:rPr>
              <a:t>English)  </a:t>
            </a:r>
            <a:r>
              <a:rPr dirty="0" sz="1100" spc="-5">
                <a:latin typeface="Times New Roman"/>
                <a:cs typeface="Times New Roman"/>
              </a:rPr>
              <a:t>Enstool: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chief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(Ghanian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92470" y="8592953"/>
            <a:ext cx="10528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(Ghanian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01700" y="8575881"/>
            <a:ext cx="1927225" cy="764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Destool: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depose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chief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Adding </a:t>
            </a:r>
            <a:r>
              <a:rPr dirty="0" sz="1100">
                <a:latin typeface="Times New Roman"/>
                <a:cs typeface="Times New Roman"/>
              </a:rPr>
              <a:t>a prefix or </a:t>
            </a:r>
            <a:r>
              <a:rPr dirty="0" sz="1100" spc="-5">
                <a:latin typeface="Times New Roman"/>
                <a:cs typeface="Times New Roman"/>
              </a:rPr>
              <a:t>suffix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Pakistani English: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Affectee: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5">
                <a:latin typeface="Times New Roman"/>
                <a:cs typeface="Times New Roman"/>
              </a:rPr>
              <a:t> who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27393" y="9147067"/>
            <a:ext cx="4743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affected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82650" y="228594"/>
          <a:ext cx="5981700" cy="1357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3445"/>
                <a:gridCol w="1689100"/>
                <a:gridCol w="2128520"/>
              </a:tblGrid>
              <a:tr h="316531">
                <a:tc>
                  <a:txBody>
                    <a:bodyPr/>
                    <a:lstStyle/>
                    <a:p>
                      <a:pPr marL="31750">
                        <a:lnSpc>
                          <a:spcPts val="1360"/>
                        </a:lnSpc>
                      </a:pPr>
                      <a:r>
                        <a:rPr dirty="0" sz="1200" spc="-5">
                          <a:latin typeface="Times New Roman"/>
                          <a:cs typeface="Times New Roman"/>
                        </a:rPr>
                        <a:t>World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Englishes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(ENG506)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360"/>
                        </a:lnSpc>
                      </a:pPr>
                      <a:r>
                        <a:rPr dirty="0" sz="1200" spc="-5">
                          <a:latin typeface="Times New Roman"/>
                          <a:cs typeface="Times New Roman"/>
                        </a:rPr>
                        <a:t>VU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13967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Museumize: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preserve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2080"/>
                </a:tc>
                <a:tc>
                  <a:txBody>
                    <a:bodyPr/>
                    <a:lstStyle/>
                    <a:p>
                      <a:pPr algn="ctr" marR="13144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museum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2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4708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Botheration: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Inconvenience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8470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Upliftment: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Improving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algn="ctr" marR="1314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plight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the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marL="5727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downtrodden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/>
                </a:tc>
              </a:tr>
              <a:tr h="18470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Compounding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72671">
                <a:tc>
                  <a:txBody>
                    <a:bodyPr/>
                    <a:lstStyle/>
                    <a:p>
                      <a:pPr marL="31750">
                        <a:lnSpc>
                          <a:spcPts val="1240"/>
                        </a:lnSpc>
                        <a:spcBef>
                          <a:spcPts val="20"/>
                        </a:spcBef>
                      </a:pPr>
                      <a:r>
                        <a:rPr dirty="0" sz="1100" spc="-5">
                          <a:latin typeface="Times New Roman"/>
                          <a:cs typeface="Times New Roman"/>
                        </a:rPr>
                        <a:t>Examples: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901700" y="1570899"/>
            <a:ext cx="2967990" cy="2235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Peelhead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headed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(Jmaican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English)n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Key-bunch: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bunch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keys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(Indina</a:t>
            </a:r>
            <a:r>
              <a:rPr dirty="0" sz="1100" spc="-5">
                <a:latin typeface="Times New Roman"/>
                <a:cs typeface="Times New Roman"/>
              </a:rPr>
              <a:t> English)</a:t>
            </a:r>
            <a:endParaRPr sz="1100">
              <a:latin typeface="Times New Roman"/>
              <a:cs typeface="Times New Roman"/>
            </a:endParaRPr>
          </a:p>
          <a:p>
            <a:pPr marL="12700" marR="82613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High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hat: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snob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(Philippine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Compounding</a:t>
            </a:r>
            <a:endParaRPr sz="1100">
              <a:latin typeface="Times New Roman"/>
              <a:cs typeface="Times New Roman"/>
            </a:endParaRPr>
          </a:p>
          <a:p>
            <a:pPr marL="12700" marR="104521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Examples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Pakistani English: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Gunman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armed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guard</a:t>
            </a:r>
            <a:endParaRPr sz="1100">
              <a:latin typeface="Times New Roman"/>
              <a:cs typeface="Times New Roman"/>
            </a:endParaRPr>
          </a:p>
          <a:p>
            <a:pPr marL="12700" marR="143573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Flying coach: </a:t>
            </a:r>
            <a:r>
              <a:rPr dirty="0" sz="1100">
                <a:latin typeface="Times New Roman"/>
                <a:cs typeface="Times New Roman"/>
              </a:rPr>
              <a:t>A fast bus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Mouse-hearted: Coward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Lathi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charge: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Baton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Topic-089:Lexis-II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3958245"/>
            <a:ext cx="2172970" cy="1503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Borrowing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indigenous languages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algn="just" marL="396240" marR="829310" indent="-38417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Chai: tea </a:t>
            </a:r>
            <a:r>
              <a:rPr dirty="0" sz="1100">
                <a:latin typeface="Times New Roman"/>
                <a:cs typeface="Times New Roman"/>
              </a:rPr>
              <a:t>(East </a:t>
            </a:r>
            <a:r>
              <a:rPr dirty="0" sz="1100" spc="-5">
                <a:latin typeface="Times New Roman"/>
                <a:cs typeface="Times New Roman"/>
              </a:rPr>
              <a:t>African,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Pakistani</a:t>
            </a:r>
            <a:r>
              <a:rPr dirty="0" sz="1100">
                <a:latin typeface="Times New Roman"/>
                <a:cs typeface="Times New Roman"/>
              </a:rPr>
              <a:t>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Indian  </a:t>
            </a:r>
            <a:r>
              <a:rPr dirty="0" sz="1100" spc="-5">
                <a:latin typeface="Times New Roman"/>
                <a:cs typeface="Times New Roman"/>
              </a:rPr>
              <a:t>English)</a:t>
            </a:r>
            <a:endParaRPr sz="1100">
              <a:latin typeface="Times New Roman"/>
              <a:cs typeface="Times New Roman"/>
            </a:endParaRPr>
          </a:p>
          <a:p>
            <a:pPr marL="12700" marR="66167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Crore: Ten million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Goondaism: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Behaving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Idioms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6934" y="5083562"/>
            <a:ext cx="7512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noisy violent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65734" y="5083562"/>
            <a:ext cx="2584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way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5435890"/>
            <a:ext cx="4009390" cy="390461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Unsuccessful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attempts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idioms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12700" marR="18770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Stabilise New English idioms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Idioms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Unsuccessful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attempts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(variations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pronunciation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differences)</a:t>
            </a:r>
            <a:endParaRPr sz="1100">
              <a:latin typeface="Times New Roman"/>
              <a:cs typeface="Times New Roman"/>
            </a:endParaRPr>
          </a:p>
          <a:p>
            <a:pPr lvl="1" marL="469900" marR="2713990" indent="-178435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Gift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gap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Gift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gab</a:t>
            </a:r>
            <a:endParaRPr sz="1100">
              <a:latin typeface="Times New Roman"/>
              <a:cs typeface="Times New Roman"/>
            </a:endParaRPr>
          </a:p>
          <a:p>
            <a:pPr lvl="1" marL="469900" marR="2373630" indent="-213360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By lips and </a:t>
            </a:r>
            <a:r>
              <a:rPr dirty="0" sz="1100">
                <a:latin typeface="Times New Roman"/>
                <a:cs typeface="Times New Roman"/>
              </a:rPr>
              <a:t>bounds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leaps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bounds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Idioms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Direct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translations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indigenous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idioms</a:t>
            </a:r>
            <a:endParaRPr sz="1100">
              <a:latin typeface="Times New Roman"/>
              <a:cs typeface="Times New Roman"/>
            </a:endParaRPr>
          </a:p>
          <a:p>
            <a:pPr marL="128905" indent="-82550">
              <a:lnSpc>
                <a:spcPct val="100000"/>
              </a:lnSpc>
              <a:spcBef>
                <a:spcPts val="135"/>
              </a:spcBef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shake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legs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(Malaysian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goyang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kaki)</a:t>
            </a:r>
            <a:endParaRPr sz="1100">
              <a:latin typeface="Times New Roman"/>
              <a:cs typeface="Times New Roman"/>
            </a:endParaRPr>
          </a:p>
          <a:p>
            <a:pPr marL="128905" indent="-82550">
              <a:lnSpc>
                <a:spcPct val="100000"/>
              </a:lnSpc>
              <a:spcBef>
                <a:spcPts val="135"/>
              </a:spcBef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someone’s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salt</a:t>
            </a:r>
            <a:endParaRPr sz="1100">
              <a:latin typeface="Times New Roman"/>
              <a:cs typeface="Times New Roman"/>
            </a:endParaRPr>
          </a:p>
          <a:p>
            <a:pPr marL="12700" marR="173418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loyal to someone </a:t>
            </a:r>
            <a:r>
              <a:rPr dirty="0" sz="1100">
                <a:latin typeface="Times New Roman"/>
                <a:cs typeface="Times New Roman"/>
              </a:rPr>
              <a:t>(Indian </a:t>
            </a:r>
            <a:r>
              <a:rPr dirty="0" sz="1100" spc="-5">
                <a:latin typeface="Times New Roman"/>
                <a:cs typeface="Times New Roman"/>
              </a:rPr>
              <a:t>English)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Idioms</a:t>
            </a:r>
            <a:endParaRPr sz="1100">
              <a:latin typeface="Times New Roman"/>
              <a:cs typeface="Times New Roman"/>
            </a:endParaRPr>
          </a:p>
          <a:p>
            <a:pPr marL="12700" marR="77660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Combining elements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English with indigenous </a:t>
            </a:r>
            <a:r>
              <a:rPr dirty="0" sz="1100">
                <a:latin typeface="Times New Roman"/>
                <a:cs typeface="Times New Roman"/>
              </a:rPr>
              <a:t>forms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put</a:t>
            </a:r>
            <a:r>
              <a:rPr dirty="0" sz="1100" spc="-5">
                <a:latin typeface="Times New Roman"/>
                <a:cs typeface="Times New Roman"/>
              </a:rPr>
              <a:t> sand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someone’s gari</a:t>
            </a:r>
            <a:endParaRPr sz="1100">
              <a:latin typeface="Times New Roman"/>
              <a:cs typeface="Times New Roman"/>
            </a:endParaRPr>
          </a:p>
          <a:p>
            <a:pPr marL="12700" marR="103886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threaten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livelihood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(Nigerian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Idioms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Variations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idioms</a:t>
            </a:r>
            <a:endParaRPr sz="1100">
              <a:latin typeface="Times New Roman"/>
              <a:cs typeface="Times New Roman"/>
            </a:endParaRPr>
          </a:p>
          <a:p>
            <a:pPr marL="128905" indent="-82550">
              <a:lnSpc>
                <a:spcPct val="100000"/>
              </a:lnSpc>
              <a:spcBef>
                <a:spcPts val="135"/>
              </a:spcBef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1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(Singapore</a:t>
            </a:r>
            <a:r>
              <a:rPr dirty="0" sz="1100" spc="-5">
                <a:latin typeface="Times New Roman"/>
                <a:cs typeface="Times New Roman"/>
              </a:rPr>
              <a:t> English)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4672965" cy="740029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16839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cake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eat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endParaRPr sz="1100">
              <a:latin typeface="Times New Roman"/>
              <a:cs typeface="Times New Roman"/>
            </a:endParaRPr>
          </a:p>
          <a:p>
            <a:pPr marL="4699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soup</a:t>
            </a:r>
            <a:endParaRPr sz="11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hot</a:t>
            </a:r>
            <a:r>
              <a:rPr dirty="0" sz="1100" spc="-5">
                <a:latin typeface="Times New Roman"/>
                <a:cs typeface="Times New Roman"/>
              </a:rPr>
              <a:t> water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soup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Topic-090:Lexis-III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Lexical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repetition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redundancy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extra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</a:t>
            </a:r>
            <a:endParaRPr sz="1100">
              <a:latin typeface="Times New Roman"/>
              <a:cs typeface="Times New Roman"/>
            </a:endParaRPr>
          </a:p>
          <a:p>
            <a:pPr marL="12700" marR="13163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Regarded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varieities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Repetition</a:t>
            </a:r>
            <a:endParaRPr sz="1100">
              <a:latin typeface="Times New Roman"/>
              <a:cs typeface="Times New Roman"/>
            </a:endParaRPr>
          </a:p>
          <a:p>
            <a:pPr marL="221615" marR="5080" indent="-209550">
              <a:lnSpc>
                <a:spcPct val="110200"/>
              </a:lnSpc>
              <a:buFont typeface="Times New Roman"/>
              <a:buChar char="•"/>
              <a:tabLst>
                <a:tab pos="469265" algn="l"/>
                <a:tab pos="469900" algn="l"/>
              </a:tabLst>
            </a:pPr>
            <a:r>
              <a:rPr dirty="0"/>
              <a:t>	</a:t>
            </a:r>
            <a:r>
              <a:rPr dirty="0" sz="1100">
                <a:latin typeface="Times New Roman"/>
                <a:cs typeface="Times New Roman"/>
              </a:rPr>
              <a:t>A repeated occurrence of a </a:t>
            </a:r>
            <a:r>
              <a:rPr dirty="0" sz="1100" spc="-5">
                <a:latin typeface="Times New Roman"/>
                <a:cs typeface="Times New Roman"/>
              </a:rPr>
              <a:t>linguistic item that may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not be </a:t>
            </a:r>
            <a:r>
              <a:rPr dirty="0" sz="1100" spc="-5">
                <a:latin typeface="Times New Roman"/>
                <a:cs typeface="Times New Roman"/>
              </a:rPr>
              <a:t>justified.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some very</a:t>
            </a:r>
            <a:endParaRPr sz="1100">
              <a:latin typeface="Times New Roman"/>
              <a:cs typeface="Times New Roman"/>
            </a:endParaRPr>
          </a:p>
          <a:p>
            <a:pPr marL="12700" marR="327914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good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houses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fashioned but good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houses.’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Repetition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sells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things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pieces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drove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slowly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slowly</a:t>
            </a:r>
            <a:endParaRPr sz="1100">
              <a:latin typeface="Times New Roman"/>
              <a:cs typeface="Times New Roman"/>
            </a:endParaRPr>
          </a:p>
          <a:p>
            <a:pPr marL="12700" marR="102044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 don’t</a:t>
            </a:r>
            <a:r>
              <a:rPr dirty="0" sz="1100" spc="-5">
                <a:latin typeface="Times New Roman"/>
                <a:cs typeface="Times New Roman"/>
              </a:rPr>
              <a:t> like this type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dress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frill frill,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gather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Reduplication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double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Flower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bouquet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Youn</a:t>
            </a:r>
            <a:r>
              <a:rPr dirty="0" sz="1100">
                <a:latin typeface="Times New Roman"/>
                <a:cs typeface="Times New Roman"/>
              </a:rPr>
              <a:t>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kid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Cos</a:t>
            </a:r>
            <a:r>
              <a:rPr dirty="0" sz="1100">
                <a:latin typeface="Times New Roman"/>
                <a:cs typeface="Times New Roman"/>
              </a:rPr>
              <a:t>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price</a:t>
            </a:r>
            <a:endParaRPr sz="1100">
              <a:latin typeface="Times New Roman"/>
              <a:cs typeface="Times New Roman"/>
            </a:endParaRPr>
          </a:p>
          <a:p>
            <a:pPr marL="12700" marR="325310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Proceed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Reduplication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idea:</a:t>
            </a:r>
            <a:endParaRPr sz="1100">
              <a:latin typeface="Times New Roman"/>
              <a:cs typeface="Times New Roman"/>
            </a:endParaRPr>
          </a:p>
          <a:p>
            <a:pPr marL="12700" marR="805815" indent="3492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‘….for </a:t>
            </a:r>
            <a:r>
              <a:rPr dirty="0" sz="1100" spc="-5">
                <a:latin typeface="Times New Roman"/>
                <a:cs typeface="Times New Roman"/>
              </a:rPr>
              <a:t>repairing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laying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sort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underground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cables</a:t>
            </a:r>
            <a:r>
              <a:rPr dirty="0" sz="1100">
                <a:latin typeface="Times New Roman"/>
                <a:cs typeface="Times New Roman"/>
              </a:rPr>
              <a:t> or </a:t>
            </a:r>
            <a:r>
              <a:rPr dirty="0" sz="1100" spc="-5">
                <a:latin typeface="Times New Roman"/>
                <a:cs typeface="Times New Roman"/>
              </a:rPr>
              <a:t>lines’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‘….ever-growing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ever-increasing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speeding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traffic’</a:t>
            </a:r>
            <a:endParaRPr sz="1100">
              <a:latin typeface="Times New Roman"/>
              <a:cs typeface="Times New Roman"/>
            </a:endParaRPr>
          </a:p>
          <a:p>
            <a:pPr marL="12700" marR="226758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‘….without any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obstruction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difficulty’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Reduplication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Phatic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reduplication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rhyme</a:t>
            </a:r>
            <a:endParaRPr sz="1100">
              <a:latin typeface="Times New Roman"/>
              <a:cs typeface="Times New Roman"/>
            </a:endParaRPr>
          </a:p>
          <a:p>
            <a:pPr marL="128905" indent="-82550">
              <a:lnSpc>
                <a:spcPct val="100000"/>
              </a:lnSpc>
              <a:spcBef>
                <a:spcPts val="135"/>
              </a:spcBef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musicviewsic</a:t>
            </a:r>
            <a:endParaRPr sz="1100">
              <a:latin typeface="Times New Roman"/>
              <a:cs typeface="Times New Roman"/>
            </a:endParaRPr>
          </a:p>
          <a:p>
            <a:pPr marL="128905" indent="-82550">
              <a:lnSpc>
                <a:spcPct val="100000"/>
              </a:lnSpc>
              <a:spcBef>
                <a:spcPts val="135"/>
              </a:spcBef>
              <a:buChar char="-"/>
              <a:tabLst>
                <a:tab pos="129539" algn="l"/>
              </a:tabLst>
            </a:pPr>
            <a:r>
              <a:rPr dirty="0" sz="1100">
                <a:latin typeface="Times New Roman"/>
                <a:cs typeface="Times New Roman"/>
              </a:rPr>
              <a:t>rhythmwhythm</a:t>
            </a:r>
            <a:endParaRPr sz="1100">
              <a:latin typeface="Times New Roman"/>
              <a:cs typeface="Times New Roman"/>
            </a:endParaRPr>
          </a:p>
          <a:p>
            <a:pPr marL="128905" indent="-82550">
              <a:lnSpc>
                <a:spcPct val="100000"/>
              </a:lnSpc>
              <a:spcBef>
                <a:spcPts val="135"/>
              </a:spcBef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mod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squad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(lady)</a:t>
            </a:r>
            <a:endParaRPr sz="1100">
              <a:latin typeface="Times New Roman"/>
              <a:cs typeface="Times New Roman"/>
            </a:endParaRPr>
          </a:p>
          <a:p>
            <a:pPr marL="12700" marR="268795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South Asian lexis in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8021776"/>
            <a:ext cx="436245" cy="579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Chit: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Tiffin: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Buggy: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3670" y="8021776"/>
            <a:ext cx="1145540" cy="57975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note</a:t>
            </a:r>
            <a:endParaRPr sz="1100">
              <a:latin typeface="Times New Roman"/>
              <a:cs typeface="Times New Roman"/>
            </a:endParaRPr>
          </a:p>
          <a:p>
            <a:pPr marL="46990" marR="5080" indent="-247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Snack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box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carriage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8575881"/>
            <a:ext cx="1734185" cy="39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Chutney: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thick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sauce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vinegar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7849" y="8592953"/>
            <a:ext cx="98234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fruit,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79961" y="8592953"/>
            <a:ext cx="10128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sugar,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spices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61912"/>
            <a:ext cx="5814060" cy="2129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Lesson-16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marL="1238250">
              <a:lnSpc>
                <a:spcPct val="100000"/>
              </a:lnSpc>
            </a:pPr>
            <a:r>
              <a:rPr dirty="0" sz="1400" spc="40">
                <a:latin typeface="Times New Roman"/>
                <a:cs typeface="Times New Roman"/>
              </a:rPr>
              <a:t>Variations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35">
                <a:latin typeface="Times New Roman"/>
                <a:cs typeface="Times New Roman"/>
              </a:rPr>
              <a:t>in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60">
                <a:latin typeface="Times New Roman"/>
                <a:cs typeface="Times New Roman"/>
              </a:rPr>
              <a:t>World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25">
                <a:latin typeface="Times New Roman"/>
                <a:cs typeface="Times New Roman"/>
              </a:rPr>
              <a:t>Englishes: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25">
                <a:latin typeface="Times New Roman"/>
                <a:cs typeface="Times New Roman"/>
              </a:rPr>
              <a:t>Linguistic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50">
                <a:latin typeface="Times New Roman"/>
                <a:cs typeface="Times New Roman"/>
              </a:rPr>
              <a:t>Features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Topic-091:Grammar-I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non-specific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Countable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uncountable</a:t>
            </a:r>
            <a:endParaRPr sz="1100">
              <a:latin typeface="Times New Roman"/>
              <a:cs typeface="Times New Roman"/>
            </a:endParaRPr>
          </a:p>
          <a:p>
            <a:pPr marL="12700" marR="43510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Singular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plural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non-specific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2783160"/>
            <a:ext cx="749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0171" y="2783160"/>
            <a:ext cx="58712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the)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determiners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(this,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some)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2950781"/>
            <a:ext cx="6111875" cy="647636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 marR="536575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non-specific.</a:t>
            </a:r>
            <a:endParaRPr sz="1100">
              <a:latin typeface="Times New Roman"/>
              <a:cs typeface="Times New Roman"/>
            </a:endParaRPr>
          </a:p>
          <a:p>
            <a:pPr marL="12700" marR="536575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Functions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singular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preceded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a/an: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singular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r>
              <a:rPr dirty="0" sz="1100" spc="-5">
                <a:latin typeface="Times New Roman"/>
                <a:cs typeface="Times New Roman"/>
              </a:rPr>
              <a:t> indicates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generic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nature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endParaRPr sz="1100">
              <a:latin typeface="Times New Roman"/>
              <a:cs typeface="Times New Roman"/>
            </a:endParaRPr>
          </a:p>
          <a:p>
            <a:pPr marL="12700" marR="43649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horse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runs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fast.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Functions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5">
                <a:latin typeface="Times New Roman"/>
                <a:cs typeface="Times New Roman"/>
              </a:rPr>
              <a:t> singular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plural</a:t>
            </a:r>
            <a:r>
              <a:rPr dirty="0" sz="1100" spc="-5">
                <a:latin typeface="Times New Roman"/>
                <a:cs typeface="Times New Roman"/>
              </a:rPr>
              <a:t> countable </a:t>
            </a:r>
            <a:r>
              <a:rPr dirty="0" sz="1100">
                <a:latin typeface="Times New Roman"/>
                <a:cs typeface="Times New Roman"/>
              </a:rPr>
              <a:t>nouns</a:t>
            </a:r>
            <a:r>
              <a:rPr dirty="0" sz="1100" spc="-5">
                <a:latin typeface="Times New Roman"/>
                <a:cs typeface="Times New Roman"/>
              </a:rPr>
              <a:t> indicate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 </a:t>
            </a:r>
            <a:r>
              <a:rPr dirty="0" sz="1100">
                <a:latin typeface="Times New Roman"/>
                <a:cs typeface="Times New Roman"/>
              </a:rPr>
              <a:t>nature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boys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naughty.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boys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tall.</a:t>
            </a:r>
            <a:endParaRPr sz="1100">
              <a:latin typeface="Times New Roman"/>
              <a:cs typeface="Times New Roman"/>
            </a:endParaRPr>
          </a:p>
          <a:p>
            <a:pPr marL="12700" marR="23266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With mass </a:t>
            </a:r>
            <a:r>
              <a:rPr dirty="0" sz="1100">
                <a:latin typeface="Times New Roman"/>
                <a:cs typeface="Times New Roman"/>
              </a:rPr>
              <a:t>nouns </a:t>
            </a:r>
            <a:r>
              <a:rPr dirty="0" sz="1100" spc="-5">
                <a:latin typeface="Times New Roman"/>
                <a:cs typeface="Times New Roman"/>
              </a:rPr>
              <a:t>to indicate the specific </a:t>
            </a:r>
            <a:r>
              <a:rPr dirty="0" sz="1100">
                <a:latin typeface="Times New Roman"/>
                <a:cs typeface="Times New Roman"/>
              </a:rPr>
              <a:t>nature 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noun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non-specific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grammatical</a:t>
            </a:r>
            <a:r>
              <a:rPr dirty="0" sz="1100" spc="-5">
                <a:latin typeface="Times New Roman"/>
                <a:cs typeface="Times New Roman"/>
              </a:rPr>
              <a:t> element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</a:t>
            </a:r>
            <a:endParaRPr sz="1100">
              <a:latin typeface="Times New Roman"/>
              <a:cs typeface="Times New Roman"/>
            </a:endParaRPr>
          </a:p>
          <a:p>
            <a:pPr marL="12700" marR="9144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singular countable </a:t>
            </a:r>
            <a:r>
              <a:rPr dirty="0" sz="1100">
                <a:latin typeface="Times New Roman"/>
                <a:cs typeface="Times New Roman"/>
              </a:rPr>
              <a:t>noun never occurs </a:t>
            </a:r>
            <a:r>
              <a:rPr dirty="0" sz="1100" spc="-5">
                <a:latin typeface="Times New Roman"/>
                <a:cs typeface="Times New Roman"/>
              </a:rPr>
              <a:t>without an article </a:t>
            </a:r>
            <a:r>
              <a:rPr dirty="0" sz="1100">
                <a:latin typeface="Times New Roman"/>
                <a:cs typeface="Times New Roman"/>
              </a:rPr>
              <a:t>or determiner preceding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non-specific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depending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car.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car.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singular word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indicates </a:t>
            </a:r>
            <a:r>
              <a:rPr dirty="0" sz="1100">
                <a:latin typeface="Times New Roman"/>
                <a:cs typeface="Times New Roman"/>
              </a:rPr>
              <a:t>generic nature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item when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word </a:t>
            </a:r>
            <a:r>
              <a:rPr dirty="0" sz="1100">
                <a:latin typeface="Times New Roman"/>
                <a:cs typeface="Times New Roman"/>
              </a:rPr>
              <a:t>refers</a:t>
            </a:r>
            <a:r>
              <a:rPr dirty="0" sz="1100" spc="-5">
                <a:latin typeface="Times New Roman"/>
                <a:cs typeface="Times New Roman"/>
              </a:rPr>
              <a:t> to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whole </a:t>
            </a:r>
            <a:r>
              <a:rPr dirty="0" sz="1100">
                <a:latin typeface="Times New Roman"/>
                <a:cs typeface="Times New Roman"/>
              </a:rPr>
              <a:t>group</a:t>
            </a:r>
            <a:endParaRPr sz="1100">
              <a:latin typeface="Times New Roman"/>
              <a:cs typeface="Times New Roman"/>
            </a:endParaRPr>
          </a:p>
          <a:p>
            <a:pPr marL="12700" marR="40106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kind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poor.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12700" marR="467233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non-specific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Everyone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car.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Girls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pretty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today.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I’m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staying in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black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gate.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Topic-092:Grammar-II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46290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Nouns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Quantifiers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quantifiers (much,</a:t>
            </a:r>
            <a:r>
              <a:rPr dirty="0" sz="1100" spc="-5">
                <a:latin typeface="Times New Roman"/>
                <a:cs typeface="Times New Roman"/>
              </a:rPr>
              <a:t> little, </a:t>
            </a:r>
            <a:r>
              <a:rPr dirty="0" sz="1100">
                <a:latin typeface="Times New Roman"/>
                <a:cs typeface="Times New Roman"/>
              </a:rPr>
              <a:t>few,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lot, little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etc.)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talk about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quanitities,</a:t>
            </a:r>
            <a:r>
              <a:rPr dirty="0" sz="1100" spc="-5">
                <a:latin typeface="Times New Roman"/>
                <a:cs typeface="Times New Roman"/>
              </a:rPr>
              <a:t> amounts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degrees.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73495" cy="5935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196590">
              <a:lnSpc>
                <a:spcPct val="1102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generally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before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Countability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quantifiers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countability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across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countability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noun’s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potential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combining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various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determiners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Countability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quantifiers</a:t>
            </a:r>
            <a:endParaRPr sz="1100">
              <a:latin typeface="Times New Roman"/>
              <a:cs typeface="Times New Roman"/>
            </a:endParaRPr>
          </a:p>
          <a:p>
            <a:pPr marL="12700" marR="44405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Knowledg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(uncountable) 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knowledge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endParaRPr sz="1100">
              <a:latin typeface="Times New Roman"/>
              <a:cs typeface="Times New Roman"/>
            </a:endParaRPr>
          </a:p>
          <a:p>
            <a:pPr marL="46990" marR="3286125" indent="-349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(collective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noun)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plural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 peoples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Siberia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Countability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quantifiers</a:t>
            </a:r>
            <a:endParaRPr sz="1100">
              <a:latin typeface="Times New Roman"/>
              <a:cs typeface="Times New Roman"/>
            </a:endParaRPr>
          </a:p>
          <a:p>
            <a:pPr marL="12700" marR="158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combining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various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determiners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confusion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Countability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quantifiers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uncountable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(equipment,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sugar)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singular</a:t>
            </a:r>
            <a:endParaRPr sz="1100">
              <a:latin typeface="Times New Roman"/>
              <a:cs typeface="Times New Roman"/>
            </a:endParaRPr>
          </a:p>
          <a:p>
            <a:pPr marL="12700" marR="15659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outer </a:t>
            </a:r>
            <a:r>
              <a:rPr dirty="0" sz="1100" spc="-5">
                <a:latin typeface="Times New Roman"/>
                <a:cs typeface="Times New Roman"/>
              </a:rPr>
              <a:t>circle countries, they are treated as </a:t>
            </a:r>
            <a:r>
              <a:rPr dirty="0" sz="1100">
                <a:latin typeface="Times New Roman"/>
                <a:cs typeface="Times New Roman"/>
              </a:rPr>
              <a:t>plural.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Countable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uncountable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uncountable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countables</a:t>
            </a:r>
            <a:endParaRPr sz="1100">
              <a:latin typeface="Times New Roman"/>
              <a:cs typeface="Times New Roman"/>
            </a:endParaRPr>
          </a:p>
          <a:p>
            <a:pPr marL="12700" marR="184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Perceptually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countable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items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furniture,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equipment,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luggage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regularly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plural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denote </a:t>
            </a:r>
            <a:r>
              <a:rPr dirty="0" sz="1100" spc="-5">
                <a:latin typeface="Times New Roman"/>
                <a:cs typeface="Times New Roman"/>
              </a:rPr>
              <a:t>more than </a:t>
            </a:r>
            <a:r>
              <a:rPr dirty="0" sz="1100">
                <a:latin typeface="Times New Roman"/>
                <a:cs typeface="Times New Roman"/>
              </a:rPr>
              <a:t>one piece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Countable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uncountable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Advices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Informations</a:t>
            </a:r>
            <a:endParaRPr sz="1100">
              <a:latin typeface="Times New Roman"/>
              <a:cs typeface="Times New Roman"/>
            </a:endParaRPr>
          </a:p>
          <a:p>
            <a:pPr marL="12700" marR="54451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Moneys  </a:t>
            </a:r>
            <a:r>
              <a:rPr dirty="0" sz="1100" spc="-5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Quantifiers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countability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6944417"/>
            <a:ext cx="749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6557948"/>
            <a:ext cx="3551554" cy="579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1915" marR="5080" indent="-69850">
              <a:lnSpc>
                <a:spcPct val="1102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Uncountable </a:t>
            </a:r>
            <a:r>
              <a:rPr dirty="0" sz="1100">
                <a:latin typeface="Times New Roman"/>
                <a:cs typeface="Times New Roman"/>
              </a:rPr>
              <a:t>quantifiers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with countable </a:t>
            </a:r>
            <a:r>
              <a:rPr dirty="0" sz="1100">
                <a:latin typeface="Times New Roman"/>
                <a:cs typeface="Times New Roman"/>
              </a:rPr>
              <a:t>nouns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eat so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 </a:t>
            </a:r>
            <a:r>
              <a:rPr dirty="0" sz="1100">
                <a:latin typeface="Times New Roman"/>
                <a:cs typeface="Times New Roman"/>
              </a:rPr>
              <a:t>burgers.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determiner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7112049"/>
            <a:ext cx="1687195" cy="1503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71805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few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days.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Conflation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pronoun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gender</a:t>
            </a:r>
            <a:endParaRPr sz="1100">
              <a:latin typeface="Times New Roman"/>
              <a:cs typeface="Times New Roman"/>
            </a:endParaRPr>
          </a:p>
          <a:p>
            <a:pPr marL="12700" marR="419100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husband, </a:t>
            </a:r>
            <a:r>
              <a:rPr dirty="0" sz="1100" spc="-5">
                <a:latin typeface="Times New Roman"/>
                <a:cs typeface="Times New Roman"/>
              </a:rPr>
              <a:t>she was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student.</a:t>
            </a:r>
            <a:endParaRPr sz="1100">
              <a:latin typeface="Times New Roman"/>
              <a:cs typeface="Times New Roman"/>
            </a:endParaRPr>
          </a:p>
          <a:p>
            <a:pPr marL="12700" marR="284480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Kampog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842244"/>
            <a:ext cx="6359525" cy="8498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100" spc="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Topic-093:Grammar-III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613400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Verbs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Stativ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rather</a:t>
            </a:r>
            <a:r>
              <a:rPr dirty="0" sz="1100" spc="-5">
                <a:latin typeface="Times New Roman"/>
                <a:cs typeface="Times New Roman"/>
              </a:rPr>
              <a:t> 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Relate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opinions,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feelings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emotions</a:t>
            </a:r>
            <a:endParaRPr sz="1100">
              <a:latin typeface="Times New Roman"/>
              <a:cs typeface="Times New Roman"/>
            </a:endParaRPr>
          </a:p>
          <a:p>
            <a:pPr marL="12700" marR="26612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usually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progressive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  <a:p>
            <a:pPr marL="12700" marR="56134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Stativ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verbs 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Understand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Doubt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Like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Want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Hate</a:t>
            </a:r>
            <a:endParaRPr sz="1100">
              <a:latin typeface="Times New Roman"/>
              <a:cs typeface="Times New Roman"/>
            </a:endParaRPr>
          </a:p>
          <a:p>
            <a:pPr marL="12700" marR="56134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Verbs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Stativ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Outer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often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distinction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stative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dynamic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  <a:p>
            <a:pPr marL="12700" marR="56134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Verbs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Stativ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  <a:p>
            <a:pPr marL="163830" indent="-117475">
              <a:lnSpc>
                <a:spcPct val="100000"/>
              </a:lnSpc>
              <a:spcBef>
                <a:spcPts val="130"/>
              </a:spcBef>
              <a:buChar char="-"/>
              <a:tabLst>
                <a:tab pos="164465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cars.</a:t>
            </a:r>
            <a:endParaRPr sz="1100">
              <a:latin typeface="Times New Roman"/>
              <a:cs typeface="Times New Roman"/>
            </a:endParaRPr>
          </a:p>
          <a:p>
            <a:pPr marL="12700" marR="4899025" indent="34925">
              <a:lnSpc>
                <a:spcPct val="110200"/>
              </a:lnSpc>
              <a:buChar char="-"/>
              <a:tabLst>
                <a:tab pos="164465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then.</a:t>
            </a:r>
            <a:endParaRPr sz="1100">
              <a:latin typeface="Times New Roman"/>
              <a:cs typeface="Times New Roman"/>
            </a:endParaRPr>
          </a:p>
          <a:p>
            <a:pPr marL="12700" marR="4977130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recognizing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you.</a:t>
            </a:r>
            <a:endParaRPr sz="1100">
              <a:latin typeface="Times New Roman"/>
              <a:cs typeface="Times New Roman"/>
            </a:endParaRPr>
          </a:p>
          <a:p>
            <a:pPr marL="12700" marR="4986655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now?</a:t>
            </a:r>
            <a:endParaRPr sz="1100">
              <a:latin typeface="Times New Roman"/>
              <a:cs typeface="Times New Roman"/>
            </a:endParaRPr>
          </a:p>
          <a:p>
            <a:pPr marL="12700" marR="574103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Verbs </a:t>
            </a:r>
            <a:r>
              <a:rPr dirty="0" sz="1100">
                <a:latin typeface="Times New Roman"/>
                <a:cs typeface="Times New Roman"/>
              </a:rPr>
              <a:t> Inflections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inflected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tense.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distinction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reference</a:t>
            </a:r>
            <a:r>
              <a:rPr dirty="0" sz="1100" spc="-5">
                <a:latin typeface="Times New Roman"/>
                <a:cs typeface="Times New Roman"/>
              </a:rPr>
              <a:t> 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expressed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adverbs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some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5">
                <a:latin typeface="Times New Roman"/>
                <a:cs typeface="Times New Roman"/>
              </a:rPr>
              <a:t> linguistic element</a:t>
            </a:r>
            <a:endParaRPr sz="1100">
              <a:latin typeface="Times New Roman"/>
              <a:cs typeface="Times New Roman"/>
            </a:endParaRPr>
          </a:p>
          <a:p>
            <a:pPr marL="12700" marR="16510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multilingual </a:t>
            </a:r>
            <a:r>
              <a:rPr dirty="0" sz="1100">
                <a:latin typeface="Times New Roman"/>
                <a:cs typeface="Times New Roman"/>
              </a:rPr>
              <a:t>users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base </a:t>
            </a:r>
            <a:r>
              <a:rPr dirty="0" sz="1100" spc="-5">
                <a:latin typeface="Times New Roman"/>
                <a:cs typeface="Times New Roman"/>
              </a:rPr>
              <a:t>their systems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theirfsirst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Limited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marking</a:t>
            </a:r>
            <a:endParaRPr sz="1100">
              <a:latin typeface="Times New Roman"/>
              <a:cs typeface="Times New Roman"/>
            </a:endParaRPr>
          </a:p>
          <a:p>
            <a:pPr marL="12700" marR="4797425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Mandarin,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privately.</a:t>
            </a:r>
            <a:endParaRPr sz="1100">
              <a:latin typeface="Times New Roman"/>
              <a:cs typeface="Times New Roman"/>
            </a:endParaRPr>
          </a:p>
          <a:p>
            <a:pPr marL="186690" marR="4930775" indent="-139700">
              <a:lnSpc>
                <a:spcPct val="110200"/>
              </a:lnSpc>
              <a:buChar char="-"/>
              <a:tabLst>
                <a:tab pos="199390" algn="l"/>
              </a:tabLst>
            </a:pP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wife,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Cambridge.</a:t>
            </a:r>
            <a:endParaRPr sz="1100">
              <a:latin typeface="Times New Roman"/>
              <a:cs typeface="Times New Roman"/>
            </a:endParaRPr>
          </a:p>
          <a:p>
            <a:pPr marL="12700" marR="4900930" indent="34925">
              <a:lnSpc>
                <a:spcPct val="100000"/>
              </a:lnSpc>
              <a:spcBef>
                <a:spcPts val="130"/>
              </a:spcBef>
              <a:buChar char="-"/>
              <a:tabLst>
                <a:tab pos="199390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yesterday.</a:t>
            </a:r>
            <a:endParaRPr sz="1100">
              <a:latin typeface="Times New Roman"/>
              <a:cs typeface="Times New Roman"/>
            </a:endParaRPr>
          </a:p>
          <a:p>
            <a:pPr marL="12700" marR="490093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Inflections</a:t>
            </a:r>
            <a:endParaRPr sz="1100">
              <a:latin typeface="Times New Roman"/>
              <a:cs typeface="Times New Roman"/>
            </a:endParaRPr>
          </a:p>
          <a:p>
            <a:pPr marL="12700" marR="6985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There is </a:t>
            </a:r>
            <a:r>
              <a:rPr dirty="0" sz="1100">
                <a:latin typeface="Times New Roman"/>
                <a:cs typeface="Times New Roman"/>
              </a:rPr>
              <a:t>a great deal of variation </a:t>
            </a:r>
            <a:r>
              <a:rPr dirty="0" sz="1100" spc="-5">
                <a:latin typeface="Times New Roman"/>
                <a:cs typeface="Times New Roman"/>
              </a:rPr>
              <a:t>in the </a:t>
            </a:r>
            <a:r>
              <a:rPr dirty="0" sz="1100">
                <a:latin typeface="Times New Roman"/>
                <a:cs typeface="Times New Roman"/>
              </a:rPr>
              <a:t>use of </a:t>
            </a:r>
            <a:r>
              <a:rPr dirty="0" sz="1100" spc="-5">
                <a:latin typeface="Times New Roman"/>
                <a:cs typeface="Times New Roman"/>
              </a:rPr>
              <a:t>the tense-aspect markers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across its </a:t>
            </a:r>
            <a:r>
              <a:rPr dirty="0" sz="1100">
                <a:latin typeface="Times New Roman"/>
                <a:cs typeface="Times New Roman"/>
              </a:rPr>
              <a:t>varieties.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  <a:p>
            <a:pPr marL="46990" marR="4685665" indent="-349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aspect instead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tense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5">
                <a:latin typeface="Times New Roman"/>
                <a:cs typeface="Times New Roman"/>
              </a:rPr>
              <a:t> eat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I’m</a:t>
            </a:r>
            <a:r>
              <a:rPr dirty="0" sz="1100" spc="-5">
                <a:latin typeface="Times New Roman"/>
                <a:cs typeface="Times New Roman"/>
              </a:rPr>
              <a:t> eating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2557780" cy="481393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I’ve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1960.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Limited marking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third </a:t>
            </a:r>
            <a:r>
              <a:rPr dirty="0" sz="1100">
                <a:latin typeface="Times New Roman"/>
                <a:cs typeface="Times New Roman"/>
              </a:rPr>
              <a:t>person </a:t>
            </a:r>
            <a:r>
              <a:rPr dirty="0" sz="1100" spc="-5">
                <a:latin typeface="Times New Roman"/>
                <a:cs typeface="Times New Roman"/>
              </a:rPr>
              <a:t>singular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drink </a:t>
            </a:r>
            <a:r>
              <a:rPr dirty="0" sz="1100" spc="-5">
                <a:latin typeface="Times New Roman"/>
                <a:cs typeface="Times New Roman"/>
              </a:rPr>
              <a:t>milk.</a:t>
            </a:r>
            <a:endParaRPr sz="1100">
              <a:latin typeface="Times New Roman"/>
              <a:cs typeface="Times New Roman"/>
            </a:endParaRPr>
          </a:p>
          <a:p>
            <a:pPr marL="12700" marR="998219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book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Formation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prepositional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construction</a:t>
            </a:r>
            <a:endParaRPr sz="1100">
              <a:latin typeface="Times New Roman"/>
              <a:cs typeface="Times New Roman"/>
            </a:endParaRPr>
          </a:p>
          <a:p>
            <a:pPr marL="12700" marR="1067435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can’t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cope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endParaRPr sz="1100">
              <a:latin typeface="Times New Roman"/>
              <a:cs typeface="Times New Roman"/>
            </a:endParaRPr>
          </a:p>
          <a:p>
            <a:pPr marL="12700" marR="1022985" indent="34925">
              <a:lnSpc>
                <a:spcPct val="110200"/>
              </a:lnSpc>
              <a:buChar char="-"/>
              <a:tabLst>
                <a:tab pos="164465" algn="l"/>
              </a:tabLst>
            </a:pP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name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cropped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conversation</a:t>
            </a:r>
            <a:endParaRPr sz="1100">
              <a:latin typeface="Times New Roman"/>
              <a:cs typeface="Times New Roman"/>
            </a:endParaRPr>
          </a:p>
          <a:p>
            <a:pPr marL="12700" marR="959485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>
                <a:latin typeface="Times New Roman"/>
                <a:cs typeface="Times New Roman"/>
              </a:rPr>
              <a:t>I’m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voice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opinion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Topic-094:Grammar-IV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Question-answering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questioning-answering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Positive-negative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</a:t>
            </a:r>
            <a:endParaRPr sz="1100">
              <a:latin typeface="Times New Roman"/>
              <a:cs typeface="Times New Roman"/>
            </a:endParaRPr>
          </a:p>
          <a:p>
            <a:pPr marL="12700" marR="633730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Agreement-disagreement  </a:t>
            </a:r>
            <a:r>
              <a:rPr dirty="0" sz="1100" spc="-5">
                <a:latin typeface="Times New Roman"/>
                <a:cs typeface="Times New Roman"/>
              </a:rPr>
              <a:t>system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1250">
              <a:latin typeface="Times New Roman"/>
              <a:cs typeface="Times New Roman"/>
            </a:endParaRPr>
          </a:p>
          <a:p>
            <a:pPr marL="12700" marR="98933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Question-answerin</a:t>
            </a:r>
            <a:r>
              <a:rPr dirty="0" sz="1100">
                <a:latin typeface="Times New Roman"/>
                <a:cs typeface="Times New Roman"/>
              </a:rPr>
              <a:t>g</a:t>
            </a:r>
            <a:r>
              <a:rPr dirty="0" sz="1100" spc="-5">
                <a:latin typeface="Times New Roman"/>
                <a:cs typeface="Times New Roman"/>
              </a:rPr>
              <a:t> system 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12700" marR="6877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Positive-negativ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system  </a:t>
            </a:r>
            <a:r>
              <a:rPr dirty="0" sz="1100" spc="-5">
                <a:latin typeface="Times New Roman"/>
                <a:cs typeface="Times New Roman"/>
              </a:rPr>
              <a:t>Q: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Isn’t </a:t>
            </a:r>
            <a:r>
              <a:rPr dirty="0" sz="1100">
                <a:latin typeface="Times New Roman"/>
                <a:cs typeface="Times New Roman"/>
              </a:rPr>
              <a:t>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coming?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A: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isn’t.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5452967"/>
            <a:ext cx="495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3823" y="5452967"/>
            <a:ext cx="14363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Agreement-disagreement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5620612"/>
            <a:ext cx="5215255" cy="3719829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system</a:t>
            </a:r>
            <a:endParaRPr sz="1100">
              <a:latin typeface="Times New Roman"/>
              <a:cs typeface="Times New Roman"/>
            </a:endParaRPr>
          </a:p>
          <a:p>
            <a:pPr marL="12700" marR="4081779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Q: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Isn’t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coming?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</a:t>
            </a:r>
            <a:r>
              <a:rPr dirty="0" sz="1100" spc="-5">
                <a:latin typeface="Times New Roman"/>
                <a:cs typeface="Times New Roman"/>
              </a:rPr>
              <a:t> is.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Question-answering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Outer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agreement-disagreement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system.</a:t>
            </a:r>
            <a:endParaRPr sz="1100">
              <a:latin typeface="Times New Roman"/>
              <a:cs typeface="Times New Roman"/>
            </a:endParaRPr>
          </a:p>
          <a:p>
            <a:pPr marL="12700" marR="23266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Causes </a:t>
            </a:r>
            <a:r>
              <a:rPr dirty="0" sz="1100">
                <a:latin typeface="Times New Roman"/>
                <a:cs typeface="Times New Roman"/>
              </a:rPr>
              <a:t>difficulty </a:t>
            </a:r>
            <a:r>
              <a:rPr dirty="0" sz="1100" spc="-5">
                <a:latin typeface="Times New Roman"/>
                <a:cs typeface="Times New Roman"/>
              </a:rPr>
              <a:t>in interpreting the answer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Didn’t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complete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work?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that’s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right.</a:t>
            </a:r>
            <a:endParaRPr sz="1100">
              <a:latin typeface="Times New Roman"/>
              <a:cs typeface="Times New Roman"/>
            </a:endParaRPr>
          </a:p>
          <a:p>
            <a:pPr marL="12700" marR="361251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general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question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tags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tag: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Tags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endParaRPr sz="1100">
              <a:latin typeface="Times New Roman"/>
              <a:cs typeface="Times New Roman"/>
            </a:endParaRPr>
          </a:p>
          <a:p>
            <a:pPr marL="12700" marR="263652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question </a:t>
            </a:r>
            <a:r>
              <a:rPr dirty="0" sz="1100" spc="-5">
                <a:latin typeface="Times New Roman"/>
                <a:cs typeface="Times New Roman"/>
              </a:rPr>
              <a:t>intonation </a:t>
            </a:r>
            <a:r>
              <a:rPr dirty="0" sz="1100">
                <a:latin typeface="Times New Roman"/>
                <a:cs typeface="Times New Roman"/>
              </a:rPr>
              <a:t>following </a:t>
            </a:r>
            <a:r>
              <a:rPr dirty="0" sz="1100" spc="-5">
                <a:latin typeface="Times New Roman"/>
                <a:cs typeface="Times New Roman"/>
              </a:rPr>
              <a:t>statements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coming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the </a:t>
            </a:r>
            <a:r>
              <a:rPr dirty="0" sz="1100">
                <a:latin typeface="Times New Roman"/>
                <a:cs typeface="Times New Roman"/>
              </a:rPr>
              <a:t>party,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isn’t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he?</a:t>
            </a:r>
            <a:endParaRPr sz="1100">
              <a:latin typeface="Times New Roman"/>
              <a:cs typeface="Times New Roman"/>
            </a:endParaRPr>
          </a:p>
          <a:p>
            <a:pPr marL="12700" marR="3566795" indent="349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Sara has arrived, hasn’t she?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general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question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tags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Outer-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Expanding-Circle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varieties,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tag,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isn’t,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universally: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Hira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 come next month,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isn’t it?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didn’t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test, isn’t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it?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4385945" cy="444500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music,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isn’t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it?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home,is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Topic-095:Discourse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Style-I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95: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Variations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aspects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discourse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vocabulary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 marL="12700" marR="24898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Lengthy constructions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aspects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discourse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Redundancy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expression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Expressions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thanks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Length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5">
                <a:latin typeface="Times New Roman"/>
                <a:cs typeface="Times New Roman"/>
              </a:rPr>
              <a:t> constructions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Deferential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vocabulary</a:t>
            </a:r>
            <a:endParaRPr sz="1100">
              <a:latin typeface="Times New Roman"/>
              <a:cs typeface="Times New Roman"/>
            </a:endParaRPr>
          </a:p>
          <a:p>
            <a:pPr marL="12700" marR="28327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of blessings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Redundancy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I’m</a:t>
            </a:r>
            <a:r>
              <a:rPr dirty="0" sz="1100" spc="-5">
                <a:latin typeface="Times New Roman"/>
                <a:cs typeface="Times New Roman"/>
              </a:rPr>
              <a:t> bubbling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zeal 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enthusiasm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 as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-5">
                <a:latin typeface="Times New Roman"/>
                <a:cs typeface="Times New Roman"/>
              </a:rPr>
              <a:t> research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assistant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offer</a:t>
            </a:r>
            <a:r>
              <a:rPr dirty="0" sz="1100" spc="-5">
                <a:latin typeface="Times New Roman"/>
                <a:cs typeface="Times New Roman"/>
              </a:rPr>
              <a:t> myself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candidate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Assistant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respect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</a:t>
            </a:r>
            <a:endParaRPr sz="1100">
              <a:latin typeface="Times New Roman"/>
              <a:cs typeface="Times New Roman"/>
            </a:endParaRPr>
          </a:p>
          <a:p>
            <a:pPr marL="12700" marR="26663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Your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obedient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servant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Greetings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Direct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translations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indigenous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5822372"/>
            <a:ext cx="723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-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5066498"/>
            <a:ext cx="1856105" cy="1318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1765" marR="502284" indent="-139700">
              <a:lnSpc>
                <a:spcPct val="110200"/>
              </a:lnSpc>
              <a:spcBef>
                <a:spcPts val="100"/>
              </a:spcBef>
              <a:buChar char="-"/>
              <a:tabLst>
                <a:tab pos="164465" algn="l"/>
              </a:tabLst>
            </a:pP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how?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(Sri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Lankan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English)</a:t>
            </a:r>
            <a:endParaRPr sz="1100">
              <a:latin typeface="Times New Roman"/>
              <a:cs typeface="Times New Roman"/>
            </a:endParaRPr>
          </a:p>
          <a:p>
            <a:pPr marL="164465" marR="133985" indent="-164465">
              <a:lnSpc>
                <a:spcPct val="110200"/>
              </a:lnSpc>
              <a:buChar char="-"/>
              <a:tabLst>
                <a:tab pos="164465" algn="l"/>
              </a:tabLst>
            </a:pPr>
            <a:r>
              <a:rPr dirty="0" sz="1100" spc="-5">
                <a:latin typeface="Times New Roman"/>
                <a:cs typeface="Times New Roman"/>
              </a:rPr>
              <a:t>You’re enjoying? (Nigerian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English)</a:t>
            </a:r>
            <a:endParaRPr sz="1100">
              <a:latin typeface="Times New Roman"/>
              <a:cs typeface="Times New Roman"/>
            </a:endParaRPr>
          </a:p>
          <a:p>
            <a:pPr marL="151765" marR="5080" indent="3175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eaten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already?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(Malaysian/Singaporean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6359409"/>
            <a:ext cx="3515360" cy="296735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Greetings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Direct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translations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indigenous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languages:</a:t>
            </a:r>
            <a:endParaRPr sz="1100">
              <a:latin typeface="Times New Roman"/>
              <a:cs typeface="Times New Roman"/>
            </a:endParaRPr>
          </a:p>
          <a:p>
            <a:pPr marL="186690" marR="1691639" indent="-174625">
              <a:lnSpc>
                <a:spcPct val="110200"/>
              </a:lnSpc>
              <a:buFont typeface="Times New Roman"/>
              <a:buChar char="-"/>
              <a:tabLst>
                <a:tab pos="469265" algn="l"/>
                <a:tab pos="469900" algn="l"/>
              </a:tabLst>
            </a:pPr>
            <a:r>
              <a:rPr dirty="0"/>
              <a:t>	</a:t>
            </a:r>
            <a:r>
              <a:rPr dirty="0" sz="1100" spc="-5">
                <a:latin typeface="Times New Roman"/>
                <a:cs typeface="Times New Roman"/>
              </a:rPr>
              <a:t>How?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How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now?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(West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English)</a:t>
            </a:r>
            <a:endParaRPr sz="1100">
              <a:latin typeface="Times New Roman"/>
              <a:cs typeface="Times New Roman"/>
            </a:endParaRPr>
          </a:p>
          <a:p>
            <a:pPr marL="151765" marR="1802130" indent="-139700">
              <a:lnSpc>
                <a:spcPct val="110200"/>
              </a:lnSpc>
              <a:buFont typeface="Times New Roman"/>
              <a:buChar char="-"/>
              <a:tabLst>
                <a:tab pos="469265" algn="l"/>
                <a:tab pos="469900" algn="l"/>
              </a:tabLst>
            </a:pPr>
            <a:r>
              <a:rPr dirty="0"/>
              <a:t>	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alright?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(East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Topic-096:Discourse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Style-II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16154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textual </a:t>
            </a:r>
            <a:r>
              <a:rPr dirty="0" sz="1100">
                <a:latin typeface="Times New Roman"/>
                <a:cs typeface="Times New Roman"/>
              </a:rPr>
              <a:t>organization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2272665">
              <a:lnSpc>
                <a:spcPct val="1102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grammatical </a:t>
            </a:r>
            <a:r>
              <a:rPr dirty="0" sz="1100" spc="-5">
                <a:latin typeface="Times New Roman"/>
                <a:cs typeface="Times New Roman"/>
              </a:rPr>
              <a:t>structure  Themati</a:t>
            </a:r>
            <a:r>
              <a:rPr dirty="0" sz="1100">
                <a:latin typeface="Times New Roman"/>
                <a:cs typeface="Times New Roman"/>
              </a:rPr>
              <a:t>c</a:t>
            </a:r>
            <a:r>
              <a:rPr dirty="0" sz="1100" spc="-5">
                <a:latin typeface="Times New Roman"/>
                <a:cs typeface="Times New Roman"/>
              </a:rPr>
              <a:t> information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organization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devices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focus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3839210" cy="205740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Focus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initial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usually</a:t>
            </a:r>
            <a:r>
              <a:rPr dirty="0" sz="1100" spc="-5">
                <a:latin typeface="Times New Roman"/>
                <a:cs typeface="Times New Roman"/>
              </a:rPr>
              <a:t> signals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theme</a:t>
            </a:r>
            <a:endParaRPr sz="1100">
              <a:latin typeface="Times New Roman"/>
              <a:cs typeface="Times New Roman"/>
            </a:endParaRPr>
          </a:p>
          <a:p>
            <a:pPr marL="12700" marR="5619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element that </a:t>
            </a:r>
            <a:r>
              <a:rPr dirty="0" sz="1100">
                <a:latin typeface="Times New Roman"/>
                <a:cs typeface="Times New Roman"/>
              </a:rPr>
              <a:t>follows </a:t>
            </a:r>
            <a:r>
              <a:rPr dirty="0" sz="1100" spc="-5">
                <a:latin typeface="Times New Roman"/>
                <a:cs typeface="Times New Roman"/>
              </a:rPr>
              <a:t>the main </a:t>
            </a:r>
            <a:r>
              <a:rPr dirty="0" sz="1100">
                <a:latin typeface="Times New Roman"/>
                <a:cs typeface="Times New Roman"/>
              </a:rPr>
              <a:t>verb </a:t>
            </a:r>
            <a:r>
              <a:rPr dirty="0" sz="1100" spc="-5">
                <a:latin typeface="Times New Roman"/>
                <a:cs typeface="Times New Roman"/>
              </a:rPr>
              <a:t>is in </a:t>
            </a:r>
            <a:r>
              <a:rPr dirty="0" sz="1100">
                <a:latin typeface="Times New Roman"/>
                <a:cs typeface="Times New Roman"/>
              </a:rPr>
              <a:t>focus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</a:t>
            </a:r>
            <a:endParaRPr sz="1100">
              <a:latin typeface="Times New Roman"/>
              <a:cs typeface="Times New Roman"/>
            </a:endParaRPr>
          </a:p>
          <a:p>
            <a:pPr marL="12700" marR="259397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Where </a:t>
            </a:r>
            <a:r>
              <a:rPr dirty="0" sz="1100">
                <a:latin typeface="Times New Roman"/>
                <a:cs typeface="Times New Roman"/>
              </a:rPr>
              <a:t>did </a:t>
            </a:r>
            <a:r>
              <a:rPr dirty="0" sz="1100" spc="-5">
                <a:latin typeface="Times New Roman"/>
                <a:cs typeface="Times New Roman"/>
              </a:rPr>
              <a:t>Sara </a:t>
            </a:r>
            <a:r>
              <a:rPr dirty="0" sz="1100">
                <a:latin typeface="Times New Roman"/>
                <a:cs typeface="Times New Roman"/>
              </a:rPr>
              <a:t>go?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beach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Focus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0650" indent="-108585">
              <a:lnSpc>
                <a:spcPct val="100000"/>
              </a:lnSpc>
              <a:spcBef>
                <a:spcPts val="135"/>
              </a:spcBef>
              <a:buAutoNum type="romanLcPeriod"/>
              <a:tabLst>
                <a:tab pos="121285" algn="l"/>
              </a:tabLst>
            </a:pPr>
            <a:r>
              <a:rPr dirty="0" sz="1100" spc="-5">
                <a:latin typeface="Times New Roman"/>
                <a:cs typeface="Times New Roman"/>
              </a:rPr>
              <a:t>Certain medicine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 don’(t)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stock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dispensary</a:t>
            </a:r>
            <a:endParaRPr sz="1100">
              <a:latin typeface="Times New Roman"/>
              <a:cs typeface="Times New Roman"/>
            </a:endParaRPr>
          </a:p>
          <a:p>
            <a:pPr marL="159385" indent="-147320">
              <a:lnSpc>
                <a:spcPct val="100000"/>
              </a:lnSpc>
              <a:spcBef>
                <a:spcPts val="135"/>
              </a:spcBef>
              <a:buAutoNum type="romanLcPeriod"/>
              <a:tabLst>
                <a:tab pos="160020" algn="l"/>
              </a:tabLst>
            </a:pP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dollars</a:t>
            </a:r>
            <a:endParaRPr sz="1100">
              <a:latin typeface="Times New Roman"/>
              <a:cs typeface="Times New Roman"/>
            </a:endParaRPr>
          </a:p>
          <a:p>
            <a:pPr marL="197485" indent="-185420">
              <a:lnSpc>
                <a:spcPct val="100000"/>
              </a:lnSpc>
              <a:spcBef>
                <a:spcPts val="135"/>
              </a:spcBef>
              <a:buAutoNum type="romanLcPeriod"/>
              <a:tabLst>
                <a:tab pos="198120" algn="l"/>
              </a:tabLst>
            </a:pP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weekend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brother.</a:t>
            </a:r>
            <a:endParaRPr sz="1100">
              <a:latin typeface="Times New Roman"/>
              <a:cs typeface="Times New Roman"/>
            </a:endParaRPr>
          </a:p>
          <a:p>
            <a:pPr marL="190500" indent="-178435">
              <a:lnSpc>
                <a:spcPct val="100000"/>
              </a:lnSpc>
              <a:spcBef>
                <a:spcPts val="135"/>
              </a:spcBef>
              <a:buAutoNum type="romanLcPeriod"/>
              <a:tabLst>
                <a:tab pos="191135" algn="l"/>
              </a:tabLst>
            </a:pPr>
            <a:r>
              <a:rPr dirty="0" sz="1100" spc="-5">
                <a:latin typeface="Times New Roman"/>
                <a:cs typeface="Times New Roman"/>
              </a:rPr>
              <a:t>M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daughter </a:t>
            </a:r>
            <a:r>
              <a:rPr dirty="0" sz="1100" spc="-5">
                <a:latin typeface="Times New Roman"/>
                <a:cs typeface="Times New Roman"/>
              </a:rPr>
              <a:t>sh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i</a:t>
            </a:r>
            <a:r>
              <a:rPr dirty="0" sz="1100">
                <a:latin typeface="Times New Roman"/>
                <a:cs typeface="Times New Roman"/>
              </a:rPr>
              <a:t>s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attendin</a:t>
            </a:r>
            <a:r>
              <a:rPr dirty="0" sz="1100">
                <a:latin typeface="Times New Roman"/>
                <a:cs typeface="Times New Roman"/>
              </a:rPr>
              <a:t>g</a:t>
            </a:r>
            <a:r>
              <a:rPr dirty="0" sz="1100" spc="-5">
                <a:latin typeface="Times New Roman"/>
                <a:cs typeface="Times New Roman"/>
              </a:rPr>
              <a:t> th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Universit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Nairobi.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2693658"/>
            <a:ext cx="6374765" cy="6555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6515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Lesson-17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48260">
              <a:lnSpc>
                <a:spcPct val="100000"/>
              </a:lnSpc>
            </a:pPr>
            <a:r>
              <a:rPr dirty="0" sz="1400" spc="60">
                <a:latin typeface="Times New Roman"/>
                <a:cs typeface="Times New Roman"/>
              </a:rPr>
              <a:t>World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Englishes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Intelligibility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Topic-097:Intelligibility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 indent="4318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frequently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discussed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today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various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intelligible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outside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locality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intelligibility?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Understanding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Making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sense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intelligibility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across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difficulties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intelligibility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Variations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Geography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Ethnicity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0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(differences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younger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generation)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intelligibility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Varieties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Lexis/vocab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differenet-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pakenglish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gunman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armed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guarad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paki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Ind </a:t>
            </a:r>
            <a:r>
              <a:rPr dirty="0" sz="1100" spc="-5">
                <a:latin typeface="Times New Roman"/>
                <a:cs typeface="Times New Roman"/>
              </a:rPr>
              <a:t>speaker wants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say why 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late? 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 say wh </a:t>
            </a:r>
            <a:r>
              <a:rPr dirty="0" sz="1100">
                <a:latin typeface="Times New Roman"/>
                <a:cs typeface="Times New Roman"/>
              </a:rPr>
              <a:t>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are late?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Accent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Intelligibility</a:t>
            </a:r>
            <a:r>
              <a:rPr dirty="0" sz="1100" spc="-5">
                <a:latin typeface="Times New Roman"/>
                <a:cs typeface="Times New Roman"/>
              </a:rPr>
              <a:t> is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an abstract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idea. 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considered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5">
                <a:latin typeface="Times New Roman"/>
                <a:cs typeface="Times New Roman"/>
              </a:rPr>
              <a:t> in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particular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speaker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listener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Situation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Time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Purpose</a:t>
            </a:r>
            <a:endParaRPr sz="1100">
              <a:latin typeface="Times New Roman"/>
              <a:cs typeface="Times New Roman"/>
            </a:endParaRPr>
          </a:p>
          <a:p>
            <a:pPr marL="12700" marR="1841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example,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intention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speaker.</a:t>
            </a:r>
            <a:endParaRPr sz="1100">
              <a:latin typeface="Times New Roman"/>
              <a:cs typeface="Times New Roman"/>
            </a:endParaRPr>
          </a:p>
          <a:p>
            <a:pPr marL="12700" marR="825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Listener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rate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volume,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voice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difference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telling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equipment works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listener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does 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 </a:t>
            </a:r>
            <a:r>
              <a:rPr dirty="0" sz="1100" spc="-5">
                <a:latin typeface="Times New Roman"/>
                <a:cs typeface="Times New Roman"/>
              </a:rPr>
              <a:t>jargon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computer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 understand</a:t>
            </a:r>
            <a:r>
              <a:rPr dirty="0" sz="1100" spc="-5">
                <a:latin typeface="Times New Roman"/>
                <a:cs typeface="Times New Roman"/>
              </a:rPr>
              <a:t> each </a:t>
            </a:r>
            <a:r>
              <a:rPr dirty="0" sz="1100">
                <a:latin typeface="Times New Roman"/>
                <a:cs typeface="Times New Roman"/>
              </a:rPr>
              <a:t>other.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72860" cy="8309609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Intelligibility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intelligibility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natural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phenomenon</a:t>
            </a:r>
            <a:r>
              <a:rPr dirty="0" sz="1100" spc="-5">
                <a:latin typeface="Times New Roman"/>
                <a:cs typeface="Times New Roman"/>
              </a:rPr>
              <a:t> when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becomes</a:t>
            </a:r>
            <a:r>
              <a:rPr dirty="0" sz="1100" spc="-5">
                <a:latin typeface="Times New Roman"/>
                <a:cs typeface="Times New Roman"/>
              </a:rPr>
              <a:t> widespread</a:t>
            </a:r>
            <a:endParaRPr sz="1100">
              <a:latin typeface="Times New Roman"/>
              <a:cs typeface="Times New Roman"/>
            </a:endParaRPr>
          </a:p>
          <a:p>
            <a:pPr marL="12700" marR="171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Intelligibility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productive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receptive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skills-you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abtintell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spglgrgwg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etc.</a:t>
            </a:r>
            <a:endParaRPr sz="1100">
              <a:latin typeface="Times New Roman"/>
              <a:cs typeface="Times New Roman"/>
            </a:endParaRPr>
          </a:p>
          <a:p>
            <a:pPr marL="12700" marR="338327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Mostly causes concerns in listening speaking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Intelligibility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Variations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intelligibility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frustration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reactions: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endParaRPr sz="1100">
              <a:latin typeface="Times New Roman"/>
              <a:cs typeface="Times New Roman"/>
            </a:endParaRPr>
          </a:p>
          <a:p>
            <a:pPr marL="12700" marR="190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Accept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deal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it-world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supporters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variations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there </a:t>
            </a:r>
            <a:r>
              <a:rPr dirty="0" sz="1100">
                <a:latin typeface="Times New Roman"/>
                <a:cs typeface="Times New Roman"/>
              </a:rPr>
              <a:t>. It</a:t>
            </a:r>
            <a:r>
              <a:rPr dirty="0" sz="1100" spc="-5">
                <a:latin typeface="Times New Roman"/>
                <a:cs typeface="Times New Roman"/>
              </a:rPr>
              <a:t> should </a:t>
            </a:r>
            <a:r>
              <a:rPr dirty="0" sz="1100">
                <a:latin typeface="Times New Roman"/>
                <a:cs typeface="Times New Roman"/>
              </a:rPr>
              <a:t>not be </a:t>
            </a:r>
            <a:r>
              <a:rPr dirty="0" sz="1100" spc="-5">
                <a:latin typeface="Times New Roman"/>
                <a:cs typeface="Times New Roman"/>
              </a:rPr>
              <a:t>changed </a:t>
            </a:r>
            <a:r>
              <a:rPr dirty="0" sz="1100">
                <a:latin typeface="Times New Roman"/>
                <a:cs typeface="Times New Roman"/>
              </a:rPr>
              <a:t>rather</a:t>
            </a:r>
            <a:r>
              <a:rPr dirty="0" sz="1100" spc="-5">
                <a:latin typeface="Times New Roman"/>
                <a:cs typeface="Times New Roman"/>
              </a:rPr>
              <a:t> we should </a:t>
            </a:r>
            <a:r>
              <a:rPr dirty="0" sz="1100">
                <a:latin typeface="Times New Roman"/>
                <a:cs typeface="Times New Roman"/>
              </a:rPr>
              <a:t>devise </a:t>
            </a:r>
            <a:r>
              <a:rPr dirty="0" sz="1100" spc="-5">
                <a:latin typeface="Times New Roman"/>
                <a:cs typeface="Times New Roman"/>
              </a:rPr>
              <a:t>ways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deal </a:t>
            </a:r>
            <a:r>
              <a:rPr dirty="0" sz="1100" spc="-5">
                <a:latin typeface="Times New Roman"/>
                <a:cs typeface="Times New Roman"/>
              </a:rPr>
              <a:t>with this situation.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Topic-098:Components</a:t>
            </a:r>
            <a:r>
              <a:rPr dirty="0" u="sng" sz="1100" spc="-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Intelligibility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Components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intelligibility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holistic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intelligibility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divided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components: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Intelligibility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Comprehensibility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Interpretability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1250">
              <a:latin typeface="Times New Roman"/>
              <a:cs typeface="Times New Roman"/>
            </a:endParaRPr>
          </a:p>
          <a:p>
            <a:pPr algn="just" marL="12700" marR="3992245">
              <a:lnSpc>
                <a:spcPct val="1102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(Smith </a:t>
            </a:r>
            <a:r>
              <a:rPr dirty="0" sz="1100" spc="-5">
                <a:latin typeface="Times New Roman"/>
                <a:cs typeface="Times New Roman"/>
              </a:rPr>
              <a:t>as cited in Kachru&amp; Nelson, </a:t>
            </a:r>
            <a:r>
              <a:rPr dirty="0" sz="1100">
                <a:latin typeface="Times New Roman"/>
                <a:cs typeface="Times New Roman"/>
              </a:rPr>
              <a:t>2006)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Intelligibility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Intelligibility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to:</a:t>
            </a:r>
            <a:endParaRPr sz="1100">
              <a:latin typeface="Times New Roman"/>
              <a:cs typeface="Times New Roman"/>
            </a:endParaRPr>
          </a:p>
          <a:p>
            <a:pPr algn="just" marL="12700" marR="101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Level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sound- when </a:t>
            </a:r>
            <a:r>
              <a:rPr dirty="0" sz="1100">
                <a:latin typeface="Times New Roman"/>
                <a:cs typeface="Times New Roman"/>
              </a:rPr>
              <a:t>you hear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utterance you </a:t>
            </a:r>
            <a:r>
              <a:rPr dirty="0" sz="1100" spc="-5">
                <a:latin typeface="Times New Roman"/>
                <a:cs typeface="Times New Roman"/>
              </a:rPr>
              <a:t>are able to </a:t>
            </a:r>
            <a:r>
              <a:rPr dirty="0" sz="1100">
                <a:latin typeface="Times New Roman"/>
                <a:cs typeface="Times New Roman"/>
              </a:rPr>
              <a:t>distinguish between different </a:t>
            </a:r>
            <a:r>
              <a:rPr dirty="0" sz="1100" spc="-5">
                <a:latin typeface="Times New Roman"/>
                <a:cs typeface="Times New Roman"/>
              </a:rPr>
              <a:t>sounds-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recognize sounds according to different categories assigned to them-you hear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sound and </a:t>
            </a:r>
            <a:r>
              <a:rPr dirty="0" sz="1100">
                <a:latin typeface="Times New Roman"/>
                <a:cs typeface="Times New Roman"/>
              </a:rPr>
              <a:t>you’re </a:t>
            </a:r>
            <a:r>
              <a:rPr dirty="0" sz="1100" spc="-5">
                <a:latin typeface="Times New Roman"/>
                <a:cs typeface="Times New Roman"/>
              </a:rPr>
              <a:t>able to identify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different </a:t>
            </a:r>
            <a:r>
              <a:rPr dirty="0" sz="1100" spc="-5">
                <a:latin typeface="Times New Roman"/>
                <a:cs typeface="Times New Roman"/>
              </a:rPr>
              <a:t>words.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Intelligibility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don’t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someobdy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assign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categories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hear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always ask the speaker to clarify 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words. Difficulties can </a:t>
            </a:r>
            <a:r>
              <a:rPr dirty="0" sz="1100">
                <a:latin typeface="Times New Roman"/>
                <a:cs typeface="Times New Roman"/>
              </a:rPr>
              <a:t>be overcome by: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clarification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repeat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yourself?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Repair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device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Stored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memory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checking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later</a:t>
            </a:r>
            <a:endParaRPr sz="1100">
              <a:latin typeface="Times New Roman"/>
              <a:cs typeface="Times New Roman"/>
            </a:endParaRPr>
          </a:p>
          <a:p>
            <a:pPr marL="12700" marR="30854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Ignored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redundancy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intelligibility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able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Recognize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word/words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Reproduce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Topic-099:Comprehensibility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Comprehensibility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next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Smith’s complexity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continuum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intelligibility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Involves: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assigning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utterances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Recognizing an utterance’s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referents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6510" cy="7769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307965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Comprehensibility 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4699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Table</a:t>
            </a:r>
            <a:endParaRPr sz="1100">
              <a:latin typeface="Times New Roman"/>
              <a:cs typeface="Times New Roman"/>
            </a:endParaRPr>
          </a:p>
          <a:p>
            <a:pPr marL="12700" marR="4961890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Please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package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table.</a:t>
            </a:r>
            <a:endParaRPr sz="1100">
              <a:latin typeface="Times New Roman"/>
              <a:cs typeface="Times New Roman"/>
            </a:endParaRPr>
          </a:p>
          <a:p>
            <a:pPr marL="12700" marR="5069205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>
                <a:latin typeface="Times New Roman"/>
                <a:cs typeface="Times New Roman"/>
              </a:rPr>
              <a:t>Invite guests 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committee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table.</a:t>
            </a:r>
            <a:endParaRPr sz="1100">
              <a:latin typeface="Times New Roman"/>
              <a:cs typeface="Times New Roman"/>
            </a:endParaRPr>
          </a:p>
          <a:p>
            <a:pPr marL="128905" indent="-116839">
              <a:lnSpc>
                <a:spcPct val="100000"/>
              </a:lnSpc>
              <a:spcBef>
                <a:spcPts val="130"/>
              </a:spcBef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Table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motion.</a:t>
            </a:r>
            <a:endParaRPr sz="1100">
              <a:latin typeface="Times New Roman"/>
              <a:cs typeface="Times New Roman"/>
            </a:endParaRPr>
          </a:p>
          <a:p>
            <a:pPr marL="12700" marR="4521200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Insert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cells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Difficulty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comprehensibility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Unfamilia</a:t>
            </a:r>
            <a:r>
              <a:rPr dirty="0" sz="1100">
                <a:latin typeface="Times New Roman"/>
                <a:cs typeface="Times New Roman"/>
              </a:rPr>
              <a:t>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vocabulary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Unfamilia</a:t>
            </a:r>
            <a:r>
              <a:rPr dirty="0" sz="1100">
                <a:latin typeface="Times New Roman"/>
                <a:cs typeface="Times New Roman"/>
              </a:rPr>
              <a:t>r</a:t>
            </a:r>
            <a:r>
              <a:rPr dirty="0" sz="1100" spc="-5">
                <a:latin typeface="Times New Roman"/>
                <a:cs typeface="Times New Roman"/>
              </a:rPr>
              <a:t> expressions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Borrowed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items</a:t>
            </a:r>
            <a:endParaRPr sz="1100">
              <a:latin typeface="Times New Roman"/>
              <a:cs typeface="Times New Roman"/>
            </a:endParaRPr>
          </a:p>
          <a:p>
            <a:pPr marL="12700" marR="46101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Nativized </a:t>
            </a:r>
            <a:r>
              <a:rPr dirty="0" sz="1100">
                <a:latin typeface="Times New Roman"/>
                <a:cs typeface="Times New Roman"/>
              </a:rPr>
              <a:t>vocabulary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Difficulty in comprehensibility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‘Correspondence invited,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preferably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mutual alliance</a:t>
            </a:r>
            <a:r>
              <a:rPr dirty="0" sz="1100">
                <a:latin typeface="Times New Roman"/>
                <a:cs typeface="Times New Roman"/>
              </a:rPr>
              <a:t> … 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’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Kachru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Kachru&amp;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Nelson,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2006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‘Mutual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alliance’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culturally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significant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collocation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respect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marriage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arrangements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Topic-100:Interpretability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purpose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utterance</a:t>
            </a:r>
            <a:endParaRPr sz="1100">
              <a:latin typeface="Times New Roman"/>
              <a:cs typeface="Times New Roman"/>
            </a:endParaRPr>
          </a:p>
          <a:p>
            <a:pPr marL="12700" marR="39681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Most complex and most important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Interpretability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Masterji must have heard…. He biked all the way </a:t>
            </a:r>
            <a:r>
              <a:rPr dirty="0" sz="1100">
                <a:latin typeface="Times New Roman"/>
                <a:cs typeface="Times New Roman"/>
              </a:rPr>
              <a:t>… </a:t>
            </a:r>
            <a:r>
              <a:rPr dirty="0" sz="1100" spc="-5">
                <a:latin typeface="Times New Roman"/>
                <a:cs typeface="Times New Roman"/>
              </a:rPr>
              <a:t>his white beard rolled spiffily tight and his long hair tucked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crisp chartreuse turban.… He was even carrying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kirpan…. Masterji was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Sikh…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very few went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around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their ceremonial </a:t>
            </a:r>
            <a:r>
              <a:rPr dirty="0" sz="1100">
                <a:latin typeface="Times New Roman"/>
                <a:cs typeface="Times New Roman"/>
              </a:rPr>
              <a:t>daggers </a:t>
            </a:r>
            <a:r>
              <a:rPr dirty="0" sz="1100" spc="-5">
                <a:latin typeface="Times New Roman"/>
                <a:cs typeface="Times New Roman"/>
              </a:rPr>
              <a:t>strapped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chests all </a:t>
            </a:r>
            <a:r>
              <a:rPr dirty="0" sz="1100">
                <a:latin typeface="Times New Roman"/>
                <a:cs typeface="Times New Roman"/>
              </a:rPr>
              <a:t>day </a:t>
            </a:r>
            <a:r>
              <a:rPr dirty="0" sz="1100" spc="-5">
                <a:latin typeface="Times New Roman"/>
                <a:cs typeface="Times New Roman"/>
              </a:rPr>
              <a:t>long.</a:t>
            </a:r>
            <a:endParaRPr sz="1100">
              <a:latin typeface="Times New Roman"/>
              <a:cs typeface="Times New Roman"/>
            </a:endParaRPr>
          </a:p>
          <a:p>
            <a:pPr marL="12700" marR="550735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Interpretability 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‘Matrimonial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correspondence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invited </a:t>
            </a:r>
            <a:r>
              <a:rPr dirty="0" sz="1100">
                <a:latin typeface="Times New Roman"/>
                <a:cs typeface="Times New Roman"/>
              </a:rPr>
              <a:t>from</a:t>
            </a:r>
            <a:endParaRPr sz="1100">
              <a:latin typeface="Times New Roman"/>
              <a:cs typeface="Times New Roman"/>
            </a:endParaRPr>
          </a:p>
          <a:p>
            <a:pPr marL="12700" marR="32251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respected Punjabi families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my son</a:t>
            </a:r>
            <a:r>
              <a:rPr dirty="0" sz="1100">
                <a:latin typeface="Times New Roman"/>
                <a:cs typeface="Times New Roman"/>
              </a:rPr>
              <a:t> … </a:t>
            </a:r>
            <a:r>
              <a:rPr dirty="0" sz="1100" spc="-5">
                <a:latin typeface="Times New Roman"/>
                <a:cs typeface="Times New Roman"/>
              </a:rPr>
              <a:t>clean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shaven.’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Interpretability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findings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intelligibility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remove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target</a:t>
            </a:r>
            <a:endParaRPr sz="1100">
              <a:latin typeface="Times New Roman"/>
              <a:cs typeface="Times New Roman"/>
            </a:endParaRPr>
          </a:p>
          <a:p>
            <a:pPr marL="12700" marR="10407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students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to </a:t>
            </a:r>
            <a:r>
              <a:rPr dirty="0" sz="1100">
                <a:latin typeface="Times New Roman"/>
                <a:cs typeface="Times New Roman"/>
              </a:rPr>
              <a:t>have greater </a:t>
            </a:r>
            <a:r>
              <a:rPr dirty="0" sz="1100" spc="-5">
                <a:latin typeface="Times New Roman"/>
                <a:cs typeface="Times New Roman"/>
              </a:rPr>
              <a:t>exposure to </a:t>
            </a:r>
            <a:r>
              <a:rPr dirty="0" sz="1100">
                <a:latin typeface="Times New Roman"/>
                <a:cs typeface="Times New Roman"/>
              </a:rPr>
              <a:t>nonnative varieties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findings on </a:t>
            </a:r>
            <a:r>
              <a:rPr dirty="0" sz="1100" spc="-5">
                <a:latin typeface="Times New Roman"/>
                <a:cs typeface="Times New Roman"/>
              </a:rPr>
              <a:t>intelligibility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Exposure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ensures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inhibition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bias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tolerance toward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Wider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exposure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users’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comprehend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64444"/>
            <a:ext cx="6378575" cy="8749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Topic-101:Intercultural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competence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22225">
              <a:lnSpc>
                <a:spcPct val="110200"/>
              </a:lnSpc>
              <a:spcBef>
                <a:spcPts val="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Focusing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leads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(or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teachers)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unified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monolithic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depending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their:</a:t>
            </a:r>
            <a:endParaRPr sz="1100">
              <a:latin typeface="Times New Roman"/>
              <a:cs typeface="Times New Roman"/>
            </a:endParaRPr>
          </a:p>
          <a:p>
            <a:pPr marL="12700" marR="584644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Gender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Ethnicity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Intercultural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differences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 </a:t>
            </a:r>
            <a:r>
              <a:rPr dirty="0" sz="1100" spc="-5">
                <a:latin typeface="Times New Roman"/>
                <a:cs typeface="Times New Roman"/>
              </a:rPr>
              <a:t>aspects: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non-standard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respect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gender</a:t>
            </a:r>
            <a:endParaRPr sz="1100">
              <a:latin typeface="Times New Roman"/>
              <a:cs typeface="Times New Roman"/>
            </a:endParaRPr>
          </a:p>
          <a:p>
            <a:pPr marL="12700" marR="38538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Performance </a:t>
            </a:r>
            <a:r>
              <a:rPr dirty="0" sz="1100">
                <a:latin typeface="Times New Roman"/>
                <a:cs typeface="Times New Roman"/>
              </a:rPr>
              <a:t>of different </a:t>
            </a:r>
            <a:r>
              <a:rPr dirty="0" sz="1100" spc="-5">
                <a:latin typeface="Times New Roman"/>
                <a:cs typeface="Times New Roman"/>
              </a:rPr>
              <a:t>speech acts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‘yes’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different cultures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Burundi: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addressee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say: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‘Yes,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definitely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agree’,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proceed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opinion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contradictory to what the </a:t>
            </a:r>
            <a:r>
              <a:rPr dirty="0" sz="1100">
                <a:latin typeface="Times New Roman"/>
                <a:cs typeface="Times New Roman"/>
              </a:rPr>
              <a:t>first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had </a:t>
            </a:r>
            <a:r>
              <a:rPr dirty="0" sz="1100" spc="-5">
                <a:latin typeface="Times New Roman"/>
                <a:cs typeface="Times New Roman"/>
              </a:rPr>
              <a:t>said.</a:t>
            </a:r>
            <a:endParaRPr sz="1100">
              <a:latin typeface="Times New Roman"/>
              <a:cs typeface="Times New Roman"/>
            </a:endParaRPr>
          </a:p>
          <a:p>
            <a:pPr marL="12700" marR="453961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‘yes’ in different cultures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 marR="118681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(women):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‘yeah’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(men): ‘yeah’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 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speaker</a:t>
            </a:r>
            <a:endParaRPr sz="1100">
              <a:latin typeface="Times New Roman"/>
              <a:cs typeface="Times New Roman"/>
            </a:endParaRPr>
          </a:p>
          <a:p>
            <a:pPr marL="12700" marR="2985135" indent="3492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Japanese: </a:t>
            </a:r>
            <a:r>
              <a:rPr dirty="0" sz="1100">
                <a:latin typeface="Times New Roman"/>
                <a:cs typeface="Times New Roman"/>
              </a:rPr>
              <a:t>‘I </a:t>
            </a:r>
            <a:r>
              <a:rPr dirty="0" sz="1100" spc="-5">
                <a:latin typeface="Times New Roman"/>
                <a:cs typeface="Times New Roman"/>
              </a:rPr>
              <a:t>am paying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attention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are saying’.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Findings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research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account: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Properties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extended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discourse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12700" marR="844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Teacher education to consider the conventions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culture that </a:t>
            </a:r>
            <a:r>
              <a:rPr dirty="0" sz="1100">
                <a:latin typeface="Times New Roman"/>
                <a:cs typeface="Times New Roman"/>
              </a:rPr>
              <a:t>determine </a:t>
            </a:r>
            <a:r>
              <a:rPr dirty="0" sz="1100" spc="-5">
                <a:latin typeface="Times New Roman"/>
                <a:cs typeface="Times New Roman"/>
              </a:rPr>
              <a:t>context-dependent language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Findings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research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account: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awareness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raising</a:t>
            </a:r>
            <a:r>
              <a:rPr dirty="0" sz="1100" spc="-5">
                <a:latin typeface="Times New Roman"/>
                <a:cs typeface="Times New Roman"/>
              </a:rPr>
              <a:t> about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non-shared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world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Teacher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awareness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attitudes</a:t>
            </a:r>
            <a:endParaRPr sz="1100">
              <a:latin typeface="Times New Roman"/>
              <a:cs typeface="Times New Roman"/>
            </a:endParaRPr>
          </a:p>
          <a:p>
            <a:pPr marL="12700" marR="28409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Recognition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status and </a:t>
            </a:r>
            <a:r>
              <a:rPr dirty="0" sz="1100">
                <a:latin typeface="Times New Roman"/>
                <a:cs typeface="Times New Roman"/>
              </a:rPr>
              <a:t>depth of </a:t>
            </a:r>
            <a:r>
              <a:rPr dirty="0" sz="1100" spc="-5">
                <a:latin typeface="Times New Roman"/>
                <a:cs typeface="Times New Roman"/>
              </a:rPr>
              <a:t>world 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Findings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research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account: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Projection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ethnic,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gender,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5">
                <a:latin typeface="Times New Roman"/>
                <a:cs typeface="Times New Roman"/>
              </a:rPr>
              <a:t> identities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Topic-102:Sociocultural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Context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World</a:t>
            </a:r>
            <a:r>
              <a:rPr dirty="0" u="sng" sz="1100" spc="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Times New Roman"/>
              <a:cs typeface="Times New Roman"/>
            </a:endParaRPr>
          </a:p>
          <a:p>
            <a:pPr algn="r" marR="568960">
              <a:lnSpc>
                <a:spcPct val="100000"/>
              </a:lnSpc>
              <a:spcBef>
                <a:spcPts val="5"/>
              </a:spcBef>
            </a:pPr>
            <a:r>
              <a:rPr dirty="0" sz="1400" spc="10">
                <a:latin typeface="Times New Roman"/>
                <a:cs typeface="Times New Roman"/>
              </a:rPr>
              <a:t>Lesson-18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61594">
              <a:lnSpc>
                <a:spcPct val="100000"/>
              </a:lnSpc>
            </a:pPr>
            <a:r>
              <a:rPr dirty="0" sz="1400" spc="70">
                <a:latin typeface="Times New Roman"/>
                <a:cs typeface="Times New Roman"/>
              </a:rPr>
              <a:t>Standard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40">
                <a:latin typeface="Times New Roman"/>
                <a:cs typeface="Times New Roman"/>
              </a:rPr>
              <a:t>Language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10">
                <a:latin typeface="Times New Roman"/>
                <a:cs typeface="Times New Roman"/>
              </a:rPr>
              <a:t>Ideology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Topic-103:What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Standard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‘standard’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18th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century.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Historically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the </a:t>
            </a:r>
            <a:r>
              <a:rPr dirty="0" sz="1100">
                <a:latin typeface="Times New Roman"/>
                <a:cs typeface="Times New Roman"/>
              </a:rPr>
              <a:t>battle/war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flag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battle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12th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endParaRPr sz="1100">
              <a:latin typeface="Times New Roman"/>
              <a:cs typeface="Times New Roman"/>
            </a:endParaRPr>
          </a:p>
          <a:p>
            <a:pPr marL="12700" marR="26346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 in the armies to </a:t>
            </a:r>
            <a:r>
              <a:rPr dirty="0" sz="1100">
                <a:latin typeface="Times New Roman"/>
                <a:cs typeface="Times New Roman"/>
              </a:rPr>
              <a:t>refer </a:t>
            </a:r>
            <a:r>
              <a:rPr dirty="0" sz="1100" spc="-5">
                <a:latin typeface="Times New Roman"/>
                <a:cs typeface="Times New Roman"/>
              </a:rPr>
              <a:t>to the </a:t>
            </a:r>
            <a:r>
              <a:rPr dirty="0" sz="1100">
                <a:latin typeface="Times New Roman"/>
                <a:cs typeface="Times New Roman"/>
              </a:rPr>
              <a:t>flag of a unit or regiment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3970" cy="869315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purposes</a:t>
            </a:r>
            <a:endParaRPr sz="1100">
              <a:latin typeface="Times New Roman"/>
              <a:cs typeface="Times New Roman"/>
            </a:endParaRPr>
          </a:p>
          <a:p>
            <a:pPr marL="12700" marR="33559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measuring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12700" marR="20650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Spoken </a:t>
            </a:r>
            <a:r>
              <a:rPr dirty="0" sz="1100">
                <a:latin typeface="Times New Roman"/>
                <a:cs typeface="Times New Roman"/>
              </a:rPr>
              <a:t>by a </a:t>
            </a:r>
            <a:r>
              <a:rPr dirty="0" sz="1100" spc="-5">
                <a:latin typeface="Times New Roman"/>
                <a:cs typeface="Times New Roman"/>
              </a:rPr>
              <a:t>minority </a:t>
            </a:r>
            <a:r>
              <a:rPr dirty="0" sz="1100">
                <a:latin typeface="Times New Roman"/>
                <a:cs typeface="Times New Roman"/>
              </a:rPr>
              <a:t>of people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power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position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society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 marL="12700" marR="120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standardization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conventional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maintained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Codification</a:t>
            </a:r>
            <a:endParaRPr sz="1100">
              <a:latin typeface="Times New Roman"/>
              <a:cs typeface="Times New Roman"/>
            </a:endParaRPr>
          </a:p>
          <a:p>
            <a:pPr marL="12700" marR="24860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methods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to complete the </a:t>
            </a:r>
            <a:r>
              <a:rPr dirty="0" sz="1100">
                <a:latin typeface="Times New Roman"/>
                <a:cs typeface="Times New Roman"/>
              </a:rPr>
              <a:t>process of </a:t>
            </a:r>
            <a:r>
              <a:rPr dirty="0" sz="1100" spc="-5">
                <a:latin typeface="Times New Roman"/>
                <a:cs typeface="Times New Roman"/>
              </a:rPr>
              <a:t>standardization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Codification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dictionaries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style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guides</a:t>
            </a:r>
            <a:endParaRPr sz="1100">
              <a:latin typeface="Times New Roman"/>
              <a:cs typeface="Times New Roman"/>
            </a:endParaRPr>
          </a:p>
          <a:p>
            <a:pPr marL="12700" marR="41979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traditional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textbooks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Codification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popularized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1970s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linguist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Einar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Haugen</a:t>
            </a:r>
            <a:endParaRPr sz="1100">
              <a:latin typeface="Times New Roman"/>
              <a:cs typeface="Times New Roman"/>
            </a:endParaRPr>
          </a:p>
          <a:p>
            <a:pPr marL="12700" marR="21532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 </a:t>
            </a:r>
            <a:r>
              <a:rPr dirty="0" sz="1100">
                <a:latin typeface="Times New Roman"/>
                <a:cs typeface="Times New Roman"/>
              </a:rPr>
              <a:t>defined </a:t>
            </a:r>
            <a:r>
              <a:rPr dirty="0" sz="1100" spc="-5">
                <a:latin typeface="Times New Roman"/>
                <a:cs typeface="Times New Roman"/>
              </a:rPr>
              <a:t>it as </a:t>
            </a:r>
            <a:r>
              <a:rPr dirty="0" sz="1100">
                <a:latin typeface="Times New Roman"/>
                <a:cs typeface="Times New Roman"/>
              </a:rPr>
              <a:t>a process </a:t>
            </a:r>
            <a:r>
              <a:rPr dirty="0" sz="1100" spc="-5">
                <a:latin typeface="Times New Roman"/>
                <a:cs typeface="Times New Roman"/>
              </a:rPr>
              <a:t>that leads to "minimal </a:t>
            </a:r>
            <a:r>
              <a:rPr dirty="0" sz="1100">
                <a:latin typeface="Times New Roman"/>
                <a:cs typeface="Times New Roman"/>
              </a:rPr>
              <a:t>variation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form"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themselves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prestige</a:t>
            </a:r>
            <a:r>
              <a:rPr dirty="0" sz="1100" spc="-5">
                <a:latin typeface="Times New Roman"/>
                <a:cs typeface="Times New Roman"/>
              </a:rPr>
              <a:t> when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explains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-5">
                <a:latin typeface="Times New Roman"/>
                <a:cs typeface="Times New Roman"/>
              </a:rPr>
              <a:t> attached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Topic-104:What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Standard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5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II?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4898390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Bases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pronunciation</a:t>
            </a:r>
            <a:endParaRPr sz="1100">
              <a:latin typeface="Times New Roman"/>
              <a:cs typeface="Times New Roman"/>
            </a:endParaRPr>
          </a:p>
          <a:p>
            <a:pPr marL="12700" marR="41808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fixed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uniform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Educated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Pronunciation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Vocabulary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Idiom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Bases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First,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…it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really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ought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vocabulary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educated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usage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English’….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whole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above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pronunciation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labeled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‘Standard’,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...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vocabulary.</a:t>
            </a:r>
            <a:endParaRPr sz="1100">
              <a:latin typeface="Times New Roman"/>
              <a:cs typeface="Times New Roman"/>
            </a:endParaRPr>
          </a:p>
          <a:p>
            <a:pPr marL="12700" marR="39871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(Strevens </a:t>
            </a:r>
            <a:r>
              <a:rPr dirty="0" sz="1100" spc="-5">
                <a:latin typeface="Times New Roman"/>
                <a:cs typeface="Times New Roman"/>
              </a:rPr>
              <a:t>cited in Kachru&amp; Nelson, </a:t>
            </a:r>
            <a:r>
              <a:rPr dirty="0" sz="1100">
                <a:latin typeface="Times New Roman"/>
                <a:cs typeface="Times New Roman"/>
              </a:rPr>
              <a:t>2006)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standard 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Associated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Easily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recognizable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3970" cy="8693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89839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Bases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Associated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blend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vocabulary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 marL="12700" marR="24803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Established more clearly through spelling than </a:t>
            </a:r>
            <a:r>
              <a:rPr dirty="0" sz="1100">
                <a:latin typeface="Times New Roman"/>
                <a:cs typeface="Times New Roman"/>
              </a:rPr>
              <a:t>pronunciation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standard 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rule-governed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publishers</a:t>
            </a:r>
            <a:endParaRPr sz="1100">
              <a:latin typeface="Times New Roman"/>
              <a:cs typeface="Times New Roman"/>
            </a:endParaRPr>
          </a:p>
          <a:p>
            <a:pPr marL="12700" marR="30791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uniformity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fewer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divergences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standard 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ideology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Social,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Undue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5">
                <a:latin typeface="Times New Roman"/>
                <a:cs typeface="Times New Roman"/>
              </a:rPr>
              <a:t> selected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3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Topic-105:Standard</a:t>
            </a:r>
            <a:r>
              <a:rPr dirty="0" u="sng" sz="11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489839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Bases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pronunciation</a:t>
            </a:r>
            <a:endParaRPr sz="1100">
              <a:latin typeface="Times New Roman"/>
              <a:cs typeface="Times New Roman"/>
            </a:endParaRPr>
          </a:p>
          <a:p>
            <a:pPr marL="12700" marR="41808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fixed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uniform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Educated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Pronunciation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Vocabulary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Idiom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Bases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First,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…it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really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ought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vocabulary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educated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usage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English’….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whole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above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pronunciation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labeled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‘Standard’,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...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vocabulary.</a:t>
            </a:r>
            <a:endParaRPr sz="1100">
              <a:latin typeface="Times New Roman"/>
              <a:cs typeface="Times New Roman"/>
            </a:endParaRPr>
          </a:p>
          <a:p>
            <a:pPr marL="12700" marR="39871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(Strevens </a:t>
            </a:r>
            <a:r>
              <a:rPr dirty="0" sz="1100" spc="-5">
                <a:latin typeface="Times New Roman"/>
                <a:cs typeface="Times New Roman"/>
              </a:rPr>
              <a:t>cited in Kachru&amp; Nelson, </a:t>
            </a:r>
            <a:r>
              <a:rPr dirty="0" sz="1100">
                <a:latin typeface="Times New Roman"/>
                <a:cs typeface="Times New Roman"/>
              </a:rPr>
              <a:t>2006)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standard 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Associated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forms</a:t>
            </a:r>
            <a:endParaRPr sz="1100">
              <a:latin typeface="Times New Roman"/>
              <a:cs typeface="Times New Roman"/>
            </a:endParaRPr>
          </a:p>
          <a:p>
            <a:pPr marL="12700" marR="38557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Easily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recognizable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standard 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Associated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blend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vocabulary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 marL="12700" marR="24803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Established more clearly through spelling than </a:t>
            </a:r>
            <a:r>
              <a:rPr dirty="0" sz="1100">
                <a:latin typeface="Times New Roman"/>
                <a:cs typeface="Times New Roman"/>
              </a:rPr>
              <a:t>pronunciation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standard 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rule-governed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publishers</a:t>
            </a:r>
            <a:endParaRPr sz="1100">
              <a:latin typeface="Times New Roman"/>
              <a:cs typeface="Times New Roman"/>
            </a:endParaRPr>
          </a:p>
          <a:p>
            <a:pPr marL="12700" marR="30791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uniformity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fewer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divergences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standard English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495925" cy="850836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ideology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Social,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Undue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5">
                <a:latin typeface="Times New Roman"/>
                <a:cs typeface="Times New Roman"/>
              </a:rPr>
              <a:t> selected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u="sng" sz="1100" spc="2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Topic-106:Language</a:t>
            </a:r>
            <a:r>
              <a:rPr dirty="0" u="sng" sz="11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Standards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Prescriptive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together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Formally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taught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conformed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endParaRPr sz="1100">
              <a:latin typeface="Times New Roman"/>
              <a:cs typeface="Times New Roman"/>
            </a:endParaRPr>
          </a:p>
          <a:p>
            <a:pPr marL="12700" marR="31095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rules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Criticism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Create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discrimination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against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poor,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minorities</a:t>
            </a:r>
            <a:endParaRPr sz="1100">
              <a:latin typeface="Times New Roman"/>
              <a:cs typeface="Times New Roman"/>
            </a:endParaRPr>
          </a:p>
          <a:p>
            <a:pPr marL="12700" marR="37966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broadened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standardization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Comprises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four</a:t>
            </a:r>
            <a:r>
              <a:rPr dirty="0" sz="1100" spc="-5">
                <a:latin typeface="Times New Roman"/>
                <a:cs typeface="Times New Roman"/>
              </a:rPr>
              <a:t> stages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Selection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Codification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Elaboration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  <a:p>
            <a:pPr marL="12700" marR="43668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Acceptance  </a:t>
            </a:r>
            <a:r>
              <a:rPr dirty="0" sz="1100" spc="-5">
                <a:latin typeface="Times New Roman"/>
                <a:cs typeface="Times New Roman"/>
              </a:rPr>
              <a:t>Selection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critical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Involves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powerful</a:t>
            </a:r>
            <a:endParaRPr sz="1100">
              <a:latin typeface="Times New Roman"/>
              <a:cs typeface="Times New Roman"/>
            </a:endParaRPr>
          </a:p>
          <a:p>
            <a:pPr marL="12700" marR="23964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Protects and </a:t>
            </a:r>
            <a:r>
              <a:rPr dirty="0" sz="1100">
                <a:latin typeface="Times New Roman"/>
                <a:cs typeface="Times New Roman"/>
              </a:rPr>
              <a:t>promotes </a:t>
            </a:r>
            <a:r>
              <a:rPr dirty="0" sz="1100" spc="-5">
                <a:latin typeface="Times New Roman"/>
                <a:cs typeface="Times New Roman"/>
              </a:rPr>
              <a:t>the interests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same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Involves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5">
                <a:latin typeface="Times New Roman"/>
                <a:cs typeface="Times New Roman"/>
              </a:rPr>
              <a:t> 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degree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acceptance</a:t>
            </a:r>
            <a:endParaRPr sz="1100">
              <a:latin typeface="Times New Roman"/>
              <a:cs typeface="Times New Roman"/>
            </a:endParaRPr>
          </a:p>
          <a:p>
            <a:pPr marL="12700" marR="27851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Codification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Involves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grammar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textbooks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style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guides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Dictionaries</a:t>
            </a:r>
            <a:endParaRPr sz="1100">
              <a:latin typeface="Times New Roman"/>
              <a:cs typeface="Times New Roman"/>
            </a:endParaRPr>
          </a:p>
          <a:p>
            <a:pPr marL="12700" marR="26003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Allows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access to the standard </a:t>
            </a:r>
            <a:r>
              <a:rPr dirty="0" sz="1100">
                <a:latin typeface="Times New Roman"/>
                <a:cs typeface="Times New Roman"/>
              </a:rPr>
              <a:t>forms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Elaboration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functions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Capability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performing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government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domains</a:t>
            </a:r>
            <a:endParaRPr sz="1100">
              <a:latin typeface="Times New Roman"/>
              <a:cs typeface="Times New Roman"/>
            </a:endParaRPr>
          </a:p>
          <a:p>
            <a:pPr marL="12700" marR="25831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New </a:t>
            </a:r>
            <a:r>
              <a:rPr dirty="0" sz="1100">
                <a:latin typeface="Times New Roman"/>
                <a:cs typeface="Times New Roman"/>
              </a:rPr>
              <a:t>vocabulary </a:t>
            </a:r>
            <a:r>
              <a:rPr dirty="0" sz="1100" spc="-5">
                <a:latin typeface="Times New Roman"/>
                <a:cs typeface="Times New Roman"/>
              </a:rPr>
              <a:t>and conventions are added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Acceptance</a:t>
            </a:r>
            <a:endParaRPr sz="1100">
              <a:latin typeface="Times New Roman"/>
              <a:cs typeface="Times New Roman"/>
            </a:endParaRPr>
          </a:p>
          <a:p>
            <a:pPr marL="12700" marR="13449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selected </a:t>
            </a:r>
            <a:r>
              <a:rPr dirty="0" sz="1100">
                <a:latin typeface="Times New Roman"/>
                <a:cs typeface="Times New Roman"/>
              </a:rPr>
              <a:t>variety has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accepted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relevant population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Paradox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standardization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symbol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independence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unifying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force</a:t>
            </a:r>
            <a:endParaRPr sz="1100">
              <a:latin typeface="Times New Roman"/>
              <a:cs typeface="Times New Roman"/>
            </a:endParaRPr>
          </a:p>
          <a:p>
            <a:pPr marL="12700" marR="4533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symbol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inferior status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poor </a:t>
            </a:r>
            <a:r>
              <a:rPr dirty="0" sz="1100" spc="-5">
                <a:latin typeface="Times New Roman"/>
                <a:cs typeface="Times New Roman"/>
              </a:rPr>
              <a:t>who </a:t>
            </a:r>
            <a:r>
              <a:rPr dirty="0" sz="1100">
                <a:latin typeface="Times New Roman"/>
                <a:cs typeface="Times New Roman"/>
              </a:rPr>
              <a:t>use a regional, </a:t>
            </a:r>
            <a:r>
              <a:rPr dirty="0" sz="1100" spc="-5">
                <a:latin typeface="Times New Roman"/>
                <a:cs typeface="Times New Roman"/>
              </a:rPr>
              <a:t>social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ethnic </a:t>
            </a:r>
            <a:r>
              <a:rPr dirty="0" sz="1100">
                <a:latin typeface="Times New Roman"/>
                <a:cs typeface="Times New Roman"/>
              </a:rPr>
              <a:t>dialect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Paradox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standardization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Standardization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challenged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questioned</a:t>
            </a:r>
            <a:r>
              <a:rPr dirty="0" sz="1100" spc="-5">
                <a:latin typeface="Times New Roman"/>
                <a:cs typeface="Times New Roman"/>
              </a:rPr>
              <a:t> e.g.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64444"/>
            <a:ext cx="6369050" cy="8762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100" spc="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Topic-107:Non-Standard</a:t>
            </a:r>
            <a:r>
              <a:rPr dirty="0" u="sng" sz="1100" spc="-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10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Non-British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controversy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Recognition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British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188213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Reservations in </a:t>
            </a:r>
            <a:r>
              <a:rPr dirty="0" sz="1100">
                <a:latin typeface="Times New Roman"/>
                <a:cs typeface="Times New Roman"/>
              </a:rPr>
              <a:t>recognizing </a:t>
            </a:r>
            <a:r>
              <a:rPr dirty="0" sz="1100" spc="-5">
                <a:latin typeface="Times New Roman"/>
                <a:cs typeface="Times New Roman"/>
              </a:rPr>
              <a:t>institutionalized </a:t>
            </a:r>
            <a:r>
              <a:rPr dirty="0" sz="1100">
                <a:latin typeface="Times New Roman"/>
                <a:cs typeface="Times New Roman"/>
              </a:rPr>
              <a:t>varieties </a:t>
            </a:r>
            <a:r>
              <a:rPr dirty="0" sz="1100" spc="-5">
                <a:latin typeface="Times New Roman"/>
                <a:cs typeface="Times New Roman"/>
              </a:rPr>
              <a:t>in the </a:t>
            </a:r>
            <a:r>
              <a:rPr dirty="0" sz="1100">
                <a:latin typeface="Times New Roman"/>
                <a:cs typeface="Times New Roman"/>
              </a:rPr>
              <a:t>outer </a:t>
            </a:r>
            <a:r>
              <a:rPr dirty="0" sz="1100" spc="-5">
                <a:latin typeface="Times New Roman"/>
                <a:cs typeface="Times New Roman"/>
              </a:rPr>
              <a:t>circle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 </a:t>
            </a:r>
            <a:r>
              <a:rPr dirty="0" sz="1100">
                <a:latin typeface="Times New Roman"/>
                <a:cs typeface="Times New Roman"/>
              </a:rPr>
              <a:t>non-standard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dialects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‘New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English’ varieties</a:t>
            </a:r>
            <a:endParaRPr sz="1100">
              <a:latin typeface="Times New Roman"/>
              <a:cs typeface="Times New Roman"/>
            </a:endParaRPr>
          </a:p>
          <a:p>
            <a:pPr marL="12700" marR="36283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Until </a:t>
            </a:r>
            <a:r>
              <a:rPr dirty="0" sz="1100">
                <a:latin typeface="Times New Roman"/>
                <a:cs typeface="Times New Roman"/>
              </a:rPr>
              <a:t>1970s </a:t>
            </a:r>
            <a:r>
              <a:rPr dirty="0" sz="1100" spc="-5">
                <a:latin typeface="Times New Roman"/>
                <a:cs typeface="Times New Roman"/>
              </a:rPr>
              <a:t>educated Australian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may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due</a:t>
            </a:r>
            <a:r>
              <a:rPr dirty="0" sz="1100" spc="-5">
                <a:latin typeface="Times New Roman"/>
                <a:cs typeface="Times New Roman"/>
              </a:rPr>
              <a:t> to: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Attitude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</a:t>
            </a:r>
            <a:endParaRPr sz="1100">
              <a:latin typeface="Times New Roman"/>
              <a:cs typeface="Times New Roman"/>
            </a:endParaRPr>
          </a:p>
          <a:p>
            <a:pPr marL="12700" marR="40678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Attitude towards class in the UK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Standardization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codification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Singaporean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45421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Indian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12700" marR="13208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Often considered second-best compared to the standard English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inner circle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the inner circle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Unlikely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attract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degree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UK,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North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</a:t>
            </a:r>
            <a:endParaRPr sz="1100">
              <a:latin typeface="Times New Roman"/>
              <a:cs typeface="Times New Roman"/>
            </a:endParaRPr>
          </a:p>
          <a:p>
            <a:pPr marL="12700" marR="39465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fossilization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inner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12700" marR="1460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Learners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stop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target-like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attainment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speaker's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competence)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all linguistic </a:t>
            </a:r>
            <a:r>
              <a:rPr dirty="0" sz="1100">
                <a:latin typeface="Times New Roman"/>
                <a:cs typeface="Times New Roman"/>
              </a:rPr>
              <a:t>domains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algn="r" marR="560070">
              <a:lnSpc>
                <a:spcPct val="100000"/>
              </a:lnSpc>
            </a:pPr>
            <a:r>
              <a:rPr dirty="0" sz="1400" spc="10">
                <a:latin typeface="Times New Roman"/>
                <a:cs typeface="Times New Roman"/>
              </a:rPr>
              <a:t>Lesson-19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40640">
              <a:lnSpc>
                <a:spcPct val="100000"/>
              </a:lnSpc>
              <a:spcBef>
                <a:spcPts val="5"/>
              </a:spcBef>
            </a:pPr>
            <a:r>
              <a:rPr dirty="0" sz="1400" spc="70">
                <a:latin typeface="Times New Roman"/>
                <a:cs typeface="Times New Roman"/>
              </a:rPr>
              <a:t>Standard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25">
                <a:latin typeface="Times New Roman"/>
                <a:cs typeface="Times New Roman"/>
              </a:rPr>
              <a:t>English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and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60">
                <a:latin typeface="Times New Roman"/>
                <a:cs typeface="Times New Roman"/>
              </a:rPr>
              <a:t>World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Englishes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327787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108: </a:t>
            </a:r>
            <a:r>
              <a:rPr dirty="0" sz="1100" spc="-5">
                <a:latin typeface="Times New Roman"/>
                <a:cs typeface="Times New Roman"/>
              </a:rPr>
              <a:t>Language Standardization and Codification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maintained.</a:t>
            </a:r>
            <a:endParaRPr sz="1100">
              <a:latin typeface="Times New Roman"/>
              <a:cs typeface="Times New Roman"/>
            </a:endParaRPr>
          </a:p>
          <a:p>
            <a:pPr marL="12700" marR="2997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may </a:t>
            </a:r>
            <a:r>
              <a:rPr dirty="0" sz="1100">
                <a:latin typeface="Times New Roman"/>
                <a:cs typeface="Times New Roman"/>
              </a:rPr>
              <a:t>occur </a:t>
            </a:r>
            <a:r>
              <a:rPr dirty="0" sz="1100" spc="-5">
                <a:latin typeface="Times New Roman"/>
                <a:cs typeface="Times New Roman"/>
              </a:rPr>
              <a:t>as an effort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members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community to impose </a:t>
            </a:r>
            <a:r>
              <a:rPr dirty="0" sz="1100">
                <a:latin typeface="Times New Roman"/>
                <a:cs typeface="Times New Roman"/>
              </a:rPr>
              <a:t>one dialect or variety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standard.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Codification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standardized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18th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period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codification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12700" marR="10718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term codification was </a:t>
            </a:r>
            <a:r>
              <a:rPr dirty="0" sz="1100">
                <a:latin typeface="Times New Roman"/>
                <a:cs typeface="Times New Roman"/>
              </a:rPr>
              <a:t>popularized </a:t>
            </a:r>
            <a:r>
              <a:rPr dirty="0" sz="1100" spc="-5">
                <a:latin typeface="Times New Roman"/>
                <a:cs typeface="Times New Roman"/>
              </a:rPr>
              <a:t>in the early </a:t>
            </a:r>
            <a:r>
              <a:rPr dirty="0" sz="1100">
                <a:latin typeface="Times New Roman"/>
                <a:cs typeface="Times New Roman"/>
              </a:rPr>
              <a:t>1970s by </a:t>
            </a:r>
            <a:r>
              <a:rPr dirty="0" sz="1100" spc="-5">
                <a:latin typeface="Times New Roman"/>
                <a:cs typeface="Times New Roman"/>
              </a:rPr>
              <a:t>the linguist Einar Haugen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Codification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Codification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Setting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rules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orthography,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pronunciation</a:t>
            </a:r>
            <a:endParaRPr sz="1100">
              <a:latin typeface="Times New Roman"/>
              <a:cs typeface="Times New Roman"/>
            </a:endParaRPr>
          </a:p>
          <a:p>
            <a:pPr marL="12700" marR="24663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Publishing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books,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dictionaries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guidelines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financial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opportunities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219825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Market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American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British</a:t>
            </a:r>
            <a:endParaRPr sz="1100">
              <a:latin typeface="Times New Roman"/>
              <a:cs typeface="Times New Roman"/>
            </a:endParaRPr>
          </a:p>
          <a:p>
            <a:pPr marL="12700" marR="44634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Australian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Standardization </a:t>
            </a:r>
            <a:r>
              <a:rPr dirty="0" sz="1100">
                <a:latin typeface="Times New Roman"/>
                <a:cs typeface="Times New Roman"/>
              </a:rPr>
              <a:t>vs </a:t>
            </a:r>
            <a:r>
              <a:rPr dirty="0" sz="1100" spc="-5">
                <a:latin typeface="Times New Roman"/>
                <a:cs typeface="Times New Roman"/>
              </a:rPr>
              <a:t>codification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Standardization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Concerns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raised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standardization: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variability</a:t>
            </a:r>
            <a:endParaRPr sz="1100">
              <a:latin typeface="Times New Roman"/>
              <a:cs typeface="Times New Roman"/>
            </a:endParaRPr>
          </a:p>
          <a:p>
            <a:pPr marL="12700" marR="44634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 ideology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Standardization </a:t>
            </a:r>
            <a:r>
              <a:rPr dirty="0" sz="1100">
                <a:latin typeface="Times New Roman"/>
                <a:cs typeface="Times New Roman"/>
              </a:rPr>
              <a:t>vs </a:t>
            </a:r>
            <a:r>
              <a:rPr dirty="0" sz="1100" spc="-5">
                <a:latin typeface="Times New Roman"/>
                <a:cs typeface="Times New Roman"/>
              </a:rPr>
              <a:t>codification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Codification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Codification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concrete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Recognition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innovation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Purpose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domain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  <a:p>
            <a:pPr marL="12700" marR="335787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Perceived superiority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speaker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109: </a:t>
            </a:r>
            <a:r>
              <a:rPr dirty="0" sz="1100" spc="-5">
                <a:latin typeface="Times New Roman"/>
                <a:cs typeface="Times New Roman"/>
              </a:rPr>
              <a:t>Codification and Teacher Education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110: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Issues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Codification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Issues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codification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Outer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multicultural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environments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Generally </a:t>
            </a:r>
            <a:r>
              <a:rPr dirty="0" sz="1100">
                <a:latin typeface="Times New Roman"/>
                <a:cs typeface="Times New Roman"/>
              </a:rPr>
              <a:t>governments have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maintained traditionally accepted British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standards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Issues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codification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inappropriate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exsitence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Codification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challanges</a:t>
            </a:r>
            <a:endParaRPr sz="1100">
              <a:latin typeface="Times New Roman"/>
              <a:cs typeface="Times New Roman"/>
            </a:endParaRPr>
          </a:p>
          <a:p>
            <a:pPr marL="151765" indent="-139700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1524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Prescription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description?</a:t>
            </a:r>
            <a:endParaRPr sz="1100">
              <a:latin typeface="Times New Roman"/>
              <a:cs typeface="Times New Roman"/>
            </a:endParaRPr>
          </a:p>
          <a:p>
            <a:pPr marL="12700" marR="2286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Prescriptivism is the </a:t>
            </a:r>
            <a:r>
              <a:rPr dirty="0" sz="1100">
                <a:latin typeface="Times New Roman"/>
                <a:cs typeface="Times New Roman"/>
              </a:rPr>
              <a:t>belief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>
                <a:latin typeface="Times New Roman"/>
                <a:cs typeface="Times New Roman"/>
              </a:rPr>
              <a:t>one variety of a </a:t>
            </a:r>
            <a:r>
              <a:rPr dirty="0" sz="1100" spc="-5">
                <a:latin typeface="Times New Roman"/>
                <a:cs typeface="Times New Roman"/>
              </a:rPr>
              <a:t>language is superior to </a:t>
            </a:r>
            <a:r>
              <a:rPr dirty="0" sz="1100">
                <a:latin typeface="Times New Roman"/>
                <a:cs typeface="Times New Roman"/>
              </a:rPr>
              <a:t>others </a:t>
            </a:r>
            <a:r>
              <a:rPr dirty="0" sz="1100" spc="-5">
                <a:latin typeface="Times New Roman"/>
                <a:cs typeface="Times New Roman"/>
              </a:rPr>
              <a:t>and should </a:t>
            </a:r>
            <a:r>
              <a:rPr dirty="0" sz="1100">
                <a:latin typeface="Times New Roman"/>
                <a:cs typeface="Times New Roman"/>
              </a:rPr>
              <a:t>be promoted </a:t>
            </a:r>
            <a:r>
              <a:rPr dirty="0" sz="1100" spc="-5">
                <a:latin typeface="Times New Roman"/>
                <a:cs typeface="Times New Roman"/>
              </a:rPr>
              <a:t>as such.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Descriptivism is </a:t>
            </a:r>
            <a:r>
              <a:rPr dirty="0" sz="1100">
                <a:latin typeface="Times New Roman"/>
                <a:cs typeface="Times New Roman"/>
              </a:rPr>
              <a:t>a nonjudgmental </a:t>
            </a:r>
            <a:r>
              <a:rPr dirty="0" sz="1100" spc="-5">
                <a:latin typeface="Times New Roman"/>
                <a:cs typeface="Times New Roman"/>
              </a:rPr>
              <a:t>approach to language that </a:t>
            </a:r>
            <a:r>
              <a:rPr dirty="0" sz="1100">
                <a:latin typeface="Times New Roman"/>
                <a:cs typeface="Times New Roman"/>
              </a:rPr>
              <a:t>focuses on how </a:t>
            </a:r>
            <a:r>
              <a:rPr dirty="0" sz="1100" spc="-5">
                <a:latin typeface="Times New Roman"/>
                <a:cs typeface="Times New Roman"/>
              </a:rPr>
              <a:t>it is actually spoken and written.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Prescription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description?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Codification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kinds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decision:</a:t>
            </a:r>
            <a:endParaRPr sz="1100">
              <a:latin typeface="Times New Roman"/>
              <a:cs typeface="Times New Roman"/>
            </a:endParaRPr>
          </a:p>
          <a:p>
            <a:pPr lvl="1" marL="120650" indent="-108585">
              <a:lnSpc>
                <a:spcPct val="100000"/>
              </a:lnSpc>
              <a:spcBef>
                <a:spcPts val="130"/>
              </a:spcBef>
              <a:buAutoNum type="romanLcPeriod"/>
              <a:tabLst>
                <a:tab pos="121285" algn="l"/>
              </a:tabLst>
            </a:pPr>
            <a:r>
              <a:rPr dirty="0" sz="1100" spc="-5">
                <a:latin typeface="Times New Roman"/>
                <a:cs typeface="Times New Roman"/>
              </a:rPr>
              <a:t>Selecting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pedagogical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endParaRPr sz="1100">
              <a:latin typeface="Times New Roman"/>
              <a:cs typeface="Times New Roman"/>
            </a:endParaRPr>
          </a:p>
          <a:p>
            <a:pPr lvl="1" marL="159385" indent="-147320">
              <a:lnSpc>
                <a:spcPct val="100000"/>
              </a:lnSpc>
              <a:spcBef>
                <a:spcPts val="135"/>
              </a:spcBef>
              <a:buAutoNum type="romanLcPeriod"/>
              <a:tabLst>
                <a:tab pos="160020" algn="l"/>
              </a:tabLst>
            </a:pPr>
            <a:r>
              <a:rPr dirty="0" sz="1100" spc="-5">
                <a:latin typeface="Times New Roman"/>
                <a:cs typeface="Times New Roman"/>
              </a:rPr>
              <a:t>Focusing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2.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Outer-Circle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5">
                <a:latin typeface="Times New Roman"/>
                <a:cs typeface="Times New Roman"/>
              </a:rPr>
              <a:t> communicate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5">
                <a:latin typeface="Times New Roman"/>
                <a:cs typeface="Times New Roman"/>
              </a:rPr>
              <a:t> circles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Selection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exclusively internal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external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difficult</a:t>
            </a:r>
            <a:endParaRPr sz="1100">
              <a:latin typeface="Times New Roman"/>
              <a:cs typeface="Times New Roman"/>
            </a:endParaRPr>
          </a:p>
          <a:p>
            <a:pPr marL="151765" indent="-139700">
              <a:lnSpc>
                <a:spcPct val="100000"/>
              </a:lnSpc>
              <a:spcBef>
                <a:spcPts val="135"/>
              </a:spcBef>
              <a:buAutoNum type="arabicPeriod" startAt="3"/>
              <a:tabLst>
                <a:tab pos="152400" algn="l"/>
              </a:tabLst>
            </a:pPr>
            <a:r>
              <a:rPr dirty="0" sz="1100" spc="-5"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  <a:p>
            <a:pPr marL="12700" marR="220599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Participatory </a:t>
            </a:r>
            <a:r>
              <a:rPr dirty="0" sz="1100">
                <a:latin typeface="Times New Roman"/>
                <a:cs typeface="Times New Roman"/>
              </a:rPr>
              <a:t>function </a:t>
            </a:r>
            <a:r>
              <a:rPr dirty="0" sz="1100" spc="-5">
                <a:latin typeface="Times New Roman"/>
                <a:cs typeface="Times New Roman"/>
              </a:rPr>
              <a:t>codification </a:t>
            </a:r>
            <a:r>
              <a:rPr dirty="0" sz="1100">
                <a:latin typeface="Times New Roman"/>
                <a:cs typeface="Times New Roman"/>
              </a:rPr>
              <a:t>for purposes of </a:t>
            </a:r>
            <a:r>
              <a:rPr dirty="0" sz="1100" spc="-5">
                <a:latin typeface="Times New Roman"/>
                <a:cs typeface="Times New Roman"/>
              </a:rPr>
              <a:t>mutual collaboration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Separatist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Marking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boundaries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identity</a:t>
            </a:r>
            <a:endParaRPr sz="1100">
              <a:latin typeface="Times New Roman"/>
              <a:cs typeface="Times New Roman"/>
            </a:endParaRPr>
          </a:p>
          <a:p>
            <a:pPr marL="12700" marR="4905375">
              <a:lnSpc>
                <a:spcPct val="110200"/>
              </a:lnSpc>
              <a:buAutoNum type="arabicPeriod" startAt="4"/>
              <a:tabLst>
                <a:tab pos="1524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Content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possibilities: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economical</a:t>
            </a:r>
            <a:endParaRPr sz="1100">
              <a:latin typeface="Times New Roman"/>
              <a:cs typeface="Times New Roman"/>
            </a:endParaRPr>
          </a:p>
          <a:p>
            <a:pPr marL="12700" marR="25114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Select an internal model: involves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large amount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work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standards (contd…)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Advantages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Awareness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opportunities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Acceptance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recognition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creativity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3371850" cy="131889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5.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Acceptance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Locally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approval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Experts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professionals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Institutions</a:t>
            </a:r>
            <a:endParaRPr sz="1100">
              <a:latin typeface="Times New Roman"/>
              <a:cs typeface="Times New Roman"/>
            </a:endParaRPr>
          </a:p>
          <a:p>
            <a:pPr marL="12700" marR="31623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111: </a:t>
            </a:r>
            <a:r>
              <a:rPr dirty="0" sz="1100" spc="-5">
                <a:latin typeface="Times New Roman"/>
                <a:cs typeface="Times New Roman"/>
              </a:rPr>
              <a:t>Constructs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Standards and Codification-I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Randolph Quirk’s approach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2125014"/>
            <a:ext cx="104775" cy="57975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1.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2.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3.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1940305"/>
            <a:ext cx="2432050" cy="764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6565" marR="5080" indent="-456565">
              <a:lnSpc>
                <a:spcPct val="110200"/>
              </a:lnSpc>
              <a:spcBef>
                <a:spcPts val="100"/>
              </a:spcBef>
              <a:buChar char="•"/>
              <a:tabLst>
                <a:tab pos="456565" algn="l"/>
                <a:tab pos="4572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Three models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spread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English: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Demographic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endParaRPr sz="1100">
              <a:latin typeface="Times New Roman"/>
              <a:cs typeface="Times New Roman"/>
            </a:endParaRPr>
          </a:p>
          <a:p>
            <a:pPr marL="457200" marR="80264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Econocultura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5">
                <a:latin typeface="Times New Roman"/>
                <a:cs typeface="Times New Roman"/>
              </a:rPr>
              <a:t> model  </a:t>
            </a:r>
            <a:r>
              <a:rPr dirty="0" sz="1100">
                <a:latin typeface="Times New Roman"/>
                <a:cs typeface="Times New Roman"/>
              </a:rPr>
              <a:t>Imperial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2679127"/>
            <a:ext cx="6359525" cy="6675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Quirk’s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nowadays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econocultural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being</a:t>
            </a:r>
            <a:r>
              <a:rPr dirty="0" sz="1100" spc="-5">
                <a:latin typeface="Times New Roman"/>
                <a:cs typeface="Times New Roman"/>
              </a:rPr>
              <a:t> spread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nowadays</a:t>
            </a:r>
            <a:r>
              <a:rPr dirty="0" sz="1100" spc="-5">
                <a:latin typeface="Times New Roman"/>
                <a:cs typeface="Times New Roman"/>
              </a:rPr>
              <a:t>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science,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business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Issues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General</a:t>
            </a:r>
            <a:endParaRPr sz="1100">
              <a:latin typeface="Times New Roman"/>
              <a:cs typeface="Times New Roman"/>
            </a:endParaRPr>
          </a:p>
          <a:p>
            <a:pPr marL="12700" marR="53162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Restricted  </a:t>
            </a:r>
            <a:r>
              <a:rPr dirty="0" sz="1100" spc="-5">
                <a:latin typeface="Times New Roman"/>
                <a:cs typeface="Times New Roman"/>
              </a:rPr>
              <a:t>Quirk’s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concerns</a:t>
            </a:r>
            <a:endParaRPr sz="1100">
              <a:latin typeface="Times New Roman"/>
              <a:cs typeface="Times New Roman"/>
            </a:endParaRPr>
          </a:p>
          <a:p>
            <a:pPr marL="12700" marR="28879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Restricted issues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standards: special </a:t>
            </a:r>
            <a:r>
              <a:rPr dirty="0" sz="1100">
                <a:latin typeface="Times New Roman"/>
                <a:cs typeface="Times New Roman"/>
              </a:rPr>
              <a:t>uses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Quirk’s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Unwillingness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adopt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British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  <a:p>
            <a:pPr marL="12700" marR="25133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False assumptions about the </a:t>
            </a:r>
            <a:r>
              <a:rPr dirty="0" sz="1100">
                <a:latin typeface="Times New Roman"/>
                <a:cs typeface="Times New Roman"/>
              </a:rPr>
              <a:t>varieties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linguists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Quirk’s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Restricted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transnational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corporation</a:t>
            </a:r>
            <a:endParaRPr sz="1100">
              <a:latin typeface="Times New Roman"/>
              <a:cs typeface="Times New Roman"/>
            </a:endParaRPr>
          </a:p>
          <a:p>
            <a:pPr marL="12700" marR="49009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Maritim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English  </a:t>
            </a:r>
            <a:r>
              <a:rPr dirty="0" sz="1100" spc="-5">
                <a:latin typeface="Times New Roman"/>
                <a:cs typeface="Times New Roman"/>
              </a:rPr>
              <a:t>Quirk’s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Restricted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Varieties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deficient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12700" marR="9258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Standard English is </a:t>
            </a:r>
            <a:r>
              <a:rPr dirty="0" sz="1100">
                <a:latin typeface="Times New Roman"/>
                <a:cs typeface="Times New Roman"/>
              </a:rPr>
              <a:t>required </a:t>
            </a:r>
            <a:r>
              <a:rPr dirty="0" sz="1100" spc="-5">
                <a:latin typeface="Times New Roman"/>
                <a:cs typeface="Times New Roman"/>
              </a:rPr>
              <a:t>to ensure </a:t>
            </a:r>
            <a:r>
              <a:rPr dirty="0" sz="1100">
                <a:latin typeface="Times New Roman"/>
                <a:cs typeface="Times New Roman"/>
              </a:rPr>
              <a:t>better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by using </a:t>
            </a:r>
            <a:r>
              <a:rPr dirty="0" sz="1100" spc="-5">
                <a:latin typeface="Times New Roman"/>
                <a:cs typeface="Times New Roman"/>
              </a:rPr>
              <a:t>the same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Quirk’s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Restricted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Varieties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exemplify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incomplete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9258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Standard English is </a:t>
            </a:r>
            <a:r>
              <a:rPr dirty="0" sz="1100">
                <a:latin typeface="Times New Roman"/>
                <a:cs typeface="Times New Roman"/>
              </a:rPr>
              <a:t>required </a:t>
            </a:r>
            <a:r>
              <a:rPr dirty="0" sz="1100" spc="-5">
                <a:latin typeface="Times New Roman"/>
                <a:cs typeface="Times New Roman"/>
              </a:rPr>
              <a:t>to ensure </a:t>
            </a:r>
            <a:r>
              <a:rPr dirty="0" sz="1100">
                <a:latin typeface="Times New Roman"/>
                <a:cs typeface="Times New Roman"/>
              </a:rPr>
              <a:t>better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by using </a:t>
            </a:r>
            <a:r>
              <a:rPr dirty="0" sz="1100" spc="-5">
                <a:latin typeface="Times New Roman"/>
                <a:cs typeface="Times New Roman"/>
              </a:rPr>
              <a:t>the same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Quirk’s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Required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acrolectal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possible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externally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 of </a:t>
            </a:r>
            <a:r>
              <a:rPr dirty="0" sz="1100" spc="-5">
                <a:latin typeface="Times New Roman"/>
                <a:cs typeface="Times New Roman"/>
              </a:rPr>
              <a:t>Standard English</a:t>
            </a:r>
            <a:endParaRPr sz="1100">
              <a:latin typeface="Times New Roman"/>
              <a:cs typeface="Times New Roman"/>
            </a:endParaRPr>
          </a:p>
          <a:p>
            <a:pPr marL="12700" marR="296735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112: </a:t>
            </a:r>
            <a:r>
              <a:rPr dirty="0" sz="1100" spc="-5">
                <a:latin typeface="Times New Roman"/>
                <a:cs typeface="Times New Roman"/>
              </a:rPr>
              <a:t>Two Constructs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Standards and Codification-II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Kachru’s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Sociolinguistic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Multicultural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various</a:t>
            </a:r>
            <a:r>
              <a:rPr dirty="0" sz="1100" spc="-5">
                <a:latin typeface="Times New Roman"/>
                <a:cs typeface="Times New Roman"/>
              </a:rPr>
              <a:t> societal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(penetration)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74130" cy="870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165475">
              <a:lnSpc>
                <a:spcPct val="1102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Extraordinary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domains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(range)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Kachru’s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Sociolinguistic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Emphasizes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</a:t>
            </a:r>
            <a:endParaRPr sz="1100">
              <a:latin typeface="Times New Roman"/>
              <a:cs typeface="Times New Roman"/>
            </a:endParaRPr>
          </a:p>
          <a:p>
            <a:pPr marL="12700" marR="19685">
              <a:lnSpc>
                <a:spcPct val="110200"/>
              </a:lnSpc>
              <a:buChar char="•"/>
              <a:tabLst>
                <a:tab pos="525780" algn="l"/>
                <a:tab pos="526415" algn="l"/>
              </a:tabLst>
            </a:pPr>
            <a:r>
              <a:rPr dirty="0" sz="1100" spc="-5">
                <a:latin typeface="Times New Roman"/>
                <a:cs typeface="Times New Roman"/>
              </a:rPr>
              <a:t>Users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adjustments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reflect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realities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sociolinguistic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Kachru’s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Rejects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speakers </a:t>
            </a:r>
            <a:r>
              <a:rPr dirty="0" sz="1100">
                <a:latin typeface="Times New Roman"/>
                <a:cs typeface="Times New Roman"/>
              </a:rPr>
              <a:t>being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 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12700" marR="1127125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Acknowledges the influence </a:t>
            </a:r>
            <a:r>
              <a:rPr dirty="0" sz="1100">
                <a:latin typeface="Times New Roman"/>
                <a:cs typeface="Times New Roman"/>
              </a:rPr>
              <a:t>of native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English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multilingual </a:t>
            </a:r>
            <a:r>
              <a:rPr dirty="0" sz="1100">
                <a:latin typeface="Times New Roman"/>
                <a:cs typeface="Times New Roman"/>
              </a:rPr>
              <a:t>users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Kachru’s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Rejects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deficient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incompletely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learned</a:t>
            </a:r>
            <a:endParaRPr sz="1100">
              <a:latin typeface="Times New Roman"/>
              <a:cs typeface="Times New Roman"/>
            </a:endParaRPr>
          </a:p>
          <a:p>
            <a:pPr marL="12700" marR="18415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differences reflect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diverse </a:t>
            </a:r>
            <a:r>
              <a:rPr dirty="0" sz="1100" spc="-5">
                <a:latin typeface="Times New Roman"/>
                <a:cs typeface="Times New Roman"/>
              </a:rPr>
              <a:t>cultural contexts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use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Kachru’s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norm-providers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Various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norm-providing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modellingcentres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resulted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literary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rules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principles</a:t>
            </a:r>
            <a:endParaRPr sz="1100">
              <a:latin typeface="Times New Roman"/>
              <a:cs typeface="Times New Roman"/>
            </a:endParaRPr>
          </a:p>
          <a:p>
            <a:pPr marL="12700" marR="26981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retaining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Kachru’s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Adaptation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Norm-providing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Indigenized-variety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  <a:p>
            <a:pPr marL="12700" marR="11544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Asserting </a:t>
            </a:r>
            <a:r>
              <a:rPr dirty="0" sz="1100">
                <a:latin typeface="Times New Roman"/>
                <a:cs typeface="Times New Roman"/>
              </a:rPr>
              <a:t>regional national or </a:t>
            </a:r>
            <a:r>
              <a:rPr dirty="0" sz="1100" spc="-5">
                <a:latin typeface="Times New Roman"/>
                <a:cs typeface="Times New Roman"/>
              </a:rPr>
              <a:t>local identity as </a:t>
            </a:r>
            <a:r>
              <a:rPr dirty="0" sz="1100">
                <a:latin typeface="Times New Roman"/>
                <a:cs typeface="Times New Roman"/>
              </a:rPr>
              <a:t>distinct from </a:t>
            </a:r>
            <a:r>
              <a:rPr dirty="0" sz="1100" spc="-5">
                <a:latin typeface="Times New Roman"/>
                <a:cs typeface="Times New Roman"/>
              </a:rPr>
              <a:t>inner circle </a:t>
            </a:r>
            <a:r>
              <a:rPr dirty="0" sz="1100">
                <a:latin typeface="Times New Roman"/>
                <a:cs typeface="Times New Roman"/>
              </a:rPr>
              <a:t>variety users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Kachru’s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Diversification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Diversification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is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considerable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diversification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(colloquial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level)</a:t>
            </a:r>
            <a:endParaRPr sz="1100">
              <a:latin typeface="Times New Roman"/>
              <a:cs typeface="Times New Roman"/>
            </a:endParaRPr>
          </a:p>
          <a:p>
            <a:pPr marL="12700" marR="33032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and less </a:t>
            </a:r>
            <a:r>
              <a:rPr dirty="0" sz="1100">
                <a:latin typeface="Times New Roman"/>
                <a:cs typeface="Times New Roman"/>
              </a:rPr>
              <a:t>diversity </a:t>
            </a:r>
            <a:r>
              <a:rPr dirty="0" sz="1100" spc="-5">
                <a:latin typeface="Times New Roman"/>
                <a:cs typeface="Times New Roman"/>
              </a:rPr>
              <a:t>at the apex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educated level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Kachru’s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Dealing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Creativity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innovation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reflect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diversity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circumstances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endParaRPr sz="1100">
              <a:latin typeface="Times New Roman"/>
              <a:cs typeface="Times New Roman"/>
            </a:endParaRPr>
          </a:p>
          <a:p>
            <a:pPr marL="12700" marR="190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Concerns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raised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diversification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managed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exposure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researchers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298577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113: </a:t>
            </a:r>
            <a:r>
              <a:rPr dirty="0" sz="1100" spc="-5">
                <a:latin typeface="Times New Roman"/>
                <a:cs typeface="Times New Roman"/>
              </a:rPr>
              <a:t>External Models in Expanding and Outer Circles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External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British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American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Arguments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external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uniform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world-wide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Uniform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Multiple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r>
              <a:rPr dirty="0" sz="1100" spc="-5">
                <a:latin typeface="Times New Roman"/>
                <a:cs typeface="Times New Roman"/>
              </a:rPr>
              <a:t> 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break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5">
                <a:latin typeface="Times New Roman"/>
                <a:cs typeface="Times New Roman"/>
              </a:rPr>
              <a:t> in mutually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unintelligible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344995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Political leadership </a:t>
            </a:r>
            <a:r>
              <a:rPr dirty="0" sz="1100">
                <a:latin typeface="Times New Roman"/>
                <a:cs typeface="Times New Roman"/>
              </a:rPr>
              <a:t>favours </a:t>
            </a:r>
            <a:r>
              <a:rPr dirty="0" sz="1100" spc="-5">
                <a:latin typeface="Times New Roman"/>
                <a:cs typeface="Times New Roman"/>
              </a:rPr>
              <a:t>external models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external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Sufficiency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external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Existence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codified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6838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Availability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abundant instructional and </a:t>
            </a:r>
            <a:r>
              <a:rPr dirty="0" sz="1100">
                <a:latin typeface="Times New Roman"/>
                <a:cs typeface="Times New Roman"/>
              </a:rPr>
              <a:t>reference </a:t>
            </a:r>
            <a:r>
              <a:rPr dirty="0" sz="1100" spc="-5">
                <a:latin typeface="Times New Roman"/>
                <a:cs typeface="Times New Roman"/>
              </a:rPr>
              <a:t>material in British and American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external models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Sufficiency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external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593205" cy="923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Similarity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educated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31394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Adequacy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available models </a:t>
            </a:r>
            <a:r>
              <a:rPr dirty="0" sz="1100">
                <a:latin typeface="Times New Roman"/>
                <a:cs typeface="Times New Roman"/>
              </a:rPr>
              <a:t>for restricted purposes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external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Inseparability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American/British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Creativity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valid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inner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12700" marR="25273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British and American literatures </a:t>
            </a:r>
            <a:r>
              <a:rPr dirty="0" sz="1100">
                <a:latin typeface="Times New Roman"/>
                <a:cs typeface="Times New Roman"/>
              </a:rPr>
              <a:t>determine </a:t>
            </a:r>
            <a:r>
              <a:rPr dirty="0" sz="1100" spc="-5">
                <a:latin typeface="Times New Roman"/>
                <a:cs typeface="Times New Roman"/>
              </a:rPr>
              <a:t>the literary standards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114: Internal</a:t>
            </a:r>
            <a:r>
              <a:rPr dirty="0" sz="1100" spc="-5">
                <a:latin typeface="Times New Roman"/>
                <a:cs typeface="Times New Roman"/>
              </a:rPr>
              <a:t> Models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Outer Circles</a:t>
            </a:r>
            <a:endParaRPr sz="1100">
              <a:latin typeface="Times New Roman"/>
              <a:cs typeface="Times New Roman"/>
            </a:endParaRPr>
          </a:p>
          <a:p>
            <a:pPr marL="12700" marR="421068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Arguments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internal models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Unavoidability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acculturation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27127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Sociocultural context </a:t>
            </a:r>
            <a:r>
              <a:rPr dirty="0" sz="1100">
                <a:latin typeface="Times New Roman"/>
                <a:cs typeface="Times New Roman"/>
              </a:rPr>
              <a:t>of outer </a:t>
            </a:r>
            <a:r>
              <a:rPr dirty="0" sz="1100" spc="-5">
                <a:latin typeface="Times New Roman"/>
                <a:cs typeface="Times New Roman"/>
              </a:rPr>
              <a:t>and expanding circle countries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internal models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recorded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Dictionaries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books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compiled</a:t>
            </a:r>
            <a:endParaRPr sz="1100">
              <a:latin typeface="Times New Roman"/>
              <a:cs typeface="Times New Roman"/>
            </a:endParaRPr>
          </a:p>
          <a:p>
            <a:pPr marL="12700" marR="29178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Corpus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(ICE)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internal models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Breaking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Acculturation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44399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 to contextualize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Arguments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internal models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ideology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Sociolinguistic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reality</a:t>
            </a:r>
            <a:endParaRPr sz="1100">
              <a:latin typeface="Times New Roman"/>
              <a:cs typeface="Times New Roman"/>
            </a:endParaRPr>
          </a:p>
          <a:p>
            <a:pPr algn="r" marR="783590">
              <a:lnSpc>
                <a:spcPct val="100000"/>
              </a:lnSpc>
              <a:spcBef>
                <a:spcPts val="115"/>
              </a:spcBef>
            </a:pPr>
            <a:r>
              <a:rPr dirty="0" sz="1400" spc="10">
                <a:latin typeface="Times New Roman"/>
                <a:cs typeface="Times New Roman"/>
              </a:rPr>
              <a:t>Lesson-20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273050">
              <a:lnSpc>
                <a:spcPct val="100000"/>
              </a:lnSpc>
            </a:pPr>
            <a:r>
              <a:rPr dirty="0" sz="1400" spc="40">
                <a:latin typeface="Times New Roman"/>
                <a:cs typeface="Times New Roman"/>
              </a:rPr>
              <a:t>Acculturation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418592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115: </a:t>
            </a:r>
            <a:r>
              <a:rPr dirty="0" sz="1100" spc="-5">
                <a:latin typeface="Times New Roman"/>
                <a:cs typeface="Times New Roman"/>
              </a:rPr>
              <a:t>Standard VS. Global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regional</a:t>
            </a:r>
            <a:r>
              <a:rPr dirty="0" sz="1100" spc="-5">
                <a:latin typeface="Times New Roman"/>
                <a:cs typeface="Times New Roman"/>
              </a:rPr>
              <a:t> into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23367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dialects,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retaining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Discovers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registers</a:t>
            </a:r>
            <a:endParaRPr sz="1100">
              <a:latin typeface="Times New Roman"/>
              <a:cs typeface="Times New Roman"/>
            </a:endParaRPr>
          </a:p>
          <a:p>
            <a:pPr marL="12700" marR="44310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Expands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potential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 a </a:t>
            </a:r>
            <a:r>
              <a:rPr dirty="0" sz="1100" spc="-5">
                <a:latin typeface="Times New Roman"/>
                <a:cs typeface="Times New Roman"/>
              </a:rPr>
              <a:t>national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‘international’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2362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retaining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12700" marR="33655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Called </a:t>
            </a:r>
            <a:r>
              <a:rPr dirty="0" sz="1100">
                <a:latin typeface="Times New Roman"/>
                <a:cs typeface="Times New Roman"/>
              </a:rPr>
              <a:t>global </a:t>
            </a:r>
            <a:r>
              <a:rPr dirty="0" sz="1100" spc="-5">
                <a:latin typeface="Times New Roman"/>
                <a:cs typeface="Times New Roman"/>
              </a:rPr>
              <a:t>as its </a:t>
            </a:r>
            <a:r>
              <a:rPr dirty="0" sz="1100">
                <a:latin typeface="Times New Roman"/>
                <a:cs typeface="Times New Roman"/>
              </a:rPr>
              <a:t>range </a:t>
            </a:r>
            <a:r>
              <a:rPr dirty="0" sz="1100" spc="-5">
                <a:latin typeface="Times New Roman"/>
                <a:cs typeface="Times New Roman"/>
              </a:rPr>
              <a:t>covers the whole world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2279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describe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settings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originally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by: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1430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Borrowing</a:t>
            </a:r>
            <a:endParaRPr sz="1100">
              <a:latin typeface="Times New Roman"/>
              <a:cs typeface="Times New Roman"/>
            </a:endParaRPr>
          </a:p>
          <a:p>
            <a:pPr marL="12700" marR="45516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Reconstruing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old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Creates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Produces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potential.</a:t>
            </a:r>
            <a:endParaRPr sz="1100">
              <a:latin typeface="Times New Roman"/>
              <a:cs typeface="Times New Roman"/>
            </a:endParaRPr>
          </a:p>
          <a:p>
            <a:pPr marL="12700" marR="336359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116: </a:t>
            </a:r>
            <a:r>
              <a:rPr dirty="0" sz="1100" spc="-5">
                <a:latin typeface="Times New Roman"/>
                <a:cs typeface="Times New Roman"/>
              </a:rPr>
              <a:t>Speaking and Writing in World 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across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Interactions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Sociocultural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Conventions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  <a:p>
            <a:pPr marL="12700" marR="47955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Linguisti</a:t>
            </a:r>
            <a:r>
              <a:rPr dirty="0" sz="1100">
                <a:latin typeface="Times New Roman"/>
                <a:cs typeface="Times New Roman"/>
              </a:rPr>
              <a:t>c</a:t>
            </a:r>
            <a:r>
              <a:rPr dirty="0" sz="1100" spc="-5">
                <a:latin typeface="Times New Roman"/>
                <a:cs typeface="Times New Roman"/>
              </a:rPr>
              <a:t> structure 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performs</a:t>
            </a:r>
            <a:r>
              <a:rPr dirty="0" sz="1100" spc="-5">
                <a:latin typeface="Times New Roman"/>
                <a:cs typeface="Times New Roman"/>
              </a:rPr>
              <a:t> making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utterance,</a:t>
            </a:r>
            <a:r>
              <a:rPr dirty="0" sz="1100" spc="-5">
                <a:latin typeface="Times New Roman"/>
                <a:cs typeface="Times New Roman"/>
              </a:rPr>
              <a:t> such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Requesting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Promising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Asking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Demanding</a:t>
            </a:r>
            <a:endParaRPr sz="1100">
              <a:latin typeface="Times New Roman"/>
              <a:cs typeface="Times New Roman"/>
            </a:endParaRPr>
          </a:p>
          <a:p>
            <a:pPr marL="12700" marR="48920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Apologizing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politeness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oriented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negative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politeness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perceived</a:t>
            </a:r>
            <a:r>
              <a:rPr dirty="0" sz="1100" spc="-5">
                <a:latin typeface="Times New Roman"/>
                <a:cs typeface="Times New Roman"/>
              </a:rPr>
              <a:t>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cold</a:t>
            </a:r>
            <a:endParaRPr sz="1100">
              <a:latin typeface="Times New Roman"/>
              <a:cs typeface="Times New Roman"/>
            </a:endParaRPr>
          </a:p>
          <a:p>
            <a:pPr marL="12700" marR="17221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oriented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positive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politeness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perceived</a:t>
            </a:r>
            <a:r>
              <a:rPr dirty="0" sz="1100" spc="-5">
                <a:latin typeface="Times New Roman"/>
                <a:cs typeface="Times New Roman"/>
              </a:rPr>
              <a:t> 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unsophisticated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politeness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Negative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politeness</a:t>
            </a:r>
            <a:endParaRPr sz="1100">
              <a:latin typeface="Times New Roman"/>
              <a:cs typeface="Times New Roman"/>
            </a:endParaRPr>
          </a:p>
          <a:p>
            <a:pPr marL="12700" marR="32251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 strategies that avoid </a:t>
            </a:r>
            <a:r>
              <a:rPr dirty="0" sz="1100">
                <a:latin typeface="Times New Roman"/>
                <a:cs typeface="Times New Roman"/>
              </a:rPr>
              <a:t>offence by </a:t>
            </a:r>
            <a:r>
              <a:rPr dirty="0" sz="1100" spc="-5">
                <a:latin typeface="Times New Roman"/>
                <a:cs typeface="Times New Roman"/>
              </a:rPr>
              <a:t>showing </a:t>
            </a:r>
            <a:r>
              <a:rPr dirty="0" sz="1100">
                <a:latin typeface="Times New Roman"/>
                <a:cs typeface="Times New Roman"/>
              </a:rPr>
              <a:t>deference.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honorific terms: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"Dr.", "Mr.“</a:t>
            </a:r>
            <a:endParaRPr sz="1100">
              <a:latin typeface="Times New Roman"/>
              <a:cs typeface="Times New Roman"/>
            </a:endParaRPr>
          </a:p>
          <a:p>
            <a:pPr marL="12700" marR="25812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Indirect requests: </a:t>
            </a:r>
            <a:r>
              <a:rPr dirty="0" sz="1100" spc="-5">
                <a:latin typeface="Times New Roman"/>
                <a:cs typeface="Times New Roman"/>
              </a:rPr>
              <a:t>Would </a:t>
            </a:r>
            <a:r>
              <a:rPr dirty="0" sz="1100">
                <a:latin typeface="Times New Roman"/>
                <a:cs typeface="Times New Roman"/>
              </a:rPr>
              <a:t>not you </a:t>
            </a:r>
            <a:r>
              <a:rPr dirty="0" sz="1100" spc="-5">
                <a:latin typeface="Times New Roman"/>
                <a:cs typeface="Times New Roman"/>
              </a:rPr>
              <a:t>mind if we shut the </a:t>
            </a:r>
            <a:r>
              <a:rPr dirty="0" sz="1100">
                <a:latin typeface="Times New Roman"/>
                <a:cs typeface="Times New Roman"/>
              </a:rPr>
              <a:t>door?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politeness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Positive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politeness</a:t>
            </a:r>
            <a:endParaRPr sz="1100">
              <a:latin typeface="Times New Roman"/>
              <a:cs typeface="Times New Roman"/>
            </a:endParaRPr>
          </a:p>
          <a:p>
            <a:pPr marL="12700" marR="290639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 strategies that avoid </a:t>
            </a:r>
            <a:r>
              <a:rPr dirty="0" sz="1100">
                <a:latin typeface="Times New Roman"/>
                <a:cs typeface="Times New Roman"/>
              </a:rPr>
              <a:t>offence by highlighting friendliness.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nicknames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Exaggerated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approvals: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terrific</a:t>
            </a:r>
            <a:endParaRPr sz="1100">
              <a:latin typeface="Times New Roman"/>
              <a:cs typeface="Times New Roman"/>
            </a:endParaRPr>
          </a:p>
          <a:p>
            <a:pPr marL="12700" marR="297053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Request: You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look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cold,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window?’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politeness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Show </a:t>
            </a:r>
            <a:r>
              <a:rPr dirty="0" sz="1100">
                <a:latin typeface="Times New Roman"/>
                <a:cs typeface="Times New Roman"/>
              </a:rPr>
              <a:t>of negative politeness: </a:t>
            </a:r>
            <a:r>
              <a:rPr dirty="0" sz="1100" spc="-5">
                <a:latin typeface="Times New Roman"/>
                <a:cs typeface="Times New Roman"/>
              </a:rPr>
              <a:t>where interactions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strangers are conventionally </a:t>
            </a:r>
            <a:r>
              <a:rPr dirty="0" sz="1100">
                <a:latin typeface="Times New Roman"/>
                <a:cs typeface="Times New Roman"/>
              </a:rPr>
              <a:t>oriented </a:t>
            </a:r>
            <a:r>
              <a:rPr dirty="0" sz="1100" spc="-5">
                <a:latin typeface="Times New Roman"/>
                <a:cs typeface="Times New Roman"/>
              </a:rPr>
              <a:t>more to </a:t>
            </a:r>
            <a:r>
              <a:rPr dirty="0" sz="1100">
                <a:latin typeface="Times New Roman"/>
                <a:cs typeface="Times New Roman"/>
              </a:rPr>
              <a:t>deference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positive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politeness: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strangers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expected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personable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friendly</a:t>
            </a:r>
            <a:endParaRPr sz="1100">
              <a:latin typeface="Times New Roman"/>
              <a:cs typeface="Times New Roman"/>
            </a:endParaRPr>
          </a:p>
          <a:p>
            <a:pPr marL="12700" marR="312039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117: </a:t>
            </a:r>
            <a:r>
              <a:rPr dirty="0" sz="1100" spc="-5">
                <a:latin typeface="Times New Roman"/>
                <a:cs typeface="Times New Roman"/>
              </a:rPr>
              <a:t>Speaking and Writing in World Englishes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Sociocultural conventions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across cultures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Politeness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Asian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devices</a:t>
            </a:r>
            <a:r>
              <a:rPr dirty="0" sz="1100" spc="-5">
                <a:latin typeface="Times New Roman"/>
                <a:cs typeface="Times New Roman"/>
              </a:rPr>
              <a:t> 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phonological,</a:t>
            </a:r>
            <a:r>
              <a:rPr dirty="0" sz="1100" spc="-5">
                <a:latin typeface="Times New Roman"/>
                <a:cs typeface="Times New Roman"/>
              </a:rPr>
              <a:t> morphological,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levels</a:t>
            </a:r>
            <a:endParaRPr sz="1100">
              <a:latin typeface="Times New Roman"/>
              <a:cs typeface="Times New Roman"/>
            </a:endParaRPr>
          </a:p>
          <a:p>
            <a:pPr marL="12700" marR="21342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Discourse strategies, to signal </a:t>
            </a:r>
            <a:r>
              <a:rPr dirty="0" sz="1100">
                <a:latin typeface="Times New Roman"/>
                <a:cs typeface="Times New Roman"/>
              </a:rPr>
              <a:t>respectful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polite verbal behavior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Politeness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3683000" cy="335026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Asian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12700" marR="199834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Indicating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respect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addressees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referents: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honorific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pronouns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verbal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endings</a:t>
            </a:r>
            <a:endParaRPr sz="1100">
              <a:latin typeface="Times New Roman"/>
              <a:cs typeface="Times New Roman"/>
            </a:endParaRPr>
          </a:p>
          <a:p>
            <a:pPr marL="12700" marR="25895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lexica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5">
                <a:latin typeface="Times New Roman"/>
                <a:cs typeface="Times New Roman"/>
              </a:rPr>
              <a:t> sets  </a:t>
            </a:r>
            <a:r>
              <a:rPr dirty="0" sz="1100" spc="-5">
                <a:latin typeface="Times New Roman"/>
                <a:cs typeface="Times New Roman"/>
              </a:rPr>
              <a:t>Politeness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Asian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12700" marR="199834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Indicating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respect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addressees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referents: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Sets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honorific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pronouns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Verbal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endings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lexical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Choice </a:t>
            </a:r>
            <a:r>
              <a:rPr dirty="0" sz="1100">
                <a:latin typeface="Times New Roman"/>
                <a:cs typeface="Times New Roman"/>
              </a:rPr>
              <a:t>from one </a:t>
            </a:r>
            <a:r>
              <a:rPr dirty="0" sz="1100" spc="-5">
                <a:latin typeface="Times New Roman"/>
                <a:cs typeface="Times New Roman"/>
              </a:rPr>
              <a:t>set is constrained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the choice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another set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Politeness</a:t>
            </a:r>
            <a:endParaRPr sz="1100">
              <a:latin typeface="Times New Roman"/>
              <a:cs typeface="Times New Roman"/>
            </a:endParaRPr>
          </a:p>
          <a:p>
            <a:pPr marL="12700" marR="209042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Asian languages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choices: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Hindi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Lexical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choices: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Korean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(Hwang,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1990)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3972063"/>
            <a:ext cx="568325" cy="39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Honorific  </a:t>
            </a:r>
            <a:r>
              <a:rPr dirty="0" sz="1100" spc="-5">
                <a:latin typeface="Times New Roman"/>
                <a:cs typeface="Times New Roman"/>
              </a:rPr>
              <a:t>Cinci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3904" y="3972063"/>
            <a:ext cx="312420" cy="39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750" marR="5080" indent="-19685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Plain  </a:t>
            </a:r>
            <a:r>
              <a:rPr dirty="0" sz="1100" spc="-5">
                <a:latin typeface="Times New Roman"/>
                <a:cs typeface="Times New Roman"/>
              </a:rPr>
              <a:t>pap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4358544"/>
            <a:ext cx="80137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Senghamilum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96080" y="3972063"/>
            <a:ext cx="552450" cy="579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5260" marR="5080" indent="-381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Gloss </a:t>
            </a:r>
            <a:r>
              <a:rPr dirty="0" sz="1100">
                <a:latin typeface="Times New Roman"/>
                <a:cs typeface="Times New Roman"/>
              </a:rPr>
              <a:t> ‘</a:t>
            </a:r>
            <a:r>
              <a:rPr dirty="0" sz="1100" spc="-5">
                <a:latin typeface="Times New Roman"/>
                <a:cs typeface="Times New Roman"/>
              </a:rPr>
              <a:t>meal</a:t>
            </a:r>
            <a:r>
              <a:rPr dirty="0" sz="1100">
                <a:latin typeface="Times New Roman"/>
                <a:cs typeface="Times New Roman"/>
              </a:rPr>
              <a:t>’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‘name’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700" y="4526176"/>
            <a:ext cx="6313170" cy="4827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324985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Expression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politeness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endParaRPr sz="1100">
              <a:latin typeface="Times New Roman"/>
              <a:cs typeface="Times New Roman"/>
            </a:endParaRPr>
          </a:p>
          <a:p>
            <a:pPr marL="12700" marR="203263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have </a:t>
            </a:r>
            <a:r>
              <a:rPr dirty="0" sz="1100" spc="-5">
                <a:latin typeface="Times New Roman"/>
                <a:cs typeface="Times New Roman"/>
              </a:rPr>
              <a:t>systemic choices </a:t>
            </a:r>
            <a:r>
              <a:rPr dirty="0" sz="1100">
                <a:latin typeface="Times New Roman"/>
                <a:cs typeface="Times New Roman"/>
              </a:rPr>
              <a:t>but only </a:t>
            </a:r>
            <a:r>
              <a:rPr dirty="0" sz="1100" spc="-5">
                <a:latin typeface="Times New Roman"/>
                <a:cs typeface="Times New Roman"/>
              </a:rPr>
              <a:t>strategies </a:t>
            </a:r>
            <a:r>
              <a:rPr dirty="0" sz="1100">
                <a:latin typeface="Times New Roman"/>
                <a:cs typeface="Times New Roman"/>
              </a:rPr>
              <a:t>based on politeness </a:t>
            </a:r>
            <a:r>
              <a:rPr dirty="0" sz="1100" spc="-5">
                <a:latin typeface="Times New Roman"/>
                <a:cs typeface="Times New Roman"/>
              </a:rPr>
              <a:t>considerations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Assimilation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change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conventions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Assimilation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cultural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12700" marR="4089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Under the influence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 some section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societies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 systems are </a:t>
            </a:r>
            <a:r>
              <a:rPr dirty="0" sz="1100">
                <a:latin typeface="Times New Roman"/>
                <a:cs typeface="Times New Roman"/>
              </a:rPr>
              <a:t>undergoing </a:t>
            </a:r>
            <a:r>
              <a:rPr dirty="0" sz="1100" spc="-5">
                <a:latin typeface="Times New Roman"/>
                <a:cs typeface="Times New Roman"/>
              </a:rPr>
              <a:t>change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use </a:t>
            </a:r>
            <a:r>
              <a:rPr dirty="0" sz="1100" spc="-5">
                <a:latin typeface="Times New Roman"/>
                <a:cs typeface="Times New Roman"/>
              </a:rPr>
              <a:t>in world Englishes</a:t>
            </a:r>
            <a:endParaRPr sz="1100">
              <a:latin typeface="Times New Roman"/>
              <a:cs typeface="Times New Roman"/>
            </a:endParaRPr>
          </a:p>
          <a:p>
            <a:pPr marL="12700" marR="372808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Expression </a:t>
            </a:r>
            <a:r>
              <a:rPr dirty="0" sz="1100">
                <a:latin typeface="Times New Roman"/>
                <a:cs typeface="Times New Roman"/>
              </a:rPr>
              <a:t>of partial </a:t>
            </a:r>
            <a:r>
              <a:rPr dirty="0" sz="1100" spc="-5">
                <a:latin typeface="Times New Roman"/>
                <a:cs typeface="Times New Roman"/>
              </a:rPr>
              <a:t>agreement-disagreement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Yes, but…</a:t>
            </a:r>
            <a:endParaRPr sz="1100">
              <a:latin typeface="Times New Roman"/>
              <a:cs typeface="Times New Roman"/>
            </a:endParaRPr>
          </a:p>
          <a:p>
            <a:pPr marL="12700" marR="485711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Hindi: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yeah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</a:t>
            </a:r>
            <a:endParaRPr sz="1100">
              <a:latin typeface="Times New Roman"/>
              <a:cs typeface="Times New Roman"/>
            </a:endParaRPr>
          </a:p>
          <a:p>
            <a:pPr marL="12700" marR="376936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A: Do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think it </a:t>
            </a:r>
            <a:r>
              <a:rPr dirty="0" sz="1100">
                <a:latin typeface="Times New Roman"/>
                <a:cs typeface="Times New Roman"/>
              </a:rPr>
              <a:t>[wife </a:t>
            </a:r>
            <a:r>
              <a:rPr dirty="0" sz="1100" spc="-5">
                <a:latin typeface="Times New Roman"/>
                <a:cs typeface="Times New Roman"/>
              </a:rPr>
              <a:t>abuse] is common?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India?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families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common.</a:t>
            </a:r>
            <a:endParaRPr sz="1100">
              <a:latin typeface="Times New Roman"/>
              <a:cs typeface="Times New Roman"/>
            </a:endParaRPr>
          </a:p>
          <a:p>
            <a:pPr marL="12700" marR="233489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C: No,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it’s common.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literate families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118: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Writing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 Englishes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Rhetorica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5">
                <a:latin typeface="Times New Roman"/>
                <a:cs typeface="Times New Roman"/>
              </a:rPr>
              <a:t> strategies</a:t>
            </a:r>
            <a:endParaRPr sz="1100">
              <a:latin typeface="Times New Roman"/>
              <a:cs typeface="Times New Roman"/>
            </a:endParaRPr>
          </a:p>
          <a:p>
            <a:pPr marL="12700" marR="19653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Strategies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produce </a:t>
            </a:r>
            <a:r>
              <a:rPr dirty="0" sz="1100" spc="-5">
                <a:latin typeface="Times New Roman"/>
                <a:cs typeface="Times New Roman"/>
              </a:rPr>
              <a:t>appropriate and effective language in any situation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Rhetorical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 show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difference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rhetorical</a:t>
            </a:r>
            <a:r>
              <a:rPr dirty="0" sz="1100" spc="-5">
                <a:latin typeface="Times New Roman"/>
                <a:cs typeface="Times New Roman"/>
              </a:rPr>
              <a:t> strategies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 marL="12700" marR="438150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Selection </a:t>
            </a:r>
            <a:r>
              <a:rPr dirty="0" sz="1100">
                <a:latin typeface="Times New Roman"/>
                <a:cs typeface="Times New Roman"/>
              </a:rPr>
              <a:t>of a rhetorical </a:t>
            </a:r>
            <a:r>
              <a:rPr dirty="0" sz="1100" spc="-5">
                <a:latin typeface="Times New Roman"/>
                <a:cs typeface="Times New Roman"/>
              </a:rPr>
              <a:t>strategy is motivated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considerations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sociocultural appropriateness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outer </a:t>
            </a:r>
            <a:r>
              <a:rPr dirty="0" sz="1100" spc="-5">
                <a:latin typeface="Times New Roman"/>
                <a:cs typeface="Times New Roman"/>
              </a:rPr>
              <a:t>and expanding circle writing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High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style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Indirectness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Presenting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sides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argument</a:t>
            </a:r>
            <a:endParaRPr sz="1100">
              <a:latin typeface="Times New Roman"/>
              <a:cs typeface="Times New Roman"/>
            </a:endParaRPr>
          </a:p>
          <a:p>
            <a:pPr marL="12700" marR="44170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Extensive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quotation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previous</a:t>
            </a:r>
            <a:r>
              <a:rPr dirty="0" sz="1100" spc="-5">
                <a:latin typeface="Times New Roman"/>
                <a:cs typeface="Times New Roman"/>
              </a:rPr>
              <a:t> work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6510" cy="870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74396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Features </a:t>
            </a:r>
            <a:r>
              <a:rPr dirty="0" sz="1100">
                <a:latin typeface="Times New Roman"/>
                <a:cs typeface="Times New Roman"/>
              </a:rPr>
              <a:t>of outer </a:t>
            </a:r>
            <a:r>
              <a:rPr dirty="0" sz="1100" spc="-5">
                <a:latin typeface="Times New Roman"/>
                <a:cs typeface="Times New Roman"/>
              </a:rPr>
              <a:t>and expanding circle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Politeness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strategies</a:t>
            </a:r>
            <a:endParaRPr sz="1100">
              <a:latin typeface="Times New Roman"/>
              <a:cs typeface="Times New Roman"/>
            </a:endParaRPr>
          </a:p>
          <a:p>
            <a:pPr marL="12700" marR="30187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Prefacing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request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general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observations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Now coming to the crux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matter </a:t>
            </a:r>
            <a:r>
              <a:rPr dirty="0" sz="1100">
                <a:latin typeface="Times New Roman"/>
                <a:cs typeface="Times New Roman"/>
              </a:rPr>
              <a:t>. . . I request you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 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Politeness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affective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elements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135"/>
              </a:spcBef>
              <a:buChar char="-"/>
              <a:tabLst>
                <a:tab pos="94615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request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humbly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enlighten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points.</a:t>
            </a:r>
            <a:endParaRPr sz="1100">
              <a:latin typeface="Times New Roman"/>
              <a:cs typeface="Times New Roman"/>
            </a:endParaRPr>
          </a:p>
          <a:p>
            <a:pPr marL="12700" marR="4138295">
              <a:lnSpc>
                <a:spcPct val="110200"/>
              </a:lnSpc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So,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folded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hands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Creative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Africa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successfully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synthesis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Oral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traditions</a:t>
            </a:r>
            <a:endParaRPr sz="1100">
              <a:latin typeface="Times New Roman"/>
              <a:cs typeface="Times New Roman"/>
            </a:endParaRPr>
          </a:p>
          <a:p>
            <a:pPr marL="12700" marR="38157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Strategies </a:t>
            </a:r>
            <a:r>
              <a:rPr dirty="0" sz="1100">
                <a:latin typeface="Times New Roman"/>
                <a:cs typeface="Times New Roman"/>
              </a:rPr>
              <a:t>of drawing </a:t>
            </a:r>
            <a:r>
              <a:rPr dirty="0" sz="1100" spc="-5">
                <a:latin typeface="Times New Roman"/>
                <a:cs typeface="Times New Roman"/>
              </a:rPr>
              <a:t>in the audience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inner 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Direct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imperatives</a:t>
            </a:r>
            <a:endParaRPr sz="1100">
              <a:latin typeface="Times New Roman"/>
              <a:cs typeface="Times New Roman"/>
            </a:endParaRPr>
          </a:p>
          <a:p>
            <a:pPr marL="12700" marR="21018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Heavy emphasis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explicit, </a:t>
            </a:r>
            <a:r>
              <a:rPr dirty="0" sz="1100">
                <a:latin typeface="Times New Roman"/>
                <a:cs typeface="Times New Roman"/>
              </a:rPr>
              <a:t>decontextualized, </a:t>
            </a:r>
            <a:r>
              <a:rPr dirty="0" sz="1100" spc="-5">
                <a:latin typeface="Times New Roman"/>
                <a:cs typeface="Times New Roman"/>
              </a:rPr>
              <a:t>impersonal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inner circle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acknowledge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circle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writings</a:t>
            </a:r>
            <a:endParaRPr sz="1100">
              <a:latin typeface="Times New Roman"/>
              <a:cs typeface="Times New Roman"/>
            </a:endParaRPr>
          </a:p>
          <a:p>
            <a:pPr marL="12700" marR="34772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Publishers </a:t>
            </a:r>
            <a:r>
              <a:rPr dirty="0" sz="1100">
                <a:latin typeface="Times New Roman"/>
                <a:cs typeface="Times New Roman"/>
              </a:rPr>
              <a:t>need </a:t>
            </a:r>
            <a:r>
              <a:rPr dirty="0" sz="1100" spc="-5">
                <a:latin typeface="Times New Roman"/>
                <a:cs typeface="Times New Roman"/>
              </a:rPr>
              <a:t>to shed </a:t>
            </a:r>
            <a:r>
              <a:rPr dirty="0" sz="1100">
                <a:latin typeface="Times New Roman"/>
                <a:cs typeface="Times New Roman"/>
              </a:rPr>
              <a:t>off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prejudices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119: </a:t>
            </a:r>
            <a:r>
              <a:rPr dirty="0" sz="1100" spc="-5">
                <a:latin typeface="Times New Roman"/>
                <a:cs typeface="Times New Roman"/>
              </a:rPr>
              <a:t>Genre and Style in World Englishes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Genre</a:t>
            </a:r>
            <a:endParaRPr sz="1100">
              <a:latin typeface="Times New Roman"/>
              <a:cs typeface="Times New Roman"/>
            </a:endParaRPr>
          </a:p>
          <a:p>
            <a:pPr marL="12700" marR="635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genre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artistic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composition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painting,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music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film),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distinctive </a:t>
            </a:r>
            <a:r>
              <a:rPr dirty="0" sz="1100" spc="-5">
                <a:latin typeface="Times New Roman"/>
                <a:cs typeface="Times New Roman"/>
              </a:rPr>
              <a:t>style, </a:t>
            </a:r>
            <a:r>
              <a:rPr dirty="0" sz="1100">
                <a:latin typeface="Times New Roman"/>
                <a:cs typeface="Times New Roman"/>
              </a:rPr>
              <a:t>form, or</a:t>
            </a:r>
            <a:r>
              <a:rPr dirty="0" sz="1100" spc="-5">
                <a:latin typeface="Times New Roman"/>
                <a:cs typeface="Times New Roman"/>
              </a:rPr>
              <a:t> content.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Genre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conventionalized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Responds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discipline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setting</a:t>
            </a:r>
            <a:endParaRPr sz="1100">
              <a:latin typeface="Times New Roman"/>
              <a:cs typeface="Times New Roman"/>
            </a:endParaRPr>
          </a:p>
          <a:p>
            <a:pPr marL="12700" marR="172973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Practices constraints </a:t>
            </a:r>
            <a:r>
              <a:rPr dirty="0" sz="1100">
                <a:latin typeface="Times New Roman"/>
                <a:cs typeface="Times New Roman"/>
              </a:rPr>
              <a:t>on use of grammar vocabulary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discourse features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Genre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identified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external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Rhetorical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purpose</a:t>
            </a:r>
            <a:endParaRPr sz="1100">
              <a:latin typeface="Times New Roman"/>
              <a:cs typeface="Times New Roman"/>
            </a:endParaRPr>
          </a:p>
          <a:p>
            <a:pPr marL="12700" marR="32480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Sociocultural and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institutional constraints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Genre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Factors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Lexicon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 marL="12700" marR="44227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Text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organization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patterns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Genre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Contradictory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genre: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Conventions: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rhetorically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stable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textual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activity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Tendency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innovation: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exploited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respond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novel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rhetorical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Genre</a:t>
            </a:r>
            <a:endParaRPr sz="1100">
              <a:latin typeface="Times New Roman"/>
              <a:cs typeface="Times New Roman"/>
            </a:endParaRPr>
          </a:p>
          <a:p>
            <a:pPr marL="12700" marR="1016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Creativity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resources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represents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subtle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style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private,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organizational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or/and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personal </a:t>
            </a:r>
            <a:r>
              <a:rPr dirty="0" sz="1100" spc="-5">
                <a:latin typeface="Times New Roman"/>
                <a:cs typeface="Times New Roman"/>
              </a:rPr>
              <a:t>identities, attitudes, intentions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perceptions.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Style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Generally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text-internal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factors.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82385" cy="7598409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Style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demonstrate: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typically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380872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typically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Style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focuses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values</a:t>
            </a:r>
            <a:endParaRPr sz="1100">
              <a:latin typeface="Times New Roman"/>
              <a:cs typeface="Times New Roman"/>
            </a:endParaRPr>
          </a:p>
          <a:p>
            <a:pPr marL="12700" marR="348170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Style </a:t>
            </a:r>
            <a:r>
              <a:rPr dirty="0" sz="1100">
                <a:latin typeface="Times New Roman"/>
                <a:cs typeface="Times New Roman"/>
              </a:rPr>
              <a:t>pays </a:t>
            </a:r>
            <a:r>
              <a:rPr dirty="0" sz="1100" spc="-5">
                <a:latin typeface="Times New Roman"/>
                <a:cs typeface="Times New Roman"/>
              </a:rPr>
              <a:t>more attention to linguistic </a:t>
            </a:r>
            <a:r>
              <a:rPr dirty="0" sz="1100">
                <a:latin typeface="Times New Roman"/>
                <a:cs typeface="Times New Roman"/>
              </a:rPr>
              <a:t>form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120: </a:t>
            </a:r>
            <a:r>
              <a:rPr dirty="0" sz="1100" spc="-5">
                <a:latin typeface="Times New Roman"/>
                <a:cs typeface="Times New Roman"/>
              </a:rPr>
              <a:t>Genre and Style in World Englishes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context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Variations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variations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styles</a:t>
            </a:r>
            <a:endParaRPr sz="1100">
              <a:latin typeface="Times New Roman"/>
              <a:cs typeface="Times New Roman"/>
            </a:endParaRPr>
          </a:p>
          <a:p>
            <a:pPr marL="12700" marR="36779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Both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reflect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Individual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variations</a:t>
            </a:r>
            <a:r>
              <a:rPr dirty="0" sz="1100" spc="-5">
                <a:latin typeface="Times New Roman"/>
                <a:cs typeface="Times New Roman"/>
              </a:rPr>
              <a:t> 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seen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contexts</a:t>
            </a:r>
            <a:endParaRPr sz="1100">
              <a:latin typeface="Times New Roman"/>
              <a:cs typeface="Times New Roman"/>
            </a:endParaRPr>
          </a:p>
          <a:p>
            <a:pPr marL="12700" marR="2603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variations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differences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experiences,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goals,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attitudes,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Genre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vocabulary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construction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interpretation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genre</a:t>
            </a:r>
            <a:endParaRPr sz="1100">
              <a:latin typeface="Times New Roman"/>
              <a:cs typeface="Times New Roman"/>
            </a:endParaRPr>
          </a:p>
          <a:p>
            <a:pPr marL="12700" marR="10160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Variations </a:t>
            </a:r>
            <a:r>
              <a:rPr dirty="0" sz="1100">
                <a:latin typeface="Times New Roman"/>
                <a:cs typeface="Times New Roman"/>
              </a:rPr>
              <a:t>due </a:t>
            </a:r>
            <a:r>
              <a:rPr dirty="0" sz="1100" spc="-5">
                <a:latin typeface="Times New Roman"/>
                <a:cs typeface="Times New Roman"/>
              </a:rPr>
              <a:t>to world Englishes can create </a:t>
            </a:r>
            <a:r>
              <a:rPr dirty="0" sz="1100">
                <a:latin typeface="Times New Roman"/>
                <a:cs typeface="Times New Roman"/>
              </a:rPr>
              <a:t>noticeable differences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genres </a:t>
            </a:r>
            <a:r>
              <a:rPr dirty="0" sz="1100" spc="-5">
                <a:latin typeface="Times New Roman"/>
                <a:cs typeface="Times New Roman"/>
              </a:rPr>
              <a:t>and styles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the context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world Englishes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Conservative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genres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Little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text-internal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(lexico-grammar,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discourse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structuring)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text-external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  <a:p>
            <a:pPr marL="12700" marR="4138929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Genre in the context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world 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Conservative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genres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Generic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integrity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maintained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professional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academic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discourse</a:t>
            </a:r>
            <a:endParaRPr sz="1100">
              <a:latin typeface="Times New Roman"/>
              <a:cs typeface="Times New Roman"/>
            </a:endParaRPr>
          </a:p>
          <a:p>
            <a:pPr marL="12700" marR="39128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Editor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publishing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houses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Genre in the context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world Englishes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Conservative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genres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constraints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compared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conformity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largely Western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endParaRPr sz="1100">
              <a:latin typeface="Times New Roman"/>
              <a:cs typeface="Times New Roman"/>
            </a:endParaRPr>
          </a:p>
          <a:p>
            <a:pPr marL="12700" marR="41973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Limit </a:t>
            </a:r>
            <a:r>
              <a:rPr dirty="0" sz="1100">
                <a:latin typeface="Times New Roman"/>
                <a:cs typeface="Times New Roman"/>
              </a:rPr>
              <a:t>variation, </a:t>
            </a:r>
            <a:r>
              <a:rPr dirty="0" sz="1100" spc="-5">
                <a:latin typeface="Times New Roman"/>
                <a:cs typeface="Times New Roman"/>
              </a:rPr>
              <a:t>creativity, and innovation in language motivated </a:t>
            </a:r>
            <a:r>
              <a:rPr dirty="0" sz="1100">
                <a:latin typeface="Times New Roman"/>
                <a:cs typeface="Times New Roman"/>
              </a:rPr>
              <a:t>by variations </a:t>
            </a:r>
            <a:r>
              <a:rPr dirty="0" sz="1100" spc="-5">
                <a:latin typeface="Times New Roman"/>
                <a:cs typeface="Times New Roman"/>
              </a:rPr>
              <a:t>in world Englishes.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the context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world Englishes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Liberal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genres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Creativity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innovation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linguistic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-5">
                <a:latin typeface="Times New Roman"/>
                <a:cs typeface="Times New Roman"/>
              </a:rPr>
              <a:t> 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great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quality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(literary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genres)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dramatic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day’s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play,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match,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advantage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slip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bit.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Indian </a:t>
            </a:r>
            <a:r>
              <a:rPr dirty="0" sz="1100">
                <a:latin typeface="Times New Roman"/>
                <a:cs typeface="Times New Roman"/>
              </a:rPr>
              <a:t> bowlers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reduced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Pakistan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137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8,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gutsy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49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Mohammad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Sami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helped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respectable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224.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Then,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VirenderSehwag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ball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innings,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Indians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avoided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further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loss,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ending the </a:t>
            </a:r>
            <a:r>
              <a:rPr dirty="0" sz="1100">
                <a:latin typeface="Times New Roman"/>
                <a:cs typeface="Times New Roman"/>
              </a:rPr>
              <a:t>day on 23 for 1. (The </a:t>
            </a:r>
            <a:r>
              <a:rPr dirty="0" sz="1100" spc="-5">
                <a:latin typeface="Times New Roman"/>
                <a:cs typeface="Times New Roman"/>
              </a:rPr>
              <a:t>Wisden Bulletin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AmitVarma cited in Kachru, B., Kachru </a:t>
            </a:r>
            <a:r>
              <a:rPr dirty="0" sz="1100">
                <a:latin typeface="Times New Roman"/>
                <a:cs typeface="Times New Roman"/>
              </a:rPr>
              <a:t>Y </a:t>
            </a:r>
            <a:r>
              <a:rPr dirty="0" sz="1100" spc="-5">
                <a:latin typeface="Times New Roman"/>
                <a:cs typeface="Times New Roman"/>
              </a:rPr>
              <a:t>&amp;Nelson, </a:t>
            </a:r>
            <a:r>
              <a:rPr dirty="0" sz="1100">
                <a:latin typeface="Times New Roman"/>
                <a:cs typeface="Times New Roman"/>
              </a:rPr>
              <a:t>2006)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roasted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Caribbean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two-and-a-half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days,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England’s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batsmen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suffered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prolonged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dizzy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spell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third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eveningin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Antigua,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slumping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98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5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before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Andrew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Flintoff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debutant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Geraint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Jones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applied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cold towels with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soothing </a:t>
            </a:r>
            <a:r>
              <a:rPr dirty="0" sz="1100">
                <a:latin typeface="Times New Roman"/>
                <a:cs typeface="Times New Roman"/>
              </a:rPr>
              <a:t>73-run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partnership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(The</a:t>
            </a:r>
            <a:r>
              <a:rPr dirty="0" sz="1100" spc="-5">
                <a:latin typeface="Times New Roman"/>
                <a:cs typeface="Times New Roman"/>
              </a:rPr>
              <a:t> Wisden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Bulletin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Andrew Miller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Kachru,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B., Kachru,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&amp;</a:t>
            </a:r>
            <a:r>
              <a:rPr dirty="0" sz="1100" spc="-5">
                <a:latin typeface="Times New Roman"/>
                <a:cs typeface="Times New Roman"/>
              </a:rPr>
              <a:t> Nelson,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2006)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61912"/>
            <a:ext cx="6358890" cy="8779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49275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Lesson-21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25400">
              <a:lnSpc>
                <a:spcPct val="100000"/>
              </a:lnSpc>
            </a:pPr>
            <a:r>
              <a:rPr dirty="0" sz="1400" spc="60">
                <a:latin typeface="Times New Roman"/>
                <a:cs typeface="Times New Roman"/>
              </a:rPr>
              <a:t>World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Englishes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and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40">
                <a:latin typeface="Times New Roman"/>
                <a:cs typeface="Times New Roman"/>
              </a:rPr>
              <a:t>Language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Acquisition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28448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121:Second </a:t>
            </a:r>
            <a:r>
              <a:rPr dirty="0" sz="1100" spc="-5">
                <a:latin typeface="Times New Roman"/>
                <a:cs typeface="Times New Roman"/>
              </a:rPr>
              <a:t>Language Acquisition and World 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Acquisition</a:t>
            </a:r>
            <a:endParaRPr sz="1100">
              <a:latin typeface="Times New Roman"/>
              <a:cs typeface="Times New Roman"/>
            </a:endParaRPr>
          </a:p>
          <a:p>
            <a:pPr marL="12700" marR="762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subsequent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to the </a:t>
            </a:r>
            <a:r>
              <a:rPr dirty="0" sz="1100">
                <a:latin typeface="Times New Roman"/>
                <a:cs typeface="Times New Roman"/>
              </a:rPr>
              <a:t>process of </a:t>
            </a:r>
            <a:r>
              <a:rPr dirty="0" sz="1100" spc="-5">
                <a:latin typeface="Times New Roman"/>
                <a:cs typeface="Times New Roman"/>
              </a:rPr>
              <a:t>learning 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Distinctions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Secon</a:t>
            </a:r>
            <a:r>
              <a:rPr dirty="0" sz="1100">
                <a:latin typeface="Times New Roman"/>
                <a:cs typeface="Times New Roman"/>
              </a:rPr>
              <a:t>d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Foreig</a:t>
            </a:r>
            <a:r>
              <a:rPr dirty="0" sz="1100">
                <a:latin typeface="Times New Roman"/>
                <a:cs typeface="Times New Roman"/>
              </a:rPr>
              <a:t>n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Auxiliary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47453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Additiona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5">
                <a:latin typeface="Times New Roman"/>
                <a:cs typeface="Times New Roman"/>
              </a:rPr>
              <a:t> language 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recognition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plurality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underlying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(WE)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paradigm</a:t>
            </a:r>
            <a:endParaRPr sz="1100">
              <a:latin typeface="Times New Roman"/>
              <a:cs typeface="Times New Roman"/>
            </a:endParaRPr>
          </a:p>
          <a:p>
            <a:pPr marL="12700" marR="16554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Problematizing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conventional SLA </a:t>
            </a:r>
            <a:r>
              <a:rPr dirty="0" sz="1100">
                <a:latin typeface="Times New Roman"/>
                <a:cs typeface="Times New Roman"/>
              </a:rPr>
              <a:t>views of </a:t>
            </a:r>
            <a:r>
              <a:rPr dirty="0" sz="1100" spc="-5">
                <a:latin typeface="Times New Roman"/>
                <a:cs typeface="Times New Roman"/>
              </a:rPr>
              <a:t>second language learning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 claims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According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Kachru,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basic</a:t>
            </a:r>
            <a:r>
              <a:rPr dirty="0" sz="1100" spc="-5">
                <a:latin typeface="Times New Roman"/>
                <a:cs typeface="Times New Roman"/>
              </a:rPr>
              <a:t> claims: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repertoire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models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English,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just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Localized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innovations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deserve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recognition</a:t>
            </a:r>
            <a:endParaRPr sz="1100">
              <a:latin typeface="Times New Roman"/>
              <a:cs typeface="Times New Roman"/>
            </a:endParaRPr>
          </a:p>
          <a:p>
            <a:pPr marL="12700" marR="27787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ownership of </a:t>
            </a:r>
            <a:r>
              <a:rPr dirty="0" sz="1100" spc="-5">
                <a:latin typeface="Times New Roman"/>
                <a:cs typeface="Times New Roman"/>
              </a:rPr>
              <a:t>English lies with all those who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it.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Challenge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traditional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 </a:t>
            </a:r>
            <a:r>
              <a:rPr dirty="0" sz="1100">
                <a:latin typeface="Times New Roman"/>
                <a:cs typeface="Times New Roman"/>
              </a:rPr>
              <a:t>paradigm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Rejects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attainment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native-like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learning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all learners</a:t>
            </a:r>
            <a:endParaRPr sz="1100">
              <a:latin typeface="Times New Roman"/>
              <a:cs typeface="Times New Roman"/>
            </a:endParaRPr>
          </a:p>
          <a:p>
            <a:pPr marL="12700" marR="22059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Native speakers </a:t>
            </a:r>
            <a:r>
              <a:rPr dirty="0" sz="1100">
                <a:latin typeface="Times New Roman"/>
                <a:cs typeface="Times New Roman"/>
              </a:rPr>
              <a:t>not responsible for </a:t>
            </a:r>
            <a:r>
              <a:rPr dirty="0" sz="1100" spc="-5">
                <a:latin typeface="Times New Roman"/>
                <a:cs typeface="Times New Roman"/>
              </a:rPr>
              <a:t>the standardization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World 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Gloabal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Socio-cultural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pragmatic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12700" marR="19729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Generation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multiple </a:t>
            </a:r>
            <a:r>
              <a:rPr dirty="0" sz="1100">
                <a:latin typeface="Times New Roman"/>
                <a:cs typeface="Times New Roman"/>
              </a:rPr>
              <a:t>norms </a:t>
            </a:r>
            <a:r>
              <a:rPr dirty="0" sz="1100" spc="-5">
                <a:latin typeface="Times New Roman"/>
                <a:cs typeface="Times New Roman"/>
              </a:rPr>
              <a:t>at the local, </a:t>
            </a:r>
            <a:r>
              <a:rPr dirty="0" sz="1100">
                <a:latin typeface="Times New Roman"/>
                <a:cs typeface="Times New Roman"/>
              </a:rPr>
              <a:t>national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regional </a:t>
            </a:r>
            <a:r>
              <a:rPr dirty="0" sz="1100" spc="-5">
                <a:latin typeface="Times New Roman"/>
                <a:cs typeface="Times New Roman"/>
              </a:rPr>
              <a:t>levels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World Englishes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View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deviations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SLA: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errors</a:t>
            </a:r>
            <a:endParaRPr sz="1100">
              <a:latin typeface="Times New Roman"/>
              <a:cs typeface="Times New Roman"/>
            </a:endParaRPr>
          </a:p>
          <a:p>
            <a:pPr marL="12700" marR="48704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WE: </a:t>
            </a:r>
            <a:r>
              <a:rPr dirty="0" sz="1100">
                <a:latin typeface="Times New Roman"/>
                <a:cs typeface="Times New Roman"/>
              </a:rPr>
              <a:t>variations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Non-native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(NNS)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r>
              <a:rPr dirty="0" sz="1100" spc="-5">
                <a:latin typeface="Times New Roman"/>
                <a:cs typeface="Times New Roman"/>
              </a:rPr>
              <a:t> treated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speaker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endParaRPr sz="1100">
              <a:latin typeface="Times New Roman"/>
              <a:cs typeface="Times New Roman"/>
            </a:endParaRPr>
          </a:p>
          <a:p>
            <a:pPr marL="12700" marR="713105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NNS </a:t>
            </a:r>
            <a:r>
              <a:rPr dirty="0" sz="1100">
                <a:latin typeface="Times New Roman"/>
                <a:cs typeface="Times New Roman"/>
              </a:rPr>
              <a:t>norms for </a:t>
            </a:r>
            <a:r>
              <a:rPr dirty="0" sz="1100" spc="-5">
                <a:latin typeface="Times New Roman"/>
                <a:cs typeface="Times New Roman"/>
              </a:rPr>
              <a:t>evaluating the appropriateness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outer </a:t>
            </a:r>
            <a:r>
              <a:rPr dirty="0" sz="1100" spc="-5">
                <a:latin typeface="Times New Roman"/>
                <a:cs typeface="Times New Roman"/>
              </a:rPr>
              <a:t>circle contexts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122: </a:t>
            </a:r>
            <a:r>
              <a:rPr dirty="0" sz="1100" spc="-5">
                <a:latin typeface="Times New Roman"/>
                <a:cs typeface="Times New Roman"/>
              </a:rPr>
              <a:t>Second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 </a:t>
            </a:r>
            <a:r>
              <a:rPr dirty="0" sz="1100">
                <a:latin typeface="Times New Roman"/>
                <a:cs typeface="Times New Roman"/>
              </a:rPr>
              <a:t>(SLA) </a:t>
            </a:r>
            <a:r>
              <a:rPr dirty="0" sz="1100" spc="-5">
                <a:latin typeface="Times New Roman"/>
                <a:cs typeface="Times New Roman"/>
              </a:rPr>
              <a:t>in Multilingual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multilingualism</a:t>
            </a:r>
            <a:endParaRPr sz="1100">
              <a:latin typeface="Times New Roman"/>
              <a:cs typeface="Times New Roman"/>
            </a:endParaRPr>
          </a:p>
          <a:p>
            <a:pPr marL="12700" marR="889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orientation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recognizes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additional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learned/acquired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Functions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additional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additional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determined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additional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enjoys in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community</a:t>
            </a:r>
            <a:endParaRPr sz="1100">
              <a:latin typeface="Times New Roman"/>
              <a:cs typeface="Times New Roman"/>
            </a:endParaRPr>
          </a:p>
          <a:p>
            <a:pPr marL="12700" marR="30029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performs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various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settings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Benefits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world Englishes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SLA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Provides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fertile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endParaRPr sz="1100">
              <a:latin typeface="Times New Roman"/>
              <a:cs typeface="Times New Roman"/>
            </a:endParaRPr>
          </a:p>
          <a:p>
            <a:pPr marL="12700" marR="20561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Offers </a:t>
            </a:r>
            <a:r>
              <a:rPr dirty="0" sz="1100">
                <a:latin typeface="Times New Roman"/>
                <a:cs typeface="Times New Roman"/>
              </a:rPr>
              <a:t>research potential </a:t>
            </a:r>
            <a:r>
              <a:rPr dirty="0" sz="1100" spc="-5">
                <a:latin typeface="Times New Roman"/>
                <a:cs typeface="Times New Roman"/>
              </a:rPr>
              <a:t>in Applied Linguistics and Sociolinguistics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 and SLA concepts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7145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relevance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Fossilization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Input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Monitor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Focus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endParaRPr sz="1100">
              <a:latin typeface="Times New Roman"/>
              <a:cs typeface="Times New Roman"/>
            </a:endParaRPr>
          </a:p>
          <a:p>
            <a:pPr marL="12700" marR="22688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impact </a:t>
            </a:r>
            <a:r>
              <a:rPr dirty="0" sz="1100">
                <a:latin typeface="Times New Roman"/>
                <a:cs typeface="Times New Roman"/>
              </a:rPr>
              <a:t>of uses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functions of 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its acquisition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123: </a:t>
            </a:r>
            <a:r>
              <a:rPr dirty="0" sz="1100" spc="-5">
                <a:latin typeface="Times New Roman"/>
                <a:cs typeface="Times New Roman"/>
              </a:rPr>
              <a:t>SLA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Formal </a:t>
            </a:r>
            <a:r>
              <a:rPr dirty="0" sz="1100">
                <a:latin typeface="Times New Roman"/>
                <a:cs typeface="Times New Roman"/>
              </a:rPr>
              <a:t>Instructions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Orthodox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Native-like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L2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goal</a:t>
            </a:r>
            <a:endParaRPr sz="1100">
              <a:latin typeface="Times New Roman"/>
              <a:cs typeface="Times New Roman"/>
            </a:endParaRPr>
          </a:p>
          <a:p>
            <a:pPr marL="12700" marR="11899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Deviations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NS </a:t>
            </a:r>
            <a:r>
              <a:rPr dirty="0" sz="1100">
                <a:latin typeface="Times New Roman"/>
                <a:cs typeface="Times New Roman"/>
              </a:rPr>
              <a:t>norms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believed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result from </a:t>
            </a:r>
            <a:r>
              <a:rPr dirty="0" sz="1100" spc="-5">
                <a:latin typeface="Times New Roman"/>
                <a:cs typeface="Times New Roman"/>
              </a:rPr>
              <a:t>limited linguistic competence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 </a:t>
            </a:r>
            <a:r>
              <a:rPr dirty="0" sz="1100">
                <a:latin typeface="Times New Roman"/>
                <a:cs typeface="Times New Roman"/>
              </a:rPr>
              <a:t>view of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L2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necessarily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correspond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endParaRPr sz="1100">
              <a:latin typeface="Times New Roman"/>
              <a:cs typeface="Times New Roman"/>
            </a:endParaRPr>
          </a:p>
          <a:p>
            <a:pPr marL="12700" marR="63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Deviations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necessarily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errors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particularly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idiosyncratic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 </a:t>
            </a:r>
            <a:r>
              <a:rPr dirty="0" sz="1100" spc="-5">
                <a:latin typeface="Times New Roman"/>
                <a:cs typeface="Times New Roman"/>
              </a:rPr>
              <a:t>appears systematic and 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shared </a:t>
            </a:r>
            <a:r>
              <a:rPr dirty="0" sz="1100">
                <a:latin typeface="Times New Roman"/>
                <a:cs typeface="Times New Roman"/>
              </a:rPr>
              <a:t>by a</a:t>
            </a:r>
            <a:r>
              <a:rPr dirty="0" sz="1100" spc="-5">
                <a:latin typeface="Times New Roman"/>
                <a:cs typeface="Times New Roman"/>
              </a:rPr>
              <a:t> speech community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instruction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carried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exposure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12700" marR="25482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limited exposure to materials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the inner circle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124: Issues of </a:t>
            </a:r>
            <a:r>
              <a:rPr dirty="0" sz="1100" spc="-5">
                <a:latin typeface="Times New Roman"/>
                <a:cs typeface="Times New Roman"/>
              </a:rPr>
              <a:t>Proficiency and Communicative Competence-I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Foreign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instruction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NNS countries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  <a:p>
            <a:pPr marL="12700" marR="27279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Native speaker </a:t>
            </a:r>
            <a:r>
              <a:rPr dirty="0" sz="1100">
                <a:latin typeface="Times New Roman"/>
                <a:cs typeface="Times New Roman"/>
              </a:rPr>
              <a:t>not a requirement </a:t>
            </a:r>
            <a:r>
              <a:rPr dirty="0" sz="1100" spc="-5">
                <a:latin typeface="Times New Roman"/>
                <a:cs typeface="Times New Roman"/>
              </a:rPr>
              <a:t>as teacher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instructor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instruction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NNS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Preference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endParaRPr sz="1100">
              <a:latin typeface="Times New Roman"/>
              <a:cs typeface="Times New Roman"/>
            </a:endParaRPr>
          </a:p>
          <a:p>
            <a:pPr marL="12700" marR="24149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NNS teachers </a:t>
            </a:r>
            <a:r>
              <a:rPr dirty="0" sz="1100">
                <a:latin typeface="Times New Roman"/>
                <a:cs typeface="Times New Roman"/>
              </a:rPr>
              <a:t>not being proficient </a:t>
            </a:r>
            <a:r>
              <a:rPr dirty="0" sz="1100" spc="-5">
                <a:latin typeface="Times New Roman"/>
                <a:cs typeface="Times New Roman"/>
              </a:rPr>
              <a:t>enough, spoilt the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instruction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NNS countries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pedagogical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endParaRPr sz="1100">
              <a:latin typeface="Times New Roman"/>
              <a:cs typeface="Times New Roman"/>
            </a:endParaRPr>
          </a:p>
          <a:p>
            <a:pPr marL="12700" marR="38766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Which English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US, UK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native?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algn="just" marL="12700" marR="698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There are ‘millions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L2 users who learn and use second languages in their own countries,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their own </a:t>
            </a:r>
            <a:r>
              <a:rPr dirty="0" sz="1100">
                <a:latin typeface="Times New Roman"/>
                <a:cs typeface="Times New Roman"/>
              </a:rPr>
              <a:t> (nonnative) </a:t>
            </a:r>
            <a:r>
              <a:rPr dirty="0" sz="1100" spc="-5">
                <a:latin typeface="Times New Roman"/>
                <a:cs typeface="Times New Roman"/>
              </a:rPr>
              <a:t>teachers, </a:t>
            </a:r>
            <a:r>
              <a:rPr dirty="0" sz="1100">
                <a:latin typeface="Times New Roman"/>
                <a:cs typeface="Times New Roman"/>
              </a:rPr>
              <a:t>for use primarily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other nonnative </a:t>
            </a:r>
            <a:r>
              <a:rPr dirty="0" sz="1100" spc="-5">
                <a:latin typeface="Times New Roman"/>
                <a:cs typeface="Times New Roman"/>
              </a:rPr>
              <a:t>speakers, and who may </a:t>
            </a:r>
            <a:r>
              <a:rPr dirty="0" sz="1100">
                <a:latin typeface="Times New Roman"/>
                <a:cs typeface="Times New Roman"/>
              </a:rPr>
              <a:t>never </a:t>
            </a:r>
            <a:r>
              <a:rPr dirty="0" sz="1100" spc="-5">
                <a:latin typeface="Times New Roman"/>
                <a:cs typeface="Times New Roman"/>
              </a:rPr>
              <a:t>come across </a:t>
            </a:r>
            <a:r>
              <a:rPr dirty="0" sz="1100">
                <a:latin typeface="Times New Roman"/>
                <a:cs typeface="Times New Roman"/>
              </a:rPr>
              <a:t>a native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 face 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face’</a:t>
            </a:r>
            <a:endParaRPr sz="1100">
              <a:latin typeface="Times New Roman"/>
              <a:cs typeface="Times New Roman"/>
            </a:endParaRPr>
          </a:p>
          <a:p>
            <a:pPr marL="12700" marR="329247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Sridhar cited in B. Kachru, Y. Kachru&amp; Nelson, </a:t>
            </a:r>
            <a:r>
              <a:rPr dirty="0" sz="1100">
                <a:latin typeface="Times New Roman"/>
                <a:cs typeface="Times New Roman"/>
              </a:rPr>
              <a:t>2006)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Ideal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definition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Someone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acquired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her/his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mother’s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knee,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without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benefit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formal</a:t>
            </a:r>
            <a:r>
              <a:rPr dirty="0" sz="1100" spc="-5">
                <a:latin typeface="Times New Roman"/>
                <a:cs typeface="Times New Roman"/>
              </a:rPr>
              <a:t> instruction.</a:t>
            </a:r>
            <a:endParaRPr sz="1100">
              <a:latin typeface="Times New Roman"/>
              <a:cs typeface="Times New Roman"/>
            </a:endParaRPr>
          </a:p>
          <a:p>
            <a:pPr marL="12700" marR="133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She/he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useful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intuitions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grammatical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correctness,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does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think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she/he wants to say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Proficiency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Non-native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better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proficiency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cases</a:t>
            </a:r>
            <a:endParaRPr sz="1100">
              <a:latin typeface="Times New Roman"/>
              <a:cs typeface="Times New Roman"/>
            </a:endParaRPr>
          </a:p>
          <a:p>
            <a:pPr marL="12700" marR="29387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 we </a:t>
            </a:r>
            <a:r>
              <a:rPr dirty="0" sz="1100">
                <a:latin typeface="Times New Roman"/>
                <a:cs typeface="Times New Roman"/>
              </a:rPr>
              <a:t>need a native </a:t>
            </a:r>
            <a:r>
              <a:rPr dirty="0" sz="1100" spc="-5">
                <a:latin typeface="Times New Roman"/>
                <a:cs typeface="Times New Roman"/>
              </a:rPr>
              <a:t>speaker </a:t>
            </a:r>
            <a:r>
              <a:rPr dirty="0" sz="1100">
                <a:latin typeface="Times New Roman"/>
                <a:cs typeface="Times New Roman"/>
              </a:rPr>
              <a:t>or a proficient </a:t>
            </a:r>
            <a:r>
              <a:rPr dirty="0" sz="1100" spc="-5">
                <a:latin typeface="Times New Roman"/>
                <a:cs typeface="Times New Roman"/>
              </a:rPr>
              <a:t>speaker?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Primary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criteria: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monolingual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notion</a:t>
            </a:r>
            <a:endParaRPr sz="1100">
              <a:latin typeface="Times New Roman"/>
              <a:cs typeface="Times New Roman"/>
            </a:endParaRPr>
          </a:p>
          <a:p>
            <a:pPr marL="12700" marR="40570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Secondary criteria: social </a:t>
            </a:r>
            <a:r>
              <a:rPr dirty="0" sz="1100">
                <a:latin typeface="Times New Roman"/>
                <a:cs typeface="Times New Roman"/>
              </a:rPr>
              <a:t>factors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71590" cy="870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608455">
              <a:lnSpc>
                <a:spcPct val="1102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 to acknowledge </a:t>
            </a:r>
            <a:r>
              <a:rPr dirty="0" sz="1100">
                <a:latin typeface="Times New Roman"/>
                <a:cs typeface="Times New Roman"/>
              </a:rPr>
              <a:t>outer </a:t>
            </a:r>
            <a:r>
              <a:rPr dirty="0" sz="1100" spc="-5">
                <a:latin typeface="Times New Roman"/>
                <a:cs typeface="Times New Roman"/>
              </a:rPr>
              <a:t>and expanding circle </a:t>
            </a:r>
            <a:r>
              <a:rPr dirty="0" sz="1100">
                <a:latin typeface="Times New Roman"/>
                <a:cs typeface="Times New Roman"/>
              </a:rPr>
              <a:t>varieties of </a:t>
            </a:r>
            <a:r>
              <a:rPr dirty="0" sz="1100" spc="-5">
                <a:latin typeface="Times New Roman"/>
                <a:cs typeface="Times New Roman"/>
              </a:rPr>
              <a:t>English in SLA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125: Issues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Proficiency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Communicative Competence</a:t>
            </a:r>
            <a:endParaRPr sz="1100">
              <a:latin typeface="Times New Roman"/>
              <a:cs typeface="Times New Roman"/>
            </a:endParaRPr>
          </a:p>
          <a:p>
            <a:pPr marL="12700" marR="446214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Genetic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nativeness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nativeness</a:t>
            </a:r>
            <a:endParaRPr sz="1100">
              <a:latin typeface="Times New Roman"/>
              <a:cs typeface="Times New Roman"/>
            </a:endParaRPr>
          </a:p>
          <a:p>
            <a:pPr marL="12700" marR="16814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Refers to the </a:t>
            </a:r>
            <a:r>
              <a:rPr dirty="0" sz="1100">
                <a:latin typeface="Times New Roman"/>
                <a:cs typeface="Times New Roman"/>
              </a:rPr>
              <a:t>historical relationships of </a:t>
            </a:r>
            <a:r>
              <a:rPr dirty="0" sz="1100" spc="-5">
                <a:latin typeface="Times New Roman"/>
                <a:cs typeface="Times New Roman"/>
              </a:rPr>
              <a:t>contact and convergence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functional nativeness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Functional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nativeness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Sociolinguistic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Users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recognize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19983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Users’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exhibit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proficiency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proficiency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community’s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appropriate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achieve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goals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operate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intended manner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Refers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tacit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knowledge 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ability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effectively</a:t>
            </a:r>
            <a:endParaRPr sz="1100">
              <a:latin typeface="Times New Roman"/>
              <a:cs typeface="Times New Roman"/>
            </a:endParaRPr>
          </a:p>
          <a:p>
            <a:pPr marL="12700" marR="36283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socially appropriate </a:t>
            </a:r>
            <a:r>
              <a:rPr dirty="0" sz="1100">
                <a:latin typeface="Times New Roman"/>
                <a:cs typeface="Times New Roman"/>
              </a:rPr>
              <a:t>use 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Knowing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accordance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sociocultural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knowledge</a:t>
            </a:r>
            <a:endParaRPr sz="1100">
              <a:latin typeface="Times New Roman"/>
              <a:cs typeface="Times New Roman"/>
            </a:endParaRPr>
          </a:p>
          <a:p>
            <a:pPr marL="12700" marR="36887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Conventions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endParaRPr sz="1100">
              <a:latin typeface="Times New Roman"/>
              <a:cs typeface="Times New Roman"/>
            </a:endParaRPr>
          </a:p>
          <a:p>
            <a:pPr marL="12700" marR="134366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A native </a:t>
            </a:r>
            <a:r>
              <a:rPr dirty="0" sz="1100" spc="-5">
                <a:latin typeface="Times New Roman"/>
                <a:cs typeface="Times New Roman"/>
              </a:rPr>
              <a:t>speaker </a:t>
            </a:r>
            <a:r>
              <a:rPr dirty="0" sz="1100">
                <a:latin typeface="Times New Roman"/>
                <a:cs typeface="Times New Roman"/>
              </a:rPr>
              <a:t>does not </a:t>
            </a:r>
            <a:r>
              <a:rPr dirty="0" sz="1100" spc="-5">
                <a:latin typeface="Times New Roman"/>
                <a:cs typeface="Times New Roman"/>
              </a:rPr>
              <a:t>make </a:t>
            </a:r>
            <a:r>
              <a:rPr dirty="0" sz="1100">
                <a:latin typeface="Times New Roman"/>
                <a:cs typeface="Times New Roman"/>
              </a:rPr>
              <a:t>for a </a:t>
            </a:r>
            <a:r>
              <a:rPr dirty="0" sz="1100" spc="-5">
                <a:latin typeface="Times New Roman"/>
                <a:cs typeface="Times New Roman"/>
              </a:rPr>
              <a:t>more competent communicator in </a:t>
            </a:r>
            <a:r>
              <a:rPr dirty="0" sz="1100">
                <a:latin typeface="Times New Roman"/>
                <a:cs typeface="Times New Roman"/>
              </a:rPr>
              <a:t>different </a:t>
            </a:r>
            <a:r>
              <a:rPr dirty="0" sz="1100" spc="-5">
                <a:latin typeface="Times New Roman"/>
                <a:cs typeface="Times New Roman"/>
              </a:rPr>
              <a:t>contexts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 and world 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Wide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exposure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varieties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allows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flexible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16484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Inclusion 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notion of </a:t>
            </a:r>
            <a:r>
              <a:rPr dirty="0" sz="1100" spc="-5">
                <a:latin typeface="Times New Roman"/>
                <a:cs typeface="Times New Roman"/>
              </a:rPr>
              <a:t>world Englishes in teacher education </a:t>
            </a:r>
            <a:r>
              <a:rPr dirty="0" sz="1100">
                <a:latin typeface="Times New Roman"/>
                <a:cs typeface="Times New Roman"/>
              </a:rPr>
              <a:t>programmes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126: </a:t>
            </a:r>
            <a:r>
              <a:rPr dirty="0" sz="1100" spc="-5">
                <a:latin typeface="Times New Roman"/>
                <a:cs typeface="Times New Roman"/>
              </a:rPr>
              <a:t>Nativization and Englishization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Nativization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Effective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depends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awareness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nativization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25126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Englishization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local languages in contact with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Adaptation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socio-cultural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environments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Leads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qualifying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descriptors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Indian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47345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Singaporea</a:t>
            </a:r>
            <a:r>
              <a:rPr dirty="0" sz="1100">
                <a:latin typeface="Times New Roman"/>
                <a:cs typeface="Times New Roman"/>
              </a:rPr>
              <a:t>n</a:t>
            </a:r>
            <a:r>
              <a:rPr dirty="0" sz="1100" spc="-5">
                <a:latin typeface="Times New Roman"/>
                <a:cs typeface="Times New Roman"/>
              </a:rPr>
              <a:t> English  </a:t>
            </a:r>
            <a:r>
              <a:rPr dirty="0" sz="1100" spc="-5">
                <a:latin typeface="Times New Roman"/>
                <a:cs typeface="Times New Roman"/>
              </a:rPr>
              <a:t>Englishization</a:t>
            </a:r>
            <a:endParaRPr sz="1100">
              <a:latin typeface="Times New Roman"/>
              <a:cs typeface="Times New Roman"/>
            </a:endParaRPr>
          </a:p>
          <a:p>
            <a:pPr marL="12700" marR="2095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transformation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place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non-English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exposure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Englishization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Obvious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12700" marR="19958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Levels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from pronunciation </a:t>
            </a:r>
            <a:r>
              <a:rPr dirty="0" sz="1100" spc="-5">
                <a:latin typeface="Times New Roman"/>
                <a:cs typeface="Times New Roman"/>
              </a:rPr>
              <a:t>to literary </a:t>
            </a:r>
            <a:r>
              <a:rPr dirty="0" sz="1100">
                <a:latin typeface="Times New Roman"/>
                <a:cs typeface="Times New Roman"/>
              </a:rPr>
              <a:t>genres </a:t>
            </a:r>
            <a:r>
              <a:rPr dirty="0" sz="1100" spc="-5">
                <a:latin typeface="Times New Roman"/>
                <a:cs typeface="Times New Roman"/>
              </a:rPr>
              <a:t>are affected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mixing and code switching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mixing</a:t>
            </a:r>
            <a:endParaRPr sz="1100">
              <a:latin typeface="Times New Roman"/>
              <a:cs typeface="Times New Roman"/>
            </a:endParaRPr>
          </a:p>
          <a:p>
            <a:pPr marL="12700" marR="472821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Changing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another within sentences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switching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Changing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across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larger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domains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3908425" cy="94932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switching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Amajor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world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Readily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observable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approved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monolingual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</a:t>
            </a:r>
            <a:r>
              <a:rPr dirty="0" sz="1100" spc="-5">
                <a:latin typeface="Times New Roman"/>
                <a:cs typeface="Times New Roman"/>
              </a:rPr>
              <a:t> what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prompts</a:t>
            </a:r>
            <a:r>
              <a:rPr dirty="0" sz="1100" spc="-5">
                <a:latin typeface="Times New Roman"/>
                <a:cs typeface="Times New Roman"/>
              </a:rPr>
              <a:t> code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switching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1585430"/>
            <a:ext cx="6365875" cy="4900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56895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Lesson-22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32384">
              <a:lnSpc>
                <a:spcPct val="100000"/>
              </a:lnSpc>
            </a:pPr>
            <a:r>
              <a:rPr dirty="0" sz="1400" spc="60">
                <a:latin typeface="Times New Roman"/>
                <a:cs typeface="Times New Roman"/>
              </a:rPr>
              <a:t>World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Englishes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and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40">
                <a:latin typeface="Times New Roman"/>
                <a:cs typeface="Times New Roman"/>
              </a:rPr>
              <a:t>Language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Acquisition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373189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127: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Interlanguage</a:t>
            </a:r>
            <a:endParaRPr sz="1100">
              <a:latin typeface="Times New Roman"/>
              <a:cs typeface="Times New Roman"/>
            </a:endParaRPr>
          </a:p>
          <a:p>
            <a:pPr marL="12700" marR="915669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Refers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intermediate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learner’s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moves</a:t>
            </a:r>
            <a:r>
              <a:rPr dirty="0" sz="1100">
                <a:latin typeface="Times New Roman"/>
                <a:cs typeface="Times New Roman"/>
              </a:rPr>
              <a:t> from </a:t>
            </a:r>
            <a:r>
              <a:rPr dirty="0" sz="1100" spc="-5">
                <a:latin typeface="Times New Roman"/>
                <a:cs typeface="Times New Roman"/>
              </a:rPr>
              <a:t>L1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target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L2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Interlanguage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43230" algn="l"/>
                <a:tab pos="1515110" algn="l"/>
              </a:tabLst>
            </a:pPr>
            <a:r>
              <a:rPr dirty="0" sz="1100" spc="-5">
                <a:latin typeface="Times New Roman"/>
                <a:cs typeface="Times New Roman"/>
              </a:rPr>
              <a:t>L1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100">
                <a:latin typeface="Times New Roman"/>
                <a:cs typeface="Times New Roman"/>
              </a:rPr>
              <a:t>|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.................... |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100">
                <a:latin typeface="Times New Roman"/>
                <a:cs typeface="Times New Roman"/>
              </a:rPr>
              <a:t>L2</a:t>
            </a:r>
            <a:endParaRPr sz="1100">
              <a:latin typeface="Times New Roman"/>
              <a:cs typeface="Times New Roman"/>
            </a:endParaRPr>
          </a:p>
          <a:p>
            <a:pPr marL="13843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Interlanguage</a:t>
            </a:r>
            <a:endParaRPr sz="1100">
              <a:latin typeface="Times New Roman"/>
              <a:cs typeface="Times New Roman"/>
            </a:endParaRPr>
          </a:p>
          <a:p>
            <a:pPr marL="12700" marR="33845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Interlanguage </a:t>
            </a:r>
            <a:r>
              <a:rPr dirty="0" sz="1100" spc="-5">
                <a:latin typeface="Times New Roman"/>
                <a:cs typeface="Times New Roman"/>
              </a:rPr>
              <a:t>is metaphorically </a:t>
            </a:r>
            <a:r>
              <a:rPr dirty="0" sz="1100">
                <a:latin typeface="Times New Roman"/>
                <a:cs typeface="Times New Roman"/>
              </a:rPr>
              <a:t>a halfway house between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first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(L1) </a:t>
            </a:r>
            <a:r>
              <a:rPr dirty="0" sz="1100" spc="-5">
                <a:latin typeface="Times New Roman"/>
                <a:cs typeface="Times New Roman"/>
              </a:rPr>
              <a:t>and second language</a:t>
            </a:r>
            <a:r>
              <a:rPr dirty="0" sz="1100">
                <a:latin typeface="Times New Roman"/>
                <a:cs typeface="Times New Roman"/>
              </a:rPr>
              <a:t> (L2)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Interlanguage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43230" algn="l"/>
                <a:tab pos="1515110" algn="l"/>
              </a:tabLst>
            </a:pPr>
            <a:r>
              <a:rPr dirty="0" sz="1100" spc="-5">
                <a:latin typeface="Times New Roman"/>
                <a:cs typeface="Times New Roman"/>
              </a:rPr>
              <a:t>L1</a:t>
            </a:r>
            <a:r>
              <a:rPr dirty="0" u="sng" sz="1100" spc="-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100">
                <a:latin typeface="Times New Roman"/>
                <a:cs typeface="Times New Roman"/>
              </a:rPr>
              <a:t>|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.................... |</a:t>
            </a:r>
            <a:r>
              <a:rPr dirty="0" u="sng" sz="11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1100">
                <a:latin typeface="Times New Roman"/>
                <a:cs typeface="Times New Roman"/>
              </a:rPr>
              <a:t>L2</a:t>
            </a:r>
            <a:endParaRPr sz="1100">
              <a:latin typeface="Times New Roman"/>
              <a:cs typeface="Times New Roman"/>
            </a:endParaRPr>
          </a:p>
          <a:p>
            <a:pPr marL="13843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Interlanguage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L2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gradual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L1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L2.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rules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not perfect yet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Interlanguage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Reflects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learner's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evolving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rules</a:t>
            </a:r>
            <a:endParaRPr sz="1100">
              <a:latin typeface="Times New Roman"/>
              <a:cs typeface="Times New Roman"/>
            </a:endParaRPr>
          </a:p>
          <a:p>
            <a:pPr marL="12700" marR="23844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influenced </a:t>
            </a:r>
            <a:r>
              <a:rPr dirty="0" sz="1100">
                <a:latin typeface="Times New Roman"/>
                <a:cs typeface="Times New Roman"/>
              </a:rPr>
              <a:t>both by </a:t>
            </a:r>
            <a:r>
              <a:rPr dirty="0" sz="1100" spc="-5">
                <a:latin typeface="Times New Roman"/>
                <a:cs typeface="Times New Roman"/>
              </a:rPr>
              <a:t>L1 and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input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the target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Interlanguage</a:t>
            </a:r>
            <a:endParaRPr sz="1100">
              <a:latin typeface="Times New Roman"/>
              <a:cs typeface="Times New Roman"/>
            </a:endParaRPr>
          </a:p>
          <a:p>
            <a:pPr marL="12700" marR="47307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 monolingual SLA stance considers all </a:t>
            </a:r>
            <a:r>
              <a:rPr dirty="0" sz="1100">
                <a:latin typeface="Times New Roman"/>
                <a:cs typeface="Times New Roman"/>
              </a:rPr>
              <a:t>non-native varieties of </a:t>
            </a:r>
            <a:r>
              <a:rPr dirty="0" sz="1100" spc="-5">
                <a:latin typeface="Times New Roman"/>
                <a:cs typeface="Times New Roman"/>
              </a:rPr>
              <a:t>language as </a:t>
            </a:r>
            <a:r>
              <a:rPr dirty="0" sz="1100">
                <a:latin typeface="Times New Roman"/>
                <a:cs typeface="Times New Roman"/>
              </a:rPr>
              <a:t>failed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attempts at learning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128: </a:t>
            </a:r>
            <a:r>
              <a:rPr dirty="0" sz="1100" spc="-5">
                <a:latin typeface="Times New Roman"/>
                <a:cs typeface="Times New Roman"/>
              </a:rPr>
              <a:t>World Englishes and </a:t>
            </a:r>
            <a:r>
              <a:rPr dirty="0" sz="1100">
                <a:latin typeface="Times New Roman"/>
                <a:cs typeface="Times New Roman"/>
              </a:rPr>
              <a:t>Interlanguage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Interlanguage</a:t>
            </a:r>
            <a:endParaRPr sz="1100">
              <a:latin typeface="Times New Roman"/>
              <a:cs typeface="Times New Roman"/>
            </a:endParaRPr>
          </a:p>
          <a:p>
            <a:pPr marL="12700" marR="46355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Interlanguage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concept </a:t>
            </a:r>
            <a:r>
              <a:rPr dirty="0" sz="1100">
                <a:latin typeface="Times New Roman"/>
                <a:cs typeface="Times New Roman"/>
              </a:rPr>
              <a:t>has no relevance </a:t>
            </a:r>
            <a:r>
              <a:rPr dirty="0" sz="1100" spc="-5">
                <a:latin typeface="Times New Roman"/>
                <a:cs typeface="Times New Roman"/>
              </a:rPr>
              <a:t>to stable </a:t>
            </a:r>
            <a:r>
              <a:rPr dirty="0" sz="1100">
                <a:latin typeface="Times New Roman"/>
                <a:cs typeface="Times New Roman"/>
              </a:rPr>
              <a:t>bilingual </a:t>
            </a:r>
            <a:r>
              <a:rPr dirty="0" sz="1100" spc="-5">
                <a:latin typeface="Times New Roman"/>
                <a:cs typeface="Times New Roman"/>
              </a:rPr>
              <a:t>and multilingual contexts across the world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Interlanguage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hypotheses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hypotheses: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6460196"/>
            <a:ext cx="130175" cy="39497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1.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2.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8900" y="6460196"/>
            <a:ext cx="3396615" cy="39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Varieties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are </a:t>
            </a:r>
            <a:r>
              <a:rPr dirty="0" sz="1100">
                <a:latin typeface="Times New Roman"/>
                <a:cs typeface="Times New Roman"/>
              </a:rPr>
              <a:t>fossilized forms of </a:t>
            </a:r>
            <a:r>
              <a:rPr dirty="0" sz="1100" spc="-5">
                <a:latin typeface="Times New Roman"/>
                <a:cs typeface="Times New Roman"/>
              </a:rPr>
              <a:t>standard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imperfect learning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700" y="6829588"/>
            <a:ext cx="4686300" cy="261175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Fossilization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Fossilization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inapt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world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definite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definite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constantly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evolving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Fossilization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appropriate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domains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various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outside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classroom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Receives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reinforcement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expansion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opportunities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classroom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241290" cy="1503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79145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129: </a:t>
            </a:r>
            <a:r>
              <a:rPr dirty="0" sz="1100" spc="-5">
                <a:latin typeface="Times New Roman"/>
                <a:cs typeface="Times New Roman"/>
              </a:rPr>
              <a:t>Second Language Acquisition </a:t>
            </a:r>
            <a:r>
              <a:rPr dirty="0" sz="1100">
                <a:latin typeface="Times New Roman"/>
                <a:cs typeface="Times New Roman"/>
              </a:rPr>
              <a:t>(SLA) </a:t>
            </a:r>
            <a:r>
              <a:rPr dirty="0" sz="1100" spc="-5">
                <a:latin typeface="Times New Roman"/>
                <a:cs typeface="Times New Roman"/>
              </a:rPr>
              <a:t>Theories and World 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Theory Construction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Immigrants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-5">
                <a:latin typeface="Times New Roman"/>
                <a:cs typeface="Times New Roman"/>
              </a:rPr>
              <a:t> students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universities</a:t>
            </a:r>
            <a:r>
              <a:rPr dirty="0" sz="1100" spc="-5">
                <a:latin typeface="Times New Roman"/>
                <a:cs typeface="Times New Roman"/>
              </a:rPr>
              <a:t> 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</a:t>
            </a:r>
            <a:endParaRPr sz="1100">
              <a:latin typeface="Times New Roman"/>
              <a:cs typeface="Times New Roman"/>
            </a:endParaRPr>
          </a:p>
          <a:p>
            <a:pPr marL="12700" marR="8788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Learners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 the </a:t>
            </a:r>
            <a:r>
              <a:rPr dirty="0" sz="1100">
                <a:latin typeface="Times New Roman"/>
                <a:cs typeface="Times New Roman"/>
              </a:rPr>
              <a:t>outer </a:t>
            </a:r>
            <a:r>
              <a:rPr dirty="0" sz="1100" spc="-5">
                <a:latin typeface="Times New Roman"/>
                <a:cs typeface="Times New Roman"/>
              </a:rPr>
              <a:t>and expanding circles are </a:t>
            </a:r>
            <a:r>
              <a:rPr dirty="0" sz="1100">
                <a:latin typeface="Times New Roman"/>
                <a:cs typeface="Times New Roman"/>
              </a:rPr>
              <a:t>overlooked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Theory Construction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Little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awareness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relevant</a:t>
            </a:r>
            <a:r>
              <a:rPr dirty="0" sz="1100" spc="-5">
                <a:latin typeface="Times New Roman"/>
                <a:cs typeface="Times New Roman"/>
              </a:rPr>
              <a:t> to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endParaRPr sz="1100">
              <a:latin typeface="Times New Roman"/>
              <a:cs typeface="Times New Roman"/>
            </a:endParaRPr>
          </a:p>
          <a:p>
            <a:pPr marL="12700" marR="13157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 </a:t>
            </a:r>
            <a:r>
              <a:rPr dirty="0" sz="1100">
                <a:latin typeface="Times New Roman"/>
                <a:cs typeface="Times New Roman"/>
              </a:rPr>
              <a:t>of relevance between </a:t>
            </a:r>
            <a:r>
              <a:rPr dirty="0" sz="1100" spc="-5">
                <a:latin typeface="Times New Roman"/>
                <a:cs typeface="Times New Roman"/>
              </a:rPr>
              <a:t>SLA theories and world 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Assumptions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2125014"/>
            <a:ext cx="130175" cy="57975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1.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2.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3.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8900" y="2125014"/>
            <a:ext cx="4852670" cy="579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Learning </a:t>
            </a:r>
            <a:r>
              <a:rPr dirty="0" sz="1100">
                <a:latin typeface="Times New Roman"/>
                <a:cs typeface="Times New Roman"/>
              </a:rPr>
              <a:t>goal </a:t>
            </a:r>
            <a:r>
              <a:rPr dirty="0" sz="1100" spc="-5">
                <a:latin typeface="Times New Roman"/>
                <a:cs typeface="Times New Roman"/>
              </a:rPr>
              <a:t>is to attain </a:t>
            </a:r>
            <a:r>
              <a:rPr dirty="0" sz="1100">
                <a:latin typeface="Times New Roman"/>
                <a:cs typeface="Times New Roman"/>
              </a:rPr>
              <a:t>native-like </a:t>
            </a:r>
            <a:r>
              <a:rPr dirty="0" sz="1100" spc="-5">
                <a:latin typeface="Times New Roman"/>
                <a:cs typeface="Times New Roman"/>
              </a:rPr>
              <a:t>competence to communicate with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Input</a:t>
            </a:r>
            <a:r>
              <a:rPr dirty="0" sz="1100" spc="-5">
                <a:latin typeface="Times New Roman"/>
                <a:cs typeface="Times New Roman"/>
              </a:rPr>
              <a:t> comprises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entire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5">
                <a:latin typeface="Times New Roman"/>
                <a:cs typeface="Times New Roman"/>
              </a:rPr>
              <a:t> and </a:t>
            </a:r>
            <a:r>
              <a:rPr dirty="0" sz="1100">
                <a:latin typeface="Times New Roman"/>
                <a:cs typeface="Times New Roman"/>
              </a:rPr>
              <a:t>depth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American 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Learners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ought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integrative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motivation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2679127"/>
            <a:ext cx="6149340" cy="6675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Assumptions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endParaRPr sz="1100">
              <a:latin typeface="Times New Roman"/>
              <a:cs typeface="Times New Roman"/>
            </a:endParaRPr>
          </a:p>
          <a:p>
            <a:pPr marL="151765" indent="-139700">
              <a:lnSpc>
                <a:spcPct val="100000"/>
              </a:lnSpc>
              <a:spcBef>
                <a:spcPts val="130"/>
              </a:spcBef>
              <a:buAutoNum type="arabicPeriod" startAt="4"/>
              <a:tabLst>
                <a:tab pos="152400" algn="l"/>
                <a:tab pos="1332865" algn="l"/>
              </a:tabLst>
            </a:pPr>
            <a:r>
              <a:rPr dirty="0" sz="1100" spc="-5">
                <a:latin typeface="Times New Roman"/>
                <a:cs typeface="Times New Roman"/>
              </a:rPr>
              <a:t>Primary languages	considered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negative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positive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transfer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AutoNum type="arabicPeriod" startAt="4"/>
              <a:tabLst>
                <a:tab pos="1524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>
                <a:latin typeface="Times New Roman"/>
                <a:cs typeface="Times New Roman"/>
              </a:rPr>
              <a:t> from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amount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failure</a:t>
            </a:r>
            <a:r>
              <a:rPr dirty="0" sz="1100">
                <a:latin typeface="Times New Roman"/>
                <a:cs typeface="Times New Roman"/>
              </a:rPr>
              <a:t> –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fossilization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pragmatic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failure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SLA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learners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expected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achieve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competence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L2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others</a:t>
            </a:r>
            <a:r>
              <a:rPr dirty="0" sz="1100" spc="-5">
                <a:latin typeface="Times New Roman"/>
                <a:cs typeface="Times New Roman"/>
              </a:rPr>
              <a:t> 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consigned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endParaRPr sz="1100">
              <a:latin typeface="Times New Roman"/>
              <a:cs typeface="Times New Roman"/>
            </a:endParaRPr>
          </a:p>
          <a:p>
            <a:pPr marL="12700" marR="1694814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130: </a:t>
            </a:r>
            <a:r>
              <a:rPr dirty="0" sz="1100" spc="-5">
                <a:latin typeface="Times New Roman"/>
                <a:cs typeface="Times New Roman"/>
              </a:rPr>
              <a:t>Realities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Second Language Learning in World Englishes Context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Realities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outer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 circle context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Non-native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interlocutors</a:t>
            </a:r>
            <a:endParaRPr sz="1100">
              <a:latin typeface="Times New Roman"/>
              <a:cs typeface="Times New Roman"/>
            </a:endParaRPr>
          </a:p>
          <a:p>
            <a:pPr marL="12700" marR="27952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unfavourably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Realities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outer</a:t>
            </a:r>
            <a:r>
              <a:rPr dirty="0" sz="1100" spc="-5">
                <a:latin typeface="Times New Roman"/>
                <a:cs typeface="Times New Roman"/>
              </a:rPr>
              <a:t> and circle context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Input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available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indigenized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Teachers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Materials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Realities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repertoire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</a:t>
            </a:r>
            <a:endParaRPr sz="1100">
              <a:latin typeface="Times New Roman"/>
              <a:cs typeface="Times New Roman"/>
            </a:endParaRPr>
          </a:p>
          <a:p>
            <a:pPr marL="12700" marR="385317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Irrelevance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bilingualism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Functions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unique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Serves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diglossic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administration,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higher</a:t>
            </a:r>
            <a:r>
              <a:rPr dirty="0" sz="1100" spc="-5">
                <a:latin typeface="Times New Roman"/>
                <a:cs typeface="Times New Roman"/>
              </a:rPr>
              <a:t> courts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law,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tertiary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12700" marR="24231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Overlaps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informal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131: </a:t>
            </a:r>
            <a:r>
              <a:rPr dirty="0" sz="1100" spc="-5">
                <a:latin typeface="Times New Roman"/>
                <a:cs typeface="Times New Roman"/>
              </a:rPr>
              <a:t>Acquisition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 Outer and Expanding Circles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Inapplicability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world 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Gap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classical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paradigm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 circle</a:t>
            </a:r>
            <a:endParaRPr sz="1100">
              <a:latin typeface="Times New Roman"/>
              <a:cs typeface="Times New Roman"/>
            </a:endParaRPr>
          </a:p>
          <a:p>
            <a:pPr marL="12700" marR="14122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Inapplicability of </a:t>
            </a:r>
            <a:r>
              <a:rPr dirty="0" sz="1100" spc="-5">
                <a:latin typeface="Times New Roman"/>
                <a:cs typeface="Times New Roman"/>
              </a:rPr>
              <a:t>SLA concepts and methods to the world Englishes context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expanding circle contexts</a:t>
            </a:r>
            <a:endParaRPr sz="1100">
              <a:latin typeface="Times New Roman"/>
              <a:cs typeface="Times New Roman"/>
            </a:endParaRPr>
          </a:p>
          <a:p>
            <a:pPr marL="4699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Multilingual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Include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domains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levels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Multilinguals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deficient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Employ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mixing</a:t>
            </a:r>
            <a:endParaRPr sz="1100">
              <a:latin typeface="Times New Roman"/>
              <a:cs typeface="Times New Roman"/>
            </a:endParaRPr>
          </a:p>
          <a:p>
            <a:pPr marL="12700" marR="411797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Outer and expanding circle contexts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input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Bilingual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90640" cy="879411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Teachers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31324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Indigenized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versions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expanding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 contexts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input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Creativity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internet</a:t>
            </a:r>
            <a:endParaRPr sz="1100">
              <a:latin typeface="Times New Roman"/>
              <a:cs typeface="Times New Roman"/>
            </a:endParaRPr>
          </a:p>
          <a:p>
            <a:pPr marL="12700" marR="20110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Indigenized varieties rather </a:t>
            </a:r>
            <a:r>
              <a:rPr dirty="0" sz="1100" spc="-5">
                <a:latin typeface="Times New Roman"/>
                <a:cs typeface="Times New Roman"/>
              </a:rPr>
              <a:t>than an international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universal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expanding circle contexts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Irrelevance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target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native-like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endParaRPr sz="1100">
              <a:latin typeface="Times New Roman"/>
              <a:cs typeface="Times New Roman"/>
            </a:endParaRPr>
          </a:p>
          <a:p>
            <a:pPr marL="12700" marR="14173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Inappropriacy of fossilization </a:t>
            </a:r>
            <a:r>
              <a:rPr dirty="0" sz="1100" spc="-5">
                <a:latin typeface="Times New Roman"/>
                <a:cs typeface="Times New Roman"/>
              </a:rPr>
              <a:t>and interlanguage </a:t>
            </a:r>
            <a:r>
              <a:rPr dirty="0" sz="1100">
                <a:latin typeface="Times New Roman"/>
                <a:cs typeface="Times New Roman"/>
              </a:rPr>
              <a:t>for researching </a:t>
            </a:r>
            <a:r>
              <a:rPr dirty="0" sz="1100" spc="-5">
                <a:latin typeface="Times New Roman"/>
                <a:cs typeface="Times New Roman"/>
              </a:rPr>
              <a:t>world 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expanding circle contexts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Irrelevance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Indigenized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rather</a:t>
            </a:r>
            <a:r>
              <a:rPr dirty="0" sz="1100" spc="-5">
                <a:latin typeface="Times New Roman"/>
                <a:cs typeface="Times New Roman"/>
              </a:rPr>
              <a:t> 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universal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12700" marR="39236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Cannot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compared to creolization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primary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Positive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Innovations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help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target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2563495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Help in acculturation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target language to local context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132: </a:t>
            </a:r>
            <a:r>
              <a:rPr dirty="0" sz="1100" spc="-5">
                <a:latin typeface="Times New Roman"/>
                <a:cs typeface="Times New Roman"/>
              </a:rPr>
              <a:t>Acquisition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 Outer and Expanding Circles </a:t>
            </a:r>
            <a:r>
              <a:rPr dirty="0" sz="1100">
                <a:latin typeface="Times New Roman"/>
                <a:cs typeface="Times New Roman"/>
              </a:rPr>
              <a:t> Integrating</a:t>
            </a:r>
            <a:r>
              <a:rPr dirty="0" sz="1100" spc="-5">
                <a:latin typeface="Times New Roman"/>
                <a:cs typeface="Times New Roman"/>
              </a:rPr>
              <a:t> world Englishes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 SLA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paradigm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Theory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Multilingualism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Functions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language(s)</a:t>
            </a:r>
            <a:endParaRPr sz="1100">
              <a:latin typeface="Times New Roman"/>
              <a:cs typeface="Times New Roman"/>
            </a:endParaRPr>
          </a:p>
          <a:p>
            <a:pPr marL="12700" marR="32048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Creative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potential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human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behaviour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 scenario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scholars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Inclusion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‘indigenized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typology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perspectives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endParaRPr sz="1100">
              <a:latin typeface="Times New Roman"/>
              <a:cs typeface="Times New Roman"/>
            </a:endParaRPr>
          </a:p>
          <a:p>
            <a:pPr marL="12700" marR="21437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Acceptability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stable </a:t>
            </a:r>
            <a:r>
              <a:rPr dirty="0" sz="1100">
                <a:latin typeface="Times New Roman"/>
                <a:cs typeface="Times New Roman"/>
              </a:rPr>
              <a:t>variations rather </a:t>
            </a:r>
            <a:r>
              <a:rPr dirty="0" sz="1100" spc="-5">
                <a:latin typeface="Times New Roman"/>
                <a:cs typeface="Times New Roman"/>
              </a:rPr>
              <a:t>than treating them as errors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 scenario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tolerant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accepting</a:t>
            </a:r>
            <a:endParaRPr sz="1100">
              <a:latin typeface="Times New Roman"/>
              <a:cs typeface="Times New Roman"/>
            </a:endParaRPr>
          </a:p>
          <a:p>
            <a:pPr marL="12700" marR="28784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 to increase </a:t>
            </a:r>
            <a:r>
              <a:rPr dirty="0" sz="1100">
                <a:latin typeface="Times New Roman"/>
                <a:cs typeface="Times New Roman"/>
              </a:rPr>
              <a:t>familiarity </a:t>
            </a:r>
            <a:r>
              <a:rPr dirty="0" sz="1100" spc="-5">
                <a:latin typeface="Times New Roman"/>
                <a:cs typeface="Times New Roman"/>
              </a:rPr>
              <a:t>with international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 scenario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IVEs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SLA’s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limitations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regards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offering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explanations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regard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outer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r" marR="581025">
              <a:lnSpc>
                <a:spcPct val="100000"/>
              </a:lnSpc>
            </a:pPr>
            <a:r>
              <a:rPr dirty="0" sz="1400" spc="10">
                <a:latin typeface="Times New Roman"/>
                <a:cs typeface="Times New Roman"/>
              </a:rPr>
              <a:t>Lesson-23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121920">
              <a:lnSpc>
                <a:spcPct val="100000"/>
              </a:lnSpc>
            </a:pPr>
            <a:r>
              <a:rPr dirty="0" sz="1400" spc="15">
                <a:latin typeface="Times New Roman"/>
                <a:cs typeface="Times New Roman"/>
              </a:rPr>
              <a:t>Bilingualism,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35">
                <a:latin typeface="Times New Roman"/>
                <a:cs typeface="Times New Roman"/>
              </a:rPr>
              <a:t>Code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Mixing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and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35">
                <a:latin typeface="Times New Roman"/>
                <a:cs typeface="Times New Roman"/>
              </a:rPr>
              <a:t>Code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Switching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133: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switching</a:t>
            </a:r>
            <a:endParaRPr sz="1100">
              <a:latin typeface="Times New Roman"/>
              <a:cs typeface="Times New Roman"/>
            </a:endParaRPr>
          </a:p>
          <a:p>
            <a:pPr marL="12700" marR="82867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Code switching is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well-recognized </a:t>
            </a:r>
            <a:r>
              <a:rPr dirty="0" sz="1100">
                <a:latin typeface="Times New Roman"/>
                <a:cs typeface="Times New Roman"/>
              </a:rPr>
              <a:t>phenomenon </a:t>
            </a:r>
            <a:r>
              <a:rPr dirty="0" sz="1100" spc="-5">
                <a:latin typeface="Times New Roman"/>
                <a:cs typeface="Times New Roman"/>
              </a:rPr>
              <a:t>in the speech </a:t>
            </a:r>
            <a:r>
              <a:rPr dirty="0" sz="1100">
                <a:latin typeface="Times New Roman"/>
                <a:cs typeface="Times New Roman"/>
              </a:rPr>
              <a:t>of bilingual or </a:t>
            </a:r>
            <a:r>
              <a:rPr dirty="0" sz="1100" spc="-5">
                <a:latin typeface="Times New Roman"/>
                <a:cs typeface="Times New Roman"/>
              </a:rPr>
              <a:t>multilingual </a:t>
            </a:r>
            <a:r>
              <a:rPr dirty="0" sz="1100">
                <a:latin typeface="Times New Roman"/>
                <a:cs typeface="Times New Roman"/>
              </a:rPr>
              <a:t>people.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Multilingualism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321300" cy="2426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81025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use of </a:t>
            </a:r>
            <a:r>
              <a:rPr dirty="0" sz="1100" spc="-5">
                <a:latin typeface="Times New Roman"/>
                <a:cs typeface="Times New Roman"/>
              </a:rPr>
              <a:t>two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more languages </a:t>
            </a:r>
            <a:r>
              <a:rPr dirty="0" sz="1100">
                <a:latin typeface="Times New Roman"/>
                <a:cs typeface="Times New Roman"/>
              </a:rPr>
              <a:t>by a </a:t>
            </a:r>
            <a:r>
              <a:rPr dirty="0" sz="1100" spc="-5">
                <a:latin typeface="Times New Roman"/>
                <a:cs typeface="Times New Roman"/>
              </a:rPr>
              <a:t>single individual </a:t>
            </a:r>
            <a:r>
              <a:rPr dirty="0" sz="1100">
                <a:latin typeface="Times New Roman"/>
                <a:cs typeface="Times New Roman"/>
              </a:rPr>
              <a:t>or a </a:t>
            </a:r>
            <a:r>
              <a:rPr dirty="0" sz="1100" spc="-5">
                <a:latin typeface="Times New Roman"/>
                <a:cs typeface="Times New Roman"/>
              </a:rPr>
              <a:t>community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More than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half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world’s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population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</a:t>
            </a:r>
            <a:endParaRPr sz="1100">
              <a:latin typeface="Times New Roman"/>
              <a:cs typeface="Times New Roman"/>
            </a:endParaRPr>
          </a:p>
          <a:p>
            <a:pPr marL="12700" marR="33528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Engages in code switching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switching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alternation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languages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utterances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practice of </a:t>
            </a:r>
            <a:r>
              <a:rPr dirty="0" sz="1100" spc="-5">
                <a:latin typeface="Times New Roman"/>
                <a:cs typeface="Times New Roman"/>
              </a:rPr>
              <a:t>moving </a:t>
            </a:r>
            <a:r>
              <a:rPr dirty="0" sz="1100">
                <a:latin typeface="Times New Roman"/>
                <a:cs typeface="Times New Roman"/>
              </a:rPr>
              <a:t>back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forth between </a:t>
            </a:r>
            <a:r>
              <a:rPr dirty="0" sz="1100" spc="-5">
                <a:latin typeface="Times New Roman"/>
                <a:cs typeface="Times New Roman"/>
              </a:rPr>
              <a:t>two languages </a:t>
            </a:r>
            <a:r>
              <a:rPr dirty="0" sz="1100">
                <a:latin typeface="Times New Roman"/>
                <a:cs typeface="Times New Roman"/>
              </a:rPr>
              <a:t>or between </a:t>
            </a:r>
            <a:r>
              <a:rPr dirty="0" sz="1100" spc="-5">
                <a:latin typeface="Times New Roman"/>
                <a:cs typeface="Times New Roman"/>
              </a:rPr>
              <a:t>two </a:t>
            </a:r>
            <a:r>
              <a:rPr dirty="0" sz="1100">
                <a:latin typeface="Times New Roman"/>
                <a:cs typeface="Times New Roman"/>
              </a:rPr>
              <a:t>dialects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switching</a:t>
            </a:r>
            <a:endParaRPr sz="1100">
              <a:latin typeface="Times New Roman"/>
              <a:cs typeface="Times New Roman"/>
            </a:endParaRPr>
          </a:p>
          <a:p>
            <a:pPr marL="12700" marR="5270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Alternation </a:t>
            </a:r>
            <a:r>
              <a:rPr dirty="0" sz="1100">
                <a:latin typeface="Times New Roman"/>
                <a:cs typeface="Times New Roman"/>
              </a:rPr>
              <a:t>between varieties or </a:t>
            </a:r>
            <a:r>
              <a:rPr dirty="0" sz="1100" spc="-5">
                <a:latin typeface="Times New Roman"/>
                <a:cs typeface="Times New Roman"/>
              </a:rPr>
              <a:t>codes, across sentences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clause </a:t>
            </a:r>
            <a:r>
              <a:rPr dirty="0" sz="1100">
                <a:latin typeface="Times New Roman"/>
                <a:cs typeface="Times New Roman"/>
              </a:rPr>
              <a:t>boundaries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mixing</a:t>
            </a:r>
            <a:endParaRPr sz="1100">
              <a:latin typeface="Times New Roman"/>
              <a:cs typeface="Times New Roman"/>
            </a:endParaRPr>
          </a:p>
          <a:p>
            <a:pPr marL="12700" marR="9804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Alternations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or varieties </a:t>
            </a:r>
            <a:r>
              <a:rPr dirty="0" sz="1100" spc="-5">
                <a:latin typeface="Times New Roman"/>
                <a:cs typeface="Times New Roman"/>
              </a:rPr>
              <a:t>within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clause </a:t>
            </a:r>
            <a:r>
              <a:rPr dirty="0" sz="1100">
                <a:latin typeface="Times New Roman"/>
                <a:cs typeface="Times New Roman"/>
              </a:rPr>
              <a:t>or phrase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3435025"/>
            <a:ext cx="723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-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3048531"/>
            <a:ext cx="5805805" cy="579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5080" indent="-457200">
              <a:lnSpc>
                <a:spcPct val="1102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-	</a:t>
            </a:r>
            <a:r>
              <a:rPr dirty="0" sz="1100" spc="-5">
                <a:latin typeface="Times New Roman"/>
                <a:cs typeface="Times New Roman"/>
              </a:rPr>
              <a:t>Kio </a:t>
            </a:r>
            <a:r>
              <a:rPr dirty="0" sz="1100">
                <a:latin typeface="Times New Roman"/>
                <a:cs typeface="Times New Roman"/>
              </a:rPr>
              <a:t>ke </a:t>
            </a:r>
            <a:r>
              <a:rPr dirty="0" sz="1100" spc="-5">
                <a:latin typeface="Times New Roman"/>
                <a:cs typeface="Times New Roman"/>
              </a:rPr>
              <a:t>six seven </a:t>
            </a:r>
            <a:r>
              <a:rPr dirty="0" sz="1100">
                <a:latin typeface="Times New Roman"/>
                <a:cs typeface="Times New Roman"/>
              </a:rPr>
              <a:t>hours </a:t>
            </a:r>
            <a:r>
              <a:rPr dirty="0" sz="1100" spc="-5">
                <a:latin typeface="Times New Roman"/>
                <a:cs typeface="Times New Roman"/>
              </a:rPr>
              <a:t>te school </a:t>
            </a:r>
            <a:r>
              <a:rPr dirty="0" sz="1100">
                <a:latin typeface="Times New Roman"/>
                <a:cs typeface="Times New Roman"/>
              </a:rPr>
              <a:t>de vich </a:t>
            </a:r>
            <a:r>
              <a:rPr dirty="0" sz="1100" spc="-5">
                <a:latin typeface="Times New Roman"/>
                <a:cs typeface="Times New Roman"/>
              </a:rPr>
              <a:t>spend </a:t>
            </a:r>
            <a:r>
              <a:rPr dirty="0" sz="1100">
                <a:latin typeface="Times New Roman"/>
                <a:cs typeface="Times New Roman"/>
              </a:rPr>
              <a:t>karde ne, </a:t>
            </a:r>
            <a:r>
              <a:rPr dirty="0" sz="1100" spc="-5">
                <a:latin typeface="Times New Roman"/>
                <a:cs typeface="Times New Roman"/>
              </a:rPr>
              <a:t>they are speaking English all the time.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(Punjabi/English)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aqua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please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(Have</a:t>
            </a:r>
            <a:r>
              <a:rPr dirty="0" sz="1100" spc="-5">
                <a:latin typeface="Times New Roman"/>
                <a:cs typeface="Times New Roman"/>
              </a:rPr>
              <a:t> water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please).</a:t>
            </a:r>
            <a:r>
              <a:rPr dirty="0" sz="1100" spc="3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(Spanish/English)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3602671"/>
            <a:ext cx="6315075" cy="5751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42290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Cod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switching 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Why</a:t>
            </a:r>
            <a:r>
              <a:rPr dirty="0" sz="1100">
                <a:latin typeface="Times New Roman"/>
                <a:cs typeface="Times New Roman"/>
              </a:rPr>
              <a:t> don’t</a:t>
            </a:r>
            <a:r>
              <a:rPr dirty="0" sz="1100" spc="-5">
                <a:latin typeface="Times New Roman"/>
                <a:cs typeface="Times New Roman"/>
              </a:rPr>
              <a:t> we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 </a:t>
            </a:r>
            <a:r>
              <a:rPr dirty="0" sz="1100">
                <a:latin typeface="Times New Roman"/>
                <a:cs typeface="Times New Roman"/>
              </a:rPr>
              <a:t>go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together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 Delhi?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N1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kishaddiki shopping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bhi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jayegi</a:t>
            </a:r>
            <a:endParaRPr sz="1100">
              <a:latin typeface="Times New Roman"/>
              <a:cs typeface="Times New Roman"/>
            </a:endParaRPr>
          </a:p>
          <a:p>
            <a:pPr marL="12700" marR="1757045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Very soon, </a:t>
            </a:r>
            <a:r>
              <a:rPr dirty="0" sz="1100">
                <a:latin typeface="Times New Roman"/>
                <a:cs typeface="Times New Roman"/>
              </a:rPr>
              <a:t>I </a:t>
            </a:r>
            <a:r>
              <a:rPr dirty="0" sz="1100" spc="-5">
                <a:latin typeface="Times New Roman"/>
                <a:cs typeface="Times New Roman"/>
              </a:rPr>
              <a:t>will </a:t>
            </a:r>
            <a:r>
              <a:rPr dirty="0" sz="1100">
                <a:latin typeface="Times New Roman"/>
                <a:cs typeface="Times New Roman"/>
              </a:rPr>
              <a:t>be a big </a:t>
            </a:r>
            <a:r>
              <a:rPr dirty="0" sz="1100" spc="-5">
                <a:latin typeface="Times New Roman"/>
                <a:cs typeface="Times New Roman"/>
              </a:rPr>
              <a:t>star in Bollywood; main </a:t>
            </a:r>
            <a:r>
              <a:rPr dirty="0" sz="1100">
                <a:latin typeface="Times New Roman"/>
                <a:cs typeface="Times New Roman"/>
              </a:rPr>
              <a:t>naumeednahinhougni.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134: </a:t>
            </a:r>
            <a:r>
              <a:rPr dirty="0" sz="1100" spc="-5">
                <a:latin typeface="Times New Roman"/>
                <a:cs typeface="Times New Roman"/>
              </a:rPr>
              <a:t>Phenomenon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Mixing</a:t>
            </a:r>
            <a:endParaRPr sz="1100">
              <a:latin typeface="Times New Roman"/>
              <a:cs typeface="Times New Roman"/>
            </a:endParaRPr>
          </a:p>
          <a:p>
            <a:pPr marL="12700" marR="357632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intentional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unintentional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prompts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code-mixing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natural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unconscious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</a:t>
            </a:r>
            <a:endParaRPr sz="1100">
              <a:latin typeface="Times New Roman"/>
              <a:cs typeface="Times New Roman"/>
            </a:endParaRPr>
          </a:p>
          <a:p>
            <a:pPr marL="12700" marR="47529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apparent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reason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 marR="1815464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They are </a:t>
            </a:r>
            <a:r>
              <a:rPr dirty="0" sz="1100">
                <a:latin typeface="Times New Roman"/>
                <a:cs typeface="Times New Roman"/>
              </a:rPr>
              <a:t>planning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go </a:t>
            </a:r>
            <a:r>
              <a:rPr dirty="0" sz="1100" spc="-5">
                <a:latin typeface="Times New Roman"/>
                <a:cs typeface="Times New Roman"/>
              </a:rPr>
              <a:t>to Hardwar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Monday. </a:t>
            </a:r>
            <a:r>
              <a:rPr dirty="0" sz="1100">
                <a:latin typeface="Times New Roman"/>
                <a:cs typeface="Times New Roman"/>
              </a:rPr>
              <a:t>I </a:t>
            </a:r>
            <a:r>
              <a:rPr dirty="0" sz="1100" spc="-5">
                <a:latin typeface="Times New Roman"/>
                <a:cs typeface="Times New Roman"/>
              </a:rPr>
              <a:t>will tell </a:t>
            </a:r>
            <a:r>
              <a:rPr dirty="0" sz="1100">
                <a:latin typeface="Times New Roman"/>
                <a:cs typeface="Times New Roman"/>
              </a:rPr>
              <a:t>you pucca </a:t>
            </a:r>
            <a:r>
              <a:rPr dirty="0" sz="1100" spc="-5">
                <a:latin typeface="Times New Roman"/>
                <a:cs typeface="Times New Roman"/>
              </a:rPr>
              <a:t>tomorrow.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necessitates </a:t>
            </a:r>
            <a:r>
              <a:rPr dirty="0" sz="1100" spc="-5">
                <a:latin typeface="Times New Roman"/>
                <a:cs typeface="Times New Roman"/>
              </a:rPr>
              <a:t>code mixing</a:t>
            </a:r>
            <a:endParaRPr sz="1100">
              <a:latin typeface="Times New Roman"/>
              <a:cs typeface="Times New Roman"/>
            </a:endParaRPr>
          </a:p>
          <a:p>
            <a:pPr marL="12700" marR="30988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Representation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cultural elements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situation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absolutely </a:t>
            </a:r>
            <a:r>
              <a:rPr dirty="0" sz="1100">
                <a:latin typeface="Times New Roman"/>
                <a:cs typeface="Times New Roman"/>
              </a:rPr>
              <a:t>free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any </a:t>
            </a:r>
            <a:r>
              <a:rPr dirty="0" sz="1100">
                <a:latin typeface="Times New Roman"/>
                <a:cs typeface="Times New Roman"/>
              </a:rPr>
              <a:t>obligation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endParaRPr sz="1100">
              <a:latin typeface="Times New Roman"/>
              <a:cs typeface="Times New Roman"/>
            </a:endParaRPr>
          </a:p>
          <a:p>
            <a:pPr marL="12700" marR="353822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anyone </a:t>
            </a:r>
            <a:r>
              <a:rPr dirty="0" sz="1100">
                <a:latin typeface="Times New Roman"/>
                <a:cs typeface="Times New Roman"/>
              </a:rPr>
              <a:t>— no one </a:t>
            </a:r>
            <a:r>
              <a:rPr dirty="0" sz="1100" spc="-5">
                <a:latin typeface="Times New Roman"/>
                <a:cs typeface="Times New Roman"/>
              </a:rPr>
              <a:t>had the time to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sewa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her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prompts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Participant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relationships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Situational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Message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intrinsic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Interjections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quotations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borrowing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Borrowing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r>
              <a:rPr dirty="0" sz="1100" spc="-5">
                <a:latin typeface="Times New Roman"/>
                <a:cs typeface="Times New Roman"/>
              </a:rPr>
              <a:t> to </a:t>
            </a:r>
            <a:r>
              <a:rPr dirty="0" sz="1100">
                <a:latin typeface="Times New Roman"/>
                <a:cs typeface="Times New Roman"/>
              </a:rPr>
              <a:t>provide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necessary</a:t>
            </a:r>
            <a:r>
              <a:rPr dirty="0" sz="1100" spc="-5">
                <a:latin typeface="Times New Roman"/>
                <a:cs typeface="Times New Roman"/>
              </a:rPr>
              <a:t> elements 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exist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primary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endParaRPr sz="1100">
              <a:latin typeface="Times New Roman"/>
              <a:cs typeface="Times New Roman"/>
            </a:endParaRPr>
          </a:p>
          <a:p>
            <a:pPr marL="12700" marR="11677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bilingual </a:t>
            </a:r>
            <a:r>
              <a:rPr dirty="0" sz="1100" spc="-5">
                <a:latin typeface="Times New Roman"/>
                <a:cs typeface="Times New Roman"/>
              </a:rPr>
              <a:t>speaker lacks the exact word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concept </a:t>
            </a:r>
            <a:r>
              <a:rPr dirty="0" sz="1100">
                <a:latin typeface="Times New Roman"/>
                <a:cs typeface="Times New Roman"/>
              </a:rPr>
              <a:t>he or </a:t>
            </a:r>
            <a:r>
              <a:rPr dirty="0" sz="1100" spc="-5">
                <a:latin typeface="Times New Roman"/>
                <a:cs typeface="Times New Roman"/>
              </a:rPr>
              <a:t>she wants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express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mixing and </a:t>
            </a:r>
            <a:r>
              <a:rPr dirty="0" sz="1100">
                <a:latin typeface="Times New Roman"/>
                <a:cs typeface="Times New Roman"/>
              </a:rPr>
              <a:t>borrowing</a:t>
            </a:r>
            <a:endParaRPr sz="1100">
              <a:latin typeface="Times New Roman"/>
              <a:cs typeface="Times New Roman"/>
            </a:endParaRPr>
          </a:p>
          <a:p>
            <a:pPr marL="12700" marR="267462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Phonological and morphological assimilation</a:t>
            </a:r>
            <a:r>
              <a:rPr dirty="0" sz="1100">
                <a:latin typeface="Times New Roman"/>
                <a:cs typeface="Times New Roman"/>
              </a:rPr>
              <a:t> of borrowed </a:t>
            </a:r>
            <a:r>
              <a:rPr dirty="0" sz="1100" spc="-5">
                <a:latin typeface="Times New Roman"/>
                <a:cs typeface="Times New Roman"/>
              </a:rPr>
              <a:t>items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12700" marR="546354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Frappé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frapp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tam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72225" cy="870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611495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Cod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Mixing 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Meraypaas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nahinhai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chutney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please?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samosa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tea.</a:t>
            </a:r>
            <a:endParaRPr sz="1100">
              <a:latin typeface="Times New Roman"/>
              <a:cs typeface="Times New Roman"/>
            </a:endParaRPr>
          </a:p>
          <a:p>
            <a:pPr marL="12700" marR="400685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135: </a:t>
            </a:r>
            <a:r>
              <a:rPr dirty="0" sz="1100" spc="-5">
                <a:latin typeface="Times New Roman"/>
                <a:cs typeface="Times New Roman"/>
              </a:rPr>
              <a:t>Pragmatics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Code Switching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Constraints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code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switching</a:t>
            </a:r>
            <a:endParaRPr sz="1100">
              <a:latin typeface="Times New Roman"/>
              <a:cs typeface="Times New Roman"/>
            </a:endParaRPr>
          </a:p>
          <a:p>
            <a:pPr marL="12700" marR="466788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Free morpheme constraint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Equivalence constraint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Constraints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switching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(or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element)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word.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unbound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free-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endParaRPr sz="1100">
              <a:latin typeface="Times New Roman"/>
              <a:cs typeface="Times New Roman"/>
            </a:endParaRPr>
          </a:p>
          <a:p>
            <a:pPr marL="12700" marR="54730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Fre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morpheme 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now.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Eat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Want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Boun</a:t>
            </a:r>
            <a:r>
              <a:rPr dirty="0" sz="1100">
                <a:latin typeface="Times New Roman"/>
                <a:cs typeface="Times New Roman"/>
              </a:rPr>
              <a:t>d</a:t>
            </a:r>
            <a:r>
              <a:rPr dirty="0" sz="1100" spc="-5">
                <a:latin typeface="Times New Roman"/>
                <a:cs typeface="Times New Roman"/>
              </a:rPr>
              <a:t> morpheme</a:t>
            </a:r>
            <a:endParaRPr sz="1100">
              <a:latin typeface="Times New Roman"/>
              <a:cs typeface="Times New Roman"/>
            </a:endParaRPr>
          </a:p>
          <a:p>
            <a:pPr marL="12700" marR="145732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word element that cannot stand alone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word, including </a:t>
            </a:r>
            <a:r>
              <a:rPr dirty="0" sz="1100">
                <a:latin typeface="Times New Roman"/>
                <a:cs typeface="Times New Roman"/>
              </a:rPr>
              <a:t>both prefixes </a:t>
            </a:r>
            <a:r>
              <a:rPr dirty="0" sz="1100" spc="-5">
                <a:latin typeface="Times New Roman"/>
                <a:cs typeface="Times New Roman"/>
              </a:rPr>
              <a:t>and suffixes.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Bound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endParaRPr sz="1100">
              <a:latin typeface="Times New Roman"/>
              <a:cs typeface="Times New Roman"/>
            </a:endParaRPr>
          </a:p>
          <a:p>
            <a:pPr marL="12700" marR="11303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Attaching </a:t>
            </a:r>
            <a:r>
              <a:rPr dirty="0" sz="1100">
                <a:latin typeface="Times New Roman"/>
                <a:cs typeface="Times New Roman"/>
              </a:rPr>
              <a:t>a bound </a:t>
            </a:r>
            <a:r>
              <a:rPr dirty="0" sz="1100" spc="-5">
                <a:latin typeface="Times New Roman"/>
                <a:cs typeface="Times New Roman"/>
              </a:rPr>
              <a:t>morpheme to </a:t>
            </a:r>
            <a:r>
              <a:rPr dirty="0" sz="1100">
                <a:latin typeface="Times New Roman"/>
                <a:cs typeface="Times New Roman"/>
              </a:rPr>
              <a:t>a free </a:t>
            </a:r>
            <a:r>
              <a:rPr dirty="0" sz="1100" spc="-5">
                <a:latin typeface="Times New Roman"/>
                <a:cs typeface="Times New Roman"/>
              </a:rPr>
              <a:t>morpheme creates </a:t>
            </a:r>
            <a:r>
              <a:rPr dirty="0" sz="1100">
                <a:latin typeface="Times New Roman"/>
                <a:cs typeface="Times New Roman"/>
              </a:rPr>
              <a:t>a new </a:t>
            </a:r>
            <a:r>
              <a:rPr dirty="0" sz="1100" spc="-5">
                <a:latin typeface="Times New Roman"/>
                <a:cs typeface="Times New Roman"/>
              </a:rPr>
              <a:t>word </a:t>
            </a:r>
            <a:r>
              <a:rPr dirty="0" sz="1100">
                <a:latin typeface="Times New Roman"/>
                <a:cs typeface="Times New Roman"/>
              </a:rPr>
              <a:t>or new form of a </a:t>
            </a:r>
            <a:r>
              <a:rPr dirty="0" sz="1100" spc="-5">
                <a:latin typeface="Times New Roman"/>
                <a:cs typeface="Times New Roman"/>
              </a:rPr>
              <a:t>word.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 marR="535686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start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restart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rejoin</a:t>
            </a:r>
            <a:endParaRPr sz="1100">
              <a:latin typeface="Times New Roman"/>
              <a:cs typeface="Times New Roman"/>
            </a:endParaRPr>
          </a:p>
          <a:p>
            <a:pPr marL="12700" marR="466788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dis + </a:t>
            </a:r>
            <a:r>
              <a:rPr dirty="0" sz="1100" spc="-5">
                <a:latin typeface="Times New Roman"/>
                <a:cs typeface="Times New Roman"/>
              </a:rPr>
              <a:t>content </a:t>
            </a:r>
            <a:r>
              <a:rPr dirty="0" sz="1100">
                <a:latin typeface="Times New Roman"/>
                <a:cs typeface="Times New Roman"/>
              </a:rPr>
              <a:t>= discontent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Constraints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switching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constraint</a:t>
            </a:r>
            <a:endParaRPr sz="1100">
              <a:latin typeface="Times New Roman"/>
              <a:cs typeface="Times New Roman"/>
            </a:endParaRPr>
          </a:p>
          <a:p>
            <a:pPr marL="12700" marR="97790" indent="349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An intra-sentential switch may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made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any </a:t>
            </a:r>
            <a:r>
              <a:rPr dirty="0" sz="1100">
                <a:latin typeface="Times New Roman"/>
                <a:cs typeface="Times New Roman"/>
              </a:rPr>
              <a:t>bilingual </a:t>
            </a:r>
            <a:r>
              <a:rPr dirty="0" sz="1100" spc="-5">
                <a:latin typeface="Times New Roman"/>
                <a:cs typeface="Times New Roman"/>
              </a:rPr>
              <a:t>speaker </a:t>
            </a:r>
            <a:r>
              <a:rPr dirty="0" sz="1100">
                <a:latin typeface="Times New Roman"/>
                <a:cs typeface="Times New Roman"/>
              </a:rPr>
              <a:t>only </a:t>
            </a:r>
            <a:r>
              <a:rPr dirty="0" sz="1100" spc="-5">
                <a:latin typeface="Times New Roman"/>
                <a:cs typeface="Times New Roman"/>
              </a:rPr>
              <a:t>if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constituent is </a:t>
            </a:r>
            <a:r>
              <a:rPr dirty="0" sz="1100">
                <a:latin typeface="Times New Roman"/>
                <a:cs typeface="Times New Roman"/>
              </a:rPr>
              <a:t>not a bound </a:t>
            </a:r>
            <a:r>
              <a:rPr dirty="0" sz="1100" spc="-5">
                <a:latin typeface="Times New Roman"/>
                <a:cs typeface="Times New Roman"/>
              </a:rPr>
              <a:t>morpheme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Constraints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code switching</a:t>
            </a:r>
            <a:endParaRPr sz="1100">
              <a:latin typeface="Times New Roman"/>
              <a:cs typeface="Times New Roman"/>
            </a:endParaRPr>
          </a:p>
          <a:p>
            <a:pPr marL="12700" marR="488823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Free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constraint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 marR="3519804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Idherhum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shop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(free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morpheme)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haintou </a:t>
            </a:r>
            <a:r>
              <a:rPr dirty="0" sz="1100">
                <a:latin typeface="Times New Roman"/>
                <a:cs typeface="Times New Roman"/>
              </a:rPr>
              <a:t>…</a:t>
            </a:r>
            <a:endParaRPr sz="1100">
              <a:latin typeface="Times New Roman"/>
              <a:cs typeface="Times New Roman"/>
            </a:endParaRPr>
          </a:p>
          <a:p>
            <a:pPr marL="12700" marR="4629785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dimagh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nature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khamoshdilawezyon </a:t>
            </a:r>
            <a:r>
              <a:rPr dirty="0" sz="1100" spc="-5">
                <a:latin typeface="Times New Roman"/>
                <a:cs typeface="Times New Roman"/>
              </a:rPr>
              <a:t>say </a:t>
            </a:r>
            <a:r>
              <a:rPr dirty="0" sz="1100">
                <a:latin typeface="Times New Roman"/>
                <a:cs typeface="Times New Roman"/>
              </a:rPr>
              <a:t> halkyhalkylutfandozhon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gey</a:t>
            </a:r>
            <a:endParaRPr sz="1100">
              <a:latin typeface="Times New Roman"/>
              <a:cs typeface="Times New Roman"/>
            </a:endParaRPr>
          </a:p>
          <a:p>
            <a:pPr marL="12700" marR="466788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Constraints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switching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Free morpheme constraint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Hamaray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ball-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roomoonaurclubonkakya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ga?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(oon-Urdu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bound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e.gkitaboon-room-English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Boxonkiziyadtibtarahethikehsafrkiaadatnahin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2065" cy="870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marR="4763135" indent="-457200">
              <a:lnSpc>
                <a:spcPct val="1102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-	</a:t>
            </a:r>
            <a:r>
              <a:rPr dirty="0" sz="1100" spc="-5">
                <a:latin typeface="Times New Roman"/>
                <a:cs typeface="Times New Roman"/>
              </a:rPr>
              <a:t>Singaporea</a:t>
            </a:r>
            <a:r>
              <a:rPr dirty="0" sz="1100">
                <a:latin typeface="Times New Roman"/>
                <a:cs typeface="Times New Roman"/>
              </a:rPr>
              <a:t>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kuning  </a:t>
            </a:r>
            <a:r>
              <a:rPr dirty="0" sz="1100" spc="-5">
                <a:latin typeface="Times New Roman"/>
                <a:cs typeface="Times New Roman"/>
              </a:rPr>
              <a:t>Hokkein: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kun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+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kunning</a:t>
            </a:r>
            <a:endParaRPr sz="1100">
              <a:latin typeface="Times New Roman"/>
              <a:cs typeface="Times New Roman"/>
            </a:endParaRPr>
          </a:p>
          <a:p>
            <a:pPr marL="12700" marR="399669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136: </a:t>
            </a:r>
            <a:r>
              <a:rPr dirty="0" sz="1100" spc="-5">
                <a:latin typeface="Times New Roman"/>
                <a:cs typeface="Times New Roman"/>
              </a:rPr>
              <a:t>Pragmatics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Code Switching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Constraints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code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switching</a:t>
            </a:r>
            <a:endParaRPr sz="1100">
              <a:latin typeface="Times New Roman"/>
              <a:cs typeface="Times New Roman"/>
            </a:endParaRPr>
          </a:p>
          <a:p>
            <a:pPr marL="12700" marR="170878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Free morpheme constraint </a:t>
            </a:r>
            <a:r>
              <a:rPr dirty="0" sz="1100">
                <a:latin typeface="Times New Roman"/>
                <a:cs typeface="Times New Roman"/>
              </a:rPr>
              <a:t>(switching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>
                <a:latin typeface="Times New Roman"/>
                <a:cs typeface="Times New Roman"/>
              </a:rPr>
              <a:t>possible only </a:t>
            </a:r>
            <a:r>
              <a:rPr dirty="0" sz="1100" spc="-5">
                <a:latin typeface="Times New Roman"/>
                <a:cs typeface="Times New Roman"/>
              </a:rPr>
              <a:t>if we </a:t>
            </a:r>
            <a:r>
              <a:rPr dirty="0" sz="1100">
                <a:latin typeface="Times New Roman"/>
                <a:cs typeface="Times New Roman"/>
              </a:rPr>
              <a:t>have a free </a:t>
            </a:r>
            <a:r>
              <a:rPr dirty="0" sz="1100" spc="-5">
                <a:latin typeface="Times New Roman"/>
                <a:cs typeface="Times New Roman"/>
              </a:rPr>
              <a:t>morpheme)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Equivalence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constraint </a:t>
            </a:r>
            <a:r>
              <a:rPr dirty="0" sz="1100">
                <a:latin typeface="Times New Roman"/>
                <a:cs typeface="Times New Roman"/>
              </a:rPr>
              <a:t>(if grammars</a:t>
            </a:r>
            <a:r>
              <a:rPr dirty="0" sz="1100" spc="-5">
                <a:latin typeface="Times New Roman"/>
                <a:cs typeface="Times New Roman"/>
              </a:rPr>
              <a:t> coincide)</a:t>
            </a:r>
            <a:endParaRPr sz="1100">
              <a:latin typeface="Times New Roman"/>
              <a:cs typeface="Times New Roman"/>
            </a:endParaRPr>
          </a:p>
          <a:p>
            <a:pPr marL="12700" marR="46577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Constraints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switching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Equivalence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constraint</a:t>
            </a:r>
            <a:endParaRPr sz="1100">
              <a:latin typeface="Times New Roman"/>
              <a:cs typeface="Times New Roman"/>
            </a:endParaRPr>
          </a:p>
          <a:p>
            <a:pPr marL="12700" marR="635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switching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occurs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point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surface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coincide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 </a:t>
            </a:r>
            <a:r>
              <a:rPr dirty="0" sz="1100" spc="-5">
                <a:latin typeface="Times New Roman"/>
                <a:cs typeface="Times New Roman"/>
              </a:rPr>
              <a:t>the same word </a:t>
            </a:r>
            <a:r>
              <a:rPr dirty="0" sz="1100">
                <a:latin typeface="Times New Roman"/>
                <a:cs typeface="Times New Roman"/>
              </a:rPr>
              <a:t>order or </a:t>
            </a:r>
            <a:r>
              <a:rPr dirty="0" sz="1100" spc="-5">
                <a:latin typeface="Times New Roman"/>
                <a:cs typeface="Times New Roman"/>
              </a:rPr>
              <a:t>constituents.</a:t>
            </a:r>
            <a:endParaRPr sz="1100">
              <a:latin typeface="Times New Roman"/>
              <a:cs typeface="Times New Roman"/>
            </a:endParaRPr>
          </a:p>
          <a:p>
            <a:pPr marL="12700" marR="46577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Constraints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switching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Equivalence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constraint</a:t>
            </a:r>
            <a:endParaRPr sz="1100">
              <a:latin typeface="Times New Roman"/>
              <a:cs typeface="Times New Roman"/>
            </a:endParaRPr>
          </a:p>
          <a:p>
            <a:pPr marL="12700" marR="1079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switches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allowed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constituents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order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sentence structure.</a:t>
            </a:r>
            <a:endParaRPr sz="1100">
              <a:latin typeface="Times New Roman"/>
              <a:cs typeface="Times New Roman"/>
            </a:endParaRPr>
          </a:p>
          <a:p>
            <a:pPr marL="12700" marR="46577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Constraints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switching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Equivalence constraint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Switches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occur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only: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0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points</a:t>
            </a:r>
            <a:r>
              <a:rPr dirty="0" sz="1100" spc="-5">
                <a:latin typeface="Times New Roman"/>
                <a:cs typeface="Times New Roman"/>
              </a:rPr>
              <a:t> where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surface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coincide,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endParaRPr sz="1100">
              <a:latin typeface="Times New Roman"/>
              <a:cs typeface="Times New Roman"/>
            </a:endParaRPr>
          </a:p>
          <a:p>
            <a:pPr marL="12700" marR="3632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Between sentence elements that are </a:t>
            </a:r>
            <a:r>
              <a:rPr dirty="0" sz="1100">
                <a:latin typeface="Times New Roman"/>
                <a:cs typeface="Times New Roman"/>
              </a:rPr>
              <a:t>normally ordered </a:t>
            </a:r>
            <a:r>
              <a:rPr dirty="0" sz="1100" spc="-5">
                <a:latin typeface="Times New Roman"/>
                <a:cs typeface="Times New Roman"/>
              </a:rPr>
              <a:t>in the same way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each individual </a:t>
            </a:r>
            <a:r>
              <a:rPr dirty="0" sz="1100">
                <a:latin typeface="Times New Roman"/>
                <a:cs typeface="Times New Roman"/>
              </a:rPr>
              <a:t>grammar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Equivalence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constraint</a:t>
            </a:r>
            <a:endParaRPr sz="1100">
              <a:latin typeface="Times New Roman"/>
              <a:cs typeface="Times New Roman"/>
            </a:endParaRPr>
          </a:p>
          <a:p>
            <a:pPr marL="4699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 marR="5081270">
              <a:lnSpc>
                <a:spcPct val="110200"/>
              </a:lnSpc>
              <a:tabLst>
                <a:tab pos="469265" algn="l"/>
              </a:tabLst>
            </a:pPr>
            <a:r>
              <a:rPr dirty="0" sz="1100" spc="-5">
                <a:latin typeface="Times New Roman"/>
                <a:cs typeface="Times New Roman"/>
              </a:rPr>
              <a:t>Casa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blanca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Spanish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	A</a:t>
            </a:r>
            <a:endParaRPr sz="1100">
              <a:latin typeface="Times New Roman"/>
              <a:cs typeface="Times New Roman"/>
            </a:endParaRPr>
          </a:p>
          <a:p>
            <a:pPr marL="12700" marR="5066030">
              <a:lnSpc>
                <a:spcPct val="110200"/>
              </a:lnSpc>
              <a:tabLst>
                <a:tab pos="469265" algn="l"/>
              </a:tabLst>
            </a:pPr>
            <a:r>
              <a:rPr dirty="0" sz="1100" spc="-5">
                <a:latin typeface="Times New Roman"/>
                <a:cs typeface="Times New Roman"/>
              </a:rPr>
              <a:t>White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house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	N</a:t>
            </a:r>
            <a:endParaRPr sz="1100">
              <a:latin typeface="Times New Roman"/>
              <a:cs typeface="Times New Roman"/>
            </a:endParaRPr>
          </a:p>
          <a:p>
            <a:pPr marL="12700" marR="5415280">
              <a:lnSpc>
                <a:spcPct val="110200"/>
              </a:lnSpc>
              <a:tabLst>
                <a:tab pos="837565" algn="l"/>
              </a:tabLst>
            </a:pPr>
            <a:r>
              <a:rPr dirty="0" sz="1100" spc="-5">
                <a:latin typeface="Times New Roman"/>
                <a:cs typeface="Times New Roman"/>
              </a:rPr>
              <a:t>Blanca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house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X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whit</a:t>
            </a:r>
            <a:r>
              <a:rPr dirty="0" sz="1100">
                <a:latin typeface="Times New Roman"/>
                <a:cs typeface="Times New Roman"/>
              </a:rPr>
              <a:t>e	X</a:t>
            </a:r>
            <a:endParaRPr sz="1100">
              <a:latin typeface="Times New Roman"/>
              <a:cs typeface="Times New Roman"/>
            </a:endParaRPr>
          </a:p>
          <a:p>
            <a:pPr marL="46990" marR="5069205" indent="-349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Equivalenc</a:t>
            </a:r>
            <a:r>
              <a:rPr dirty="0" sz="1100">
                <a:latin typeface="Times New Roman"/>
                <a:cs typeface="Times New Roman"/>
              </a:rPr>
              <a:t>e</a:t>
            </a:r>
            <a:r>
              <a:rPr dirty="0" sz="1100" spc="-5">
                <a:latin typeface="Times New Roman"/>
                <a:cs typeface="Times New Roman"/>
              </a:rPr>
              <a:t> constraint 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 marR="461327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porqueeressimpático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nice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Constraints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code switching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 marR="474472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Jamil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gave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eklarakiiko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John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book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girl</a:t>
            </a:r>
            <a:endParaRPr sz="1100">
              <a:latin typeface="Times New Roman"/>
              <a:cs typeface="Times New Roman"/>
            </a:endParaRPr>
          </a:p>
          <a:p>
            <a:pPr marL="12700" marR="303911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137: </a:t>
            </a:r>
            <a:r>
              <a:rPr dirty="0" sz="1100" spc="-5">
                <a:latin typeface="Times New Roman"/>
                <a:cs typeface="Times New Roman"/>
              </a:rPr>
              <a:t>Code Switching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Communicative Strategy-I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  <a:p>
            <a:pPr marL="12700" marR="18084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Quotations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occur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original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Addressee specification </a:t>
            </a:r>
            <a:r>
              <a:rPr dirty="0" sz="1100">
                <a:latin typeface="Times New Roman"/>
                <a:cs typeface="Times New Roman"/>
              </a:rPr>
              <a:t>directs </a:t>
            </a:r>
            <a:r>
              <a:rPr dirty="0" sz="1100" spc="-5">
                <a:latin typeface="Times New Roman"/>
                <a:cs typeface="Times New Roman"/>
              </a:rPr>
              <a:t>the message to </a:t>
            </a:r>
            <a:r>
              <a:rPr dirty="0" sz="1100">
                <a:latin typeface="Times New Roman"/>
                <a:cs typeface="Times New Roman"/>
              </a:rPr>
              <a:t>one of </a:t>
            </a:r>
            <a:r>
              <a:rPr dirty="0" sz="1100" spc="-5">
                <a:latin typeface="Times New Roman"/>
                <a:cs typeface="Times New Roman"/>
              </a:rPr>
              <a:t>several </a:t>
            </a:r>
            <a:r>
              <a:rPr dirty="0" sz="1100">
                <a:latin typeface="Times New Roman"/>
                <a:cs typeface="Times New Roman"/>
              </a:rPr>
              <a:t>possible </a:t>
            </a:r>
            <a:r>
              <a:rPr dirty="0" sz="1100" spc="-5">
                <a:latin typeface="Times New Roman"/>
                <a:cs typeface="Times New Roman"/>
              </a:rPr>
              <a:t>addressees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  <a:p>
            <a:pPr marL="12700" marR="31877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Interjections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numerous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frequently used particles </a:t>
            </a:r>
            <a:r>
              <a:rPr dirty="0" sz="1100" spc="-5">
                <a:latin typeface="Times New Roman"/>
                <a:cs typeface="Times New Roman"/>
              </a:rPr>
              <a:t>which </a:t>
            </a:r>
            <a:r>
              <a:rPr dirty="0" sz="1100">
                <a:latin typeface="Times New Roman"/>
                <a:cs typeface="Times New Roman"/>
              </a:rPr>
              <a:t>occur no </a:t>
            </a:r>
            <a:r>
              <a:rPr dirty="0" sz="1100" spc="-5">
                <a:latin typeface="Times New Roman"/>
                <a:cs typeface="Times New Roman"/>
              </a:rPr>
              <a:t>matter which language is </a:t>
            </a:r>
            <a:r>
              <a:rPr dirty="0" sz="1100">
                <a:latin typeface="Times New Roman"/>
                <a:cs typeface="Times New Roman"/>
              </a:rPr>
              <a:t>dominant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Reiteration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clarifies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amplifies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emphasizes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Personalization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versus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Objectivization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degree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involvement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distance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365875" cy="923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 marR="528320">
              <a:lnSpc>
                <a:spcPct val="110200"/>
              </a:lnSpc>
              <a:spcBef>
                <a:spcPts val="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Textualization cue </a:t>
            </a:r>
            <a:r>
              <a:rPr dirty="0" sz="1100">
                <a:latin typeface="Times New Roman"/>
                <a:cs typeface="Times New Roman"/>
              </a:rPr>
              <a:t>gives hints </a:t>
            </a:r>
            <a:r>
              <a:rPr dirty="0" sz="1100" spc="-5">
                <a:latin typeface="Times New Roman"/>
                <a:cs typeface="Times New Roman"/>
              </a:rPr>
              <a:t>to the listeners about the interpretation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upcoming discourse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138: </a:t>
            </a:r>
            <a:r>
              <a:rPr dirty="0" sz="1100" spc="-5">
                <a:latin typeface="Times New Roman"/>
                <a:cs typeface="Times New Roman"/>
              </a:rPr>
              <a:t>Code Switching as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 Strategy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Pragmatic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codes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Politeness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Face-saving</a:t>
            </a:r>
            <a:endParaRPr sz="1100">
              <a:latin typeface="Times New Roman"/>
              <a:cs typeface="Times New Roman"/>
            </a:endParaRPr>
          </a:p>
          <a:p>
            <a:pPr marL="12700" marR="29857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decreasing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distance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interlocutors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code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Colourfulness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Expressiveness</a:t>
            </a:r>
            <a:endParaRPr sz="1100">
              <a:latin typeface="Times New Roman"/>
              <a:cs typeface="Times New Roman"/>
            </a:endParaRPr>
          </a:p>
          <a:p>
            <a:pPr marL="12700" marR="45389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Economy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Considerations in code selection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Expressiveness</a:t>
            </a:r>
            <a:endParaRPr sz="1100">
              <a:latin typeface="Times New Roman"/>
              <a:cs typeface="Times New Roman"/>
            </a:endParaRPr>
          </a:p>
          <a:p>
            <a:pPr marL="12700" marR="1891664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Two languages exploited in </a:t>
            </a:r>
            <a:r>
              <a:rPr dirty="0" sz="1100">
                <a:latin typeface="Times New Roman"/>
                <a:cs typeface="Times New Roman"/>
              </a:rPr>
              <a:t>popular </a:t>
            </a:r>
            <a:r>
              <a:rPr dirty="0" sz="1100" spc="-5">
                <a:latin typeface="Times New Roman"/>
                <a:cs typeface="Times New Roman"/>
              </a:rPr>
              <a:t>media such as </a:t>
            </a:r>
            <a:r>
              <a:rPr dirty="0" sz="1100">
                <a:latin typeface="Times New Roman"/>
                <a:cs typeface="Times New Roman"/>
              </a:rPr>
              <a:t>newspapers, </a:t>
            </a:r>
            <a:r>
              <a:rPr dirty="0" sz="1100" spc="-5">
                <a:latin typeface="Times New Roman"/>
                <a:cs typeface="Times New Roman"/>
              </a:rPr>
              <a:t>songs and </a:t>
            </a:r>
            <a:r>
              <a:rPr dirty="0" sz="1100">
                <a:latin typeface="Times New Roman"/>
                <a:cs typeface="Times New Roman"/>
              </a:rPr>
              <a:t>films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code selection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Expressiveness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Pepsi: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‘Yehdil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more’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doctorskee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</a:t>
            </a:r>
            <a:endParaRPr sz="1100">
              <a:latin typeface="Times New Roman"/>
              <a:cs typeface="Times New Roman"/>
            </a:endParaRPr>
          </a:p>
          <a:p>
            <a:pPr marL="12700" marR="2658110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Shampoo: Three months mein long,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waiting saal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saal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code selection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Colourfulness</a:t>
            </a:r>
            <a:endParaRPr sz="1100">
              <a:latin typeface="Times New Roman"/>
              <a:cs typeface="Times New Roman"/>
            </a:endParaRPr>
          </a:p>
          <a:p>
            <a:pPr marL="12700" marR="4540885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mobile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Kerunkya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endParaRPr sz="1100">
              <a:latin typeface="Times New Roman"/>
              <a:cs typeface="Times New Roman"/>
            </a:endParaRPr>
          </a:p>
          <a:p>
            <a:pPr marL="12700" marR="4880610" indent="34925">
              <a:lnSpc>
                <a:spcPct val="110200"/>
              </a:lnSpc>
              <a:buChar char="-"/>
              <a:tabLst>
                <a:tab pos="199390" algn="l"/>
              </a:tabLst>
            </a:pPr>
            <a:r>
              <a:rPr dirty="0" sz="1100" spc="-5">
                <a:latin typeface="Times New Roman"/>
                <a:cs typeface="Times New Roman"/>
              </a:rPr>
              <a:t>Lovely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gaiyannaam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tera</a:t>
            </a:r>
            <a:endParaRPr sz="1100">
              <a:latin typeface="Times New Roman"/>
              <a:cs typeface="Times New Roman"/>
            </a:endParaRPr>
          </a:p>
          <a:p>
            <a:pPr marL="12700" marR="4793615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Pretty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woman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dekhodkho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pretty</a:t>
            </a:r>
            <a:r>
              <a:rPr dirty="0" sz="1100" spc="-5">
                <a:latin typeface="Times New Roman"/>
                <a:cs typeface="Times New Roman"/>
              </a:rPr>
              <a:t> woman</a:t>
            </a:r>
            <a:endParaRPr sz="1100">
              <a:latin typeface="Times New Roman"/>
              <a:cs typeface="Times New Roman"/>
            </a:endParaRPr>
          </a:p>
          <a:p>
            <a:pPr marL="12700" marR="45389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Considerations in code selection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Replacing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phrase</a:t>
            </a:r>
            <a:r>
              <a:rPr dirty="0" sz="1100" spc="-5">
                <a:latin typeface="Times New Roman"/>
                <a:cs typeface="Times New Roman"/>
              </a:rPr>
              <a:t> 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equivalent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r" marR="556895">
              <a:lnSpc>
                <a:spcPct val="100000"/>
              </a:lnSpc>
            </a:pPr>
            <a:r>
              <a:rPr dirty="0" sz="1400" spc="10">
                <a:latin typeface="Times New Roman"/>
                <a:cs typeface="Times New Roman"/>
              </a:rPr>
              <a:t>Lesson-24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140335">
              <a:lnSpc>
                <a:spcPct val="100000"/>
              </a:lnSpc>
            </a:pPr>
            <a:r>
              <a:rPr dirty="0" sz="1400" spc="20">
                <a:latin typeface="Times New Roman"/>
                <a:cs typeface="Times New Roman"/>
              </a:rPr>
              <a:t>Colonial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40">
                <a:latin typeface="Times New Roman"/>
                <a:cs typeface="Times New Roman"/>
              </a:rPr>
              <a:t>Language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5">
                <a:latin typeface="Times New Roman"/>
                <a:cs typeface="Times New Roman"/>
              </a:rPr>
              <a:t>Policy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2724150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139: </a:t>
            </a:r>
            <a:r>
              <a:rPr dirty="0" sz="1100" spc="-5">
                <a:latin typeface="Times New Roman"/>
                <a:cs typeface="Times New Roman"/>
              </a:rPr>
              <a:t>Language Planning and Policy and Spread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Planning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“Deliberate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efforts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behavior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respect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acquisition,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structure,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allocation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codes”</a:t>
            </a:r>
            <a:endParaRPr sz="1100">
              <a:latin typeface="Times New Roman"/>
              <a:cs typeface="Times New Roman"/>
            </a:endParaRPr>
          </a:p>
          <a:p>
            <a:pPr marL="12700" marR="434721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Cooper cited in Brutt-Griffler, </a:t>
            </a:r>
            <a:r>
              <a:rPr dirty="0" sz="1100">
                <a:latin typeface="Times New Roman"/>
                <a:cs typeface="Times New Roman"/>
              </a:rPr>
              <a:t>2002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down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12700" marR="4826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Formulated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authorities </a:t>
            </a:r>
            <a:r>
              <a:rPr dirty="0" sz="1100">
                <a:latin typeface="Times New Roman"/>
                <a:cs typeface="Times New Roman"/>
              </a:rPr>
              <a:t>(governments, </a:t>
            </a:r>
            <a:r>
              <a:rPr dirty="0" sz="1100" spc="-5">
                <a:latin typeface="Times New Roman"/>
                <a:cs typeface="Times New Roman"/>
              </a:rPr>
              <a:t>commissions etc.) and imposed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speech communities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down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conceived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unidirectional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Instruments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</a:t>
            </a:r>
            <a:endParaRPr sz="1100">
              <a:latin typeface="Times New Roman"/>
              <a:cs typeface="Times New Roman"/>
            </a:endParaRPr>
          </a:p>
          <a:p>
            <a:pPr marL="12700" marR="30245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Tools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achievement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ideological </a:t>
            </a:r>
            <a:r>
              <a:rPr dirty="0" sz="1100">
                <a:latin typeface="Times New Roman"/>
                <a:cs typeface="Times New Roman"/>
              </a:rPr>
              <a:t>objectives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356985" cy="9148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 marR="53340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Takes </a:t>
            </a:r>
            <a:r>
              <a:rPr dirty="0" sz="1100">
                <a:latin typeface="Times New Roman"/>
                <a:cs typeface="Times New Roman"/>
              </a:rPr>
              <a:t>for granted </a:t>
            </a:r>
            <a:r>
              <a:rPr dirty="0" sz="1100" spc="-5">
                <a:latin typeface="Times New Roman"/>
                <a:cs typeface="Times New Roman"/>
              </a:rPr>
              <a:t>that the colonizing </a:t>
            </a:r>
            <a:r>
              <a:rPr dirty="0" sz="1100">
                <a:latin typeface="Times New Roman"/>
                <a:cs typeface="Times New Roman"/>
              </a:rPr>
              <a:t>nation possesses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power </a:t>
            </a:r>
            <a:r>
              <a:rPr dirty="0" sz="1100" spc="-5">
                <a:latin typeface="Times New Roman"/>
                <a:cs typeface="Times New Roman"/>
              </a:rPr>
              <a:t>to impose its will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subjugated </a:t>
            </a:r>
            <a:r>
              <a:rPr dirty="0" sz="1100">
                <a:latin typeface="Times New Roman"/>
                <a:cs typeface="Times New Roman"/>
              </a:rPr>
              <a:t>population.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Bottom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contributors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shaping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Codetermine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12700" marR="31235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Seize the initiative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the institutional </a:t>
            </a:r>
            <a:r>
              <a:rPr dirty="0" sz="1100">
                <a:latin typeface="Times New Roman"/>
                <a:cs typeface="Times New Roman"/>
              </a:rPr>
              <a:t>planners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Bottom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unilateral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endParaRPr sz="1100">
              <a:latin typeface="Times New Roman"/>
              <a:cs typeface="Times New Roman"/>
            </a:endParaRPr>
          </a:p>
          <a:p>
            <a:pPr marL="12700" marR="25952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Policy is an </a:t>
            </a:r>
            <a:r>
              <a:rPr dirty="0" sz="1100">
                <a:latin typeface="Times New Roman"/>
                <a:cs typeface="Times New Roman"/>
              </a:rPr>
              <a:t>outcome of </a:t>
            </a:r>
            <a:r>
              <a:rPr dirty="0" sz="1100" spc="-5">
                <a:latin typeface="Times New Roman"/>
                <a:cs typeface="Times New Roman"/>
              </a:rPr>
              <a:t>interplay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conflicting aims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 and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Conventional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notions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planning</a:t>
            </a:r>
            <a:r>
              <a:rPr dirty="0" sz="1100" spc="-5">
                <a:latin typeface="Times New Roman"/>
                <a:cs typeface="Times New Roman"/>
              </a:rPr>
              <a:t> lack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perspective</a:t>
            </a:r>
            <a:endParaRPr sz="1100">
              <a:latin typeface="Times New Roman"/>
              <a:cs typeface="Times New Roman"/>
            </a:endParaRPr>
          </a:p>
          <a:p>
            <a:pPr marL="12700" marR="1487170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Global spread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is attributed to the West and its imperialistic </a:t>
            </a:r>
            <a:r>
              <a:rPr dirty="0" sz="1100">
                <a:latin typeface="Times New Roman"/>
                <a:cs typeface="Times New Roman"/>
              </a:rPr>
              <a:t>policies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140: </a:t>
            </a:r>
            <a:r>
              <a:rPr dirty="0" sz="1100" spc="-5">
                <a:latin typeface="Times New Roman"/>
                <a:cs typeface="Times New Roman"/>
              </a:rPr>
              <a:t>Colonial Language Policy-I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Lasting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Subjugation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 colonized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ideological control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colonizers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 after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freedom</a:t>
            </a:r>
            <a:endParaRPr sz="1100">
              <a:latin typeface="Times New Roman"/>
              <a:cs typeface="Times New Roman"/>
            </a:endParaRPr>
          </a:p>
          <a:p>
            <a:pPr marL="12700" marR="30956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>
                <a:latin typeface="Times New Roman"/>
                <a:cs typeface="Times New Roman"/>
              </a:rPr>
              <a:t> rests </a:t>
            </a:r>
            <a:r>
              <a:rPr dirty="0" sz="1100" spc="-5">
                <a:latin typeface="Times New Roman"/>
                <a:cs typeface="Times New Roman"/>
              </a:rPr>
              <a:t>with those exercising imperial </a:t>
            </a:r>
            <a:r>
              <a:rPr dirty="0" sz="1100">
                <a:latin typeface="Times New Roman"/>
                <a:cs typeface="Times New Roman"/>
              </a:rPr>
              <a:t>power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speech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planning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height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modern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colonialism</a:t>
            </a:r>
            <a:endParaRPr sz="1100">
              <a:latin typeface="Times New Roman"/>
              <a:cs typeface="Times New Roman"/>
            </a:endParaRPr>
          </a:p>
          <a:p>
            <a:pPr marL="12700" marR="4972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Exclusion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aspect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indigenous self </a:t>
            </a:r>
            <a:r>
              <a:rPr dirty="0" sz="1100">
                <a:latin typeface="Times New Roman"/>
                <a:cs typeface="Times New Roman"/>
              </a:rPr>
              <a:t>determination by </a:t>
            </a:r>
            <a:r>
              <a:rPr dirty="0" sz="1100" spc="-5">
                <a:latin typeface="Times New Roman"/>
                <a:cs typeface="Times New Roman"/>
              </a:rPr>
              <a:t>top </a:t>
            </a:r>
            <a:r>
              <a:rPr dirty="0" sz="1100">
                <a:latin typeface="Times New Roman"/>
                <a:cs typeface="Times New Roman"/>
              </a:rPr>
              <a:t>down </a:t>
            </a:r>
            <a:r>
              <a:rPr dirty="0" sz="1100" spc="-5">
                <a:latin typeface="Times New Roman"/>
                <a:cs typeface="Times New Roman"/>
              </a:rPr>
              <a:t>models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policy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12700" marR="17881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Role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indigenous </a:t>
            </a:r>
            <a:r>
              <a:rPr dirty="0" sz="1100">
                <a:latin typeface="Times New Roman"/>
                <a:cs typeface="Times New Roman"/>
              </a:rPr>
              <a:t>population </a:t>
            </a:r>
            <a:r>
              <a:rPr dirty="0" sz="1100" spc="-5">
                <a:latin typeface="Times New Roman"/>
                <a:cs typeface="Times New Roman"/>
              </a:rPr>
              <a:t>in the </a:t>
            </a:r>
            <a:r>
              <a:rPr dirty="0" sz="1100">
                <a:latin typeface="Times New Roman"/>
                <a:cs typeface="Times New Roman"/>
              </a:rPr>
              <a:t>development of </a:t>
            </a:r>
            <a:r>
              <a:rPr dirty="0" sz="1100" spc="-5">
                <a:latin typeface="Times New Roman"/>
                <a:cs typeface="Times New Roman"/>
              </a:rPr>
              <a:t>world 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anticolonialism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Imperial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unidirectional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a response </a:t>
            </a:r>
            <a:r>
              <a:rPr dirty="0" sz="1100" spc="-5">
                <a:latin typeface="Times New Roman"/>
                <a:cs typeface="Times New Roman"/>
              </a:rPr>
              <a:t>to the actions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local </a:t>
            </a:r>
            <a:r>
              <a:rPr dirty="0" sz="1100">
                <a:latin typeface="Times New Roman"/>
                <a:cs typeface="Times New Roman"/>
              </a:rPr>
              <a:t>populations </a:t>
            </a:r>
            <a:r>
              <a:rPr dirty="0" sz="1100" spc="-5">
                <a:latin typeface="Times New Roman"/>
                <a:cs typeface="Times New Roman"/>
              </a:rPr>
              <a:t>who made </a:t>
            </a:r>
            <a:r>
              <a:rPr dirty="0" sz="1100">
                <a:latin typeface="Times New Roman"/>
                <a:cs typeface="Times New Roman"/>
              </a:rPr>
              <a:t>demands on </a:t>
            </a:r>
            <a:r>
              <a:rPr dirty="0" sz="1100" spc="-5">
                <a:latin typeface="Times New Roman"/>
                <a:cs typeface="Times New Roman"/>
              </a:rPr>
              <a:t>the colonial administration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anticolonialism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anticolonial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struggle</a:t>
            </a:r>
            <a:endParaRPr sz="1100">
              <a:latin typeface="Times New Roman"/>
              <a:cs typeface="Times New Roman"/>
            </a:endParaRPr>
          </a:p>
          <a:p>
            <a:pPr marL="12700" marR="25209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Spread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as </a:t>
            </a:r>
            <a:r>
              <a:rPr dirty="0" sz="1100">
                <a:latin typeface="Times New Roman"/>
                <a:cs typeface="Times New Roman"/>
              </a:rPr>
              <a:t>a result of </a:t>
            </a:r>
            <a:r>
              <a:rPr dirty="0" sz="1100" spc="-5">
                <a:latin typeface="Times New Roman"/>
                <a:cs typeface="Times New Roman"/>
              </a:rPr>
              <a:t>struggle against imperialism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anticolonialism</a:t>
            </a:r>
            <a:endParaRPr sz="1100">
              <a:latin typeface="Times New Roman"/>
              <a:cs typeface="Times New Roman"/>
            </a:endParaRPr>
          </a:p>
          <a:p>
            <a:pPr marL="12700" marR="104584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Containment </a:t>
            </a:r>
            <a:r>
              <a:rPr dirty="0" sz="1100">
                <a:latin typeface="Times New Roman"/>
                <a:cs typeface="Times New Roman"/>
              </a:rPr>
              <a:t>policy - a response </a:t>
            </a:r>
            <a:r>
              <a:rPr dirty="0" sz="1100" spc="-5">
                <a:latin typeface="Times New Roman"/>
                <a:cs typeface="Times New Roman"/>
              </a:rPr>
              <a:t>to the inclusion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to the anticolonial struggle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141: </a:t>
            </a:r>
            <a:r>
              <a:rPr dirty="0" sz="1100" spc="-5">
                <a:latin typeface="Times New Roman"/>
                <a:cs typeface="Times New Roman"/>
              </a:rPr>
              <a:t>Colonial Language Policy-II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Aim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maintain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rule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Fulfill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purpose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colonies</a:t>
            </a:r>
            <a:endParaRPr sz="1100">
              <a:latin typeface="Times New Roman"/>
              <a:cs typeface="Times New Roman"/>
            </a:endParaRPr>
          </a:p>
          <a:p>
            <a:pPr marL="12700" marR="375157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Avoidance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disruption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empire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Anticolonial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Emergence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large-scale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anticolonial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movements</a:t>
            </a:r>
            <a:endParaRPr sz="1100">
              <a:latin typeface="Times New Roman"/>
              <a:cs typeface="Times New Roman"/>
            </a:endParaRPr>
          </a:p>
          <a:p>
            <a:pPr marL="12700" marR="36671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Well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organized,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aggressive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Anticolonial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Educational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5">
                <a:latin typeface="Times New Roman"/>
                <a:cs typeface="Times New Roman"/>
              </a:rPr>
              <a:t>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stopping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anticolonial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</a:t>
            </a:r>
            <a:endParaRPr sz="1100">
              <a:latin typeface="Times New Roman"/>
              <a:cs typeface="Times New Roman"/>
            </a:endParaRPr>
          </a:p>
          <a:p>
            <a:pPr marL="12700" marR="23495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policy </a:t>
            </a:r>
            <a:r>
              <a:rPr dirty="0" sz="1100" spc="-5">
                <a:latin typeface="Times New Roman"/>
                <a:cs typeface="Times New Roman"/>
              </a:rPr>
              <a:t>and the maintenance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empire </a:t>
            </a:r>
            <a:r>
              <a:rPr dirty="0" sz="1100">
                <a:latin typeface="Times New Roman"/>
                <a:cs typeface="Times New Roman"/>
              </a:rPr>
              <a:t>became </a:t>
            </a:r>
            <a:r>
              <a:rPr dirty="0" sz="1100" spc="-5">
                <a:latin typeface="Times New Roman"/>
                <a:cs typeface="Times New Roman"/>
              </a:rPr>
              <a:t>linked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anticolonial movements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exploitation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resistance</a:t>
            </a:r>
            <a:endParaRPr sz="1100">
              <a:latin typeface="Times New Roman"/>
              <a:cs typeface="Times New Roman"/>
            </a:endParaRPr>
          </a:p>
          <a:p>
            <a:pPr marL="12700" marR="12490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Empowerment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indigenous </a:t>
            </a:r>
            <a:r>
              <a:rPr dirty="0" sz="1100">
                <a:latin typeface="Times New Roman"/>
                <a:cs typeface="Times New Roman"/>
              </a:rPr>
              <a:t>populations by </a:t>
            </a:r>
            <a:r>
              <a:rPr dirty="0" sz="1100" spc="-5">
                <a:latin typeface="Times New Roman"/>
                <a:cs typeface="Times New Roman"/>
              </a:rPr>
              <a:t>learning English to </a:t>
            </a:r>
            <a:r>
              <a:rPr dirty="0" sz="1100">
                <a:latin typeface="Times New Roman"/>
                <a:cs typeface="Times New Roman"/>
              </a:rPr>
              <a:t>oppose </a:t>
            </a:r>
            <a:r>
              <a:rPr dirty="0" sz="1100" spc="-5">
                <a:latin typeface="Times New Roman"/>
                <a:cs typeface="Times New Roman"/>
              </a:rPr>
              <a:t>the empire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language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anticolonial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instrument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liberation</a:t>
            </a:r>
            <a:endParaRPr sz="1100">
              <a:latin typeface="Times New Roman"/>
              <a:cs typeface="Times New Roman"/>
            </a:endParaRPr>
          </a:p>
          <a:p>
            <a:pPr marL="12700" marR="41719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Societal acquisition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Imperial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safeguard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agenda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857365" cy="563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spcBef>
                <a:spcPts val="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safety measure to </a:t>
            </a:r>
            <a:r>
              <a:rPr dirty="0" sz="1100">
                <a:latin typeface="Times New Roman"/>
                <a:cs typeface="Times New Roman"/>
              </a:rPr>
              <a:t>prevent </a:t>
            </a:r>
            <a:r>
              <a:rPr dirty="0" sz="1100" spc="-5">
                <a:latin typeface="Times New Roman"/>
                <a:cs typeface="Times New Roman"/>
              </a:rPr>
              <a:t>liberation movements </a:t>
            </a:r>
            <a:r>
              <a:rPr dirty="0" sz="1100">
                <a:latin typeface="Times New Roman"/>
                <a:cs typeface="Times New Roman"/>
              </a:rPr>
              <a:t>from using </a:t>
            </a:r>
            <a:r>
              <a:rPr dirty="0" sz="1100" spc="-5">
                <a:latin typeface="Times New Roman"/>
                <a:cs typeface="Times New Roman"/>
              </a:rPr>
              <a:t>the language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weapon in the anticolonial struggl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Imperial</a:t>
            </a:r>
            <a:r>
              <a:rPr dirty="0" sz="1100" spc="-5">
                <a:latin typeface="Times New Roman"/>
                <a:cs typeface="Times New Roman"/>
              </a:rPr>
              <a:t> language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initiative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reactive</a:t>
            </a:r>
            <a:endParaRPr sz="1100">
              <a:latin typeface="Times New Roman"/>
              <a:cs typeface="Times New Roman"/>
            </a:endParaRPr>
          </a:p>
          <a:p>
            <a:pPr marL="12700" marR="25603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Result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appropriation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the indigenous </a:t>
            </a:r>
            <a:r>
              <a:rPr dirty="0" sz="1100">
                <a:latin typeface="Times New Roman"/>
                <a:cs typeface="Times New Roman"/>
              </a:rPr>
              <a:t>populations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142: </a:t>
            </a:r>
            <a:r>
              <a:rPr dirty="0" sz="1100" spc="-5">
                <a:latin typeface="Times New Roman"/>
                <a:cs typeface="Times New Roman"/>
              </a:rPr>
              <a:t>Colonial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Policy in Africa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endParaRPr sz="1100">
              <a:latin typeface="Times New Roman"/>
              <a:cs typeface="Times New Roman"/>
            </a:endParaRPr>
          </a:p>
          <a:p>
            <a:pPr marL="12700" marR="48895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colonization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colonies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demonstrates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empire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connection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class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empire</a:t>
            </a:r>
            <a:endParaRPr sz="1100">
              <a:latin typeface="Times New Roman"/>
              <a:cs typeface="Times New Roman"/>
            </a:endParaRPr>
          </a:p>
          <a:p>
            <a:pPr marL="12700" marR="28327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Promotion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socioeconomic stratification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population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 </a:t>
            </a:r>
            <a:r>
              <a:rPr dirty="0" sz="1100" spc="-5">
                <a:latin typeface="Times New Roman"/>
                <a:cs typeface="Times New Roman"/>
              </a:rPr>
              <a:t>and economic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provided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mainstay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Southern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endParaRPr sz="1100">
              <a:latin typeface="Times New Roman"/>
              <a:cs typeface="Times New Roman"/>
            </a:endParaRPr>
          </a:p>
          <a:p>
            <a:pPr marL="12700" marR="372617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 determined </a:t>
            </a:r>
            <a:r>
              <a:rPr dirty="0" sz="1100" spc="-5">
                <a:latin typeface="Times New Roman"/>
                <a:cs typeface="Times New Roman"/>
              </a:rPr>
              <a:t>colonial </a:t>
            </a:r>
            <a:r>
              <a:rPr dirty="0" sz="1100">
                <a:latin typeface="Times New Roman"/>
                <a:cs typeface="Times New Roman"/>
              </a:rPr>
              <a:t>policy </a:t>
            </a:r>
            <a:r>
              <a:rPr dirty="0" sz="1100" spc="-5">
                <a:latin typeface="Times New Roman"/>
                <a:cs typeface="Times New Roman"/>
              </a:rPr>
              <a:t>throughout Africa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5">
                <a:latin typeface="Times New Roman"/>
                <a:cs typeface="Times New Roman"/>
              </a:rPr>
              <a:t> and economic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concerns</a:t>
            </a:r>
            <a:endParaRPr sz="1100">
              <a:latin typeface="Times New Roman"/>
              <a:cs typeface="Times New Roman"/>
            </a:endParaRPr>
          </a:p>
          <a:p>
            <a:pPr marL="12700" marR="50863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controlled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educational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philosophy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administrators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Southern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 </a:t>
            </a:r>
            <a:r>
              <a:rPr dirty="0" sz="1100">
                <a:latin typeface="Times New Roman"/>
                <a:cs typeface="Times New Roman"/>
              </a:rPr>
              <a:t>functionaries</a:t>
            </a:r>
            <a:r>
              <a:rPr dirty="0" sz="1100" spc="-5">
                <a:latin typeface="Times New Roman"/>
                <a:cs typeface="Times New Roman"/>
              </a:rPr>
              <a:t> 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ensure secure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labor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the mines</a:t>
            </a:r>
            <a:endParaRPr sz="1100">
              <a:latin typeface="Times New Roman"/>
              <a:cs typeface="Times New Roman"/>
            </a:endParaRPr>
          </a:p>
          <a:p>
            <a:pPr marL="12700" marR="43408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kept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highly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restricted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colonial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Aim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 education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5">
                <a:latin typeface="Times New Roman"/>
                <a:cs typeface="Times New Roman"/>
              </a:rPr>
              <a:t> was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confine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subjects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environments</a:t>
            </a:r>
            <a:endParaRPr sz="1100">
              <a:latin typeface="Times New Roman"/>
              <a:cs typeface="Times New Roman"/>
            </a:endParaRPr>
          </a:p>
          <a:p>
            <a:pPr marL="12700" marR="13055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Keeping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population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‘local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reserves’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colonial language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administrators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quoted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saying: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“book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Lowered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[Africans’]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usefulness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work,”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“uppish”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“conceited.”</a:t>
            </a:r>
            <a:endParaRPr sz="1100">
              <a:latin typeface="Times New Roman"/>
              <a:cs typeface="Times New Roman"/>
            </a:endParaRPr>
          </a:p>
          <a:p>
            <a:pPr marL="12700" marR="18478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education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“would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Africa”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colonial language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purpose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5819113"/>
            <a:ext cx="130175" cy="39497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1.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2.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8900" y="5819113"/>
            <a:ext cx="2868295" cy="39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To make them more </a:t>
            </a:r>
            <a:r>
              <a:rPr dirty="0" sz="1100">
                <a:latin typeface="Times New Roman"/>
                <a:cs typeface="Times New Roman"/>
              </a:rPr>
              <a:t>useful </a:t>
            </a:r>
            <a:r>
              <a:rPr dirty="0" sz="1100" spc="-5">
                <a:latin typeface="Times New Roman"/>
                <a:cs typeface="Times New Roman"/>
              </a:rPr>
              <a:t>to their white masters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chances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leaving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environment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6188517"/>
            <a:ext cx="6367780" cy="316547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Aim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elementary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industrial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purpose:</a:t>
            </a:r>
            <a:endParaRPr sz="1100">
              <a:latin typeface="Times New Roman"/>
              <a:cs typeface="Times New Roman"/>
            </a:endParaRPr>
          </a:p>
          <a:p>
            <a:pPr marL="12700" marR="3469004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 limit their chances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leaving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environment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143: </a:t>
            </a:r>
            <a:r>
              <a:rPr dirty="0" sz="1100" spc="-5">
                <a:latin typeface="Times New Roman"/>
                <a:cs typeface="Times New Roman"/>
              </a:rPr>
              <a:t>Colonial Language Policy in Asia </a:t>
            </a:r>
            <a:r>
              <a:rPr dirty="0" sz="1100">
                <a:latin typeface="Times New Roman"/>
                <a:cs typeface="Times New Roman"/>
              </a:rPr>
              <a:t> Imperial</a:t>
            </a:r>
            <a:r>
              <a:rPr dirty="0" sz="1100" spc="-5">
                <a:latin typeface="Times New Roman"/>
                <a:cs typeface="Times New Roman"/>
              </a:rPr>
              <a:t> language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Agriculture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colonies</a:t>
            </a:r>
            <a:endParaRPr sz="1100">
              <a:latin typeface="Times New Roman"/>
              <a:cs typeface="Times New Roman"/>
            </a:endParaRPr>
          </a:p>
          <a:p>
            <a:pPr marL="12700" marR="76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principal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goal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maintenance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agricultural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basis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production.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latin typeface="Times New Roman"/>
                <a:cs typeface="Times New Roman"/>
              </a:rPr>
              <a:t>Imperial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Primary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included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instruction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vernacular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12700" marR="14573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Instruction not </a:t>
            </a:r>
            <a:r>
              <a:rPr dirty="0" sz="1100" spc="-5">
                <a:latin typeface="Times New Roman"/>
                <a:cs typeface="Times New Roman"/>
              </a:rPr>
              <a:t>to include any </a:t>
            </a:r>
            <a:r>
              <a:rPr dirty="0" sz="1100">
                <a:latin typeface="Times New Roman"/>
                <a:cs typeface="Times New Roman"/>
              </a:rPr>
              <a:t>opportunities of </a:t>
            </a:r>
            <a:r>
              <a:rPr dirty="0" sz="1100" spc="-5">
                <a:latin typeface="Times New Roman"/>
                <a:cs typeface="Times New Roman"/>
              </a:rPr>
              <a:t>leading </a:t>
            </a:r>
            <a:r>
              <a:rPr dirty="0" sz="1100">
                <a:latin typeface="Times New Roman"/>
                <a:cs typeface="Times New Roman"/>
              </a:rPr>
              <a:t>up </a:t>
            </a:r>
            <a:r>
              <a:rPr dirty="0" sz="1100" spc="-5">
                <a:latin typeface="Times New Roman"/>
                <a:cs typeface="Times New Roman"/>
              </a:rPr>
              <a:t>to the </a:t>
            </a:r>
            <a:r>
              <a:rPr dirty="0" sz="1100">
                <a:latin typeface="Times New Roman"/>
                <a:cs typeface="Times New Roman"/>
              </a:rPr>
              <a:t>university </a:t>
            </a:r>
            <a:r>
              <a:rPr dirty="0" sz="1100" spc="-5">
                <a:latin typeface="Times New Roman"/>
                <a:cs typeface="Times New Roman"/>
              </a:rPr>
              <a:t>level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Imperial</a:t>
            </a:r>
            <a:r>
              <a:rPr dirty="0" sz="1100" spc="-5">
                <a:latin typeface="Times New Roman"/>
                <a:cs typeface="Times New Roman"/>
              </a:rPr>
              <a:t> language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“Nothing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taught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Malays</a:t>
            </a:r>
            <a:r>
              <a:rPr dirty="0" sz="1100">
                <a:latin typeface="Times New Roman"/>
                <a:cs typeface="Times New Roman"/>
              </a:rPr>
              <a:t> from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agricultural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pursuits”</a:t>
            </a:r>
            <a:endParaRPr sz="1100">
              <a:latin typeface="Times New Roman"/>
              <a:cs typeface="Times New Roman"/>
            </a:endParaRPr>
          </a:p>
          <a:p>
            <a:pPr marL="12700" marR="36601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CO, Brunei cited in Brutt-Griffler, </a:t>
            </a:r>
            <a:r>
              <a:rPr dirty="0" sz="1100">
                <a:latin typeface="Times New Roman"/>
                <a:cs typeface="Times New Roman"/>
              </a:rPr>
              <a:t>2002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Imperial</a:t>
            </a:r>
            <a:r>
              <a:rPr dirty="0" sz="1100" spc="-5">
                <a:latin typeface="Times New Roman"/>
                <a:cs typeface="Times New Roman"/>
              </a:rPr>
              <a:t> language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India,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Sanskrit,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Persian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Arabic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taught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Indians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civil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servants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387465" cy="8409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supposed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them.</a:t>
            </a:r>
            <a:endParaRPr sz="1100">
              <a:latin typeface="Times New Roman"/>
              <a:cs typeface="Times New Roman"/>
            </a:endParaRPr>
          </a:p>
          <a:p>
            <a:pPr marL="12700" marR="3556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1835,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administration,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judiciary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Anglicist </a:t>
            </a:r>
            <a:r>
              <a:rPr dirty="0" sz="1100">
                <a:latin typeface="Times New Roman"/>
                <a:cs typeface="Times New Roman"/>
              </a:rPr>
              <a:t>policy.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1835,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higher</a:t>
            </a:r>
            <a:r>
              <a:rPr dirty="0" sz="1100" spc="-5">
                <a:latin typeface="Times New Roman"/>
                <a:cs typeface="Times New Roman"/>
              </a:rPr>
              <a:t> administration, judiciary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education.</a:t>
            </a:r>
            <a:endParaRPr sz="1100">
              <a:latin typeface="Times New Roman"/>
              <a:cs typeface="Times New Roman"/>
            </a:endParaRPr>
          </a:p>
          <a:p>
            <a:pPr marL="12700" marR="120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vehicle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Western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Anglicise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elite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loyal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Imperial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socioeconomic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purposes</a:t>
            </a:r>
            <a:r>
              <a:rPr dirty="0" sz="1100" spc="-5">
                <a:latin typeface="Times New Roman"/>
                <a:cs typeface="Times New Roman"/>
              </a:rPr>
              <a:t> assigned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dictated</a:t>
            </a:r>
            <a:r>
              <a:rPr dirty="0" sz="1100" spc="-5">
                <a:latin typeface="Times New Roman"/>
                <a:cs typeface="Times New Roman"/>
              </a:rPr>
              <a:t> educational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service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commercial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enterprise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officials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clerks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well-versed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English</a:t>
            </a:r>
            <a:endParaRPr sz="1100">
              <a:latin typeface="Times New Roman"/>
              <a:cs typeface="Times New Roman"/>
            </a:endParaRPr>
          </a:p>
          <a:p>
            <a:pPr marL="12700" marR="18586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plantation </a:t>
            </a:r>
            <a:r>
              <a:rPr dirty="0" sz="1100" spc="-5">
                <a:latin typeface="Times New Roman"/>
                <a:cs typeface="Times New Roman"/>
              </a:rPr>
              <a:t>in British Asia </a:t>
            </a:r>
            <a:r>
              <a:rPr dirty="0" sz="1100">
                <a:latin typeface="Times New Roman"/>
                <a:cs typeface="Times New Roman"/>
              </a:rPr>
              <a:t>had no need for </a:t>
            </a:r>
            <a:r>
              <a:rPr dirty="0" sz="1100" spc="-5">
                <a:latin typeface="Times New Roman"/>
                <a:cs typeface="Times New Roman"/>
              </a:rPr>
              <a:t>English-speaking workers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Imperial</a:t>
            </a:r>
            <a:r>
              <a:rPr dirty="0" sz="1100" spc="-5">
                <a:latin typeface="Times New Roman"/>
                <a:cs typeface="Times New Roman"/>
              </a:rPr>
              <a:t> language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12700" marR="311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entirely</a:t>
            </a:r>
            <a:r>
              <a:rPr dirty="0" sz="1100">
                <a:latin typeface="Times New Roman"/>
                <a:cs typeface="Times New Roman"/>
              </a:rPr>
              <a:t> different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entailed</a:t>
            </a:r>
            <a:r>
              <a:rPr dirty="0" sz="1100">
                <a:latin typeface="Times New Roman"/>
                <a:cs typeface="Times New Roman"/>
              </a:rPr>
              <a:t> a vastly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administration.</a:t>
            </a:r>
            <a:endParaRPr sz="1100">
              <a:latin typeface="Times New Roman"/>
              <a:cs typeface="Times New Roman"/>
            </a:endParaRPr>
          </a:p>
          <a:p>
            <a:pPr marL="12700" marR="349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constituted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much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money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effort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wasted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never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make </a:t>
            </a:r>
            <a:r>
              <a:rPr dirty="0" sz="1100">
                <a:latin typeface="Times New Roman"/>
                <a:cs typeface="Times New Roman"/>
              </a:rPr>
              <a:t>use of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Imperial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better-paying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government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employment</a:t>
            </a:r>
            <a:endParaRPr sz="1100">
              <a:latin typeface="Times New Roman"/>
              <a:cs typeface="Times New Roman"/>
            </a:endParaRPr>
          </a:p>
          <a:p>
            <a:pPr marL="12700" marR="42894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demand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Imperial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Asians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knew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learning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31330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Made efforts to learn it </a:t>
            </a:r>
            <a:r>
              <a:rPr dirty="0" sz="1100">
                <a:latin typeface="Times New Roman"/>
                <a:cs typeface="Times New Roman"/>
              </a:rPr>
              <a:t>despite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restrictions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144: </a:t>
            </a:r>
            <a:r>
              <a:rPr dirty="0" sz="1100" spc="-5">
                <a:latin typeface="Times New Roman"/>
                <a:cs typeface="Times New Roman"/>
              </a:rPr>
              <a:t>Learning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and Anticolonial Struggle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Anticolonial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Struggle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exploitation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exploitative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socioeconomic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endParaRPr sz="1100">
              <a:latin typeface="Times New Roman"/>
              <a:cs typeface="Times New Roman"/>
            </a:endParaRPr>
          </a:p>
          <a:p>
            <a:pPr marL="12700" marR="3130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Attempts to </a:t>
            </a:r>
            <a:r>
              <a:rPr dirty="0" sz="1100">
                <a:latin typeface="Times New Roman"/>
                <a:cs typeface="Times New Roman"/>
              </a:rPr>
              <a:t>resist </a:t>
            </a:r>
            <a:r>
              <a:rPr dirty="0" sz="1100" spc="-5">
                <a:latin typeface="Times New Roman"/>
                <a:cs typeface="Times New Roman"/>
              </a:rPr>
              <a:t>colonial </a:t>
            </a:r>
            <a:r>
              <a:rPr dirty="0" sz="1100">
                <a:latin typeface="Times New Roman"/>
                <a:cs typeface="Times New Roman"/>
              </a:rPr>
              <a:t>rule </a:t>
            </a:r>
            <a:r>
              <a:rPr dirty="0" sz="1100" spc="-5">
                <a:latin typeface="Times New Roman"/>
                <a:cs typeface="Times New Roman"/>
              </a:rPr>
              <a:t>through </a:t>
            </a:r>
            <a:r>
              <a:rPr dirty="0" sz="1100">
                <a:latin typeface="Times New Roman"/>
                <a:cs typeface="Times New Roman"/>
              </a:rPr>
              <a:t>obtaining </a:t>
            </a:r>
            <a:r>
              <a:rPr dirty="0" sz="1100" spc="-5">
                <a:latin typeface="Times New Roman"/>
                <a:cs typeface="Times New Roman"/>
              </a:rPr>
              <a:t>access to education and language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colonizers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resistance </a:t>
            </a:r>
            <a:r>
              <a:rPr dirty="0" sz="1100" spc="-5">
                <a:latin typeface="Times New Roman"/>
                <a:cs typeface="Times New Roman"/>
              </a:rPr>
              <a:t>to colonial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conscious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strategy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resist</a:t>
            </a:r>
            <a:r>
              <a:rPr dirty="0" sz="1100" spc="-5">
                <a:latin typeface="Times New Roman"/>
                <a:cs typeface="Times New Roman"/>
              </a:rPr>
              <a:t> colonial </a:t>
            </a:r>
            <a:r>
              <a:rPr dirty="0" sz="1100">
                <a:latin typeface="Times New Roman"/>
                <a:cs typeface="Times New Roman"/>
              </a:rPr>
              <a:t>rule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rather</a:t>
            </a:r>
            <a:r>
              <a:rPr dirty="0" sz="1100" spc="-5">
                <a:latin typeface="Times New Roman"/>
                <a:cs typeface="Times New Roman"/>
              </a:rPr>
              <a:t> than Western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ideological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hegemony</a:t>
            </a:r>
            <a:endParaRPr sz="1100">
              <a:latin typeface="Times New Roman"/>
              <a:cs typeface="Times New Roman"/>
            </a:endParaRPr>
          </a:p>
          <a:p>
            <a:pPr marL="12700" marR="18967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Resistance to the colonial </a:t>
            </a:r>
            <a:r>
              <a:rPr dirty="0" sz="1100">
                <a:latin typeface="Times New Roman"/>
                <a:cs typeface="Times New Roman"/>
              </a:rPr>
              <a:t>rule </a:t>
            </a:r>
            <a:r>
              <a:rPr dirty="0" sz="1100" spc="-5">
                <a:latin typeface="Times New Roman"/>
                <a:cs typeface="Times New Roman"/>
              </a:rPr>
              <a:t>shaping the language </a:t>
            </a:r>
            <a:r>
              <a:rPr dirty="0" sz="1100">
                <a:latin typeface="Times New Roman"/>
                <a:cs typeface="Times New Roman"/>
              </a:rPr>
              <a:t>policy </a:t>
            </a:r>
            <a:r>
              <a:rPr dirty="0" sz="1100" spc="-5">
                <a:latin typeface="Times New Roman"/>
                <a:cs typeface="Times New Roman"/>
              </a:rPr>
              <a:t>environment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resistance</a:t>
            </a:r>
            <a:r>
              <a:rPr dirty="0" sz="1100" spc="-5">
                <a:latin typeface="Times New Roman"/>
                <a:cs typeface="Times New Roman"/>
              </a:rPr>
              <a:t> to colonial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Emergence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anticolonial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struggle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resulted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Asian’s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refusal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manual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labour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serving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purely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resistance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Resistance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prescribed</a:t>
            </a:r>
            <a:r>
              <a:rPr dirty="0" sz="1100" spc="-5">
                <a:latin typeface="Times New Roman"/>
                <a:cs typeface="Times New Roman"/>
              </a:rPr>
              <a:t> socioeconomic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threatened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foundations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rule</a:t>
            </a:r>
            <a:endParaRPr sz="1100">
              <a:latin typeface="Times New Roman"/>
              <a:cs typeface="Times New Roman"/>
            </a:endParaRPr>
          </a:p>
          <a:p>
            <a:pPr marL="12700" marR="349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Connection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demand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emergent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liberation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Asia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resistance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played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segment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anticolonial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</a:t>
            </a:r>
            <a:endParaRPr sz="1100">
              <a:latin typeface="Times New Roman"/>
              <a:cs typeface="Times New Roman"/>
            </a:endParaRPr>
          </a:p>
          <a:p>
            <a:pPr marL="12700" marR="169163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Availability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education considered </a:t>
            </a:r>
            <a:r>
              <a:rPr dirty="0" sz="1100">
                <a:latin typeface="Times New Roman"/>
                <a:cs typeface="Times New Roman"/>
              </a:rPr>
              <a:t>a big </a:t>
            </a:r>
            <a:r>
              <a:rPr dirty="0" sz="1100" spc="-5">
                <a:latin typeface="Times New Roman"/>
                <a:cs typeface="Times New Roman"/>
              </a:rPr>
              <a:t>threat to colonial </a:t>
            </a:r>
            <a:r>
              <a:rPr dirty="0" sz="1100">
                <a:latin typeface="Times New Roman"/>
                <a:cs typeface="Times New Roman"/>
              </a:rPr>
              <a:t>powers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resistance</a:t>
            </a:r>
            <a:r>
              <a:rPr dirty="0" sz="1100" spc="-5">
                <a:latin typeface="Times New Roman"/>
                <a:cs typeface="Times New Roman"/>
              </a:rPr>
              <a:t> to colonial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unemployed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discontented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turned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opposition</a:t>
            </a:r>
            <a:r>
              <a:rPr dirty="0" sz="1100" spc="-5">
                <a:latin typeface="Times New Roman"/>
                <a:cs typeface="Times New Roman"/>
              </a:rPr>
              <a:t> movements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61912"/>
            <a:ext cx="5814060" cy="8779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Lesson-25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marL="1569720">
              <a:lnSpc>
                <a:spcPct val="100000"/>
              </a:lnSpc>
            </a:pPr>
            <a:r>
              <a:rPr dirty="0" sz="1400" spc="25">
                <a:latin typeface="Times New Roman"/>
                <a:cs typeface="Times New Roman"/>
              </a:rPr>
              <a:t>English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35">
                <a:latin typeface="Times New Roman"/>
                <a:cs typeface="Times New Roman"/>
              </a:rPr>
              <a:t>in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40">
                <a:latin typeface="Times New Roman"/>
                <a:cs typeface="Times New Roman"/>
              </a:rPr>
              <a:t>Language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5">
                <a:latin typeface="Times New Roman"/>
                <a:cs typeface="Times New Roman"/>
              </a:rPr>
              <a:t>Policy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and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 spc="40">
                <a:latin typeface="Times New Roman"/>
                <a:cs typeface="Times New Roman"/>
              </a:rPr>
              <a:t>Planning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301307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145: </a:t>
            </a:r>
            <a:r>
              <a:rPr dirty="0" sz="1100" spc="-5">
                <a:latin typeface="Times New Roman"/>
                <a:cs typeface="Times New Roman"/>
              </a:rPr>
              <a:t>English in Language Policy Discourse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5">
                <a:latin typeface="Times New Roman"/>
                <a:cs typeface="Times New Roman"/>
              </a:rPr>
              <a:t> 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determined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Population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Prestige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Status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Functionality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nationalism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minority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12700" marR="23749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dialects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minority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proficient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22542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Despite </a:t>
            </a:r>
            <a:r>
              <a:rPr dirty="0" sz="1100">
                <a:latin typeface="Times New Roman"/>
                <a:cs typeface="Times New Roman"/>
              </a:rPr>
              <a:t>being a </a:t>
            </a:r>
            <a:r>
              <a:rPr dirty="0" sz="1100" spc="-5">
                <a:latin typeface="Times New Roman"/>
                <a:cs typeface="Times New Roman"/>
              </a:rPr>
              <a:t>minority language, English is </a:t>
            </a:r>
            <a:r>
              <a:rPr dirty="0" sz="1100">
                <a:latin typeface="Times New Roman"/>
                <a:cs typeface="Times New Roman"/>
              </a:rPr>
              <a:t>powerful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elite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revolves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around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27476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functionality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recognized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accepted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expanding-circle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lacks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Enjoys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great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instrumental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expanding-circle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Acceleration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prominently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discourse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00">
              <a:latin typeface="Times New Roman"/>
              <a:cs typeface="Times New Roman"/>
            </a:endParaRPr>
          </a:p>
          <a:p>
            <a:pPr marL="12700" marR="32607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146: </a:t>
            </a:r>
            <a:r>
              <a:rPr dirty="0" sz="1100" spc="-5">
                <a:latin typeface="Times New Roman"/>
                <a:cs typeface="Times New Roman"/>
              </a:rPr>
              <a:t>Choice and Hegemony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Dominance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Reasons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Useful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functional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knowledge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technological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advancement</a:t>
            </a:r>
            <a:endParaRPr sz="1100">
              <a:latin typeface="Times New Roman"/>
              <a:cs typeface="Times New Roman"/>
            </a:endParaRPr>
          </a:p>
          <a:p>
            <a:pPr marL="12700" marR="36664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globalization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Question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Factors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inevitable: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country</a:t>
            </a:r>
            <a:endParaRPr sz="1100">
              <a:latin typeface="Times New Roman"/>
              <a:cs typeface="Times New Roman"/>
            </a:endParaRPr>
          </a:p>
          <a:p>
            <a:pPr marL="12700" marR="19970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Being the language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trade, industry, and </a:t>
            </a:r>
            <a:r>
              <a:rPr dirty="0" sz="1100">
                <a:latin typeface="Times New Roman"/>
                <a:cs typeface="Times New Roman"/>
              </a:rPr>
              <a:t>higher </a:t>
            </a:r>
            <a:r>
              <a:rPr dirty="0" sz="1100" spc="-5">
                <a:latin typeface="Times New Roman"/>
                <a:cs typeface="Times New Roman"/>
              </a:rPr>
              <a:t>education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038850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advantage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Better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prospects</a:t>
            </a:r>
            <a:endParaRPr sz="1100">
              <a:latin typeface="Times New Roman"/>
              <a:cs typeface="Times New Roman"/>
            </a:endParaRPr>
          </a:p>
          <a:p>
            <a:pPr marL="12700" marR="37795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Upward social mobility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Constraints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choice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Struggle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post-colonial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perpetuate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12700" marR="5035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many countries colonized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Britain, English </a:t>
            </a:r>
            <a:r>
              <a:rPr dirty="0" sz="1100">
                <a:latin typeface="Times New Roman"/>
                <a:cs typeface="Times New Roman"/>
              </a:rPr>
              <a:t>remains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official or </a:t>
            </a:r>
            <a:r>
              <a:rPr dirty="0" sz="1100" spc="-5">
                <a:latin typeface="Times New Roman"/>
                <a:cs typeface="Times New Roman"/>
              </a:rPr>
              <a:t>co-official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Constraints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choice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Struggle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Attempts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promote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ended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failure</a:t>
            </a:r>
            <a:endParaRPr sz="1100">
              <a:latin typeface="Times New Roman"/>
              <a:cs typeface="Times New Roman"/>
            </a:endParaRPr>
          </a:p>
          <a:p>
            <a:pPr marL="12700" marR="5035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many countries colonized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Britain, English </a:t>
            </a:r>
            <a:r>
              <a:rPr dirty="0" sz="1100">
                <a:latin typeface="Times New Roman"/>
                <a:cs typeface="Times New Roman"/>
              </a:rPr>
              <a:t>remains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official or </a:t>
            </a:r>
            <a:r>
              <a:rPr dirty="0" sz="1100" spc="-5">
                <a:latin typeface="Times New Roman"/>
                <a:cs typeface="Times New Roman"/>
              </a:rPr>
              <a:t>co-official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Constraints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choice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Prospect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good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advancement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Usefulness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business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endParaRPr sz="1100">
              <a:latin typeface="Times New Roman"/>
              <a:cs typeface="Times New Roman"/>
            </a:endParaRPr>
          </a:p>
          <a:p>
            <a:pPr marL="12700" marR="25057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hope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expected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prospects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rewards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bureaucracy</a:t>
            </a:r>
            <a:r>
              <a:rPr dirty="0" sz="1100" spc="-5">
                <a:latin typeface="Times New Roman"/>
                <a:cs typeface="Times New Roman"/>
              </a:rPr>
              <a:t> in language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Policy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decisions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government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bodies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Implementation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regulations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framed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bureaucrats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Decision-makers are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the elite with </a:t>
            </a:r>
            <a:r>
              <a:rPr dirty="0" sz="1100">
                <a:latin typeface="Times New Roman"/>
                <a:cs typeface="Times New Roman"/>
              </a:rPr>
              <a:t>vested </a:t>
            </a:r>
            <a:r>
              <a:rPr dirty="0" sz="1100" spc="-5">
                <a:latin typeface="Times New Roman"/>
                <a:cs typeface="Times New Roman"/>
              </a:rPr>
              <a:t>interest in maintaining the </a:t>
            </a:r>
            <a:r>
              <a:rPr dirty="0" sz="1100">
                <a:latin typeface="Times New Roman"/>
                <a:cs typeface="Times New Roman"/>
              </a:rPr>
              <a:t>role </a:t>
            </a:r>
            <a:r>
              <a:rPr dirty="0" sz="1100" spc="-5">
                <a:latin typeface="Times New Roman"/>
                <a:cs typeface="Times New Roman"/>
              </a:rPr>
              <a:t>and status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bureaucracy </a:t>
            </a:r>
            <a:r>
              <a:rPr dirty="0" sz="1100" spc="-5">
                <a:latin typeface="Times New Roman"/>
                <a:cs typeface="Times New Roman"/>
              </a:rPr>
              <a:t>in language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elite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oriented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29102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further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hegemony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147:</a:t>
            </a:r>
            <a:r>
              <a:rPr dirty="0" sz="1100" spc="-5">
                <a:latin typeface="Times New Roman"/>
                <a:cs typeface="Times New Roman"/>
              </a:rPr>
              <a:t> Effects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Hegemony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424370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Effects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hegemony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Beneficial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instrumental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franca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reach</a:t>
            </a:r>
            <a:endParaRPr sz="1100">
              <a:latin typeface="Times New Roman"/>
              <a:cs typeface="Times New Roman"/>
            </a:endParaRPr>
          </a:p>
          <a:p>
            <a:pPr marL="12700" marR="424370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Effects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hegemony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Detrimental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stratification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Exclusion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Problems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associated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literacy</a:t>
            </a:r>
            <a:endParaRPr sz="1100">
              <a:latin typeface="Times New Roman"/>
              <a:cs typeface="Times New Roman"/>
            </a:endParaRPr>
          </a:p>
          <a:p>
            <a:pPr marL="12700" marR="34194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Status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than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causing exclusion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Effect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viability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stability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>
                <a:latin typeface="Times New Roman"/>
                <a:cs typeface="Times New Roman"/>
              </a:rPr>
              <a:t>Inability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385635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proficiency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exclusion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opportunity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opportunity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attending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Inability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385635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proficiency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exclusion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multilingual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lagging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behind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due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medium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instruction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0160" cy="870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76022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148: </a:t>
            </a:r>
            <a:r>
              <a:rPr dirty="0" sz="1100" spc="-5">
                <a:latin typeface="Times New Roman"/>
                <a:cs typeface="Times New Roman"/>
              </a:rPr>
              <a:t>Hegemony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English: </a:t>
            </a:r>
            <a:r>
              <a:rPr dirty="0" sz="1100">
                <a:latin typeface="Times New Roman"/>
                <a:cs typeface="Times New Roman"/>
              </a:rPr>
              <a:t>Implications for </a:t>
            </a:r>
            <a:r>
              <a:rPr dirty="0" sz="1100" spc="-5">
                <a:latin typeface="Times New Roman"/>
                <a:cs typeface="Times New Roman"/>
              </a:rPr>
              <a:t>Language Policy and Planning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Scope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Inclusive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equitable</a:t>
            </a:r>
            <a:endParaRPr sz="1100">
              <a:latin typeface="Times New Roman"/>
              <a:cs typeface="Times New Roman"/>
            </a:endParaRPr>
          </a:p>
          <a:p>
            <a:pPr marL="12700" marR="15398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Vehicle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promotion of </a:t>
            </a:r>
            <a:r>
              <a:rPr dirty="0" sz="1100" spc="-5">
                <a:latin typeface="Times New Roman"/>
                <a:cs typeface="Times New Roman"/>
              </a:rPr>
              <a:t>cultural and economic </a:t>
            </a:r>
            <a:r>
              <a:rPr dirty="0" sz="1100">
                <a:latin typeface="Times New Roman"/>
                <a:cs typeface="Times New Roman"/>
              </a:rPr>
              <a:t>development of a </a:t>
            </a:r>
            <a:r>
              <a:rPr dirty="0" sz="1100" spc="-5">
                <a:latin typeface="Times New Roman"/>
                <a:cs typeface="Times New Roman"/>
              </a:rPr>
              <a:t>country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policy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without English’s negative effects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measures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eliminate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negative</a:t>
            </a:r>
            <a:r>
              <a:rPr dirty="0" sz="1100" spc="-5">
                <a:latin typeface="Times New Roman"/>
                <a:cs typeface="Times New Roman"/>
              </a:rPr>
              <a:t> effects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policy:</a:t>
            </a:r>
            <a:endParaRPr sz="1100">
              <a:latin typeface="Times New Roman"/>
              <a:cs typeface="Times New Roman"/>
            </a:endParaRPr>
          </a:p>
          <a:p>
            <a:pPr marL="12700" marR="1258570">
              <a:lnSpc>
                <a:spcPct val="110200"/>
              </a:lnSpc>
              <a:buAutoNum type="arabicPeriod"/>
              <a:tabLst>
                <a:tab pos="152400" algn="l"/>
              </a:tabLst>
            </a:pPr>
            <a:r>
              <a:rPr dirty="0" sz="1100" spc="-5">
                <a:latin typeface="Times New Roman"/>
                <a:cs typeface="Times New Roman"/>
              </a:rPr>
              <a:t>Take into consideration social, economic and </a:t>
            </a:r>
            <a:r>
              <a:rPr dirty="0" sz="1100">
                <a:latin typeface="Times New Roman"/>
                <a:cs typeface="Times New Roman"/>
              </a:rPr>
              <a:t>political factors </a:t>
            </a:r>
            <a:r>
              <a:rPr dirty="0" sz="1100" spc="-5">
                <a:latin typeface="Times New Roman"/>
                <a:cs typeface="Times New Roman"/>
              </a:rPr>
              <a:t>while </a:t>
            </a:r>
            <a:r>
              <a:rPr dirty="0" sz="1100">
                <a:latin typeface="Times New Roman"/>
                <a:cs typeface="Times New Roman"/>
              </a:rPr>
              <a:t>designing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policy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policy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without English’s negative effects</a:t>
            </a:r>
            <a:endParaRPr sz="1100">
              <a:latin typeface="Times New Roman"/>
              <a:cs typeface="Times New Roman"/>
            </a:endParaRPr>
          </a:p>
          <a:p>
            <a:pPr marL="151765" indent="-139700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1524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whole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just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elite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designing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151765" indent="-139700">
              <a:lnSpc>
                <a:spcPct val="100000"/>
              </a:lnSpc>
              <a:spcBef>
                <a:spcPts val="135"/>
              </a:spcBef>
              <a:buAutoNum type="arabicPeriod"/>
              <a:tabLst>
                <a:tab pos="152400" algn="l"/>
              </a:tabLst>
            </a:pPr>
            <a:r>
              <a:rPr dirty="0" sz="1100" spc="-5">
                <a:latin typeface="Times New Roman"/>
                <a:cs typeface="Times New Roman"/>
              </a:rPr>
              <a:t>Minimize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exclusion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policy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without English’s negative effects</a:t>
            </a:r>
            <a:endParaRPr sz="1100">
              <a:latin typeface="Times New Roman"/>
              <a:cs typeface="Times New Roman"/>
            </a:endParaRPr>
          </a:p>
          <a:p>
            <a:pPr marL="12700" marR="1934210">
              <a:lnSpc>
                <a:spcPct val="110200"/>
              </a:lnSpc>
              <a:buAutoNum type="arabicPeriod" startAt="4"/>
              <a:tabLst>
                <a:tab pos="1524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Ensure that it contributes to the </a:t>
            </a:r>
            <a:r>
              <a:rPr dirty="0" sz="1100">
                <a:latin typeface="Times New Roman"/>
                <a:cs typeface="Times New Roman"/>
              </a:rPr>
              <a:t>overall </a:t>
            </a:r>
            <a:r>
              <a:rPr dirty="0" sz="1100" spc="-5">
                <a:latin typeface="Times New Roman"/>
                <a:cs typeface="Times New Roman"/>
              </a:rPr>
              <a:t>cultural, </a:t>
            </a:r>
            <a:r>
              <a:rPr dirty="0" sz="1100">
                <a:latin typeface="Times New Roman"/>
                <a:cs typeface="Times New Roman"/>
              </a:rPr>
              <a:t>human, </a:t>
            </a:r>
            <a:r>
              <a:rPr dirty="0" sz="1100" spc="-5">
                <a:latin typeface="Times New Roman"/>
                <a:cs typeface="Times New Roman"/>
              </a:rPr>
              <a:t>and socio-economic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5">
                <a:latin typeface="Times New Roman"/>
                <a:cs typeface="Times New Roman"/>
              </a:rPr>
              <a:t> country</a:t>
            </a:r>
            <a:endParaRPr sz="1100">
              <a:latin typeface="Times New Roman"/>
              <a:cs typeface="Times New Roman"/>
            </a:endParaRPr>
          </a:p>
          <a:p>
            <a:pPr marL="12700" marR="333819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Topic149 </a:t>
            </a:r>
            <a:r>
              <a:rPr dirty="0" sz="1100">
                <a:latin typeface="Times New Roman"/>
                <a:cs typeface="Times New Roman"/>
              </a:rPr>
              <a:t>: </a:t>
            </a:r>
            <a:r>
              <a:rPr dirty="0" sz="1100" spc="-5">
                <a:latin typeface="Times New Roman"/>
                <a:cs typeface="Times New Roman"/>
              </a:rPr>
              <a:t>Language Policy and Planning in Pakistan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Pre-partition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policies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imperialistic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Colonists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ruled</a:t>
            </a:r>
            <a:endParaRPr sz="1100">
              <a:latin typeface="Times New Roman"/>
              <a:cs typeface="Times New Roman"/>
            </a:endParaRPr>
          </a:p>
          <a:p>
            <a:pPr marL="12700" marR="1790064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This created </a:t>
            </a:r>
            <a:r>
              <a:rPr dirty="0" sz="1100">
                <a:latin typeface="Times New Roman"/>
                <a:cs typeface="Times New Roman"/>
              </a:rPr>
              <a:t>a native </a:t>
            </a:r>
            <a:r>
              <a:rPr dirty="0" sz="1100" spc="-5">
                <a:latin typeface="Times New Roman"/>
                <a:cs typeface="Times New Roman"/>
              </a:rPr>
              <a:t>elite to serve their </a:t>
            </a:r>
            <a:r>
              <a:rPr dirty="0" sz="1100">
                <a:latin typeface="Times New Roman"/>
                <a:cs typeface="Times New Roman"/>
              </a:rPr>
              <a:t>needs for </a:t>
            </a:r>
            <a:r>
              <a:rPr dirty="0" sz="1100" spc="-5">
                <a:latin typeface="Times New Roman"/>
                <a:cs typeface="Times New Roman"/>
              </a:rPr>
              <a:t>low level </a:t>
            </a:r>
            <a:r>
              <a:rPr dirty="0" sz="1100">
                <a:latin typeface="Times New Roman"/>
                <a:cs typeface="Times New Roman"/>
              </a:rPr>
              <a:t>functionaries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Pre-partition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policies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displayed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tolerance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indigenous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12700" marR="34067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tolerance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Pre-partition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policies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Appeasement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Warren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Hastings,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Governor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India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1774</a:t>
            </a:r>
            <a:r>
              <a:rPr dirty="0" sz="1100" spc="-5">
                <a:latin typeface="Times New Roman"/>
                <a:cs typeface="Times New Roman"/>
              </a:rPr>
              <a:t> to </a:t>
            </a:r>
            <a:r>
              <a:rPr dirty="0" sz="1100">
                <a:latin typeface="Times New Roman"/>
                <a:cs typeface="Times New Roman"/>
              </a:rPr>
              <a:t>1785,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indigenization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governance</a:t>
            </a:r>
            <a:endParaRPr sz="1100">
              <a:latin typeface="Times New Roman"/>
              <a:cs typeface="Times New Roman"/>
            </a:endParaRPr>
          </a:p>
          <a:p>
            <a:pPr marL="12700" marR="88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Supported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cultivation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Indian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classical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strategy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appease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indigenous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elites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Political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motives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Encouraged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vernaculars</a:t>
            </a:r>
            <a:r>
              <a:rPr dirty="0" sz="1100">
                <a:latin typeface="Times New Roman"/>
                <a:cs typeface="Times New Roman"/>
              </a:rPr>
              <a:t> by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‘natives’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efficiently</a:t>
            </a:r>
            <a:endParaRPr sz="1100">
              <a:latin typeface="Times New Roman"/>
              <a:cs typeface="Times New Roman"/>
            </a:endParaRPr>
          </a:p>
          <a:p>
            <a:pPr marL="12700" marR="28282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Madrassas and colleges were established all </a:t>
            </a:r>
            <a:r>
              <a:rPr dirty="0" sz="1100">
                <a:latin typeface="Times New Roman"/>
                <a:cs typeface="Times New Roman"/>
              </a:rPr>
              <a:t>over India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Introduction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2349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suggestion to teach English was made in </a:t>
            </a:r>
            <a:r>
              <a:rPr dirty="0" sz="1100">
                <a:latin typeface="Times New Roman"/>
                <a:cs typeface="Times New Roman"/>
              </a:rPr>
              <a:t>1792 by one 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directors of </a:t>
            </a:r>
            <a:r>
              <a:rPr dirty="0" sz="1100" spc="-5">
                <a:latin typeface="Times New Roman"/>
                <a:cs typeface="Times New Roman"/>
              </a:rPr>
              <a:t>the East </a:t>
            </a:r>
            <a:r>
              <a:rPr dirty="0" sz="1100">
                <a:latin typeface="Times New Roman"/>
                <a:cs typeface="Times New Roman"/>
              </a:rPr>
              <a:t>India </a:t>
            </a:r>
            <a:r>
              <a:rPr dirty="0" sz="1100" spc="-5">
                <a:latin typeface="Times New Roman"/>
                <a:cs typeface="Times New Roman"/>
              </a:rPr>
              <a:t>Company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Reservations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Fear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Indians</a:t>
            </a:r>
            <a:r>
              <a:rPr dirty="0" sz="1100" spc="-5">
                <a:latin typeface="Times New Roman"/>
                <a:cs typeface="Times New Roman"/>
              </a:rPr>
              <a:t> learning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lead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Desire </a:t>
            </a:r>
            <a:r>
              <a:rPr dirty="0" sz="1100">
                <a:latin typeface="Times New Roman"/>
                <a:cs typeface="Times New Roman"/>
              </a:rPr>
              <a:t>fo </a:t>
            </a:r>
            <a:r>
              <a:rPr dirty="0" sz="1100" spc="-5">
                <a:latin typeface="Times New Roman"/>
                <a:cs typeface="Times New Roman"/>
              </a:rPr>
              <a:t>‘English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liberty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government’</a:t>
            </a:r>
            <a:endParaRPr sz="1100">
              <a:latin typeface="Times New Roman"/>
              <a:cs typeface="Times New Roman"/>
            </a:endParaRPr>
          </a:p>
          <a:p>
            <a:pPr marL="12700" marR="16332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Hope to make them anglicized as English literature </a:t>
            </a:r>
            <a:r>
              <a:rPr dirty="0" sz="1100">
                <a:latin typeface="Times New Roman"/>
                <a:cs typeface="Times New Roman"/>
              </a:rPr>
              <a:t>undermined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beliefs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Introduction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16459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Demand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instilling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feelings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civilized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by Indians</a:t>
            </a:r>
            <a:endParaRPr sz="1100">
              <a:latin typeface="Times New Roman"/>
              <a:cs typeface="Times New Roman"/>
            </a:endParaRPr>
          </a:p>
          <a:p>
            <a:pPr marL="12700" marR="82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Realization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Indians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traditional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exercising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obtaining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wealth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obtained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becoming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junior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partners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great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advantage.</a:t>
            </a:r>
            <a:endParaRPr sz="1100">
              <a:latin typeface="Times New Roman"/>
              <a:cs typeface="Times New Roman"/>
            </a:endParaRPr>
          </a:p>
          <a:p>
            <a:pPr marL="12700" marR="46043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Rahman, </a:t>
            </a:r>
            <a:r>
              <a:rPr dirty="0" sz="1100">
                <a:latin typeface="Times New Roman"/>
                <a:cs typeface="Times New Roman"/>
              </a:rPr>
              <a:t>1993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1832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recommendations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employing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Indians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civil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service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84290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English.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Initially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confined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Bengali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Hindus</a:t>
            </a:r>
            <a:endParaRPr sz="1100">
              <a:latin typeface="Times New Roman"/>
              <a:cs typeface="Times New Roman"/>
            </a:endParaRPr>
          </a:p>
          <a:p>
            <a:pPr marL="12700" marR="21736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Introduction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modernity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distribution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by Indians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Indian</a:t>
            </a:r>
            <a:r>
              <a:rPr dirty="0" sz="1100" spc="-5">
                <a:latin typeface="Times New Roman"/>
                <a:cs typeface="Times New Roman"/>
              </a:rPr>
              <a:t> middle class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directly related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prestige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demanded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12700" marR="21793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became </a:t>
            </a:r>
            <a:r>
              <a:rPr dirty="0" sz="1100" spc="-5">
                <a:latin typeface="Times New Roman"/>
                <a:cs typeface="Times New Roman"/>
              </a:rPr>
              <a:t>the language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elite, </a:t>
            </a:r>
            <a:r>
              <a:rPr dirty="0" sz="1100">
                <a:latin typeface="Times New Roman"/>
                <a:cs typeface="Times New Roman"/>
              </a:rPr>
              <a:t>press, </a:t>
            </a:r>
            <a:r>
              <a:rPr dirty="0" sz="1100" spc="-5">
                <a:latin typeface="Times New Roman"/>
                <a:cs typeface="Times New Roman"/>
              </a:rPr>
              <a:t>and administration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by Indians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received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33616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elite </a:t>
            </a:r>
            <a:r>
              <a:rPr dirty="0" sz="1100">
                <a:latin typeface="Times New Roman"/>
                <a:cs typeface="Times New Roman"/>
              </a:rPr>
              <a:t>preferred </a:t>
            </a:r>
            <a:r>
              <a:rPr dirty="0" sz="1100" spc="-5">
                <a:latin typeface="Times New Roman"/>
                <a:cs typeface="Times New Roman"/>
              </a:rPr>
              <a:t>an English education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150: </a:t>
            </a:r>
            <a:r>
              <a:rPr dirty="0" sz="1100" spc="-5">
                <a:latin typeface="Times New Roman"/>
                <a:cs typeface="Times New Roman"/>
              </a:rPr>
              <a:t>Language Policy and Planning in Pakistan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Post-partition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1973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clauses:</a:t>
            </a:r>
            <a:endParaRPr sz="1100">
              <a:latin typeface="Times New Roman"/>
              <a:cs typeface="Times New Roman"/>
            </a:endParaRPr>
          </a:p>
          <a:p>
            <a:pPr marL="12700" marR="24765">
              <a:lnSpc>
                <a:spcPct val="110200"/>
              </a:lnSpc>
              <a:buAutoNum type="arabicPeriod"/>
              <a:tabLst>
                <a:tab pos="1651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purposes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until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arrangements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replacement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Urdu.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Post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AutoNum type="arabicPeriod" startAt="2"/>
              <a:tabLst>
                <a:tab pos="168275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Provincial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Assembly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law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prescribe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measures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teaching,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promotion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provincial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addition to the </a:t>
            </a:r>
            <a:r>
              <a:rPr dirty="0" sz="1100">
                <a:latin typeface="Times New Roman"/>
                <a:cs typeface="Times New Roman"/>
              </a:rPr>
              <a:t>national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4911090" indent="45720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- </a:t>
            </a:r>
            <a:r>
              <a:rPr dirty="0" sz="1100" spc="-5">
                <a:latin typeface="Times New Roman"/>
                <a:cs typeface="Times New Roman"/>
              </a:rPr>
              <a:t>Rahman, </a:t>
            </a:r>
            <a:r>
              <a:rPr dirty="0" sz="1100">
                <a:latin typeface="Times New Roman"/>
                <a:cs typeface="Times New Roman"/>
              </a:rPr>
              <a:t>2003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Urdu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Urdu,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 7.57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</a:t>
            </a:r>
            <a:r>
              <a:rPr dirty="0" sz="1100" spc="-5">
                <a:latin typeface="Times New Roman"/>
                <a:cs typeface="Times New Roman"/>
              </a:rPr>
              <a:t> cent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Pakistan’s official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23221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Urdu was made the language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instruction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primary </a:t>
            </a:r>
            <a:r>
              <a:rPr dirty="0" sz="1100" spc="-5">
                <a:latin typeface="Times New Roman"/>
                <a:cs typeface="Times New Roman"/>
              </a:rPr>
              <a:t>level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Rationale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privileging of</a:t>
            </a:r>
            <a:r>
              <a:rPr dirty="0" sz="1100" spc="-5">
                <a:latin typeface="Times New Roman"/>
                <a:cs typeface="Times New Roman"/>
              </a:rPr>
              <a:t> Urdu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Widely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almost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5">
                <a:latin typeface="Times New Roman"/>
                <a:cs typeface="Times New Roman"/>
              </a:rPr>
              <a:t> language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Pakistanis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available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Urdu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symbol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unity</a:t>
            </a:r>
            <a:endParaRPr sz="1100">
              <a:latin typeface="Times New Roman"/>
              <a:cs typeface="Times New Roman"/>
            </a:endParaRPr>
          </a:p>
          <a:p>
            <a:pPr marL="12700" marR="31781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Serves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purpose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resisting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ethnicity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 for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Civil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Service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Pakistan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(CSP)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Army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Anglicized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bodies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Continuation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favouredthis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elite</a:t>
            </a:r>
            <a:endParaRPr sz="1100">
              <a:latin typeface="Times New Roman"/>
              <a:cs typeface="Times New Roman"/>
            </a:endParaRPr>
          </a:p>
          <a:p>
            <a:pPr marL="12700" marR="9359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medium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instruction was also maintained in elite and cadet schools and college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Privileging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elite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armed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forces</a:t>
            </a:r>
            <a:r>
              <a:rPr dirty="0" sz="1100" spc="-5">
                <a:latin typeface="Times New Roman"/>
                <a:cs typeface="Times New Roman"/>
              </a:rPr>
              <a:t> created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cadet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colleges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elitist schools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subsidized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</a:t>
            </a:r>
            <a:endParaRPr sz="1100">
              <a:latin typeface="Times New Roman"/>
              <a:cs typeface="Times New Roman"/>
            </a:endParaRPr>
          </a:p>
          <a:p>
            <a:pPr marL="12700" marR="298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believed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suitable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candidates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filling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elitist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positions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military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civil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services</a:t>
            </a:r>
            <a:endParaRPr sz="1100">
              <a:latin typeface="Times New Roman"/>
              <a:cs typeface="Times New Roman"/>
            </a:endParaRPr>
          </a:p>
          <a:p>
            <a:pPr marL="12700" marR="41014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Consequences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privileging policy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Promotes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hegemony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Weakens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lowers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Eliminates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diversity</a:t>
            </a:r>
            <a:endParaRPr sz="1100">
              <a:latin typeface="Times New Roman"/>
              <a:cs typeface="Times New Roman"/>
            </a:endParaRPr>
          </a:p>
          <a:p>
            <a:pPr marL="12700" marR="30905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poverty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favouring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English-using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elite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Consequences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privileging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Continuation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two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parallel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reflection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 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before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Created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instruction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resulting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 classes: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elite</a:t>
            </a:r>
            <a:endParaRPr sz="1100">
              <a:latin typeface="Times New Roman"/>
              <a:cs typeface="Times New Roman"/>
            </a:endParaRPr>
          </a:p>
          <a:p>
            <a:pPr marL="12700" marR="39408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Discrimination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opportunities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Zia’s Urduization policy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358890" cy="2499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Implementation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Urdu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instruction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government </a:t>
            </a:r>
            <a:r>
              <a:rPr dirty="0" sz="1100" spc="-5">
                <a:latin typeface="Times New Roman"/>
                <a:cs typeface="Times New Roman"/>
              </a:rPr>
              <a:t>schools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class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one.</a:t>
            </a:r>
            <a:endParaRPr sz="1100">
              <a:latin typeface="Times New Roman"/>
              <a:cs typeface="Times New Roman"/>
            </a:endParaRPr>
          </a:p>
          <a:p>
            <a:pPr marL="12700" marR="15443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Political influence led to the continuation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elite English medium schools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Musharraf’s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compulsory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class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onwards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Introduction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instruction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science,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Mathematics,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sciences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subjects</a:t>
            </a:r>
            <a:endParaRPr sz="1100">
              <a:latin typeface="Times New Roman"/>
              <a:cs typeface="Times New Roman"/>
            </a:endParaRPr>
          </a:p>
          <a:p>
            <a:pPr marL="12700" marR="18167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deadlock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due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unavailability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Dichotomies</a:t>
            </a:r>
            <a:endParaRPr sz="1100">
              <a:latin typeface="Times New Roman"/>
              <a:cs typeface="Times New Roman"/>
            </a:endParaRPr>
          </a:p>
          <a:p>
            <a:pPr marL="12700" marR="76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language-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in-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country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expediency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rather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effectiveness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Ambivalence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0900" y="3201429"/>
            <a:ext cx="7848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Lesson-26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3614319"/>
            <a:ext cx="6359525" cy="5780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41275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Times New Roman"/>
                <a:cs typeface="Times New Roman"/>
              </a:rPr>
              <a:t>New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Englishes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415417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151: </a:t>
            </a:r>
            <a:r>
              <a:rPr dirty="0" sz="1100" spc="-5">
                <a:latin typeface="Times New Roman"/>
                <a:cs typeface="Times New Roman"/>
              </a:rPr>
              <a:t>American English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Inner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reference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</a:t>
            </a:r>
            <a:endParaRPr sz="1100">
              <a:latin typeface="Times New Roman"/>
              <a:cs typeface="Times New Roman"/>
            </a:endParaRPr>
          </a:p>
          <a:p>
            <a:pPr marL="12700" marR="36937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First colonial </a:t>
            </a:r>
            <a:r>
              <a:rPr dirty="0" sz="1100">
                <a:latin typeface="Times New Roman"/>
                <a:cs typeface="Times New Roman"/>
              </a:rPr>
              <a:t>variety of </a:t>
            </a:r>
            <a:r>
              <a:rPr dirty="0" sz="1100" spc="-5">
                <a:latin typeface="Times New Roman"/>
                <a:cs typeface="Times New Roman"/>
              </a:rPr>
              <a:t>British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undergone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appropriation</a:t>
            </a:r>
            <a:endParaRPr sz="1100">
              <a:latin typeface="Times New Roman"/>
              <a:cs typeface="Times New Roman"/>
            </a:endParaRPr>
          </a:p>
          <a:p>
            <a:pPr marL="12700" marR="29870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result of </a:t>
            </a:r>
            <a:r>
              <a:rPr dirty="0" sz="1100" spc="-5">
                <a:latin typeface="Times New Roman"/>
                <a:cs typeface="Times New Roman"/>
              </a:rPr>
              <a:t>colonial expansion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British Empire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 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influential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longer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association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sociopolitical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in-migration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Shows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endParaRPr sz="1100">
              <a:latin typeface="Times New Roman"/>
              <a:cs typeface="Times New Roman"/>
            </a:endParaRPr>
          </a:p>
          <a:p>
            <a:pPr marL="12700" marR="356044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152: </a:t>
            </a:r>
            <a:r>
              <a:rPr dirty="0" sz="1100" spc="-5">
                <a:latin typeface="Times New Roman"/>
                <a:cs typeface="Times New Roman"/>
              </a:rPr>
              <a:t>American English: Settlement History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Unique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mixtures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settlers</a:t>
            </a:r>
            <a:endParaRPr sz="1100">
              <a:latin typeface="Times New Roman"/>
              <a:cs typeface="Times New Roman"/>
            </a:endParaRPr>
          </a:p>
          <a:p>
            <a:pPr marL="12700" marR="17176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First English-speaking </a:t>
            </a:r>
            <a:r>
              <a:rPr dirty="0" sz="1100">
                <a:latin typeface="Times New Roman"/>
                <a:cs typeface="Times New Roman"/>
              </a:rPr>
              <a:t>permanent </a:t>
            </a:r>
            <a:r>
              <a:rPr dirty="0" sz="1100" spc="-5">
                <a:latin typeface="Times New Roman"/>
                <a:cs typeface="Times New Roman"/>
              </a:rPr>
              <a:t>settlers came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the South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Maintained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country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England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share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prominent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southern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531876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Settlemen</a:t>
            </a:r>
            <a:r>
              <a:rPr dirty="0" sz="1100">
                <a:latin typeface="Times New Roman"/>
                <a:cs typeface="Times New Roman"/>
              </a:rPr>
              <a:t>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 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Dropping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postvocalic</a:t>
            </a:r>
            <a:r>
              <a:rPr dirty="0" sz="1100" spc="-5">
                <a:latin typeface="Times New Roman"/>
                <a:cs typeface="Times New Roman"/>
              </a:rPr>
              <a:t> /r/, 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 pronounced</a:t>
            </a:r>
            <a:r>
              <a:rPr dirty="0" sz="1100" spc="-5">
                <a:latin typeface="Times New Roman"/>
                <a:cs typeface="Times New Roman"/>
              </a:rPr>
              <a:t> in words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 car,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card,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four,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fourth</a:t>
            </a:r>
            <a:endParaRPr sz="1100">
              <a:latin typeface="Times New Roman"/>
              <a:cs typeface="Times New Roman"/>
            </a:endParaRPr>
          </a:p>
          <a:p>
            <a:pPr marL="12700" marR="39947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retention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/j/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Aristocratic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plantation</a:t>
            </a:r>
            <a:r>
              <a:rPr dirty="0" sz="1100" spc="-5">
                <a:latin typeface="Times New Roman"/>
                <a:cs typeface="Times New Roman"/>
              </a:rPr>
              <a:t> culture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coastal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Georgia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Immigrants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seventeenth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 northern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western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England,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Scotland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Ireland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Less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affluent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origins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working-class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3970" cy="556704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Settlement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Eighteenth-century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immigrants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Appalachian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mountains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Rooted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  <a:p>
            <a:pPr marL="12700" marR="13881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nineteenth </a:t>
            </a:r>
            <a:r>
              <a:rPr dirty="0" sz="1100" spc="-5">
                <a:latin typeface="Times New Roman"/>
                <a:cs typeface="Times New Roman"/>
              </a:rPr>
              <a:t>century immigrants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Europe and Britain spread to the west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Transcontinental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advanced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building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transcontinental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railway</a:t>
            </a:r>
            <a:endParaRPr sz="1100">
              <a:latin typeface="Times New Roman"/>
              <a:cs typeface="Times New Roman"/>
            </a:endParaRPr>
          </a:p>
          <a:p>
            <a:pPr marL="12700" marR="88074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immigration and movement led to </a:t>
            </a:r>
            <a:r>
              <a:rPr dirty="0" sz="1100">
                <a:latin typeface="Times New Roman"/>
                <a:cs typeface="Times New Roman"/>
              </a:rPr>
              <a:t>a process of </a:t>
            </a:r>
            <a:r>
              <a:rPr dirty="0" sz="1100" spc="-5">
                <a:latin typeface="Times New Roman"/>
                <a:cs typeface="Times New Roman"/>
              </a:rPr>
              <a:t>mixing and </a:t>
            </a:r>
            <a:r>
              <a:rPr dirty="0" sz="1100">
                <a:latin typeface="Times New Roman"/>
                <a:cs typeface="Times New Roman"/>
              </a:rPr>
              <a:t>blending of </a:t>
            </a:r>
            <a:r>
              <a:rPr dirty="0" sz="1100" spc="-5">
                <a:latin typeface="Times New Roman"/>
                <a:cs typeface="Times New Roman"/>
              </a:rPr>
              <a:t>accentspeople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Koineization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Dialect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koinéization</a:t>
            </a:r>
            <a:endParaRPr sz="1100">
              <a:latin typeface="Times New Roman"/>
              <a:cs typeface="Times New Roman"/>
            </a:endParaRPr>
          </a:p>
          <a:p>
            <a:pPr marL="12700" marR="76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Koineization: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emergence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dialect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mixing,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leveling,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simplifying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different dialects of</a:t>
            </a:r>
            <a:r>
              <a:rPr dirty="0" sz="1100" spc="-5">
                <a:latin typeface="Times New Roman"/>
                <a:cs typeface="Times New Roman"/>
              </a:rPr>
              <a:t> mutually intelligible languages</a:t>
            </a:r>
            <a:endParaRPr sz="1100">
              <a:latin typeface="Times New Roman"/>
              <a:cs typeface="Times New Roman"/>
            </a:endParaRPr>
          </a:p>
          <a:p>
            <a:pPr marL="12700" marR="28390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perceived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fairly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homogeneous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Koineization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Involves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abandon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</a:t>
            </a:r>
            <a:r>
              <a:rPr dirty="0" sz="1100" spc="-5">
                <a:latin typeface="Times New Roman"/>
                <a:cs typeface="Times New Roman"/>
              </a:rPr>
              <a:t> linguistic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28390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perceived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fairly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homogeneous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153: </a:t>
            </a:r>
            <a:r>
              <a:rPr dirty="0" sz="1100" spc="-5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English-I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Regional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dialects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Regional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dialect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differences</a:t>
            </a:r>
            <a:r>
              <a:rPr dirty="0" sz="1100" spc="-5">
                <a:latin typeface="Times New Roman"/>
                <a:cs typeface="Times New Roman"/>
              </a:rPr>
              <a:t> 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pronunciation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patterns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inland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northern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region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comes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closest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“unmarked”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globally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perceived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“typically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American”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Regional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dialects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Midlands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transition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</a:t>
            </a:r>
            <a:endParaRPr sz="1100">
              <a:latin typeface="Times New Roman"/>
              <a:cs typeface="Times New Roman"/>
            </a:endParaRPr>
          </a:p>
          <a:p>
            <a:pPr marL="12700" marR="3670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small </a:t>
            </a:r>
            <a:r>
              <a:rPr dirty="0" sz="1100">
                <a:latin typeface="Times New Roman"/>
                <a:cs typeface="Times New Roman"/>
              </a:rPr>
              <a:t>number of features of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own </a:t>
            </a:r>
            <a:r>
              <a:rPr dirty="0" sz="1100" spc="-5">
                <a:latin typeface="Times New Roman"/>
                <a:cs typeface="Times New Roman"/>
              </a:rPr>
              <a:t>and an increasing </a:t>
            </a:r>
            <a:r>
              <a:rPr dirty="0" sz="1100">
                <a:latin typeface="Times New Roman"/>
                <a:cs typeface="Times New Roman"/>
              </a:rPr>
              <a:t>number of northern or </a:t>
            </a:r>
            <a:r>
              <a:rPr dirty="0" sz="1100" spc="-5">
                <a:latin typeface="Times New Roman"/>
                <a:cs typeface="Times New Roman"/>
              </a:rPr>
              <a:t>southern </a:t>
            </a:r>
            <a:r>
              <a:rPr dirty="0" sz="1100">
                <a:latin typeface="Times New Roman"/>
                <a:cs typeface="Times New Roman"/>
              </a:rPr>
              <a:t>features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dialects</a:t>
            </a:r>
            <a:endParaRPr sz="1100">
              <a:latin typeface="Times New Roman"/>
              <a:cs typeface="Times New Roman"/>
            </a:endParaRPr>
          </a:p>
          <a:p>
            <a:pPr marL="12700" marR="21405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Regional </a:t>
            </a:r>
            <a:r>
              <a:rPr dirty="0" sz="1100">
                <a:latin typeface="Times New Roman"/>
                <a:cs typeface="Times New Roman"/>
              </a:rPr>
              <a:t>differences </a:t>
            </a:r>
            <a:r>
              <a:rPr dirty="0" sz="1100" spc="-5">
                <a:latin typeface="Times New Roman"/>
                <a:cs typeface="Times New Roman"/>
              </a:rPr>
              <a:t>include </a:t>
            </a:r>
            <a:r>
              <a:rPr dirty="0" sz="1100">
                <a:latin typeface="Times New Roman"/>
                <a:cs typeface="Times New Roman"/>
              </a:rPr>
              <a:t>differences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pronunciation </a:t>
            </a:r>
            <a:r>
              <a:rPr dirty="0" sz="1100" spc="-5">
                <a:latin typeface="Times New Roman"/>
                <a:cs typeface="Times New Roman"/>
              </a:rPr>
              <a:t>and lexis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dialects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dialects</a:t>
            </a:r>
            <a:r>
              <a:rPr dirty="0" sz="1100" spc="-5">
                <a:latin typeface="Times New Roman"/>
                <a:cs typeface="Times New Roman"/>
              </a:rPr>
              <a:t> 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characterized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postvocalic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/r/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Lengthening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breaking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vowels: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6188517"/>
            <a:ext cx="1572895" cy="1318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8801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[Iə] in bit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Regiona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dialects 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Lexis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mosquito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hawk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dragonfly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granny </a:t>
            </a:r>
            <a:r>
              <a:rPr dirty="0" sz="1100" spc="-5">
                <a:latin typeface="Times New Roman"/>
                <a:cs typeface="Times New Roman"/>
              </a:rPr>
              <a:t>woman =midwife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jackleg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unprofessional,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62317" y="7313834"/>
            <a:ext cx="55372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dishonest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7481454"/>
            <a:ext cx="5489575" cy="18726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985135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154: </a:t>
            </a:r>
            <a:r>
              <a:rPr dirty="0" sz="1100" spc="-5">
                <a:latin typeface="Times New Roman"/>
                <a:cs typeface="Times New Roman"/>
              </a:rPr>
              <a:t>Varieties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American English-II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dialects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Variations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Variations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Acceptability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regional</a:t>
            </a:r>
            <a:r>
              <a:rPr dirty="0" sz="1100" spc="-5">
                <a:latin typeface="Times New Roman"/>
                <a:cs typeface="Times New Roman"/>
              </a:rPr>
              <a:t> accents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Unacceptability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non-standard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grammatical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(like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multiple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negation,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ain’t)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Ethnic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immigration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Produced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Involves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shift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minority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ethnic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3335" cy="880046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Ethnic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Involve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modification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33604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 American English </a:t>
            </a:r>
            <a:r>
              <a:rPr dirty="0" sz="1100">
                <a:latin typeface="Times New Roman"/>
                <a:cs typeface="Times New Roman"/>
              </a:rPr>
              <a:t>(AAE),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Ethnic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Perceived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homogeneous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degree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mixing,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mutual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accommodation,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koinéization</a:t>
            </a:r>
            <a:endParaRPr sz="1100">
              <a:latin typeface="Times New Roman"/>
              <a:cs typeface="Times New Roman"/>
            </a:endParaRPr>
          </a:p>
          <a:p>
            <a:pPr marL="12700" marR="13309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Dialect studies show </a:t>
            </a:r>
            <a:r>
              <a:rPr dirty="0" sz="1100">
                <a:latin typeface="Times New Roman"/>
                <a:cs typeface="Times New Roman"/>
              </a:rPr>
              <a:t>a great deal of phonetic, </a:t>
            </a:r>
            <a:r>
              <a:rPr dirty="0" sz="1100" spc="-5">
                <a:latin typeface="Times New Roman"/>
                <a:cs typeface="Times New Roman"/>
              </a:rPr>
              <a:t>lexical, and </a:t>
            </a:r>
            <a:r>
              <a:rPr dirty="0" sz="1100">
                <a:latin typeface="Times New Roman"/>
                <a:cs typeface="Times New Roman"/>
              </a:rPr>
              <a:t>grammatical variability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Ethnic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uniform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387222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Diversity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replaced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homogeneity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>
                <a:latin typeface="Times New Roman"/>
                <a:cs typeface="Times New Roman"/>
              </a:rPr>
              <a:t> 155: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Canadian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English-I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immigration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scale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started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half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 twentieth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influx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immigrants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revolution</a:t>
            </a:r>
            <a:endParaRPr sz="1100">
              <a:latin typeface="Times New Roman"/>
              <a:cs typeface="Times New Roman"/>
            </a:endParaRPr>
          </a:p>
          <a:p>
            <a:pPr marL="12700" marR="26784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 </a:t>
            </a:r>
            <a:r>
              <a:rPr dirty="0" sz="1100">
                <a:latin typeface="Times New Roman"/>
                <a:cs typeface="Times New Roman"/>
              </a:rPr>
              <a:t>retained </a:t>
            </a:r>
            <a:r>
              <a:rPr dirty="0" sz="1100" spc="-5">
                <a:latin typeface="Times New Roman"/>
                <a:cs typeface="Times New Roman"/>
              </a:rPr>
              <a:t>strong cultural and </a:t>
            </a:r>
            <a:r>
              <a:rPr dirty="0" sz="1100">
                <a:latin typeface="Times New Roman"/>
                <a:cs typeface="Times New Roman"/>
              </a:rPr>
              <a:t>political </a:t>
            </a:r>
            <a:r>
              <a:rPr dirty="0" sz="1100" spc="-5">
                <a:latin typeface="Times New Roman"/>
                <a:cs typeface="Times New Roman"/>
              </a:rPr>
              <a:t>ties with Britain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immigration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large proportion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Canada’s settlers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 come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the USA</a:t>
            </a:r>
            <a:endParaRPr sz="1100">
              <a:latin typeface="Times New Roman"/>
              <a:cs typeface="Times New Roman"/>
            </a:endParaRPr>
          </a:p>
          <a:p>
            <a:pPr marL="12700" marR="11258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Canadian English is traditionally </a:t>
            </a:r>
            <a:r>
              <a:rPr dirty="0" sz="1100">
                <a:latin typeface="Times New Roman"/>
                <a:cs typeface="Times New Roman"/>
              </a:rPr>
              <a:t>described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mix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British and American </a:t>
            </a:r>
            <a:r>
              <a:rPr dirty="0" sz="1100">
                <a:latin typeface="Times New Roman"/>
                <a:cs typeface="Times New Roman"/>
              </a:rPr>
              <a:t>features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Influences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Canadian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British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Region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Generation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ongoing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Americanization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youth)</a:t>
            </a:r>
            <a:endParaRPr sz="1100">
              <a:latin typeface="Times New Roman"/>
              <a:cs typeface="Times New Roman"/>
            </a:endParaRPr>
          </a:p>
          <a:p>
            <a:pPr marL="12700" marR="45650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 level </a:t>
            </a:r>
            <a:r>
              <a:rPr dirty="0" sz="1100">
                <a:latin typeface="Times New Roman"/>
                <a:cs typeface="Times New Roman"/>
              </a:rPr>
              <a:t> Influences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Canadian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Pronunciation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</a:t>
            </a:r>
            <a:endParaRPr sz="1100">
              <a:latin typeface="Times New Roman"/>
              <a:cs typeface="Times New Roman"/>
            </a:endParaRPr>
          </a:p>
          <a:p>
            <a:pPr marL="12700" marR="14878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Vocabulary items and some spellings show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tendency towards British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Influences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Canadian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growth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</a:t>
            </a:r>
            <a:r>
              <a:rPr dirty="0" sz="1100" spc="-5">
                <a:latin typeface="Times New Roman"/>
                <a:cs typeface="Times New Roman"/>
              </a:rPr>
              <a:t> Canadian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identity after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WWII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reflected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uniquely</a:t>
            </a:r>
            <a:r>
              <a:rPr dirty="0" sz="1100" spc="-5">
                <a:latin typeface="Times New Roman"/>
                <a:cs typeface="Times New Roman"/>
              </a:rPr>
              <a:t> Canadian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 chesterfield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‘couch’</a:t>
            </a:r>
            <a:endParaRPr sz="1100">
              <a:latin typeface="Times New Roman"/>
              <a:cs typeface="Times New Roman"/>
            </a:endParaRPr>
          </a:p>
          <a:p>
            <a:pPr marL="12700" marR="40100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(inviting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approval)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Influences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Canadian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noticeable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Canadian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English: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Canadian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Raising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i.e.,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pronunciation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eɪ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ʊ/with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-5">
                <a:latin typeface="Times New Roman"/>
                <a:cs typeface="Times New Roman"/>
              </a:rPr>
              <a:t> raised,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central onset before voiceless consonants,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cold [əʊ]</a:t>
            </a:r>
            <a:endParaRPr sz="1100">
              <a:latin typeface="Times New Roman"/>
              <a:cs typeface="Times New Roman"/>
            </a:endParaRPr>
          </a:p>
          <a:p>
            <a:pPr marL="12700" marR="45561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bite sound like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bait [eɪ]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156:Canadian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English-II</a:t>
            </a:r>
            <a:endParaRPr sz="1100">
              <a:latin typeface="Times New Roman"/>
              <a:cs typeface="Times New Roman"/>
            </a:endParaRPr>
          </a:p>
          <a:p>
            <a:pPr algn="r" marR="554355">
              <a:lnSpc>
                <a:spcPct val="100000"/>
              </a:lnSpc>
              <a:spcBef>
                <a:spcPts val="114"/>
              </a:spcBef>
            </a:pPr>
            <a:r>
              <a:rPr dirty="0" sz="1400" spc="10">
                <a:latin typeface="Times New Roman"/>
                <a:cs typeface="Times New Roman"/>
              </a:rPr>
              <a:t>Lesson-27</a:t>
            </a:r>
            <a:endParaRPr sz="1400">
              <a:latin typeface="Times New Roman"/>
              <a:cs typeface="Times New Roman"/>
            </a:endParaRPr>
          </a:p>
          <a:p>
            <a:pPr algn="ctr" marL="10160">
              <a:lnSpc>
                <a:spcPct val="100000"/>
              </a:lnSpc>
              <a:spcBef>
                <a:spcPts val="1170"/>
              </a:spcBef>
            </a:pPr>
            <a:r>
              <a:rPr dirty="0" sz="1400" spc="25">
                <a:latin typeface="Times New Roman"/>
                <a:cs typeface="Times New Roman"/>
              </a:rPr>
              <a:t>English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35">
                <a:latin typeface="Times New Roman"/>
                <a:cs typeface="Times New Roman"/>
              </a:rPr>
              <a:t>in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45">
                <a:latin typeface="Times New Roman"/>
                <a:cs typeface="Times New Roman"/>
              </a:rPr>
              <a:t>Australia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and</a:t>
            </a:r>
            <a:r>
              <a:rPr dirty="0" sz="1400" spc="-5">
                <a:latin typeface="Times New Roman"/>
                <a:cs typeface="Times New Roman"/>
              </a:rPr>
              <a:t> New </a:t>
            </a:r>
            <a:r>
              <a:rPr dirty="0" sz="1400" spc="50">
                <a:latin typeface="Times New Roman"/>
                <a:cs typeface="Times New Roman"/>
              </a:rPr>
              <a:t>Zealand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Times New Roman"/>
              <a:cs typeface="Times New Roman"/>
            </a:endParaRPr>
          </a:p>
          <a:p>
            <a:pPr marL="12700" marR="201295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157: </a:t>
            </a:r>
            <a:r>
              <a:rPr dirty="0" sz="1100" spc="-5">
                <a:latin typeface="Times New Roman"/>
                <a:cs typeface="Times New Roman"/>
              </a:rPr>
              <a:t>English in Australia and New Zealand: Origin and Development-I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Similarities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Geographical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proximity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Frequent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migration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travel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Australia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Zealand</a:t>
            </a:r>
            <a:endParaRPr sz="1100">
              <a:latin typeface="Times New Roman"/>
              <a:cs typeface="Times New Roman"/>
            </a:endParaRPr>
          </a:p>
          <a:p>
            <a:pPr marL="12700" marR="41903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stages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049520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504825" indent="-492125">
              <a:lnSpc>
                <a:spcPct val="100000"/>
              </a:lnSpc>
              <a:spcBef>
                <a:spcPts val="234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Related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settlers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</a:t>
            </a:r>
            <a:r>
              <a:rPr dirty="0" sz="1100" spc="-5">
                <a:latin typeface="Times New Roman"/>
                <a:cs typeface="Times New Roman"/>
              </a:rPr>
              <a:t> England</a:t>
            </a:r>
            <a:endParaRPr sz="1100">
              <a:latin typeface="Times New Roman"/>
              <a:cs typeface="Times New Roman"/>
            </a:endParaRPr>
          </a:p>
          <a:p>
            <a:pPr marL="12700" marR="13989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Influence of </a:t>
            </a:r>
            <a:r>
              <a:rPr dirty="0" sz="1100" spc="-5">
                <a:latin typeface="Times New Roman"/>
                <a:cs typeface="Times New Roman"/>
              </a:rPr>
              <a:t>Australian English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New Zealand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Periods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development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Australian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settlement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(1788-1820)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Colonized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1788</a:t>
            </a:r>
            <a:endParaRPr sz="1100">
              <a:latin typeface="Times New Roman"/>
              <a:cs typeface="Times New Roman"/>
            </a:endParaRPr>
          </a:p>
          <a:p>
            <a:pPr marL="12700" marR="23044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Demonstrated powerful “founder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effect”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Periods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development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Australian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settlement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(1788-1820)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Influence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southeast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Settlers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southeast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Relative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southeast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12700" marR="79184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158: </a:t>
            </a:r>
            <a:r>
              <a:rPr dirty="0" sz="1100" spc="-5">
                <a:latin typeface="Times New Roman"/>
                <a:cs typeface="Times New Roman"/>
              </a:rPr>
              <a:t>English in Australia and New Zealand: Origin and Development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Expansion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establishment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colonies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1820: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stabilization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Sydney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1831: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founding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Port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Philip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(Melbourne)</a:t>
            </a:r>
            <a:r>
              <a:rPr dirty="0" sz="1100" spc="-5">
                <a:latin typeface="Times New Roman"/>
                <a:cs typeface="Times New Roman"/>
              </a:rPr>
              <a:t> colony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Movement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Sydney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Port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Philip</a:t>
            </a:r>
            <a:endParaRPr sz="1100">
              <a:latin typeface="Times New Roman"/>
              <a:cs typeface="Times New Roman"/>
            </a:endParaRPr>
          </a:p>
          <a:p>
            <a:pPr marL="12700" marR="1579880">
              <a:lnSpc>
                <a:spcPct val="110200"/>
              </a:lnSpc>
              <a:buChar char="•"/>
              <a:tabLst>
                <a:tab pos="469265" algn="l"/>
                <a:tab pos="469900" algn="l"/>
                <a:tab pos="2727960" algn="l"/>
              </a:tabLst>
            </a:pPr>
            <a:r>
              <a:rPr dirty="0" sz="1100">
                <a:latin typeface="Times New Roman"/>
                <a:cs typeface="Times New Roman"/>
              </a:rPr>
              <a:t>1840: </a:t>
            </a:r>
            <a:r>
              <a:rPr dirty="0" sz="1100" spc="-5">
                <a:latin typeface="Times New Roman"/>
                <a:cs typeface="Times New Roman"/>
              </a:rPr>
              <a:t>Establishment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New Zealand colony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Expansio</a:t>
            </a:r>
            <a:r>
              <a:rPr dirty="0" sz="1100">
                <a:latin typeface="Times New Roman"/>
                <a:cs typeface="Times New Roman"/>
              </a:rPr>
              <a:t>n</a:t>
            </a:r>
            <a:r>
              <a:rPr dirty="0" sz="1100" spc="-5">
                <a:latin typeface="Times New Roman"/>
                <a:cs typeface="Times New Roman"/>
              </a:rPr>
              <a:t> an</a:t>
            </a:r>
            <a:r>
              <a:rPr dirty="0" sz="1100">
                <a:latin typeface="Times New Roman"/>
                <a:cs typeface="Times New Roman"/>
              </a:rPr>
              <a:t>d</a:t>
            </a:r>
            <a:r>
              <a:rPr dirty="0" sz="1100" spc="-5">
                <a:latin typeface="Times New Roman"/>
                <a:cs typeface="Times New Roman"/>
              </a:rPr>
              <a:t> establishmen</a:t>
            </a:r>
            <a:r>
              <a:rPr dirty="0" sz="1100">
                <a:latin typeface="Times New Roman"/>
                <a:cs typeface="Times New Roman"/>
              </a:rPr>
              <a:t>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 new </a:t>
            </a:r>
            <a:r>
              <a:rPr dirty="0" sz="1100" spc="-5">
                <a:latin typeface="Times New Roman"/>
                <a:cs typeface="Times New Roman"/>
              </a:rPr>
              <a:t>colonie</a:t>
            </a:r>
            <a:r>
              <a:rPr dirty="0" sz="1100">
                <a:latin typeface="Times New Roman"/>
                <a:cs typeface="Times New Roman"/>
              </a:rPr>
              <a:t>s	(1820 -1850)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1840: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Establishment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Zealand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Influence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southeast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Comprised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multiple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settlements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1817370">
              <a:lnSpc>
                <a:spcPct val="110200"/>
              </a:lnSpc>
              <a:buChar char="•"/>
              <a:tabLst>
                <a:tab pos="469265" algn="l"/>
                <a:tab pos="469900" algn="l"/>
                <a:tab pos="2042160" algn="l"/>
              </a:tabLst>
            </a:pPr>
            <a:r>
              <a:rPr dirty="0" sz="1100">
                <a:latin typeface="Times New Roman"/>
                <a:cs typeface="Times New Roman"/>
              </a:rPr>
              <a:t>Influence of </a:t>
            </a:r>
            <a:r>
              <a:rPr dirty="0" sz="1100" spc="-5">
                <a:latin typeface="Times New Roman"/>
                <a:cs typeface="Times New Roman"/>
              </a:rPr>
              <a:t>the Australian English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early NZE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Gold </a:t>
            </a:r>
            <a:r>
              <a:rPr dirty="0" sz="1100">
                <a:latin typeface="Times New Roman"/>
                <a:cs typeface="Times New Roman"/>
              </a:rPr>
              <a:t>rushes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new </a:t>
            </a:r>
            <a:r>
              <a:rPr dirty="0" sz="1100" spc="-5">
                <a:latin typeface="Times New Roman"/>
                <a:cs typeface="Times New Roman"/>
              </a:rPr>
              <a:t>migration	</a:t>
            </a:r>
            <a:r>
              <a:rPr dirty="0" sz="1100">
                <a:latin typeface="Times New Roman"/>
                <a:cs typeface="Times New Roman"/>
              </a:rPr>
              <a:t>(1850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-1900)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migration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Gold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rushes</a:t>
            </a:r>
            <a:endParaRPr sz="1100">
              <a:latin typeface="Times New Roman"/>
              <a:cs typeface="Times New Roman"/>
            </a:endParaRPr>
          </a:p>
          <a:p>
            <a:pPr marL="12700" marR="19196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British </a:t>
            </a:r>
            <a:r>
              <a:rPr dirty="0" sz="1100">
                <a:latin typeface="Times New Roman"/>
                <a:cs typeface="Times New Roman"/>
              </a:rPr>
              <a:t>policies resulting </a:t>
            </a:r>
            <a:r>
              <a:rPr dirty="0" sz="1100" spc="-5">
                <a:latin typeface="Times New Roman"/>
                <a:cs typeface="Times New Roman"/>
              </a:rPr>
              <a:t>in increased migration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</a:t>
            </a:r>
            <a:r>
              <a:rPr dirty="0" sz="1100" spc="-5">
                <a:latin typeface="Times New Roman"/>
                <a:cs typeface="Times New Roman"/>
              </a:rPr>
              <a:t> independence </a:t>
            </a:r>
            <a:r>
              <a:rPr dirty="0" sz="1100">
                <a:latin typeface="Times New Roman"/>
                <a:cs typeface="Times New Roman"/>
              </a:rPr>
              <a:t>(1900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-1960)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Establishment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further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Considering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(RP)</a:t>
            </a:r>
            <a:r>
              <a:rPr dirty="0" sz="1100" spc="-5">
                <a:latin typeface="Times New Roman"/>
                <a:cs typeface="Times New Roman"/>
              </a:rPr>
              <a:t> 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norm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12700" marR="2167890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Rising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 </a:t>
            </a:r>
            <a:r>
              <a:rPr dirty="0" sz="1100" spc="-5">
                <a:latin typeface="Times New Roman"/>
                <a:cs typeface="Times New Roman"/>
              </a:rPr>
              <a:t>and linguistic identity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Awareness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(1960-present)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Awareness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</a:t>
            </a:r>
            <a:endParaRPr sz="1100">
              <a:latin typeface="Times New Roman"/>
              <a:cs typeface="Times New Roman"/>
            </a:endParaRPr>
          </a:p>
          <a:p>
            <a:pPr marL="12700" marR="21678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Serious scholarly work conducted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Awareness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(1960-present)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dictionaries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Macquarie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Codification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</a:t>
            </a:r>
            <a:endParaRPr sz="1100">
              <a:latin typeface="Times New Roman"/>
              <a:cs typeface="Times New Roman"/>
            </a:endParaRPr>
          </a:p>
          <a:p>
            <a:pPr marL="12700" marR="2667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Expansion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linguistic </a:t>
            </a:r>
            <a:r>
              <a:rPr dirty="0" sz="1100">
                <a:latin typeface="Times New Roman"/>
                <a:cs typeface="Times New Roman"/>
              </a:rPr>
              <a:t>diversity due </a:t>
            </a:r>
            <a:r>
              <a:rPr dirty="0" sz="1100" spc="-5">
                <a:latin typeface="Times New Roman"/>
                <a:cs typeface="Times New Roman"/>
              </a:rPr>
              <a:t>to migration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all </a:t>
            </a:r>
            <a:r>
              <a:rPr dirty="0" sz="1100">
                <a:latin typeface="Times New Roman"/>
                <a:cs typeface="Times New Roman"/>
              </a:rPr>
              <a:t>over </a:t>
            </a:r>
            <a:r>
              <a:rPr dirty="0" sz="1100" spc="-5">
                <a:latin typeface="Times New Roman"/>
                <a:cs typeface="Times New Roman"/>
              </a:rPr>
              <a:t>the world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159: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Zealand: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Distinguishing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features: pronunciation</a:t>
            </a:r>
            <a:endParaRPr sz="1100">
              <a:latin typeface="Times New Roman"/>
              <a:cs typeface="Times New Roman"/>
            </a:endParaRPr>
          </a:p>
          <a:p>
            <a:pPr marL="46990" marR="3380740" indent="-349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pronunciation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vowels: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/ɪ/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bit</a:t>
            </a:r>
            <a:endParaRPr sz="1100">
              <a:latin typeface="Times New Roman"/>
              <a:cs typeface="Times New Roman"/>
            </a:endParaRPr>
          </a:p>
          <a:p>
            <a:pPr marL="12700" marR="3556000" indent="3492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ɪ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raised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fronted</a:t>
            </a:r>
            <a:endParaRPr sz="1100">
              <a:latin typeface="Times New Roman"/>
              <a:cs typeface="Times New Roman"/>
            </a:endParaRPr>
          </a:p>
          <a:p>
            <a:pPr marL="4699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/i/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4284980" cy="279654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sit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seat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Distinguishing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Pronunciation</a:t>
            </a:r>
            <a:endParaRPr sz="1100">
              <a:latin typeface="Times New Roman"/>
              <a:cs typeface="Times New Roman"/>
            </a:endParaRPr>
          </a:p>
          <a:p>
            <a:pPr marL="469900" marR="5080" indent="-4572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 New Zealand</a:t>
            </a:r>
            <a:r>
              <a:rPr dirty="0" sz="1100">
                <a:latin typeface="Times New Roman"/>
                <a:cs typeface="Times New Roman"/>
              </a:rPr>
              <a:t> / ɪ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5">
                <a:latin typeface="Times New Roman"/>
                <a:cs typeface="Times New Roman"/>
              </a:rPr>
              <a:t> has</a:t>
            </a:r>
            <a:r>
              <a:rPr dirty="0" sz="1100">
                <a:latin typeface="Times New Roman"/>
                <a:cs typeface="Times New Roman"/>
              </a:rPr>
              <a:t> gone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opposite direction,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centralizing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ʌ /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5">
                <a:latin typeface="Times New Roman"/>
                <a:cs typeface="Times New Roman"/>
              </a:rPr>
              <a:t> sut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merger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vowels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/eə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ɪə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/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NZE</a:t>
            </a:r>
            <a:endParaRPr sz="1100">
              <a:latin typeface="Times New Roman"/>
              <a:cs typeface="Times New Roman"/>
            </a:endParaRPr>
          </a:p>
          <a:p>
            <a:pPr marL="12700" marR="2964815" indent="4572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ear </a:t>
            </a:r>
            <a:r>
              <a:rPr dirty="0" sz="1100">
                <a:latin typeface="Times New Roman"/>
                <a:cs typeface="Times New Roman"/>
              </a:rPr>
              <a:t>= </a:t>
            </a:r>
            <a:r>
              <a:rPr dirty="0" sz="1100" spc="-5">
                <a:latin typeface="Times New Roman"/>
                <a:cs typeface="Times New Roman"/>
              </a:rPr>
              <a:t>air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Distinguishin</a:t>
            </a:r>
            <a:r>
              <a:rPr dirty="0" sz="1100">
                <a:latin typeface="Times New Roman"/>
                <a:cs typeface="Times New Roman"/>
              </a:rPr>
              <a:t>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Hypocoristics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Tendency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diminutive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name</a:t>
            </a:r>
            <a:endParaRPr sz="1100">
              <a:latin typeface="Times New Roman"/>
              <a:cs typeface="Times New Roman"/>
            </a:endParaRPr>
          </a:p>
          <a:p>
            <a:pPr marL="12700" marR="8286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Tendency to </a:t>
            </a:r>
            <a:r>
              <a:rPr dirty="0" sz="1100">
                <a:latin typeface="Times New Roman"/>
                <a:cs typeface="Times New Roman"/>
              </a:rPr>
              <a:t>generally </a:t>
            </a:r>
            <a:r>
              <a:rPr dirty="0" sz="1100" spc="-5">
                <a:latin typeface="Times New Roman"/>
                <a:cs typeface="Times New Roman"/>
              </a:rPr>
              <a:t>modify </a:t>
            </a:r>
            <a:r>
              <a:rPr dirty="0" sz="1100">
                <a:latin typeface="Times New Roman"/>
                <a:cs typeface="Times New Roman"/>
              </a:rPr>
              <a:t>names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Barry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5">
                <a:latin typeface="Times New Roman"/>
                <a:cs typeface="Times New Roman"/>
              </a:rPr>
              <a:t> Bazza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Bazz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afternoon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arvo</a:t>
            </a:r>
            <a:endParaRPr sz="1100">
              <a:latin typeface="Times New Roman"/>
              <a:cs typeface="Times New Roman"/>
            </a:endParaRPr>
          </a:p>
          <a:p>
            <a:pPr marL="12700" marR="198564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Distinguishing </a:t>
            </a:r>
            <a:r>
              <a:rPr dirty="0" sz="1100">
                <a:latin typeface="Times New Roman"/>
                <a:cs typeface="Times New Roman"/>
              </a:rPr>
              <a:t>features: </a:t>
            </a:r>
            <a:r>
              <a:rPr dirty="0" sz="1100" spc="-5">
                <a:latin typeface="Times New Roman"/>
                <a:cs typeface="Times New Roman"/>
              </a:rPr>
              <a:t>Lexicon in NZE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5">
                <a:latin typeface="Times New Roman"/>
                <a:cs typeface="Times New Roman"/>
              </a:rPr>
              <a:t> worries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3417949"/>
            <a:ext cx="1688464" cy="57975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  <a:tabLst>
                <a:tab pos="643890" algn="l"/>
              </a:tabLst>
            </a:pPr>
            <a:r>
              <a:rPr dirty="0" sz="1100">
                <a:latin typeface="Times New Roman"/>
                <a:cs typeface="Times New Roman"/>
              </a:rPr>
              <a:t>bach	=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holiday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home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tabLst>
                <a:tab pos="469265" algn="l"/>
                <a:tab pos="608965" algn="l"/>
              </a:tabLst>
            </a:pPr>
            <a:r>
              <a:rPr dirty="0" sz="1100" spc="-5">
                <a:latin typeface="Times New Roman"/>
                <a:cs typeface="Times New Roman"/>
              </a:rPr>
              <a:t>Egg		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insult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(fool)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Waka	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97240" y="3804430"/>
            <a:ext cx="521334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transport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3972063"/>
            <a:ext cx="6285865" cy="5382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72186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Barbie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shortened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version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barbecue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Distinguishing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endParaRPr sz="1100">
              <a:latin typeface="Times New Roman"/>
              <a:cs typeface="Times New Roman"/>
            </a:endParaRPr>
          </a:p>
          <a:p>
            <a:pPr marL="12700" marR="15100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Australia, the service </a:t>
            </a:r>
            <a:r>
              <a:rPr dirty="0" sz="1100">
                <a:latin typeface="Times New Roman"/>
                <a:cs typeface="Times New Roman"/>
              </a:rPr>
              <a:t>provider </a:t>
            </a:r>
            <a:r>
              <a:rPr dirty="0" sz="1100" spc="-5">
                <a:latin typeface="Times New Roman"/>
                <a:cs typeface="Times New Roman"/>
              </a:rPr>
              <a:t>will </a:t>
            </a:r>
            <a:r>
              <a:rPr dirty="0" sz="1100">
                <a:latin typeface="Times New Roman"/>
                <a:cs typeface="Times New Roman"/>
              </a:rPr>
              <a:t>name </a:t>
            </a:r>
            <a:r>
              <a:rPr dirty="0" sz="1100" spc="-5">
                <a:latin typeface="Times New Roman"/>
                <a:cs typeface="Times New Roman"/>
              </a:rPr>
              <a:t>the total </a:t>
            </a:r>
            <a:r>
              <a:rPr dirty="0" sz="1100">
                <a:latin typeface="Times New Roman"/>
                <a:cs typeface="Times New Roman"/>
              </a:rPr>
              <a:t>due followed by </a:t>
            </a:r>
            <a:r>
              <a:rPr dirty="0" sz="1100" spc="-5">
                <a:latin typeface="Times New Roman"/>
                <a:cs typeface="Times New Roman"/>
              </a:rPr>
              <a:t>thanks: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That’ll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two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dollars,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thanks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most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Englishes thanks is </a:t>
            </a:r>
            <a:r>
              <a:rPr dirty="0" sz="1100">
                <a:latin typeface="Times New Roman"/>
                <a:cs typeface="Times New Roman"/>
              </a:rPr>
              <a:t>postponed until </a:t>
            </a:r>
            <a:r>
              <a:rPr dirty="0" sz="1100" spc="-5">
                <a:latin typeface="Times New Roman"/>
                <a:cs typeface="Times New Roman"/>
              </a:rPr>
              <a:t>the customer </a:t>
            </a:r>
            <a:r>
              <a:rPr dirty="0" sz="1100">
                <a:latin typeface="Times New Roman"/>
                <a:cs typeface="Times New Roman"/>
              </a:rPr>
              <a:t>offers </a:t>
            </a:r>
            <a:r>
              <a:rPr dirty="0" sz="1100" spc="-5">
                <a:latin typeface="Times New Roman"/>
                <a:cs typeface="Times New Roman"/>
              </a:rPr>
              <a:t>the money and/or change is </a:t>
            </a:r>
            <a:r>
              <a:rPr dirty="0" sz="1100">
                <a:latin typeface="Times New Roman"/>
                <a:cs typeface="Times New Roman"/>
              </a:rPr>
              <a:t>given.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160: </a:t>
            </a:r>
            <a:r>
              <a:rPr dirty="0" sz="1100" spc="-5">
                <a:latin typeface="Times New Roman"/>
                <a:cs typeface="Times New Roman"/>
              </a:rPr>
              <a:t>English in Australia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 Zealand: Sociolinguistic Variations</a:t>
            </a:r>
            <a:endParaRPr sz="1100">
              <a:latin typeface="Times New Roman"/>
              <a:cs typeface="Times New Roman"/>
            </a:endParaRPr>
          </a:p>
          <a:p>
            <a:pPr marL="12700" marR="3811904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Sociolinguistic </a:t>
            </a:r>
            <a:r>
              <a:rPr dirty="0" sz="1100">
                <a:latin typeface="Times New Roman"/>
                <a:cs typeface="Times New Roman"/>
              </a:rPr>
              <a:t>variations </a:t>
            </a:r>
            <a:r>
              <a:rPr dirty="0" sz="1100" spc="-5">
                <a:latin typeface="Times New Roman"/>
                <a:cs typeface="Times New Roman"/>
              </a:rPr>
              <a:t>in NZE and AusE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Lower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distinguishing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Upper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endParaRPr sz="1100">
              <a:latin typeface="Times New Roman"/>
              <a:cs typeface="Times New Roman"/>
            </a:endParaRPr>
          </a:p>
          <a:p>
            <a:pPr marL="12700" marR="13493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Younger speakers </a:t>
            </a:r>
            <a:r>
              <a:rPr dirty="0" sz="1100">
                <a:latin typeface="Times New Roman"/>
                <a:cs typeface="Times New Roman"/>
              </a:rPr>
              <a:t>demonstrate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distinguishing features </a:t>
            </a:r>
            <a:r>
              <a:rPr dirty="0" sz="1100" spc="-5">
                <a:latin typeface="Times New Roman"/>
                <a:cs typeface="Times New Roman"/>
              </a:rPr>
              <a:t>than </a:t>
            </a:r>
            <a:r>
              <a:rPr dirty="0" sz="1100">
                <a:latin typeface="Times New Roman"/>
                <a:cs typeface="Times New Roman"/>
              </a:rPr>
              <a:t>older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variations </a:t>
            </a:r>
            <a:r>
              <a:rPr dirty="0" sz="1100" spc="-5">
                <a:latin typeface="Times New Roman"/>
                <a:cs typeface="Times New Roman"/>
              </a:rPr>
              <a:t>in NZE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Age</a:t>
            </a:r>
            <a:endParaRPr sz="1100">
              <a:latin typeface="Times New Roman"/>
              <a:cs typeface="Times New Roman"/>
            </a:endParaRPr>
          </a:p>
          <a:p>
            <a:pPr marL="12700" marR="13493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Younger speakers </a:t>
            </a:r>
            <a:r>
              <a:rPr dirty="0" sz="1100">
                <a:latin typeface="Times New Roman"/>
                <a:cs typeface="Times New Roman"/>
              </a:rPr>
              <a:t>demonstrate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distinguishing features </a:t>
            </a:r>
            <a:r>
              <a:rPr dirty="0" sz="1100" spc="-5">
                <a:latin typeface="Times New Roman"/>
                <a:cs typeface="Times New Roman"/>
              </a:rPr>
              <a:t>than </a:t>
            </a:r>
            <a:r>
              <a:rPr dirty="0" sz="1100">
                <a:latin typeface="Times New Roman"/>
                <a:cs typeface="Times New Roman"/>
              </a:rPr>
              <a:t>older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variations </a:t>
            </a:r>
            <a:r>
              <a:rPr dirty="0" sz="1100" spc="-5">
                <a:latin typeface="Times New Roman"/>
                <a:cs typeface="Times New Roman"/>
              </a:rPr>
              <a:t>in NZE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Gender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below</a:t>
            </a:r>
            <a:endParaRPr sz="1100">
              <a:latin typeface="Times New Roman"/>
              <a:cs typeface="Times New Roman"/>
            </a:endParaRPr>
          </a:p>
          <a:p>
            <a:pPr marL="12700" marR="7340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Women will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distinguishing properties </a:t>
            </a:r>
            <a:r>
              <a:rPr dirty="0" sz="1100" spc="-5">
                <a:latin typeface="Times New Roman"/>
                <a:cs typeface="Times New Roman"/>
              </a:rPr>
              <a:t>than men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similar ages and classes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variations </a:t>
            </a:r>
            <a:r>
              <a:rPr dirty="0" sz="1100" spc="-5">
                <a:latin typeface="Times New Roman"/>
                <a:cs typeface="Times New Roman"/>
              </a:rPr>
              <a:t>in NZE and AusE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Broad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General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Cultivated</a:t>
            </a:r>
            <a:endParaRPr sz="1100">
              <a:latin typeface="Times New Roman"/>
              <a:cs typeface="Times New Roman"/>
            </a:endParaRPr>
          </a:p>
          <a:p>
            <a:pPr marL="12700" marR="3811904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Sociolinguistic </a:t>
            </a:r>
            <a:r>
              <a:rPr dirty="0" sz="1100">
                <a:latin typeface="Times New Roman"/>
                <a:cs typeface="Times New Roman"/>
              </a:rPr>
              <a:t>variations </a:t>
            </a:r>
            <a:r>
              <a:rPr dirty="0" sz="1100" spc="-5">
                <a:latin typeface="Times New Roman"/>
                <a:cs typeface="Times New Roman"/>
              </a:rPr>
              <a:t>in NZE and AusE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AusE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General</a:t>
            </a:r>
            <a:endParaRPr sz="1100">
              <a:latin typeface="Times New Roman"/>
              <a:cs typeface="Times New Roman"/>
            </a:endParaRPr>
          </a:p>
          <a:p>
            <a:pPr marL="12700" marR="27222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most common type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spoken in Australia.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Broad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2978150" cy="168783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504825" indent="-492125">
              <a:lnSpc>
                <a:spcPct val="100000"/>
              </a:lnSpc>
              <a:spcBef>
                <a:spcPts val="234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Associated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working-class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Cultivated</a:t>
            </a:r>
            <a:endParaRPr sz="1100">
              <a:latin typeface="Times New Roman"/>
              <a:cs typeface="Times New Roman"/>
            </a:endParaRPr>
          </a:p>
          <a:p>
            <a:pPr marL="12700" marR="50292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Sociolinguistic </a:t>
            </a:r>
            <a:r>
              <a:rPr dirty="0" sz="1100">
                <a:latin typeface="Times New Roman"/>
                <a:cs typeface="Times New Roman"/>
              </a:rPr>
              <a:t>variations </a:t>
            </a:r>
            <a:r>
              <a:rPr dirty="0" sz="1100" spc="-5">
                <a:latin typeface="Times New Roman"/>
                <a:cs typeface="Times New Roman"/>
              </a:rPr>
              <a:t>in NZE and AusE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AusE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Cultivated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Prestige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Closer to the British Received Pronunciation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161:</a:t>
            </a:r>
            <a:r>
              <a:rPr dirty="0" sz="1100" spc="-5">
                <a:latin typeface="Times New Roman"/>
                <a:cs typeface="Times New Roman"/>
              </a:rPr>
              <a:t> 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Australian 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Varieties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users’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ethnicity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2309734"/>
            <a:ext cx="130175" cy="39497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1.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2.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8900" y="2309734"/>
            <a:ext cx="3960495" cy="39497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Aboriginal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inhabitants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Non-Anglo-Celtic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background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Greeks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Italians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2679127"/>
            <a:ext cx="6358890" cy="6675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Aboriginal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colonists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aborigines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resulted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 of</a:t>
            </a:r>
            <a:r>
              <a:rPr dirty="0" sz="1100" spc="-5">
                <a:latin typeface="Times New Roman"/>
                <a:cs typeface="Times New Roman"/>
              </a:rPr>
              <a:t> several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pidgins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Pidgins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creoles</a:t>
            </a:r>
            <a:endParaRPr sz="1100">
              <a:latin typeface="Times New Roman"/>
              <a:cs typeface="Times New Roman"/>
            </a:endParaRPr>
          </a:p>
          <a:p>
            <a:pPr marL="12700" marR="31464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Characteristics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aboriginal Australian English </a:t>
            </a:r>
            <a:r>
              <a:rPr dirty="0" sz="1100">
                <a:latin typeface="Times New Roman"/>
                <a:cs typeface="Times New Roman"/>
              </a:rPr>
              <a:t>(AAusE)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AAusE: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Norms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Characteristics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aboriginal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(AAusE)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phonology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vowel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reduced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shift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initial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syllabus</a:t>
            </a:r>
            <a:endParaRPr sz="1100">
              <a:latin typeface="Times New Roman"/>
              <a:cs typeface="Times New Roman"/>
            </a:endParaRPr>
          </a:p>
          <a:p>
            <a:pPr marL="12700" marR="20739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Fricatives are </a:t>
            </a:r>
            <a:r>
              <a:rPr dirty="0" sz="1100">
                <a:latin typeface="Times New Roman"/>
                <a:cs typeface="Times New Roman"/>
              </a:rPr>
              <a:t>replaced by </a:t>
            </a:r>
            <a:r>
              <a:rPr dirty="0" sz="1100" spc="-5">
                <a:latin typeface="Times New Roman"/>
                <a:cs typeface="Times New Roman"/>
              </a:rPr>
              <a:t>stops at the same </a:t>
            </a:r>
            <a:r>
              <a:rPr dirty="0" sz="1100">
                <a:latin typeface="Times New Roman"/>
                <a:cs typeface="Times New Roman"/>
              </a:rPr>
              <a:t>place of </a:t>
            </a:r>
            <a:r>
              <a:rPr dirty="0" sz="1100" spc="-5">
                <a:latin typeface="Times New Roman"/>
                <a:cs typeface="Times New Roman"/>
              </a:rPr>
              <a:t>articulation e.g.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pata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Characteristics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aboriginal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(AAusE)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Reduction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vowel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phonology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shift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initial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syllabus</a:t>
            </a:r>
            <a:endParaRPr sz="1100">
              <a:latin typeface="Times New Roman"/>
              <a:cs typeface="Times New Roman"/>
            </a:endParaRPr>
          </a:p>
          <a:p>
            <a:pPr marL="469900" marR="1797050" indent="-4572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Replacement </a:t>
            </a:r>
            <a:r>
              <a:rPr dirty="0" sz="1100">
                <a:latin typeface="Times New Roman"/>
                <a:cs typeface="Times New Roman"/>
              </a:rPr>
              <a:t>of fricatives </a:t>
            </a:r>
            <a:r>
              <a:rPr dirty="0" sz="1100" spc="-5">
                <a:latin typeface="Times New Roman"/>
                <a:cs typeface="Times New Roman"/>
              </a:rPr>
              <a:t>with stops at the same </a:t>
            </a:r>
            <a:r>
              <a:rPr dirty="0" sz="1100">
                <a:latin typeface="Times New Roman"/>
                <a:cs typeface="Times New Roman"/>
              </a:rPr>
              <a:t>place of </a:t>
            </a:r>
            <a:r>
              <a:rPr dirty="0" sz="1100" spc="-5">
                <a:latin typeface="Times New Roman"/>
                <a:cs typeface="Times New Roman"/>
              </a:rPr>
              <a:t>articulation e.g.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father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pata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Characteristics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aboriginal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(AAusE)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Simplified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syntax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deletion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inflections,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possessive ‘s’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copulas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discourse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eye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gaze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turn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pauses</a:t>
            </a:r>
            <a:endParaRPr sz="1100">
              <a:latin typeface="Times New Roman"/>
              <a:cs typeface="Times New Roman"/>
            </a:endParaRPr>
          </a:p>
          <a:p>
            <a:pPr marL="12700" marR="39585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preference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Wogspeak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(New</a:t>
            </a:r>
            <a:r>
              <a:rPr dirty="0" sz="1100" spc="-5">
                <a:latin typeface="Times New Roman"/>
                <a:cs typeface="Times New Roman"/>
              </a:rPr>
              <a:t> AusE)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‘wog’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originally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derogatory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non-Anglo-Celtic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migrants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now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adopted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solidarity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migration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Wogspeak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(New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AusE)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Arose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these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migrant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groups</a:t>
            </a:r>
            <a:endParaRPr sz="1100">
              <a:latin typeface="Times New Roman"/>
              <a:cs typeface="Times New Roman"/>
            </a:endParaRPr>
          </a:p>
          <a:p>
            <a:pPr marL="12700" marR="177418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Shows an intensification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features of variations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different varieties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Geographical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Fewer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Britain</a:t>
            </a:r>
            <a:endParaRPr sz="1100">
              <a:latin typeface="Times New Roman"/>
              <a:cs typeface="Times New Roman"/>
            </a:endParaRPr>
          </a:p>
          <a:p>
            <a:pPr marL="12700" marR="18256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Researchers </a:t>
            </a:r>
            <a:r>
              <a:rPr dirty="0" sz="1100">
                <a:latin typeface="Times New Roman"/>
                <a:cs typeface="Times New Roman"/>
              </a:rPr>
              <a:t>have </a:t>
            </a:r>
            <a:r>
              <a:rPr dirty="0" sz="1100" spc="-5">
                <a:latin typeface="Times New Roman"/>
                <a:cs typeface="Times New Roman"/>
              </a:rPr>
              <a:t>shown</a:t>
            </a:r>
            <a:r>
              <a:rPr dirty="0" sz="1100">
                <a:latin typeface="Times New Roman"/>
                <a:cs typeface="Times New Roman"/>
              </a:rPr>
              <a:t> dialectal differences </a:t>
            </a:r>
            <a:r>
              <a:rPr dirty="0" sz="1100" spc="-5">
                <a:latin typeface="Times New Roman"/>
                <a:cs typeface="Times New Roman"/>
              </a:rPr>
              <a:t>in lexis and </a:t>
            </a:r>
            <a:r>
              <a:rPr dirty="0" sz="1100">
                <a:latin typeface="Times New Roman"/>
                <a:cs typeface="Times New Roman"/>
              </a:rPr>
              <a:t>pronunciation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162: </a:t>
            </a:r>
            <a:r>
              <a:rPr dirty="0" sz="1100" spc="-5">
                <a:latin typeface="Times New Roman"/>
                <a:cs typeface="Times New Roman"/>
              </a:rPr>
              <a:t>Varieties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Zealand 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Varieties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Zealand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130175" cy="39497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1.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2.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8900" y="647368"/>
            <a:ext cx="1029969" cy="39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Maori English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Southlan</a:t>
            </a:r>
            <a:r>
              <a:rPr dirty="0" sz="1100">
                <a:latin typeface="Times New Roman"/>
                <a:cs typeface="Times New Roman"/>
              </a:rPr>
              <a:t>d</a:t>
            </a:r>
            <a:r>
              <a:rPr dirty="0" sz="1100" spc="-5">
                <a:latin typeface="Times New Roman"/>
                <a:cs typeface="Times New Roman"/>
              </a:rPr>
              <a:t> Dialect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1016799"/>
            <a:ext cx="5814060" cy="818832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Maori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268732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vernacular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frequently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HRT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Merging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ear-air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</a:t>
            </a:r>
            <a:endParaRPr sz="1100">
              <a:latin typeface="Times New Roman"/>
              <a:cs typeface="Times New Roman"/>
            </a:endParaRPr>
          </a:p>
          <a:p>
            <a:pPr marL="12700" marR="38144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Zealand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Reasons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Maori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41179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factors: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gender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Southland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dialect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Based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settlement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patterns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settlers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Scottish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background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rhotic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/r/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Variable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rhoticizing</a:t>
            </a:r>
            <a:endParaRPr sz="1100">
              <a:latin typeface="Times New Roman"/>
              <a:cs typeface="Times New Roman"/>
            </a:endParaRPr>
          </a:p>
          <a:p>
            <a:pPr marL="469900" marR="3521710" indent="-4572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Strongly </a:t>
            </a:r>
            <a:r>
              <a:rPr dirty="0" sz="1100">
                <a:latin typeface="Times New Roman"/>
                <a:cs typeface="Times New Roman"/>
              </a:rPr>
              <a:t>retained </a:t>
            </a:r>
            <a:r>
              <a:rPr dirty="0" sz="1100" spc="-5">
                <a:latin typeface="Times New Roman"/>
                <a:cs typeface="Times New Roman"/>
              </a:rPr>
              <a:t>in sounds like: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nurse,</a:t>
            </a:r>
            <a:r>
              <a:rPr dirty="0" sz="1100" spc="-5">
                <a:latin typeface="Times New Roman"/>
                <a:cs typeface="Times New Roman"/>
              </a:rPr>
              <a:t> curse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Southland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dialect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Non-rhotic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pronunciation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difference</a:t>
            </a:r>
            <a:r>
              <a:rPr dirty="0" sz="1100" spc="-5">
                <a:latin typeface="Times New Roman"/>
                <a:cs typeface="Times New Roman"/>
              </a:rPr>
              <a:t> 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represent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place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Southland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dialect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1400" spc="10">
                <a:latin typeface="Times New Roman"/>
                <a:cs typeface="Times New Roman"/>
              </a:rPr>
              <a:t>Lesson-28</a:t>
            </a:r>
            <a:endParaRPr sz="1400">
              <a:latin typeface="Times New Roman"/>
              <a:cs typeface="Times New Roman"/>
            </a:endParaRPr>
          </a:p>
          <a:p>
            <a:pPr marL="2195830">
              <a:lnSpc>
                <a:spcPct val="100000"/>
              </a:lnSpc>
              <a:spcBef>
                <a:spcPts val="1170"/>
              </a:spcBef>
            </a:pPr>
            <a:r>
              <a:rPr dirty="0" sz="1400" spc="35">
                <a:latin typeface="Times New Roman"/>
                <a:cs typeface="Times New Roman"/>
              </a:rPr>
              <a:t>Southeast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25">
                <a:latin typeface="Times New Roman"/>
                <a:cs typeface="Times New Roman"/>
              </a:rPr>
              <a:t>Asian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Englishes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227139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163: </a:t>
            </a:r>
            <a:r>
              <a:rPr dirty="0" sz="1100" spc="-5">
                <a:latin typeface="Times New Roman"/>
                <a:cs typeface="Times New Roman"/>
              </a:rPr>
              <a:t>Southeast Asian English: History and Development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Southeast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 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‘new’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Outer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Malaysia,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Singapore,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Phillipines</a:t>
            </a:r>
            <a:endParaRPr sz="1100">
              <a:latin typeface="Times New Roman"/>
              <a:cs typeface="Times New Roman"/>
            </a:endParaRPr>
          </a:p>
          <a:p>
            <a:pPr marL="12700" marR="26257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Expanding Circle: Vietnam, </a:t>
            </a:r>
            <a:r>
              <a:rPr dirty="0" sz="1100">
                <a:latin typeface="Times New Roman"/>
                <a:cs typeface="Times New Roman"/>
              </a:rPr>
              <a:t>Indonesia, </a:t>
            </a:r>
            <a:r>
              <a:rPr dirty="0" sz="1100" spc="-5">
                <a:latin typeface="Times New Roman"/>
                <a:cs typeface="Times New Roman"/>
              </a:rPr>
              <a:t>Thailand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Development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colonization</a:t>
            </a:r>
            <a:endParaRPr sz="1100">
              <a:latin typeface="Times New Roman"/>
              <a:cs typeface="Times New Roman"/>
            </a:endParaRPr>
          </a:p>
          <a:p>
            <a:pPr marL="12700" marR="28365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Collectively called ‘post-imperial’ 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Development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Strait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settlements: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Penang,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Malacca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Singapore</a:t>
            </a:r>
            <a:endParaRPr sz="1100">
              <a:latin typeface="Times New Roman"/>
              <a:cs typeface="Times New Roman"/>
            </a:endParaRPr>
          </a:p>
          <a:p>
            <a:pPr marL="12700" marR="13360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Provided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Empire’s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Company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Singapore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completely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Empire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Malay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kingdoms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maintained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royal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families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Straits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Settlements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became</a:t>
            </a:r>
            <a:r>
              <a:rPr dirty="0" sz="1100" spc="-5">
                <a:latin typeface="Times New Roman"/>
                <a:cs typeface="Times New Roman"/>
              </a:rPr>
              <a:t> independent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1957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formed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Federation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Malaya</a:t>
            </a:r>
            <a:endParaRPr sz="1100">
              <a:latin typeface="Times New Roman"/>
              <a:cs typeface="Times New Roman"/>
            </a:endParaRPr>
          </a:p>
          <a:p>
            <a:pPr marL="12700" marR="33858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Singapore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seceded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federation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5">
                <a:latin typeface="Times New Roman"/>
                <a:cs typeface="Times New Roman"/>
              </a:rPr>
              <a:t> after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independence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Primary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ethnic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ethnic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Chinese,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Tamils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Malays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taught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Secondary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70320" cy="870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920365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164: </a:t>
            </a:r>
            <a:r>
              <a:rPr dirty="0" sz="1100" spc="-5">
                <a:latin typeface="Times New Roman"/>
                <a:cs typeface="Times New Roman"/>
              </a:rPr>
              <a:t>Southeast Asian English: Singapore and Malaysia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Singapore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dominant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business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Mandarin,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Malay,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Tamil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</a:t>
            </a:r>
            <a:endParaRPr sz="1100">
              <a:latin typeface="Times New Roman"/>
              <a:cs typeface="Times New Roman"/>
            </a:endParaRPr>
          </a:p>
          <a:p>
            <a:pPr marL="12700" marR="21450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as the </a:t>
            </a:r>
            <a:r>
              <a:rPr dirty="0" sz="1100">
                <a:latin typeface="Times New Roman"/>
                <a:cs typeface="Times New Roman"/>
              </a:rPr>
              <a:t>dominant </a:t>
            </a:r>
            <a:r>
              <a:rPr dirty="0" sz="1100" spc="-5">
                <a:latin typeface="Times New Roman"/>
                <a:cs typeface="Times New Roman"/>
              </a:rPr>
              <a:t>language in education and </a:t>
            </a:r>
            <a:r>
              <a:rPr dirty="0" sz="1100">
                <a:latin typeface="Times New Roman"/>
                <a:cs typeface="Times New Roman"/>
              </a:rPr>
              <a:t>business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 and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in Singapore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Singapore’s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efforts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become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academic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excellence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society.</a:t>
            </a:r>
            <a:endParaRPr sz="1100">
              <a:latin typeface="Times New Roman"/>
              <a:cs typeface="Times New Roman"/>
            </a:endParaRPr>
          </a:p>
          <a:p>
            <a:pPr marL="12700" marR="21990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is </a:t>
            </a:r>
            <a:r>
              <a:rPr dirty="0" sz="1100">
                <a:latin typeface="Times New Roman"/>
                <a:cs typeface="Times New Roman"/>
              </a:rPr>
              <a:t>now </a:t>
            </a:r>
            <a:r>
              <a:rPr dirty="0" sz="1100" spc="-5">
                <a:latin typeface="Times New Roman"/>
                <a:cs typeface="Times New Roman"/>
              </a:rPr>
              <a:t>acquired as </a:t>
            </a:r>
            <a:r>
              <a:rPr dirty="0" sz="1100">
                <a:latin typeface="Times New Roman"/>
                <a:cs typeface="Times New Roman"/>
              </a:rPr>
              <a:t>a first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many Singaporeans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 </a:t>
            </a:r>
            <a:r>
              <a:rPr dirty="0" sz="1100" spc="-5">
                <a:latin typeface="Times New Roman"/>
                <a:cs typeface="Times New Roman"/>
              </a:rPr>
              <a:t>in Malaysia</a:t>
            </a:r>
            <a:endParaRPr sz="1100">
              <a:latin typeface="Times New Roman"/>
              <a:cs typeface="Times New Roman"/>
            </a:endParaRPr>
          </a:p>
          <a:p>
            <a:pPr marL="12700" marR="102933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Malay </a:t>
            </a:r>
            <a:r>
              <a:rPr dirty="0" sz="1100">
                <a:latin typeface="Times New Roman"/>
                <a:cs typeface="Times New Roman"/>
              </a:rPr>
              <a:t>declared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national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for national unity </a:t>
            </a:r>
            <a:r>
              <a:rPr dirty="0" sz="1100" spc="-5">
                <a:latin typeface="Times New Roman"/>
                <a:cs typeface="Times New Roman"/>
              </a:rPr>
              <a:t>and language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instruction at all levels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National Language Act </a:t>
            </a:r>
            <a:r>
              <a:rPr dirty="0" sz="1100">
                <a:latin typeface="Times New Roman"/>
                <a:cs typeface="Times New Roman"/>
              </a:rPr>
              <a:t>of 1976 declared </a:t>
            </a:r>
            <a:r>
              <a:rPr dirty="0" sz="1100" spc="-5">
                <a:latin typeface="Times New Roman"/>
                <a:cs typeface="Times New Roman"/>
              </a:rPr>
              <a:t>Malay the </a:t>
            </a:r>
            <a:r>
              <a:rPr dirty="0" sz="1100">
                <a:latin typeface="Times New Roman"/>
                <a:cs typeface="Times New Roman"/>
              </a:rPr>
              <a:t>official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only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of government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Malaysianization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Malay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mandatory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qualify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civil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servants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university</a:t>
            </a:r>
            <a:r>
              <a:rPr dirty="0" sz="1100" spc="-5">
                <a:latin typeface="Times New Roman"/>
                <a:cs typeface="Times New Roman"/>
              </a:rPr>
              <a:t> students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Scholarly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translated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original</a:t>
            </a:r>
            <a:r>
              <a:rPr dirty="0" sz="1100" spc="-5">
                <a:latin typeface="Times New Roman"/>
                <a:cs typeface="Times New Roman"/>
              </a:rPr>
              <a:t> works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textbooks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produced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Malay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Process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1983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reaching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</a:t>
            </a:r>
            <a:endParaRPr sz="1100">
              <a:latin typeface="Times New Roman"/>
              <a:cs typeface="Times New Roman"/>
            </a:endParaRPr>
          </a:p>
          <a:p>
            <a:pPr marL="12700" marR="3614420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as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subject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Grade </a:t>
            </a:r>
            <a:r>
              <a:rPr dirty="0" sz="1100">
                <a:latin typeface="Times New Roman"/>
                <a:cs typeface="Times New Roman"/>
              </a:rPr>
              <a:t>1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12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Reintroduction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modernization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Malaysia</a:t>
            </a:r>
            <a:endParaRPr sz="1100">
              <a:latin typeface="Times New Roman"/>
              <a:cs typeface="Times New Roman"/>
            </a:endParaRPr>
          </a:p>
          <a:p>
            <a:pPr marL="12700" marR="88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1996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reintroduced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instruction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science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subjects</a:t>
            </a:r>
            <a:endParaRPr sz="1100">
              <a:latin typeface="Times New Roman"/>
              <a:cs typeface="Times New Roman"/>
            </a:endParaRPr>
          </a:p>
          <a:p>
            <a:pPr marL="12700" marR="15995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Continuation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development of </a:t>
            </a:r>
            <a:r>
              <a:rPr dirty="0" sz="1100" spc="-5">
                <a:latin typeface="Times New Roman"/>
                <a:cs typeface="Times New Roman"/>
              </a:rPr>
              <a:t>Malay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intellectual work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use of </a:t>
            </a:r>
            <a:r>
              <a:rPr dirty="0" sz="1100" spc="-5">
                <a:latin typeface="Times New Roman"/>
                <a:cs typeface="Times New Roman"/>
              </a:rPr>
              <a:t>English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Malaysia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younger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generation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remnant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earlier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generation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elite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5">
                <a:latin typeface="Times New Roman"/>
                <a:cs typeface="Times New Roman"/>
              </a:rPr>
              <a:t> continued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abroad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23196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Partnerships with British, American, and Australian </a:t>
            </a:r>
            <a:r>
              <a:rPr dirty="0" sz="1100">
                <a:latin typeface="Times New Roman"/>
                <a:cs typeface="Times New Roman"/>
              </a:rPr>
              <a:t>universities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165: </a:t>
            </a:r>
            <a:r>
              <a:rPr dirty="0" sz="1100" spc="-5">
                <a:latin typeface="Times New Roman"/>
                <a:cs typeface="Times New Roman"/>
              </a:rPr>
              <a:t>Southeast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 English: Philippines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Philippines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Philippines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became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States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1898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Became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1946</a:t>
            </a:r>
            <a:endParaRPr sz="1100">
              <a:latin typeface="Times New Roman"/>
              <a:cs typeface="Times New Roman"/>
            </a:endParaRPr>
          </a:p>
          <a:p>
            <a:pPr marL="12700" marR="9975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Under the colonial </a:t>
            </a:r>
            <a:r>
              <a:rPr dirty="0" sz="1100">
                <a:latin typeface="Times New Roman"/>
                <a:cs typeface="Times New Roman"/>
              </a:rPr>
              <a:t>government, </a:t>
            </a:r>
            <a:r>
              <a:rPr dirty="0" sz="1100" spc="-5">
                <a:latin typeface="Times New Roman"/>
                <a:cs typeface="Times New Roman"/>
              </a:rPr>
              <a:t>the medium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instruction was English </a:t>
            </a:r>
            <a:r>
              <a:rPr dirty="0" sz="1100">
                <a:latin typeface="Times New Roman"/>
                <a:cs typeface="Times New Roman"/>
              </a:rPr>
              <a:t>from grade 1 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use of </a:t>
            </a:r>
            <a:r>
              <a:rPr dirty="0" sz="1100" spc="-5">
                <a:latin typeface="Times New Roman"/>
                <a:cs typeface="Times New Roman"/>
              </a:rPr>
              <a:t>English in Philippines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monolingual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modified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1937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proclamation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Tagalog-based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1939,</a:t>
            </a:r>
            <a:r>
              <a:rPr dirty="0" sz="1100" spc="-5">
                <a:latin typeface="Times New Roman"/>
                <a:cs typeface="Times New Roman"/>
              </a:rPr>
              <a:t> it 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taught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schools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Fourth Year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</a:t>
            </a:r>
            <a:r>
              <a:rPr dirty="0" sz="1100" spc="-5">
                <a:latin typeface="Times New Roman"/>
                <a:cs typeface="Times New Roman"/>
              </a:rPr>
              <a:t> school</a:t>
            </a:r>
            <a:endParaRPr sz="1100">
              <a:latin typeface="Times New Roman"/>
              <a:cs typeface="Times New Roman"/>
            </a:endParaRPr>
          </a:p>
          <a:p>
            <a:pPr marL="12700" marR="34556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future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Philippines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1941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taught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colleges</a:t>
            </a:r>
            <a:endParaRPr sz="1100">
              <a:latin typeface="Times New Roman"/>
              <a:cs typeface="Times New Roman"/>
            </a:endParaRPr>
          </a:p>
          <a:p>
            <a:pPr marL="12700" marR="30321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Introduction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bilingual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scheme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1974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Philippines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Ambivalence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sentiments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1974-1986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Filipino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instruction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Return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globalization</a:t>
            </a:r>
            <a:endParaRPr sz="1100">
              <a:latin typeface="Times New Roman"/>
              <a:cs typeface="Times New Roman"/>
            </a:endParaRPr>
          </a:p>
          <a:p>
            <a:pPr marL="12700" marR="39573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an international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Philippines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53175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Return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14789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even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social sciences </a:t>
            </a:r>
            <a:r>
              <a:rPr dirty="0" sz="1100">
                <a:latin typeface="Times New Roman"/>
                <a:cs typeface="Times New Roman"/>
              </a:rPr>
              <a:t>-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domain 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national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166: </a:t>
            </a:r>
            <a:r>
              <a:rPr dirty="0" sz="1100" spc="-5">
                <a:latin typeface="Times New Roman"/>
                <a:cs typeface="Times New Roman"/>
              </a:rPr>
              <a:t>Southeast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 English: Thailand,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Vietnam and </a:t>
            </a:r>
            <a:r>
              <a:rPr dirty="0" sz="1100">
                <a:latin typeface="Times New Roman"/>
                <a:cs typeface="Times New Roman"/>
              </a:rPr>
              <a:t>Indonesia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Thailand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99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Thai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</a:t>
            </a:r>
            <a:endParaRPr sz="1100">
              <a:latin typeface="Times New Roman"/>
              <a:cs typeface="Times New Roman"/>
            </a:endParaRPr>
          </a:p>
          <a:p>
            <a:pPr marL="12700" marR="26657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Not many succeed in acquiring much English </a:t>
            </a:r>
            <a:r>
              <a:rPr dirty="0" sz="1100">
                <a:latin typeface="Times New Roman"/>
                <a:cs typeface="Times New Roman"/>
              </a:rPr>
              <a:t>proficiency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policy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Thailand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longest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endParaRPr sz="1100">
              <a:latin typeface="Times New Roman"/>
              <a:cs typeface="Times New Roman"/>
            </a:endParaRPr>
          </a:p>
          <a:p>
            <a:pPr marL="12700" marR="3746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Began the teaching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Grade </a:t>
            </a:r>
            <a:r>
              <a:rPr dirty="0" sz="1100">
                <a:latin typeface="Times New Roman"/>
                <a:cs typeface="Times New Roman"/>
              </a:rPr>
              <a:t>1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private </a:t>
            </a:r>
            <a:r>
              <a:rPr dirty="0" sz="1100" spc="-5">
                <a:latin typeface="Times New Roman"/>
                <a:cs typeface="Times New Roman"/>
              </a:rPr>
              <a:t>schools and Grade </a:t>
            </a:r>
            <a:r>
              <a:rPr dirty="0" sz="1100">
                <a:latin typeface="Times New Roman"/>
                <a:cs typeface="Times New Roman"/>
              </a:rPr>
              <a:t>5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government </a:t>
            </a:r>
            <a:r>
              <a:rPr dirty="0" sz="1100" spc="-5">
                <a:latin typeface="Times New Roman"/>
                <a:cs typeface="Times New Roman"/>
              </a:rPr>
              <a:t>schools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policy </a:t>
            </a:r>
            <a:r>
              <a:rPr dirty="0" sz="1100" spc="-5">
                <a:latin typeface="Times New Roman"/>
                <a:cs typeface="Times New Roman"/>
              </a:rPr>
              <a:t>in Thailand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unavailability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grades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1996,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reintroduced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endParaRPr sz="1100">
              <a:latin typeface="Times New Roman"/>
              <a:cs typeface="Times New Roman"/>
            </a:endParaRPr>
          </a:p>
          <a:p>
            <a:pPr marL="12700" marR="43764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Taught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12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Indonesia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Dutch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colony,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Dutch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emphasized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independence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taught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6546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Is </a:t>
            </a:r>
            <a:r>
              <a:rPr dirty="0" sz="1100" spc="-5">
                <a:latin typeface="Times New Roman"/>
                <a:cs typeface="Times New Roman"/>
              </a:rPr>
              <a:t>taught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eight </a:t>
            </a:r>
            <a:r>
              <a:rPr dirty="0" sz="1100">
                <a:latin typeface="Times New Roman"/>
                <a:cs typeface="Times New Roman"/>
              </a:rPr>
              <a:t>or nine years from primary </a:t>
            </a:r>
            <a:r>
              <a:rPr dirty="0" sz="1100" spc="-5">
                <a:latin typeface="Times New Roman"/>
                <a:cs typeface="Times New Roman"/>
              </a:rPr>
              <a:t>school </a:t>
            </a:r>
            <a:r>
              <a:rPr dirty="0" sz="1100">
                <a:latin typeface="Times New Roman"/>
                <a:cs typeface="Times New Roman"/>
              </a:rPr>
              <a:t>(from </a:t>
            </a:r>
            <a:r>
              <a:rPr dirty="0" sz="1100" spc="-5">
                <a:latin typeface="Times New Roman"/>
                <a:cs typeface="Times New Roman"/>
              </a:rPr>
              <a:t>Grade </a:t>
            </a:r>
            <a:r>
              <a:rPr dirty="0" sz="1100">
                <a:latin typeface="Times New Roman"/>
                <a:cs typeface="Times New Roman"/>
              </a:rPr>
              <a:t>4 or 5) </a:t>
            </a:r>
            <a:r>
              <a:rPr dirty="0" sz="1100" spc="-5">
                <a:latin typeface="Times New Roman"/>
                <a:cs typeface="Times New Roman"/>
              </a:rPr>
              <a:t>through </a:t>
            </a:r>
            <a:r>
              <a:rPr dirty="0" sz="1100">
                <a:latin typeface="Times New Roman"/>
                <a:cs typeface="Times New Roman"/>
              </a:rPr>
              <a:t>high </a:t>
            </a:r>
            <a:r>
              <a:rPr dirty="0" sz="1100" spc="-5">
                <a:latin typeface="Times New Roman"/>
                <a:cs typeface="Times New Roman"/>
              </a:rPr>
              <a:t>school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Vietnam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French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Russian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taught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12700" marR="24511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Switched to English </a:t>
            </a:r>
            <a:r>
              <a:rPr dirty="0" sz="1100">
                <a:latin typeface="Times New Roman"/>
                <a:cs typeface="Times New Roman"/>
              </a:rPr>
              <a:t>under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policy of </a:t>
            </a:r>
            <a:r>
              <a:rPr dirty="0" sz="1100" spc="-5">
                <a:latin typeface="Times New Roman"/>
                <a:cs typeface="Times New Roman"/>
              </a:rPr>
              <a:t>economic </a:t>
            </a:r>
            <a:r>
              <a:rPr dirty="0" sz="1100">
                <a:latin typeface="Times New Roman"/>
                <a:cs typeface="Times New Roman"/>
              </a:rPr>
              <a:t>renovation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Vietnam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favoured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schools must offer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grade </a:t>
            </a:r>
            <a:r>
              <a:rPr dirty="0" sz="1100">
                <a:latin typeface="Times New Roman"/>
                <a:cs typeface="Times New Roman"/>
              </a:rPr>
              <a:t>10 – 12</a:t>
            </a:r>
            <a:endParaRPr sz="1100">
              <a:latin typeface="Times New Roman"/>
              <a:cs typeface="Times New Roman"/>
            </a:endParaRPr>
          </a:p>
          <a:p>
            <a:pPr marL="12700" marR="29057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cities and towns in lower secondary school as well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167: </a:t>
            </a:r>
            <a:r>
              <a:rPr dirty="0" sz="1100" spc="-5">
                <a:latin typeface="Times New Roman"/>
                <a:cs typeface="Times New Roman"/>
              </a:rPr>
              <a:t>Future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Southeast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Lasting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political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hegemony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conquering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 continue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influential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even if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 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empire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declined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Current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Popularity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across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wider sections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society</a:t>
            </a:r>
            <a:endParaRPr sz="1100">
              <a:latin typeface="Times New Roman"/>
              <a:cs typeface="Times New Roman"/>
            </a:endParaRPr>
          </a:p>
          <a:p>
            <a:pPr marL="12700" marR="16211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rich has </a:t>
            </a:r>
            <a:r>
              <a:rPr dirty="0" sz="1100" spc="-5">
                <a:latin typeface="Times New Roman"/>
                <a:cs typeface="Times New Roman"/>
              </a:rPr>
              <a:t>access to </a:t>
            </a:r>
            <a:r>
              <a:rPr dirty="0" sz="1100">
                <a:latin typeface="Times New Roman"/>
                <a:cs typeface="Times New Roman"/>
              </a:rPr>
              <a:t>better </a:t>
            </a:r>
            <a:r>
              <a:rPr dirty="0" sz="1100" spc="-5">
                <a:latin typeface="Times New Roman"/>
                <a:cs typeface="Times New Roman"/>
              </a:rPr>
              <a:t>teaching learning </a:t>
            </a:r>
            <a:r>
              <a:rPr dirty="0" sz="1100">
                <a:latin typeface="Times New Roman"/>
                <a:cs typeface="Times New Roman"/>
              </a:rPr>
              <a:t>opportunities </a:t>
            </a:r>
            <a:r>
              <a:rPr dirty="0" sz="1100" spc="-5">
                <a:latin typeface="Times New Roman"/>
                <a:cs typeface="Times New Roman"/>
              </a:rPr>
              <a:t>than the masses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Seems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privilege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rich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Degree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quality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attainment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depends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availability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resources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Exposure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tourism,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investment,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schooling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employment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abroad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Current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12700" marR="6375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 </a:t>
            </a:r>
            <a:r>
              <a:rPr dirty="0" sz="1100" spc="-5">
                <a:latin typeface="Times New Roman"/>
                <a:cs typeface="Times New Roman"/>
              </a:rPr>
              <a:t>in spread as an international language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commerce, trade, and international </a:t>
            </a:r>
            <a:r>
              <a:rPr dirty="0" sz="1100">
                <a:latin typeface="Times New Roman"/>
                <a:cs typeface="Times New Roman"/>
              </a:rPr>
              <a:t>relations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168: </a:t>
            </a:r>
            <a:r>
              <a:rPr dirty="0" sz="1100" spc="-5">
                <a:latin typeface="Times New Roman"/>
                <a:cs typeface="Times New Roman"/>
              </a:rPr>
              <a:t>Future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 Southeast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8415" cy="874966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Singapore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secure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Singapore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Pro-English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12700" marR="33267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Functions as an equalizing and </a:t>
            </a:r>
            <a:r>
              <a:rPr dirty="0" sz="1100">
                <a:latin typeface="Times New Roman"/>
                <a:cs typeface="Times New Roman"/>
              </a:rPr>
              <a:t>unifying </a:t>
            </a:r>
            <a:r>
              <a:rPr dirty="0" sz="1100" spc="-5">
                <a:latin typeface="Times New Roman"/>
                <a:cs typeface="Times New Roman"/>
              </a:rPr>
              <a:t>agent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Philippines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Continued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demand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Philippines</a:t>
            </a:r>
            <a:endParaRPr sz="1100">
              <a:latin typeface="Times New Roman"/>
              <a:cs typeface="Times New Roman"/>
            </a:endParaRPr>
          </a:p>
          <a:p>
            <a:pPr marL="12700" marR="32067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Efforts at improving teacher training and testing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Malaysia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Southeast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revival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Malaysia</a:t>
            </a:r>
            <a:endParaRPr sz="1100">
              <a:latin typeface="Times New Roman"/>
              <a:cs typeface="Times New Roman"/>
            </a:endParaRPr>
          </a:p>
          <a:p>
            <a:pPr marL="12700" marR="7886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Dominant </a:t>
            </a:r>
            <a:r>
              <a:rPr dirty="0" sz="1100">
                <a:latin typeface="Times New Roman"/>
                <a:cs typeface="Times New Roman"/>
              </a:rPr>
              <a:t>foreign </a:t>
            </a:r>
            <a:r>
              <a:rPr dirty="0" sz="1100" spc="-5">
                <a:latin typeface="Times New Roman"/>
                <a:cs typeface="Times New Roman"/>
              </a:rPr>
              <a:t>language even in Southeast Asian socialist countries </a:t>
            </a:r>
            <a:r>
              <a:rPr dirty="0" sz="1100">
                <a:latin typeface="Times New Roman"/>
                <a:cs typeface="Times New Roman"/>
              </a:rPr>
              <a:t>(Burma, </a:t>
            </a:r>
            <a:r>
              <a:rPr dirty="0" sz="1100" spc="-5">
                <a:latin typeface="Times New Roman"/>
                <a:cs typeface="Times New Roman"/>
              </a:rPr>
              <a:t>Cambodia)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Demand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standardization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intelligibility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Factors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facilitating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Mass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Internet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Mobile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phones</a:t>
            </a:r>
            <a:endParaRPr sz="1100">
              <a:latin typeface="Times New Roman"/>
              <a:cs typeface="Times New Roman"/>
            </a:endParaRPr>
          </a:p>
          <a:p>
            <a:pPr marL="12700" marR="48025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Educationa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5">
                <a:latin typeface="Times New Roman"/>
                <a:cs typeface="Times New Roman"/>
              </a:rPr>
              <a:t> system  </a:t>
            </a:r>
            <a:r>
              <a:rPr dirty="0" sz="1100" spc="-5">
                <a:latin typeface="Times New Roman"/>
                <a:cs typeface="Times New Roman"/>
              </a:rPr>
              <a:t>Future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Diglossic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High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5">
                <a:latin typeface="Times New Roman"/>
                <a:cs typeface="Times New Roman"/>
              </a:rPr>
              <a:t> 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mutually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intelligible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Mesolect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basilect</a:t>
            </a:r>
            <a:r>
              <a:rPr dirty="0" sz="1100" spc="-5">
                <a:latin typeface="Times New Roman"/>
                <a:cs typeface="Times New Roman"/>
              </a:rPr>
              <a:t> 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algn="r" marR="558800">
              <a:lnSpc>
                <a:spcPct val="100000"/>
              </a:lnSpc>
            </a:pPr>
            <a:r>
              <a:rPr dirty="0" sz="1400" spc="10">
                <a:latin typeface="Times New Roman"/>
                <a:cs typeface="Times New Roman"/>
              </a:rPr>
              <a:t>Lesson-29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170"/>
              </a:spcBef>
            </a:pPr>
            <a:r>
              <a:rPr dirty="0" sz="1400" spc="40">
                <a:latin typeface="Times New Roman"/>
                <a:cs typeface="Times New Roman"/>
              </a:rPr>
              <a:t>African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Englishes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Times New Roman"/>
              <a:cs typeface="Times New Roman"/>
            </a:endParaRPr>
          </a:p>
          <a:p>
            <a:pPr marL="12700" marR="3356610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169: </a:t>
            </a:r>
            <a:r>
              <a:rPr dirty="0" sz="1100" spc="-5">
                <a:latin typeface="Times New Roman"/>
                <a:cs typeface="Times New Roman"/>
              </a:rPr>
              <a:t>African English: Origin and Development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Background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 </a:t>
            </a:r>
            <a:r>
              <a:rPr dirty="0" sz="1100">
                <a:latin typeface="Times New Roman"/>
                <a:cs typeface="Times New Roman"/>
              </a:rPr>
              <a:t>refers</a:t>
            </a:r>
            <a:r>
              <a:rPr dirty="0" sz="1100" spc="-5">
                <a:latin typeface="Times New Roman"/>
                <a:cs typeface="Times New Roman"/>
              </a:rPr>
              <a:t> to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 by</a:t>
            </a:r>
            <a:r>
              <a:rPr dirty="0" sz="1100" spc="-5">
                <a:latin typeface="Times New Roman"/>
                <a:cs typeface="Times New Roman"/>
              </a:rPr>
              <a:t> Black Africans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ex-British colonies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Liberia</a:t>
            </a:r>
            <a:endParaRPr sz="1100">
              <a:latin typeface="Times New Roman"/>
              <a:cs typeface="Times New Roman"/>
            </a:endParaRPr>
          </a:p>
          <a:p>
            <a:pPr marL="12700" marR="21374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linguistic </a:t>
            </a:r>
            <a:r>
              <a:rPr dirty="0" sz="1100">
                <a:latin typeface="Times New Roman"/>
                <a:cs typeface="Times New Roman"/>
              </a:rPr>
              <a:t>profile of </a:t>
            </a:r>
            <a:r>
              <a:rPr dirty="0" sz="1100" spc="-5">
                <a:latin typeface="Times New Roman"/>
                <a:cs typeface="Times New Roman"/>
              </a:rPr>
              <a:t>Africa is an </a:t>
            </a:r>
            <a:r>
              <a:rPr dirty="0" sz="1100">
                <a:latin typeface="Times New Roman"/>
                <a:cs typeface="Times New Roman"/>
              </a:rPr>
              <a:t>outcome of </a:t>
            </a:r>
            <a:r>
              <a:rPr dirty="0" sz="1100" spc="-5">
                <a:latin typeface="Times New Roman"/>
                <a:cs typeface="Times New Roman"/>
              </a:rPr>
              <a:t>its colonial </a:t>
            </a:r>
            <a:r>
              <a:rPr dirty="0" sz="1100">
                <a:latin typeface="Times New Roman"/>
                <a:cs typeface="Times New Roman"/>
              </a:rPr>
              <a:t>history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enjoys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prominent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Ghana,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Nigeria,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Liberia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(West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Kenya,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Tanzania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(East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Botswana,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Namibia,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Zambia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(Southern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Africa)</a:t>
            </a:r>
            <a:endParaRPr sz="1100">
              <a:latin typeface="Times New Roman"/>
              <a:cs typeface="Times New Roman"/>
            </a:endParaRPr>
          </a:p>
          <a:p>
            <a:pPr marL="12700" marR="51727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Sout</a:t>
            </a:r>
            <a:r>
              <a:rPr dirty="0" sz="1100">
                <a:latin typeface="Times New Roman"/>
                <a:cs typeface="Times New Roman"/>
              </a:rPr>
              <a:t>h</a:t>
            </a:r>
            <a:r>
              <a:rPr dirty="0" sz="1100" spc="-5">
                <a:latin typeface="Times New Roman"/>
                <a:cs typeface="Times New Roman"/>
              </a:rPr>
              <a:t> Africa 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depth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people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despite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being</a:t>
            </a:r>
            <a:r>
              <a:rPr dirty="0" sz="1100" spc="-5">
                <a:latin typeface="Times New Roman"/>
                <a:cs typeface="Times New Roman"/>
              </a:rPr>
              <a:t> the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(e.g. </a:t>
            </a:r>
            <a:r>
              <a:rPr dirty="0" sz="1100" spc="-5">
                <a:latin typeface="Times New Roman"/>
                <a:cs typeface="Times New Roman"/>
              </a:rPr>
              <a:t>Namibia)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cases</a:t>
            </a:r>
            <a:endParaRPr sz="1100">
              <a:latin typeface="Times New Roman"/>
              <a:cs typeface="Times New Roman"/>
            </a:endParaRPr>
          </a:p>
          <a:p>
            <a:pPr marL="12700" marR="12928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 others used by a </a:t>
            </a:r>
            <a:r>
              <a:rPr dirty="0" sz="1100" spc="-5">
                <a:latin typeface="Times New Roman"/>
                <a:cs typeface="Times New Roman"/>
              </a:rPr>
              <a:t>large </a:t>
            </a:r>
            <a:r>
              <a:rPr dirty="0" sz="1100">
                <a:latin typeface="Times New Roman"/>
                <a:cs typeface="Times New Roman"/>
              </a:rPr>
              <a:t>number of population (Liberia, </a:t>
            </a:r>
            <a:r>
              <a:rPr dirty="0" sz="1100" spc="-5">
                <a:latin typeface="Times New Roman"/>
                <a:cs typeface="Times New Roman"/>
              </a:rPr>
              <a:t>Zimbabwe, South Africa)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0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despite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relatively </a:t>
            </a:r>
            <a:r>
              <a:rPr dirty="0" sz="1100" spc="-5">
                <a:latin typeface="Times New Roman"/>
                <a:cs typeface="Times New Roman"/>
              </a:rPr>
              <a:t>shorter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period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colonization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Enjoys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domains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government,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commerce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(Ghana,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Kenya,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Nigeria, South Africa and Tanzania)</a:t>
            </a:r>
            <a:endParaRPr sz="1100">
              <a:latin typeface="Times New Roman"/>
              <a:cs typeface="Times New Roman"/>
            </a:endParaRPr>
          </a:p>
          <a:p>
            <a:pPr marL="12700" marR="399161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170: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English: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Innovations-I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4286250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Omission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syntactic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category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observed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levels</a:t>
            </a:r>
            <a:endParaRPr sz="1100">
              <a:latin typeface="Times New Roman"/>
              <a:cs typeface="Times New Roman"/>
            </a:endParaRPr>
          </a:p>
          <a:p>
            <a:pPr marL="12700" marR="10623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 African </a:t>
            </a:r>
            <a:r>
              <a:rPr dirty="0" sz="1100">
                <a:latin typeface="Times New Roman"/>
                <a:cs typeface="Times New Roman"/>
              </a:rPr>
              <a:t>feature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an educational </a:t>
            </a:r>
            <a:r>
              <a:rPr dirty="0" sz="1100">
                <a:latin typeface="Times New Roman"/>
                <a:cs typeface="Times New Roman"/>
              </a:rPr>
              <a:t>failure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Omission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articles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Examples</a:t>
            </a:r>
            <a:endParaRPr sz="1100">
              <a:latin typeface="Times New Roman"/>
              <a:cs typeface="Times New Roman"/>
            </a:endParaRPr>
          </a:p>
          <a:p>
            <a:pPr marL="12700" marR="2931795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Let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strong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…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organized.</a:t>
            </a:r>
            <a:endParaRPr sz="1100">
              <a:latin typeface="Times New Roman"/>
              <a:cs typeface="Times New Roman"/>
            </a:endParaRPr>
          </a:p>
          <a:p>
            <a:pPr marL="128905" indent="-82550">
              <a:lnSpc>
                <a:spcPct val="100000"/>
              </a:lnSpc>
              <a:spcBef>
                <a:spcPts val="135"/>
              </a:spcBef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gave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tough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time.</a:t>
            </a:r>
            <a:endParaRPr sz="1100">
              <a:latin typeface="Times New Roman"/>
              <a:cs typeface="Times New Roman"/>
            </a:endParaRPr>
          </a:p>
          <a:p>
            <a:pPr marL="128905" indent="-82550">
              <a:lnSpc>
                <a:spcPct val="100000"/>
              </a:lnSpc>
              <a:spcBef>
                <a:spcPts val="135"/>
              </a:spcBef>
              <a:buChar char="-"/>
              <a:tabLst>
                <a:tab pos="129539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cinema.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Generic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pronouns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real/whole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(i.e.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adult).</a:t>
            </a:r>
            <a:endParaRPr sz="1100">
              <a:latin typeface="Times New Roman"/>
              <a:cs typeface="Times New Roman"/>
            </a:endParaRPr>
          </a:p>
          <a:p>
            <a:pPr marL="12700" marR="2850515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You are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sociable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somebody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(i.e.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sociable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person).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Pluralization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uncountable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nouns</a:t>
            </a:r>
            <a:endParaRPr sz="1100">
              <a:latin typeface="Times New Roman"/>
              <a:cs typeface="Times New Roman"/>
            </a:endParaRPr>
          </a:p>
          <a:p>
            <a:pPr marL="12700" marR="2807335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all my furnitures and </a:t>
            </a:r>
            <a:r>
              <a:rPr dirty="0" sz="1100">
                <a:latin typeface="Times New Roman"/>
                <a:cs typeface="Times New Roman"/>
              </a:rPr>
              <a:t>…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properties’</a:t>
            </a:r>
            <a:endParaRPr sz="1100">
              <a:latin typeface="Times New Roman"/>
              <a:cs typeface="Times New Roman"/>
            </a:endParaRPr>
          </a:p>
          <a:p>
            <a:pPr marL="12700" marR="2921635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>
                <a:latin typeface="Times New Roman"/>
                <a:cs typeface="Times New Roman"/>
              </a:rPr>
              <a:t>noises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laughter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chats’</a:t>
            </a:r>
            <a:endParaRPr sz="1100">
              <a:latin typeface="Times New Roman"/>
              <a:cs typeface="Times New Roman"/>
            </a:endParaRPr>
          </a:p>
          <a:p>
            <a:pPr marL="12700" marR="2425065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respects </a:t>
            </a: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>
                <a:latin typeface="Times New Roman"/>
                <a:cs typeface="Times New Roman"/>
              </a:rPr>
              <a:t>deserve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Redundant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Insertion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pronouns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registers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Inner-Circle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varieties:</a:t>
            </a:r>
            <a:endParaRPr sz="1100">
              <a:latin typeface="Times New Roman"/>
              <a:cs typeface="Times New Roman"/>
            </a:endParaRPr>
          </a:p>
          <a:p>
            <a:pPr marL="12700" marR="3047365" indent="34925">
              <a:lnSpc>
                <a:spcPct val="110200"/>
              </a:lnSpc>
              <a:buChar char="-"/>
              <a:tabLst>
                <a:tab pos="164465" algn="l"/>
              </a:tabLst>
            </a:pP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daughter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attending </a:t>
            </a:r>
            <a:r>
              <a:rPr dirty="0" sz="1100">
                <a:latin typeface="Times New Roman"/>
                <a:cs typeface="Times New Roman"/>
              </a:rPr>
              <a:t>…</a:t>
            </a:r>
            <a:endParaRPr sz="1100">
              <a:latin typeface="Times New Roman"/>
              <a:cs typeface="Times New Roman"/>
            </a:endParaRPr>
          </a:p>
          <a:p>
            <a:pPr marL="12700" marR="2903855" indent="34925">
              <a:lnSpc>
                <a:spcPct val="110200"/>
              </a:lnSpc>
              <a:buChar char="-"/>
              <a:tabLst>
                <a:tab pos="164465" algn="l"/>
              </a:tabLst>
            </a:pPr>
            <a:r>
              <a:rPr dirty="0" sz="1100" spc="-5">
                <a:latin typeface="Times New Roman"/>
                <a:cs typeface="Times New Roman"/>
              </a:rPr>
              <a:t>Robert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currently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employed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…</a:t>
            </a:r>
            <a:endParaRPr sz="1100">
              <a:latin typeface="Times New Roman"/>
              <a:cs typeface="Times New Roman"/>
            </a:endParaRPr>
          </a:p>
          <a:p>
            <a:pPr marL="163830" indent="-117475">
              <a:lnSpc>
                <a:spcPct val="100000"/>
              </a:lnSpc>
              <a:spcBef>
                <a:spcPts val="135"/>
              </a:spcBef>
              <a:buChar char="-"/>
              <a:tabLst>
                <a:tab pos="164465" algn="l"/>
              </a:tabLst>
            </a:pPr>
            <a:r>
              <a:rPr dirty="0" sz="1100" spc="-5">
                <a:latin typeface="Times New Roman"/>
                <a:cs typeface="Times New Roman"/>
              </a:rPr>
              <a:t>Me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sleep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Generic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pronouns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resumptivepronouns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occurs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non-subject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positions:</a:t>
            </a:r>
            <a:endParaRPr sz="1100">
              <a:latin typeface="Times New Roman"/>
              <a:cs typeface="Times New Roman"/>
            </a:endParaRPr>
          </a:p>
          <a:p>
            <a:pPr marL="12700" marR="2687320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>
                <a:latin typeface="Times New Roman"/>
                <a:cs typeface="Times New Roman"/>
              </a:rPr>
              <a:t>…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 never been </a:t>
            </a:r>
            <a:r>
              <a:rPr dirty="0" sz="1100" spc="-5">
                <a:latin typeface="Times New Roman"/>
                <a:cs typeface="Times New Roman"/>
              </a:rPr>
              <a:t>there </a:t>
            </a:r>
            <a:r>
              <a:rPr dirty="0" sz="1100">
                <a:latin typeface="Times New Roman"/>
                <a:cs typeface="Times New Roman"/>
              </a:rPr>
              <a:t> before.</a:t>
            </a:r>
            <a:endParaRPr sz="1100">
              <a:latin typeface="Times New Roman"/>
              <a:cs typeface="Times New Roman"/>
            </a:endParaRPr>
          </a:p>
          <a:p>
            <a:pPr marL="12700" marR="2661285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guests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invited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arrived.</a:t>
            </a:r>
            <a:endParaRPr sz="1100">
              <a:latin typeface="Times New Roman"/>
              <a:cs typeface="Times New Roman"/>
            </a:endParaRPr>
          </a:p>
          <a:p>
            <a:pPr marL="12700" marR="2825750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Thank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letter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5">
                <a:latin typeface="Times New Roman"/>
                <a:cs typeface="Times New Roman"/>
              </a:rPr>
              <a:t> wrote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Comparative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English:</a:t>
            </a:r>
            <a:endParaRPr sz="1100">
              <a:latin typeface="Times New Roman"/>
              <a:cs typeface="Times New Roman"/>
            </a:endParaRPr>
          </a:p>
          <a:p>
            <a:pPr marL="12700" marR="2843530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youths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skillful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adults</a:t>
            </a:r>
            <a:endParaRPr sz="1100">
              <a:latin typeface="Times New Roman"/>
              <a:cs typeface="Times New Roman"/>
            </a:endParaRPr>
          </a:p>
          <a:p>
            <a:pPr marL="12700" marR="2676525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working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siblings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Africa</a:t>
            </a:r>
            <a:r>
              <a:rPr dirty="0" sz="1100">
                <a:latin typeface="Times New Roman"/>
                <a:cs typeface="Times New Roman"/>
              </a:rPr>
              <a:t>n</a:t>
            </a:r>
            <a:r>
              <a:rPr dirty="0" sz="1100" spc="-5">
                <a:latin typeface="Times New Roman"/>
                <a:cs typeface="Times New Roman"/>
              </a:rPr>
              <a:t> English: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youths who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-----skillful </a:t>
            </a:r>
            <a:r>
              <a:rPr dirty="0" sz="1100">
                <a:latin typeface="Times New Roman"/>
                <a:cs typeface="Times New Roman"/>
              </a:rPr>
              <a:t>…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adults.</a:t>
            </a:r>
            <a:endParaRPr sz="1100">
              <a:latin typeface="Times New Roman"/>
              <a:cs typeface="Times New Roman"/>
            </a:endParaRPr>
          </a:p>
          <a:p>
            <a:pPr marL="12700" marR="1501775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 </a:t>
            </a:r>
            <a:r>
              <a:rPr dirty="0" sz="1100" spc="-5">
                <a:latin typeface="Times New Roman"/>
                <a:cs typeface="Times New Roman"/>
              </a:rPr>
              <a:t>am </a:t>
            </a:r>
            <a:r>
              <a:rPr dirty="0" sz="1100">
                <a:latin typeface="Times New Roman"/>
                <a:cs typeface="Times New Roman"/>
              </a:rPr>
              <a:t>------ hard </a:t>
            </a:r>
            <a:r>
              <a:rPr dirty="0" sz="1100" spc="-5">
                <a:latin typeface="Times New Roman"/>
                <a:cs typeface="Times New Roman"/>
              </a:rPr>
              <a:t>working than my siblings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171: </a:t>
            </a:r>
            <a:r>
              <a:rPr dirty="0" sz="1100" spc="-5">
                <a:latin typeface="Times New Roman"/>
                <a:cs typeface="Times New Roman"/>
              </a:rPr>
              <a:t>African English: </a:t>
            </a:r>
            <a:r>
              <a:rPr dirty="0" sz="1100">
                <a:latin typeface="Times New Roman"/>
                <a:cs typeface="Times New Roman"/>
              </a:rPr>
              <a:t>Innovations-II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9685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extension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Adds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items: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‘amount’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‘money’</a:t>
            </a:r>
            <a:r>
              <a:rPr dirty="0" sz="1100">
                <a:latin typeface="Times New Roman"/>
                <a:cs typeface="Times New Roman"/>
              </a:rPr>
              <a:t> or</a:t>
            </a:r>
            <a:r>
              <a:rPr dirty="0" sz="1100" spc="-5">
                <a:latin typeface="Times New Roman"/>
                <a:cs typeface="Times New Roman"/>
              </a:rPr>
              <a:t> ‘cash’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-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‘an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arrangement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way’.</a:t>
            </a:r>
            <a:endParaRPr sz="1100">
              <a:latin typeface="Times New Roman"/>
              <a:cs typeface="Times New Roman"/>
            </a:endParaRPr>
          </a:p>
          <a:p>
            <a:pPr marL="12700" marR="2406015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someone who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bluffs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dressed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‘ornately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fashionably’.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shifts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machine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machine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minerals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—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soft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drinks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serviceable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—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‘willing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serve’</a:t>
            </a:r>
            <a:endParaRPr sz="1100">
              <a:latin typeface="Times New Roman"/>
              <a:cs typeface="Times New Roman"/>
            </a:endParaRPr>
          </a:p>
          <a:p>
            <a:pPr marL="12700" marR="4504055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guested ‘to have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guest’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Coinage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Shows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derivational</a:t>
            </a:r>
            <a:r>
              <a:rPr dirty="0" sz="1100" spc="-5">
                <a:latin typeface="Times New Roman"/>
                <a:cs typeface="Times New Roman"/>
              </a:rPr>
              <a:t> morphology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African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116839" marR="4976495" indent="-69850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>
                <a:latin typeface="Times New Roman"/>
                <a:cs typeface="Times New Roman"/>
              </a:rPr>
              <a:t>facing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hardcap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(‘hardship’).</a:t>
            </a:r>
            <a:endParaRPr sz="1100">
              <a:latin typeface="Times New Roman"/>
              <a:cs typeface="Times New Roman"/>
            </a:endParaRPr>
          </a:p>
          <a:p>
            <a:pPr marL="12700" marR="4557395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…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nothing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coinable </a:t>
            </a:r>
            <a:r>
              <a:rPr dirty="0" sz="1100">
                <a:latin typeface="Times New Roman"/>
                <a:cs typeface="Times New Roman"/>
              </a:rPr>
              <a:t>(‘no </a:t>
            </a:r>
            <a:r>
              <a:rPr dirty="0" sz="1100" spc="-5">
                <a:latin typeface="Times New Roman"/>
                <a:cs typeface="Times New Roman"/>
              </a:rPr>
              <a:t>money’).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Compounding</a:t>
            </a:r>
            <a:endParaRPr sz="1100">
              <a:latin typeface="Times New Roman"/>
              <a:cs typeface="Times New Roman"/>
            </a:endParaRPr>
          </a:p>
          <a:p>
            <a:pPr marL="151765" marR="4772025" indent="-10477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‘These been-to boys’ </a:t>
            </a:r>
            <a:r>
              <a:rPr dirty="0" sz="1100">
                <a:latin typeface="Times New Roman"/>
                <a:cs typeface="Times New Roman"/>
              </a:rPr>
              <a:t> (those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travelled</a:t>
            </a:r>
            <a:endParaRPr sz="1100">
              <a:latin typeface="Times New Roman"/>
              <a:cs typeface="Times New Roman"/>
            </a:endParaRPr>
          </a:p>
          <a:p>
            <a:pPr marL="186690" marR="5074920" indent="-1746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abroad, specifically to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Britain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America)</a:t>
            </a:r>
            <a:endParaRPr sz="1100">
              <a:latin typeface="Times New Roman"/>
              <a:cs typeface="Times New Roman"/>
            </a:endParaRPr>
          </a:p>
          <a:p>
            <a:pPr marL="12700" marR="4755515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>
                <a:latin typeface="Times New Roman"/>
                <a:cs typeface="Times New Roman"/>
              </a:rPr>
              <a:t>‘a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and- my-darling’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sofa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  <a:p>
            <a:pPr marL="116839" marR="4834255" indent="-10477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chicken-parlour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‘commercial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endParaRPr sz="1100">
              <a:latin typeface="Times New Roman"/>
              <a:cs typeface="Times New Roman"/>
            </a:endParaRPr>
          </a:p>
          <a:p>
            <a:pPr marL="12700" marR="481203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chicken,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drinks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sold’.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Reverse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compunding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knife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bread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“bread knife”</a:t>
            </a:r>
            <a:endParaRPr sz="1100">
              <a:latin typeface="Times New Roman"/>
              <a:cs typeface="Times New Roman"/>
            </a:endParaRPr>
          </a:p>
          <a:p>
            <a:pPr marL="12700" marR="3879850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sheet bed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“bed sheet” </a:t>
            </a:r>
            <a:r>
              <a:rPr dirty="0" sz="1100">
                <a:latin typeface="Times New Roman"/>
                <a:cs typeface="Times New Roman"/>
              </a:rPr>
              <a:t> Innovations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endParaRPr sz="1100">
              <a:latin typeface="Times New Roman"/>
              <a:cs typeface="Times New Roman"/>
            </a:endParaRPr>
          </a:p>
          <a:p>
            <a:pPr marL="12700" marR="47383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Transmit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various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46812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Render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monolingual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characters</a:t>
            </a:r>
            <a:endParaRPr sz="1100">
              <a:latin typeface="Times New Roman"/>
              <a:cs typeface="Times New Roman"/>
            </a:endParaRPr>
          </a:p>
          <a:p>
            <a:pPr marL="12700" marR="409829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172: </a:t>
            </a:r>
            <a:r>
              <a:rPr dirty="0" sz="1100" spc="-5">
                <a:latin typeface="Times New Roman"/>
                <a:cs typeface="Times New Roman"/>
              </a:rPr>
              <a:t>Black South African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knowledge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increased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twice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rapidly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knowledge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Afrikaans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According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1991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census,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approximately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45%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knowledge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23698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is </a:t>
            </a:r>
            <a:r>
              <a:rPr dirty="0" sz="1100">
                <a:latin typeface="Times New Roman"/>
                <a:cs typeface="Times New Roman"/>
              </a:rPr>
              <a:t>one option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wide-ranging </a:t>
            </a:r>
            <a:r>
              <a:rPr dirty="0" sz="1100">
                <a:latin typeface="Times New Roman"/>
                <a:cs typeface="Times New Roman"/>
              </a:rPr>
              <a:t>repertoire of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criteria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related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knowledge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12700" marR="33540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Learned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virtually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black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90005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years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elementary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carried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Inappropriate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materials</a:t>
            </a:r>
            <a:endParaRPr sz="1100">
              <a:latin typeface="Times New Roman"/>
              <a:cs typeface="Times New Roman"/>
            </a:endParaRPr>
          </a:p>
          <a:p>
            <a:pPr marL="12700" marR="32854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Instruction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carried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switching </a:t>
            </a:r>
            <a:r>
              <a:rPr dirty="0" sz="1100">
                <a:latin typeface="Times New Roman"/>
                <a:cs typeface="Times New Roman"/>
              </a:rPr>
              <a:t>black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urban </a:t>
            </a:r>
            <a:r>
              <a:rPr dirty="0" sz="1100" spc="-5">
                <a:latin typeface="Times New Roman"/>
                <a:cs typeface="Times New Roman"/>
              </a:rPr>
              <a:t>slang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occur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 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meant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readers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serious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topics</a:t>
            </a:r>
            <a:endParaRPr sz="1100">
              <a:latin typeface="Times New Roman"/>
              <a:cs typeface="Times New Roman"/>
            </a:endParaRPr>
          </a:p>
          <a:p>
            <a:pPr marL="12700" marR="1016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HolaMagents!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lot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njori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(money)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flashy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s’lahla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(car)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Ideological</a:t>
            </a:r>
            <a:r>
              <a:rPr dirty="0" sz="1100" spc="-5">
                <a:latin typeface="Times New Roman"/>
                <a:cs typeface="Times New Roman"/>
              </a:rPr>
              <a:t> issues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oppressor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Also,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liberation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resistance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Instrument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black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Ambivalence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7454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Solution: adopt more </a:t>
            </a:r>
            <a:r>
              <a:rPr dirty="0" sz="1100">
                <a:latin typeface="Times New Roman"/>
                <a:cs typeface="Times New Roman"/>
              </a:rPr>
              <a:t>open-minded </a:t>
            </a:r>
            <a:r>
              <a:rPr dirty="0" sz="1100" spc="-5">
                <a:latin typeface="Times New Roman"/>
                <a:cs typeface="Times New Roman"/>
              </a:rPr>
              <a:t>attitudes towards accepting </a:t>
            </a:r>
            <a:r>
              <a:rPr dirty="0" sz="1100">
                <a:latin typeface="Times New Roman"/>
                <a:cs typeface="Times New Roman"/>
              </a:rPr>
              <a:t>nativized varieties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173: </a:t>
            </a:r>
            <a:r>
              <a:rPr dirty="0" sz="1100" spc="-5">
                <a:latin typeface="Times New Roman"/>
                <a:cs typeface="Times New Roman"/>
              </a:rPr>
              <a:t>African American Vernacular 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AAVE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Associated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descent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noticeable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</a:t>
            </a:r>
            <a:endParaRPr sz="1100">
              <a:latin typeface="Times New Roman"/>
              <a:cs typeface="Times New Roman"/>
            </a:endParaRPr>
          </a:p>
          <a:p>
            <a:pPr marL="12700" marR="37953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devoted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Brief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African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1500</a:t>
            </a:r>
            <a:r>
              <a:rPr dirty="0" sz="1100" spc="-5">
                <a:latin typeface="Times New Roman"/>
                <a:cs typeface="Times New Roman"/>
              </a:rPr>
              <a:t> and </a:t>
            </a:r>
            <a:r>
              <a:rPr dirty="0" sz="1100">
                <a:latin typeface="Times New Roman"/>
                <a:cs typeface="Times New Roman"/>
              </a:rPr>
              <a:t>1860,</a:t>
            </a:r>
            <a:r>
              <a:rPr dirty="0" sz="1100" spc="-5">
                <a:latin typeface="Times New Roman"/>
                <a:cs typeface="Times New Roman"/>
              </a:rPr>
              <a:t> 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least </a:t>
            </a:r>
            <a:r>
              <a:rPr dirty="0" sz="1100">
                <a:latin typeface="Times New Roman"/>
                <a:cs typeface="Times New Roman"/>
              </a:rPr>
              <a:t>12</a:t>
            </a:r>
            <a:r>
              <a:rPr dirty="0" sz="1100" spc="-5">
                <a:latin typeface="Times New Roman"/>
                <a:cs typeface="Times New Roman"/>
              </a:rPr>
              <a:t> million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Africans were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forcibly</a:t>
            </a:r>
            <a:r>
              <a:rPr dirty="0" sz="1100" spc="-5">
                <a:latin typeface="Times New Roman"/>
                <a:cs typeface="Times New Roman"/>
              </a:rPr>
              <a:t> taken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Originally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captured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African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raids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transported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Atlantic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trade</a:t>
            </a:r>
            <a:endParaRPr sz="1100">
              <a:latin typeface="Times New Roman"/>
              <a:cs typeface="Times New Roman"/>
            </a:endParaRPr>
          </a:p>
          <a:p>
            <a:pPr marL="12700" marR="22853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They were sent to North America, South America and Caribbean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Brief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earliest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slaves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plantations</a:t>
            </a:r>
            <a:r>
              <a:rPr dirty="0" sz="1100" spc="-5">
                <a:latin typeface="Times New Roman"/>
                <a:cs typeface="Times New Roman"/>
              </a:rPr>
              <a:t> along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southern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coast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cultivated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crops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tobacco</a:t>
            </a:r>
            <a:endParaRPr sz="1100">
              <a:latin typeface="Times New Roman"/>
              <a:cs typeface="Times New Roman"/>
            </a:endParaRPr>
          </a:p>
          <a:p>
            <a:pPr marL="12700" marR="21501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Invention of </a:t>
            </a:r>
            <a:r>
              <a:rPr dirty="0" sz="1100" spc="-5">
                <a:latin typeface="Times New Roman"/>
                <a:cs typeface="Times New Roman"/>
              </a:rPr>
              <a:t>cotton </a:t>
            </a:r>
            <a:r>
              <a:rPr dirty="0" sz="1100">
                <a:latin typeface="Times New Roman"/>
                <a:cs typeface="Times New Roman"/>
              </a:rPr>
              <a:t>gin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1793 </a:t>
            </a:r>
            <a:r>
              <a:rPr dirty="0" sz="1100" spc="-5">
                <a:latin typeface="Times New Roman"/>
                <a:cs typeface="Times New Roman"/>
              </a:rPr>
              <a:t>increased the </a:t>
            </a:r>
            <a:r>
              <a:rPr dirty="0" sz="1100">
                <a:latin typeface="Times New Roman"/>
                <a:cs typeface="Times New Roman"/>
              </a:rPr>
              <a:t>demand for </a:t>
            </a:r>
            <a:r>
              <a:rPr dirty="0" sz="1100" spc="-5">
                <a:latin typeface="Times New Roman"/>
                <a:cs typeface="Times New Roman"/>
              </a:rPr>
              <a:t>the slaves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Brief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African Americans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1790</a:t>
            </a:r>
            <a:r>
              <a:rPr dirty="0" sz="1100" spc="-5">
                <a:latin typeface="Times New Roman"/>
                <a:cs typeface="Times New Roman"/>
              </a:rPr>
              <a:t> approximately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650,000</a:t>
            </a:r>
            <a:r>
              <a:rPr dirty="0" sz="1100" spc="-5">
                <a:latin typeface="Times New Roman"/>
                <a:cs typeface="Times New Roman"/>
              </a:rPr>
              <a:t> slaves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rice,</a:t>
            </a:r>
            <a:r>
              <a:rPr dirty="0" sz="1100" spc="-5">
                <a:latin typeface="Times New Roman"/>
                <a:cs typeface="Times New Roman"/>
              </a:rPr>
              <a:t> tobacco,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indigo.</a:t>
            </a:r>
            <a:endParaRPr sz="1100">
              <a:latin typeface="Times New Roman"/>
              <a:cs typeface="Times New Roman"/>
            </a:endParaRPr>
          </a:p>
          <a:p>
            <a:pPr marL="12700" marR="12795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By </a:t>
            </a:r>
            <a:r>
              <a:rPr dirty="0" sz="1100">
                <a:latin typeface="Times New Roman"/>
                <a:cs typeface="Times New Roman"/>
              </a:rPr>
              <a:t>1850 </a:t>
            </a:r>
            <a:r>
              <a:rPr dirty="0" sz="1100" spc="-5">
                <a:latin typeface="Times New Roman"/>
                <a:cs typeface="Times New Roman"/>
              </a:rPr>
              <a:t>the country </a:t>
            </a:r>
            <a:r>
              <a:rPr dirty="0" sz="1100">
                <a:latin typeface="Times New Roman"/>
                <a:cs typeface="Times New Roman"/>
              </a:rPr>
              <a:t>had 3.2 </a:t>
            </a:r>
            <a:r>
              <a:rPr dirty="0" sz="1100" spc="-5">
                <a:latin typeface="Times New Roman"/>
                <a:cs typeface="Times New Roman"/>
              </a:rPr>
              <a:t>million slaves, </a:t>
            </a:r>
            <a:r>
              <a:rPr dirty="0" sz="1100">
                <a:latin typeface="Times New Roman"/>
                <a:cs typeface="Times New Roman"/>
              </a:rPr>
              <a:t>1.8 </a:t>
            </a:r>
            <a:r>
              <a:rPr dirty="0" sz="1100" spc="-5">
                <a:latin typeface="Times New Roman"/>
                <a:cs typeface="Times New Roman"/>
              </a:rPr>
              <a:t>million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whom worked in cotton.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origin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Substratist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hypothesis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Evolved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unusual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forced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derivative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West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12700" marR="38735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Only superficially similar to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Creolist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hypothesis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Based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similarities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processes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AAVE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(e.g.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Jamaican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 and Gullah)</a:t>
            </a:r>
            <a:endParaRPr sz="1100">
              <a:latin typeface="Times New Roman"/>
              <a:cs typeface="Times New Roman"/>
            </a:endParaRPr>
          </a:p>
          <a:p>
            <a:pPr marL="12700" marR="3746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Slaves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Africa and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the Caribbean </a:t>
            </a:r>
            <a:r>
              <a:rPr dirty="0" sz="1100">
                <a:latin typeface="Times New Roman"/>
                <a:cs typeface="Times New Roman"/>
              </a:rPr>
              <a:t>brought </a:t>
            </a:r>
            <a:r>
              <a:rPr dirty="0" sz="1100" spc="-5">
                <a:latin typeface="Times New Roman"/>
                <a:cs typeface="Times New Roman"/>
              </a:rPr>
              <a:t>creoles which they already spoke into America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Anglicist</a:t>
            </a:r>
            <a:endParaRPr sz="1100">
              <a:latin typeface="Times New Roman"/>
              <a:cs typeface="Times New Roman"/>
            </a:endParaRPr>
          </a:p>
          <a:p>
            <a:pPr marL="12700" marR="203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Holds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adaptive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processes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dialect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formation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Black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slaves’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12700" marR="24339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characteristic </a:t>
            </a:r>
            <a:r>
              <a:rPr dirty="0" sz="1100">
                <a:latin typeface="Times New Roman"/>
                <a:cs typeface="Times New Roman"/>
              </a:rPr>
              <a:t>patterns </a:t>
            </a:r>
            <a:r>
              <a:rPr dirty="0" sz="1100" spc="-5">
                <a:latin typeface="Times New Roman"/>
                <a:cs typeface="Times New Roman"/>
              </a:rPr>
              <a:t>similar to </a:t>
            </a:r>
            <a:r>
              <a:rPr dirty="0" sz="1100">
                <a:latin typeface="Times New Roman"/>
                <a:cs typeface="Times New Roman"/>
              </a:rPr>
              <a:t>other varieties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174: </a:t>
            </a:r>
            <a:r>
              <a:rPr dirty="0" sz="1100" spc="-5">
                <a:latin typeface="Times New Roman"/>
                <a:cs typeface="Times New Roman"/>
              </a:rPr>
              <a:t>Features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African American Vernacular English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Consonant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cluster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simplification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AAVE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972175" cy="11341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577975">
              <a:lnSpc>
                <a:spcPct val="1102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 </a:t>
            </a:r>
            <a:r>
              <a:rPr dirty="0" sz="1100">
                <a:latin typeface="Times New Roman"/>
                <a:cs typeface="Times New Roman"/>
              </a:rPr>
              <a:t>one variety </a:t>
            </a:r>
            <a:r>
              <a:rPr dirty="0" sz="1100" spc="-5">
                <a:latin typeface="Times New Roman"/>
                <a:cs typeface="Times New Roman"/>
              </a:rPr>
              <a:t>constitutes the specific each </a:t>
            </a:r>
            <a:r>
              <a:rPr dirty="0" sz="1100">
                <a:latin typeface="Times New Roman"/>
                <a:cs typeface="Times New Roman"/>
              </a:rPr>
              <a:t>variety of </a:t>
            </a:r>
            <a:r>
              <a:rPr dirty="0" sz="1100" spc="-5">
                <a:latin typeface="Times New Roman"/>
                <a:cs typeface="Times New Roman"/>
              </a:rPr>
              <a:t>all AAVE </a:t>
            </a:r>
            <a:r>
              <a:rPr dirty="0" sz="1100">
                <a:latin typeface="Times New Roman"/>
                <a:cs typeface="Times New Roman"/>
              </a:rPr>
              <a:t>users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Consonant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cluster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simplification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singular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morpheme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absent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80–95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percent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occurrences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Frequently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1755620"/>
            <a:ext cx="130175" cy="57975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1.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2.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3.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8900" y="1755620"/>
            <a:ext cx="2514600" cy="579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part of </a:t>
            </a:r>
            <a:r>
              <a:rPr dirty="0" sz="1100" spc="-5">
                <a:latin typeface="Times New Roman"/>
                <a:cs typeface="Times New Roman"/>
              </a:rPr>
              <a:t>GE,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are more </a:t>
            </a:r>
            <a:r>
              <a:rPr dirty="0" sz="1100">
                <a:latin typeface="Times New Roman"/>
                <a:cs typeface="Times New Roman"/>
              </a:rPr>
              <a:t>frequent </a:t>
            </a:r>
            <a:r>
              <a:rPr dirty="0" sz="1100" spc="-5">
                <a:latin typeface="Times New Roman"/>
                <a:cs typeface="Times New Roman"/>
              </a:rPr>
              <a:t>in AAVE </a:t>
            </a:r>
            <a:r>
              <a:rPr dirty="0" sz="1100">
                <a:latin typeface="Times New Roman"/>
                <a:cs typeface="Times New Roman"/>
              </a:rPr>
              <a:t> part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fashioned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Southern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unique</a:t>
            </a:r>
            <a:r>
              <a:rPr dirty="0" sz="1100" spc="-5">
                <a:latin typeface="Times New Roman"/>
                <a:cs typeface="Times New Roman"/>
              </a:rPr>
              <a:t> to AAVE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2309734"/>
            <a:ext cx="4200525" cy="704469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Phonological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part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-5">
                <a:latin typeface="Times New Roman"/>
                <a:cs typeface="Times New Roman"/>
              </a:rPr>
              <a:t> 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frequent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AAVE</a:t>
            </a:r>
            <a:endParaRPr sz="1100">
              <a:latin typeface="Times New Roman"/>
              <a:cs typeface="Times New Roman"/>
            </a:endParaRPr>
          </a:p>
          <a:p>
            <a:pPr marL="12700" marR="3949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Deletion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last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word-final sequence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consonants: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hand </a:t>
            </a:r>
            <a:r>
              <a:rPr dirty="0" sz="1100">
                <a:latin typeface="Times New Roman"/>
                <a:cs typeface="Times New Roman"/>
              </a:rPr>
              <a:t>→ </a:t>
            </a:r>
            <a:r>
              <a:rPr dirty="0" sz="1100" spc="-5">
                <a:latin typeface="Times New Roman"/>
                <a:cs typeface="Times New Roman"/>
              </a:rPr>
              <a:t>han</a:t>
            </a:r>
            <a:endParaRPr sz="1100">
              <a:latin typeface="Times New Roman"/>
              <a:cs typeface="Times New Roman"/>
            </a:endParaRPr>
          </a:p>
          <a:p>
            <a:pPr marL="12700" marR="18383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Deletion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unstressed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syllable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 bout</a:t>
            </a:r>
            <a:endParaRPr sz="1100">
              <a:latin typeface="Times New Roman"/>
              <a:cs typeface="Times New Roman"/>
            </a:endParaRPr>
          </a:p>
          <a:p>
            <a:pPr marL="12700" marR="276860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government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gov’ment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Phonological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frequent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AAVE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Deletion </a:t>
            </a:r>
            <a:r>
              <a:rPr dirty="0" sz="1100">
                <a:latin typeface="Times New Roman"/>
                <a:cs typeface="Times New Roman"/>
              </a:rPr>
              <a:t>of one of </a:t>
            </a:r>
            <a:r>
              <a:rPr dirty="0" sz="1100" spc="-5">
                <a:latin typeface="Times New Roman"/>
                <a:cs typeface="Times New Roman"/>
              </a:rPr>
              <a:t>two identical syllables Mississippi </a:t>
            </a:r>
            <a:r>
              <a:rPr dirty="0" sz="1100">
                <a:latin typeface="Times New Roman"/>
                <a:cs typeface="Times New Roman"/>
              </a:rPr>
              <a:t>→ </a:t>
            </a:r>
            <a:r>
              <a:rPr dirty="0" sz="1100" spc="-5">
                <a:latin typeface="Times New Roman"/>
                <a:cs typeface="Times New Roman"/>
              </a:rPr>
              <a:t>Missi’ppi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Found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AAVE</a:t>
            </a:r>
            <a:endParaRPr sz="1100">
              <a:latin typeface="Times New Roman"/>
              <a:cs typeface="Times New Roman"/>
            </a:endParaRPr>
          </a:p>
          <a:p>
            <a:pPr marL="12700" marR="12547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Reversal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word-final </a:t>
            </a:r>
            <a:r>
              <a:rPr dirty="0" sz="1100">
                <a:latin typeface="Times New Roman"/>
                <a:cs typeface="Times New Roman"/>
              </a:rPr>
              <a:t>s + a </a:t>
            </a:r>
            <a:r>
              <a:rPr dirty="0" sz="1100" spc="-5">
                <a:latin typeface="Times New Roman"/>
                <a:cs typeface="Times New Roman"/>
              </a:rPr>
              <a:t>stop consonant: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desk </a:t>
            </a:r>
            <a:r>
              <a:rPr dirty="0" sz="1100">
                <a:latin typeface="Times New Roman"/>
                <a:cs typeface="Times New Roman"/>
              </a:rPr>
              <a:t>→ </a:t>
            </a:r>
            <a:r>
              <a:rPr dirty="0" sz="1100" spc="-5">
                <a:latin typeface="Times New Roman"/>
                <a:cs typeface="Times New Roman"/>
              </a:rPr>
              <a:t>deks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Glide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reduction:</a:t>
            </a:r>
            <a:endParaRPr sz="1100">
              <a:latin typeface="Times New Roman"/>
              <a:cs typeface="Times New Roman"/>
            </a:endParaRPr>
          </a:p>
          <a:p>
            <a:pPr marL="12700" marR="272605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tied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[ta:d]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Phonological </a:t>
            </a:r>
            <a:r>
              <a:rPr dirty="0" sz="1100">
                <a:latin typeface="Times New Roman"/>
                <a:cs typeface="Times New Roman"/>
              </a:rPr>
              <a:t>features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unique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AAVE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Reduction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nasal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vowel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nasality</a:t>
            </a:r>
            <a:endParaRPr sz="1100">
              <a:latin typeface="Times New Roman"/>
              <a:cs typeface="Times New Roman"/>
            </a:endParaRPr>
          </a:p>
          <a:p>
            <a:pPr marL="12700" marR="4692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man</a:t>
            </a:r>
            <a:r>
              <a:rPr dirty="0" sz="1100">
                <a:latin typeface="Times New Roman"/>
                <a:cs typeface="Times New Roman"/>
              </a:rPr>
              <a:t> → </a:t>
            </a:r>
            <a:r>
              <a:rPr dirty="0" sz="1100" spc="-80">
                <a:latin typeface="Times New Roman"/>
                <a:cs typeface="Times New Roman"/>
              </a:rPr>
              <a:t>mɑ/̃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~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final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principally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affecting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nasals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 </a:t>
            </a:r>
            <a:r>
              <a:rPr dirty="0" sz="1100" spc="-5">
                <a:latin typeface="Times New Roman"/>
                <a:cs typeface="Times New Roman"/>
              </a:rPr>
              <a:t>[fa:]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fine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[fa:]</a:t>
            </a:r>
            <a:endParaRPr sz="1100">
              <a:latin typeface="Times New Roman"/>
              <a:cs typeface="Times New Roman"/>
            </a:endParaRPr>
          </a:p>
          <a:p>
            <a:pPr marL="12700" marR="75057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175: </a:t>
            </a:r>
            <a:r>
              <a:rPr dirty="0" sz="1100" spc="-5">
                <a:latin typeface="Times New Roman"/>
                <a:cs typeface="Times New Roman"/>
              </a:rPr>
              <a:t>Features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African American Vernacular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Morphosyntactic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finite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‘be’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Non-finite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AAVE</a:t>
            </a:r>
            <a:endParaRPr sz="1100">
              <a:latin typeface="Times New Roman"/>
              <a:cs typeface="Times New Roman"/>
            </a:endParaRPr>
          </a:p>
          <a:p>
            <a:pPr marL="12700" marR="2291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Indicator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habitual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activity</a:t>
            </a:r>
            <a:endParaRPr sz="1100">
              <a:latin typeface="Times New Roman"/>
              <a:cs typeface="Times New Roman"/>
            </a:endParaRPr>
          </a:p>
          <a:p>
            <a:pPr marL="12700" marR="2820670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June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outta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…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  <a:p>
            <a:pPr marL="12700" marR="2277110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young,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givin’ him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money</a:t>
            </a:r>
            <a:endParaRPr sz="1100">
              <a:latin typeface="Times New Roman"/>
              <a:cs typeface="Times New Roman"/>
            </a:endParaRPr>
          </a:p>
          <a:p>
            <a:pPr marL="12700" marR="275653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Morphosyntacti</a:t>
            </a:r>
            <a:r>
              <a:rPr dirty="0" sz="1100">
                <a:latin typeface="Times New Roman"/>
                <a:cs typeface="Times New Roman"/>
              </a:rPr>
              <a:t>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  </a:t>
            </a:r>
            <a:r>
              <a:rPr dirty="0" sz="1100" spc="-5">
                <a:latin typeface="Times New Roman"/>
                <a:cs typeface="Times New Roman"/>
              </a:rPr>
              <a:t>Perfect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‘done’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verbs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(perfectivity)</a:t>
            </a:r>
            <a:endParaRPr sz="1100">
              <a:latin typeface="Times New Roman"/>
              <a:cs typeface="Times New Roman"/>
            </a:endParaRPr>
          </a:p>
          <a:p>
            <a:pPr marL="12700" marR="2446655" indent="3492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don’t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’cause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it.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90005" cy="7413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650105">
              <a:lnSpc>
                <a:spcPct val="1102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-	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good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now.</a:t>
            </a:r>
            <a:endParaRPr sz="1100">
              <a:latin typeface="Times New Roman"/>
              <a:cs typeface="Times New Roman"/>
            </a:endParaRPr>
          </a:p>
          <a:p>
            <a:pPr marL="12700" marR="494665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Morphosyntacti</a:t>
            </a:r>
            <a:r>
              <a:rPr dirty="0" sz="1100">
                <a:latin typeface="Times New Roman"/>
                <a:cs typeface="Times New Roman"/>
              </a:rPr>
              <a:t>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  </a:t>
            </a:r>
            <a:r>
              <a:rPr dirty="0" sz="1100" spc="-5">
                <a:latin typeface="Times New Roman"/>
                <a:cs typeface="Times New Roman"/>
              </a:rPr>
              <a:t>Perfect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‘done’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punctual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corresponding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‘already’</a:t>
            </a:r>
            <a:endParaRPr sz="1100">
              <a:latin typeface="Times New Roman"/>
              <a:cs typeface="Times New Roman"/>
            </a:endParaRPr>
          </a:p>
          <a:p>
            <a:pPr marL="4699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already.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‘iterative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twice’</a:t>
            </a:r>
            <a:endParaRPr sz="1100">
              <a:latin typeface="Times New Roman"/>
              <a:cs typeface="Times New Roman"/>
            </a:endParaRPr>
          </a:p>
          <a:p>
            <a:pPr marL="12700" marR="4818380">
              <a:lnSpc>
                <a:spcPct val="110200"/>
              </a:lnSpc>
              <a:buChar char="-"/>
              <a:tabLst>
                <a:tab pos="94615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twice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goin’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store.</a:t>
            </a:r>
            <a:endParaRPr sz="1100">
              <a:latin typeface="Times New Roman"/>
              <a:cs typeface="Times New Roman"/>
            </a:endParaRPr>
          </a:p>
          <a:p>
            <a:pPr marL="12700" marR="494665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Morphosyntacti</a:t>
            </a:r>
            <a:r>
              <a:rPr dirty="0" sz="1100">
                <a:latin typeface="Times New Roman"/>
                <a:cs typeface="Times New Roman"/>
              </a:rPr>
              <a:t>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  </a:t>
            </a:r>
            <a:r>
              <a:rPr dirty="0" sz="1100" spc="-5">
                <a:latin typeface="Times New Roman"/>
                <a:cs typeface="Times New Roman"/>
              </a:rPr>
              <a:t>Sequential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done’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sense corresponding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 ‘will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 done’</a:t>
            </a:r>
            <a:endParaRPr sz="1100">
              <a:latin typeface="Times New Roman"/>
              <a:cs typeface="Times New Roman"/>
            </a:endParaRPr>
          </a:p>
          <a:p>
            <a:pPr marL="12700" marR="4501515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ice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cream’s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gonna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done</a:t>
            </a:r>
            <a:r>
              <a:rPr dirty="0" sz="1100" spc="-5">
                <a:latin typeface="Times New Roman"/>
                <a:cs typeface="Times New Roman"/>
              </a:rPr>
              <a:t> melted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there.</a:t>
            </a:r>
            <a:endParaRPr sz="1100">
              <a:latin typeface="Times New Roman"/>
              <a:cs typeface="Times New Roman"/>
            </a:endParaRPr>
          </a:p>
          <a:p>
            <a:pPr marL="12700" marR="4591685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lunch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endParaRPr sz="1100">
              <a:latin typeface="Times New Roman"/>
              <a:cs typeface="Times New Roman"/>
            </a:endParaRPr>
          </a:p>
          <a:p>
            <a:pPr marL="12700" marR="494665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they </a:t>
            </a:r>
            <a:r>
              <a:rPr dirty="0" sz="1100">
                <a:latin typeface="Times New Roman"/>
                <a:cs typeface="Times New Roman"/>
              </a:rPr>
              <a:t>get </a:t>
            </a:r>
            <a:r>
              <a:rPr dirty="0" sz="1100" spc="-5">
                <a:latin typeface="Times New Roman"/>
                <a:cs typeface="Times New Roman"/>
              </a:rPr>
              <a:t>there.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Morphosyntacti</a:t>
            </a:r>
            <a:r>
              <a:rPr dirty="0" sz="1100">
                <a:latin typeface="Times New Roman"/>
                <a:cs typeface="Times New Roman"/>
              </a:rPr>
              <a:t>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  </a:t>
            </a:r>
            <a:r>
              <a:rPr dirty="0" sz="1100" spc="-5">
                <a:latin typeface="Times New Roman"/>
                <a:cs typeface="Times New Roman"/>
              </a:rPr>
              <a:t>Sequential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done’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Future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resultative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You</a:t>
            </a:r>
            <a:r>
              <a:rPr dirty="0" sz="1100">
                <a:latin typeface="Times New Roman"/>
                <a:cs typeface="Times New Roman"/>
              </a:rPr>
              <a:t> 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done</a:t>
            </a:r>
            <a:r>
              <a:rPr dirty="0" sz="1100" spc="-5">
                <a:latin typeface="Times New Roman"/>
                <a:cs typeface="Times New Roman"/>
              </a:rPr>
              <a:t> slapped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(‘you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 usually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walked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away</a:t>
            </a:r>
            <a:r>
              <a:rPr dirty="0" sz="1100">
                <a:latin typeface="Times New Roman"/>
                <a:cs typeface="Times New Roman"/>
              </a:rPr>
              <a:t> from</a:t>
            </a:r>
            <a:r>
              <a:rPr dirty="0" sz="1100" spc="-5">
                <a:latin typeface="Times New Roman"/>
                <a:cs typeface="Times New Roman"/>
              </a:rPr>
              <a:t> me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now’)</a:t>
            </a:r>
            <a:endParaRPr sz="1100">
              <a:latin typeface="Times New Roman"/>
              <a:cs typeface="Times New Roman"/>
            </a:endParaRPr>
          </a:p>
          <a:p>
            <a:pPr marL="12700" marR="2249170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I’ll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done</a:t>
            </a:r>
            <a:r>
              <a:rPr dirty="0" sz="1100" spc="-5">
                <a:latin typeface="Times New Roman"/>
                <a:cs typeface="Times New Roman"/>
              </a:rPr>
              <a:t> killed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[him]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>
                <a:latin typeface="Times New Roman"/>
                <a:cs typeface="Times New Roman"/>
              </a:rPr>
              <a:t> he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lay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-5">
                <a:latin typeface="Times New Roman"/>
                <a:cs typeface="Times New Roman"/>
              </a:rPr>
              <a:t> hand</a:t>
            </a:r>
            <a:r>
              <a:rPr dirty="0" sz="1100">
                <a:latin typeface="Times New Roman"/>
                <a:cs typeface="Times New Roman"/>
              </a:rPr>
              <a:t> on </a:t>
            </a: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kid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again.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Morphosyntactic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Non-recent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perfective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‘been’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Precedes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past-tense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Refers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condition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past</a:t>
            </a:r>
            <a:r>
              <a:rPr dirty="0" sz="1100">
                <a:latin typeface="Times New Roman"/>
                <a:cs typeface="Times New Roman"/>
              </a:rPr>
              <a:t> …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true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comparatively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cops,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they’re still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here.</a:t>
            </a:r>
            <a:endParaRPr sz="1100">
              <a:latin typeface="Times New Roman"/>
              <a:cs typeface="Times New Roman"/>
            </a:endParaRPr>
          </a:p>
          <a:p>
            <a:pPr marL="12700" marR="4055110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 </a:t>
            </a:r>
            <a:r>
              <a:rPr dirty="0" sz="1100" spc="-5">
                <a:latin typeface="Times New Roman"/>
                <a:cs typeface="Times New Roman"/>
              </a:rPr>
              <a:t>been been knowing Russell </a:t>
            </a:r>
            <a:r>
              <a:rPr dirty="0" sz="1100">
                <a:latin typeface="Times New Roman"/>
                <a:cs typeface="Times New Roman"/>
              </a:rPr>
              <a:t>… 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Morphosyntactic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Non-recent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perfective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‘been’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Precedes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past-tense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Refers 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condition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‘was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past</a:t>
            </a:r>
            <a:r>
              <a:rPr dirty="0" sz="1100">
                <a:latin typeface="Times New Roman"/>
                <a:cs typeface="Times New Roman"/>
              </a:rPr>
              <a:t> …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true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comparatively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cops,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they’re still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here.</a:t>
            </a:r>
            <a:endParaRPr sz="1100">
              <a:latin typeface="Times New Roman"/>
              <a:cs typeface="Times New Roman"/>
            </a:endParaRPr>
          </a:p>
          <a:p>
            <a:pPr marL="12700" marR="4055110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 </a:t>
            </a:r>
            <a:r>
              <a:rPr dirty="0" sz="1100" spc="-5">
                <a:latin typeface="Times New Roman"/>
                <a:cs typeface="Times New Roman"/>
              </a:rPr>
              <a:t>been been knowing Russell </a:t>
            </a:r>
            <a:r>
              <a:rPr dirty="0" sz="1100">
                <a:latin typeface="Times New Roman"/>
                <a:cs typeface="Times New Roman"/>
              </a:rPr>
              <a:t>… 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AAVE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variety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Developments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syntax,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pragmatics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AAVE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recognized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positive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as imperfect learning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(Standard)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cross-varietal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unconscious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barrier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against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…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recognition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component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30900" y="661912"/>
            <a:ext cx="7848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Lesson-30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1074802"/>
            <a:ext cx="6359525" cy="8366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43815">
              <a:lnSpc>
                <a:spcPct val="100000"/>
              </a:lnSpc>
              <a:spcBef>
                <a:spcPts val="100"/>
              </a:spcBef>
            </a:pPr>
            <a:r>
              <a:rPr dirty="0" sz="1400" spc="40">
                <a:latin typeface="Times New Roman"/>
                <a:cs typeface="Times New Roman"/>
              </a:rPr>
              <a:t>Emerging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Englishes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 marR="4518025">
              <a:lnSpc>
                <a:spcPct val="110200"/>
              </a:lnSpc>
              <a:spcBef>
                <a:spcPts val="1070"/>
              </a:spcBef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176: </a:t>
            </a:r>
            <a:r>
              <a:rPr dirty="0" sz="1100" spc="-5">
                <a:latin typeface="Times New Roman"/>
                <a:cs typeface="Times New Roman"/>
              </a:rPr>
              <a:t>East Asian 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Comprises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government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education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strongly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encouraged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schooling</a:t>
            </a:r>
            <a:endParaRPr sz="1100">
              <a:latin typeface="Times New Roman"/>
              <a:cs typeface="Times New Roman"/>
            </a:endParaRPr>
          </a:p>
          <a:p>
            <a:pPr marL="12700" marR="402780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restricted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domains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Social,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political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determine</a:t>
            </a:r>
            <a:r>
              <a:rPr dirty="0" sz="1100" spc="-5">
                <a:latin typeface="Times New Roman"/>
                <a:cs typeface="Times New Roman"/>
              </a:rPr>
              <a:t> the </a:t>
            </a:r>
            <a:r>
              <a:rPr dirty="0" sz="1100">
                <a:latin typeface="Times New Roman"/>
                <a:cs typeface="Times New Roman"/>
              </a:rPr>
              <a:t>degree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kind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Wide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frequent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noticeable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impacts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Current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300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toiling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English-speaking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Japanese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project</a:t>
            </a:r>
            <a:endParaRPr sz="1100">
              <a:latin typeface="Times New Roman"/>
              <a:cs typeface="Times New Roman"/>
            </a:endParaRPr>
          </a:p>
          <a:p>
            <a:pPr marL="12700" marR="18395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Strengthening </a:t>
            </a:r>
            <a:r>
              <a:rPr dirty="0" sz="1100">
                <a:latin typeface="Times New Roman"/>
                <a:cs typeface="Times New Roman"/>
              </a:rPr>
              <a:t>of primary </a:t>
            </a:r>
            <a:r>
              <a:rPr dirty="0" sz="1100" spc="-5">
                <a:latin typeface="Times New Roman"/>
                <a:cs typeface="Times New Roman"/>
              </a:rPr>
              <a:t>school ELT </a:t>
            </a:r>
            <a:r>
              <a:rPr dirty="0" sz="1100">
                <a:latin typeface="Times New Roman"/>
                <a:cs typeface="Times New Roman"/>
              </a:rPr>
              <a:t>programmes </a:t>
            </a:r>
            <a:r>
              <a:rPr dirty="0" sz="1100" spc="-5">
                <a:latin typeface="Times New Roman"/>
                <a:cs typeface="Times New Roman"/>
              </a:rPr>
              <a:t>in Korea and Taiwan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language situation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likely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emerge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regions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serves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intranational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Indicators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country</a:t>
            </a:r>
            <a:endParaRPr sz="1100">
              <a:latin typeface="Times New Roman"/>
              <a:cs typeface="Times New Roman"/>
            </a:endParaRPr>
          </a:p>
          <a:p>
            <a:pPr marL="12700" marR="30638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Increased </a:t>
            </a:r>
            <a:r>
              <a:rPr dirty="0" sz="1100" spc="-5">
                <a:latin typeface="Times New Roman"/>
                <a:cs typeface="Times New Roman"/>
              </a:rPr>
              <a:t>exposure to English-using environments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177:</a:t>
            </a:r>
            <a:r>
              <a:rPr dirty="0" sz="1100" spc="-5">
                <a:latin typeface="Times New Roman"/>
                <a:cs typeface="Times New Roman"/>
              </a:rPr>
              <a:t> Emerging Englishes: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reached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1637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Pidgin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1859</a:t>
            </a:r>
            <a:endParaRPr sz="1100">
              <a:latin typeface="Times New Roman"/>
              <a:cs typeface="Times New Roman"/>
            </a:endParaRPr>
          </a:p>
          <a:p>
            <a:pPr marL="12700" marR="38220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Canton was the centre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world trade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Opium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treaty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16827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Opening </a:t>
            </a:r>
            <a:r>
              <a:rPr dirty="0" sz="1100">
                <a:latin typeface="Times New Roman"/>
                <a:cs typeface="Times New Roman"/>
              </a:rPr>
              <a:t>up of </a:t>
            </a:r>
            <a:r>
              <a:rPr dirty="0" sz="1100" spc="-5">
                <a:latin typeface="Times New Roman"/>
                <a:cs typeface="Times New Roman"/>
              </a:rPr>
              <a:t>the country to missionaries, merchants and colonial </a:t>
            </a:r>
            <a:r>
              <a:rPr dirty="0" sz="1100">
                <a:latin typeface="Times New Roman"/>
                <a:cs typeface="Times New Roman"/>
              </a:rPr>
              <a:t>officials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missionary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schools</a:t>
            </a:r>
            <a:endParaRPr sz="1100">
              <a:latin typeface="Times New Roman"/>
              <a:cs typeface="Times New Roman"/>
            </a:endParaRPr>
          </a:p>
          <a:p>
            <a:pPr marL="12700" marR="11334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Anglo-Chinese culture </a:t>
            </a:r>
            <a:r>
              <a:rPr dirty="0" sz="1100">
                <a:latin typeface="Times New Roman"/>
                <a:cs typeface="Times New Roman"/>
              </a:rPr>
              <a:t>developed </a:t>
            </a:r>
            <a:r>
              <a:rPr dirty="0" sz="1100" spc="-5">
                <a:latin typeface="Times New Roman"/>
                <a:cs typeface="Times New Roman"/>
              </a:rPr>
              <a:t>in Shanghai and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centres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education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institutionalized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38144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Not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as an internal link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Growth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depth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Replaced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Russian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primary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19405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One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test subjects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National College Entrance Examination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Political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ideological </a:t>
            </a:r>
            <a:r>
              <a:rPr dirty="0" sz="1100">
                <a:latin typeface="Times New Roman"/>
                <a:cs typeface="Times New Roman"/>
              </a:rPr>
              <a:t>factors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university-educated</a:t>
            </a:r>
            <a:r>
              <a:rPr dirty="0" sz="1100" spc="-5">
                <a:latin typeface="Times New Roman"/>
                <a:cs typeface="Times New Roman"/>
              </a:rPr>
              <a:t> elite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Impact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written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Impact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borrowing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syntax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4927600" cy="113411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Functions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Christian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proselytization,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politicization,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modernization,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internationalization</a:t>
            </a:r>
            <a:endParaRPr sz="1100">
              <a:latin typeface="Times New Roman"/>
              <a:cs typeface="Times New Roman"/>
            </a:endParaRPr>
          </a:p>
          <a:p>
            <a:pPr marL="12700" marR="3949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intra-nationally in such </a:t>
            </a:r>
            <a:r>
              <a:rPr dirty="0" sz="1100">
                <a:latin typeface="Times New Roman"/>
                <a:cs typeface="Times New Roman"/>
              </a:rPr>
              <a:t>domains </a:t>
            </a:r>
            <a:r>
              <a:rPr dirty="0" sz="1100" spc="-5">
                <a:latin typeface="Times New Roman"/>
                <a:cs typeface="Times New Roman"/>
              </a:rPr>
              <a:t>as medical, engineering and media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178: </a:t>
            </a:r>
            <a:r>
              <a:rPr dirty="0" sz="1100" spc="-5">
                <a:latin typeface="Times New Roman"/>
                <a:cs typeface="Times New Roman"/>
              </a:rPr>
              <a:t>Characteristics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Chinese 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Sound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distinction</a:t>
            </a:r>
            <a:r>
              <a:rPr dirty="0" sz="1100" spc="-5">
                <a:latin typeface="Times New Roman"/>
                <a:cs typeface="Times New Roman"/>
              </a:rPr>
              <a:t> 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lax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vowels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1755620"/>
            <a:ext cx="342900" cy="39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heat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mood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8521" y="1755620"/>
            <a:ext cx="320040" cy="39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305" marR="5080" indent="-15240">
              <a:lnSpc>
                <a:spcPct val="1102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hit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hood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2125014"/>
            <a:ext cx="3034030" cy="949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88950">
              <a:lnSpc>
                <a:spcPct val="110200"/>
              </a:lnSpc>
              <a:spcBef>
                <a:spcPts val="100"/>
              </a:spcBef>
              <a:tabLst>
                <a:tab pos="61277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fricatives </a:t>
            </a:r>
            <a:r>
              <a:rPr dirty="0" sz="1100">
                <a:latin typeface="Times New Roman"/>
                <a:cs typeface="Times New Roman"/>
              </a:rPr>
              <a:t>θ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ð </a:t>
            </a:r>
            <a:r>
              <a:rPr dirty="0" sz="1100" spc="-5">
                <a:latin typeface="Times New Roman"/>
                <a:cs typeface="Times New Roman"/>
              </a:rPr>
              <a:t>are replaced </a:t>
            </a:r>
            <a:r>
              <a:rPr dirty="0" sz="1100">
                <a:latin typeface="Times New Roman"/>
                <a:cs typeface="Times New Roman"/>
              </a:rPr>
              <a:t>by s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z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	sin</a:t>
            </a:r>
            <a:endParaRPr sz="1100">
              <a:latin typeface="Times New Roman"/>
              <a:cs typeface="Times New Roman"/>
            </a:endParaRPr>
          </a:p>
          <a:p>
            <a:pPr marL="12700" marR="23615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theze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Vocabulary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shifts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compound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items: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700" y="3048531"/>
            <a:ext cx="717550" cy="764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intellectual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</a:t>
            </a:r>
            <a:r>
              <a:rPr dirty="0" sz="1100">
                <a:latin typeface="Times New Roman"/>
                <a:cs typeface="Times New Roman"/>
              </a:rPr>
              <a:t>n</a:t>
            </a:r>
            <a:r>
              <a:rPr dirty="0" sz="1100" spc="-5">
                <a:latin typeface="Times New Roman"/>
                <a:cs typeface="Times New Roman"/>
              </a:rPr>
              <a:t> academic  </a:t>
            </a:r>
            <a:r>
              <a:rPr dirty="0" sz="1100">
                <a:latin typeface="Times New Roman"/>
                <a:cs typeface="Times New Roman"/>
              </a:rPr>
              <a:t>big pot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running dog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47637" y="3065608"/>
            <a:ext cx="2523490" cy="747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100"/>
              </a:spcBef>
              <a:tabLst>
                <a:tab pos="1909445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clas</a:t>
            </a:r>
            <a:r>
              <a:rPr dirty="0" sz="1100">
                <a:latin typeface="Times New Roman"/>
                <a:cs typeface="Times New Roman"/>
              </a:rPr>
              <a:t>s	rather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60020" marR="1714500" indent="-14795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egalitarianism 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lackey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00" y="3787354"/>
            <a:ext cx="6364605" cy="556704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Colocations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significance</a:t>
            </a:r>
            <a:endParaRPr sz="1100">
              <a:latin typeface="Times New Roman"/>
              <a:cs typeface="Times New Roman"/>
            </a:endParaRPr>
          </a:p>
          <a:p>
            <a:pPr marL="12700" marR="76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Growth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productive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forces,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strength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socialist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rise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living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together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favourables.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capital,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plant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administrative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indicated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three- </a:t>
            </a:r>
            <a:r>
              <a:rPr dirty="0" sz="1100">
                <a:latin typeface="Times New Roman"/>
                <a:cs typeface="Times New Roman"/>
              </a:rPr>
              <a:t> no-enterprises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Deletion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especially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definite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article.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adjectives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adverbs</a:t>
            </a:r>
            <a:endParaRPr sz="1100">
              <a:latin typeface="Times New Roman"/>
              <a:cs typeface="Times New Roman"/>
            </a:endParaRPr>
          </a:p>
          <a:p>
            <a:pPr marL="12700" marR="34258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third-singular ending with </a:t>
            </a:r>
            <a:r>
              <a:rPr dirty="0" sz="1100">
                <a:latin typeface="Times New Roman"/>
                <a:cs typeface="Times New Roman"/>
              </a:rPr>
              <a:t>verbs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Greeting: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-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eaten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already?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Goodbye: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135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Walk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slowly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slowly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ho.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130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Slow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slow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walk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aunty.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older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generation:</a:t>
            </a:r>
            <a:endParaRPr sz="1100">
              <a:latin typeface="Times New Roman"/>
              <a:cs typeface="Times New Roman"/>
            </a:endParaRPr>
          </a:p>
          <a:p>
            <a:pPr marL="12700" marR="4793615" indent="34925">
              <a:lnSpc>
                <a:spcPct val="110200"/>
              </a:lnSpc>
              <a:buChar char="-"/>
              <a:tabLst>
                <a:tab pos="129539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bike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kind </a:t>
            </a:r>
            <a:r>
              <a:rPr dirty="0" sz="1100" spc="-5">
                <a:latin typeface="Times New Roman"/>
                <a:cs typeface="Times New Roman"/>
              </a:rPr>
              <a:t>aunts </a:t>
            </a:r>
            <a:r>
              <a:rPr dirty="0" sz="1100">
                <a:latin typeface="Times New Roman"/>
                <a:cs typeface="Times New Roman"/>
              </a:rPr>
              <a:t>[ladies] helped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hospital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Distinct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idiomatic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expressions:</a:t>
            </a:r>
            <a:endParaRPr sz="1100">
              <a:latin typeface="Times New Roman"/>
              <a:cs typeface="Times New Roman"/>
            </a:endParaRPr>
          </a:p>
          <a:p>
            <a:pPr marL="12700" marR="4441825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(visit)</a:t>
            </a:r>
            <a:endParaRPr sz="1100">
              <a:latin typeface="Times New Roman"/>
              <a:cs typeface="Times New Roman"/>
            </a:endParaRPr>
          </a:p>
          <a:p>
            <a:pPr marL="186690" marR="4459605" indent="-174625">
              <a:lnSpc>
                <a:spcPct val="110200"/>
              </a:lnSpc>
              <a:buFont typeface="Times New Roman"/>
              <a:buChar char="-"/>
              <a:tabLst>
                <a:tab pos="469265" algn="l"/>
                <a:tab pos="469900" algn="l"/>
              </a:tabLst>
            </a:pPr>
            <a:r>
              <a:rPr dirty="0"/>
              <a:t>	</a:t>
            </a:r>
            <a:r>
              <a:rPr dirty="0" sz="1100" spc="-5">
                <a:latin typeface="Times New Roman"/>
                <a:cs typeface="Times New Roman"/>
              </a:rPr>
              <a:t>Welcome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Back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Zhuhai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(sign</a:t>
            </a:r>
            <a:r>
              <a:rPr dirty="0" sz="1100" spc="-5">
                <a:latin typeface="Times New Roman"/>
                <a:cs typeface="Times New Roman"/>
              </a:rPr>
              <a:t> 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airport</a:t>
            </a:r>
            <a:endParaRPr sz="1100">
              <a:latin typeface="Times New Roman"/>
              <a:cs typeface="Times New Roman"/>
            </a:endParaRPr>
          </a:p>
          <a:p>
            <a:pPr marL="12700" marR="497205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meaning ‘Goodbye and </a:t>
            </a:r>
            <a:r>
              <a:rPr dirty="0" sz="1100">
                <a:latin typeface="Times New Roman"/>
                <a:cs typeface="Times New Roman"/>
              </a:rPr>
              <a:t> you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welcome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visit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again’)</a:t>
            </a:r>
            <a:endParaRPr sz="1100">
              <a:latin typeface="Times New Roman"/>
              <a:cs typeface="Times New Roman"/>
            </a:endParaRPr>
          </a:p>
          <a:p>
            <a:pPr marL="12700" marR="4005579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179: </a:t>
            </a:r>
            <a:r>
              <a:rPr dirty="0" sz="1100" spc="-5">
                <a:latin typeface="Times New Roman"/>
                <a:cs typeface="Times New Roman"/>
              </a:rPr>
              <a:t>Emerging Englishes: Japanese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Japan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383020" cy="4161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Demand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President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initiation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trade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relations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Commodore Perry’s entrance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Tokyo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1853</a:t>
            </a:r>
            <a:endParaRPr sz="1100">
              <a:latin typeface="Times New Roman"/>
              <a:cs typeface="Times New Roman"/>
            </a:endParaRPr>
          </a:p>
          <a:p>
            <a:pPr marL="12700" marR="33661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arrival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American missionaries in </a:t>
            </a:r>
            <a:r>
              <a:rPr dirty="0" sz="1100">
                <a:latin typeface="Times New Roman"/>
                <a:cs typeface="Times New Roman"/>
              </a:rPr>
              <a:t>1868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Japan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Attempts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banish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due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nationalistic</a:t>
            </a:r>
            <a:r>
              <a:rPr dirty="0" sz="1100" spc="-5">
                <a:latin typeface="Times New Roman"/>
                <a:cs typeface="Times New Roman"/>
              </a:rPr>
              <a:t> sentiments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before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5">
                <a:latin typeface="Times New Roman"/>
                <a:cs typeface="Times New Roman"/>
              </a:rPr>
              <a:t> WWII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Replacing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usual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anaunsâ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‘announcer’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esoteric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hôsô-in</a:t>
            </a:r>
            <a:endParaRPr sz="1100">
              <a:latin typeface="Times New Roman"/>
              <a:cs typeface="Times New Roman"/>
            </a:endParaRPr>
          </a:p>
          <a:p>
            <a:pPr marL="12700" marR="46977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Comeback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Japan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reason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promotion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Japanese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instruction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public</a:t>
            </a:r>
            <a:r>
              <a:rPr dirty="0" sz="1100" spc="-5">
                <a:latin typeface="Times New Roman"/>
                <a:cs typeface="Times New Roman"/>
              </a:rPr>
              <a:t> institutions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endParaRPr sz="1100">
              <a:latin typeface="Times New Roman"/>
              <a:cs typeface="Times New Roman"/>
            </a:endParaRPr>
          </a:p>
          <a:p>
            <a:pPr marL="12700" marR="3126740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government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business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Japanese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Japan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cline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proficiency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Japan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‘know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few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words’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relatively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segment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 are </a:t>
            </a:r>
            <a:r>
              <a:rPr dirty="0" sz="1100">
                <a:latin typeface="Times New Roman"/>
                <a:cs typeface="Times New Roman"/>
              </a:rPr>
              <a:t>fluent </a:t>
            </a:r>
            <a:r>
              <a:rPr dirty="0" sz="1100" spc="-5">
                <a:latin typeface="Times New Roman"/>
                <a:cs typeface="Times New Roman"/>
              </a:rPr>
              <a:t>in the language</a:t>
            </a:r>
            <a:endParaRPr sz="1100">
              <a:latin typeface="Times New Roman"/>
              <a:cs typeface="Times New Roman"/>
            </a:endParaRPr>
          </a:p>
          <a:p>
            <a:pPr marL="12700" marR="15100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new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government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policy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‘cultivating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“Japanese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Abilities”</a:t>
            </a:r>
            <a:r>
              <a:rPr dirty="0" sz="1100">
                <a:latin typeface="Times New Roman"/>
                <a:cs typeface="Times New Roman"/>
              </a:rPr>
              <a:t> 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Elements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-5">
                <a:latin typeface="Times New Roman"/>
                <a:cs typeface="Times New Roman"/>
              </a:rPr>
              <a:t> made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integral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Japanese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borrowings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31686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become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nativized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various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respects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Characteristics: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4727962"/>
            <a:ext cx="2952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Stool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4912658"/>
            <a:ext cx="495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4341467"/>
            <a:ext cx="3307079" cy="76454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56565" indent="-456565">
              <a:lnSpc>
                <a:spcPct val="100000"/>
              </a:lnSpc>
              <a:spcBef>
                <a:spcPts val="234"/>
              </a:spcBef>
              <a:buChar char="•"/>
              <a:tabLst>
                <a:tab pos="456565" algn="l"/>
                <a:tab pos="457200" algn="l"/>
              </a:tabLst>
            </a:pPr>
            <a:r>
              <a:rPr dirty="0" sz="1100">
                <a:latin typeface="Times New Roman"/>
                <a:cs typeface="Times New Roman"/>
              </a:rPr>
              <a:t>Insertion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vowel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simplify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consonant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clusters</a:t>
            </a:r>
            <a:endParaRPr sz="1100">
              <a:latin typeface="Times New Roman"/>
              <a:cs typeface="Times New Roman"/>
            </a:endParaRPr>
          </a:p>
          <a:p>
            <a:pPr marL="456565" marR="5080" indent="-456565">
              <a:lnSpc>
                <a:spcPct val="110200"/>
              </a:lnSpc>
              <a:buChar char="•"/>
              <a:tabLst>
                <a:tab pos="456565" algn="l"/>
                <a:tab pos="4572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Addition </a:t>
            </a:r>
            <a:r>
              <a:rPr dirty="0" sz="1100">
                <a:latin typeface="Times New Roman"/>
                <a:cs typeface="Times New Roman"/>
              </a:rPr>
              <a:t>of –u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final syllabic in all other cases;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sutuuru</a:t>
            </a:r>
            <a:endParaRPr sz="1100">
              <a:latin typeface="Times New Roman"/>
              <a:cs typeface="Times New Roman"/>
            </a:endParaRPr>
          </a:p>
          <a:p>
            <a:pPr marL="4572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Addition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–o</a:t>
            </a:r>
            <a:r>
              <a:rPr dirty="0" sz="1100" spc="-5">
                <a:latin typeface="Times New Roman"/>
                <a:cs typeface="Times New Roman"/>
              </a:rPr>
              <a:t> and </a:t>
            </a:r>
            <a:r>
              <a:rPr dirty="0" sz="1100">
                <a:latin typeface="Times New Roman"/>
                <a:cs typeface="Times New Roman"/>
              </a:rPr>
              <a:t>–i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final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5080290"/>
            <a:ext cx="2821940" cy="2426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23975">
              <a:lnSpc>
                <a:spcPct val="110200"/>
              </a:lnSpc>
              <a:spcBef>
                <a:spcPts val="100"/>
              </a:spcBef>
              <a:tabLst>
                <a:tab pos="907415" algn="l"/>
              </a:tabLst>
            </a:pPr>
            <a:r>
              <a:rPr dirty="0" sz="1100">
                <a:latin typeface="Times New Roman"/>
                <a:cs typeface="Times New Roman"/>
              </a:rPr>
              <a:t>gray </a:t>
            </a:r>
            <a:r>
              <a:rPr dirty="0" sz="1100" spc="-5">
                <a:latin typeface="Times New Roman"/>
                <a:cs typeface="Times New Roman"/>
              </a:rPr>
              <a:t>zon</a:t>
            </a:r>
            <a:r>
              <a:rPr dirty="0" sz="1100">
                <a:latin typeface="Times New Roman"/>
                <a:cs typeface="Times New Roman"/>
              </a:rPr>
              <a:t>e	gureezoon  </a:t>
            </a:r>
            <a:r>
              <a:rPr dirty="0" sz="1100" spc="-5">
                <a:latin typeface="Times New Roman"/>
                <a:cs typeface="Times New Roman"/>
              </a:rPr>
              <a:t>Characteristics: Sounds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realization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of:</a:t>
            </a:r>
            <a:endParaRPr sz="1100">
              <a:latin typeface="Times New Roman"/>
              <a:cs typeface="Times New Roman"/>
            </a:endParaRPr>
          </a:p>
          <a:p>
            <a:pPr marL="12700" marR="1939289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θ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ts,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ð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z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</a:t>
            </a:r>
            <a:endParaRPr sz="1100">
              <a:latin typeface="Times New Roman"/>
              <a:cs typeface="Times New Roman"/>
            </a:endParaRPr>
          </a:p>
          <a:p>
            <a:pPr marL="12700" marR="155003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Final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thoughtsooto</a:t>
            </a:r>
            <a:endParaRPr sz="1100">
              <a:latin typeface="Times New Roman"/>
              <a:cs typeface="Times New Roman"/>
            </a:endParaRPr>
          </a:p>
          <a:p>
            <a:pPr marL="12700" marR="21431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thiszisu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colourkaraa</a:t>
            </a:r>
            <a:endParaRPr sz="1100">
              <a:latin typeface="Times New Roman"/>
              <a:cs typeface="Times New Roman"/>
            </a:endParaRPr>
          </a:p>
          <a:p>
            <a:pPr marL="12700" marR="125031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Characteristics</a:t>
            </a:r>
            <a:r>
              <a:rPr dirty="0" sz="1100">
                <a:latin typeface="Times New Roman"/>
                <a:cs typeface="Times New Roman"/>
              </a:rPr>
              <a:t>:</a:t>
            </a:r>
            <a:r>
              <a:rPr dirty="0" sz="1100" spc="-5">
                <a:latin typeface="Times New Roman"/>
                <a:cs typeface="Times New Roman"/>
              </a:rPr>
              <a:t> Vocabulary  </a:t>
            </a:r>
            <a:r>
              <a:rPr dirty="0" sz="1100" spc="-5">
                <a:latin typeface="Times New Roman"/>
                <a:cs typeface="Times New Roman"/>
              </a:rPr>
              <a:t>Compounding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Involves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loans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2586" y="7498530"/>
            <a:ext cx="5759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American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1700" y="7481454"/>
            <a:ext cx="852169" cy="764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19380">
              <a:lnSpc>
                <a:spcPct val="110200"/>
              </a:lnSpc>
              <a:spcBef>
                <a:spcPts val="100"/>
              </a:spcBef>
              <a:buChar char="-"/>
              <a:tabLst>
                <a:tab pos="129539" algn="l"/>
              </a:tabLst>
            </a:pPr>
            <a:r>
              <a:rPr dirty="0" sz="1100" spc="-5">
                <a:latin typeface="Times New Roman"/>
                <a:cs typeface="Times New Roman"/>
              </a:rPr>
              <a:t>merikenko  </a:t>
            </a:r>
            <a:r>
              <a:rPr dirty="0" sz="1100">
                <a:latin typeface="Times New Roman"/>
                <a:cs typeface="Times New Roman"/>
              </a:rPr>
              <a:t>powder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-"/>
              <a:tabLst>
                <a:tab pos="94615" algn="l"/>
              </a:tabLst>
            </a:pPr>
            <a:r>
              <a:rPr dirty="0" sz="1100">
                <a:latin typeface="Times New Roman"/>
                <a:cs typeface="Times New Roman"/>
              </a:rPr>
              <a:t>denkisutando  </a:t>
            </a:r>
            <a:r>
              <a:rPr dirty="0" sz="1100" spc="-5">
                <a:latin typeface="Times New Roman"/>
                <a:cs typeface="Times New Roman"/>
              </a:rPr>
              <a:t>stand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77293" y="7867948"/>
            <a:ext cx="4349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electric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00" y="8220277"/>
            <a:ext cx="1727835" cy="764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  <a:tabLst>
                <a:tab pos="702945" algn="l"/>
              </a:tabLst>
            </a:pPr>
            <a:r>
              <a:rPr dirty="0" sz="1100" spc="-5">
                <a:latin typeface="Times New Roman"/>
                <a:cs typeface="Times New Roman"/>
              </a:rPr>
              <a:t>Characteristics: Semantic shift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furonto	hotel reception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desk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-BaikinguVikig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(buffet)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700" y="8959101"/>
            <a:ext cx="683895" cy="39497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93980" indent="-81915">
              <a:lnSpc>
                <a:spcPct val="100000"/>
              </a:lnSpc>
              <a:spcBef>
                <a:spcPts val="234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ek-</a:t>
            </a:r>
            <a:r>
              <a:rPr dirty="0" sz="1100">
                <a:latin typeface="Times New Roman"/>
                <a:cs typeface="Times New Roman"/>
              </a:rPr>
              <a:t>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(cho)</a:t>
            </a:r>
            <a:endParaRPr sz="1100">
              <a:latin typeface="Times New Roman"/>
              <a:cs typeface="Times New Roman"/>
            </a:endParaRPr>
          </a:p>
          <a:p>
            <a:pPr marL="93980" indent="-81915">
              <a:lnSpc>
                <a:spcPct val="100000"/>
              </a:lnSpc>
              <a:spcBef>
                <a:spcPts val="130"/>
              </a:spcBef>
              <a:buChar char="-"/>
              <a:tabLst>
                <a:tab pos="94615" algn="l"/>
              </a:tabLst>
            </a:pPr>
            <a:r>
              <a:rPr dirty="0" sz="1100" spc="-5">
                <a:latin typeface="Times New Roman"/>
                <a:cs typeface="Times New Roman"/>
              </a:rPr>
              <a:t>Manshon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52024" y="8959101"/>
            <a:ext cx="733425" cy="39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9685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acoustics  </a:t>
            </a:r>
            <a:r>
              <a:rPr dirty="0" sz="1100">
                <a:latin typeface="Times New Roman"/>
                <a:cs typeface="Times New Roman"/>
              </a:rPr>
              <a:t>upscale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832077"/>
            <a:ext cx="5615940" cy="575183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234"/>
              </a:spcBef>
              <a:tabLst>
                <a:tab pos="927735" algn="l"/>
              </a:tabLst>
            </a:pPr>
            <a:r>
              <a:rPr dirty="0" sz="1100">
                <a:latin typeface="Times New Roman"/>
                <a:cs typeface="Times New Roman"/>
              </a:rPr>
              <a:t>(mansion)	</a:t>
            </a:r>
            <a:r>
              <a:rPr dirty="0" sz="1100" spc="-5">
                <a:latin typeface="Times New Roman"/>
                <a:cs typeface="Times New Roman"/>
              </a:rPr>
              <a:t>apartment</a:t>
            </a:r>
            <a:endParaRPr sz="1100">
              <a:latin typeface="Times New Roman"/>
              <a:cs typeface="Times New Roman"/>
            </a:endParaRPr>
          </a:p>
          <a:p>
            <a:pPr marL="12700" marR="3497579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180: </a:t>
            </a:r>
            <a:r>
              <a:rPr dirty="0" sz="1100" spc="-5">
                <a:latin typeface="Times New Roman"/>
                <a:cs typeface="Times New Roman"/>
              </a:rPr>
              <a:t>Role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 Europe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dominant</a:t>
            </a:r>
            <a:r>
              <a:rPr dirty="0" sz="1100" spc="-5">
                <a:latin typeface="Times New Roman"/>
                <a:cs typeface="Times New Roman"/>
              </a:rPr>
              <a:t> languages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French,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German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biggest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</a:t>
            </a:r>
            <a:r>
              <a:rPr dirty="0" sz="1100" spc="-5">
                <a:latin typeface="Times New Roman"/>
                <a:cs typeface="Times New Roman"/>
              </a:rPr>
              <a:t> European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lingua </a:t>
            </a:r>
            <a:r>
              <a:rPr dirty="0" sz="1100">
                <a:latin typeface="Times New Roman"/>
                <a:cs typeface="Times New Roman"/>
              </a:rPr>
              <a:t>franca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 </a:t>
            </a:r>
            <a:r>
              <a:rPr dirty="0" sz="1100">
                <a:latin typeface="Times New Roman"/>
                <a:cs typeface="Times New Roman"/>
              </a:rPr>
              <a:t>20th</a:t>
            </a:r>
            <a:r>
              <a:rPr dirty="0" sz="1100" spc="-5">
                <a:latin typeface="Times New Roman"/>
                <a:cs typeface="Times New Roman"/>
              </a:rPr>
              <a:t> centry</a:t>
            </a:r>
            <a:endParaRPr sz="1100">
              <a:latin typeface="Times New Roman"/>
              <a:cs typeface="Times New Roman"/>
            </a:endParaRPr>
          </a:p>
          <a:p>
            <a:pPr marL="12700" marR="35159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Linked with material success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franca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members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(Phillipson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Cheshire)</a:t>
            </a:r>
            <a:endParaRPr sz="1100">
              <a:latin typeface="Times New Roman"/>
              <a:cs typeface="Times New Roman"/>
            </a:endParaRPr>
          </a:p>
          <a:p>
            <a:pPr marL="12700" marR="6889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EU should </a:t>
            </a:r>
            <a:r>
              <a:rPr dirty="0" sz="1100">
                <a:latin typeface="Times New Roman"/>
                <a:cs typeface="Times New Roman"/>
              </a:rPr>
              <a:t>opt officially for </a:t>
            </a:r>
            <a:r>
              <a:rPr dirty="0" sz="1100" spc="-5">
                <a:latin typeface="Times New Roman"/>
                <a:cs typeface="Times New Roman"/>
              </a:rPr>
              <a:t>English as its language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>
                <a:latin typeface="Times New Roman"/>
                <a:cs typeface="Times New Roman"/>
              </a:rPr>
              <a:t>(House)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social identity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speakers?</a:t>
            </a:r>
            <a:endParaRPr sz="1100">
              <a:latin typeface="Times New Roman"/>
              <a:cs typeface="Times New Roman"/>
            </a:endParaRPr>
          </a:p>
          <a:p>
            <a:pPr marL="12700" marR="10414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Code switching and code mixing indication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widening scope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12700" marR="3469004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telefon junkie, Metallfan, </a:t>
            </a:r>
            <a:r>
              <a:rPr dirty="0" sz="1100">
                <a:latin typeface="Times New Roman"/>
                <a:cs typeface="Times New Roman"/>
              </a:rPr>
              <a:t>drogenfreak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Brexit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Brexit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 on</a:t>
            </a:r>
            <a:r>
              <a:rPr dirty="0" sz="1100" spc="-5">
                <a:latin typeface="Times New Roman"/>
                <a:cs typeface="Times New Roman"/>
              </a:rPr>
              <a:t> the status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 of</a:t>
            </a:r>
            <a:r>
              <a:rPr dirty="0" sz="1100" spc="-5">
                <a:latin typeface="Times New Roman"/>
                <a:cs typeface="Times New Roman"/>
              </a:rPr>
              <a:t> English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apparatus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formal</a:t>
            </a:r>
            <a:r>
              <a:rPr dirty="0" sz="1100" spc="-5">
                <a:latin typeface="Times New Roman"/>
                <a:cs typeface="Times New Roman"/>
              </a:rPr>
              <a:t> education</a:t>
            </a:r>
            <a:endParaRPr sz="1100">
              <a:latin typeface="Times New Roman"/>
              <a:cs typeface="Times New Roman"/>
            </a:endParaRPr>
          </a:p>
          <a:p>
            <a:pPr marL="12700" marR="19939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Functions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language among the </a:t>
            </a:r>
            <a:r>
              <a:rPr dirty="0" sz="1100">
                <a:latin typeface="Times New Roman"/>
                <a:cs typeface="Times New Roman"/>
              </a:rPr>
              <a:t>population </a:t>
            </a:r>
            <a:r>
              <a:rPr dirty="0" sz="1100" spc="-5">
                <a:latin typeface="Times New Roman"/>
                <a:cs typeface="Times New Roman"/>
              </a:rPr>
              <a:t>at large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Brexit&amp;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 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sociolinguistic space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emergence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authentic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European English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members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Serve the </a:t>
            </a:r>
            <a:r>
              <a:rPr dirty="0" sz="1100">
                <a:latin typeface="Times New Roman"/>
                <a:cs typeface="Times New Roman"/>
              </a:rPr>
              <a:t>needs of </a:t>
            </a:r>
            <a:r>
              <a:rPr dirty="0" sz="1100" spc="-5">
                <a:latin typeface="Times New Roman"/>
                <a:cs typeface="Times New Roman"/>
              </a:rPr>
              <a:t>the European Union as the common link language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member state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1608455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Adaptations and innovations that show the European influence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Intra-European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Distinctly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Distinguish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speakers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Influence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25978" y="661912"/>
            <a:ext cx="3789679" cy="652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Lesson-31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25">
                <a:latin typeface="Times New Roman"/>
                <a:cs typeface="Times New Roman"/>
              </a:rPr>
              <a:t>English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50">
                <a:latin typeface="Times New Roman"/>
                <a:cs typeface="Times New Roman"/>
              </a:rPr>
              <a:t>the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45">
                <a:latin typeface="Times New Roman"/>
                <a:cs typeface="Times New Roman"/>
              </a:rPr>
              <a:t>Sub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45">
                <a:latin typeface="Times New Roman"/>
                <a:cs typeface="Times New Roman"/>
              </a:rPr>
              <a:t>Continent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1796223"/>
            <a:ext cx="6380480" cy="75984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710815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181: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Sub-Continent: Historical Background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Sub-Continent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Refers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Pakistan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Sri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Lanka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Bangla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Bhutan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Maldives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Nepal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Sub-Continent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homogeneity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elements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background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1600:</a:t>
            </a:r>
            <a:r>
              <a:rPr dirty="0" sz="1100" spc="-5">
                <a:latin typeface="Times New Roman"/>
                <a:cs typeface="Times New Roman"/>
              </a:rPr>
              <a:t> Britain’s official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expansion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policy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began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1689:</a:t>
            </a:r>
            <a:r>
              <a:rPr dirty="0" sz="1100" spc="-5">
                <a:latin typeface="Times New Roman"/>
                <a:cs typeface="Times New Roman"/>
              </a:rPr>
              <a:t> Establishment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administrative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districts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Bengal,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Mombay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Chennai</a:t>
            </a:r>
            <a:endParaRPr sz="1100">
              <a:latin typeface="Times New Roman"/>
              <a:cs typeface="Times New Roman"/>
            </a:endParaRPr>
          </a:p>
          <a:p>
            <a:pPr marL="12700" marR="18205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1715: </a:t>
            </a:r>
            <a:r>
              <a:rPr dirty="0" sz="1100" spc="-5">
                <a:latin typeface="Times New Roman"/>
                <a:cs typeface="Times New Roman"/>
              </a:rPr>
              <a:t>Establishing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missionary schools </a:t>
            </a:r>
            <a:r>
              <a:rPr dirty="0" sz="1100">
                <a:latin typeface="Times New Roman"/>
                <a:cs typeface="Times New Roman"/>
              </a:rPr>
              <a:t>began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school in Chennai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background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1773: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Establishment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Governor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Generalship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1784:</a:t>
            </a:r>
            <a:r>
              <a:rPr dirty="0" sz="1100" spc="-5">
                <a:latin typeface="Times New Roman"/>
                <a:cs typeface="Times New Roman"/>
              </a:rPr>
              <a:t> Establishment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department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Indian</a:t>
            </a:r>
            <a:r>
              <a:rPr dirty="0" sz="1100" spc="-5">
                <a:latin typeface="Times New Roman"/>
                <a:cs typeface="Times New Roman"/>
              </a:rPr>
              <a:t> Affairs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 </a:t>
            </a:r>
            <a:r>
              <a:rPr dirty="0" sz="1100" spc="-5">
                <a:latin typeface="Times New Roman"/>
                <a:cs typeface="Times New Roman"/>
              </a:rPr>
              <a:t>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1784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1858: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Assuming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responsibility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government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governing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“the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Better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Government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India”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background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Attention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missionary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Sri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Lanka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Influential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backwardness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superior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5">
                <a:latin typeface="Times New Roman"/>
                <a:cs typeface="Times New Roman"/>
              </a:rPr>
              <a:t> makers</a:t>
            </a:r>
            <a:endParaRPr sz="1100">
              <a:latin typeface="Times New Roman"/>
              <a:cs typeface="Times New Roman"/>
            </a:endParaRPr>
          </a:p>
          <a:p>
            <a:pPr marL="12700" marR="34048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Resistance to the teaching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local languages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background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Lord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Macaulay’s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minutes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Lord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Macaulay’s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minutes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declared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better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knowing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Sanskrit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Arabic</a:t>
            </a:r>
            <a:endParaRPr sz="1100">
              <a:latin typeface="Times New Roman"/>
              <a:cs typeface="Times New Roman"/>
            </a:endParaRPr>
          </a:p>
          <a:p>
            <a:pPr marL="12700" marR="2032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“….form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interpreters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whom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govern;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persons,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blood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colour,</a:t>
            </a:r>
            <a:r>
              <a:rPr dirty="0" sz="1100">
                <a:latin typeface="Times New Roman"/>
                <a:cs typeface="Times New Roman"/>
              </a:rPr>
              <a:t> but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taste,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opinions,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morals,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intellect”.</a:t>
            </a:r>
            <a:endParaRPr sz="1100">
              <a:latin typeface="Times New Roman"/>
              <a:cs typeface="Times New Roman"/>
            </a:endParaRPr>
          </a:p>
          <a:p>
            <a:pPr marL="12700" marR="492569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Historical </a:t>
            </a:r>
            <a:r>
              <a:rPr dirty="0" sz="1100">
                <a:latin typeface="Times New Roman"/>
                <a:cs typeface="Times New Roman"/>
              </a:rPr>
              <a:t>background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Lord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Macaulay’s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minutes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refined</a:t>
            </a:r>
            <a:r>
              <a:rPr dirty="0" sz="1100" spc="-5">
                <a:latin typeface="Times New Roman"/>
                <a:cs typeface="Times New Roman"/>
              </a:rPr>
              <a:t> and enriched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terms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Western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nomenclature</a:t>
            </a:r>
            <a:endParaRPr sz="1100">
              <a:latin typeface="Times New Roman"/>
              <a:cs typeface="Times New Roman"/>
            </a:endParaRPr>
          </a:p>
          <a:p>
            <a:pPr marL="12700" marR="25704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Made </a:t>
            </a:r>
            <a:r>
              <a:rPr dirty="0" sz="1100">
                <a:latin typeface="Times New Roman"/>
                <a:cs typeface="Times New Roman"/>
              </a:rPr>
              <a:t>fit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by degrees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conveying </a:t>
            </a:r>
            <a:r>
              <a:rPr dirty="0" sz="1100">
                <a:latin typeface="Times New Roman"/>
                <a:cs typeface="Times New Roman"/>
              </a:rPr>
              <a:t>knowledge </a:t>
            </a:r>
            <a:r>
              <a:rPr dirty="0" sz="1100" spc="-5">
                <a:latin typeface="Times New Roman"/>
                <a:cs typeface="Times New Roman"/>
              </a:rPr>
              <a:t>to the masses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background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Consequences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Lord Macaulay’s minutes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Absolute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primacy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130290" cy="9148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English-medium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universities</a:t>
            </a:r>
            <a:r>
              <a:rPr dirty="0" sz="1100" spc="-5">
                <a:latin typeface="Times New Roman"/>
                <a:cs typeface="Times New Roman"/>
              </a:rPr>
              <a:t> established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Chennai,  Kolkata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Mumbai,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Allahabad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Lahore</a:t>
            </a:r>
            <a:endParaRPr sz="1100">
              <a:latin typeface="Times New Roman"/>
              <a:cs typeface="Times New Roman"/>
            </a:endParaRPr>
          </a:p>
          <a:p>
            <a:pPr marL="12700" marR="23126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majority </a:t>
            </a:r>
            <a:r>
              <a:rPr dirty="0" sz="1100">
                <a:latin typeface="Times New Roman"/>
                <a:cs typeface="Times New Roman"/>
              </a:rPr>
              <a:t>of Indian primary </a:t>
            </a:r>
            <a:r>
              <a:rPr dirty="0" sz="1100" spc="-5">
                <a:latin typeface="Times New Roman"/>
                <a:cs typeface="Times New Roman"/>
              </a:rPr>
              <a:t>schools were English medium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182: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Sub-Continent: Status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Modern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Educated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Comparable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Status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Treated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next</a:t>
            </a:r>
            <a:r>
              <a:rPr dirty="0" sz="1100" spc="-5">
                <a:latin typeface="Times New Roman"/>
                <a:cs typeface="Times New Roman"/>
              </a:rPr>
              <a:t> several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decades</a:t>
            </a:r>
            <a:endParaRPr sz="1100">
              <a:latin typeface="Times New Roman"/>
              <a:cs typeface="Times New Roman"/>
            </a:endParaRPr>
          </a:p>
          <a:p>
            <a:pPr marL="12700" marR="11334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became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prevalent </a:t>
            </a:r>
            <a:r>
              <a:rPr dirty="0" sz="1100" spc="-5">
                <a:latin typeface="Times New Roman"/>
                <a:cs typeface="Times New Roman"/>
              </a:rPr>
              <a:t>in the </a:t>
            </a:r>
            <a:r>
              <a:rPr dirty="0" sz="1100">
                <a:latin typeface="Times New Roman"/>
                <a:cs typeface="Times New Roman"/>
              </a:rPr>
              <a:t>post-independence </a:t>
            </a:r>
            <a:r>
              <a:rPr dirty="0" sz="1100" spc="-5">
                <a:latin typeface="Times New Roman"/>
                <a:cs typeface="Times New Roman"/>
              </a:rPr>
              <a:t>social and </a:t>
            </a:r>
            <a:r>
              <a:rPr dirty="0" sz="1100">
                <a:latin typeface="Times New Roman"/>
                <a:cs typeface="Times New Roman"/>
              </a:rPr>
              <a:t>political </a:t>
            </a:r>
            <a:r>
              <a:rPr dirty="0" sz="1100" spc="-5">
                <a:latin typeface="Times New Roman"/>
                <a:cs typeface="Times New Roman"/>
              </a:rPr>
              <a:t>climate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attained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noticeable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Sub-Continent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Lingua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franca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Government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Literature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Influence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Development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Agent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religious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neutralization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religious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domains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Sanskrit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religion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Hinduism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Arabic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Islam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religious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advantage</a:t>
            </a:r>
            <a:endParaRPr sz="1100">
              <a:latin typeface="Times New Roman"/>
              <a:cs typeface="Times New Roman"/>
            </a:endParaRPr>
          </a:p>
          <a:p>
            <a:pPr marL="12700" marR="2418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Neutral affective associations adds to the </a:t>
            </a:r>
            <a:r>
              <a:rPr dirty="0" sz="1100">
                <a:latin typeface="Times New Roman"/>
                <a:cs typeface="Times New Roman"/>
              </a:rPr>
              <a:t>value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 </a:t>
            </a:r>
            <a:r>
              <a:rPr dirty="0" sz="1100">
                <a:latin typeface="Times New Roman"/>
                <a:cs typeface="Times New Roman"/>
              </a:rPr>
              <a:t>India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government</a:t>
            </a:r>
            <a:r>
              <a:rPr dirty="0" sz="1100" spc="-5">
                <a:latin typeface="Times New Roman"/>
                <a:cs typeface="Times New Roman"/>
              </a:rPr>
              <a:t> 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1967</a:t>
            </a:r>
            <a:r>
              <a:rPr dirty="0" sz="1100" spc="-5">
                <a:latin typeface="Times New Roman"/>
                <a:cs typeface="Times New Roman"/>
              </a:rPr>
              <a:t> made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co-equal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Hindi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purposes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union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Parliament</a:t>
            </a:r>
            <a:endParaRPr sz="1100">
              <a:latin typeface="Times New Roman"/>
              <a:cs typeface="Times New Roman"/>
            </a:endParaRPr>
          </a:p>
          <a:p>
            <a:pPr marL="12700" marR="2559685">
              <a:lnSpc>
                <a:spcPct val="110200"/>
              </a:lnSpc>
              <a:buChar char="•"/>
              <a:tabLst>
                <a:tab pos="469265" algn="l"/>
                <a:tab pos="469900" algn="l"/>
                <a:tab pos="256921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Communications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union </a:t>
            </a:r>
            <a:r>
              <a:rPr dirty="0" sz="1100" spc="-5">
                <a:latin typeface="Times New Roman"/>
                <a:cs typeface="Times New Roman"/>
              </a:rPr>
              <a:t>and the states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183: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Sub-Continent:	Status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Pakistan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Pakistan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six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58</a:t>
            </a:r>
            <a:r>
              <a:rPr dirty="0" sz="1100" spc="-5">
                <a:latin typeface="Times New Roman"/>
                <a:cs typeface="Times New Roman"/>
              </a:rPr>
              <a:t> minor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independence,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Urdu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declared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 marL="12700" marR="12553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continue as the </a:t>
            </a:r>
            <a:r>
              <a:rPr dirty="0" sz="1100">
                <a:latin typeface="Times New Roman"/>
                <a:cs typeface="Times New Roman"/>
              </a:rPr>
              <a:t>official </a:t>
            </a:r>
            <a:r>
              <a:rPr dirty="0" sz="1100" spc="-5">
                <a:latin typeface="Times New Roman"/>
                <a:cs typeface="Times New Roman"/>
              </a:rPr>
              <a:t>language till such time that Urdu </a:t>
            </a:r>
            <a:r>
              <a:rPr dirty="0" sz="1100">
                <a:latin typeface="Times New Roman"/>
                <a:cs typeface="Times New Roman"/>
              </a:rPr>
              <a:t>replaced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Pakistan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inherited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dual</a:t>
            </a:r>
            <a:r>
              <a:rPr dirty="0" sz="1100" spc="-5">
                <a:latin typeface="Times New Roman"/>
                <a:cs typeface="Times New Roman"/>
              </a:rPr>
              <a:t> system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education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introduced two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India: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 </a:t>
            </a:r>
            <a:r>
              <a:rPr dirty="0" sz="1100">
                <a:latin typeface="Times New Roman"/>
                <a:cs typeface="Times New Roman"/>
              </a:rPr>
              <a:t>vernacular</a:t>
            </a:r>
            <a:r>
              <a:rPr dirty="0" sz="1100" spc="-5">
                <a:latin typeface="Times New Roman"/>
                <a:cs typeface="Times New Roman"/>
              </a:rPr>
              <a:t> medium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Dual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Anglicize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youth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Produced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‘brown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Englishmen’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(Vittachi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quoted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Rahman</a:t>
            </a:r>
            <a:r>
              <a:rPr dirty="0" sz="1100">
                <a:latin typeface="Times New Roman"/>
                <a:cs typeface="Times New Roman"/>
              </a:rPr>
              <a:t> 2005,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p.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26)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Char char="•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Dual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Continuation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dual</a:t>
            </a:r>
            <a:r>
              <a:rPr dirty="0" sz="1100" spc="-5">
                <a:latin typeface="Times New Roman"/>
                <a:cs typeface="Times New Roman"/>
              </a:rPr>
              <a:t> system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education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bureaucracy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military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military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civilian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administrative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elite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Urdu-medium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institutions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provide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élite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underclass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clerks…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servants’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0160" cy="6675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neutral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Despite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pressure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periodic</a:t>
            </a:r>
            <a:r>
              <a:rPr dirty="0" sz="1100" spc="-5">
                <a:latin typeface="Times New Roman"/>
                <a:cs typeface="Times New Roman"/>
              </a:rPr>
              <a:t> efforts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replace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Urdu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unsuccessful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Conflict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government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public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opinion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riots</a:t>
            </a:r>
            <a:endParaRPr sz="1100">
              <a:latin typeface="Times New Roman"/>
              <a:cs typeface="Times New Roman"/>
            </a:endParaRPr>
          </a:p>
          <a:p>
            <a:pPr marL="12700" marR="18326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emerged as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neutral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of unification </a:t>
            </a:r>
            <a:r>
              <a:rPr dirty="0" sz="1100" spc="-5">
                <a:latin typeface="Times New Roman"/>
                <a:cs typeface="Times New Roman"/>
              </a:rPr>
              <a:t>and administration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184: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 Sub-Continent: Status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Pakistan </a:t>
            </a:r>
            <a:r>
              <a:rPr dirty="0" sz="1100">
                <a:latin typeface="Times New Roman"/>
                <a:cs typeface="Times New Roman"/>
              </a:rPr>
              <a:t>II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Continuation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official</a:t>
            </a:r>
            <a:r>
              <a:rPr dirty="0" sz="1100" spc="-5">
                <a:latin typeface="Times New Roman"/>
                <a:cs typeface="Times New Roman"/>
              </a:rPr>
              <a:t> language 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advantage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elite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gives</a:t>
            </a:r>
            <a:r>
              <a:rPr dirty="0" sz="1100" spc="-5">
                <a:latin typeface="Times New Roman"/>
                <a:cs typeface="Times New Roman"/>
              </a:rPr>
              <a:t> them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competitive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</a:t>
            </a:r>
            <a:r>
              <a:rPr dirty="0" sz="1100" spc="-5">
                <a:latin typeface="Times New Roman"/>
                <a:cs typeface="Times New Roman"/>
              </a:rPr>
              <a:t> those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Urdu-medium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capital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snob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</a:t>
            </a:r>
            <a:endParaRPr sz="1100">
              <a:latin typeface="Times New Roman"/>
              <a:cs typeface="Times New Roman"/>
            </a:endParaRPr>
          </a:p>
          <a:p>
            <a:pPr marL="12700" marR="39541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Constitutes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class-identity marker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Pakistan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communication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office</a:t>
            </a:r>
            <a:r>
              <a:rPr dirty="0" sz="1100" spc="-5">
                <a:latin typeface="Times New Roman"/>
                <a:cs typeface="Times New Roman"/>
              </a:rPr>
              <a:t> work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armed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forces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broadcast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Urdu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12700" marR="31921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 together with Urdu in trade and commerce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for: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decent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Better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12700" marR="39370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academic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serious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discourse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underprivileged</a:t>
            </a:r>
            <a:r>
              <a:rPr dirty="0" sz="1100" spc="-5">
                <a:latin typeface="Times New Roman"/>
                <a:cs typeface="Times New Roman"/>
              </a:rPr>
              <a:t> also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desire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upward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mobility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entering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elite</a:t>
            </a:r>
            <a:endParaRPr sz="1100">
              <a:latin typeface="Times New Roman"/>
              <a:cs typeface="Times New Roman"/>
            </a:endParaRPr>
          </a:p>
          <a:p>
            <a:pPr marL="12700" marR="3276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Diehard supporters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national </a:t>
            </a:r>
            <a:r>
              <a:rPr dirty="0" sz="1100" spc="-5">
                <a:latin typeface="Times New Roman"/>
                <a:cs typeface="Times New Roman"/>
              </a:rPr>
              <a:t>language educate their </a:t>
            </a:r>
            <a:r>
              <a:rPr dirty="0" sz="1100">
                <a:latin typeface="Times New Roman"/>
                <a:cs typeface="Times New Roman"/>
              </a:rPr>
              <a:t>own </a:t>
            </a:r>
            <a:r>
              <a:rPr dirty="0" sz="1100" spc="-5">
                <a:latin typeface="Times New Roman"/>
                <a:cs typeface="Times New Roman"/>
              </a:rPr>
              <a:t>children in English-medium schools,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There is </a:t>
            </a:r>
            <a:r>
              <a:rPr dirty="0" sz="1100">
                <a:latin typeface="Times New Roman"/>
                <a:cs typeface="Times New Roman"/>
              </a:rPr>
              <a:t>no </a:t>
            </a:r>
            <a:r>
              <a:rPr dirty="0" sz="1100" spc="-5">
                <a:latin typeface="Times New Roman"/>
                <a:cs typeface="Times New Roman"/>
              </a:rPr>
              <a:t>escape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any country in the world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learning English well and thoroughly and it would </a:t>
            </a:r>
            <a:r>
              <a:rPr dirty="0" sz="1100">
                <a:latin typeface="Times New Roman"/>
                <a:cs typeface="Times New Roman"/>
              </a:rPr>
              <a:t>be very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unwise,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fact, </a:t>
            </a:r>
            <a:r>
              <a:rPr dirty="0" sz="1100" spc="-5">
                <a:latin typeface="Times New Roman"/>
                <a:cs typeface="Times New Roman"/>
              </a:rPr>
              <a:t>almost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suicidal</a:t>
            </a:r>
            <a:r>
              <a:rPr dirty="0" sz="1100">
                <a:latin typeface="Times New Roman"/>
                <a:cs typeface="Times New Roman"/>
              </a:rPr>
              <a:t> for </a:t>
            </a:r>
            <a:r>
              <a:rPr dirty="0" sz="1100" spc="-5">
                <a:latin typeface="Times New Roman"/>
                <a:cs typeface="Times New Roman"/>
              </a:rPr>
              <a:t>Pakistan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destroy by neglect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advantages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already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possess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 respect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past knowledge 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Consequences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marginalized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Pakistanis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serious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efforts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quality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Resulted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underclass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public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making</a:t>
            </a:r>
            <a:endParaRPr sz="1100">
              <a:latin typeface="Times New Roman"/>
              <a:cs typeface="Times New Roman"/>
            </a:endParaRPr>
          </a:p>
          <a:p>
            <a:pPr marL="12700" marR="27012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Limited social, educational and economical </a:t>
            </a:r>
            <a:r>
              <a:rPr dirty="0" sz="1100">
                <a:latin typeface="Times New Roman"/>
                <a:cs typeface="Times New Roman"/>
              </a:rPr>
              <a:t>development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185:</a:t>
            </a:r>
            <a:r>
              <a:rPr dirty="0" sz="1100" spc="-5">
                <a:latin typeface="Times New Roman"/>
                <a:cs typeface="Times New Roman"/>
              </a:rPr>
              <a:t> Characteristics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Sub-continent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186: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Sub-continent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61912"/>
            <a:ext cx="6129655" cy="8779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320675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Lesson-32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L="180340">
              <a:lnSpc>
                <a:spcPct val="100000"/>
              </a:lnSpc>
            </a:pPr>
            <a:r>
              <a:rPr dirty="0" sz="1400" spc="-5">
                <a:latin typeface="Times New Roman"/>
                <a:cs typeface="Times New Roman"/>
              </a:rPr>
              <a:t>New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70">
                <a:latin typeface="Times New Roman"/>
                <a:cs typeface="Times New Roman"/>
              </a:rPr>
              <a:t>Standard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Englishes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 marR="3242310">
              <a:lnSpc>
                <a:spcPct val="110200"/>
              </a:lnSpc>
              <a:spcBef>
                <a:spcPts val="1075"/>
              </a:spcBef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187: </a:t>
            </a:r>
            <a:r>
              <a:rPr dirty="0" sz="1100" spc="-5">
                <a:latin typeface="Times New Roman"/>
                <a:cs typeface="Times New Roman"/>
              </a:rPr>
              <a:t>On the Way to New Standard 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Codification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Codification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codification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alternatives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characteristics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local models </a:t>
            </a:r>
            <a:r>
              <a:rPr dirty="0" sz="1100">
                <a:latin typeface="Times New Roman"/>
                <a:cs typeface="Times New Roman"/>
              </a:rPr>
              <a:t>need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be presented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dictionaries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grammar reference books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Codification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alternatives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characteristics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local models </a:t>
            </a:r>
            <a:r>
              <a:rPr dirty="0" sz="1100">
                <a:latin typeface="Times New Roman"/>
                <a:cs typeface="Times New Roman"/>
              </a:rPr>
              <a:t>need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be presented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dictionaries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grammar reference books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Codification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endParaRPr sz="1100">
              <a:latin typeface="Times New Roman"/>
              <a:cs typeface="Times New Roman"/>
            </a:endParaRPr>
          </a:p>
          <a:p>
            <a:pPr marL="12700" marR="7232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Distinction 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made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items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local informal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international standard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188: </a:t>
            </a:r>
            <a:r>
              <a:rPr dirty="0" sz="1100" spc="-5">
                <a:latin typeface="Times New Roman"/>
                <a:cs typeface="Times New Roman"/>
              </a:rPr>
              <a:t>Codification </a:t>
            </a:r>
            <a:r>
              <a:rPr dirty="0" sz="1100">
                <a:latin typeface="Times New Roman"/>
                <a:cs typeface="Times New Roman"/>
              </a:rPr>
              <a:t>of Indigenized</a:t>
            </a:r>
            <a:r>
              <a:rPr dirty="0" sz="1100" spc="-5">
                <a:latin typeface="Times New Roman"/>
                <a:cs typeface="Times New Roman"/>
              </a:rPr>
              <a:t> Variety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Englishes </a:t>
            </a:r>
            <a:r>
              <a:rPr dirty="0" sz="110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IVE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IVEs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rejected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assumptions: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Goal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Availability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speaker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input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full</a:t>
            </a:r>
            <a:r>
              <a:rPr dirty="0" sz="1100" spc="-5">
                <a:latin typeface="Times New Roman"/>
                <a:cs typeface="Times New Roman"/>
              </a:rPr>
              <a:t> competence</a:t>
            </a:r>
            <a:endParaRPr sz="1100">
              <a:latin typeface="Times New Roman"/>
              <a:cs typeface="Times New Roman"/>
            </a:endParaRPr>
          </a:p>
          <a:p>
            <a:pPr marL="12700" marR="14376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SLA </a:t>
            </a:r>
            <a:r>
              <a:rPr dirty="0" sz="1100">
                <a:latin typeface="Times New Roman"/>
                <a:cs typeface="Times New Roman"/>
              </a:rPr>
              <a:t>processes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learned independent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functions of </a:t>
            </a:r>
            <a:r>
              <a:rPr dirty="0" sz="1100" spc="-5">
                <a:latin typeface="Times New Roman"/>
                <a:cs typeface="Times New Roman"/>
              </a:rPr>
              <a:t>L2 in society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IVE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rejected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assumptions: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L1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interferes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facilitates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L2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  <a:p>
            <a:pPr marL="12700" marR="33940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Motivation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L2 learning is integrative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SLA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IVE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settings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Irrelevance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Available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input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IVE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diglossic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endParaRPr sz="1100">
              <a:latin typeface="Times New Roman"/>
              <a:cs typeface="Times New Roman"/>
            </a:endParaRPr>
          </a:p>
          <a:p>
            <a:pPr marL="12700" marR="367537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Motivation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SLA is instrumental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IVEs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fossilization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intermediate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before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stabilization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Stabilization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reached</a:t>
            </a:r>
            <a:r>
              <a:rPr dirty="0" sz="1100" spc="-5">
                <a:latin typeface="Times New Roman"/>
                <a:cs typeface="Times New Roman"/>
              </a:rPr>
              <a:t> without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like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fossilization</a:t>
            </a:r>
            <a:endParaRPr sz="1100">
              <a:latin typeface="Times New Roman"/>
              <a:cs typeface="Times New Roman"/>
            </a:endParaRPr>
          </a:p>
          <a:p>
            <a:pPr marL="12700" marR="28657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Fossilization implies </a:t>
            </a:r>
            <a:r>
              <a:rPr dirty="0" sz="1100">
                <a:latin typeface="Times New Roman"/>
                <a:cs typeface="Times New Roman"/>
              </a:rPr>
              <a:t>deficit rather </a:t>
            </a:r>
            <a:r>
              <a:rPr dirty="0" sz="1100" spc="-5">
                <a:latin typeface="Times New Roman"/>
                <a:cs typeface="Times New Roman"/>
              </a:rPr>
              <a:t>than </a:t>
            </a:r>
            <a:r>
              <a:rPr dirty="0" sz="1100">
                <a:latin typeface="Times New Roman"/>
                <a:cs typeface="Times New Roman"/>
              </a:rPr>
              <a:t>difference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IVEs</a:t>
            </a:r>
            <a:r>
              <a:rPr dirty="0" sz="1100" spc="-5">
                <a:latin typeface="Times New Roman"/>
                <a:cs typeface="Times New Roman"/>
              </a:rPr>
              <a:t> and </a:t>
            </a:r>
            <a:r>
              <a:rPr dirty="0" sz="1100">
                <a:latin typeface="Times New Roman"/>
                <a:cs typeface="Times New Roman"/>
              </a:rPr>
              <a:t>fossilization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fossilized?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communities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learners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fossilized?</a:t>
            </a:r>
            <a:endParaRPr sz="1100">
              <a:latin typeface="Times New Roman"/>
              <a:cs typeface="Times New Roman"/>
            </a:endParaRPr>
          </a:p>
          <a:p>
            <a:pPr marL="12700" marR="22999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Emergence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new dialects with “fossilized </a:t>
            </a:r>
            <a:r>
              <a:rPr dirty="0" sz="1100">
                <a:latin typeface="Times New Roman"/>
                <a:cs typeface="Times New Roman"/>
              </a:rPr>
              <a:t>IL </a:t>
            </a:r>
            <a:r>
              <a:rPr dirty="0" sz="1100" spc="-5">
                <a:latin typeface="Times New Roman"/>
                <a:cs typeface="Times New Roman"/>
              </a:rPr>
              <a:t>competence”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IVEs</a:t>
            </a:r>
            <a:r>
              <a:rPr dirty="0" sz="1100" spc="-5">
                <a:latin typeface="Times New Roman"/>
                <a:cs typeface="Times New Roman"/>
              </a:rPr>
              <a:t> and </a:t>
            </a:r>
            <a:r>
              <a:rPr dirty="0" sz="1100">
                <a:latin typeface="Times New Roman"/>
                <a:cs typeface="Times New Roman"/>
              </a:rPr>
              <a:t>fossilization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Unsatisfactory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 account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 or</a:t>
            </a:r>
            <a:r>
              <a:rPr dirty="0" sz="1100" spc="-5">
                <a:latin typeface="Times New Roman"/>
                <a:cs typeface="Times New Roman"/>
              </a:rPr>
              <a:t> multi lingual context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consider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circumstance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American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32861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IVEs </a:t>
            </a:r>
            <a:r>
              <a:rPr dirty="0" sz="1100" spc="-5">
                <a:latin typeface="Times New Roman"/>
                <a:cs typeface="Times New Roman"/>
              </a:rPr>
              <a:t>are comparable to American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IVEs</a:t>
            </a:r>
            <a:r>
              <a:rPr dirty="0" sz="1100" spc="-5">
                <a:latin typeface="Times New Roman"/>
                <a:cs typeface="Times New Roman"/>
              </a:rPr>
              <a:t> and </a:t>
            </a:r>
            <a:r>
              <a:rPr dirty="0" sz="1100">
                <a:latin typeface="Times New Roman"/>
                <a:cs typeface="Times New Roman"/>
              </a:rPr>
              <a:t>fossilization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866130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Comparable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legitimacy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questioned?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recognition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235267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189: </a:t>
            </a:r>
            <a:r>
              <a:rPr dirty="0" sz="1100" spc="-5">
                <a:latin typeface="Times New Roman"/>
                <a:cs typeface="Times New Roman"/>
              </a:rPr>
              <a:t>Codification </a:t>
            </a:r>
            <a:r>
              <a:rPr dirty="0" sz="1100">
                <a:latin typeface="Times New Roman"/>
                <a:cs typeface="Times New Roman"/>
              </a:rPr>
              <a:t>of Indigenized </a:t>
            </a:r>
            <a:r>
              <a:rPr dirty="0" sz="1100" spc="-5">
                <a:latin typeface="Times New Roman"/>
                <a:cs typeface="Times New Roman"/>
              </a:rPr>
              <a:t>Variety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Englishes </a:t>
            </a:r>
            <a:r>
              <a:rPr dirty="0" sz="1100">
                <a:latin typeface="Times New Roman"/>
                <a:cs typeface="Times New Roman"/>
              </a:rPr>
              <a:t>II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IVE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IVEs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rejected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assumptions: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Goal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Availability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speaker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input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full</a:t>
            </a:r>
            <a:r>
              <a:rPr dirty="0" sz="1100" spc="-5">
                <a:latin typeface="Times New Roman"/>
                <a:cs typeface="Times New Roman"/>
              </a:rPr>
              <a:t> competence</a:t>
            </a:r>
            <a:endParaRPr sz="1100">
              <a:latin typeface="Times New Roman"/>
              <a:cs typeface="Times New Roman"/>
            </a:endParaRPr>
          </a:p>
          <a:p>
            <a:pPr marL="12700" marR="11741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SLA </a:t>
            </a:r>
            <a:r>
              <a:rPr dirty="0" sz="1100">
                <a:latin typeface="Times New Roman"/>
                <a:cs typeface="Times New Roman"/>
              </a:rPr>
              <a:t>processes </a:t>
            </a:r>
            <a:r>
              <a:rPr dirty="0" sz="1100" spc="-5">
                <a:latin typeface="Times New Roman"/>
                <a:cs typeface="Times New Roman"/>
              </a:rPr>
              <a:t>can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learned independent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functions of </a:t>
            </a:r>
            <a:r>
              <a:rPr dirty="0" sz="1100" spc="-5">
                <a:latin typeface="Times New Roman"/>
                <a:cs typeface="Times New Roman"/>
              </a:rPr>
              <a:t>L2 in society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IVE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rejected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assumptions: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L1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interferes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facilitates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L2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  <a:p>
            <a:pPr marL="12700" marR="31305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Motivation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L2 learning is integrative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SLA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IVE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settings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Irrelevance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Available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input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IVE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diglossic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endParaRPr sz="1100">
              <a:latin typeface="Times New Roman"/>
              <a:cs typeface="Times New Roman"/>
            </a:endParaRPr>
          </a:p>
          <a:p>
            <a:pPr marL="12700" marR="34112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Motivation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SLA is instrumental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IVEs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fossilization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intermediate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before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stabilization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Stabilization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reached</a:t>
            </a:r>
            <a:r>
              <a:rPr dirty="0" sz="1100" spc="-5">
                <a:latin typeface="Times New Roman"/>
                <a:cs typeface="Times New Roman"/>
              </a:rPr>
              <a:t> without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like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fossilization</a:t>
            </a:r>
            <a:endParaRPr sz="1100">
              <a:latin typeface="Times New Roman"/>
              <a:cs typeface="Times New Roman"/>
            </a:endParaRPr>
          </a:p>
          <a:p>
            <a:pPr marL="12700" marR="26022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Fossilization implies </a:t>
            </a:r>
            <a:r>
              <a:rPr dirty="0" sz="1100">
                <a:latin typeface="Times New Roman"/>
                <a:cs typeface="Times New Roman"/>
              </a:rPr>
              <a:t>deficit rather </a:t>
            </a:r>
            <a:r>
              <a:rPr dirty="0" sz="1100" spc="-5">
                <a:latin typeface="Times New Roman"/>
                <a:cs typeface="Times New Roman"/>
              </a:rPr>
              <a:t>than </a:t>
            </a:r>
            <a:r>
              <a:rPr dirty="0" sz="1100">
                <a:latin typeface="Times New Roman"/>
                <a:cs typeface="Times New Roman"/>
              </a:rPr>
              <a:t>difference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IVEs</a:t>
            </a:r>
            <a:r>
              <a:rPr dirty="0" sz="1100" spc="-5">
                <a:latin typeface="Times New Roman"/>
                <a:cs typeface="Times New Roman"/>
              </a:rPr>
              <a:t> and </a:t>
            </a:r>
            <a:r>
              <a:rPr dirty="0" sz="1100">
                <a:latin typeface="Times New Roman"/>
                <a:cs typeface="Times New Roman"/>
              </a:rPr>
              <a:t>fossilization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fossilized?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communities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learners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fossilized?</a:t>
            </a:r>
            <a:endParaRPr sz="1100">
              <a:latin typeface="Times New Roman"/>
              <a:cs typeface="Times New Roman"/>
            </a:endParaRPr>
          </a:p>
          <a:p>
            <a:pPr marL="12700" marR="20364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Emergence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new dialects with “fossilized </a:t>
            </a:r>
            <a:r>
              <a:rPr dirty="0" sz="1100">
                <a:latin typeface="Times New Roman"/>
                <a:cs typeface="Times New Roman"/>
              </a:rPr>
              <a:t>IL </a:t>
            </a:r>
            <a:r>
              <a:rPr dirty="0" sz="1100" spc="-5">
                <a:latin typeface="Times New Roman"/>
                <a:cs typeface="Times New Roman"/>
              </a:rPr>
              <a:t>competence”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IVEs</a:t>
            </a:r>
            <a:r>
              <a:rPr dirty="0" sz="1100" spc="-5">
                <a:latin typeface="Times New Roman"/>
                <a:cs typeface="Times New Roman"/>
              </a:rPr>
              <a:t> and </a:t>
            </a:r>
            <a:r>
              <a:rPr dirty="0" sz="1100">
                <a:latin typeface="Times New Roman"/>
                <a:cs typeface="Times New Roman"/>
              </a:rPr>
              <a:t>fossilization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Unsatisfactory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take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 account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 or</a:t>
            </a:r>
            <a:r>
              <a:rPr dirty="0" sz="1100" spc="-5">
                <a:latin typeface="Times New Roman"/>
                <a:cs typeface="Times New Roman"/>
              </a:rPr>
              <a:t> multi lingual context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consider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circumstance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American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30226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IVEs </a:t>
            </a:r>
            <a:r>
              <a:rPr dirty="0" sz="1100" spc="-5">
                <a:latin typeface="Times New Roman"/>
                <a:cs typeface="Times New Roman"/>
              </a:rPr>
              <a:t>are comparable to American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IVEs</a:t>
            </a:r>
            <a:r>
              <a:rPr dirty="0" sz="1100" spc="-5">
                <a:latin typeface="Times New Roman"/>
                <a:cs typeface="Times New Roman"/>
              </a:rPr>
              <a:t> and </a:t>
            </a:r>
            <a:r>
              <a:rPr dirty="0" sz="1100">
                <a:latin typeface="Times New Roman"/>
                <a:cs typeface="Times New Roman"/>
              </a:rPr>
              <a:t>fossilization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Comparable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legitimacy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questioned?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recognition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1250">
              <a:latin typeface="Times New Roman"/>
              <a:cs typeface="Times New Roman"/>
            </a:endParaRPr>
          </a:p>
          <a:p>
            <a:pPr marL="12700" marR="234505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190 </a:t>
            </a:r>
            <a:r>
              <a:rPr dirty="0" sz="1100" spc="-5">
                <a:latin typeface="Times New Roman"/>
                <a:cs typeface="Times New Roman"/>
              </a:rPr>
              <a:t>Codification </a:t>
            </a:r>
            <a:r>
              <a:rPr dirty="0" sz="1100">
                <a:latin typeface="Times New Roman"/>
                <a:cs typeface="Times New Roman"/>
              </a:rPr>
              <a:t>of Indigenized </a:t>
            </a:r>
            <a:r>
              <a:rPr dirty="0" sz="1100" spc="-5">
                <a:latin typeface="Times New Roman"/>
                <a:cs typeface="Times New Roman"/>
              </a:rPr>
              <a:t>Variety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Englishes </a:t>
            </a:r>
            <a:r>
              <a:rPr dirty="0" sz="1100">
                <a:latin typeface="Times New Roman"/>
                <a:cs typeface="Times New Roman"/>
              </a:rPr>
              <a:t>III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Issues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selection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version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codification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12700" marR="15087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set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criteria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selection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standardized </a:t>
            </a:r>
            <a:r>
              <a:rPr dirty="0" sz="1100">
                <a:latin typeface="Times New Roman"/>
                <a:cs typeface="Times New Roman"/>
              </a:rPr>
              <a:t>version of IVEs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Issues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selection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Focus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Existence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several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controversies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Continued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preference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realization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irrelevance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interlocutor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71590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Issues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Conflict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local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intelligibility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acceptability</a:t>
            </a:r>
            <a:endParaRPr sz="1100">
              <a:latin typeface="Times New Roman"/>
              <a:cs typeface="Times New Roman"/>
            </a:endParaRPr>
          </a:p>
          <a:p>
            <a:pPr marL="12700" marR="158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performing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needed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intranational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modifications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acceptance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international communication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Conflict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codified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performing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intranational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</a:t>
            </a:r>
            <a:endParaRPr sz="1100">
              <a:latin typeface="Times New Roman"/>
              <a:cs typeface="Times New Roman"/>
            </a:endParaRPr>
          </a:p>
          <a:p>
            <a:pPr marL="12700" marR="8026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Modifications introduced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intelligibility and acceptance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international communication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Conflict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local and international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acceptance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innovations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Standardizing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endParaRPr sz="1100">
              <a:latin typeface="Times New Roman"/>
              <a:cs typeface="Times New Roman"/>
            </a:endParaRPr>
          </a:p>
          <a:p>
            <a:pPr marL="12700" marR="6146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Inclusion of </a:t>
            </a:r>
            <a:r>
              <a:rPr dirty="0" sz="1100" spc="-5">
                <a:latin typeface="Times New Roman"/>
                <a:cs typeface="Times New Roman"/>
              </a:rPr>
              <a:t>code-mixing and code-switching in </a:t>
            </a:r>
            <a:r>
              <a:rPr dirty="0" sz="1100">
                <a:latin typeface="Times New Roman"/>
                <a:cs typeface="Times New Roman"/>
              </a:rPr>
              <a:t>grammars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dictionaries of </a:t>
            </a:r>
            <a:r>
              <a:rPr dirty="0" sz="1100" spc="-5">
                <a:latin typeface="Times New Roman"/>
                <a:cs typeface="Times New Roman"/>
              </a:rPr>
              <a:t>Asian 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Attempts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 codifying </a:t>
            </a:r>
            <a:r>
              <a:rPr dirty="0" sz="1100">
                <a:latin typeface="Times New Roman"/>
                <a:cs typeface="Times New Roman"/>
              </a:rPr>
              <a:t>IVEs</a:t>
            </a:r>
            <a:endParaRPr sz="1100">
              <a:latin typeface="Times New Roman"/>
              <a:cs typeface="Times New Roman"/>
            </a:endParaRPr>
          </a:p>
          <a:p>
            <a:pPr marL="12700" marR="88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Macquarie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co-published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Grolier</a:t>
            </a:r>
            <a:r>
              <a:rPr dirty="0" sz="1100">
                <a:latin typeface="Times New Roman"/>
                <a:cs typeface="Times New Roman"/>
              </a:rPr>
              <a:t> International</a:t>
            </a:r>
            <a:r>
              <a:rPr dirty="0" sz="1100" spc="2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in an Asian Context</a:t>
            </a:r>
            <a:endParaRPr sz="1100">
              <a:latin typeface="Times New Roman"/>
              <a:cs typeface="Times New Roman"/>
            </a:endParaRPr>
          </a:p>
          <a:p>
            <a:pPr marL="12700" marR="26854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Documents the English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South Asia and Southeast Asia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Attempts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 codifying </a:t>
            </a:r>
            <a:r>
              <a:rPr dirty="0" sz="1100">
                <a:latin typeface="Times New Roman"/>
                <a:cs typeface="Times New Roman"/>
              </a:rPr>
              <a:t>IVEs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Aims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meet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</a:t>
            </a:r>
            <a:endParaRPr sz="1100">
              <a:latin typeface="Times New Roman"/>
              <a:cs typeface="Times New Roman"/>
            </a:endParaRPr>
          </a:p>
          <a:p>
            <a:pPr marL="12700" marR="184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Includes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items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currency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along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never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appeared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dictionary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before</a:t>
            </a:r>
            <a:endParaRPr sz="1100">
              <a:latin typeface="Times New Roman"/>
              <a:cs typeface="Times New Roman"/>
            </a:endParaRPr>
          </a:p>
          <a:p>
            <a:pPr marL="12700" marR="26644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Recognizes inter and intra </a:t>
            </a:r>
            <a:r>
              <a:rPr dirty="0" sz="1100">
                <a:latin typeface="Times New Roman"/>
                <a:cs typeface="Times New Roman"/>
              </a:rPr>
              <a:t>national needs of IVE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191 </a:t>
            </a:r>
            <a:r>
              <a:rPr dirty="0" sz="1100" spc="-5">
                <a:latin typeface="Times New Roman"/>
                <a:cs typeface="Times New Roman"/>
              </a:rPr>
              <a:t>External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vs. Internal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Primacy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Non-inner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deficient</a:t>
            </a:r>
            <a:endParaRPr sz="1100">
              <a:latin typeface="Times New Roman"/>
              <a:cs typeface="Times New Roman"/>
            </a:endParaRPr>
          </a:p>
          <a:p>
            <a:pPr marL="12700" marR="25787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Historical </a:t>
            </a:r>
            <a:r>
              <a:rPr dirty="0" sz="1100">
                <a:latin typeface="Times New Roman"/>
                <a:cs typeface="Times New Roman"/>
              </a:rPr>
              <a:t>primacy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precedence of native </a:t>
            </a:r>
            <a:r>
              <a:rPr dirty="0" sz="1100" spc="-5">
                <a:latin typeface="Times New Roman"/>
                <a:cs typeface="Times New Roman"/>
              </a:rPr>
              <a:t>speaker </a:t>
            </a:r>
            <a:r>
              <a:rPr dirty="0" sz="1100">
                <a:latin typeface="Times New Roman"/>
                <a:cs typeface="Times New Roman"/>
              </a:rPr>
              <a:t>norms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World-wide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assumption 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UK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selected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5">
                <a:latin typeface="Times New Roman"/>
                <a:cs typeface="Times New Roman"/>
              </a:rPr>
              <a:t> world-wide 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4743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Faulty </a:t>
            </a:r>
            <a:r>
              <a:rPr dirty="0" sz="1100">
                <a:latin typeface="Times New Roman"/>
                <a:cs typeface="Times New Roman"/>
              </a:rPr>
              <a:t>belief </a:t>
            </a:r>
            <a:r>
              <a:rPr dirty="0" sz="1100" spc="-5">
                <a:latin typeface="Times New Roman"/>
                <a:cs typeface="Times New Roman"/>
              </a:rPr>
              <a:t>that learning and </a:t>
            </a:r>
            <a:r>
              <a:rPr dirty="0" sz="1100">
                <a:latin typeface="Times New Roman"/>
                <a:cs typeface="Times New Roman"/>
              </a:rPr>
              <a:t>using </a:t>
            </a: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in any context involves</a:t>
            </a:r>
            <a:r>
              <a:rPr dirty="0" sz="1100">
                <a:latin typeface="Times New Roman"/>
                <a:cs typeface="Times New Roman"/>
              </a:rPr>
              <a:t> users from </a:t>
            </a:r>
            <a:r>
              <a:rPr dirty="0" sz="1100" spc="-5">
                <a:latin typeface="Times New Roman"/>
                <a:cs typeface="Times New Roman"/>
              </a:rPr>
              <a:t>inner-circle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selecting internal models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Pragmatic</a:t>
            </a:r>
            <a:endParaRPr sz="1100">
              <a:latin typeface="Times New Roman"/>
              <a:cs typeface="Times New Roman"/>
            </a:endParaRPr>
          </a:p>
          <a:p>
            <a:pPr marL="12700" marR="39116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Not enough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English teachers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selecting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Regional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variations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pronunciation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inner-circle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23945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All are considered speakers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standard inner-circle </a:t>
            </a:r>
            <a:r>
              <a:rPr dirty="0" sz="1100">
                <a:latin typeface="Times New Roman"/>
                <a:cs typeface="Times New Roman"/>
              </a:rPr>
              <a:t>variety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selecting internal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  <a:p>
            <a:pPr marL="12700" marR="171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using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regional variations</a:t>
            </a:r>
            <a:endParaRPr sz="1100">
              <a:latin typeface="Times New Roman"/>
              <a:cs typeface="Times New Roman"/>
            </a:endParaRPr>
          </a:p>
          <a:p>
            <a:pPr marL="12700" marR="1910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Acceptance </a:t>
            </a:r>
            <a:r>
              <a:rPr dirty="0" sz="1100">
                <a:latin typeface="Times New Roman"/>
                <a:cs typeface="Times New Roman"/>
              </a:rPr>
              <a:t>of IVE </a:t>
            </a:r>
            <a:r>
              <a:rPr dirty="0" sz="1100" spc="-5">
                <a:latin typeface="Times New Roman"/>
                <a:cs typeface="Times New Roman"/>
              </a:rPr>
              <a:t>justifies selecting an internal model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codification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192 </a:t>
            </a:r>
            <a:r>
              <a:rPr dirty="0" sz="1100" spc="-5">
                <a:latin typeface="Times New Roman"/>
                <a:cs typeface="Times New Roman"/>
              </a:rPr>
              <a:t>Future Scenarios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term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Arthur</a:t>
            </a:r>
            <a:endParaRPr sz="1100">
              <a:latin typeface="Times New Roman"/>
              <a:cs typeface="Times New Roman"/>
            </a:endParaRPr>
          </a:p>
          <a:p>
            <a:pPr marL="12700" marR="18834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Comprises all sub-types </a:t>
            </a:r>
            <a:r>
              <a:rPr dirty="0" sz="1100">
                <a:latin typeface="Times New Roman"/>
                <a:cs typeface="Times New Roman"/>
              </a:rPr>
              <a:t>based on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history, </a:t>
            </a:r>
            <a:r>
              <a:rPr dirty="0" sz="1100" spc="-5">
                <a:latin typeface="Times New Roman"/>
                <a:cs typeface="Times New Roman"/>
              </a:rPr>
              <a:t>status </a:t>
            </a:r>
            <a:r>
              <a:rPr dirty="0" sz="1100">
                <a:latin typeface="Times New Roman"/>
                <a:cs typeface="Times New Roman"/>
              </a:rPr>
              <a:t>form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function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Sub-types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English Language Complex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Metropolitan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radio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TV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networks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standards: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exterritorial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developed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Australia,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Zealand,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Canada,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Zimbabwe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Regional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dialects: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variations</a:t>
            </a:r>
            <a:r>
              <a:rPr dirty="0" sz="1100" spc="-5">
                <a:latin typeface="Times New Roman"/>
                <a:cs typeface="Times New Roman"/>
              </a:rPr>
              <a:t> within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previous</a:t>
            </a:r>
            <a:r>
              <a:rPr dirty="0" sz="1100" spc="-5">
                <a:latin typeface="Times New Roman"/>
                <a:cs typeface="Times New Roman"/>
              </a:rPr>
              <a:t> types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76035" cy="879411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Sub-types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Complex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dialects: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ethnicity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Pidgin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creole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endParaRPr sz="1100">
              <a:latin typeface="Times New Roman"/>
              <a:cs typeface="Times New Roman"/>
            </a:endParaRPr>
          </a:p>
          <a:p>
            <a:pPr marL="12700" marR="167576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Foreign Language: </a:t>
            </a:r>
            <a:r>
              <a:rPr dirty="0" sz="1100">
                <a:latin typeface="Times New Roman"/>
                <a:cs typeface="Times New Roman"/>
              </a:rPr>
              <a:t>varieties used </a:t>
            </a:r>
            <a:r>
              <a:rPr dirty="0" sz="1100" spc="-5">
                <a:latin typeface="Times New Roman"/>
                <a:cs typeface="Times New Roman"/>
              </a:rPr>
              <a:t>in expanding-circle countries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Sub-types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English Language Complex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Immigrant</a:t>
            </a:r>
            <a:r>
              <a:rPr dirty="0" sz="1100" spc="-5">
                <a:latin typeface="Times New Roman"/>
                <a:cs typeface="Times New Roman"/>
              </a:rPr>
              <a:t> Englishes: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in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migration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 country</a:t>
            </a:r>
            <a:endParaRPr sz="1100">
              <a:latin typeface="Times New Roman"/>
              <a:cs typeface="Times New Roman"/>
            </a:endParaRPr>
          </a:p>
          <a:p>
            <a:pPr marL="12700" marR="29711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Hybrid Englishes: emerge as </a:t>
            </a:r>
            <a:r>
              <a:rPr dirty="0" sz="1100">
                <a:latin typeface="Times New Roman"/>
                <a:cs typeface="Times New Roman"/>
              </a:rPr>
              <a:t>a result of </a:t>
            </a:r>
            <a:r>
              <a:rPr dirty="0" sz="1100" spc="-5">
                <a:latin typeface="Times New Roman"/>
                <a:cs typeface="Times New Roman"/>
              </a:rPr>
              <a:t>code mixing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Convergence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divergence?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Inevitability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diversifications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Immigrant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300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spoken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London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alone</a:t>
            </a:r>
            <a:endParaRPr sz="1100">
              <a:latin typeface="Times New Roman"/>
              <a:cs typeface="Times New Roman"/>
            </a:endParaRPr>
          </a:p>
          <a:p>
            <a:pPr marL="12700" marR="7023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New </a:t>
            </a:r>
            <a:r>
              <a:rPr dirty="0" sz="1100">
                <a:latin typeface="Times New Roman"/>
                <a:cs typeface="Times New Roman"/>
              </a:rPr>
              <a:t>varieties </a:t>
            </a:r>
            <a:r>
              <a:rPr dirty="0" sz="1100" spc="-5">
                <a:latin typeface="Times New Roman"/>
                <a:cs typeface="Times New Roman"/>
              </a:rPr>
              <a:t>likely to emerge as </a:t>
            </a:r>
            <a:r>
              <a:rPr dirty="0" sz="1100">
                <a:latin typeface="Times New Roman"/>
                <a:cs typeface="Times New Roman"/>
              </a:rPr>
              <a:t>a result of </a:t>
            </a:r>
            <a:r>
              <a:rPr dirty="0" sz="1100" spc="-5">
                <a:latin typeface="Times New Roman"/>
                <a:cs typeface="Times New Roman"/>
              </a:rPr>
              <a:t>interaction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English and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Convergence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divergence?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expansion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leading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unintelligibility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algn="r" marR="566420">
              <a:lnSpc>
                <a:spcPct val="100000"/>
              </a:lnSpc>
              <a:spcBef>
                <a:spcPts val="5"/>
              </a:spcBef>
            </a:pPr>
            <a:r>
              <a:rPr dirty="0" sz="1400" spc="10">
                <a:latin typeface="Times New Roman"/>
                <a:cs typeface="Times New Roman"/>
              </a:rPr>
              <a:t>Lesson-33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76835">
              <a:lnSpc>
                <a:spcPct val="100000"/>
              </a:lnSpc>
            </a:pPr>
            <a:r>
              <a:rPr dirty="0" sz="1400" spc="30">
                <a:latin typeface="Times New Roman"/>
                <a:cs typeface="Times New Roman"/>
              </a:rPr>
              <a:t>Power,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15">
                <a:latin typeface="Times New Roman"/>
                <a:cs typeface="Times New Roman"/>
              </a:rPr>
              <a:t>Ideology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35">
                <a:latin typeface="Times New Roman"/>
                <a:cs typeface="Times New Roman"/>
              </a:rPr>
              <a:t>Attitudes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193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12700" marR="218313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Robert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Philipson’s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proposition: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kind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imperialism-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Implications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Imperialism for</a:t>
            </a:r>
            <a:r>
              <a:rPr dirty="0" sz="1100" spc="-5">
                <a:latin typeface="Times New Roman"/>
                <a:cs typeface="Times New Roman"/>
              </a:rPr>
              <a:t> the World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varying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degrees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penetration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privileges</a:t>
            </a:r>
            <a:r>
              <a:rPr dirty="0" sz="1100" spc="-5">
                <a:latin typeface="Times New Roman"/>
                <a:cs typeface="Times New Roman"/>
              </a:rPr>
              <a:t> 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 e.g.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Pakistan, </a:t>
            </a:r>
            <a:r>
              <a:rPr dirty="0" sz="1100">
                <a:latin typeface="Times New Roman"/>
                <a:cs typeface="Times New Roman"/>
              </a:rPr>
              <a:t>India</a:t>
            </a:r>
            <a:r>
              <a:rPr dirty="0" sz="1100" spc="-5">
                <a:latin typeface="Times New Roman"/>
                <a:cs typeface="Times New Roman"/>
              </a:rPr>
              <a:t> etc. those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 </a:t>
            </a:r>
            <a:r>
              <a:rPr dirty="0" sz="1100">
                <a:latin typeface="Times New Roman"/>
                <a:cs typeface="Times New Roman"/>
              </a:rPr>
              <a:t>know</a:t>
            </a:r>
            <a:r>
              <a:rPr dirty="0" sz="1100" spc="-5">
                <a:latin typeface="Times New Roman"/>
                <a:cs typeface="Times New Roman"/>
              </a:rPr>
              <a:t> english well 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 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advantage</a:t>
            </a:r>
            <a:endParaRPr sz="1100">
              <a:latin typeface="Times New Roman"/>
              <a:cs typeface="Times New Roman"/>
            </a:endParaRPr>
          </a:p>
          <a:p>
            <a:pPr marL="12700" marR="35090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marginalization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exclusion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Major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‘deaths’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hundreds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minority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previleging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englislh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other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imposition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5">
                <a:latin typeface="Times New Roman"/>
                <a:cs typeface="Times New Roman"/>
              </a:rPr>
              <a:t> languages</a:t>
            </a:r>
            <a:endParaRPr sz="1100">
              <a:latin typeface="Times New Roman"/>
              <a:cs typeface="Times New Roman"/>
            </a:endParaRPr>
          </a:p>
          <a:p>
            <a:pPr marL="12700" marR="228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Assumes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promotion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powerful over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powerless (Phillipson,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1992)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12700" marR="17145" indent="8953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“The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dominance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asserted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maintained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establishment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continuous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reconstitution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structural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 inequalities between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languages.”</a:t>
            </a:r>
            <a:endParaRPr sz="1100">
              <a:latin typeface="Times New Roman"/>
              <a:cs typeface="Times New Roman"/>
            </a:endParaRPr>
          </a:p>
          <a:p>
            <a:pPr marL="12700" marR="387921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Phillipson cited in Kachru and Nelson, </a:t>
            </a:r>
            <a:r>
              <a:rPr dirty="0" sz="1100">
                <a:latin typeface="Times New Roman"/>
                <a:cs typeface="Times New Roman"/>
              </a:rPr>
              <a:t>2006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12700" marR="2349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dominance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letting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facilitating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cultural,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economic,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sociopolitical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hegemony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Anglo-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Eurocentric </a:t>
            </a:r>
            <a:r>
              <a:rPr dirty="0" sz="1100">
                <a:latin typeface="Times New Roman"/>
                <a:cs typeface="Times New Roman"/>
              </a:rPr>
              <a:t>views over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rest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world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Paradox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outdated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75400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tool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empowerment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emancipation</a:t>
            </a:r>
            <a:endParaRPr sz="1100">
              <a:latin typeface="Times New Roman"/>
              <a:cs typeface="Times New Roman"/>
            </a:endParaRPr>
          </a:p>
          <a:p>
            <a:pPr marL="12700" marR="32080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Widespread </a:t>
            </a:r>
            <a:r>
              <a:rPr dirty="0" sz="1100">
                <a:latin typeface="Times New Roman"/>
                <a:cs typeface="Times New Roman"/>
              </a:rPr>
              <a:t>demand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 access to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194 </a:t>
            </a:r>
            <a:r>
              <a:rPr dirty="0" sz="1100" spc="-5">
                <a:latin typeface="Times New Roman"/>
                <a:cs typeface="Times New Roman"/>
              </a:rPr>
              <a:t>Awareness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Imperialism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Resistance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dominance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expense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5">
                <a:latin typeface="Times New Roman"/>
                <a:cs typeface="Times New Roman"/>
              </a:rPr>
              <a:t> languages</a:t>
            </a:r>
            <a:endParaRPr sz="1100">
              <a:latin typeface="Times New Roman"/>
              <a:cs typeface="Times New Roman"/>
            </a:endParaRPr>
          </a:p>
          <a:p>
            <a:pPr marL="12700" marR="6661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Resistance to the </a:t>
            </a:r>
            <a:r>
              <a:rPr dirty="0" sz="1100">
                <a:latin typeface="Times New Roman"/>
                <a:cs typeface="Times New Roman"/>
              </a:rPr>
              <a:t>dominance of </a:t>
            </a:r>
            <a:r>
              <a:rPr dirty="0" sz="1100" spc="-5">
                <a:latin typeface="Times New Roman"/>
                <a:cs typeface="Times New Roman"/>
              </a:rPr>
              <a:t>English e.g. in Canada </a:t>
            </a:r>
            <a:r>
              <a:rPr dirty="0" sz="1100">
                <a:latin typeface="Times New Roman"/>
                <a:cs typeface="Times New Roman"/>
              </a:rPr>
              <a:t>bilingualism </a:t>
            </a:r>
            <a:r>
              <a:rPr dirty="0" sz="1100" spc="-5">
                <a:latin typeface="Times New Roman"/>
                <a:cs typeface="Times New Roman"/>
              </a:rPr>
              <a:t>with French is mandatory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Phillipson’s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division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Divides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Periphery</a:t>
            </a:r>
            <a:endParaRPr sz="1100">
              <a:latin typeface="Times New Roman"/>
              <a:cs typeface="Times New Roman"/>
            </a:endParaRPr>
          </a:p>
          <a:p>
            <a:pPr marL="12700" marR="407416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Phillipson’s division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speakers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Core</a:t>
            </a:r>
            <a:endParaRPr sz="1100">
              <a:latin typeface="Times New Roman"/>
              <a:cs typeface="Times New Roman"/>
            </a:endParaRPr>
          </a:p>
          <a:p>
            <a:pPr marL="12700" marR="32092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Comprises the same countries as the inner circle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Phillipson’s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division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12700" marR="54279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Periphery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Subdivide</a:t>
            </a:r>
            <a:r>
              <a:rPr dirty="0" sz="1100">
                <a:latin typeface="Times New Roman"/>
                <a:cs typeface="Times New Roman"/>
              </a:rPr>
              <a:t>d</a:t>
            </a:r>
            <a:r>
              <a:rPr dirty="0" sz="1100" spc="-5">
                <a:latin typeface="Times New Roman"/>
                <a:cs typeface="Times New Roman"/>
              </a:rPr>
              <a:t> into: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 link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Japan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Korea</a:t>
            </a:r>
            <a:endParaRPr sz="1100">
              <a:latin typeface="Times New Roman"/>
              <a:cs typeface="Times New Roman"/>
            </a:endParaRPr>
          </a:p>
          <a:p>
            <a:pPr marL="12700" marR="952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Countries that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for various </a:t>
            </a:r>
            <a:r>
              <a:rPr dirty="0" sz="1100" spc="-5">
                <a:latin typeface="Times New Roman"/>
                <a:cs typeface="Times New Roman"/>
              </a:rPr>
              <a:t>intranational </a:t>
            </a:r>
            <a:r>
              <a:rPr dirty="0" sz="1100">
                <a:latin typeface="Times New Roman"/>
                <a:cs typeface="Times New Roman"/>
              </a:rPr>
              <a:t>purposes </a:t>
            </a:r>
            <a:r>
              <a:rPr dirty="0" sz="1100" spc="-5">
                <a:latin typeface="Times New Roman"/>
                <a:cs typeface="Times New Roman"/>
              </a:rPr>
              <a:t>in several </a:t>
            </a:r>
            <a:r>
              <a:rPr dirty="0" sz="1100">
                <a:latin typeface="Times New Roman"/>
                <a:cs typeface="Times New Roman"/>
              </a:rPr>
              <a:t>domains, </a:t>
            </a:r>
            <a:r>
              <a:rPr dirty="0" sz="1100" spc="-5">
                <a:latin typeface="Times New Roman"/>
                <a:cs typeface="Times New Roman"/>
              </a:rPr>
              <a:t>such as </a:t>
            </a:r>
            <a:r>
              <a:rPr dirty="0" sz="1100">
                <a:latin typeface="Times New Roman"/>
                <a:cs typeface="Times New Roman"/>
              </a:rPr>
              <a:t>India, </a:t>
            </a:r>
            <a:r>
              <a:rPr dirty="0" sz="1100" spc="-5">
                <a:latin typeface="Times New Roman"/>
                <a:cs typeface="Times New Roman"/>
              </a:rPr>
              <a:t>Pakistan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Phillipson’s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division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Periphery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desirable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commodity</a:t>
            </a:r>
            <a:endParaRPr sz="1100">
              <a:latin typeface="Times New Roman"/>
              <a:cs typeface="Times New Roman"/>
            </a:endParaRPr>
          </a:p>
          <a:p>
            <a:pPr marL="12700" marR="40741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Linked with social advantage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Phillipson’s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division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replaces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‘displaces’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languages,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both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periphery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taking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serious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domains </a:t>
            </a:r>
            <a:r>
              <a:rPr dirty="0" sz="1100" spc="-5">
                <a:latin typeface="Times New Roman"/>
                <a:cs typeface="Times New Roman"/>
              </a:rPr>
              <a:t>as education </a:t>
            </a:r>
            <a:r>
              <a:rPr dirty="0" sz="1100">
                <a:latin typeface="Times New Roman"/>
                <a:cs typeface="Times New Roman"/>
              </a:rPr>
              <a:t>or government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Factors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responsible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suppressing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onto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Replacing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vernacular</a:t>
            </a:r>
            <a:r>
              <a:rPr dirty="0" sz="1100" spc="-5">
                <a:latin typeface="Times New Roman"/>
                <a:cs typeface="Times New Roman"/>
              </a:rPr>
              <a:t> languages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alters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social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life</a:t>
            </a:r>
            <a:endParaRPr sz="1100">
              <a:latin typeface="Times New Roman"/>
              <a:cs typeface="Times New Roman"/>
            </a:endParaRPr>
          </a:p>
          <a:p>
            <a:pPr marL="12700" marR="38557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privileging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multilingualism</a:t>
            </a:r>
            <a:endParaRPr sz="1100">
              <a:latin typeface="Times New Roman"/>
              <a:cs typeface="Times New Roman"/>
            </a:endParaRPr>
          </a:p>
          <a:p>
            <a:pPr marL="12700" marR="196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Support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United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Nations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Resolutions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human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rights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preservation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diversity</a:t>
            </a:r>
            <a:endParaRPr sz="1100">
              <a:latin typeface="Times New Roman"/>
              <a:cs typeface="Times New Roman"/>
            </a:endParaRPr>
          </a:p>
          <a:p>
            <a:pPr marL="12700" marR="12471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Threat to minority languages equated with </a:t>
            </a:r>
            <a:r>
              <a:rPr dirty="0" sz="1100">
                <a:latin typeface="Times New Roman"/>
                <a:cs typeface="Times New Roman"/>
              </a:rPr>
              <a:t>disturbing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bio-diversity 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planet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195 </a:t>
            </a:r>
            <a:r>
              <a:rPr dirty="0" sz="1100" spc="-5">
                <a:latin typeface="Times New Roman"/>
                <a:cs typeface="Times New Roman"/>
              </a:rPr>
              <a:t>Colonial Education Policy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Colonial Economy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EIL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codifying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colonizers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defined</a:t>
            </a:r>
            <a:r>
              <a:rPr dirty="0" sz="1100" spc="-5">
                <a:latin typeface="Times New Roman"/>
                <a:cs typeface="Times New Roman"/>
              </a:rPr>
              <a:t> what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knowledge</a:t>
            </a:r>
            <a:r>
              <a:rPr dirty="0" sz="1100" spc="-5">
                <a:latin typeface="Times New Roman"/>
                <a:cs typeface="Times New Roman"/>
              </a:rPr>
              <a:t> 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impart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endParaRPr sz="1100">
              <a:latin typeface="Times New Roman"/>
              <a:cs typeface="Times New Roman"/>
            </a:endParaRPr>
          </a:p>
          <a:p>
            <a:pPr marL="12700" marR="410400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Controlled the access to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Anglicism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orientalism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Orientalism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Scholarly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knowledge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Recognition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deep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respect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ancient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east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west</a:t>
            </a:r>
            <a:endParaRPr sz="1100">
              <a:latin typeface="Times New Roman"/>
              <a:cs typeface="Times New Roman"/>
            </a:endParaRPr>
          </a:p>
          <a:p>
            <a:pPr marL="12700" marR="23393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policy or policies </a:t>
            </a:r>
            <a:r>
              <a:rPr dirty="0" sz="1100" spc="-5">
                <a:latin typeface="Times New Roman"/>
                <a:cs typeface="Times New Roman"/>
              </a:rPr>
              <a:t>to encourage indigenous languages in </a:t>
            </a:r>
            <a:r>
              <a:rPr dirty="0" sz="1100">
                <a:latin typeface="Times New Roman"/>
                <a:cs typeface="Times New Roman"/>
              </a:rPr>
              <a:t>India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Anglicism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orientalism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Anglicism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Recognition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developments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western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Recognition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knowledge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useful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practical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360795" cy="9148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 marR="318135">
              <a:lnSpc>
                <a:spcPct val="110200"/>
              </a:lnSpc>
              <a:spcBef>
                <a:spcPts val="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policy </a:t>
            </a:r>
            <a:r>
              <a:rPr dirty="0" sz="1100" spc="-5">
                <a:latin typeface="Times New Roman"/>
                <a:cs typeface="Times New Roman"/>
              </a:rPr>
              <a:t>to substitute English as the medium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acquiring </a:t>
            </a:r>
            <a:r>
              <a:rPr dirty="0" sz="1100">
                <a:latin typeface="Times New Roman"/>
                <a:cs typeface="Times New Roman"/>
              </a:rPr>
              <a:t>knowledge </a:t>
            </a:r>
            <a:r>
              <a:rPr dirty="0" sz="1100" spc="-5">
                <a:latin typeface="Times New Roman"/>
                <a:cs typeface="Times New Roman"/>
              </a:rPr>
              <a:t>at the cost </a:t>
            </a:r>
            <a:r>
              <a:rPr dirty="0" sz="1100">
                <a:latin typeface="Times New Roman"/>
                <a:cs typeface="Times New Roman"/>
              </a:rPr>
              <a:t>of other </a:t>
            </a:r>
            <a:r>
              <a:rPr dirty="0" sz="1100" spc="-5">
                <a:latin typeface="Times New Roman"/>
                <a:cs typeface="Times New Roman"/>
              </a:rPr>
              <a:t>languages.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Anglicism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orientalism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Anglicism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displaced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Orientalism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misconception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co-existed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Manipulated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powers</a:t>
            </a:r>
            <a:endParaRPr sz="1100">
              <a:latin typeface="Times New Roman"/>
              <a:cs typeface="Times New Roman"/>
            </a:endParaRPr>
          </a:p>
          <a:p>
            <a:pPr marL="12700" marR="4305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Produced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English-educated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elite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vernacular-educated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masses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economy’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to </a:t>
            </a:r>
            <a:r>
              <a:rPr dirty="0" sz="1100">
                <a:latin typeface="Times New Roman"/>
                <a:cs typeface="Times New Roman"/>
              </a:rPr>
              <a:t>promote 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Ethical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imperative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Limited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resources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available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minority</a:t>
            </a:r>
            <a:endParaRPr sz="1100">
              <a:latin typeface="Times New Roman"/>
              <a:cs typeface="Times New Roman"/>
            </a:endParaRPr>
          </a:p>
          <a:p>
            <a:pPr marL="12700" marR="407225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Served as interpreters and clerks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promote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Difficulties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inherent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widely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Unavailability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manual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labour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Creation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discontented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Source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anxiety</a:t>
            </a:r>
            <a:endParaRPr sz="1100">
              <a:latin typeface="Times New Roman"/>
              <a:cs typeface="Times New Roman"/>
            </a:endParaRPr>
          </a:p>
          <a:p>
            <a:pPr marL="12700" marR="322707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196 </a:t>
            </a:r>
            <a:r>
              <a:rPr dirty="0" sz="1100" spc="-5">
                <a:latin typeface="Times New Roman"/>
                <a:cs typeface="Times New Roman"/>
              </a:rPr>
              <a:t>Consequence </a:t>
            </a:r>
            <a:r>
              <a:rPr dirty="0" sz="1100">
                <a:latin typeface="Times New Roman"/>
                <a:cs typeface="Times New Roman"/>
              </a:rPr>
              <a:t>of Imperialist </a:t>
            </a:r>
            <a:r>
              <a:rPr dirty="0" sz="1100" spc="-5">
                <a:latin typeface="Times New Roman"/>
                <a:cs typeface="Times New Roman"/>
              </a:rPr>
              <a:t>Language Policy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dividing force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commodity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Wide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availability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would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reduce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Division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peoples</a:t>
            </a:r>
            <a:r>
              <a:rPr dirty="0" sz="1100" spc="-5">
                <a:latin typeface="Times New Roman"/>
                <a:cs typeface="Times New Roman"/>
              </a:rPr>
              <a:t> into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haves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have-nots</a:t>
            </a:r>
            <a:endParaRPr sz="1100">
              <a:latin typeface="Times New Roman"/>
              <a:cs typeface="Times New Roman"/>
            </a:endParaRPr>
          </a:p>
          <a:p>
            <a:pPr marL="12700" marR="332930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Further </a:t>
            </a:r>
            <a:r>
              <a:rPr dirty="0" sz="1100">
                <a:latin typeface="Times New Roman"/>
                <a:cs typeface="Times New Roman"/>
              </a:rPr>
              <a:t>deepened </a:t>
            </a:r>
            <a:r>
              <a:rPr dirty="0" sz="1100" spc="-5">
                <a:latin typeface="Times New Roman"/>
                <a:cs typeface="Times New Roman"/>
              </a:rPr>
              <a:t>the existing social </a:t>
            </a:r>
            <a:r>
              <a:rPr dirty="0" sz="1100">
                <a:latin typeface="Times New Roman"/>
                <a:cs typeface="Times New Roman"/>
              </a:rPr>
              <a:t>divisions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dividing force</a:t>
            </a:r>
            <a:endParaRPr sz="1100">
              <a:latin typeface="Times New Roman"/>
              <a:cs typeface="Times New Roman"/>
            </a:endParaRPr>
          </a:p>
          <a:p>
            <a:pPr marL="12700" marR="6184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Cultural and economic </a:t>
            </a:r>
            <a:r>
              <a:rPr dirty="0" sz="1100">
                <a:latin typeface="Times New Roman"/>
                <a:cs typeface="Times New Roman"/>
              </a:rPr>
              <a:t>disconnection of </a:t>
            </a:r>
            <a:r>
              <a:rPr dirty="0" sz="1100" spc="-5">
                <a:latin typeface="Times New Roman"/>
                <a:cs typeface="Times New Roman"/>
              </a:rPr>
              <a:t>the English educated elite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own background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Expansion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expansion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discourse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regulated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using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description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standardization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Dichotomy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14458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Standardization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one’s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hierarchies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language </a:t>
            </a:r>
            <a:r>
              <a:rPr dirty="0" sz="1100">
                <a:latin typeface="Times New Roman"/>
                <a:cs typeface="Times New Roman"/>
              </a:rPr>
              <a:t>politics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homogeneous</a:t>
            </a:r>
            <a:r>
              <a:rPr dirty="0" sz="1100" spc="-5">
                <a:latin typeface="Times New Roman"/>
                <a:cs typeface="Times New Roman"/>
              </a:rPr>
              <a:t> speech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relationship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objective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endParaRPr sz="1100">
              <a:latin typeface="Times New Roman"/>
              <a:cs typeface="Times New Roman"/>
            </a:endParaRPr>
          </a:p>
          <a:p>
            <a:pPr marL="12700" marR="12712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 assumed connection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language and the </a:t>
            </a:r>
            <a:r>
              <a:rPr dirty="0" sz="1100">
                <a:latin typeface="Times New Roman"/>
                <a:cs typeface="Times New Roman"/>
              </a:rPr>
              <a:t>best representation of </a:t>
            </a:r>
            <a:r>
              <a:rPr dirty="0" sz="1100" spc="-5">
                <a:latin typeface="Times New Roman"/>
                <a:cs typeface="Times New Roman"/>
              </a:rPr>
              <a:t>the world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language </a:t>
            </a:r>
            <a:r>
              <a:rPr dirty="0" sz="1100">
                <a:latin typeface="Times New Roman"/>
                <a:cs typeface="Times New Roman"/>
              </a:rPr>
              <a:t>politics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dependent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relationships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19215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 assumed linguistic system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within which meanings are </a:t>
            </a:r>
            <a:r>
              <a:rPr dirty="0" sz="1100">
                <a:latin typeface="Times New Roman"/>
                <a:cs typeface="Times New Roman"/>
              </a:rPr>
              <a:t>defined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language </a:t>
            </a:r>
            <a:r>
              <a:rPr dirty="0" sz="1100">
                <a:latin typeface="Times New Roman"/>
                <a:cs typeface="Times New Roman"/>
              </a:rPr>
              <a:t>politics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distances</a:t>
            </a:r>
            <a:r>
              <a:rPr dirty="0" sz="1100" spc="-5">
                <a:latin typeface="Times New Roman"/>
                <a:cs typeface="Times New Roman"/>
              </a:rPr>
              <a:t> itself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questions</a:t>
            </a:r>
            <a:r>
              <a:rPr dirty="0" sz="1100" spc="-5">
                <a:latin typeface="Times New Roman"/>
                <a:cs typeface="Times New Roman"/>
              </a:rPr>
              <a:t> concerning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politics</a:t>
            </a:r>
            <a:endParaRPr sz="1100">
              <a:latin typeface="Times New Roman"/>
              <a:cs typeface="Times New Roman"/>
            </a:endParaRPr>
          </a:p>
          <a:p>
            <a:pPr marL="12700" marR="31051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Prescribes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particular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natural,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neutral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beneficial</a:t>
            </a:r>
            <a:endParaRPr sz="1100">
              <a:latin typeface="Times New Roman"/>
              <a:cs typeface="Times New Roman"/>
            </a:endParaRPr>
          </a:p>
          <a:p>
            <a:pPr marL="12700" marR="76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Concentration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notion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abstract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expense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understandings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450215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Linguistics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‘….language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simple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885940" cy="4345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representation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reality,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described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thus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essen</a:t>
            </a:r>
            <a:endParaRPr sz="1100">
              <a:latin typeface="Times New Roman"/>
              <a:cs typeface="Times New Roman"/>
            </a:endParaRPr>
          </a:p>
          <a:p>
            <a:pPr marL="12700" marR="33083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Pennycook as cited in Kachru and Nelson, </a:t>
            </a:r>
            <a:r>
              <a:rPr dirty="0" sz="1100">
                <a:latin typeface="Times New Roman"/>
                <a:cs typeface="Times New Roman"/>
              </a:rPr>
              <a:t>2006, p. 310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197: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Imperialism </a:t>
            </a:r>
            <a:r>
              <a:rPr dirty="0" sz="1100" spc="-5">
                <a:latin typeface="Times New Roman"/>
                <a:cs typeface="Times New Roman"/>
              </a:rPr>
              <a:t>Revisited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World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imperialist </a:t>
            </a:r>
            <a:r>
              <a:rPr dirty="0" sz="1100">
                <a:latin typeface="Times New Roman"/>
                <a:cs typeface="Times New Roman"/>
              </a:rPr>
              <a:t>domination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 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the 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UK</a:t>
            </a:r>
            <a:endParaRPr sz="1100">
              <a:latin typeface="Times New Roman"/>
              <a:cs typeface="Times New Roman"/>
            </a:endParaRPr>
          </a:p>
          <a:p>
            <a:pPr marL="12700" marR="5321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Emergence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economical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subjugation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12700" marR="5276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separate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conscious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 language</a:t>
            </a:r>
            <a:endParaRPr sz="1100">
              <a:latin typeface="Times New Roman"/>
              <a:cs typeface="Times New Roman"/>
            </a:endParaRPr>
          </a:p>
          <a:p>
            <a:pPr marL="12700" marR="5365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represents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culturally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imperialistic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enforcing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its second language learners</a:t>
            </a:r>
            <a:endParaRPr sz="1100">
              <a:latin typeface="Times New Roman"/>
              <a:cs typeface="Times New Roman"/>
            </a:endParaRPr>
          </a:p>
          <a:p>
            <a:pPr marL="12700" marR="52705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"The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that…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uniform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empire-wide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policy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developed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tends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disconfirm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hypothesis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 imperialism as responsible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spread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English…"</a:t>
            </a:r>
            <a:endParaRPr sz="1100">
              <a:latin typeface="Times New Roman"/>
              <a:cs typeface="Times New Roman"/>
            </a:endParaRPr>
          </a:p>
          <a:p>
            <a:pPr marL="12700" marR="538353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(Brutt-Griffler,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2002,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p.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7) 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12700" marR="5334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evidence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distinctive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ideology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concerned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spreading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dependencies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reasons</a:t>
            </a:r>
            <a:endParaRPr sz="1100">
              <a:latin typeface="Times New Roman"/>
              <a:cs typeface="Times New Roman"/>
            </a:endParaRPr>
          </a:p>
          <a:p>
            <a:pPr marL="12700" marR="19919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There is evidence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existence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advocacy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linguistic imperialist </a:t>
            </a:r>
            <a:r>
              <a:rPr dirty="0" sz="1100">
                <a:latin typeface="Times New Roman"/>
                <a:cs typeface="Times New Roman"/>
              </a:rPr>
              <a:t>policy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5">
                <a:latin typeface="Times New Roman"/>
                <a:cs typeface="Times New Roman"/>
              </a:rPr>
              <a:t> should </a:t>
            </a:r>
            <a:r>
              <a:rPr dirty="0" sz="1100">
                <a:latin typeface="Times New Roman"/>
                <a:cs typeface="Times New Roman"/>
              </a:rPr>
              <a:t>display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least some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 features: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4526176"/>
            <a:ext cx="137795" cy="39497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i.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ii.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8900" y="4526176"/>
            <a:ext cx="3089275" cy="394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Universal and exclusive education in English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Replacement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indigenous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5080290"/>
            <a:ext cx="6360795" cy="37198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73507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198: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Imperialism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Revisited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12700" marR="63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sufficient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grounds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identify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empire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12700" marR="101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implies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replaced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supplemented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post-World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phenomenon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phenomenon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began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eighteenth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Effect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cannot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postdate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</a:t>
            </a:r>
            <a:endParaRPr sz="1100">
              <a:latin typeface="Times New Roman"/>
              <a:cs typeface="Times New Roman"/>
            </a:endParaRPr>
          </a:p>
          <a:p>
            <a:pPr marL="12700" marR="18903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Cannot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attributed to the conscious ELT </a:t>
            </a:r>
            <a:r>
              <a:rPr dirty="0" sz="1100">
                <a:latin typeface="Times New Roman"/>
                <a:cs typeface="Times New Roman"/>
              </a:rPr>
              <a:t>policies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 World War </a:t>
            </a:r>
            <a:r>
              <a:rPr dirty="0" sz="1100">
                <a:latin typeface="Times New Roman"/>
                <a:cs typeface="Times New Roman"/>
              </a:rPr>
              <a:t>II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anachronistic concept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asymmetry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former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nations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'third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world,'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inadequate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an explanation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realities</a:t>
            </a:r>
            <a:endParaRPr sz="1100">
              <a:latin typeface="Times New Roman"/>
              <a:cs typeface="Times New Roman"/>
            </a:endParaRPr>
          </a:p>
          <a:p>
            <a:pPr marL="12700" marR="14890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First world' countries with strong languages show willingness to adopt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anachronistic concept</a:t>
            </a:r>
            <a:endParaRPr sz="1100">
              <a:latin typeface="Times New Roman"/>
              <a:cs typeface="Times New Roman"/>
            </a:endParaRPr>
          </a:p>
          <a:p>
            <a:pPr marL="12700" marR="1517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harshest </a:t>
            </a:r>
            <a:r>
              <a:rPr dirty="0" sz="1100" spc="-5">
                <a:latin typeface="Times New Roman"/>
                <a:cs typeface="Times New Roman"/>
              </a:rPr>
              <a:t>attacks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have </a:t>
            </a:r>
            <a:r>
              <a:rPr dirty="0" sz="1100" spc="-5">
                <a:latin typeface="Times New Roman"/>
                <a:cs typeface="Times New Roman"/>
              </a:rPr>
              <a:t>come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countries which </a:t>
            </a:r>
            <a:r>
              <a:rPr dirty="0" sz="1100">
                <a:latin typeface="Times New Roman"/>
                <a:cs typeface="Times New Roman"/>
              </a:rPr>
              <a:t>have no </a:t>
            </a:r>
            <a:r>
              <a:rPr dirty="0" sz="1100" spc="-5">
                <a:latin typeface="Times New Roman"/>
                <a:cs typeface="Times New Roman"/>
              </a:rPr>
              <a:t>such colonial legacy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anachronistic concept</a:t>
            </a:r>
            <a:endParaRPr sz="1100">
              <a:latin typeface="Times New Roman"/>
              <a:cs typeface="Times New Roman"/>
            </a:endParaRPr>
          </a:p>
          <a:p>
            <a:pPr marL="12700" marR="120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learners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access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very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tool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helps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individuals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economies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</a:t>
            </a:r>
            <a:r>
              <a:rPr dirty="0" sz="1100" spc="-5">
                <a:latin typeface="Times New Roman"/>
                <a:cs typeface="Times New Roman"/>
              </a:rPr>
              <a:t> and compete </a:t>
            </a:r>
            <a:r>
              <a:rPr dirty="0" sz="1100">
                <a:latin typeface="Times New Roman"/>
                <a:cs typeface="Times New Roman"/>
              </a:rPr>
              <a:t>globally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61912"/>
            <a:ext cx="5814060" cy="8779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Lesson-34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marL="2035810">
              <a:lnSpc>
                <a:spcPct val="100000"/>
              </a:lnSpc>
            </a:pPr>
            <a:r>
              <a:rPr dirty="0" sz="1400" spc="60">
                <a:latin typeface="Times New Roman"/>
                <a:cs typeface="Times New Roman"/>
              </a:rPr>
              <a:t>World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Englishes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and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60">
                <a:latin typeface="Times New Roman"/>
                <a:cs typeface="Times New Roman"/>
              </a:rPr>
              <a:t>Gender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302895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199: </a:t>
            </a:r>
            <a:r>
              <a:rPr dirty="0" sz="1100" spc="-5">
                <a:latin typeface="Times New Roman"/>
                <a:cs typeface="Times New Roman"/>
              </a:rPr>
              <a:t>World Englishes, Gender and Power </a:t>
            </a:r>
            <a:r>
              <a:rPr dirty="0" sz="1100">
                <a:latin typeface="Times New Roman"/>
                <a:cs typeface="Times New Roman"/>
              </a:rPr>
              <a:t>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Manifestations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power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Ideology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Politics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Imperial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Economy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Knowledge</a:t>
            </a:r>
            <a:endParaRPr sz="1100">
              <a:latin typeface="Times New Roman"/>
              <a:cs typeface="Times New Roman"/>
            </a:endParaRPr>
          </a:p>
          <a:p>
            <a:pPr marL="12700" marR="48240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Nature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Ideological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Cultural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Elitist</a:t>
            </a:r>
            <a:endParaRPr sz="1100">
              <a:latin typeface="Times New Roman"/>
              <a:cs typeface="Times New Roman"/>
            </a:endParaRPr>
          </a:p>
          <a:p>
            <a:pPr marL="12700" marR="382397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globalization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 of: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political,</a:t>
            </a:r>
            <a:r>
              <a:rPr dirty="0" sz="1100" spc="-5">
                <a:latin typeface="Times New Roman"/>
                <a:cs typeface="Times New Roman"/>
              </a:rPr>
              <a:t> economic,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-5">
                <a:latin typeface="Times New Roman"/>
                <a:cs typeface="Times New Roman"/>
              </a:rPr>
              <a:t> associated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important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domains</a:t>
            </a:r>
            <a:endParaRPr sz="1100">
              <a:latin typeface="Times New Roman"/>
              <a:cs typeface="Times New Roman"/>
            </a:endParaRPr>
          </a:p>
          <a:p>
            <a:pPr marL="12700" marR="32289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Roles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performs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promotion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covert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endParaRPr sz="1100">
              <a:latin typeface="Times New Roman"/>
              <a:cs typeface="Times New Roman"/>
            </a:endParaRPr>
          </a:p>
          <a:p>
            <a:pPr marL="12700" marR="19685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Responsible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unequal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distribution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resources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Exercising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 through 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Displacing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Planting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empire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place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Rejecting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impurities</a:t>
            </a:r>
            <a:endParaRPr sz="1100">
              <a:latin typeface="Times New Roman"/>
              <a:cs typeface="Times New Roman"/>
            </a:endParaRPr>
          </a:p>
          <a:p>
            <a:pPr marL="12700" marR="19094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Installing </a:t>
            </a:r>
            <a:r>
              <a:rPr dirty="0" sz="1100" spc="-5">
                <a:latin typeface="Times New Roman"/>
                <a:cs typeface="Times New Roman"/>
              </a:rPr>
              <a:t>the language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imperial </a:t>
            </a:r>
            <a:r>
              <a:rPr dirty="0" sz="1100">
                <a:latin typeface="Times New Roman"/>
                <a:cs typeface="Times New Roman"/>
              </a:rPr>
              <a:t>powers </a:t>
            </a:r>
            <a:r>
              <a:rPr dirty="0" sz="1100" spc="-5">
                <a:latin typeface="Times New Roman"/>
                <a:cs typeface="Times New Roman"/>
              </a:rPr>
              <a:t>as the standard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Exercising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 through 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Gendering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Perpetuating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hierarchies</a:t>
            </a:r>
            <a:endParaRPr sz="1100">
              <a:latin typeface="Times New Roman"/>
              <a:cs typeface="Times New Roman"/>
            </a:endParaRPr>
          </a:p>
          <a:p>
            <a:pPr algn="just" marL="12700" marR="29825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Contributing to certain types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inequality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200: </a:t>
            </a:r>
            <a:r>
              <a:rPr dirty="0" sz="1100" spc="-5">
                <a:latin typeface="Times New Roman"/>
                <a:cs typeface="Times New Roman"/>
              </a:rPr>
              <a:t>World Englishes, Gender and Power </a:t>
            </a:r>
            <a:r>
              <a:rPr dirty="0" sz="1100">
                <a:latin typeface="Times New Roman"/>
                <a:cs typeface="Times New Roman"/>
              </a:rPr>
              <a:t>II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social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life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“Language provides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terms</a:t>
            </a:r>
            <a:r>
              <a:rPr dirty="0" sz="1100">
                <a:latin typeface="Times New Roman"/>
                <a:cs typeface="Times New Roman"/>
              </a:rPr>
              <a:t> by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reality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constituted”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0"/>
              </a:spcBef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-	</a:t>
            </a:r>
            <a:r>
              <a:rPr dirty="0" sz="1100" spc="-5">
                <a:latin typeface="Times New Roman"/>
                <a:cs typeface="Times New Roman"/>
              </a:rPr>
              <a:t>Ashcroft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Kachru,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---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shapes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endParaRPr sz="1100">
              <a:latin typeface="Times New Roman"/>
              <a:cs typeface="Times New Roman"/>
            </a:endParaRPr>
          </a:p>
          <a:p>
            <a:pPr marL="12700" marR="18942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 raises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awareness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 women’s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place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gender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1970s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Efforts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bias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71590" cy="870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165725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1980s-1990s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gender</a:t>
            </a:r>
            <a:r>
              <a:rPr dirty="0" sz="1100" spc="-5">
                <a:latin typeface="Times New Roman"/>
                <a:cs typeface="Times New Roman"/>
              </a:rPr>
              <a:t> inequity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replaced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endParaRPr sz="1100">
              <a:latin typeface="Times New Roman"/>
              <a:cs typeface="Times New Roman"/>
            </a:endParaRPr>
          </a:p>
          <a:p>
            <a:pPr marL="12700" marR="7499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Women’s 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language</a:t>
            </a:r>
            <a:endParaRPr sz="1100">
              <a:latin typeface="Times New Roman"/>
              <a:cs typeface="Times New Roman"/>
            </a:endParaRPr>
          </a:p>
          <a:p>
            <a:pPr marL="4699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1980s-1990s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commodity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genders</a:t>
            </a:r>
            <a:endParaRPr sz="1100">
              <a:latin typeface="Times New Roman"/>
              <a:cs typeface="Times New Roman"/>
            </a:endParaRPr>
          </a:p>
          <a:p>
            <a:pPr marL="12700" marR="7499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Women’s 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language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Contemporary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scope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broadened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Multilingual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Postcolonial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endParaRPr sz="1100">
              <a:latin typeface="Times New Roman"/>
              <a:cs typeface="Times New Roman"/>
            </a:endParaRPr>
          </a:p>
          <a:p>
            <a:pPr marL="12700" marR="42437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Diglossic linguistic situations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Femaleness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maleness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constructions</a:t>
            </a:r>
            <a:endParaRPr sz="1100">
              <a:latin typeface="Times New Roman"/>
              <a:cs typeface="Times New Roman"/>
            </a:endParaRPr>
          </a:p>
          <a:p>
            <a:pPr marL="12700" marR="13430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helping </a:t>
            </a:r>
            <a:r>
              <a:rPr dirty="0" sz="1100" spc="-5">
                <a:latin typeface="Times New Roman"/>
                <a:cs typeface="Times New Roman"/>
              </a:rPr>
              <a:t>to constitute </a:t>
            </a:r>
            <a:r>
              <a:rPr dirty="0" sz="1100">
                <a:latin typeface="Times New Roman"/>
                <a:cs typeface="Times New Roman"/>
              </a:rPr>
              <a:t>gender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global </a:t>
            </a:r>
            <a:r>
              <a:rPr dirty="0" sz="1100" spc="-5">
                <a:latin typeface="Times New Roman"/>
                <a:cs typeface="Times New Roman"/>
              </a:rPr>
              <a:t>and local multilinguistic contexts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201: </a:t>
            </a:r>
            <a:r>
              <a:rPr dirty="0" sz="1100" spc="-5">
                <a:latin typeface="Times New Roman"/>
                <a:cs typeface="Times New Roman"/>
              </a:rPr>
              <a:t>World Englishes, Gender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 </a:t>
            </a:r>
            <a:r>
              <a:rPr dirty="0" sz="1100">
                <a:latin typeface="Times New Roman"/>
                <a:cs typeface="Times New Roman"/>
              </a:rPr>
              <a:t>III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equal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exercise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explored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examining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bilingual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women’s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relationships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Women’s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access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dominant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affected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various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pressures: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economic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gender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familial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Women’s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marginalization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displacement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Women,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reshape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various</a:t>
            </a:r>
            <a:r>
              <a:rPr dirty="0" sz="1100" spc="-5">
                <a:latin typeface="Times New Roman"/>
                <a:cs typeface="Times New Roman"/>
              </a:rPr>
              <a:t> communities</a:t>
            </a:r>
            <a:endParaRPr sz="1100">
              <a:latin typeface="Times New Roman"/>
              <a:cs typeface="Times New Roman"/>
            </a:endParaRPr>
          </a:p>
          <a:p>
            <a:pPr marL="12700" marR="23609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Act more </a:t>
            </a:r>
            <a:r>
              <a:rPr dirty="0" sz="1100">
                <a:latin typeface="Times New Roman"/>
                <a:cs typeface="Times New Roman"/>
              </a:rPr>
              <a:t>favorably </a:t>
            </a:r>
            <a:r>
              <a:rPr dirty="0" sz="1100" spc="-5">
                <a:latin typeface="Times New Roman"/>
                <a:cs typeface="Times New Roman"/>
              </a:rPr>
              <a:t>toward</a:t>
            </a:r>
            <a:r>
              <a:rPr dirty="0" sz="1100">
                <a:latin typeface="Times New Roman"/>
                <a:cs typeface="Times New Roman"/>
              </a:rPr>
              <a:t> prestigious </a:t>
            </a:r>
            <a:r>
              <a:rPr dirty="0" sz="1100" spc="-5">
                <a:latin typeface="Times New Roman"/>
                <a:cs typeface="Times New Roman"/>
              </a:rPr>
              <a:t>languages and </a:t>
            </a:r>
            <a:r>
              <a:rPr dirty="0" sz="1100">
                <a:latin typeface="Times New Roman"/>
                <a:cs typeface="Times New Roman"/>
              </a:rPr>
              <a:t>varieties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world 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importance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advantages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being</a:t>
            </a:r>
            <a:r>
              <a:rPr dirty="0" sz="1100" spc="-5">
                <a:latin typeface="Times New Roman"/>
                <a:cs typeface="Times New Roman"/>
              </a:rPr>
              <a:t> multilingual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opportunities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endParaRPr sz="1100">
              <a:latin typeface="Times New Roman"/>
              <a:cs typeface="Times New Roman"/>
            </a:endParaRPr>
          </a:p>
          <a:p>
            <a:pPr marL="12700" marR="45123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Enhance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Gain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Construct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5">
                <a:latin typeface="Times New Roman"/>
                <a:cs typeface="Times New Roman"/>
              </a:rPr>
              <a:t> 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powerful</a:t>
            </a:r>
            <a:r>
              <a:rPr dirty="0" sz="1100" spc="-5">
                <a:latin typeface="Times New Roman"/>
                <a:cs typeface="Times New Roman"/>
              </a:rPr>
              <a:t> identity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171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Influence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increasing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formal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functional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wider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endParaRPr sz="1100">
              <a:latin typeface="Times New Roman"/>
              <a:cs typeface="Times New Roman"/>
            </a:endParaRPr>
          </a:p>
          <a:p>
            <a:pPr marL="12700" marR="4056379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202 </a:t>
            </a:r>
            <a:r>
              <a:rPr dirty="0" sz="1100" spc="-5">
                <a:latin typeface="Times New Roman"/>
                <a:cs typeface="Times New Roman"/>
              </a:rPr>
              <a:t>Bilingual Women’s Creativity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Bilingual’s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creativity</a:t>
            </a:r>
            <a:endParaRPr sz="1100">
              <a:latin typeface="Times New Roman"/>
              <a:cs typeface="Times New Roman"/>
            </a:endParaRPr>
          </a:p>
          <a:p>
            <a:pPr marL="12700" marR="85979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“those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result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languages”.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Kachru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cited in Kachru, B. </a:t>
            </a:r>
            <a:r>
              <a:rPr dirty="0" sz="1100">
                <a:latin typeface="Times New Roman"/>
                <a:cs typeface="Times New Roman"/>
              </a:rPr>
              <a:t>,Kachru,</a:t>
            </a:r>
            <a:r>
              <a:rPr dirty="0" sz="1100" spc="-5">
                <a:latin typeface="Times New Roman"/>
                <a:cs typeface="Times New Roman"/>
              </a:rPr>
              <a:t> Y. </a:t>
            </a:r>
            <a:r>
              <a:rPr dirty="0" sz="1100">
                <a:latin typeface="Times New Roman"/>
                <a:cs typeface="Times New Roman"/>
              </a:rPr>
              <a:t>&amp;</a:t>
            </a:r>
            <a:r>
              <a:rPr dirty="0" sz="1100" spc="-5">
                <a:latin typeface="Times New Roman"/>
                <a:cs typeface="Times New Roman"/>
              </a:rPr>
              <a:t> Nelson, </a:t>
            </a:r>
            <a:r>
              <a:rPr dirty="0" sz="1100">
                <a:latin typeface="Times New Roman"/>
                <a:cs typeface="Times New Roman"/>
              </a:rPr>
              <a:t>2006, p.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572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Sociolinguistic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dimension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Views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 of</a:t>
            </a:r>
            <a:r>
              <a:rPr dirty="0" sz="1100" spc="-5">
                <a:latin typeface="Times New Roman"/>
                <a:cs typeface="Times New Roman"/>
              </a:rPr>
              <a:t> creativity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acculturation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nativization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inthe Outer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Recognizes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discourse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strategies,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stylistic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innovations,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acts,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mixing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5240" cy="870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89077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code switching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Sociolinguisti</a:t>
            </a:r>
            <a:r>
              <a:rPr dirty="0" sz="1100">
                <a:latin typeface="Times New Roman"/>
                <a:cs typeface="Times New Roman"/>
              </a:rPr>
              <a:t>c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dimension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Multilingual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5">
                <a:latin typeface="Times New Roman"/>
                <a:cs typeface="Times New Roman"/>
              </a:rPr>
              <a:t> manipulating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resources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Generate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5">
                <a:latin typeface="Times New Roman"/>
                <a:cs typeface="Times New Roman"/>
              </a:rPr>
              <a:t> meanings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bilingual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bicultural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competences</a:t>
            </a:r>
            <a:endParaRPr sz="1100">
              <a:latin typeface="Times New Roman"/>
              <a:cs typeface="Times New Roman"/>
            </a:endParaRPr>
          </a:p>
          <a:p>
            <a:pPr marL="12700" marR="13569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forms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functions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both </a:t>
            </a:r>
            <a:r>
              <a:rPr dirty="0" sz="1100" spc="-5">
                <a:latin typeface="Times New Roman"/>
                <a:cs typeface="Times New Roman"/>
              </a:rPr>
              <a:t>spoken and written </a:t>
            </a:r>
            <a:r>
              <a:rPr dirty="0" sz="1100">
                <a:latin typeface="Times New Roman"/>
                <a:cs typeface="Times New Roman"/>
              </a:rPr>
              <a:t>discourse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Politeness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gender </a:t>
            </a:r>
            <a:r>
              <a:rPr dirty="0" sz="1100" spc="-5">
                <a:latin typeface="Times New Roman"/>
                <a:cs typeface="Times New Roman"/>
              </a:rPr>
              <a:t>identities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Politeness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lays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respectful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Females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endParaRPr sz="1100">
              <a:latin typeface="Times New Roman"/>
              <a:cs typeface="Times New Roman"/>
            </a:endParaRPr>
          </a:p>
          <a:p>
            <a:pPr marL="12700" marR="32061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Women seek 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polite by using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Bilingual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meet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Ensure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themselves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familites</a:t>
            </a:r>
            <a:endParaRPr sz="1100">
              <a:latin typeface="Times New Roman"/>
              <a:cs typeface="Times New Roman"/>
            </a:endParaRPr>
          </a:p>
          <a:p>
            <a:pPr marL="12700" marR="28543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Strengthen the status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 world communities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English-speaking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bilingual</a:t>
            </a:r>
            <a:r>
              <a:rPr dirty="0" sz="1100" spc="-5">
                <a:latin typeface="Times New Roman"/>
                <a:cs typeface="Times New Roman"/>
              </a:rPr>
              <a:t> women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innovators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Advancing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progress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196151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Help it to </a:t>
            </a:r>
            <a:r>
              <a:rPr dirty="0" sz="1100">
                <a:latin typeface="Times New Roman"/>
                <a:cs typeface="Times New Roman"/>
              </a:rPr>
              <a:t>gain </a:t>
            </a:r>
            <a:r>
              <a:rPr dirty="0" sz="1100" spc="-5">
                <a:latin typeface="Times New Roman"/>
                <a:cs typeface="Times New Roman"/>
              </a:rPr>
              <a:t>acceptance and importance along with </a:t>
            </a:r>
            <a:r>
              <a:rPr dirty="0" sz="1100">
                <a:latin typeface="Times New Roman"/>
                <a:cs typeface="Times New Roman"/>
              </a:rPr>
              <a:t>regional dialects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English</a:t>
            </a:r>
            <a:endParaRPr sz="1100">
              <a:latin typeface="Times New Roman"/>
              <a:cs typeface="Times New Roman"/>
            </a:endParaRPr>
          </a:p>
          <a:p>
            <a:pPr marL="12700" marR="4381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Play </a:t>
            </a:r>
            <a:r>
              <a:rPr dirty="0" sz="1100">
                <a:latin typeface="Times New Roman"/>
                <a:cs typeface="Times New Roman"/>
              </a:rPr>
              <a:t>a key role </a:t>
            </a:r>
            <a:r>
              <a:rPr dirty="0" sz="1100" spc="-5">
                <a:latin typeface="Times New Roman"/>
                <a:cs typeface="Times New Roman"/>
              </a:rPr>
              <a:t>in the transmission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 world contexts and in constructing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identities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203 </a:t>
            </a: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Bilingual’s Writing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differences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functioning</a:t>
            </a:r>
            <a:r>
              <a:rPr dirty="0" sz="1100" spc="-5">
                <a:latin typeface="Times New Roman"/>
                <a:cs typeface="Times New Roman"/>
              </a:rPr>
              <a:t>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shaping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pluralism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specific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discourse</a:t>
            </a:r>
            <a:r>
              <a:rPr dirty="0" sz="1100" spc="-5">
                <a:latin typeface="Times New Roman"/>
                <a:cs typeface="Times New Roman"/>
              </a:rPr>
              <a:t> studies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illustrate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sociocultural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dimensions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  <a:p>
            <a:pPr marL="12700" marR="25615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Gender emerges as </a:t>
            </a:r>
            <a:r>
              <a:rPr dirty="0" sz="1100">
                <a:latin typeface="Times New Roman"/>
                <a:cs typeface="Times New Roman"/>
              </a:rPr>
              <a:t>a factor </a:t>
            </a:r>
            <a:r>
              <a:rPr dirty="0" sz="1100" spc="-5">
                <a:latin typeface="Times New Roman"/>
                <a:cs typeface="Times New Roman"/>
              </a:rPr>
              <a:t>impacting the spread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differences </a:t>
            </a:r>
            <a:r>
              <a:rPr dirty="0" sz="1100" spc="-5">
                <a:latin typeface="Times New Roman"/>
                <a:cs typeface="Times New Roman"/>
              </a:rPr>
              <a:t>in 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men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observable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12700" marR="13214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Bilinguals’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creativity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essential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exponent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Nativization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bilingual’s writing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Aspects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most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demonstrating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nativizing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gender: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Forms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reference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Abuses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insults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Indirectness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Politeness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patterns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Nativization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gender 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bilingual’s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circle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transfer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gender</a:t>
            </a:r>
            <a:endParaRPr sz="1100">
              <a:latin typeface="Times New Roman"/>
              <a:cs typeface="Times New Roman"/>
            </a:endParaRPr>
          </a:p>
          <a:p>
            <a:pPr marL="12700" marR="3035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local sociocultural </a:t>
            </a:r>
            <a:r>
              <a:rPr dirty="0" sz="1100">
                <a:latin typeface="Times New Roman"/>
                <a:cs typeface="Times New Roman"/>
              </a:rPr>
              <a:t>patterns, notions, </a:t>
            </a:r>
            <a:r>
              <a:rPr dirty="0" sz="1100" spc="-5">
                <a:latin typeface="Times New Roman"/>
                <a:cs typeface="Times New Roman"/>
              </a:rPr>
              <a:t>and ideas are </a:t>
            </a:r>
            <a:r>
              <a:rPr dirty="0" sz="1100">
                <a:latin typeface="Times New Roman"/>
                <a:cs typeface="Times New Roman"/>
              </a:rPr>
              <a:t>reflected </a:t>
            </a:r>
            <a:r>
              <a:rPr dirty="0" sz="1100" spc="-5">
                <a:latin typeface="Times New Roman"/>
                <a:cs typeface="Times New Roman"/>
              </a:rPr>
              <a:t>in an indigenized </a:t>
            </a:r>
            <a:r>
              <a:rPr dirty="0" sz="1100">
                <a:latin typeface="Times New Roman"/>
                <a:cs typeface="Times New Roman"/>
              </a:rPr>
              <a:t>variety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Nativization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bilingual’s writing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adapt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endParaRPr sz="1100">
              <a:latin typeface="Times New Roman"/>
              <a:cs typeface="Times New Roman"/>
            </a:endParaRPr>
          </a:p>
          <a:p>
            <a:pPr marL="12700" marR="11398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variation produces </a:t>
            </a:r>
            <a:r>
              <a:rPr dirty="0" sz="1100" spc="-5">
                <a:latin typeface="Times New Roman"/>
                <a:cs typeface="Times New Roman"/>
              </a:rPr>
              <a:t>culturally </a:t>
            </a:r>
            <a:r>
              <a:rPr dirty="0" sz="1100">
                <a:latin typeface="Times New Roman"/>
                <a:cs typeface="Times New Roman"/>
              </a:rPr>
              <a:t>distinctive </a:t>
            </a:r>
            <a:r>
              <a:rPr dirty="0" sz="1100" spc="-5">
                <a:latin typeface="Times New Roman"/>
                <a:cs typeface="Times New Roman"/>
              </a:rPr>
              <a:t>writing in multilinguistic societies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Marginalization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bilingual female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marginalized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gender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their choice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writing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English</a:t>
            </a:r>
            <a:endParaRPr sz="1100">
              <a:latin typeface="Times New Roman"/>
              <a:cs typeface="Times New Roman"/>
            </a:endParaRPr>
          </a:p>
          <a:p>
            <a:pPr marL="12700" marR="33140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Choice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oppressiveness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204 </a:t>
            </a: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across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genders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0160" cy="879411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believed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sensitive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speech.</a:t>
            </a:r>
            <a:endParaRPr sz="1100">
              <a:latin typeface="Times New Roman"/>
              <a:cs typeface="Times New Roman"/>
            </a:endParaRPr>
          </a:p>
          <a:p>
            <a:pPr marL="12700" marR="13843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Women show more stylistic </a:t>
            </a:r>
            <a:r>
              <a:rPr dirty="0" sz="1100">
                <a:latin typeface="Times New Roman"/>
                <a:cs typeface="Times New Roman"/>
              </a:rPr>
              <a:t>variation </a:t>
            </a:r>
            <a:r>
              <a:rPr dirty="0" sz="1100" spc="-5">
                <a:latin typeface="Times New Roman"/>
                <a:cs typeface="Times New Roman"/>
              </a:rPr>
              <a:t>than men in more </a:t>
            </a:r>
            <a:r>
              <a:rPr dirty="0" sz="1100">
                <a:latin typeface="Times New Roman"/>
                <a:cs typeface="Times New Roman"/>
              </a:rPr>
              <a:t>formal </a:t>
            </a:r>
            <a:r>
              <a:rPr dirty="0" sz="1100" spc="-5">
                <a:latin typeface="Times New Roman"/>
                <a:cs typeface="Times New Roman"/>
              </a:rPr>
              <a:t>speech situations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language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across </a:t>
            </a:r>
            <a:r>
              <a:rPr dirty="0" sz="1100">
                <a:latin typeface="Times New Roman"/>
                <a:cs typeface="Times New Roman"/>
              </a:rPr>
              <a:t>genders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  <a:tab pos="501904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  in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non-standard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forms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  the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adolescent  </a:t>
            </a:r>
            <a:r>
              <a:rPr dirty="0" sz="1100">
                <a:latin typeface="Times New Roman"/>
                <a:cs typeface="Times New Roman"/>
              </a:rPr>
              <a:t>boys	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decrease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adolescent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girls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across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genders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perception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quite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social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spaces</a:t>
            </a:r>
            <a:endParaRPr sz="1100">
              <a:latin typeface="Times New Roman"/>
              <a:cs typeface="Times New Roman"/>
            </a:endParaRPr>
          </a:p>
          <a:p>
            <a:pPr marL="12700" marR="19697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They are treated </a:t>
            </a:r>
            <a:r>
              <a:rPr dirty="0" sz="1100">
                <a:latin typeface="Times New Roman"/>
                <a:cs typeface="Times New Roman"/>
              </a:rPr>
              <a:t>differently </a:t>
            </a:r>
            <a:r>
              <a:rPr dirty="0" sz="1100" spc="-5">
                <a:latin typeface="Times New Roman"/>
                <a:cs typeface="Times New Roman"/>
              </a:rPr>
              <a:t>even in those social slots that are identical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language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across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genders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women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accustomed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sets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contextually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defined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interaction</a:t>
            </a:r>
            <a:endParaRPr sz="1100">
              <a:latin typeface="Times New Roman"/>
              <a:cs typeface="Times New Roman"/>
            </a:endParaRPr>
          </a:p>
          <a:p>
            <a:pPr marL="12700" marR="10680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These norms</a:t>
            </a:r>
            <a:r>
              <a:rPr dirty="0" sz="1100">
                <a:latin typeface="Times New Roman"/>
                <a:cs typeface="Times New Roman"/>
              </a:rPr>
              <a:t> form </a:t>
            </a:r>
            <a:r>
              <a:rPr dirty="0" sz="1100" spc="-5">
                <a:latin typeface="Times New Roman"/>
                <a:cs typeface="Times New Roman"/>
              </a:rPr>
              <a:t>the basis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own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judgement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others’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language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across </a:t>
            </a:r>
            <a:r>
              <a:rPr dirty="0" sz="1100">
                <a:latin typeface="Times New Roman"/>
                <a:cs typeface="Times New Roman"/>
              </a:rPr>
              <a:t>genders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Girls,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older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realization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responsibilities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adulthood</a:t>
            </a:r>
            <a:endParaRPr sz="1100">
              <a:latin typeface="Times New Roman"/>
              <a:cs typeface="Times New Roman"/>
            </a:endParaRPr>
          </a:p>
          <a:p>
            <a:pPr marL="12700" marR="23749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 awareness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need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fit </a:t>
            </a:r>
            <a:r>
              <a:rPr dirty="0" sz="1100" spc="-5">
                <a:latin typeface="Times New Roman"/>
                <a:cs typeface="Times New Roman"/>
              </a:rPr>
              <a:t>in and conform to social </a:t>
            </a:r>
            <a:r>
              <a:rPr dirty="0" sz="1100">
                <a:latin typeface="Times New Roman"/>
                <a:cs typeface="Times New Roman"/>
              </a:rPr>
              <a:t>norms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language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across </a:t>
            </a:r>
            <a:r>
              <a:rPr dirty="0" sz="1100">
                <a:latin typeface="Times New Roman"/>
                <a:cs typeface="Times New Roman"/>
              </a:rPr>
              <a:t>genders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Boys,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older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desire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assertion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toughness</a:t>
            </a:r>
            <a:endParaRPr sz="1100">
              <a:latin typeface="Times New Roman"/>
              <a:cs typeface="Times New Roman"/>
            </a:endParaRPr>
          </a:p>
          <a:p>
            <a:pPr marL="12700" marR="411352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unwillingness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dictated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Decline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non-standard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forms</a:t>
            </a:r>
            <a:r>
              <a:rPr dirty="0" sz="1100" spc="-5">
                <a:latin typeface="Times New Roman"/>
                <a:cs typeface="Times New Roman"/>
              </a:rPr>
              <a:t> 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female</a:t>
            </a:r>
            <a:r>
              <a:rPr dirty="0" sz="1100" spc="-5">
                <a:latin typeface="Times New Roman"/>
                <a:cs typeface="Times New Roman"/>
              </a:rPr>
              <a:t> adolescents</a:t>
            </a:r>
            <a:endParaRPr sz="1100">
              <a:latin typeface="Times New Roman"/>
              <a:cs typeface="Times New Roman"/>
            </a:endParaRPr>
          </a:p>
          <a:p>
            <a:pPr marL="12700" marR="76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adolescents,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either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decline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slight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non-standard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algn="r" marR="551180">
              <a:lnSpc>
                <a:spcPct val="100000"/>
              </a:lnSpc>
              <a:spcBef>
                <a:spcPts val="114"/>
              </a:spcBef>
            </a:pPr>
            <a:r>
              <a:rPr dirty="0" sz="1400" spc="10">
                <a:latin typeface="Times New Roman"/>
                <a:cs typeface="Times New Roman"/>
              </a:rPr>
              <a:t>Lesson-35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32384">
              <a:lnSpc>
                <a:spcPct val="100000"/>
              </a:lnSpc>
              <a:spcBef>
                <a:spcPts val="5"/>
              </a:spcBef>
            </a:pPr>
            <a:r>
              <a:rPr dirty="0" sz="1400" spc="45">
                <a:latin typeface="Times New Roman"/>
                <a:cs typeface="Times New Roman"/>
              </a:rPr>
              <a:t>The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Pedagogy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60">
                <a:latin typeface="Times New Roman"/>
                <a:cs typeface="Times New Roman"/>
              </a:rPr>
              <a:t>World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Englishes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 marR="4284345">
              <a:lnSpc>
                <a:spcPct val="110200"/>
              </a:lnSpc>
              <a:spcBef>
                <a:spcPts val="1070"/>
              </a:spcBef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205 </a:t>
            </a:r>
            <a:r>
              <a:rPr dirty="0" sz="1100" spc="-5">
                <a:latin typeface="Times New Roman"/>
                <a:cs typeface="Times New Roman"/>
              </a:rPr>
              <a:t>Teaching WorldEnglishes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Gender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12700" marR="698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regard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educated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Concerns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Conflict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prescriptivism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creativity</a:t>
            </a:r>
            <a:endParaRPr sz="1100">
              <a:latin typeface="Times New Roman"/>
              <a:cs typeface="Times New Roman"/>
            </a:endParaRPr>
          </a:p>
          <a:p>
            <a:pPr marL="12700" marR="39878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Issues of </a:t>
            </a:r>
            <a:r>
              <a:rPr dirty="0" sz="1100" spc="-5">
                <a:latin typeface="Times New Roman"/>
                <a:cs typeface="Times New Roman"/>
              </a:rPr>
              <a:t>intelligibility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Misconceptions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becoming</a:t>
            </a:r>
            <a:r>
              <a:rPr dirty="0" sz="1100" spc="-5">
                <a:latin typeface="Times New Roman"/>
                <a:cs typeface="Times New Roman"/>
              </a:rPr>
              <a:t> involved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Inner-Circle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Inner</a:t>
            </a:r>
            <a:r>
              <a:rPr dirty="0" sz="1100" spc="-5">
                <a:latin typeface="Times New Roman"/>
                <a:cs typeface="Times New Roman"/>
              </a:rPr>
              <a:t> circle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large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amount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contribution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Outer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Expanding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Circles</a:t>
            </a:r>
            <a:endParaRPr sz="1100">
              <a:latin typeface="Times New Roman"/>
              <a:cs typeface="Times New Roman"/>
            </a:endParaRPr>
          </a:p>
          <a:p>
            <a:pPr marL="12700" marR="20961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Global </a:t>
            </a:r>
            <a:r>
              <a:rPr dirty="0" sz="1100">
                <a:latin typeface="Times New Roman"/>
                <a:cs typeface="Times New Roman"/>
              </a:rPr>
              <a:t>users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desire </a:t>
            </a:r>
            <a:r>
              <a:rPr dirty="0" sz="1100" spc="-5">
                <a:latin typeface="Times New Roman"/>
                <a:cs typeface="Times New Roman"/>
              </a:rPr>
              <a:t>to speak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write like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Misconceptions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 the </a:t>
            </a:r>
            <a:r>
              <a:rPr dirty="0" sz="1100">
                <a:latin typeface="Times New Roman"/>
                <a:cs typeface="Times New Roman"/>
              </a:rPr>
              <a:t>realities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accommodation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professionals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encourage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endParaRPr sz="1100">
              <a:latin typeface="Times New Roman"/>
              <a:cs typeface="Times New Roman"/>
            </a:endParaRPr>
          </a:p>
          <a:p>
            <a:pPr marL="12700" marR="175387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responsibility</a:t>
            </a:r>
            <a:r>
              <a:rPr dirty="0" sz="1100">
                <a:latin typeface="Times New Roman"/>
                <a:cs typeface="Times New Roman"/>
              </a:rPr>
              <a:t> not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creativity,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help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shape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awareness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others 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less complacency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 ‘my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296025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Misconceptions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Encourage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according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</a:t>
            </a:r>
            <a:r>
              <a:rPr dirty="0" sz="1100" spc="-5">
                <a:latin typeface="Times New Roman"/>
                <a:cs typeface="Times New Roman"/>
              </a:rPr>
              <a:t> context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professionals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encourage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12700" marR="29972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 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aware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others’ varieities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Engliiiish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Misconceptions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realities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satisfactory</a:t>
            </a:r>
            <a:endParaRPr sz="1100">
              <a:latin typeface="Times New Roman"/>
              <a:cs typeface="Times New Roman"/>
            </a:endParaRPr>
          </a:p>
          <a:p>
            <a:pPr marL="12700" marR="20034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206 Implications of </a:t>
            </a:r>
            <a:r>
              <a:rPr dirty="0" sz="1100" spc="-5">
                <a:latin typeface="Times New Roman"/>
                <a:cs typeface="Times New Roman"/>
              </a:rPr>
              <a:t>English language </a:t>
            </a:r>
            <a:r>
              <a:rPr dirty="0" sz="1100">
                <a:latin typeface="Times New Roman"/>
                <a:cs typeface="Times New Roman"/>
              </a:rPr>
              <a:t>varieties for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pedagogy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bilingual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(other</a:t>
            </a:r>
            <a:r>
              <a:rPr dirty="0" sz="1100" spc="-5">
                <a:latin typeface="Times New Roman"/>
                <a:cs typeface="Times New Roman"/>
              </a:rPr>
              <a:t> 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 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Celtic languages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32232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Outer circle Englishes in multilingual contexts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bilingual</a:t>
            </a:r>
            <a:r>
              <a:rPr dirty="0" sz="1100" spc="-5">
                <a:latin typeface="Times New Roman"/>
                <a:cs typeface="Times New Roman"/>
              </a:rPr>
              <a:t> contexts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Influence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substrate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12700" marR="23818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influence is </a:t>
            </a:r>
            <a:r>
              <a:rPr dirty="0" sz="1100">
                <a:latin typeface="Times New Roman"/>
                <a:cs typeface="Times New Roman"/>
              </a:rPr>
              <a:t>observed </a:t>
            </a:r>
            <a:r>
              <a:rPr dirty="0" sz="1100" spc="-5">
                <a:latin typeface="Times New Roman"/>
                <a:cs typeface="Times New Roman"/>
              </a:rPr>
              <a:t>at the indigenously </a:t>
            </a:r>
            <a:r>
              <a:rPr dirty="0" sz="1100">
                <a:latin typeface="Times New Roman"/>
                <a:cs typeface="Times New Roman"/>
              </a:rPr>
              <a:t>functional </a:t>
            </a:r>
            <a:r>
              <a:rPr dirty="0" sz="1100" spc="-5">
                <a:latin typeface="Times New Roman"/>
                <a:cs typeface="Times New Roman"/>
              </a:rPr>
              <a:t>level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Dilemma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faced by outer</a:t>
            </a:r>
            <a:r>
              <a:rPr dirty="0" sz="1100" spc="-5">
                <a:latin typeface="Times New Roman"/>
                <a:cs typeface="Times New Roman"/>
              </a:rPr>
              <a:t> circle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19989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Exonormative model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vs. </a:t>
            </a:r>
            <a:r>
              <a:rPr dirty="0" sz="1100" spc="-5">
                <a:latin typeface="Times New Roman"/>
                <a:cs typeface="Times New Roman"/>
              </a:rPr>
              <a:t>Endonomative model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5">
                <a:latin typeface="Times New Roman"/>
                <a:cs typeface="Times New Roman"/>
              </a:rPr>
              <a:t> 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 for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Classroom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 a</a:t>
            </a:r>
            <a:r>
              <a:rPr dirty="0" sz="1100" spc="-5">
                <a:latin typeface="Times New Roman"/>
                <a:cs typeface="Times New Roman"/>
              </a:rPr>
              <a:t> testing</a:t>
            </a:r>
            <a:r>
              <a:rPr dirty="0" sz="1100">
                <a:latin typeface="Times New Roman"/>
                <a:cs typeface="Times New Roman"/>
              </a:rPr>
              <a:t> ground for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selection</a:t>
            </a:r>
            <a:r>
              <a:rPr dirty="0" sz="1100">
                <a:latin typeface="Times New Roman"/>
                <a:cs typeface="Times New Roman"/>
              </a:rPr>
              <a:t> of a</a:t>
            </a:r>
            <a:r>
              <a:rPr dirty="0" sz="1100" spc="-5">
                <a:latin typeface="Times New Roman"/>
                <a:cs typeface="Times New Roman"/>
              </a:rPr>
              <a:t> variety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standard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Teachers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endomormative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default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Shift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exonormative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endonormative</a:t>
            </a:r>
            <a:endParaRPr sz="1100">
              <a:latin typeface="Times New Roman"/>
              <a:cs typeface="Times New Roman"/>
            </a:endParaRPr>
          </a:p>
          <a:p>
            <a:pPr marL="12700" marR="20034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207 Implications of </a:t>
            </a:r>
            <a:r>
              <a:rPr dirty="0" sz="1100" spc="-5">
                <a:latin typeface="Times New Roman"/>
                <a:cs typeface="Times New Roman"/>
              </a:rPr>
              <a:t>English language </a:t>
            </a:r>
            <a:r>
              <a:rPr dirty="0" sz="1100">
                <a:latin typeface="Times New Roman"/>
                <a:cs typeface="Times New Roman"/>
              </a:rPr>
              <a:t>varieties for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pedagogy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Monomodel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vs. polymodel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Distinct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dynamic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</a:t>
            </a:r>
            <a:endParaRPr sz="1100">
              <a:latin typeface="Times New Roman"/>
              <a:cs typeface="Times New Roman"/>
            </a:endParaRPr>
          </a:p>
          <a:p>
            <a:pPr marL="12700" marR="43091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Monomodel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vs.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polymodel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Monomodel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vs.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polymodel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Distinct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dynamic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</a:t>
            </a:r>
            <a:endParaRPr sz="1100">
              <a:latin typeface="Times New Roman"/>
              <a:cs typeface="Times New Roman"/>
            </a:endParaRPr>
          </a:p>
          <a:p>
            <a:pPr marL="12700" marR="43091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Monomodel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vs.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polymodel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 Englishes in the Classroom </a:t>
            </a:r>
            <a:r>
              <a:rPr dirty="0" sz="1100">
                <a:latin typeface="Times New Roman"/>
                <a:cs typeface="Times New Roman"/>
              </a:rPr>
              <a:t> Inner</a:t>
            </a:r>
            <a:r>
              <a:rPr dirty="0" sz="1100" spc="-5">
                <a:latin typeface="Times New Roman"/>
                <a:cs typeface="Times New Roman"/>
              </a:rPr>
              <a:t> circle: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tolerant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26746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Local </a:t>
            </a:r>
            <a:r>
              <a:rPr dirty="0" sz="1100">
                <a:latin typeface="Times New Roman"/>
                <a:cs typeface="Times New Roman"/>
              </a:rPr>
              <a:t>dialects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be part of </a:t>
            </a:r>
            <a:r>
              <a:rPr dirty="0" sz="1100" spc="-5">
                <a:latin typeface="Times New Roman"/>
                <a:cs typeface="Times New Roman"/>
              </a:rPr>
              <a:t>English language classrooms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 in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Classroom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Outer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classrooms: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Textbooks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focus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raise</a:t>
            </a:r>
            <a:r>
              <a:rPr dirty="0" sz="1100" spc="-5">
                <a:latin typeface="Times New Roman"/>
                <a:cs typeface="Times New Roman"/>
              </a:rPr>
              <a:t> awareness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students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differences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</a:t>
            </a:r>
            <a:endParaRPr sz="1100">
              <a:latin typeface="Times New Roman"/>
              <a:cs typeface="Times New Roman"/>
            </a:endParaRPr>
          </a:p>
          <a:p>
            <a:pPr marL="12700" marR="26746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Local </a:t>
            </a:r>
            <a:r>
              <a:rPr dirty="0" sz="1100">
                <a:latin typeface="Times New Roman"/>
                <a:cs typeface="Times New Roman"/>
              </a:rPr>
              <a:t>dialects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be part of </a:t>
            </a:r>
            <a:r>
              <a:rPr dirty="0" sz="1100" spc="-5">
                <a:latin typeface="Times New Roman"/>
                <a:cs typeface="Times New Roman"/>
              </a:rPr>
              <a:t>English language classrooms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Outcomes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awareness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Promotion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Viewing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legitimate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9531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Removal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confusions when confronted with </a:t>
            </a:r>
            <a:r>
              <a:rPr dirty="0" sz="1100">
                <a:latin typeface="Times New Roman"/>
                <a:cs typeface="Times New Roman"/>
              </a:rPr>
              <a:t>different </a:t>
            </a:r>
            <a:r>
              <a:rPr dirty="0" sz="1100" spc="-5">
                <a:latin typeface="Times New Roman"/>
                <a:cs typeface="Times New Roman"/>
              </a:rPr>
              <a:t>types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language </a:t>
            </a:r>
            <a:r>
              <a:rPr dirty="0" sz="1100">
                <a:latin typeface="Times New Roman"/>
                <a:cs typeface="Times New Roman"/>
              </a:rPr>
              <a:t>users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208 </a:t>
            </a:r>
            <a:r>
              <a:rPr dirty="0" sz="1100" spc="-5">
                <a:latin typeface="Times New Roman"/>
                <a:cs typeface="Times New Roman"/>
              </a:rPr>
              <a:t>Native Vs. Non-Native Teachers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Confusion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ENL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282565" cy="870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35710">
              <a:lnSpc>
                <a:spcPct val="1102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native </a:t>
            </a:r>
            <a:r>
              <a:rPr dirty="0" sz="1100" spc="-5">
                <a:latin typeface="Times New Roman"/>
                <a:cs typeface="Times New Roman"/>
              </a:rPr>
              <a:t>speaker assumed to </a:t>
            </a:r>
            <a:r>
              <a:rPr dirty="0" sz="1100">
                <a:latin typeface="Times New Roman"/>
                <a:cs typeface="Times New Roman"/>
              </a:rPr>
              <a:t>have </a:t>
            </a:r>
            <a:r>
              <a:rPr dirty="0" sz="1100" spc="-5">
                <a:latin typeface="Times New Roman"/>
                <a:cs typeface="Times New Roman"/>
              </a:rPr>
              <a:t>the expertise to teach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 as teachers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33477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pedagogical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training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Non-native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endParaRPr sz="1100">
              <a:latin typeface="Times New Roman"/>
              <a:cs typeface="Times New Roman"/>
            </a:endParaRPr>
          </a:p>
          <a:p>
            <a:pPr marL="12700" marR="12401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Awareness about appropriating and adapting </a:t>
            </a:r>
            <a:r>
              <a:rPr dirty="0" sz="1100">
                <a:latin typeface="Times New Roman"/>
                <a:cs typeface="Times New Roman"/>
              </a:rPr>
              <a:t>a foreign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experience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useful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resource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5">
                <a:latin typeface="Times New Roman"/>
                <a:cs typeface="Times New Roman"/>
              </a:rPr>
              <a:t> teacher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Having learned the 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is considered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weakness </a:t>
            </a:r>
            <a:r>
              <a:rPr dirty="0" sz="1100">
                <a:latin typeface="Times New Roman"/>
                <a:cs typeface="Times New Roman"/>
              </a:rPr>
              <a:t>of non-native </a:t>
            </a:r>
            <a:r>
              <a:rPr dirty="0" sz="1100" spc="-5">
                <a:latin typeface="Times New Roman"/>
                <a:cs typeface="Times New Roman"/>
              </a:rPr>
              <a:t>teachers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Misconceptions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speakers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perpetuating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Expertise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Misconceptions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speaker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 assumes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credibility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authenticity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a: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Teacher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Teacher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12700" marR="249936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Misconceptions about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speakers as teachers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Nativeness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Primacy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pedagogic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expertise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Competence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172212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209 </a:t>
            </a:r>
            <a:r>
              <a:rPr dirty="0" sz="1100" spc="-5">
                <a:latin typeface="Times New Roman"/>
                <a:cs typeface="Times New Roman"/>
              </a:rPr>
              <a:t>World Englishes implications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Teacher Education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including WE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1.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Exposure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Irrationality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alien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6959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 students should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exposed to theories and models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world 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including WE in TE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2.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Awareness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practices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practitioners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around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misconception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demonstrating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</a:t>
            </a:r>
            <a:endParaRPr sz="1100">
              <a:latin typeface="Times New Roman"/>
              <a:cs typeface="Times New Roman"/>
            </a:endParaRPr>
          </a:p>
          <a:p>
            <a:pPr marL="12700" marR="7315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Emphasis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need from </a:t>
            </a:r>
            <a:r>
              <a:rPr dirty="0" sz="1100" spc="-5">
                <a:latin typeface="Times New Roman"/>
                <a:cs typeface="Times New Roman"/>
              </a:rPr>
              <a:t>input in TE </a:t>
            </a:r>
            <a:r>
              <a:rPr dirty="0" sz="1100">
                <a:latin typeface="Times New Roman"/>
                <a:cs typeface="Times New Roman"/>
              </a:rPr>
              <a:t>from outer </a:t>
            </a:r>
            <a:r>
              <a:rPr dirty="0" sz="1100" spc="-5">
                <a:latin typeface="Times New Roman"/>
                <a:cs typeface="Times New Roman"/>
              </a:rPr>
              <a:t>and expanding circles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including WE in TE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3.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adopt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pragmatic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ELT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Considering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planning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curriculum</a:t>
            </a:r>
            <a:endParaRPr sz="1100">
              <a:latin typeface="Times New Roman"/>
              <a:cs typeface="Times New Roman"/>
            </a:endParaRPr>
          </a:p>
          <a:p>
            <a:pPr marL="12700" marR="5949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Irrelevance of </a:t>
            </a:r>
            <a:r>
              <a:rPr dirty="0" sz="1100" spc="-5">
                <a:latin typeface="Times New Roman"/>
                <a:cs typeface="Times New Roman"/>
              </a:rPr>
              <a:t>teaching standards without their application in </a:t>
            </a:r>
            <a:r>
              <a:rPr dirty="0" sz="1100">
                <a:latin typeface="Times New Roman"/>
                <a:cs typeface="Times New Roman"/>
              </a:rPr>
              <a:t>real </a:t>
            </a:r>
            <a:r>
              <a:rPr dirty="0" sz="1100" spc="-5">
                <a:latin typeface="Times New Roman"/>
                <a:cs typeface="Times New Roman"/>
              </a:rPr>
              <a:t>situations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including WE in TE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4.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Resisting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imposition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Countering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12700" marR="5784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Removing the </a:t>
            </a:r>
            <a:r>
              <a:rPr dirty="0" sz="1100">
                <a:latin typeface="Times New Roman"/>
                <a:cs typeface="Times New Roman"/>
              </a:rPr>
              <a:t>notion of </a:t>
            </a:r>
            <a:r>
              <a:rPr dirty="0" sz="1100" spc="-5">
                <a:latin typeface="Times New Roman"/>
                <a:cs typeface="Times New Roman"/>
              </a:rPr>
              <a:t>inner circle </a:t>
            </a:r>
            <a:r>
              <a:rPr dirty="0" sz="1100">
                <a:latin typeface="Times New Roman"/>
                <a:cs typeface="Times New Roman"/>
              </a:rPr>
              <a:t>variety being </a:t>
            </a:r>
            <a:r>
              <a:rPr dirty="0" sz="1100" spc="-5">
                <a:latin typeface="Times New Roman"/>
                <a:cs typeface="Times New Roman"/>
              </a:rPr>
              <a:t>superior to </a:t>
            </a:r>
            <a:r>
              <a:rPr dirty="0" sz="1100">
                <a:latin typeface="Times New Roman"/>
                <a:cs typeface="Times New Roman"/>
              </a:rPr>
              <a:t>other varieties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210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 </a:t>
            </a:r>
            <a:r>
              <a:rPr dirty="0" sz="1100">
                <a:latin typeface="Times New Roman"/>
                <a:cs typeface="Times New Roman"/>
              </a:rPr>
              <a:t>Implications for</a:t>
            </a:r>
            <a:r>
              <a:rPr dirty="0" sz="1100" spc="-5">
                <a:latin typeface="Times New Roman"/>
                <a:cs typeface="Times New Roman"/>
              </a:rPr>
              <a:t> Teacher Education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perspective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exposure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28784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Availability </a:t>
            </a:r>
            <a:r>
              <a:rPr dirty="0" sz="1100">
                <a:latin typeface="Times New Roman"/>
                <a:cs typeface="Times New Roman"/>
              </a:rPr>
              <a:t>of resources for </a:t>
            </a:r>
            <a:r>
              <a:rPr dirty="0" sz="1100" spc="-5">
                <a:latin typeface="Times New Roman"/>
                <a:cs typeface="Times New Roman"/>
              </a:rPr>
              <a:t>TE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training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methodologies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grammatical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descriptions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814060" cy="8794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707005">
              <a:lnSpc>
                <a:spcPct val="1102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an awareness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 </a:t>
            </a:r>
            <a:r>
              <a:rPr dirty="0" sz="1100">
                <a:latin typeface="Times New Roman"/>
                <a:cs typeface="Times New Roman"/>
              </a:rPr>
              <a:t>related </a:t>
            </a:r>
            <a:r>
              <a:rPr dirty="0" sz="1100" spc="-5">
                <a:latin typeface="Times New Roman"/>
                <a:cs typeface="Times New Roman"/>
              </a:rPr>
              <a:t>to WE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current state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In-depth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areas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began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1970s</a:t>
            </a:r>
            <a:endParaRPr sz="1100">
              <a:latin typeface="Times New Roman"/>
              <a:cs typeface="Times New Roman"/>
            </a:endParaRPr>
          </a:p>
          <a:p>
            <a:pPr marL="12700" marR="21145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field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still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undergoing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period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‘absorption’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current state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Few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programs</a:t>
            </a:r>
            <a:r>
              <a:rPr dirty="0" sz="1100" spc="-5">
                <a:latin typeface="Times New Roman"/>
                <a:cs typeface="Times New Roman"/>
              </a:rPr>
              <a:t> include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theoretical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WE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Advantages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maintaining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hierarchal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32746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Limited time to cover the curriculum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paradigm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  <a:p>
            <a:pPr marL="12700" marR="15316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Standardized tests </a:t>
            </a:r>
            <a:r>
              <a:rPr dirty="0" sz="1100">
                <a:latin typeface="Times New Roman"/>
                <a:cs typeface="Times New Roman"/>
              </a:rPr>
              <a:t>using regional norms </a:t>
            </a:r>
            <a:r>
              <a:rPr dirty="0" sz="1100" spc="-5">
                <a:latin typeface="Times New Roman"/>
                <a:cs typeface="Times New Roman"/>
              </a:rPr>
              <a:t>in selecting correct answers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world Englishes </a:t>
            </a:r>
            <a:r>
              <a:rPr dirty="0" sz="1100">
                <a:latin typeface="Times New Roman"/>
                <a:cs typeface="Times New Roman"/>
              </a:rPr>
              <a:t>paradigm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classroom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representing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cultures</a:t>
            </a:r>
            <a:endParaRPr sz="11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114"/>
              </a:spcBef>
            </a:pPr>
            <a:r>
              <a:rPr dirty="0" sz="1400" spc="10">
                <a:latin typeface="Times New Roman"/>
                <a:cs typeface="Times New Roman"/>
              </a:rPr>
              <a:t>Lesson-36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marL="1816735">
              <a:lnSpc>
                <a:spcPct val="100000"/>
              </a:lnSpc>
            </a:pPr>
            <a:r>
              <a:rPr dirty="0" sz="1400" spc="30">
                <a:latin typeface="Times New Roman"/>
                <a:cs typeface="Times New Roman"/>
              </a:rPr>
              <a:t>Teaching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60">
                <a:latin typeface="Times New Roman"/>
                <a:cs typeface="Times New Roman"/>
              </a:rPr>
              <a:t>World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Englishes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35">
                <a:latin typeface="Times New Roman"/>
                <a:cs typeface="Times New Roman"/>
              </a:rPr>
              <a:t>Courses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317182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211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Classroom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Disconnect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textbooks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Detachment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textbooks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learners’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endParaRPr sz="1100">
              <a:latin typeface="Times New Roman"/>
              <a:cs typeface="Times New Roman"/>
            </a:endParaRPr>
          </a:p>
          <a:p>
            <a:pPr marL="12700" marR="16573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Textbooks containing </a:t>
            </a:r>
            <a:r>
              <a:rPr dirty="0" sz="1100">
                <a:latin typeface="Times New Roman"/>
                <a:cs typeface="Times New Roman"/>
              </a:rPr>
              <a:t>unknown </a:t>
            </a:r>
            <a:r>
              <a:rPr dirty="0" sz="1100" spc="-5">
                <a:latin typeface="Times New Roman"/>
                <a:cs typeface="Times New Roman"/>
              </a:rPr>
              <a:t>settings and </a:t>
            </a:r>
            <a:r>
              <a:rPr dirty="0" sz="1100">
                <a:latin typeface="Times New Roman"/>
                <a:cs typeface="Times New Roman"/>
              </a:rPr>
              <a:t>unfamiliar </a:t>
            </a:r>
            <a:r>
              <a:rPr dirty="0" sz="1100" spc="-5">
                <a:latin typeface="Times New Roman"/>
                <a:cs typeface="Times New Roman"/>
              </a:rPr>
              <a:t>characters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Disconnect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 </a:t>
            </a:r>
            <a:r>
              <a:rPr dirty="0" sz="1100" spc="-5">
                <a:latin typeface="Times New Roman"/>
                <a:cs typeface="Times New Roman"/>
              </a:rPr>
              <a:t>the learners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textbooks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‘glocal’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textbook</a:t>
            </a:r>
            <a:endParaRPr sz="1100">
              <a:latin typeface="Times New Roman"/>
              <a:cs typeface="Times New Roman"/>
            </a:endParaRPr>
          </a:p>
          <a:p>
            <a:pPr marL="12700" marR="27070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an awareness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 </a:t>
            </a:r>
            <a:r>
              <a:rPr dirty="0" sz="1100">
                <a:latin typeface="Times New Roman"/>
                <a:cs typeface="Times New Roman"/>
              </a:rPr>
              <a:t>related </a:t>
            </a:r>
            <a:r>
              <a:rPr dirty="0" sz="1100" spc="-5">
                <a:latin typeface="Times New Roman"/>
                <a:cs typeface="Times New Roman"/>
              </a:rPr>
              <a:t>to WE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status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 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franca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settings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12700" marR="38995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Multicultural identities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Multicultural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identities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sociolinguistic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shifts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Instrumentally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motivated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learners</a:t>
            </a:r>
            <a:endParaRPr sz="1100">
              <a:latin typeface="Times New Roman"/>
              <a:cs typeface="Times New Roman"/>
            </a:endParaRPr>
          </a:p>
          <a:p>
            <a:pPr marL="12700" marR="20021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 to infuse local culture in English language classrooms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Appropriating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 </a:t>
            </a:r>
            <a:r>
              <a:rPr dirty="0" sz="1100" spc="-5">
                <a:latin typeface="Times New Roman"/>
                <a:cs typeface="Times New Roman"/>
              </a:rPr>
              <a:t>cultures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gaps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difficulties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Selection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textbook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endParaRPr sz="1100">
              <a:latin typeface="Times New Roman"/>
              <a:cs typeface="Times New Roman"/>
            </a:endParaRPr>
          </a:p>
          <a:p>
            <a:pPr marL="12700" marR="26917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Difficult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teachers to </a:t>
            </a:r>
            <a:r>
              <a:rPr dirty="0" sz="1100">
                <a:latin typeface="Times New Roman"/>
                <a:cs typeface="Times New Roman"/>
              </a:rPr>
              <a:t>present </a:t>
            </a:r>
            <a:r>
              <a:rPr dirty="0" sz="1100" spc="-5">
                <a:latin typeface="Times New Roman"/>
                <a:cs typeface="Times New Roman"/>
              </a:rPr>
              <a:t>an alien culture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212</a:t>
            </a:r>
            <a:endParaRPr sz="1100">
              <a:latin typeface="Times New Roman"/>
              <a:cs typeface="Times New Roman"/>
            </a:endParaRPr>
          </a:p>
          <a:p>
            <a:pPr marL="12700" marR="37204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Culture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Classroom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rhetorical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Goal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oriented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vs.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indirect</a:t>
            </a:r>
            <a:endParaRPr sz="1100">
              <a:latin typeface="Times New Roman"/>
              <a:cs typeface="Times New Roman"/>
            </a:endParaRPr>
          </a:p>
          <a:p>
            <a:pPr marL="12700" marR="37204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Utilitarian </a:t>
            </a:r>
            <a:r>
              <a:rPr dirty="0" sz="1100">
                <a:latin typeface="Times New Roman"/>
                <a:cs typeface="Times New Roman"/>
              </a:rPr>
              <a:t>vs. digressive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rhetorical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Likely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misunderstandings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misinterpretations</a:t>
            </a:r>
            <a:endParaRPr sz="1100">
              <a:latin typeface="Times New Roman"/>
              <a:cs typeface="Times New Roman"/>
            </a:endParaRPr>
          </a:p>
          <a:p>
            <a:pPr marL="12700" marR="3397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Sensitivity to </a:t>
            </a:r>
            <a:r>
              <a:rPr dirty="0" sz="1100">
                <a:latin typeface="Times New Roman"/>
                <a:cs typeface="Times New Roman"/>
              </a:rPr>
              <a:t>different </a:t>
            </a:r>
            <a:r>
              <a:rPr dirty="0" sz="1100" spc="-5">
                <a:latin typeface="Times New Roman"/>
                <a:cs typeface="Times New Roman"/>
              </a:rPr>
              <a:t>conventions 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created through teaching materials and </a:t>
            </a:r>
            <a:r>
              <a:rPr dirty="0" sz="1100">
                <a:latin typeface="Times New Roman"/>
                <a:cs typeface="Times New Roman"/>
              </a:rPr>
              <a:t>practices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 cultural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6510" cy="870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946400">
              <a:lnSpc>
                <a:spcPct val="1102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local </a:t>
            </a:r>
            <a:r>
              <a:rPr dirty="0" sz="1100">
                <a:latin typeface="Times New Roman"/>
                <a:cs typeface="Times New Roman"/>
              </a:rPr>
              <a:t>discourse </a:t>
            </a:r>
            <a:r>
              <a:rPr dirty="0" sz="1100" spc="-5">
                <a:latin typeface="Times New Roman"/>
                <a:cs typeface="Times New Roman"/>
              </a:rPr>
              <a:t>strategies while </a:t>
            </a:r>
            <a:r>
              <a:rPr dirty="0" sz="1100">
                <a:latin typeface="Times New Roman"/>
                <a:cs typeface="Times New Roman"/>
              </a:rPr>
              <a:t>using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Classroom: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cultural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suppression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supremacy?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classrooms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imparting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knowledge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Anglo-American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endParaRPr sz="1100">
              <a:latin typeface="Times New Roman"/>
              <a:cs typeface="Times New Roman"/>
            </a:endParaRPr>
          </a:p>
          <a:p>
            <a:pPr marL="12700" marR="31426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Submerging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local cultures and conventions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Classroom: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suppression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supremacy?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Classrooms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embrace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innovations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conventions</a:t>
            </a:r>
            <a:endParaRPr sz="1100">
              <a:latin typeface="Times New Roman"/>
              <a:cs typeface="Times New Roman"/>
            </a:endParaRPr>
          </a:p>
          <a:p>
            <a:pPr marL="12700" marR="14592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Recognition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world Englishes likely to sensitivize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different </a:t>
            </a:r>
            <a:r>
              <a:rPr dirty="0" sz="1100" spc="-5">
                <a:latin typeface="Times New Roman"/>
                <a:cs typeface="Times New Roman"/>
              </a:rPr>
              <a:t>cultures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213 </a:t>
            </a: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 in the Classroom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Representation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classroom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awareness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learners</a:t>
            </a:r>
            <a:endParaRPr sz="1100">
              <a:latin typeface="Times New Roman"/>
              <a:cs typeface="Times New Roman"/>
            </a:endParaRPr>
          </a:p>
          <a:p>
            <a:pPr marL="12700" marR="26238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Only inner circle English </a:t>
            </a:r>
            <a:r>
              <a:rPr dirty="0" sz="1100">
                <a:latin typeface="Times New Roman"/>
                <a:cs typeface="Times New Roman"/>
              </a:rPr>
              <a:t>finds representation </a:t>
            </a:r>
            <a:r>
              <a:rPr dirty="0" sz="1100" spc="-5">
                <a:latin typeface="Times New Roman"/>
                <a:cs typeface="Times New Roman"/>
              </a:rPr>
              <a:t>in textbooks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Contrastive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Awareness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differences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14001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Contrastive analysis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indigenized </a:t>
            </a:r>
            <a:r>
              <a:rPr dirty="0" sz="1100">
                <a:latin typeface="Times New Roman"/>
                <a:cs typeface="Times New Roman"/>
              </a:rPr>
              <a:t>varieties </a:t>
            </a:r>
            <a:r>
              <a:rPr dirty="0" sz="1100" spc="-5">
                <a:latin typeface="Times New Roman"/>
                <a:cs typeface="Times New Roman"/>
              </a:rPr>
              <a:t>and inner circle </a:t>
            </a:r>
            <a:r>
              <a:rPr dirty="0" sz="1100">
                <a:latin typeface="Times New Roman"/>
                <a:cs typeface="Times New Roman"/>
              </a:rPr>
              <a:t>varieties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Contrastive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Baumgardner’s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(1987)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5">
                <a:latin typeface="Times New Roman"/>
                <a:cs typeface="Times New Roman"/>
              </a:rPr>
              <a:t> Pakistani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complementation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China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learning Chinese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vs.</a:t>
            </a:r>
            <a:r>
              <a:rPr dirty="0" sz="1100" spc="-5">
                <a:latin typeface="Times New Roman"/>
                <a:cs typeface="Times New Roman"/>
              </a:rPr>
              <a:t> He went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China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Friedrick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(2002)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Matsuda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(2002)</a:t>
            </a:r>
            <a:endParaRPr sz="1100">
              <a:latin typeface="Times New Roman"/>
              <a:cs typeface="Times New Roman"/>
            </a:endParaRPr>
          </a:p>
          <a:p>
            <a:pPr marL="12700" marR="16827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Learners in expanding circle are </a:t>
            </a:r>
            <a:r>
              <a:rPr dirty="0" sz="1100">
                <a:latin typeface="Times New Roman"/>
                <a:cs typeface="Times New Roman"/>
              </a:rPr>
              <a:t>only </a:t>
            </a:r>
            <a:r>
              <a:rPr dirty="0" sz="1100" spc="-5">
                <a:latin typeface="Times New Roman"/>
                <a:cs typeface="Times New Roman"/>
              </a:rPr>
              <a:t>aware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British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American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world Englishes approach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facilitates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varieties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“legitimate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expressions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constant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spread”</a:t>
            </a:r>
            <a:endParaRPr sz="1100">
              <a:latin typeface="Times New Roman"/>
              <a:cs typeface="Times New Roman"/>
            </a:endParaRPr>
          </a:p>
          <a:p>
            <a:pPr marL="12700" marR="342709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214 </a:t>
            </a: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World Englishes in the Classroom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 approach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Presentation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incomplete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awareness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4121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Confusion </a:t>
            </a:r>
            <a:r>
              <a:rPr dirty="0" sz="1100">
                <a:latin typeface="Times New Roman"/>
                <a:cs typeface="Times New Roman"/>
              </a:rPr>
              <a:t>or resistance </a:t>
            </a:r>
            <a:r>
              <a:rPr dirty="0" sz="1100" spc="-5">
                <a:latin typeface="Times New Roman"/>
                <a:cs typeface="Times New Roman"/>
              </a:rPr>
              <a:t>when students are confronted with </a:t>
            </a:r>
            <a:r>
              <a:rPr dirty="0" sz="1100">
                <a:latin typeface="Times New Roman"/>
                <a:cs typeface="Times New Roman"/>
              </a:rPr>
              <a:t>different </a:t>
            </a:r>
            <a:r>
              <a:rPr dirty="0" sz="1100" spc="-5">
                <a:latin typeface="Times New Roman"/>
                <a:cs typeface="Times New Roman"/>
              </a:rPr>
              <a:t>types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users or uses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awareness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World 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shocked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confused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12700" marR="40360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deficient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awareness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World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disrespect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endParaRPr sz="1100">
              <a:latin typeface="Times New Roman"/>
              <a:cs typeface="Times New Roman"/>
            </a:endParaRPr>
          </a:p>
          <a:p>
            <a:pPr marL="12700" marR="31629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Rejection </a:t>
            </a:r>
            <a:r>
              <a:rPr dirty="0" sz="1100">
                <a:latin typeface="Times New Roman"/>
                <a:cs typeface="Times New Roman"/>
              </a:rPr>
              <a:t>of deviations from </a:t>
            </a:r>
            <a:r>
              <a:rPr dirty="0" sz="1100" spc="-5">
                <a:latin typeface="Times New Roman"/>
                <a:cs typeface="Times New Roman"/>
              </a:rPr>
              <a:t>inner circle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awareness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Likely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counter-productive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efforts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being</a:t>
            </a:r>
            <a:r>
              <a:rPr dirty="0" sz="1100" spc="-5">
                <a:latin typeface="Times New Roman"/>
                <a:cs typeface="Times New Roman"/>
              </a:rPr>
              <a:t> made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12700" marR="57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Sensitizing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presence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goal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 around the world</a:t>
            </a:r>
            <a:endParaRPr sz="1100">
              <a:latin typeface="Times New Roman"/>
              <a:cs typeface="Times New Roman"/>
            </a:endParaRPr>
          </a:p>
          <a:p>
            <a:pPr marL="12700" marR="300609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215 </a:t>
            </a:r>
            <a:r>
              <a:rPr dirty="0" sz="1100" spc="-5">
                <a:latin typeface="Times New Roman"/>
                <a:cs typeface="Times New Roman"/>
              </a:rPr>
              <a:t>L2 in the Classroom and Non-Native Educators </a:t>
            </a:r>
            <a:r>
              <a:rPr dirty="0" sz="1100">
                <a:latin typeface="Times New Roman"/>
                <a:cs typeface="Times New Roman"/>
              </a:rPr>
              <a:t>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L2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classroom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Earlier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discouraged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classroom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Audiolingual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Direct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endParaRPr sz="1100">
              <a:latin typeface="Times New Roman"/>
              <a:cs typeface="Times New Roman"/>
            </a:endParaRPr>
          </a:p>
          <a:p>
            <a:pPr marL="12700" marR="35814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taught </a:t>
            </a:r>
            <a:r>
              <a:rPr dirty="0" sz="1100">
                <a:latin typeface="Times New Roman"/>
                <a:cs typeface="Times New Roman"/>
              </a:rPr>
              <a:t>best </a:t>
            </a:r>
            <a:r>
              <a:rPr dirty="0" sz="1100" spc="-5">
                <a:latin typeface="Times New Roman"/>
                <a:cs typeface="Times New Roman"/>
              </a:rPr>
              <a:t>through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L2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classroom</a:t>
            </a:r>
            <a:endParaRPr sz="1100">
              <a:latin typeface="Times New Roman"/>
              <a:cs typeface="Times New Roman"/>
            </a:endParaRPr>
          </a:p>
          <a:p>
            <a:pPr marL="12700" marR="12071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Second language acquisition considered similar to </a:t>
            </a:r>
            <a:r>
              <a:rPr dirty="0" sz="1100">
                <a:latin typeface="Times New Roman"/>
                <a:cs typeface="Times New Roman"/>
              </a:rPr>
              <a:t>first </a:t>
            </a:r>
            <a:r>
              <a:rPr dirty="0" sz="1100" spc="-5">
                <a:latin typeface="Times New Roman"/>
                <a:cs typeface="Times New Roman"/>
              </a:rPr>
              <a:t>language acquisition in SLA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L2 in classroom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similar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well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5">
                <a:latin typeface="Times New Roman"/>
                <a:cs typeface="Times New Roman"/>
              </a:rPr>
              <a:t> language acquisition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58255" cy="879411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second-language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already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equipped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knowledge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his/her</a:t>
            </a:r>
            <a:r>
              <a:rPr dirty="0" sz="1100" spc="-5">
                <a:latin typeface="Times New Roman"/>
                <a:cs typeface="Times New Roman"/>
              </a:rPr>
              <a:t> mother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</a:t>
            </a:r>
            <a:endParaRPr sz="1100">
              <a:latin typeface="Times New Roman"/>
              <a:cs typeface="Times New Roman"/>
            </a:endParaRPr>
          </a:p>
          <a:p>
            <a:pPr marL="12700" marR="47440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Monolingua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fallacy 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L2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classroom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Several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 </a:t>
            </a:r>
            <a:r>
              <a:rPr dirty="0" sz="1100">
                <a:latin typeface="Times New Roman"/>
                <a:cs typeface="Times New Roman"/>
              </a:rPr>
              <a:t>favour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of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  <a:p>
            <a:pPr marL="12700" marR="17475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Mother tongue considered </a:t>
            </a:r>
            <a:r>
              <a:rPr dirty="0" sz="1100">
                <a:latin typeface="Times New Roman"/>
                <a:cs typeface="Times New Roman"/>
              </a:rPr>
              <a:t>a useful </a:t>
            </a:r>
            <a:r>
              <a:rPr dirty="0" sz="1100" spc="-5">
                <a:latin typeface="Times New Roman"/>
                <a:cs typeface="Times New Roman"/>
              </a:rPr>
              <a:t>tool in the English language classroom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216 </a:t>
            </a:r>
            <a:r>
              <a:rPr dirty="0" sz="1100" spc="-5">
                <a:latin typeface="Times New Roman"/>
                <a:cs typeface="Times New Roman"/>
              </a:rPr>
              <a:t>L2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Classroom and Non-Native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Educators </a:t>
            </a:r>
            <a:r>
              <a:rPr dirty="0" sz="1100">
                <a:latin typeface="Times New Roman"/>
                <a:cs typeface="Times New Roman"/>
              </a:rPr>
              <a:t>II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Bilingualism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goal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Usefulness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bilingual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circles</a:t>
            </a:r>
            <a:endParaRPr sz="1100">
              <a:latin typeface="Times New Roman"/>
              <a:cs typeface="Times New Roman"/>
            </a:endParaRPr>
          </a:p>
          <a:p>
            <a:pPr marL="12700" marR="43821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Bilingualism as the </a:t>
            </a:r>
            <a:r>
              <a:rPr dirty="0" sz="1100">
                <a:latin typeface="Times New Roman"/>
                <a:cs typeface="Times New Roman"/>
              </a:rPr>
              <a:t>goal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classroom</a:t>
            </a:r>
            <a:endParaRPr sz="1100">
              <a:latin typeface="Times New Roman"/>
              <a:cs typeface="Times New Roman"/>
            </a:endParaRPr>
          </a:p>
          <a:p>
            <a:pPr marL="12700" marR="82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Appeals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inner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establishment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the classroom</a:t>
            </a:r>
            <a:endParaRPr sz="1100">
              <a:latin typeface="Times New Roman"/>
              <a:cs typeface="Times New Roman"/>
            </a:endParaRPr>
          </a:p>
          <a:p>
            <a:pPr marL="12700" marR="3327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use of </a:t>
            </a:r>
            <a:r>
              <a:rPr dirty="0" sz="1100" spc="-5">
                <a:latin typeface="Times New Roman"/>
                <a:cs typeface="Times New Roman"/>
              </a:rPr>
              <a:t>the mother tongue in the classroom considered </a:t>
            </a:r>
            <a:r>
              <a:rPr dirty="0" sz="1100">
                <a:latin typeface="Times New Roman"/>
                <a:cs typeface="Times New Roman"/>
              </a:rPr>
              <a:t>one dimension of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human rights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vs. non-native </a:t>
            </a:r>
            <a:r>
              <a:rPr dirty="0" sz="1100" spc="-5">
                <a:latin typeface="Times New Roman"/>
                <a:cs typeface="Times New Roman"/>
              </a:rPr>
              <a:t>educators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fallacy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inevitably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English.</a:t>
            </a:r>
            <a:endParaRPr sz="1100">
              <a:latin typeface="Times New Roman"/>
              <a:cs typeface="Times New Roman"/>
            </a:endParaRPr>
          </a:p>
          <a:p>
            <a:pPr marL="12700" marR="24142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Non-native teachers are </a:t>
            </a:r>
            <a:r>
              <a:rPr dirty="0" sz="1100">
                <a:latin typeface="Times New Roman"/>
                <a:cs typeface="Times New Roman"/>
              </a:rPr>
              <a:t>only </a:t>
            </a:r>
            <a:r>
              <a:rPr dirty="0" sz="1100" spc="-5">
                <a:latin typeface="Times New Roman"/>
                <a:cs typeface="Times New Roman"/>
              </a:rPr>
              <a:t>second-best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teaching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Advantages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teacher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Knowledge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advantageous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Experience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356742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More effective English language teachers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Doubts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effectiveness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realize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acquisition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 classrooms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re-define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concept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speaker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1250">
              <a:latin typeface="Times New Roman"/>
              <a:cs typeface="Times New Roman"/>
            </a:endParaRPr>
          </a:p>
          <a:p>
            <a:pPr marL="718820" marR="548640" indent="4322445">
              <a:lnSpc>
                <a:spcPct val="193500"/>
              </a:lnSpc>
            </a:pPr>
            <a:r>
              <a:rPr dirty="0" sz="1400" spc="10">
                <a:latin typeface="Times New Roman"/>
                <a:cs typeface="Times New Roman"/>
              </a:rPr>
              <a:t>Lesson-37  </a:t>
            </a:r>
            <a:r>
              <a:rPr dirty="0" sz="1400" spc="15">
                <a:latin typeface="Times New Roman"/>
                <a:cs typeface="Times New Roman"/>
              </a:rPr>
              <a:t>Models,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40">
                <a:latin typeface="Times New Roman"/>
                <a:cs typeface="Times New Roman"/>
              </a:rPr>
              <a:t>Methods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and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65">
                <a:latin typeface="Times New Roman"/>
                <a:cs typeface="Times New Roman"/>
              </a:rPr>
              <a:t>Curriculum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50">
                <a:latin typeface="Times New Roman"/>
                <a:cs typeface="Times New Roman"/>
              </a:rPr>
              <a:t>for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30">
                <a:latin typeface="Times New Roman"/>
                <a:cs typeface="Times New Roman"/>
              </a:rPr>
              <a:t>Teaching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60">
                <a:latin typeface="Times New Roman"/>
                <a:cs typeface="Times New Roman"/>
              </a:rPr>
              <a:t>World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Englishes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29584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217 </a:t>
            </a:r>
            <a:r>
              <a:rPr dirty="0" sz="1100" spc="-5">
                <a:latin typeface="Times New Roman"/>
                <a:cs typeface="Times New Roman"/>
              </a:rPr>
              <a:t>Historical Context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Language Teaching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Transformation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Multiplicity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36328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Resistance to the acceptance </a:t>
            </a:r>
            <a:r>
              <a:rPr dirty="0" sz="1100">
                <a:latin typeface="Times New Roman"/>
                <a:cs typeface="Times New Roman"/>
              </a:rPr>
              <a:t>of varieties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Ideological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Influence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endParaRPr sz="1100">
              <a:latin typeface="Times New Roman"/>
              <a:cs typeface="Times New Roman"/>
            </a:endParaRPr>
          </a:p>
          <a:p>
            <a:pPr marL="12700" marR="3378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Linguistic imperialism caused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teaching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teaching </a:t>
            </a:r>
            <a:r>
              <a:rPr dirty="0" sz="1100">
                <a:latin typeface="Times New Roman"/>
                <a:cs typeface="Times New Roman"/>
              </a:rPr>
              <a:t>of a particular variety of </a:t>
            </a:r>
            <a:r>
              <a:rPr dirty="0" sz="1100" spc="-5">
                <a:latin typeface="Times New Roman"/>
                <a:cs typeface="Times New Roman"/>
              </a:rPr>
              <a:t>English?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Methodology and Colonialism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methodology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colonialism</a:t>
            </a:r>
            <a:endParaRPr sz="1100">
              <a:latin typeface="Times New Roman"/>
              <a:cs typeface="Times New Roman"/>
            </a:endParaRPr>
          </a:p>
          <a:p>
            <a:pPr marL="12700" marR="26282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ELT </a:t>
            </a:r>
            <a:r>
              <a:rPr dirty="0" sz="1100">
                <a:latin typeface="Times New Roman"/>
                <a:cs typeface="Times New Roman"/>
              </a:rPr>
              <a:t>a product of </a:t>
            </a:r>
            <a:r>
              <a:rPr dirty="0" sz="1100" spc="-5">
                <a:latin typeface="Times New Roman"/>
                <a:cs typeface="Times New Roman"/>
              </a:rPr>
              <a:t>spread and macro-acquisition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Macro-acquisition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Acquisition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speakers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mother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spread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macro-acquisition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Primary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input doesn’t come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native speakers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73495" cy="6675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423795">
              <a:lnSpc>
                <a:spcPct val="1102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Defined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its </a:t>
            </a:r>
            <a:r>
              <a:rPr dirty="0" sz="1100">
                <a:latin typeface="Times New Roman"/>
                <a:cs typeface="Times New Roman"/>
              </a:rPr>
              <a:t>own </a:t>
            </a:r>
            <a:r>
              <a:rPr dirty="0" sz="1100" spc="-5">
                <a:latin typeface="Times New Roman"/>
                <a:cs typeface="Times New Roman"/>
              </a:rPr>
              <a:t>lexicon, idioms and transformed meanings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Migration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</a:t>
            </a:r>
            <a:endParaRPr sz="1100">
              <a:latin typeface="Times New Roman"/>
              <a:cs typeface="Times New Roman"/>
            </a:endParaRPr>
          </a:p>
          <a:p>
            <a:pPr marL="12700" marR="40386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Immigration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ELT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Theories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practices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</a:t>
            </a:r>
            <a:endParaRPr sz="1100">
              <a:latin typeface="Times New Roman"/>
              <a:cs typeface="Times New Roman"/>
            </a:endParaRPr>
          </a:p>
          <a:p>
            <a:pPr marL="12700" marR="20396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Colonies were the central testing </a:t>
            </a:r>
            <a:r>
              <a:rPr dirty="0" sz="1100">
                <a:latin typeface="Times New Roman"/>
                <a:cs typeface="Times New Roman"/>
              </a:rPr>
              <a:t>ground for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development of </a:t>
            </a:r>
            <a:r>
              <a:rPr dirty="0" sz="1100" spc="-5">
                <a:latin typeface="Times New Roman"/>
                <a:cs typeface="Times New Roman"/>
              </a:rPr>
              <a:t>ELT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218 </a:t>
            </a:r>
            <a:r>
              <a:rPr dirty="0" sz="1100" spc="-5">
                <a:latin typeface="Times New Roman"/>
                <a:cs typeface="Times New Roman"/>
              </a:rPr>
              <a:t>Historical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colonialism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Acquisition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controlled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economical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empire</a:t>
            </a:r>
            <a:endParaRPr sz="1100">
              <a:latin typeface="Times New Roman"/>
              <a:cs typeface="Times New Roman"/>
            </a:endParaRPr>
          </a:p>
          <a:p>
            <a:pPr marL="12700" marR="27749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ELT methodology was subservient to imperial </a:t>
            </a:r>
            <a:r>
              <a:rPr dirty="0" sz="1100">
                <a:latin typeface="Times New Roman"/>
                <a:cs typeface="Times New Roman"/>
              </a:rPr>
              <a:t>purposes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 during</a:t>
            </a:r>
            <a:r>
              <a:rPr dirty="0" sz="1100" spc="-5">
                <a:latin typeface="Times New Roman"/>
                <a:cs typeface="Times New Roman"/>
              </a:rPr>
              <a:t> colonialism</a:t>
            </a:r>
            <a:endParaRPr sz="1100">
              <a:latin typeface="Times New Roman"/>
              <a:cs typeface="Times New Roman"/>
            </a:endParaRPr>
          </a:p>
          <a:p>
            <a:pPr marL="12700" marR="121475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Curriculum </a:t>
            </a:r>
            <a:r>
              <a:rPr dirty="0" sz="1100">
                <a:latin typeface="Times New Roman"/>
                <a:cs typeface="Times New Roman"/>
              </a:rPr>
              <a:t>based on </a:t>
            </a:r>
            <a:r>
              <a:rPr dirty="0" sz="1100" spc="-5">
                <a:latin typeface="Times New Roman"/>
                <a:cs typeface="Times New Roman"/>
              </a:rPr>
              <a:t>language examinations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qualification </a:t>
            </a:r>
            <a:r>
              <a:rPr dirty="0" sz="1100" spc="-5">
                <a:latin typeface="Times New Roman"/>
                <a:cs typeface="Times New Roman"/>
              </a:rPr>
              <a:t>standards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civil service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Emphasis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taught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bilingual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12700" marR="18561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empire lacking the capacity to </a:t>
            </a:r>
            <a:r>
              <a:rPr dirty="0" sz="1100">
                <a:latin typeface="Times New Roman"/>
                <a:cs typeface="Times New Roman"/>
              </a:rPr>
              <a:t>hire native </a:t>
            </a:r>
            <a:r>
              <a:rPr dirty="0" sz="1100" spc="-5">
                <a:latin typeface="Times New Roman"/>
                <a:cs typeface="Times New Roman"/>
              </a:rPr>
              <a:t>English speaking teachers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dependent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endParaRPr sz="1100">
              <a:latin typeface="Times New Roman"/>
              <a:cs typeface="Times New Roman"/>
            </a:endParaRPr>
          </a:p>
          <a:p>
            <a:pPr marL="12700" marR="25368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Played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significant </a:t>
            </a:r>
            <a:r>
              <a:rPr dirty="0" sz="1100">
                <a:latin typeface="Times New Roman"/>
                <a:cs typeface="Times New Roman"/>
              </a:rPr>
              <a:t>role </a:t>
            </a:r>
            <a:r>
              <a:rPr dirty="0" sz="1100" spc="-5">
                <a:latin typeface="Times New Roman"/>
                <a:cs typeface="Times New Roman"/>
              </a:rPr>
              <a:t>in the creation </a:t>
            </a:r>
            <a:r>
              <a:rPr dirty="0" sz="1100">
                <a:latin typeface="Times New Roman"/>
                <a:cs typeface="Times New Roman"/>
              </a:rPr>
              <a:t>of different varieties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219</a:t>
            </a:r>
            <a:r>
              <a:rPr dirty="0" sz="1100" spc="-5">
                <a:latin typeface="Times New Roman"/>
                <a:cs typeface="Times New Roman"/>
              </a:rPr>
              <a:t> Historical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methodology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Non-native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contradicts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12700" marR="5899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Linguistic imperialism </a:t>
            </a:r>
            <a:r>
              <a:rPr dirty="0" sz="1100">
                <a:latin typeface="Times New Roman"/>
                <a:cs typeface="Times New Roman"/>
              </a:rPr>
              <a:t>neglects </a:t>
            </a:r>
            <a:r>
              <a:rPr dirty="0" sz="1100" spc="-5">
                <a:latin typeface="Times New Roman"/>
                <a:cs typeface="Times New Roman"/>
              </a:rPr>
              <a:t>the contribution and agency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nonnative </a:t>
            </a:r>
            <a:r>
              <a:rPr dirty="0" sz="1100" spc="-5">
                <a:latin typeface="Times New Roman"/>
                <a:cs typeface="Times New Roman"/>
              </a:rPr>
              <a:t>speaking teachers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methodology and linguistic imperialism</a:t>
            </a:r>
            <a:endParaRPr sz="1100">
              <a:latin typeface="Times New Roman"/>
              <a:cs typeface="Times New Roman"/>
            </a:endParaRPr>
          </a:p>
          <a:p>
            <a:pPr marL="12700" marR="215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reclaim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contributions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nonnative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Misconceptions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Non-native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readily</a:t>
            </a:r>
            <a:r>
              <a:rPr dirty="0" sz="1100" spc="-5">
                <a:latin typeface="Times New Roman"/>
                <a:cs typeface="Times New Roman"/>
              </a:rPr>
              <a:t> accept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methodology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produced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UK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Critical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found</a:t>
            </a:r>
            <a:r>
              <a:rPr dirty="0" sz="1100" spc="-5">
                <a:latin typeface="Times New Roman"/>
                <a:cs typeface="Times New Roman"/>
              </a:rPr>
              <a:t> among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</a:t>
            </a:r>
            <a:endParaRPr sz="1100">
              <a:latin typeface="Times New Roman"/>
              <a:cs typeface="Times New Roman"/>
            </a:endParaRPr>
          </a:p>
          <a:p>
            <a:pPr marL="12700" marR="173608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Misconception </a:t>
            </a:r>
            <a:r>
              <a:rPr dirty="0" sz="1100">
                <a:latin typeface="Times New Roman"/>
                <a:cs typeface="Times New Roman"/>
              </a:rPr>
              <a:t>based on </a:t>
            </a:r>
            <a:r>
              <a:rPr dirty="0" sz="1100" spc="-5">
                <a:latin typeface="Times New Roman"/>
                <a:cs typeface="Times New Roman"/>
              </a:rPr>
              <a:t>the ideological </a:t>
            </a:r>
            <a:r>
              <a:rPr dirty="0" sz="1100">
                <a:latin typeface="Times New Roman"/>
                <a:cs typeface="Times New Roman"/>
              </a:rPr>
              <a:t>notions of </a:t>
            </a:r>
            <a:r>
              <a:rPr dirty="0" sz="1100" spc="-5">
                <a:latin typeface="Times New Roman"/>
                <a:cs typeface="Times New Roman"/>
              </a:rPr>
              <a:t>intellectual </a:t>
            </a:r>
            <a:r>
              <a:rPr dirty="0" sz="1100">
                <a:latin typeface="Times New Roman"/>
                <a:cs typeface="Times New Roman"/>
              </a:rPr>
              <a:t>dependence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Misconceptions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 </a:t>
            </a:r>
            <a:r>
              <a:rPr dirty="0" sz="1100">
                <a:latin typeface="Times New Roman"/>
                <a:cs typeface="Times New Roman"/>
              </a:rPr>
              <a:t>non-native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western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post</a:t>
            </a:r>
            <a:r>
              <a:rPr dirty="0" sz="1100" spc="-5">
                <a:latin typeface="Times New Roman"/>
                <a:cs typeface="Times New Roman"/>
              </a:rPr>
              <a:t> 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II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period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existence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began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elsewhere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7313834"/>
            <a:ext cx="749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3823" y="7313834"/>
            <a:ext cx="40894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methodology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relied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creativity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resources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7481454"/>
            <a:ext cx="4737735" cy="1872614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Influence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Constructs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“authenticity,”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“native”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“near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native” proficiency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Determining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proper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goals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endParaRPr sz="1100">
              <a:latin typeface="Times New Roman"/>
              <a:cs typeface="Times New Roman"/>
            </a:endParaRPr>
          </a:p>
          <a:p>
            <a:pPr marL="12700" marR="6731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Development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notion of native </a:t>
            </a:r>
            <a:r>
              <a:rPr dirty="0" sz="1100" spc="-5">
                <a:latin typeface="Times New Roman"/>
                <a:cs typeface="Times New Roman"/>
              </a:rPr>
              <a:t>speaker as the ideal teacher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Influence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native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Challenges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non-mother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English-speaking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</a:t>
            </a:r>
            <a:endParaRPr sz="1100">
              <a:latin typeface="Times New Roman"/>
              <a:cs typeface="Times New Roman"/>
            </a:endParaRPr>
          </a:p>
          <a:p>
            <a:pPr marL="12700" marR="48640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Undermines the </a:t>
            </a:r>
            <a:r>
              <a:rPr dirty="0" sz="1100">
                <a:latin typeface="Times New Roman"/>
                <a:cs typeface="Times New Roman"/>
              </a:rPr>
              <a:t>role of non-native </a:t>
            </a:r>
            <a:r>
              <a:rPr dirty="0" sz="1100" spc="-5">
                <a:latin typeface="Times New Roman"/>
                <a:cs typeface="Times New Roman"/>
              </a:rPr>
              <a:t>teachers in the spread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220 </a:t>
            </a:r>
            <a:r>
              <a:rPr dirty="0" sz="1100" spc="-5">
                <a:latin typeface="Times New Roman"/>
                <a:cs typeface="Times New Roman"/>
              </a:rPr>
              <a:t>Centrality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Inner </a:t>
            </a:r>
            <a:r>
              <a:rPr dirty="0" sz="1100" spc="-5">
                <a:latin typeface="Times New Roman"/>
                <a:cs typeface="Times New Roman"/>
              </a:rPr>
              <a:t>Circle in ELT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Centrality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centrality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assumptions: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5240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target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environment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Proficiency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mother-tongue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target</a:t>
            </a:r>
            <a:endParaRPr sz="1100">
              <a:latin typeface="Times New Roman"/>
              <a:cs typeface="Times New Roman"/>
            </a:endParaRPr>
          </a:p>
          <a:p>
            <a:pPr marL="12700" marR="31134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necessity of native </a:t>
            </a:r>
            <a:r>
              <a:rPr dirty="0" sz="1100" spc="-5">
                <a:latin typeface="Times New Roman"/>
                <a:cs typeface="Times New Roman"/>
              </a:rPr>
              <a:t>English speaking teachers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Centrality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 and SLA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SLA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corresponding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methodology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transported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endParaRPr sz="1100">
              <a:latin typeface="Times New Roman"/>
              <a:cs typeface="Times New Roman"/>
            </a:endParaRPr>
          </a:p>
          <a:p>
            <a:pPr marL="12700" marR="26650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 </a:t>
            </a:r>
            <a:r>
              <a:rPr dirty="0" sz="1100" spc="-5">
                <a:latin typeface="Times New Roman"/>
                <a:cs typeface="Times New Roman"/>
              </a:rPr>
              <a:t>most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contexts, the assumptions are inappropriate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vs. real</a:t>
            </a:r>
            <a:r>
              <a:rPr dirty="0" sz="1100" spc="-5">
                <a:latin typeface="Times New Roman"/>
                <a:cs typeface="Times New Roman"/>
              </a:rPr>
              <a:t> conditions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SLA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Non-native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target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12700" marR="24961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 </a:t>
            </a:r>
            <a:r>
              <a:rPr dirty="0" sz="1100">
                <a:latin typeface="Times New Roman"/>
                <a:cs typeface="Times New Roman"/>
              </a:rPr>
              <a:t>need for </a:t>
            </a:r>
            <a:r>
              <a:rPr dirty="0" sz="1100" spc="-5">
                <a:latin typeface="Times New Roman"/>
                <a:cs typeface="Times New Roman"/>
              </a:rPr>
              <a:t>the learners to assimilate with the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context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myth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speaker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ideal teacher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findings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necessity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teacher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assumption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questioned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scholars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grant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authority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myth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speaker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authority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 teacher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 tongue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speaker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endParaRPr sz="1100">
              <a:latin typeface="Times New Roman"/>
              <a:cs typeface="Times New Roman"/>
            </a:endParaRPr>
          </a:p>
          <a:p>
            <a:pPr marL="12700" marR="8578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Gives </a:t>
            </a:r>
            <a:r>
              <a:rPr dirty="0" sz="1100">
                <a:latin typeface="Times New Roman"/>
                <a:cs typeface="Times New Roman"/>
              </a:rPr>
              <a:t>native </a:t>
            </a:r>
            <a:r>
              <a:rPr dirty="0" sz="1100" spc="-5">
                <a:latin typeface="Times New Roman"/>
                <a:cs typeface="Times New Roman"/>
              </a:rPr>
              <a:t>speakers control </a:t>
            </a:r>
            <a:r>
              <a:rPr dirty="0" sz="1100">
                <a:latin typeface="Times New Roman"/>
                <a:cs typeface="Times New Roman"/>
              </a:rPr>
              <a:t>over </a:t>
            </a:r>
            <a:r>
              <a:rPr dirty="0" sz="1100" spc="-5">
                <a:latin typeface="Times New Roman"/>
                <a:cs typeface="Times New Roman"/>
              </a:rPr>
              <a:t>the spread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spread in the twenty-first century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221 </a:t>
            </a:r>
            <a:r>
              <a:rPr dirty="0" sz="1100" spc="-5">
                <a:latin typeface="Times New Roman"/>
                <a:cs typeface="Times New Roman"/>
              </a:rPr>
              <a:t>WorldEnglishes and ELT Methods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Approach,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technique</a:t>
            </a:r>
            <a:endParaRPr sz="1100">
              <a:latin typeface="Times New Roman"/>
              <a:cs typeface="Times New Roman"/>
            </a:endParaRPr>
          </a:p>
          <a:p>
            <a:pPr marL="12700" marR="11817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Models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imply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existence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“one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method”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 and technique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Approaches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broadest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Theoretical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-5">
                <a:latin typeface="Times New Roman"/>
                <a:cs typeface="Times New Roman"/>
              </a:rPr>
              <a:t> it 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learnt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Methods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Consistent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Plans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practice</a:t>
            </a:r>
            <a:endParaRPr sz="1100">
              <a:latin typeface="Times New Roman"/>
              <a:cs typeface="Times New Roman"/>
            </a:endParaRPr>
          </a:p>
          <a:p>
            <a:pPr marL="12700" marR="33331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Choices about skills, contents and sequencing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technique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Techniques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concrete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level</a:t>
            </a:r>
            <a:endParaRPr sz="1100">
              <a:latin typeface="Times New Roman"/>
              <a:cs typeface="Times New Roman"/>
            </a:endParaRPr>
          </a:p>
          <a:p>
            <a:pPr marL="12700" marR="30327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Comprise the activities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to implement methods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 </a:t>
            </a:r>
            <a:r>
              <a:rPr dirty="0" sz="1100">
                <a:latin typeface="Times New Roman"/>
                <a:cs typeface="Times New Roman"/>
              </a:rPr>
              <a:t>practices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endParaRPr sz="1100">
              <a:latin typeface="Times New Roman"/>
              <a:cs typeface="Times New Roman"/>
            </a:endParaRPr>
          </a:p>
          <a:p>
            <a:pPr marL="12700" marR="35369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Native speaker as the ideal speaker-hearer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 </a:t>
            </a:r>
            <a:r>
              <a:rPr dirty="0" sz="1100">
                <a:latin typeface="Times New Roman"/>
                <a:cs typeface="Times New Roman"/>
              </a:rPr>
              <a:t>practices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Defined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Kachru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“monomodel”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Implies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agreed-upon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definition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</a:t>
            </a:r>
            <a:endParaRPr sz="1100">
              <a:latin typeface="Times New Roman"/>
              <a:cs typeface="Times New Roman"/>
            </a:endParaRPr>
          </a:p>
          <a:p>
            <a:pPr marL="12700" marR="41052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variable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vs.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post-methods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Kumaravadivelu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(2003)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existence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post-method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era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Ineffectiveness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‘one</a:t>
            </a:r>
            <a:r>
              <a:rPr dirty="0" sz="1100" spc="-5">
                <a:latin typeface="Times New Roman"/>
                <a:cs typeface="Times New Roman"/>
              </a:rPr>
              <a:t> size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fits’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approach</a:t>
            </a:r>
            <a:endParaRPr sz="1100">
              <a:latin typeface="Times New Roman"/>
              <a:cs typeface="Times New Roman"/>
            </a:endParaRPr>
          </a:p>
          <a:p>
            <a:pPr marL="12700" marR="32194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Importance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222</a:t>
            </a:r>
            <a:r>
              <a:rPr dirty="0" sz="1100" spc="-5">
                <a:latin typeface="Times New Roman"/>
                <a:cs typeface="Times New Roman"/>
              </a:rPr>
              <a:t> WorldEnglishes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ELT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theoretic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perspective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814060" cy="620776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Existence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models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rather</a:t>
            </a:r>
            <a:r>
              <a:rPr dirty="0" sz="1100" spc="-5">
                <a:latin typeface="Times New Roman"/>
                <a:cs typeface="Times New Roman"/>
              </a:rPr>
              <a:t> 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best</a:t>
            </a:r>
            <a:r>
              <a:rPr dirty="0" sz="1100" spc="-5">
                <a:latin typeface="Times New Roman"/>
                <a:cs typeface="Times New Roman"/>
              </a:rPr>
              <a:t> model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innovations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 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endParaRPr sz="1100">
              <a:latin typeface="Times New Roman"/>
              <a:cs typeface="Times New Roman"/>
            </a:endParaRPr>
          </a:p>
          <a:p>
            <a:pPr marL="12700" marR="31870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belongs </a:t>
            </a:r>
            <a:r>
              <a:rPr dirty="0" sz="1100" spc="-5">
                <a:latin typeface="Times New Roman"/>
                <a:cs typeface="Times New Roman"/>
              </a:rPr>
              <a:t>to all those who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it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theoretic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perspective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awareness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perspective</a:t>
            </a:r>
            <a:r>
              <a:rPr dirty="0" sz="1100" spc="-5">
                <a:latin typeface="Times New Roman"/>
                <a:cs typeface="Times New Roman"/>
              </a:rPr>
              <a:t> among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practitioners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educators</a:t>
            </a:r>
            <a:endParaRPr sz="1100">
              <a:latin typeface="Times New Roman"/>
              <a:cs typeface="Times New Roman"/>
            </a:endParaRPr>
          </a:p>
          <a:p>
            <a:pPr marL="12700" marR="1148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Rarely </a:t>
            </a:r>
            <a:r>
              <a:rPr dirty="0" sz="1100">
                <a:latin typeface="Times New Roman"/>
                <a:cs typeface="Times New Roman"/>
              </a:rPr>
              <a:t>given prominence </a:t>
            </a:r>
            <a:r>
              <a:rPr dirty="0" sz="1100" spc="-5">
                <a:latin typeface="Times New Roman"/>
                <a:cs typeface="Times New Roman"/>
              </a:rPr>
              <a:t>in English language teacher training </a:t>
            </a:r>
            <a:r>
              <a:rPr dirty="0" sz="1100">
                <a:latin typeface="Times New Roman"/>
                <a:cs typeface="Times New Roman"/>
              </a:rPr>
              <a:t>programmes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an international 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intelligibility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Focus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domains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which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needed</a:t>
            </a:r>
            <a:endParaRPr sz="1100">
              <a:latin typeface="Times New Roman"/>
              <a:cs typeface="Times New Roman"/>
            </a:endParaRPr>
          </a:p>
          <a:p>
            <a:pPr marL="12700" marR="4883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cross-cultural </a:t>
            </a:r>
            <a:r>
              <a:rPr dirty="0" sz="1100">
                <a:latin typeface="Times New Roman"/>
                <a:cs typeface="Times New Roman"/>
              </a:rPr>
              <a:t>pragmatic </a:t>
            </a:r>
            <a:r>
              <a:rPr dirty="0" sz="1100" spc="-5">
                <a:latin typeface="Times New Roman"/>
                <a:cs typeface="Times New Roman"/>
              </a:rPr>
              <a:t>competence to ensure </a:t>
            </a:r>
            <a:r>
              <a:rPr dirty="0" sz="1100">
                <a:latin typeface="Times New Roman"/>
                <a:cs typeface="Times New Roman"/>
              </a:rPr>
              <a:t>friendly relations </a:t>
            </a:r>
            <a:r>
              <a:rPr dirty="0" sz="1100" spc="-5">
                <a:latin typeface="Times New Roman"/>
                <a:cs typeface="Times New Roman"/>
              </a:rPr>
              <a:t>among </a:t>
            </a:r>
            <a:r>
              <a:rPr dirty="0" sz="1100">
                <a:latin typeface="Times New Roman"/>
                <a:cs typeface="Times New Roman"/>
              </a:rPr>
              <a:t>users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an international 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respect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flexibility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attention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  <a:p>
            <a:pPr marL="1177290" marR="5080" indent="3863975">
              <a:lnSpc>
                <a:spcPts val="3250"/>
              </a:lnSpc>
              <a:spcBef>
                <a:spcPts val="365"/>
              </a:spcBef>
            </a:pPr>
            <a:r>
              <a:rPr dirty="0" sz="1400" spc="10">
                <a:latin typeface="Times New Roman"/>
                <a:cs typeface="Times New Roman"/>
              </a:rPr>
              <a:t>Lesson-38  </a:t>
            </a:r>
            <a:r>
              <a:rPr dirty="0" sz="1400" spc="25">
                <a:latin typeface="Times New Roman"/>
                <a:cs typeface="Times New Roman"/>
              </a:rPr>
              <a:t>Testing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and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15">
                <a:latin typeface="Times New Roman"/>
                <a:cs typeface="Times New Roman"/>
              </a:rPr>
              <a:t>Assessment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35">
                <a:latin typeface="Times New Roman"/>
                <a:cs typeface="Times New Roman"/>
              </a:rPr>
              <a:t>in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60">
                <a:latin typeface="Times New Roman"/>
                <a:cs typeface="Times New Roman"/>
              </a:rPr>
              <a:t>World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Englishes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35">
                <a:latin typeface="Times New Roman"/>
                <a:cs typeface="Times New Roman"/>
              </a:rPr>
              <a:t>Context</a:t>
            </a:r>
            <a:endParaRPr sz="1400">
              <a:latin typeface="Times New Roman"/>
              <a:cs typeface="Times New Roman"/>
            </a:endParaRPr>
          </a:p>
          <a:p>
            <a:pPr marL="12700" marR="2259330">
              <a:lnSpc>
                <a:spcPct val="110200"/>
              </a:lnSpc>
              <a:spcBef>
                <a:spcPts val="1090"/>
              </a:spcBef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223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Issue of </a:t>
            </a:r>
            <a:r>
              <a:rPr dirty="0" sz="1100" spc="-5">
                <a:latin typeface="Times New Roman"/>
                <a:cs typeface="Times New Roman"/>
              </a:rPr>
              <a:t>Language Testing and World 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 and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Disconnect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insights into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 context</a:t>
            </a:r>
            <a:endParaRPr sz="1100">
              <a:latin typeface="Times New Roman"/>
              <a:cs typeface="Times New Roman"/>
            </a:endParaRPr>
          </a:p>
          <a:p>
            <a:pPr marL="12700" marR="4597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 tests </a:t>
            </a:r>
            <a:r>
              <a:rPr dirty="0" sz="1100">
                <a:latin typeface="Times New Roman"/>
                <a:cs typeface="Times New Roman"/>
              </a:rPr>
              <a:t>do not represent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varieties </a:t>
            </a:r>
            <a:r>
              <a:rPr dirty="0" sz="1100" spc="-5">
                <a:latin typeface="Times New Roman"/>
                <a:cs typeface="Times New Roman"/>
              </a:rPr>
              <a:t>spoken and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in contact situations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 and language tests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Inappropriacy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target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represent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spoken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</a:t>
            </a:r>
            <a:endParaRPr sz="1100">
              <a:latin typeface="Times New Roman"/>
              <a:cs typeface="Times New Roman"/>
            </a:endParaRPr>
          </a:p>
          <a:p>
            <a:pPr marL="12700" marR="172656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Tests </a:t>
            </a:r>
            <a:r>
              <a:rPr dirty="0" sz="1100">
                <a:latin typeface="Times New Roman"/>
                <a:cs typeface="Times New Roman"/>
              </a:rPr>
              <a:t>developed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setting may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invalid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another setting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 and language tests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‘correctness’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items may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context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12700" marR="17545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 is wrong in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5">
                <a:latin typeface="Times New Roman"/>
                <a:cs typeface="Times New Roman"/>
              </a:rPr>
              <a:t>setting may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considered </a:t>
            </a:r>
            <a:r>
              <a:rPr dirty="0" sz="1100">
                <a:latin typeface="Times New Roman"/>
                <a:cs typeface="Times New Roman"/>
              </a:rPr>
              <a:t>right </a:t>
            </a:r>
            <a:r>
              <a:rPr dirty="0" sz="1100" spc="-5">
                <a:latin typeface="Times New Roman"/>
                <a:cs typeface="Times New Roman"/>
              </a:rPr>
              <a:t>in another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 and language tests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Choose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6829588"/>
            <a:ext cx="130175" cy="76454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1.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2.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3.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4.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8900" y="6829588"/>
            <a:ext cx="2648585" cy="764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9055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Our company is </a:t>
            </a:r>
            <a:r>
              <a:rPr dirty="0" sz="1100">
                <a:latin typeface="Times New Roman"/>
                <a:cs typeface="Times New Roman"/>
              </a:rPr>
              <a:t>buying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equipment.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buying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5">
                <a:latin typeface="Times New Roman"/>
                <a:cs typeface="Times New Roman"/>
              </a:rPr>
              <a:t> equipment.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Our company is </a:t>
            </a:r>
            <a:r>
              <a:rPr dirty="0" sz="1100">
                <a:latin typeface="Times New Roman"/>
                <a:cs typeface="Times New Roman"/>
              </a:rPr>
              <a:t>buying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equipments.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buying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equipments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7568410"/>
            <a:ext cx="6362065" cy="18726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299335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224 </a:t>
            </a:r>
            <a:r>
              <a:rPr dirty="0" sz="1100" spc="-5">
                <a:latin typeface="Times New Roman"/>
                <a:cs typeface="Times New Roman"/>
              </a:rPr>
              <a:t>English Language Testing and Non-Native Speaker Variation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local context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Contextualized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testing</a:t>
            </a:r>
            <a:endParaRPr sz="1100">
              <a:latin typeface="Times New Roman"/>
              <a:cs typeface="Times New Roman"/>
            </a:endParaRPr>
          </a:p>
          <a:p>
            <a:pPr marL="12700" marR="20358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Washback effect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testing is likely to impact the teaching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 as the </a:t>
            </a:r>
            <a:r>
              <a:rPr dirty="0" sz="1100">
                <a:latin typeface="Times New Roman"/>
                <a:cs typeface="Times New Roman"/>
              </a:rPr>
              <a:t>norm</a:t>
            </a:r>
            <a:r>
              <a:rPr dirty="0" sz="1100" spc="-5">
                <a:latin typeface="Times New Roman"/>
                <a:cs typeface="Times New Roman"/>
              </a:rPr>
              <a:t> in language testing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include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5">
                <a:latin typeface="Times New Roman"/>
                <a:cs typeface="Times New Roman"/>
              </a:rPr>
              <a:t> speaker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innovations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yet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accepted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educated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assumed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universal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target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proficiency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(examples)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1218558"/>
            <a:ext cx="749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647368"/>
            <a:ext cx="3954145" cy="94932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Prepositional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collocations: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5">
                <a:latin typeface="Times New Roman"/>
                <a:cs typeface="Times New Roman"/>
              </a:rPr>
              <a:t> live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apartment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Road</a:t>
            </a:r>
            <a:endParaRPr sz="1100">
              <a:latin typeface="Times New Roman"/>
              <a:cs typeface="Times New Roman"/>
            </a:endParaRPr>
          </a:p>
          <a:p>
            <a:pPr marL="186690" marR="1202055" indent="-174625">
              <a:lnSpc>
                <a:spcPct val="110200"/>
              </a:lnSpc>
              <a:buFont typeface="Times New Roman"/>
              <a:buChar char="•"/>
              <a:tabLst>
                <a:tab pos="469265" algn="l"/>
                <a:tab pos="469900" algn="l"/>
              </a:tabLst>
            </a:pPr>
            <a:r>
              <a:rPr dirty="0"/>
              <a:t>	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uncountable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countables: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5">
                <a:latin typeface="Times New Roman"/>
                <a:cs typeface="Times New Roman"/>
              </a:rPr>
              <a:t> is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hard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endParaRPr sz="1100">
              <a:latin typeface="Times New Roman"/>
              <a:cs typeface="Times New Roman"/>
            </a:endParaRPr>
          </a:p>
          <a:p>
            <a:pPr marL="186690" marR="2116455" indent="28257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Redundan</a:t>
            </a:r>
            <a:r>
              <a:rPr dirty="0" sz="1100">
                <a:latin typeface="Times New Roman"/>
                <a:cs typeface="Times New Roman"/>
              </a:rPr>
              <a:t>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prepositions:  </a:t>
            </a:r>
            <a:r>
              <a:rPr dirty="0" sz="1100" spc="-5">
                <a:latin typeface="Times New Roman"/>
                <a:cs typeface="Times New Roman"/>
              </a:rPr>
              <a:t>We’re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discussing about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1570899"/>
            <a:ext cx="6110605" cy="6675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endParaRPr sz="1100">
              <a:latin typeface="Times New Roman"/>
              <a:cs typeface="Times New Roman"/>
            </a:endParaRPr>
          </a:p>
          <a:p>
            <a:pPr marL="12700" marR="26257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 testing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reflects 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‘deficit linguistics’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tests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Deficit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Variations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errors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Evidence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‘Interlanguage’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‘Fossilized’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204787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225 </a:t>
            </a:r>
            <a:r>
              <a:rPr dirty="0" sz="1100" spc="-5">
                <a:latin typeface="Times New Roman"/>
                <a:cs typeface="Times New Roman"/>
              </a:rPr>
              <a:t>English Language Testing and Non-Native Speaker Variation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Norms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language testing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Testing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 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how</a:t>
            </a:r>
            <a:r>
              <a:rPr dirty="0" sz="1100" spc="-5">
                <a:latin typeface="Times New Roman"/>
                <a:cs typeface="Times New Roman"/>
              </a:rPr>
              <a:t> close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speaker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endParaRPr sz="1100">
              <a:latin typeface="Times New Roman"/>
              <a:cs typeface="Times New Roman"/>
            </a:endParaRPr>
          </a:p>
          <a:p>
            <a:pPr marL="12700" marR="15074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Difficulty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differentiating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errors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Validity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tests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reflect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differences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5">
                <a:latin typeface="Times New Roman"/>
                <a:cs typeface="Times New Roman"/>
              </a:rPr>
              <a:t> speaker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endParaRPr sz="1100">
              <a:latin typeface="Times New Roman"/>
              <a:cs typeface="Times New Roman"/>
            </a:endParaRPr>
          </a:p>
          <a:p>
            <a:pPr marL="12700" marR="20358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Doubts about the </a:t>
            </a:r>
            <a:r>
              <a:rPr dirty="0" sz="1100">
                <a:latin typeface="Times New Roman"/>
                <a:cs typeface="Times New Roman"/>
              </a:rPr>
              <a:t>validity of </a:t>
            </a:r>
            <a:r>
              <a:rPr dirty="0" sz="1100" spc="-5">
                <a:latin typeface="Times New Roman"/>
                <a:cs typeface="Times New Roman"/>
              </a:rPr>
              <a:t>tests </a:t>
            </a:r>
            <a:r>
              <a:rPr dirty="0" sz="1100">
                <a:latin typeface="Times New Roman"/>
                <a:cs typeface="Times New Roman"/>
              </a:rPr>
              <a:t>based on native </a:t>
            </a:r>
            <a:r>
              <a:rPr dirty="0" sz="1100" spc="-5">
                <a:latin typeface="Times New Roman"/>
                <a:cs typeface="Times New Roman"/>
              </a:rPr>
              <a:t>speaker </a:t>
            </a:r>
            <a:r>
              <a:rPr dirty="0" sz="1100">
                <a:latin typeface="Times New Roman"/>
                <a:cs typeface="Times New Roman"/>
              </a:rPr>
              <a:t>norms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Validity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tests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Validity</a:t>
            </a:r>
            <a:endParaRPr sz="1100">
              <a:latin typeface="Times New Roman"/>
              <a:cs typeface="Times New Roman"/>
            </a:endParaRPr>
          </a:p>
          <a:p>
            <a:pPr marL="12700" marR="17875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validity refers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how </a:t>
            </a:r>
            <a:r>
              <a:rPr dirty="0" sz="1100" spc="-5">
                <a:latin typeface="Times New Roman"/>
                <a:cs typeface="Times New Roman"/>
              </a:rPr>
              <a:t>well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test measures what it claims to measure.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Solution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testing world 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Paradig</a:t>
            </a:r>
            <a:r>
              <a:rPr dirty="0" sz="1100">
                <a:latin typeface="Times New Roman"/>
                <a:cs typeface="Times New Roman"/>
              </a:rPr>
              <a:t>m</a:t>
            </a:r>
            <a:r>
              <a:rPr dirty="0" sz="1100" spc="-5">
                <a:latin typeface="Times New Roman"/>
                <a:cs typeface="Times New Roman"/>
              </a:rPr>
              <a:t> shift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Distinctions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monolingual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Mutual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exposure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29832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Re-thinking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language teaching </a:t>
            </a:r>
            <a:r>
              <a:rPr dirty="0" sz="1100">
                <a:latin typeface="Times New Roman"/>
                <a:cs typeface="Times New Roman"/>
              </a:rPr>
              <a:t>goals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Solution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testing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 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Re-thinking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goals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Overhauling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testing</a:t>
            </a:r>
            <a:endParaRPr sz="1100">
              <a:latin typeface="Times New Roman"/>
              <a:cs typeface="Times New Roman"/>
            </a:endParaRPr>
          </a:p>
          <a:p>
            <a:pPr marL="12700" marR="6508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Reluctance to accept curricular changes </a:t>
            </a:r>
            <a:r>
              <a:rPr dirty="0" sz="1100">
                <a:latin typeface="Times New Roman"/>
                <a:cs typeface="Times New Roman"/>
              </a:rPr>
              <a:t>not reflected </a:t>
            </a:r>
            <a:r>
              <a:rPr dirty="0" sz="1100" spc="-5">
                <a:latin typeface="Times New Roman"/>
                <a:cs typeface="Times New Roman"/>
              </a:rPr>
              <a:t>in the targets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examination </a:t>
            </a:r>
            <a:r>
              <a:rPr dirty="0" sz="1100">
                <a:latin typeface="Times New Roman"/>
                <a:cs typeface="Times New Roman"/>
              </a:rPr>
              <a:t>boards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126 </a:t>
            </a:r>
            <a:r>
              <a:rPr dirty="0" sz="1100" spc="-5">
                <a:latin typeface="Times New Roman"/>
                <a:cs typeface="Times New Roman"/>
              </a:rPr>
              <a:t>Critique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Existing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Tests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Issues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broadly</a:t>
            </a:r>
            <a:r>
              <a:rPr dirty="0" sz="1100" spc="-5">
                <a:latin typeface="Times New Roman"/>
                <a:cs typeface="Times New Roman"/>
              </a:rPr>
              <a:t> applied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little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norms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evaluate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takers’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performance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Biases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ELT testing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Biases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favour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inner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standardized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testing</a:t>
            </a:r>
            <a:endParaRPr sz="1100">
              <a:latin typeface="Times New Roman"/>
              <a:cs typeface="Times New Roman"/>
            </a:endParaRPr>
          </a:p>
          <a:p>
            <a:pPr marL="12700" marR="167893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Test-takers </a:t>
            </a:r>
            <a:r>
              <a:rPr dirty="0" sz="1100">
                <a:latin typeface="Times New Roman"/>
                <a:cs typeface="Times New Roman"/>
              </a:rPr>
              <a:t>have no or </a:t>
            </a:r>
            <a:r>
              <a:rPr dirty="0" sz="1100" spc="-5">
                <a:latin typeface="Times New Roman"/>
                <a:cs typeface="Times New Roman"/>
              </a:rPr>
              <a:t>little contact with the </a:t>
            </a:r>
            <a:r>
              <a:rPr dirty="0" sz="1100">
                <a:latin typeface="Times New Roman"/>
                <a:cs typeface="Times New Roman"/>
              </a:rPr>
              <a:t>native varieties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Biases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ELT testing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8237353"/>
            <a:ext cx="749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24602" y="8237353"/>
            <a:ext cx="585660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Test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(TOEIC)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supposedly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neutral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shows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bias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700" y="8404985"/>
            <a:ext cx="4535170" cy="949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104515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towards standard English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Adaptations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Inevitability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adaptations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Unavailability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native-speaker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(media,</a:t>
            </a:r>
            <a:r>
              <a:rPr dirty="0" sz="1100" spc="-5">
                <a:latin typeface="Times New Roman"/>
                <a:cs typeface="Times New Roman"/>
              </a:rPr>
              <a:t> literature,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reflect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contexts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74765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Divergence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Conflation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count/mass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codeswitchings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threats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intimidations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Divergence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Fixed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collocations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prepositions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fill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printed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endParaRPr sz="1100">
              <a:latin typeface="Times New Roman"/>
              <a:cs typeface="Times New Roman"/>
            </a:endParaRPr>
          </a:p>
          <a:p>
            <a:pPr marL="12700" marR="44551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cope </a:t>
            </a:r>
            <a:r>
              <a:rPr dirty="0" sz="1100">
                <a:latin typeface="Times New Roman"/>
                <a:cs typeface="Times New Roman"/>
              </a:rPr>
              <a:t>up </a:t>
            </a:r>
            <a:r>
              <a:rPr dirty="0" sz="1100" spc="-5">
                <a:latin typeface="Times New Roman"/>
                <a:cs typeface="Times New Roman"/>
              </a:rPr>
              <a:t>with the situation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Innovation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mistake?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Individual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uses</a:t>
            </a:r>
            <a:r>
              <a:rPr dirty="0" sz="1100" spc="-5">
                <a:latin typeface="Times New Roman"/>
                <a:cs typeface="Times New Roman"/>
              </a:rPr>
              <a:t> 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difficult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classify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mistake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innovations</a:t>
            </a:r>
            <a:endParaRPr sz="1100">
              <a:latin typeface="Times New Roman"/>
              <a:cs typeface="Times New Roman"/>
            </a:endParaRPr>
          </a:p>
          <a:p>
            <a:pPr marL="12700" marR="14801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Broad </a:t>
            </a:r>
            <a:r>
              <a:rPr dirty="0" sz="1100">
                <a:latin typeface="Times New Roman"/>
                <a:cs typeface="Times New Roman"/>
              </a:rPr>
              <a:t>observation </a:t>
            </a:r>
            <a:r>
              <a:rPr dirty="0" sz="1100" spc="-5">
                <a:latin typeface="Times New Roman"/>
                <a:cs typeface="Times New Roman"/>
              </a:rPr>
              <a:t>can identify items that are well established in some </a:t>
            </a:r>
            <a:r>
              <a:rPr dirty="0" sz="1100">
                <a:latin typeface="Times New Roman"/>
                <a:cs typeface="Times New Roman"/>
              </a:rPr>
              <a:t>varieties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227 </a:t>
            </a:r>
            <a:r>
              <a:rPr dirty="0" sz="1100" spc="-5">
                <a:latin typeface="Times New Roman"/>
                <a:cs typeface="Times New Roman"/>
              </a:rPr>
              <a:t>Critique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Existing English Language Tests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professionals’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dilemma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adhere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endParaRPr sz="1100">
              <a:latin typeface="Times New Roman"/>
              <a:cs typeface="Times New Roman"/>
            </a:endParaRPr>
          </a:p>
          <a:p>
            <a:pPr marL="12700" marR="8547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Certain language test items consider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form because of </a:t>
            </a:r>
            <a:r>
              <a:rPr dirty="0" sz="1100" spc="-5">
                <a:latin typeface="Times New Roman"/>
                <a:cs typeface="Times New Roman"/>
              </a:rPr>
              <a:t>its misfit to </a:t>
            </a:r>
            <a:r>
              <a:rPr dirty="0" sz="1100">
                <a:latin typeface="Times New Roman"/>
                <a:cs typeface="Times New Roman"/>
              </a:rPr>
              <a:t>a given norm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professionals’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dilemma</a:t>
            </a:r>
            <a:endParaRPr sz="1100">
              <a:latin typeface="Times New Roman"/>
              <a:cs typeface="Times New Roman"/>
            </a:endParaRPr>
          </a:p>
          <a:p>
            <a:pPr marL="12700" marR="5118735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teach?</a:t>
            </a:r>
            <a:endParaRPr sz="1100">
              <a:latin typeface="Times New Roman"/>
              <a:cs typeface="Times New Roman"/>
            </a:endParaRPr>
          </a:p>
          <a:p>
            <a:pPr marL="12700" marR="5118735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norm?</a:t>
            </a:r>
            <a:endParaRPr sz="1100">
              <a:latin typeface="Times New Roman"/>
              <a:cs typeface="Times New Roman"/>
            </a:endParaRPr>
          </a:p>
          <a:p>
            <a:pPr marL="12700" marR="459803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decides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is?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vs.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Unwise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5">
                <a:latin typeface="Times New Roman"/>
                <a:cs typeface="Times New Roman"/>
              </a:rPr>
              <a:t> tests 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norms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those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takers</a:t>
            </a:r>
            <a:endParaRPr sz="1100">
              <a:latin typeface="Times New Roman"/>
              <a:cs typeface="Times New Roman"/>
            </a:endParaRPr>
          </a:p>
          <a:p>
            <a:pPr marL="12700" marR="25412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need </a:t>
            </a:r>
            <a:r>
              <a:rPr dirty="0" sz="1100" spc="-5">
                <a:latin typeface="Times New Roman"/>
                <a:cs typeface="Times New Roman"/>
              </a:rPr>
              <a:t>to teach learners the </a:t>
            </a:r>
            <a:r>
              <a:rPr dirty="0" sz="1100">
                <a:latin typeface="Times New Roman"/>
                <a:cs typeface="Times New Roman"/>
              </a:rPr>
              <a:t>norm </a:t>
            </a:r>
            <a:r>
              <a:rPr dirty="0" sz="1100" spc="-5">
                <a:latin typeface="Times New Roman"/>
                <a:cs typeface="Times New Roman"/>
              </a:rPr>
              <a:t>to which they are tested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Adaptations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designers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awareness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Variety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legitimate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developing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across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endParaRPr sz="1100">
              <a:latin typeface="Times New Roman"/>
              <a:cs typeface="Times New Roman"/>
            </a:endParaRPr>
          </a:p>
          <a:p>
            <a:pPr marL="12700" marR="29425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Norms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countries and </a:t>
            </a:r>
            <a:r>
              <a:rPr dirty="0" sz="1100">
                <a:latin typeface="Times New Roman"/>
                <a:cs typeface="Times New Roman"/>
              </a:rPr>
              <a:t>regions </a:t>
            </a:r>
            <a:r>
              <a:rPr dirty="0" sz="1100" spc="-5">
                <a:latin typeface="Times New Roman"/>
                <a:cs typeface="Times New Roman"/>
              </a:rPr>
              <a:t>they aim to serve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of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carefully</a:t>
            </a:r>
            <a:endParaRPr sz="1100">
              <a:latin typeface="Times New Roman"/>
              <a:cs typeface="Times New Roman"/>
            </a:endParaRPr>
          </a:p>
          <a:p>
            <a:pPr marL="12700" marR="23983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well </a:t>
            </a:r>
            <a:r>
              <a:rPr dirty="0" sz="1100">
                <a:latin typeface="Times New Roman"/>
                <a:cs typeface="Times New Roman"/>
              </a:rPr>
              <a:t>designed </a:t>
            </a:r>
            <a:r>
              <a:rPr dirty="0" sz="1100" spc="-5">
                <a:latin typeface="Times New Roman"/>
                <a:cs typeface="Times New Roman"/>
              </a:rPr>
              <a:t>test may </a:t>
            </a:r>
            <a:r>
              <a:rPr dirty="0" sz="1100">
                <a:latin typeface="Times New Roman"/>
                <a:cs typeface="Times New Roman"/>
              </a:rPr>
              <a:t>not be </a:t>
            </a:r>
            <a:r>
              <a:rPr dirty="0" sz="1100" spc="-5">
                <a:latin typeface="Times New Roman"/>
                <a:cs typeface="Times New Roman"/>
              </a:rPr>
              <a:t>applicable to </a:t>
            </a:r>
            <a:r>
              <a:rPr dirty="0" sz="1100">
                <a:latin typeface="Times New Roman"/>
                <a:cs typeface="Times New Roman"/>
              </a:rPr>
              <a:t>a given </a:t>
            </a:r>
            <a:r>
              <a:rPr dirty="0" sz="1100" spc="-5">
                <a:latin typeface="Times New Roman"/>
                <a:cs typeface="Times New Roman"/>
              </a:rPr>
              <a:t>situation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228</a:t>
            </a:r>
            <a:r>
              <a:rPr dirty="0" sz="1100" spc="-5">
                <a:latin typeface="Times New Roman"/>
                <a:cs typeface="Times New Roman"/>
              </a:rPr>
              <a:t> English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Imperialism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assessment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Inevitability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38112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assessment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assessment</a:t>
            </a:r>
            <a:endParaRPr sz="1100">
              <a:latin typeface="Times New Roman"/>
              <a:cs typeface="Times New Roman"/>
            </a:endParaRPr>
          </a:p>
          <a:p>
            <a:pPr marL="12700" marR="273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promote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intra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linguistically</a:t>
            </a:r>
            <a:r>
              <a:rPr dirty="0" sz="1100" spc="1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</a:t>
            </a:r>
            <a:endParaRPr sz="1100">
              <a:latin typeface="Times New Roman"/>
              <a:cs typeface="Times New Roman"/>
            </a:endParaRPr>
          </a:p>
          <a:p>
            <a:pPr marL="12700" marR="16135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Irrelevance of native </a:t>
            </a:r>
            <a:r>
              <a:rPr dirty="0" sz="1100" spc="-5">
                <a:latin typeface="Times New Roman"/>
                <a:cs typeface="Times New Roman"/>
              </a:rPr>
              <a:t>speaker criterion in measuring second/foreign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hegemony 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inner circle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Majority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5">
                <a:latin typeface="Times New Roman"/>
                <a:cs typeface="Times New Roman"/>
              </a:rPr>
              <a:t> come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12700" marR="17640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Hegemony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inner circle </a:t>
            </a:r>
            <a:r>
              <a:rPr dirty="0" sz="1100">
                <a:latin typeface="Times New Roman"/>
                <a:cs typeface="Times New Roman"/>
              </a:rPr>
              <a:t>over </a:t>
            </a:r>
            <a:r>
              <a:rPr dirty="0" sz="1100" spc="-5">
                <a:latin typeface="Times New Roman"/>
                <a:cs typeface="Times New Roman"/>
              </a:rPr>
              <a:t>English language educational management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hegemony 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inner circle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Hegemony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“Power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exerted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dominant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society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sustainable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if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gains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‘consent’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masses.”</a:t>
            </a:r>
            <a:endParaRPr sz="1100">
              <a:latin typeface="Times New Roman"/>
              <a:cs typeface="Times New Roman"/>
            </a:endParaRPr>
          </a:p>
          <a:p>
            <a:pPr marL="12700" marR="428053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Gramsci cited in Khan, </a:t>
            </a:r>
            <a:r>
              <a:rPr dirty="0" sz="1100">
                <a:latin typeface="Times New Roman"/>
                <a:cs typeface="Times New Roman"/>
              </a:rPr>
              <a:t>2008, p. 191)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testing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598920" cy="9235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Expanding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circle countries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seeking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professional </a:t>
            </a:r>
            <a:r>
              <a:rPr dirty="0" sz="1100" spc="-5">
                <a:latin typeface="Times New Roman"/>
                <a:cs typeface="Times New Roman"/>
              </a:rPr>
              <a:t>expertise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located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inner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circle</a:t>
            </a:r>
            <a:endParaRPr sz="1100">
              <a:latin typeface="Times New Roman"/>
              <a:cs typeface="Times New Roman"/>
            </a:endParaRPr>
          </a:p>
          <a:p>
            <a:pPr marL="12700" marR="173926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Prevalent imperialism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major international tests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(TOEFL, IELTS)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 and testing</a:t>
            </a:r>
            <a:endParaRPr sz="1100">
              <a:latin typeface="Times New Roman"/>
              <a:cs typeface="Times New Roman"/>
            </a:endParaRPr>
          </a:p>
          <a:p>
            <a:pPr marL="12700" marR="93471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International </a:t>
            </a:r>
            <a:r>
              <a:rPr dirty="0" sz="1100" spc="-5">
                <a:latin typeface="Times New Roman"/>
                <a:cs typeface="Times New Roman"/>
              </a:rPr>
              <a:t>tests support and serve the </a:t>
            </a:r>
            <a:r>
              <a:rPr dirty="0" sz="1100">
                <a:latin typeface="Times New Roman"/>
                <a:cs typeface="Times New Roman"/>
              </a:rPr>
              <a:t>variety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prevalent </a:t>
            </a:r>
            <a:r>
              <a:rPr dirty="0" sz="1100" spc="-5">
                <a:latin typeface="Times New Roman"/>
                <a:cs typeface="Times New Roman"/>
              </a:rPr>
              <a:t>in their source countries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 and testing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international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high-stakes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decisions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demand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TOEFL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preparation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courses</a:t>
            </a:r>
            <a:endParaRPr sz="1100">
              <a:latin typeface="Times New Roman"/>
              <a:cs typeface="Times New Roman"/>
            </a:endParaRPr>
          </a:p>
          <a:p>
            <a:pPr marL="12700" marR="27019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High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yielded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publishers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preparation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imperialism and testing</a:t>
            </a:r>
            <a:endParaRPr sz="1100">
              <a:latin typeface="Times New Roman"/>
              <a:cs typeface="Times New Roman"/>
            </a:endParaRPr>
          </a:p>
          <a:p>
            <a:pPr marL="12700" marR="2393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purpose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EIL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facilitate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amongst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2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20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2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Irrelevance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tests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evidence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algn="r" marR="789940">
              <a:lnSpc>
                <a:spcPct val="100000"/>
              </a:lnSpc>
            </a:pPr>
            <a:r>
              <a:rPr dirty="0" sz="1400" spc="10">
                <a:latin typeface="Times New Roman"/>
                <a:cs typeface="Times New Roman"/>
              </a:rPr>
              <a:t>Lesson-39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328295">
              <a:lnSpc>
                <a:spcPct val="100000"/>
              </a:lnSpc>
            </a:pPr>
            <a:r>
              <a:rPr dirty="0" sz="1400" spc="15">
                <a:latin typeface="Times New Roman"/>
                <a:cs typeface="Times New Roman"/>
              </a:rPr>
              <a:t>Role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25">
                <a:latin typeface="Times New Roman"/>
                <a:cs typeface="Times New Roman"/>
              </a:rPr>
              <a:t>English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35">
                <a:latin typeface="Times New Roman"/>
                <a:cs typeface="Times New Roman"/>
              </a:rPr>
              <a:t>in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45">
                <a:latin typeface="Times New Roman"/>
                <a:cs typeface="Times New Roman"/>
              </a:rPr>
              <a:t>Higher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45">
                <a:latin typeface="Times New Roman"/>
                <a:cs typeface="Times New Roman"/>
              </a:rPr>
              <a:t>Education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Lecture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39</a:t>
            </a:r>
            <a:endParaRPr sz="1100">
              <a:latin typeface="Times New Roman"/>
              <a:cs typeface="Times New Roman"/>
            </a:endParaRPr>
          </a:p>
          <a:p>
            <a:pPr marL="12700" marR="348615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229 </a:t>
            </a:r>
            <a:r>
              <a:rPr dirty="0" sz="1100" spc="-5">
                <a:latin typeface="Times New Roman"/>
                <a:cs typeface="Times New Roman"/>
              </a:rPr>
              <a:t>English Language in Higher Education </a:t>
            </a:r>
            <a:r>
              <a:rPr dirty="0" sz="1100">
                <a:latin typeface="Times New Roman"/>
                <a:cs typeface="Times New Roman"/>
              </a:rPr>
              <a:t>(HE)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Mutual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globalization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globalization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High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12700" marR="31667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facilitating </a:t>
            </a:r>
            <a:r>
              <a:rPr dirty="0" sz="1100" spc="-5">
                <a:latin typeface="Times New Roman"/>
                <a:cs typeface="Times New Roman"/>
              </a:rPr>
              <a:t>international students and </a:t>
            </a:r>
            <a:r>
              <a:rPr dirty="0" sz="1100">
                <a:latin typeface="Times New Roman"/>
                <a:cs typeface="Times New Roman"/>
              </a:rPr>
              <a:t>faculty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Mutual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globalization 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HE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Traditional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Contemporary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universities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Mutual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globalization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Domination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High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12700" marR="29190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Increasing use of </a:t>
            </a:r>
            <a:r>
              <a:rPr dirty="0" sz="1100" spc="-5">
                <a:latin typeface="Times New Roman"/>
                <a:cs typeface="Times New Roman"/>
              </a:rPr>
              <a:t>English as medium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instruction in 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Mutual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globalization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HE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Universities’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attract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around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endParaRPr sz="1100">
              <a:latin typeface="Times New Roman"/>
              <a:cs typeface="Times New Roman"/>
            </a:endParaRPr>
          </a:p>
          <a:p>
            <a:pPr marL="12700" marR="23768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encourage international students to enrol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their courses enriching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230 </a:t>
            </a:r>
            <a:r>
              <a:rPr dirty="0" sz="1100" spc="-5">
                <a:latin typeface="Times New Roman"/>
                <a:cs typeface="Times New Roman"/>
              </a:rPr>
              <a:t>The Globalization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Universities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Globalization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operate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place</a:t>
            </a:r>
            <a:endParaRPr sz="1100">
              <a:latin typeface="Times New Roman"/>
              <a:cs typeface="Times New Roman"/>
            </a:endParaRPr>
          </a:p>
          <a:p>
            <a:pPr marL="12700" marR="16681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facilitates </a:t>
            </a:r>
            <a:r>
              <a:rPr dirty="0" sz="1100" spc="-5">
                <a:latin typeface="Times New Roman"/>
                <a:cs typeface="Times New Roman"/>
              </a:rPr>
              <a:t>the international mobility </a:t>
            </a:r>
            <a:r>
              <a:rPr dirty="0" sz="1100">
                <a:latin typeface="Times New Roman"/>
                <a:cs typeface="Times New Roman"/>
              </a:rPr>
              <a:t>of researchers, faculty </a:t>
            </a:r>
            <a:r>
              <a:rPr dirty="0" sz="1100" spc="-5">
                <a:latin typeface="Times New Roman"/>
                <a:cs typeface="Times New Roman"/>
              </a:rPr>
              <a:t>and students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Bologna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Signed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1999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Aimed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standardizing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harmonizing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university</a:t>
            </a:r>
            <a:r>
              <a:rPr dirty="0" sz="1100" spc="-5">
                <a:latin typeface="Times New Roman"/>
                <a:cs typeface="Times New Roman"/>
              </a:rPr>
              <a:t> education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along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</a:t>
            </a:r>
            <a:endParaRPr sz="1100">
              <a:latin typeface="Times New Roman"/>
              <a:cs typeface="Times New Roman"/>
            </a:endParaRPr>
          </a:p>
          <a:p>
            <a:pPr marL="12700" marR="29298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using a </a:t>
            </a:r>
            <a:r>
              <a:rPr dirty="0" sz="1100" spc="-5">
                <a:latin typeface="Times New Roman"/>
                <a:cs typeface="Times New Roman"/>
              </a:rPr>
              <a:t>common approach to levels and length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courses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Bologna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standardisation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to: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321935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Facilitate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greater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</a:t>
            </a:r>
            <a:endParaRPr sz="1100">
              <a:latin typeface="Times New Roman"/>
              <a:cs typeface="Times New Roman"/>
            </a:endParaRPr>
          </a:p>
          <a:p>
            <a:pPr marL="12700" marR="8528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Make European </a:t>
            </a:r>
            <a:r>
              <a:rPr dirty="0" sz="1100">
                <a:latin typeface="Times New Roman"/>
                <a:cs typeface="Times New Roman"/>
              </a:rPr>
              <a:t>higher </a:t>
            </a:r>
            <a:r>
              <a:rPr dirty="0" sz="1100" spc="-5">
                <a:latin typeface="Times New Roman"/>
                <a:cs typeface="Times New Roman"/>
              </a:rPr>
              <a:t>education more attractive to students </a:t>
            </a:r>
            <a:r>
              <a:rPr dirty="0" sz="1100">
                <a:latin typeface="Times New Roman"/>
                <a:cs typeface="Times New Roman"/>
              </a:rPr>
              <a:t>from other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Bologna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Process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</a:t>
            </a:r>
            <a:endParaRPr sz="1100">
              <a:latin typeface="Times New Roman"/>
              <a:cs typeface="Times New Roman"/>
            </a:endParaRPr>
          </a:p>
          <a:p>
            <a:pPr marL="12700" marR="1460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is encouraged to </a:t>
            </a:r>
            <a:r>
              <a:rPr dirty="0" sz="1100">
                <a:latin typeface="Times New Roman"/>
                <a:cs typeface="Times New Roman"/>
              </a:rPr>
              <a:t>facilitate </a:t>
            </a:r>
            <a:r>
              <a:rPr dirty="0" sz="1100" spc="-5">
                <a:latin typeface="Times New Roman"/>
                <a:cs typeface="Times New Roman"/>
              </a:rPr>
              <a:t>the students and </a:t>
            </a:r>
            <a:r>
              <a:rPr dirty="0" sz="1100">
                <a:latin typeface="Times New Roman"/>
                <a:cs typeface="Times New Roman"/>
              </a:rPr>
              <a:t>faculty from other </a:t>
            </a:r>
            <a:r>
              <a:rPr dirty="0" sz="1100" spc="-5">
                <a:latin typeface="Times New Roman"/>
                <a:cs typeface="Times New Roman"/>
              </a:rPr>
              <a:t>countries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Globalization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HE in Asian countries</a:t>
            </a:r>
            <a:endParaRPr sz="1100">
              <a:latin typeface="Times New Roman"/>
              <a:cs typeface="Times New Roman"/>
            </a:endParaRPr>
          </a:p>
          <a:p>
            <a:pPr marL="12700" marR="14839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Students attracted to the </a:t>
            </a:r>
            <a:r>
              <a:rPr dirty="0" sz="1100">
                <a:latin typeface="Times New Roman"/>
                <a:cs typeface="Times New Roman"/>
              </a:rPr>
              <a:t>higher </a:t>
            </a:r>
            <a:r>
              <a:rPr dirty="0" sz="1100" spc="-5">
                <a:latin typeface="Times New Roman"/>
                <a:cs typeface="Times New Roman"/>
              </a:rPr>
              <a:t>education in Asian countries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Graduates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proficiency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Suitability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graduates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employment</a:t>
            </a:r>
            <a:endParaRPr sz="1100">
              <a:latin typeface="Times New Roman"/>
              <a:cs typeface="Times New Roman"/>
            </a:endParaRPr>
          </a:p>
          <a:p>
            <a:pPr marL="12700" marR="8731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Weak spoken-English skills considered the </a:t>
            </a:r>
            <a:r>
              <a:rPr dirty="0" sz="1100">
                <a:latin typeface="Times New Roman"/>
                <a:cs typeface="Times New Roman"/>
              </a:rPr>
              <a:t>biggest barrier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good </a:t>
            </a:r>
            <a:r>
              <a:rPr dirty="0" sz="1100" spc="-5">
                <a:latin typeface="Times New Roman"/>
                <a:cs typeface="Times New Roman"/>
              </a:rPr>
              <a:t>jobs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231 </a:t>
            </a:r>
            <a:r>
              <a:rPr dirty="0" sz="1100" spc="-5">
                <a:latin typeface="Times New Roman"/>
                <a:cs typeface="Times New Roman"/>
              </a:rPr>
              <a:t>English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International </a:t>
            </a:r>
            <a:r>
              <a:rPr dirty="0" sz="1100" spc="-5">
                <a:latin typeface="Times New Roman"/>
                <a:cs typeface="Times New Roman"/>
              </a:rPr>
              <a:t>Higher Education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mobility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Millions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students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year</a:t>
            </a:r>
            <a:r>
              <a:rPr dirty="0" sz="1100" spc="-5">
                <a:latin typeface="Times New Roman"/>
                <a:cs typeface="Times New Roman"/>
              </a:rPr>
              <a:t> travel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endParaRPr sz="1100">
              <a:latin typeface="Times New Roman"/>
              <a:cs typeface="Times New Roman"/>
            </a:endParaRPr>
          </a:p>
          <a:p>
            <a:pPr marL="12700" marR="1797685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speaking countries among the top </a:t>
            </a:r>
            <a:r>
              <a:rPr dirty="0" sz="1100">
                <a:latin typeface="Times New Roman"/>
                <a:cs typeface="Times New Roman"/>
              </a:rPr>
              <a:t>preferences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English speaking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Universities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rank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league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tables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Commercial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12700" marR="11296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Marketing </a:t>
            </a:r>
            <a:r>
              <a:rPr dirty="0" sz="1100">
                <a:latin typeface="Times New Roman"/>
                <a:cs typeface="Times New Roman"/>
              </a:rPr>
              <a:t>of programmes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overseas </a:t>
            </a:r>
            <a:r>
              <a:rPr dirty="0" sz="1100" spc="-5">
                <a:latin typeface="Times New Roman"/>
                <a:cs typeface="Times New Roman"/>
              </a:rPr>
              <a:t>students to </a:t>
            </a:r>
            <a:r>
              <a:rPr dirty="0" sz="1100">
                <a:latin typeface="Times New Roman"/>
                <a:cs typeface="Times New Roman"/>
              </a:rPr>
              <a:t>generate </a:t>
            </a:r>
            <a:r>
              <a:rPr dirty="0" sz="1100" spc="-5">
                <a:latin typeface="Times New Roman"/>
                <a:cs typeface="Times New Roman"/>
              </a:rPr>
              <a:t>income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medium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instruction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investment</a:t>
            </a:r>
            <a:endParaRPr sz="1100">
              <a:latin typeface="Times New Roman"/>
              <a:cs typeface="Times New Roman"/>
            </a:endParaRPr>
          </a:p>
          <a:p>
            <a:pPr marL="12700" marR="2152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instruction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over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half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competitors in international HE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Improved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quality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Rapid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expansion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reforms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competitors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improved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attracting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e.g.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offering</a:t>
            </a:r>
            <a:r>
              <a:rPr dirty="0" sz="1100" spc="-5">
                <a:latin typeface="Times New Roman"/>
                <a:cs typeface="Times New Roman"/>
              </a:rPr>
              <a:t> courses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taught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China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Malaysia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Singapore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Germany</a:t>
            </a:r>
            <a:endParaRPr sz="1100">
              <a:latin typeface="Times New Roman"/>
              <a:cs typeface="Times New Roman"/>
            </a:endParaRPr>
          </a:p>
          <a:p>
            <a:pPr marL="12700" marR="333184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232 </a:t>
            </a:r>
            <a:r>
              <a:rPr dirty="0" sz="1100" spc="-5">
                <a:latin typeface="Times New Roman"/>
                <a:cs typeface="Times New Roman"/>
              </a:rPr>
              <a:t>Transnational Education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scenario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1990s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Expectations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Globalization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 marL="12700" marR="23456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Domination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English-speaking </a:t>
            </a:r>
            <a:r>
              <a:rPr dirty="0" sz="1100">
                <a:latin typeface="Times New Roman"/>
                <a:cs typeface="Times New Roman"/>
              </a:rPr>
              <a:t>universities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scenario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1990s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Popularity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virtual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universities</a:t>
            </a:r>
            <a:endParaRPr sz="1100">
              <a:latin typeface="Times New Roman"/>
              <a:cs typeface="Times New Roman"/>
            </a:endParaRPr>
          </a:p>
          <a:p>
            <a:pPr marL="12700" marR="33235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Online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degree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programmes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Failure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e-learning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High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expectations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Skepticism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e-learning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programmes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Huge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investment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requirements</a:t>
            </a:r>
            <a:endParaRPr sz="1100">
              <a:latin typeface="Times New Roman"/>
              <a:cs typeface="Times New Roman"/>
            </a:endParaRPr>
          </a:p>
          <a:p>
            <a:pPr marL="12700" marR="24225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High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expenses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online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distance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Adaptation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626735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e-learning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ventures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Improvement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broadband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infrastructure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Blending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e-learning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  <a:p>
            <a:pPr marL="12700" marR="22326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E-learning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significant strand in world education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Adaptation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e-learning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ventures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ELearning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management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human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</a:t>
            </a:r>
            <a:endParaRPr sz="1100">
              <a:latin typeface="Times New Roman"/>
              <a:cs typeface="Times New Roman"/>
            </a:endParaRPr>
          </a:p>
          <a:p>
            <a:pPr marL="12700" marR="26689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Adaptation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pedagogical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233</a:t>
            </a:r>
            <a:r>
              <a:rPr dirty="0" sz="1100" spc="-5">
                <a:latin typeface="Times New Roman"/>
                <a:cs typeface="Times New Roman"/>
              </a:rPr>
              <a:t> Transnational Education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Joint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ventures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overseas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campuses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joint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ventures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overseas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branch</a:t>
            </a:r>
            <a:r>
              <a:rPr dirty="0" sz="1100" spc="-5">
                <a:latin typeface="Times New Roman"/>
                <a:cs typeface="Times New Roman"/>
              </a:rPr>
              <a:t> campuses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attract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Student’s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home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target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market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universities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Joint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ventures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overseas </a:t>
            </a:r>
            <a:r>
              <a:rPr dirty="0" sz="1100" spc="-5">
                <a:latin typeface="Times New Roman"/>
                <a:cs typeface="Times New Roman"/>
              </a:rPr>
              <a:t>campuses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US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offshore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campuses: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York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University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(Shanghai,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Abu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Dhabi)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University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Northern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Virginia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(Cyprus)</a:t>
            </a:r>
            <a:endParaRPr sz="1100">
              <a:latin typeface="Times New Roman"/>
              <a:cs typeface="Times New Roman"/>
            </a:endParaRPr>
          </a:p>
          <a:p>
            <a:pPr marL="12700" marR="34359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Webster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University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(Thailand)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Joint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ventures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overseas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campuses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Universities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offshore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campuses: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ShaheedZulfikar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Bhutto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Institute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Science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Technology(Dubai)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Manipal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University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(Dubai)</a:t>
            </a:r>
            <a:endParaRPr sz="1100">
              <a:latin typeface="Times New Roman"/>
              <a:cs typeface="Times New Roman"/>
            </a:endParaRPr>
          </a:p>
          <a:p>
            <a:pPr marL="12700" marR="29032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Islamic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Azad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University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Iran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(Dubai)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Joint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ventures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overseas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campuses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offshore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campuses: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University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Southern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Queensland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(Dubai)</a:t>
            </a:r>
            <a:endParaRPr sz="1100">
              <a:latin typeface="Times New Roman"/>
              <a:cs typeface="Times New Roman"/>
            </a:endParaRPr>
          </a:p>
          <a:p>
            <a:pPr marL="12700" marR="32073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University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Wollongong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(Dubai)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Joint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ventures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overseas</a:t>
            </a:r>
            <a:r>
              <a:rPr dirty="0" sz="1100" spc="-5">
                <a:latin typeface="Times New Roman"/>
                <a:cs typeface="Times New Roman"/>
              </a:rPr>
              <a:t> campuses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UK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offshore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campuses: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University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Nottingham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(Malaysia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Ningbo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China)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Middlesex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(Dubai)</a:t>
            </a:r>
            <a:endParaRPr sz="1100">
              <a:latin typeface="Times New Roman"/>
              <a:cs typeface="Times New Roman"/>
            </a:endParaRPr>
          </a:p>
          <a:p>
            <a:pPr marL="12700" marR="31508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University College, London </a:t>
            </a:r>
            <a:r>
              <a:rPr dirty="0" sz="1100">
                <a:latin typeface="Times New Roman"/>
                <a:cs typeface="Times New Roman"/>
              </a:rPr>
              <a:t>(Qatar)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Joint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ventures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overseas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campuses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Joint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ventures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University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Michigan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Shanghai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Jiao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University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Joint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Institute</a:t>
            </a:r>
            <a:endParaRPr sz="1100">
              <a:latin typeface="Times New Roman"/>
              <a:cs typeface="Times New Roman"/>
            </a:endParaRPr>
          </a:p>
          <a:p>
            <a:pPr marL="12700" marR="22326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New York </a:t>
            </a:r>
            <a:r>
              <a:rPr dirty="0" sz="1100">
                <a:latin typeface="Times New Roman"/>
                <a:cs typeface="Times New Roman"/>
              </a:rPr>
              <a:t>Institute of </a:t>
            </a:r>
            <a:r>
              <a:rPr dirty="0" sz="1100" spc="-5">
                <a:latin typeface="Times New Roman"/>
                <a:cs typeface="Times New Roman"/>
              </a:rPr>
              <a:t>Technology-Nanjing Campus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Joint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ventures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overseas </a:t>
            </a:r>
            <a:r>
              <a:rPr dirty="0" sz="1100" spc="-5">
                <a:latin typeface="Times New Roman"/>
                <a:cs typeface="Times New Roman"/>
              </a:rPr>
              <a:t>campuses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Likely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attract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countries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host </a:t>
            </a:r>
            <a:r>
              <a:rPr dirty="0" sz="1100" spc="-5">
                <a:latin typeface="Times New Roman"/>
                <a:cs typeface="Times New Roman"/>
              </a:rPr>
              <a:t>country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Promoting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globalization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endParaRPr sz="1100">
              <a:latin typeface="Times New Roman"/>
              <a:cs typeface="Times New Roman"/>
            </a:endParaRPr>
          </a:p>
          <a:p>
            <a:pPr marL="12700" marR="23647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Building an international intellectual environment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234 </a:t>
            </a:r>
            <a:r>
              <a:rPr dirty="0" sz="1100" spc="-5">
                <a:latin typeface="Times New Roman"/>
                <a:cs typeface="Times New Roman"/>
              </a:rPr>
              <a:t>Higher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 Trends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Consequences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globalization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Creation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divide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5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5">
                <a:latin typeface="Times New Roman"/>
                <a:cs typeface="Times New Roman"/>
              </a:rPr>
              <a:t> elite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institutions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 students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Slowing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down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mobility</a:t>
            </a:r>
            <a:endParaRPr sz="1100">
              <a:latin typeface="Times New Roman"/>
              <a:cs typeface="Times New Roman"/>
            </a:endParaRPr>
          </a:p>
          <a:p>
            <a:pPr marL="12700" marR="7848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Declining market share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international students in English speaking countries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Consequences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globalization of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Availability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appropriateness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available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programmes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3970" cy="879411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Consequences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globalization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endParaRPr sz="1100">
              <a:latin typeface="Times New Roman"/>
              <a:cs typeface="Times New Roman"/>
            </a:endParaRPr>
          </a:p>
          <a:p>
            <a:pPr marL="12700" marR="1460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medium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courses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attract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institutions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located</a:t>
            </a:r>
            <a:r>
              <a:rPr dirty="0" sz="1100" spc="1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English-speaking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Consequences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globalization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endParaRPr sz="1100">
              <a:latin typeface="Times New Roman"/>
              <a:cs typeface="Times New Roman"/>
            </a:endParaRPr>
          </a:p>
          <a:p>
            <a:pPr marL="12700" marR="57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Major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sending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fewer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UK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universities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(e.g.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Malaysia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China)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Receivers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now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becoming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algn="r" marR="554355">
              <a:lnSpc>
                <a:spcPct val="100000"/>
              </a:lnSpc>
            </a:pPr>
            <a:r>
              <a:rPr dirty="0" sz="1400" spc="10">
                <a:latin typeface="Times New Roman"/>
                <a:cs typeface="Times New Roman"/>
              </a:rPr>
              <a:t>Lesson-40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85725">
              <a:lnSpc>
                <a:spcPct val="100000"/>
              </a:lnSpc>
            </a:pPr>
            <a:r>
              <a:rPr dirty="0" sz="1400" spc="60">
                <a:latin typeface="Times New Roman"/>
                <a:cs typeface="Times New Roman"/>
              </a:rPr>
              <a:t>World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Englishes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and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30">
                <a:latin typeface="Times New Roman"/>
                <a:cs typeface="Times New Roman"/>
              </a:rPr>
              <a:t>Lexicography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 marR="3762375">
              <a:lnSpc>
                <a:spcPct val="110200"/>
              </a:lnSpc>
              <a:spcBef>
                <a:spcPts val="1070"/>
              </a:spcBef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235 </a:t>
            </a:r>
            <a:r>
              <a:rPr dirty="0" sz="1100" spc="-5">
                <a:latin typeface="Times New Roman"/>
                <a:cs typeface="Times New Roman"/>
              </a:rPr>
              <a:t>Lexicography and World Englishes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Lexicography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writing,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editing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compiling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dictionary</a:t>
            </a:r>
            <a:endParaRPr sz="1100">
              <a:latin typeface="Times New Roman"/>
              <a:cs typeface="Times New Roman"/>
            </a:endParaRPr>
          </a:p>
          <a:p>
            <a:pPr marL="12700" marR="25723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 author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editor </a:t>
            </a:r>
            <a:r>
              <a:rPr dirty="0" sz="1100">
                <a:latin typeface="Times New Roman"/>
                <a:cs typeface="Times New Roman"/>
              </a:rPr>
              <a:t>of a dictionary </a:t>
            </a:r>
            <a:r>
              <a:rPr dirty="0" sz="1100" spc="-5">
                <a:latin typeface="Times New Roman"/>
                <a:cs typeface="Times New Roman"/>
              </a:rPr>
              <a:t>is called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lexicographer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Lexicography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vs. </a:t>
            </a:r>
            <a:r>
              <a:rPr dirty="0" sz="1100" spc="-5">
                <a:latin typeface="Times New Roman"/>
                <a:cs typeface="Times New Roman"/>
              </a:rPr>
              <a:t>linguists</a:t>
            </a:r>
            <a:endParaRPr sz="1100">
              <a:latin typeface="Times New Roman"/>
              <a:cs typeface="Times New Roman"/>
            </a:endParaRPr>
          </a:p>
          <a:p>
            <a:pPr marL="12700" marR="3105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subject </a:t>
            </a:r>
            <a:r>
              <a:rPr dirty="0" sz="1100">
                <a:latin typeface="Times New Roman"/>
                <a:cs typeface="Times New Roman"/>
              </a:rPr>
              <a:t>field of </a:t>
            </a:r>
            <a:r>
              <a:rPr dirty="0" sz="1100" spc="-5">
                <a:latin typeface="Times New Roman"/>
                <a:cs typeface="Times New Roman"/>
              </a:rPr>
              <a:t>linguistics is language,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whereas the subject </a:t>
            </a:r>
            <a:r>
              <a:rPr dirty="0" sz="1100">
                <a:latin typeface="Times New Roman"/>
                <a:cs typeface="Times New Roman"/>
              </a:rPr>
              <a:t>field of </a:t>
            </a:r>
            <a:r>
              <a:rPr dirty="0" sz="1100" spc="-5">
                <a:latin typeface="Times New Roman"/>
                <a:cs typeface="Times New Roman"/>
              </a:rPr>
              <a:t>lexicography is </a:t>
            </a:r>
            <a:r>
              <a:rPr dirty="0" sz="1100">
                <a:latin typeface="Times New Roman"/>
                <a:cs typeface="Times New Roman"/>
              </a:rPr>
              <a:t>dictionaries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world Englishes: </a:t>
            </a:r>
            <a:r>
              <a:rPr dirty="0" sz="1100">
                <a:latin typeface="Times New Roman"/>
                <a:cs typeface="Times New Roman"/>
              </a:rPr>
              <a:t>Issues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Ideological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underpinnings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Hierarchies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12700" marR="24549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Linguistic, literary, cultural, and even </a:t>
            </a:r>
            <a:r>
              <a:rPr dirty="0" sz="1100">
                <a:latin typeface="Times New Roman"/>
                <a:cs typeface="Times New Roman"/>
              </a:rPr>
              <a:t>political </a:t>
            </a:r>
            <a:r>
              <a:rPr dirty="0" sz="1100" spc="-5">
                <a:latin typeface="Times New Roman"/>
                <a:cs typeface="Times New Roman"/>
              </a:rPr>
              <a:t>considerations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dictionary </a:t>
            </a:r>
            <a:r>
              <a:rPr dirty="0" sz="1100" spc="-5">
                <a:latin typeface="Times New Roman"/>
                <a:cs typeface="Times New Roman"/>
              </a:rPr>
              <a:t>in legitimizing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12700" marR="6127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Standardization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Englishes </a:t>
            </a:r>
            <a:r>
              <a:rPr dirty="0" sz="1100">
                <a:latin typeface="Times New Roman"/>
                <a:cs typeface="Times New Roman"/>
              </a:rPr>
              <a:t>depends on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presence or </a:t>
            </a:r>
            <a:r>
              <a:rPr dirty="0" sz="1100" spc="-5">
                <a:latin typeface="Times New Roman"/>
                <a:cs typeface="Times New Roman"/>
              </a:rPr>
              <a:t>absence </a:t>
            </a:r>
            <a:r>
              <a:rPr dirty="0" sz="1100">
                <a:latin typeface="Times New Roman"/>
                <a:cs typeface="Times New Roman"/>
              </a:rPr>
              <a:t>of dictionaries </a:t>
            </a:r>
            <a:r>
              <a:rPr dirty="0" sz="1100" spc="-5">
                <a:latin typeface="Times New Roman"/>
                <a:cs typeface="Times New Roman"/>
              </a:rPr>
              <a:t>in that </a:t>
            </a:r>
            <a:r>
              <a:rPr dirty="0" sz="1100">
                <a:latin typeface="Times New Roman"/>
                <a:cs typeface="Times New Roman"/>
              </a:rPr>
              <a:t>variety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dictionary </a:t>
            </a:r>
            <a:r>
              <a:rPr dirty="0" sz="1100" spc="-5">
                <a:latin typeface="Times New Roman"/>
                <a:cs typeface="Times New Roman"/>
              </a:rPr>
              <a:t>in legitimizing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Traditional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dictionaries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standardizing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English: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Samuel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Johnson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Noah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Webster,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recently</a:t>
            </a:r>
            <a:endParaRPr sz="1100">
              <a:latin typeface="Times New Roman"/>
              <a:cs typeface="Times New Roman"/>
            </a:endParaRPr>
          </a:p>
          <a:p>
            <a:pPr marL="12700" marR="32232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Macquarie Dictionary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Australian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236 </a:t>
            </a:r>
            <a:r>
              <a:rPr dirty="0" sz="1100" spc="-5">
                <a:latin typeface="Times New Roman"/>
                <a:cs typeface="Times New Roman"/>
              </a:rPr>
              <a:t>Language Legitimacy and the Dictionary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Legitimacy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“Legitimacy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understood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shorthand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identifying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establishing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varieties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various locations around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world”</a:t>
            </a:r>
            <a:endParaRPr sz="1100">
              <a:latin typeface="Times New Roman"/>
              <a:cs typeface="Times New Roman"/>
            </a:endParaRPr>
          </a:p>
          <a:p>
            <a:pPr marL="12700" marR="37490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Kachru, Kahru&amp; Nelson, </a:t>
            </a:r>
            <a:r>
              <a:rPr dirty="0" sz="1100">
                <a:latin typeface="Times New Roman"/>
                <a:cs typeface="Times New Roman"/>
              </a:rPr>
              <a:t>2006, p. 695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Acceptability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12700" marR="21958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Role </a:t>
            </a:r>
            <a:r>
              <a:rPr dirty="0" sz="1100">
                <a:latin typeface="Times New Roman"/>
                <a:cs typeface="Times New Roman"/>
              </a:rPr>
              <a:t>of dictionaries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granting </a:t>
            </a:r>
            <a:r>
              <a:rPr dirty="0" sz="1100" spc="-5">
                <a:latin typeface="Times New Roman"/>
                <a:cs typeface="Times New Roman"/>
              </a:rPr>
              <a:t>acceptability to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variety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dictionary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reference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book/source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Authority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almost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aspects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30822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Source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confidence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users of </a:t>
            </a:r>
            <a:r>
              <a:rPr dirty="0" sz="1100" spc="-5">
                <a:latin typeface="Times New Roman"/>
                <a:cs typeface="Times New Roman"/>
              </a:rPr>
              <a:t>the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Functions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dictionary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Source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reassurance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legitimacy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recognition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-5">
                <a:latin typeface="Times New Roman"/>
                <a:cs typeface="Times New Roman"/>
              </a:rPr>
              <a:t> 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26231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Acknowledges the </a:t>
            </a:r>
            <a:r>
              <a:rPr dirty="0" sz="1100">
                <a:latin typeface="Times New Roman"/>
                <a:cs typeface="Times New Roman"/>
              </a:rPr>
              <a:t>variety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used by </a:t>
            </a:r>
            <a:r>
              <a:rPr dirty="0" sz="1100" spc="-5">
                <a:latin typeface="Times New Roman"/>
                <a:cs typeface="Times New Roman"/>
              </a:rPr>
              <a:t>these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237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Standards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dictionary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443855" cy="482790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Multilingual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situations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involve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choice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</a:t>
            </a:r>
            <a:endParaRPr sz="1100">
              <a:latin typeface="Times New Roman"/>
              <a:cs typeface="Times New Roman"/>
            </a:endParaRPr>
          </a:p>
          <a:p>
            <a:pPr marL="12700" marR="104266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influence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contact languages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the emerging </a:t>
            </a:r>
            <a:r>
              <a:rPr dirty="0" sz="1100">
                <a:latin typeface="Times New Roman"/>
                <a:cs typeface="Times New Roman"/>
              </a:rPr>
              <a:t>variety 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the </a:t>
            </a:r>
            <a:r>
              <a:rPr dirty="0" sz="1100">
                <a:latin typeface="Times New Roman"/>
                <a:cs typeface="Times New Roman"/>
              </a:rPr>
              <a:t>dictionary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Competing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dictionary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entries: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well-documented,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prestigious,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outside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endParaRPr sz="1100">
              <a:latin typeface="Times New Roman"/>
              <a:cs typeface="Times New Roman"/>
            </a:endParaRPr>
          </a:p>
          <a:p>
            <a:pPr marL="12700" marR="27800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poorly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documented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Criterion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dictionary</a:t>
            </a:r>
            <a:r>
              <a:rPr dirty="0" sz="1100" spc="-5">
                <a:latin typeface="Times New Roman"/>
                <a:cs typeface="Times New Roman"/>
              </a:rPr>
              <a:t> entry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recording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dictionary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recorder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controller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usage</a:t>
            </a:r>
            <a:endParaRPr sz="1100">
              <a:latin typeface="Times New Roman"/>
              <a:cs typeface="Times New Roman"/>
            </a:endParaRPr>
          </a:p>
          <a:p>
            <a:pPr marL="12700" marR="21272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Range and </a:t>
            </a:r>
            <a:r>
              <a:rPr dirty="0" sz="1100">
                <a:latin typeface="Times New Roman"/>
                <a:cs typeface="Times New Roman"/>
              </a:rPr>
              <a:t>depth 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use of a </a:t>
            </a:r>
            <a:r>
              <a:rPr dirty="0" sz="1100" spc="-5">
                <a:latin typeface="Times New Roman"/>
                <a:cs typeface="Times New Roman"/>
              </a:rPr>
              <a:t>word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criterion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acceptability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leeway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ready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acknowledgement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publishers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editors</a:t>
            </a:r>
            <a:endParaRPr sz="1100">
              <a:latin typeface="Times New Roman"/>
              <a:cs typeface="Times New Roman"/>
            </a:endParaRPr>
          </a:p>
          <a:p>
            <a:pPr marL="12700" marR="5283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Affects the </a:t>
            </a:r>
            <a:r>
              <a:rPr dirty="0" sz="1100">
                <a:latin typeface="Times New Roman"/>
                <a:cs typeface="Times New Roman"/>
              </a:rPr>
              <a:t>public perception 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validity of a variety </a:t>
            </a:r>
            <a:r>
              <a:rPr dirty="0" sz="1100" spc="-5">
                <a:latin typeface="Times New Roman"/>
                <a:cs typeface="Times New Roman"/>
              </a:rPr>
              <a:t>than many words spent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dictionary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Publishing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language's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dictionary</a:t>
            </a:r>
            <a:r>
              <a:rPr dirty="0" sz="1100" spc="-5">
                <a:latin typeface="Times New Roman"/>
                <a:cs typeface="Times New Roman"/>
              </a:rPr>
              <a:t> allows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correctness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linked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dictionary</a:t>
            </a:r>
            <a:endParaRPr sz="1100">
              <a:latin typeface="Times New Roman"/>
              <a:cs typeface="Times New Roman"/>
            </a:endParaRPr>
          </a:p>
          <a:p>
            <a:pPr marL="12700" marR="5283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Affects the </a:t>
            </a:r>
            <a:r>
              <a:rPr dirty="0" sz="1100">
                <a:latin typeface="Times New Roman"/>
                <a:cs typeface="Times New Roman"/>
              </a:rPr>
              <a:t>public perception 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validity of a variety </a:t>
            </a:r>
            <a:r>
              <a:rPr dirty="0" sz="1100" spc="-5">
                <a:latin typeface="Times New Roman"/>
                <a:cs typeface="Times New Roman"/>
              </a:rPr>
              <a:t>than many words spent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238 </a:t>
            </a:r>
            <a:r>
              <a:rPr dirty="0" sz="1100" spc="-5">
                <a:latin typeface="Times New Roman"/>
                <a:cs typeface="Times New Roman"/>
              </a:rPr>
              <a:t>The Concept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Challenges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compiling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dictionary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questions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answered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systematically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undertake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task: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Standard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Variety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Regional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Challenges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compiling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Englishesdictioary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lexicographer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5">
                <a:latin typeface="Times New Roman"/>
                <a:cs typeface="Times New Roman"/>
              </a:rPr>
              <a:t> aspects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5449720"/>
            <a:ext cx="74930" cy="57975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3823" y="5449720"/>
            <a:ext cx="591185" cy="579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Linguistic  </a:t>
            </a:r>
            <a:r>
              <a:rPr dirty="0" sz="1100" spc="-5">
                <a:latin typeface="Times New Roman"/>
                <a:cs typeface="Times New Roman"/>
              </a:rPr>
              <a:t>Cultural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Political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6003834"/>
            <a:ext cx="4834890" cy="335026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Varieties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Varieties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Linguists’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view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endParaRPr sz="1100">
              <a:latin typeface="Times New Roman"/>
              <a:cs typeface="Times New Roman"/>
            </a:endParaRPr>
          </a:p>
          <a:p>
            <a:pPr marL="12700" marR="21215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Linguistic change and speaker identities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kinds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responses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cool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scientific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alarm</a:t>
            </a:r>
            <a:endParaRPr sz="1100">
              <a:latin typeface="Times New Roman"/>
              <a:cs typeface="Times New Roman"/>
            </a:endParaRPr>
          </a:p>
          <a:p>
            <a:pPr marL="12700" marR="251587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239 </a:t>
            </a:r>
            <a:r>
              <a:rPr dirty="0" sz="1100" spc="-5">
                <a:latin typeface="Times New Roman"/>
                <a:cs typeface="Times New Roman"/>
              </a:rPr>
              <a:t>The Concept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Englishes </a:t>
            </a:r>
            <a:r>
              <a:rPr dirty="0" sz="1100">
                <a:latin typeface="Times New Roman"/>
                <a:cs typeface="Times New Roman"/>
              </a:rPr>
              <a:t> Influence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dictionaries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codified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compiler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determines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amount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“guidance”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user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requires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 by </a:t>
            </a:r>
            <a:r>
              <a:rPr dirty="0" sz="1100" spc="-5">
                <a:latin typeface="Times New Roman"/>
                <a:cs typeface="Times New Roman"/>
              </a:rPr>
              <a:t>lexicographers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Notes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labels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Decisions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depend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Acceptable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usages</a:t>
            </a:r>
            <a:endParaRPr sz="1100">
              <a:latin typeface="Times New Roman"/>
              <a:cs typeface="Times New Roman"/>
            </a:endParaRPr>
          </a:p>
          <a:p>
            <a:pPr marL="12700" marR="30041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user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lexicographers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Selection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type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labels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0160" cy="8794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866775">
              <a:lnSpc>
                <a:spcPct val="1102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balance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linguist’s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purity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sociolinguistic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reality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Methods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 by </a:t>
            </a:r>
            <a:r>
              <a:rPr dirty="0" sz="1100" spc="-5">
                <a:latin typeface="Times New Roman"/>
                <a:cs typeface="Times New Roman"/>
              </a:rPr>
              <a:t>lexicographers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Guidance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Users’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identity</a:t>
            </a:r>
            <a:endParaRPr sz="1100">
              <a:latin typeface="Times New Roman"/>
              <a:cs typeface="Times New Roman"/>
            </a:endParaRPr>
          </a:p>
          <a:p>
            <a:pPr marL="12700" marR="18732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 to communicate </a:t>
            </a:r>
            <a:r>
              <a:rPr dirty="0" sz="1100">
                <a:latin typeface="Times New Roman"/>
                <a:cs typeface="Times New Roman"/>
              </a:rPr>
              <a:t>depends on </a:t>
            </a:r>
            <a:r>
              <a:rPr dirty="0" sz="1100" spc="-5">
                <a:latin typeface="Times New Roman"/>
                <a:cs typeface="Times New Roman"/>
              </a:rPr>
              <a:t>mutual intelligibility and codification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240 </a:t>
            </a:r>
            <a:r>
              <a:rPr dirty="0" sz="1100" spc="-5">
                <a:latin typeface="Times New Roman"/>
                <a:cs typeface="Times New Roman"/>
              </a:rPr>
              <a:t>Compiling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Regional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Aims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average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12700" marR="12452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present </a:t>
            </a:r>
            <a:r>
              <a:rPr dirty="0" sz="1100" spc="-5">
                <a:latin typeface="Times New Roman"/>
                <a:cs typeface="Times New Roman"/>
              </a:rPr>
              <a:t>all the material </a:t>
            </a:r>
            <a:r>
              <a:rPr dirty="0" sz="1100">
                <a:latin typeface="Times New Roman"/>
                <a:cs typeface="Times New Roman"/>
              </a:rPr>
              <a:t>(both old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entries) </a:t>
            </a:r>
            <a:r>
              <a:rPr dirty="0" sz="1100">
                <a:latin typeface="Times New Roman"/>
                <a:cs typeface="Times New Roman"/>
              </a:rPr>
              <a:t>from a regional point of view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Pronunciation</a:t>
            </a:r>
            <a:endParaRPr sz="1100">
              <a:latin typeface="Times New Roman"/>
              <a:cs typeface="Times New Roman"/>
            </a:endParaRPr>
          </a:p>
          <a:p>
            <a:pPr marL="12700" marR="16383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Phonemic </a:t>
            </a:r>
            <a:r>
              <a:rPr dirty="0" sz="1100">
                <a:latin typeface="Times New Roman"/>
                <a:cs typeface="Times New Roman"/>
              </a:rPr>
              <a:t>pronunciation </a:t>
            </a:r>
            <a:r>
              <a:rPr dirty="0" sz="1100" spc="-5">
                <a:latin typeface="Times New Roman"/>
                <a:cs typeface="Times New Roman"/>
              </a:rPr>
              <a:t>system may </a:t>
            </a:r>
            <a:r>
              <a:rPr dirty="0" sz="1100">
                <a:latin typeface="Times New Roman"/>
                <a:cs typeface="Times New Roman"/>
              </a:rPr>
              <a:t>be used </a:t>
            </a:r>
            <a:r>
              <a:rPr dirty="0" sz="1100" spc="-5">
                <a:latin typeface="Times New Roman"/>
                <a:cs typeface="Times New Roman"/>
              </a:rPr>
              <a:t>to enable </a:t>
            </a:r>
            <a:r>
              <a:rPr dirty="0" sz="1100">
                <a:latin typeface="Times New Roman"/>
                <a:cs typeface="Times New Roman"/>
              </a:rPr>
              <a:t>users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read </a:t>
            </a:r>
            <a:r>
              <a:rPr dirty="0" sz="1100" spc="-5">
                <a:latin typeface="Times New Roman"/>
                <a:cs typeface="Times New Roman"/>
              </a:rPr>
              <a:t>entry words as their </a:t>
            </a:r>
            <a:r>
              <a:rPr dirty="0" sz="1100">
                <a:latin typeface="Times New Roman"/>
                <a:cs typeface="Times New Roman"/>
              </a:rPr>
              <a:t>varieties </a:t>
            </a:r>
            <a:r>
              <a:rPr dirty="0" sz="1100" spc="-5">
                <a:latin typeface="Times New Roman"/>
                <a:cs typeface="Times New Roman"/>
              </a:rPr>
              <a:t>lead them 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Vowel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keywords </a:t>
            </a:r>
            <a:r>
              <a:rPr dirty="0" sz="1100" spc="-5">
                <a:latin typeface="Times New Roman"/>
                <a:cs typeface="Times New Roman"/>
              </a:rPr>
              <a:t>and their symbols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New Zealand Oxford Dictionary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(NZOD)</a:t>
            </a:r>
            <a:endParaRPr sz="1100">
              <a:latin typeface="Times New Roman"/>
              <a:cs typeface="Times New Roman"/>
            </a:endParaRPr>
          </a:p>
          <a:p>
            <a:pPr marL="12700" marR="45840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Sources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items 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included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Published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including: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Fiction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Non-fiction</a:t>
            </a:r>
            <a:endParaRPr sz="1100">
              <a:latin typeface="Times New Roman"/>
              <a:cs typeface="Times New Roman"/>
            </a:endParaRPr>
          </a:p>
          <a:p>
            <a:pPr marL="12700" marR="4550410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Newspaper writing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Criterion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Must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genuinely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representative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drawn</a:t>
            </a:r>
            <a:endParaRPr sz="1100">
              <a:latin typeface="Times New Roman"/>
              <a:cs typeface="Times New Roman"/>
            </a:endParaRPr>
          </a:p>
          <a:p>
            <a:pPr marL="12700" marR="23507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Should </a:t>
            </a:r>
            <a:r>
              <a:rPr dirty="0" sz="1100">
                <a:latin typeface="Times New Roman"/>
                <a:cs typeface="Times New Roman"/>
              </a:rPr>
              <a:t>not be </a:t>
            </a:r>
            <a:r>
              <a:rPr dirty="0" sz="1100" spc="-5">
                <a:latin typeface="Times New Roman"/>
                <a:cs typeface="Times New Roman"/>
              </a:rPr>
              <a:t>modifications made </a:t>
            </a:r>
            <a:r>
              <a:rPr dirty="0" sz="1100">
                <a:latin typeface="Times New Roman"/>
                <a:cs typeface="Times New Roman"/>
              </a:rPr>
              <a:t>for broader </a:t>
            </a:r>
            <a:r>
              <a:rPr dirty="0" sz="1100" spc="-5">
                <a:latin typeface="Times New Roman"/>
                <a:cs typeface="Times New Roman"/>
              </a:rPr>
              <a:t>international </a:t>
            </a:r>
            <a:r>
              <a:rPr dirty="0" sz="1100">
                <a:latin typeface="Times New Roman"/>
                <a:cs typeface="Times New Roman"/>
              </a:rPr>
              <a:t>use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Criterion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selection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Frequency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occurrence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item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published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</a:t>
            </a:r>
            <a:endParaRPr sz="1100">
              <a:latin typeface="Times New Roman"/>
              <a:cs typeface="Times New Roman"/>
            </a:endParaRPr>
          </a:p>
          <a:p>
            <a:pPr marL="12700" marR="32899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Confirmation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familiarity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Criterion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selection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entries</a:t>
            </a:r>
            <a:endParaRPr sz="1100">
              <a:latin typeface="Times New Roman"/>
              <a:cs typeface="Times New Roman"/>
            </a:endParaRPr>
          </a:p>
          <a:p>
            <a:pPr marL="12700" marR="122809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Occurrence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word 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specific text is </a:t>
            </a:r>
            <a:r>
              <a:rPr dirty="0" sz="1100">
                <a:latin typeface="Times New Roman"/>
                <a:cs typeface="Times New Roman"/>
              </a:rPr>
              <a:t>not </a:t>
            </a:r>
            <a:r>
              <a:rPr dirty="0" sz="1100" spc="-5">
                <a:latin typeface="Times New Roman"/>
                <a:cs typeface="Times New Roman"/>
              </a:rPr>
              <a:t>evidene enough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inclusion in the </a:t>
            </a:r>
            <a:r>
              <a:rPr dirty="0" sz="1100">
                <a:latin typeface="Times New Roman"/>
                <a:cs typeface="Times New Roman"/>
              </a:rPr>
              <a:t>dictionary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Validity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dictionary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authority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acknowledge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confidence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15951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accept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dictionary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representative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region’s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Validity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dictionary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dictionary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reveal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something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already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acknowledge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 </a:t>
            </a:r>
            <a:r>
              <a:rPr dirty="0" sz="1100" spc="-5">
                <a:latin typeface="Times New Roman"/>
                <a:cs typeface="Times New Roman"/>
              </a:rPr>
              <a:t>an English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own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Butler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Kacru&amp;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Nelson,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2006,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p.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245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algn="r" marR="550545">
              <a:lnSpc>
                <a:spcPct val="100000"/>
              </a:lnSpc>
            </a:pPr>
            <a:r>
              <a:rPr dirty="0" sz="1400" spc="10">
                <a:latin typeface="Times New Roman"/>
                <a:cs typeface="Times New Roman"/>
              </a:rPr>
              <a:t>Lesson-41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79375">
              <a:lnSpc>
                <a:spcPct val="100000"/>
              </a:lnSpc>
              <a:spcBef>
                <a:spcPts val="5"/>
              </a:spcBef>
            </a:pPr>
            <a:r>
              <a:rPr dirty="0" sz="1400" spc="60">
                <a:latin typeface="Times New Roman"/>
                <a:cs typeface="Times New Roman"/>
              </a:rPr>
              <a:t>World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Englishes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and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50">
                <a:latin typeface="Times New Roman"/>
                <a:cs typeface="Times New Roman"/>
              </a:rPr>
              <a:t>the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40">
                <a:latin typeface="Times New Roman"/>
                <a:cs typeface="Times New Roman"/>
              </a:rPr>
              <a:t>Media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 marR="45389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241 </a:t>
            </a:r>
            <a:r>
              <a:rPr dirty="0" sz="1100" spc="-5">
                <a:latin typeface="Times New Roman"/>
                <a:cs typeface="Times New Roman"/>
              </a:rPr>
              <a:t>English and the Press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early developments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400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years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Simple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newspapers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brought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12700" marR="30880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Little </a:t>
            </a:r>
            <a:r>
              <a:rPr dirty="0" sz="1100">
                <a:latin typeface="Times New Roman"/>
                <a:cs typeface="Times New Roman"/>
              </a:rPr>
              <a:t>growth due </a:t>
            </a:r>
            <a:r>
              <a:rPr dirty="0" sz="1100" spc="-5">
                <a:latin typeface="Times New Roman"/>
                <a:cs typeface="Times New Roman"/>
              </a:rPr>
              <a:t>to censorship, taxation and wars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press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Britain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showed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progress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Simple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newspapers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brought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73495" cy="870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101340">
              <a:lnSpc>
                <a:spcPct val="1102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Little </a:t>
            </a:r>
            <a:r>
              <a:rPr dirty="0" sz="1100">
                <a:latin typeface="Times New Roman"/>
                <a:cs typeface="Times New Roman"/>
              </a:rPr>
              <a:t>growth due </a:t>
            </a:r>
            <a:r>
              <a:rPr dirty="0" sz="1100" spc="-5">
                <a:latin typeface="Times New Roman"/>
                <a:cs typeface="Times New Roman"/>
              </a:rPr>
              <a:t>to censorship, taxation and wars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press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Seventeenth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newspapers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general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news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shipping: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WeekleyNewes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(1622)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London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Gazette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(1666)</a:t>
            </a:r>
            <a:endParaRPr sz="1100">
              <a:latin typeface="Times New Roman"/>
              <a:cs typeface="Times New Roman"/>
            </a:endParaRPr>
          </a:p>
          <a:p>
            <a:pPr marL="12700" marR="45853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Lloyd’s News </a:t>
            </a:r>
            <a:r>
              <a:rPr dirty="0" sz="1100">
                <a:latin typeface="Times New Roman"/>
                <a:cs typeface="Times New Roman"/>
              </a:rPr>
              <a:t>(1696)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press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early developments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Eighteenth century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Americandevelopments: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Boston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News-Letter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(1704)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New-York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Gazette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(1725)</a:t>
            </a:r>
            <a:endParaRPr sz="1100">
              <a:latin typeface="Times New Roman"/>
              <a:cs typeface="Times New Roman"/>
            </a:endParaRPr>
          </a:p>
          <a:p>
            <a:pPr marL="12700" marR="34544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New York City Daily Advertiser </a:t>
            </a:r>
            <a:r>
              <a:rPr dirty="0" sz="1100">
                <a:latin typeface="Times New Roman"/>
                <a:cs typeface="Times New Roman"/>
              </a:rPr>
              <a:t>(1785)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press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developments</a:t>
            </a:r>
            <a:endParaRPr sz="1100">
              <a:latin typeface="Times New Roman"/>
              <a:cs typeface="Times New Roman"/>
            </a:endParaRPr>
          </a:p>
          <a:p>
            <a:pPr marL="12700" marR="512445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Eighteenth century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</a:t>
            </a:r>
            <a:r>
              <a:rPr dirty="0" sz="1100">
                <a:latin typeface="Times New Roman"/>
                <a:cs typeface="Times New Roman"/>
              </a:rPr>
              <a:t>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Boston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News-Letter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(1704)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0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New-York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Gazette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(1725)</a:t>
            </a:r>
            <a:endParaRPr sz="1100">
              <a:latin typeface="Times New Roman"/>
              <a:cs typeface="Times New Roman"/>
            </a:endParaRPr>
          </a:p>
          <a:p>
            <a:pPr marL="12700" marR="34544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New York City Daily Advertiser </a:t>
            </a:r>
            <a:r>
              <a:rPr dirty="0" sz="1100">
                <a:latin typeface="Times New Roman"/>
                <a:cs typeface="Times New Roman"/>
              </a:rPr>
              <a:t>(1785)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press </a:t>
            </a:r>
            <a:r>
              <a:rPr dirty="0" sz="1100">
                <a:latin typeface="Times New Roman"/>
                <a:cs typeface="Times New Roman"/>
              </a:rPr>
              <a:t>–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Nineteenth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widely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circulated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newspapers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included: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York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Herald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(1833)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York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Tribune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(1841)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Britain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continued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grow</a:t>
            </a:r>
            <a:endParaRPr sz="1100">
              <a:latin typeface="Times New Roman"/>
              <a:cs typeface="Times New Roman"/>
            </a:endParaRPr>
          </a:p>
          <a:p>
            <a:pPr marL="12700" marR="46278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Daily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(1896)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Enhancement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Growth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major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news</a:t>
            </a:r>
            <a:r>
              <a:rPr dirty="0" sz="1100" spc="-5">
                <a:latin typeface="Times New Roman"/>
                <a:cs typeface="Times New Roman"/>
              </a:rPr>
              <a:t> agencies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invention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telegraph</a:t>
            </a:r>
            <a:endParaRPr sz="1100">
              <a:latin typeface="Times New Roman"/>
              <a:cs typeface="Times New Roman"/>
            </a:endParaRPr>
          </a:p>
          <a:p>
            <a:pPr marL="12700" marR="17545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Emergence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Reuters and New York Associated Press </a:t>
            </a:r>
            <a:r>
              <a:rPr dirty="0" sz="1100">
                <a:latin typeface="Times New Roman"/>
                <a:cs typeface="Times New Roman"/>
              </a:rPr>
              <a:t>(Associated </a:t>
            </a:r>
            <a:r>
              <a:rPr dirty="0" sz="1100" spc="-5">
                <a:latin typeface="Times New Roman"/>
                <a:cs typeface="Times New Roman"/>
              </a:rPr>
              <a:t>Press)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Popularity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 the </a:t>
            </a:r>
            <a:r>
              <a:rPr dirty="0" sz="1100">
                <a:latin typeface="Times New Roman"/>
                <a:cs typeface="Times New Roman"/>
              </a:rPr>
              <a:t>press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identity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>
                <a:latin typeface="Times New Roman"/>
                <a:cs typeface="Times New Roman"/>
              </a:rPr>
              <a:t> 57 </a:t>
            </a:r>
            <a:r>
              <a:rPr dirty="0" sz="1100" spc="-5">
                <a:latin typeface="Times New Roman"/>
                <a:cs typeface="Times New Roman"/>
              </a:rPr>
              <a:t>per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newspapers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2002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published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5">
                <a:latin typeface="Times New Roman"/>
                <a:cs typeface="Times New Roman"/>
              </a:rPr>
              <a:t>special status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Popularity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newspapers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Top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newspapers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22764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Many English </a:t>
            </a:r>
            <a:r>
              <a:rPr dirty="0" sz="1100">
                <a:latin typeface="Times New Roman"/>
                <a:cs typeface="Times New Roman"/>
              </a:rPr>
              <a:t>newspapers </a:t>
            </a:r>
            <a:r>
              <a:rPr dirty="0" sz="1100" spc="-5">
                <a:latin typeface="Times New Roman"/>
                <a:cs typeface="Times New Roman"/>
              </a:rPr>
              <a:t>intended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an international audience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Popularity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 genres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Fashion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magazines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Periodicals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Literary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reviews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Scholarly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journals</a:t>
            </a:r>
            <a:endParaRPr sz="1100">
              <a:latin typeface="Times New Roman"/>
              <a:cs typeface="Times New Roman"/>
            </a:endParaRPr>
          </a:p>
          <a:p>
            <a:pPr marL="12700" marR="22764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Many English </a:t>
            </a:r>
            <a:r>
              <a:rPr dirty="0" sz="1100">
                <a:latin typeface="Times New Roman"/>
                <a:cs typeface="Times New Roman"/>
              </a:rPr>
              <a:t>newspapers </a:t>
            </a:r>
            <a:r>
              <a:rPr dirty="0" sz="1100" spc="-5">
                <a:latin typeface="Times New Roman"/>
                <a:cs typeface="Times New Roman"/>
              </a:rPr>
              <a:t>intended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an international audience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242 </a:t>
            </a:r>
            <a:r>
              <a:rPr dirty="0" sz="1100" spc="-5">
                <a:latin typeface="Times New Roman"/>
                <a:cs typeface="Times New Roman"/>
              </a:rPr>
              <a:t>English in Advertising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advertising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Competition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goods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consumer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purchasing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74130" cy="2057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403090">
              <a:lnSpc>
                <a:spcPct val="1102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Better </a:t>
            </a:r>
            <a:r>
              <a:rPr dirty="0" sz="1100">
                <a:latin typeface="Times New Roman"/>
                <a:cs typeface="Times New Roman"/>
              </a:rPr>
              <a:t>display possibilities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advertising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circulation</a:t>
            </a:r>
            <a:endParaRPr sz="1100">
              <a:latin typeface="Times New Roman"/>
              <a:cs typeface="Times New Roman"/>
            </a:endParaRPr>
          </a:p>
          <a:p>
            <a:pPr marL="12700" marR="209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Income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advertising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allows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publishers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lower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selling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price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magazines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circulation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Effect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advertising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circulation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magazines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trebled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sale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strategy</a:t>
            </a:r>
            <a:endParaRPr sz="1100">
              <a:latin typeface="Times New Roman"/>
              <a:cs typeface="Times New Roman"/>
            </a:endParaRPr>
          </a:p>
          <a:p>
            <a:pPr marL="12700" marR="24574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Two-thirds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modern </a:t>
            </a:r>
            <a:r>
              <a:rPr dirty="0" sz="1100">
                <a:latin typeface="Times New Roman"/>
                <a:cs typeface="Times New Roman"/>
              </a:rPr>
              <a:t>newspaper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devoted </a:t>
            </a:r>
            <a:r>
              <a:rPr dirty="0" sz="1100" spc="-5">
                <a:latin typeface="Times New Roman"/>
                <a:cs typeface="Times New Roman"/>
              </a:rPr>
              <a:t>to advertising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advertising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advertising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began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535305" algn="l"/>
                <a:tab pos="535940" algn="l"/>
              </a:tabLst>
            </a:pPr>
            <a:r>
              <a:rPr dirty="0" sz="1100" spc="-5">
                <a:latin typeface="Times New Roman"/>
                <a:cs typeface="Times New Roman"/>
              </a:rPr>
              <a:t>Weekly</a:t>
            </a:r>
            <a:r>
              <a:rPr dirty="0" sz="1100" spc="2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newspapers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began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publish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advertisement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books,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medicines,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tea,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domestic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products.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2696203"/>
            <a:ext cx="749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3823" y="2696203"/>
            <a:ext cx="31102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Advertising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supplement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began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appear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newspapers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2863849"/>
            <a:ext cx="5168900" cy="649033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Outdoor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brevity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conveying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</a:t>
            </a:r>
            <a:endParaRPr sz="1100">
              <a:latin typeface="Times New Roman"/>
              <a:cs typeface="Times New Roman"/>
            </a:endParaRPr>
          </a:p>
          <a:p>
            <a:pPr marL="12700" marR="84264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Posters, </a:t>
            </a:r>
            <a:r>
              <a:rPr dirty="0" sz="1100">
                <a:latin typeface="Times New Roman"/>
                <a:cs typeface="Times New Roman"/>
              </a:rPr>
              <a:t>billboards, </a:t>
            </a:r>
            <a:r>
              <a:rPr dirty="0" sz="1100" spc="-5">
                <a:latin typeface="Times New Roman"/>
                <a:cs typeface="Times New Roman"/>
              </a:rPr>
              <a:t>electric </a:t>
            </a:r>
            <a:r>
              <a:rPr dirty="0" sz="1100">
                <a:latin typeface="Times New Roman"/>
                <a:cs typeface="Times New Roman"/>
              </a:rPr>
              <a:t>displays, </a:t>
            </a:r>
            <a:r>
              <a:rPr dirty="0" sz="1100" spc="-5">
                <a:latin typeface="Times New Roman"/>
                <a:cs typeface="Times New Roman"/>
              </a:rPr>
              <a:t>shop signs and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techniques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Outdoor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outdoor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noticeable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5">
                <a:latin typeface="Times New Roman"/>
                <a:cs typeface="Times New Roman"/>
              </a:rPr>
              <a:t> manifestations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  <a:p>
            <a:pPr marL="12700" marR="8826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English advertisements are more </a:t>
            </a:r>
            <a:r>
              <a:rPr dirty="0" sz="1100">
                <a:latin typeface="Times New Roman"/>
                <a:cs typeface="Times New Roman"/>
              </a:rPr>
              <a:t>numerous </a:t>
            </a:r>
            <a:r>
              <a:rPr dirty="0" sz="1100" spc="-5">
                <a:latin typeface="Times New Roman"/>
                <a:cs typeface="Times New Roman"/>
              </a:rPr>
              <a:t>and most </a:t>
            </a:r>
            <a:r>
              <a:rPr dirty="0" sz="1100">
                <a:latin typeface="Times New Roman"/>
                <a:cs typeface="Times New Roman"/>
              </a:rPr>
              <a:t>noticeable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243 </a:t>
            </a:r>
            <a:r>
              <a:rPr dirty="0" sz="1100" spc="-5">
                <a:latin typeface="Times New Roman"/>
                <a:cs typeface="Times New Roman"/>
              </a:rPr>
              <a:t>English in Broadcasting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Beginning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broadcasting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transmitted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radio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Public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broadcasting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began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1920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5">
                <a:latin typeface="Times New Roman"/>
                <a:cs typeface="Times New Roman"/>
              </a:rPr>
              <a:t> commercial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radio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Pittsburgh,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Pennsylvania</a:t>
            </a:r>
            <a:endParaRPr sz="1100">
              <a:latin typeface="Times New Roman"/>
              <a:cs typeface="Times New Roman"/>
            </a:endParaRPr>
          </a:p>
          <a:p>
            <a:pPr marL="12700" marR="6261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By </a:t>
            </a:r>
            <a:r>
              <a:rPr dirty="0" sz="1100">
                <a:latin typeface="Times New Roman"/>
                <a:cs typeface="Times New Roman"/>
              </a:rPr>
              <a:t>1922 over 500 broadcasting </a:t>
            </a:r>
            <a:r>
              <a:rPr dirty="0" sz="1100" spc="-5">
                <a:latin typeface="Times New Roman"/>
                <a:cs typeface="Times New Roman"/>
              </a:rPr>
              <a:t>stations </a:t>
            </a:r>
            <a:r>
              <a:rPr dirty="0" sz="1100">
                <a:latin typeface="Times New Roman"/>
                <a:cs typeface="Times New Roman"/>
              </a:rPr>
              <a:t>had been </a:t>
            </a:r>
            <a:r>
              <a:rPr dirty="0" sz="1100" spc="-5">
                <a:latin typeface="Times New Roman"/>
                <a:cs typeface="Times New Roman"/>
              </a:rPr>
              <a:t>established in the USA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Beginning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broadcasting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Broadcasting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Company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(later,</a:t>
            </a:r>
            <a:r>
              <a:rPr dirty="0" sz="1100" spc="-5">
                <a:latin typeface="Times New Roman"/>
                <a:cs typeface="Times New Roman"/>
              </a:rPr>
              <a:t> Corporation)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1922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Broadcasting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began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Canada,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Australia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Zealand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1920s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Radio services </a:t>
            </a:r>
            <a:r>
              <a:rPr dirty="0" sz="1100">
                <a:latin typeface="Times New Roman"/>
                <a:cs typeface="Times New Roman"/>
              </a:rPr>
              <a:t>began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other parts of </a:t>
            </a:r>
            <a:r>
              <a:rPr dirty="0" sz="1100" spc="-5">
                <a:latin typeface="Times New Roman"/>
                <a:cs typeface="Times New Roman"/>
              </a:rPr>
              <a:t>the world including </a:t>
            </a:r>
            <a:r>
              <a:rPr dirty="0" sz="1100">
                <a:latin typeface="Times New Roman"/>
                <a:cs typeface="Times New Roman"/>
              </a:rPr>
              <a:t>India </a:t>
            </a:r>
            <a:r>
              <a:rPr dirty="0" sz="1100" spc="-5">
                <a:latin typeface="Times New Roman"/>
                <a:cs typeface="Times New Roman"/>
              </a:rPr>
              <a:t>and Europe in </a:t>
            </a:r>
            <a:r>
              <a:rPr dirty="0" sz="1100">
                <a:latin typeface="Times New Roman"/>
                <a:cs typeface="Times New Roman"/>
              </a:rPr>
              <a:t>1927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broadcasting organizations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Telecommunication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Commonwealth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Broadcasting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Association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Broadcasting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Broadcast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Institute</a:t>
            </a:r>
            <a:endParaRPr sz="1100">
              <a:latin typeface="Times New Roman"/>
              <a:cs typeface="Times New Roman"/>
            </a:endParaRPr>
          </a:p>
          <a:p>
            <a:pPr marL="12700" marR="25711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Asia–Pacific Broadcasting Union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Public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television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BBC began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world’s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first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high-definition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television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service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1936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Broadcasting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Company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began</a:t>
            </a:r>
            <a:r>
              <a:rPr dirty="0" sz="1100" spc="-5">
                <a:latin typeface="Times New Roman"/>
                <a:cs typeface="Times New Roman"/>
              </a:rPr>
              <a:t> 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service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1939</a:t>
            </a:r>
            <a:r>
              <a:rPr dirty="0" sz="1100" spc="-5">
                <a:latin typeface="Times New Roman"/>
                <a:cs typeface="Times New Roman"/>
              </a:rPr>
              <a:t> in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twenty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year</a:t>
            </a:r>
            <a:endParaRPr sz="1100">
              <a:latin typeface="Times New Roman"/>
              <a:cs typeface="Times New Roman"/>
            </a:endParaRPr>
          </a:p>
          <a:p>
            <a:pPr marL="12700" marR="17341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Other countries started television services much later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244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Broadcasting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braodcasting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broadcasting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1920s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BBC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service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1930s</a:t>
            </a:r>
            <a:endParaRPr sz="1100">
              <a:latin typeface="Times New Roman"/>
              <a:cs typeface="Times New Roman"/>
            </a:endParaRPr>
          </a:p>
          <a:p>
            <a:pPr marL="12700" marR="1308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international standing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BBC </a:t>
            </a:r>
            <a:r>
              <a:rPr dirty="0" sz="1100">
                <a:latin typeface="Times New Roman"/>
                <a:cs typeface="Times New Roman"/>
              </a:rPr>
              <a:t>news </a:t>
            </a:r>
            <a:r>
              <a:rPr dirty="0" sz="1100" spc="-5">
                <a:latin typeface="Times New Roman"/>
                <a:cs typeface="Times New Roman"/>
              </a:rPr>
              <a:t>increased</a:t>
            </a:r>
            <a:r>
              <a:rPr dirty="0" sz="1100">
                <a:latin typeface="Times New Roman"/>
                <a:cs typeface="Times New Roman"/>
              </a:rPr>
              <a:t> during </a:t>
            </a:r>
            <a:r>
              <a:rPr dirty="0" sz="1100" spc="-5">
                <a:latin typeface="Times New Roman"/>
                <a:cs typeface="Times New Roman"/>
              </a:rPr>
              <a:t>the Second World War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braodcasting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2001,</a:t>
            </a:r>
            <a:r>
              <a:rPr dirty="0" sz="1100" spc="-5">
                <a:latin typeface="Times New Roman"/>
                <a:cs typeface="Times New Roman"/>
              </a:rPr>
              <a:t> BBC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service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worldwide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153</a:t>
            </a:r>
            <a:r>
              <a:rPr dirty="0" sz="1100" spc="-5">
                <a:latin typeface="Times New Roman"/>
                <a:cs typeface="Times New Roman"/>
              </a:rPr>
              <a:t> million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9685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279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</a:t>
            </a:r>
            <a:endParaRPr sz="1100">
              <a:latin typeface="Times New Roman"/>
              <a:cs typeface="Times New Roman"/>
            </a:endParaRPr>
          </a:p>
          <a:p>
            <a:pPr marL="12700" marR="38449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overall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376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braodcasting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Voice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1942</a:t>
            </a:r>
            <a:endParaRPr sz="1100">
              <a:latin typeface="Times New Roman"/>
              <a:cs typeface="Times New Roman"/>
            </a:endParaRPr>
          </a:p>
          <a:p>
            <a:pPr marL="12700" marR="355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Radio New York World Wide </a:t>
            </a:r>
            <a:r>
              <a:rPr dirty="0" sz="1100">
                <a:latin typeface="Times New Roman"/>
                <a:cs typeface="Times New Roman"/>
              </a:rPr>
              <a:t>provides </a:t>
            </a:r>
            <a:r>
              <a:rPr dirty="0" sz="1100" spc="-5">
                <a:latin typeface="Times New Roman"/>
                <a:cs typeface="Times New Roman"/>
              </a:rPr>
              <a:t>an English-language service to Europe, Africa and the Caribbean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braodcasting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external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broadcasting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post-War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years</a:t>
            </a:r>
            <a:endParaRPr sz="1100">
              <a:latin typeface="Times New Roman"/>
              <a:cs typeface="Times New Roman"/>
            </a:endParaRPr>
          </a:p>
          <a:p>
            <a:pPr marL="12700" marR="5715">
              <a:lnSpc>
                <a:spcPct val="110200"/>
              </a:lnSpc>
              <a:buChar char="•"/>
              <a:tabLst>
                <a:tab pos="517525" algn="l"/>
                <a:tab pos="518159" algn="l"/>
              </a:tabLst>
            </a:pP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launched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radio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programmes,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Soviet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Union,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Italy,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Japan,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Luxembourg,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Netherlands, Germany and Sweden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braodcasting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access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news has</a:t>
            </a:r>
            <a:r>
              <a:rPr dirty="0" sz="1100" spc="-5">
                <a:latin typeface="Times New Roman"/>
                <a:cs typeface="Times New Roman"/>
              </a:rPr>
              <a:t> changed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easy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availability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internet</a:t>
            </a:r>
            <a:endParaRPr sz="1100">
              <a:latin typeface="Times New Roman"/>
              <a:cs typeface="Times New Roman"/>
            </a:endParaRPr>
          </a:p>
          <a:p>
            <a:pPr marL="12700" marR="20269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Audiences switching to</a:t>
            </a:r>
            <a:r>
              <a:rPr dirty="0" sz="1100">
                <a:latin typeface="Times New Roman"/>
                <a:cs typeface="Times New Roman"/>
              </a:rPr>
              <a:t> digital platforms for news </a:t>
            </a:r>
            <a:r>
              <a:rPr dirty="0" sz="1100" spc="-5">
                <a:latin typeface="Times New Roman"/>
                <a:cs typeface="Times New Roman"/>
              </a:rPr>
              <a:t>and entertainment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braodcasting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total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27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-5">
                <a:latin typeface="Times New Roman"/>
                <a:cs typeface="Times New Roman"/>
              </a:rPr>
              <a:t> listen </a:t>
            </a:r>
            <a:r>
              <a:rPr dirty="0" sz="1100">
                <a:latin typeface="Times New Roman"/>
                <a:cs typeface="Times New Roman"/>
              </a:rPr>
              <a:t>directly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Service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via</a:t>
            </a:r>
            <a:r>
              <a:rPr dirty="0" sz="1100" spc="-5">
                <a:latin typeface="Times New Roman"/>
                <a:cs typeface="Times New Roman"/>
              </a:rPr>
              <a:t> the internet</a:t>
            </a:r>
            <a:endParaRPr sz="1100">
              <a:latin typeface="Times New Roman"/>
              <a:cs typeface="Times New Roman"/>
            </a:endParaRPr>
          </a:p>
          <a:p>
            <a:pPr marL="12700" marR="1428750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And World Service English </a:t>
            </a:r>
            <a:r>
              <a:rPr dirty="0" sz="1100">
                <a:latin typeface="Times New Roman"/>
                <a:cs typeface="Times New Roman"/>
              </a:rPr>
              <a:t>podcasts now reach one </a:t>
            </a:r>
            <a:r>
              <a:rPr dirty="0" sz="1100" spc="-5">
                <a:latin typeface="Times New Roman"/>
                <a:cs typeface="Times New Roman"/>
              </a:rPr>
              <a:t>million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every week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245 </a:t>
            </a:r>
            <a:r>
              <a:rPr dirty="0" sz="1100" spc="-5">
                <a:latin typeface="Times New Roman"/>
                <a:cs typeface="Times New Roman"/>
              </a:rPr>
              <a:t>Role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Cinema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the spread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beginning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cinema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beginning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nineteenth</a:t>
            </a:r>
            <a:r>
              <a:rPr dirty="0" sz="1100" spc="-5">
                <a:latin typeface="Times New Roman"/>
                <a:cs typeface="Times New Roman"/>
              </a:rPr>
              <a:t> century</a:t>
            </a:r>
            <a:endParaRPr sz="1100">
              <a:latin typeface="Times New Roman"/>
              <a:cs typeface="Times New Roman"/>
            </a:endParaRPr>
          </a:p>
          <a:p>
            <a:pPr marL="12700" marR="20802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Key </a:t>
            </a:r>
            <a:r>
              <a:rPr dirty="0" sz="1100">
                <a:latin typeface="Times New Roman"/>
                <a:cs typeface="Times New Roman"/>
              </a:rPr>
              <a:t>role played by </a:t>
            </a:r>
            <a:r>
              <a:rPr dirty="0" sz="1100" spc="-5">
                <a:latin typeface="Times New Roman"/>
                <a:cs typeface="Times New Roman"/>
              </a:rPr>
              <a:t>Britain and France </a:t>
            </a:r>
            <a:r>
              <a:rPr dirty="0" sz="1100">
                <a:latin typeface="Times New Roman"/>
                <a:cs typeface="Times New Roman"/>
              </a:rPr>
              <a:t>during </a:t>
            </a:r>
            <a:r>
              <a:rPr dirty="0" sz="1100" spc="-5">
                <a:latin typeface="Times New Roman"/>
                <a:cs typeface="Times New Roman"/>
              </a:rPr>
              <a:t>the early </a:t>
            </a:r>
            <a:r>
              <a:rPr dirty="0" sz="1100">
                <a:latin typeface="Times New Roman"/>
                <a:cs typeface="Times New Roman"/>
              </a:rPr>
              <a:t>development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dominance over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film industry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Slow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growth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cinema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during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WWI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America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force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industry</a:t>
            </a:r>
            <a:endParaRPr sz="1100">
              <a:latin typeface="Times New Roman"/>
              <a:cs typeface="Times New Roman"/>
            </a:endParaRPr>
          </a:p>
          <a:p>
            <a:pPr marL="12700" marR="27571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Hollywood evolving as the centre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modern cinema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dominant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introduction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films</a:t>
            </a:r>
            <a:endParaRPr sz="1100">
              <a:latin typeface="Times New Roman"/>
              <a:cs typeface="Times New Roman"/>
            </a:endParaRPr>
          </a:p>
          <a:p>
            <a:pPr marL="12700" marR="34709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language </a:t>
            </a:r>
            <a:r>
              <a:rPr dirty="0" sz="1100">
                <a:latin typeface="Times New Roman"/>
                <a:cs typeface="Times New Roman"/>
              </a:rPr>
              <a:t>dominated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film </a:t>
            </a:r>
            <a:r>
              <a:rPr dirty="0" sz="1100" spc="-5">
                <a:latin typeface="Times New Roman"/>
                <a:cs typeface="Times New Roman"/>
              </a:rPr>
              <a:t>world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dominant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44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studios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listed,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32</a:t>
            </a:r>
            <a:r>
              <a:rPr dirty="0" sz="1100" spc="-5">
                <a:latin typeface="Times New Roman"/>
                <a:cs typeface="Times New Roman"/>
              </a:rPr>
              <a:t> were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American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2,466</a:t>
            </a:r>
            <a:r>
              <a:rPr dirty="0" sz="1100" spc="-5">
                <a:latin typeface="Times New Roman"/>
                <a:cs typeface="Times New Roman"/>
              </a:rPr>
              <a:t> artistes listed,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85(3 per</a:t>
            </a:r>
            <a:r>
              <a:rPr dirty="0" sz="1100" spc="-5">
                <a:latin typeface="Times New Roman"/>
                <a:cs typeface="Times New Roman"/>
              </a:rPr>
              <a:t> cent)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 movies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5">
                <a:latin typeface="Times New Roman"/>
                <a:cs typeface="Times New Roman"/>
              </a:rPr>
              <a:t> than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16611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Of the </a:t>
            </a:r>
            <a:r>
              <a:rPr dirty="0" sz="1100">
                <a:latin typeface="Times New Roman"/>
                <a:cs typeface="Times New Roman"/>
              </a:rPr>
              <a:t>340 directors, 318 (94 per </a:t>
            </a:r>
            <a:r>
              <a:rPr dirty="0" sz="1100" spc="-5">
                <a:latin typeface="Times New Roman"/>
                <a:cs typeface="Times New Roman"/>
              </a:rPr>
              <a:t>cent) made </a:t>
            </a:r>
            <a:r>
              <a:rPr dirty="0" sz="1100">
                <a:latin typeface="Times New Roman"/>
                <a:cs typeface="Times New Roman"/>
              </a:rPr>
              <a:t>films only </a:t>
            </a:r>
            <a:r>
              <a:rPr dirty="0" sz="1100" spc="-5">
                <a:latin typeface="Times New Roman"/>
                <a:cs typeface="Times New Roman"/>
              </a:rPr>
              <a:t>in English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the </a:t>
            </a:r>
            <a:r>
              <a:rPr dirty="0" sz="1100">
                <a:latin typeface="Times New Roman"/>
                <a:cs typeface="Times New Roman"/>
              </a:rPr>
              <a:t>dominant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film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Hollywood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aiming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audience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films</a:t>
            </a:r>
            <a:r>
              <a:rPr dirty="0" sz="1100" spc="-5">
                <a:latin typeface="Times New Roman"/>
                <a:cs typeface="Times New Roman"/>
              </a:rPr>
              <a:t> as: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Titanic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Star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Wars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Lord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Ring</a:t>
            </a:r>
            <a:endParaRPr sz="1100">
              <a:latin typeface="Times New Roman"/>
              <a:cs typeface="Times New Roman"/>
            </a:endParaRPr>
          </a:p>
          <a:p>
            <a:pPr marL="12700" marR="31819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Unusual to </a:t>
            </a:r>
            <a:r>
              <a:rPr dirty="0" sz="1100">
                <a:latin typeface="Times New Roman"/>
                <a:cs typeface="Times New Roman"/>
              </a:rPr>
              <a:t>find a blockbuster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dominant</a:t>
            </a:r>
            <a:r>
              <a:rPr dirty="0" sz="1100" spc="-5">
                <a:latin typeface="Times New Roman"/>
                <a:cs typeface="Times New Roman"/>
              </a:rPr>
              <a:t> language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festivals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awards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85per</a:t>
            </a:r>
            <a:r>
              <a:rPr dirty="0" sz="1100" spc="-5">
                <a:latin typeface="Times New Roman"/>
                <a:cs typeface="Times New Roman"/>
              </a:rPr>
              <a:t> cent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film</a:t>
            </a:r>
            <a:r>
              <a:rPr dirty="0" sz="1100" spc="-5">
                <a:latin typeface="Times New Roman"/>
                <a:cs typeface="Times New Roman"/>
              </a:rPr>
              <a:t> market</a:t>
            </a:r>
            <a:endParaRPr sz="1100">
              <a:latin typeface="Times New Roman"/>
              <a:cs typeface="Times New Roman"/>
            </a:endParaRPr>
          </a:p>
          <a:p>
            <a:pPr marL="12700" marR="31616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Eighty </a:t>
            </a:r>
            <a:r>
              <a:rPr dirty="0" sz="1100">
                <a:latin typeface="Times New Roman"/>
                <a:cs typeface="Times New Roman"/>
              </a:rPr>
              <a:t>per </a:t>
            </a:r>
            <a:r>
              <a:rPr dirty="0" sz="1100" spc="-5">
                <a:latin typeface="Times New Roman"/>
                <a:cs typeface="Times New Roman"/>
              </a:rPr>
              <a:t>cent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all </a:t>
            </a:r>
            <a:r>
              <a:rPr dirty="0" sz="1100">
                <a:latin typeface="Times New Roman"/>
                <a:cs typeface="Times New Roman"/>
              </a:rPr>
              <a:t>feature films </a:t>
            </a:r>
            <a:r>
              <a:rPr dirty="0" sz="1100" spc="-5">
                <a:latin typeface="Times New Roman"/>
                <a:cs typeface="Times New Roman"/>
              </a:rPr>
              <a:t>are in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Influence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films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 people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‘People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increasingly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believe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believe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.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drive,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wear,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eat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buy </a:t>
            </a:r>
            <a:r>
              <a:rPr dirty="0" sz="1100" spc="-5">
                <a:latin typeface="Times New Roman"/>
                <a:cs typeface="Times New Roman"/>
              </a:rPr>
              <a:t>what they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 in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movies.’</a:t>
            </a:r>
            <a:endParaRPr sz="1100">
              <a:latin typeface="Times New Roman"/>
              <a:cs typeface="Times New Roman"/>
            </a:endParaRPr>
          </a:p>
          <a:p>
            <a:pPr marL="12700" marR="35636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(WimWenders </a:t>
            </a:r>
            <a:r>
              <a:rPr dirty="0" sz="1100" spc="-5">
                <a:latin typeface="Times New Roman"/>
                <a:cs typeface="Times New Roman"/>
              </a:rPr>
              <a:t>cited in Crystal, </a:t>
            </a:r>
            <a:r>
              <a:rPr dirty="0" sz="1100">
                <a:latin typeface="Times New Roman"/>
                <a:cs typeface="Times New Roman"/>
              </a:rPr>
              <a:t>2003)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246 </a:t>
            </a:r>
            <a:r>
              <a:rPr dirty="0" sz="1100" spc="-5">
                <a:latin typeface="Times New Roman"/>
                <a:cs typeface="Times New Roman"/>
              </a:rPr>
              <a:t>Role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Music in the Spread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Recording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industry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music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378575" cy="8225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Recording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industry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another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5">
                <a:latin typeface="Times New Roman"/>
                <a:cs typeface="Times New Roman"/>
              </a:rPr>
              <a:t> addition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entertainment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  technology</a:t>
            </a:r>
            <a:endParaRPr sz="1100">
              <a:latin typeface="Times New Roman"/>
              <a:cs typeface="Times New Roman"/>
            </a:endParaRPr>
          </a:p>
          <a:p>
            <a:pPr marL="12700" marR="266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availability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mass-produced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gramophone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records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then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CDs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DVDs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allow</a:t>
            </a:r>
            <a:r>
              <a:rPr dirty="0" sz="1100" spc="1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music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travel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around the world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music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Dominance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scene</a:t>
            </a:r>
            <a:endParaRPr sz="1100">
              <a:latin typeface="Times New Roman"/>
              <a:cs typeface="Times New Roman"/>
            </a:endParaRPr>
          </a:p>
          <a:p>
            <a:pPr marL="12700" marR="22656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make their </a:t>
            </a:r>
            <a:r>
              <a:rPr dirty="0" sz="1100">
                <a:latin typeface="Times New Roman"/>
                <a:cs typeface="Times New Roman"/>
              </a:rPr>
              <a:t>first </a:t>
            </a:r>
            <a:r>
              <a:rPr dirty="0" sz="1100" spc="-5">
                <a:latin typeface="Times New Roman"/>
                <a:cs typeface="Times New Roman"/>
              </a:rPr>
              <a:t>contact with English through music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popular </a:t>
            </a:r>
            <a:r>
              <a:rPr dirty="0" sz="1100" spc="-5">
                <a:latin typeface="Times New Roman"/>
                <a:cs typeface="Times New Roman"/>
              </a:rPr>
              <a:t>music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two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chief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English-speaking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dominated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recording</a:t>
            </a:r>
            <a:r>
              <a:rPr dirty="0" sz="1100" spc="-5">
                <a:latin typeface="Times New Roman"/>
                <a:cs typeface="Times New Roman"/>
              </a:rPr>
              <a:t> world: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Haley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Elvis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Presley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USA</a:t>
            </a:r>
            <a:endParaRPr sz="1100">
              <a:latin typeface="Times New Roman"/>
              <a:cs typeface="Times New Roman"/>
            </a:endParaRPr>
          </a:p>
          <a:p>
            <a:pPr marL="12700" marR="335470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Beatles and the Rolling Stones in the UK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popular </a:t>
            </a:r>
            <a:r>
              <a:rPr dirty="0" sz="1100" spc="-5">
                <a:latin typeface="Times New Roman"/>
                <a:cs typeface="Times New Roman"/>
              </a:rPr>
              <a:t>music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exposure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radio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television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internet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DVDs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music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videos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100" spc="-5">
                <a:latin typeface="Times New Roman"/>
                <a:cs typeface="Times New Roman"/>
              </a:rPr>
              <a:t>Non-native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music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Spanish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punk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rock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Asfalto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(Asphalt),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released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disc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English,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became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Swedish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</a:t>
            </a:r>
            <a:r>
              <a:rPr dirty="0" sz="1100" spc="-5">
                <a:latin typeface="Times New Roman"/>
                <a:cs typeface="Times New Roman"/>
              </a:rPr>
              <a:t> Abba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recorded</a:t>
            </a:r>
            <a:r>
              <a:rPr dirty="0" sz="1100" spc="-5">
                <a:latin typeface="Times New Roman"/>
                <a:cs typeface="Times New Roman"/>
              </a:rPr>
              <a:t> 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songs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193611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Michael Luszynski,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Polish singer </a:t>
            </a:r>
            <a:r>
              <a:rPr dirty="0" sz="1100">
                <a:latin typeface="Times New Roman"/>
                <a:cs typeface="Times New Roman"/>
              </a:rPr>
              <a:t>performs </a:t>
            </a:r>
            <a:r>
              <a:rPr dirty="0" sz="1100" spc="-5">
                <a:latin typeface="Times New Roman"/>
                <a:cs typeface="Times New Roman"/>
              </a:rPr>
              <a:t>almost entirely in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Non-native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pop </a:t>
            </a:r>
            <a:r>
              <a:rPr dirty="0" sz="1100" spc="-5">
                <a:latin typeface="Times New Roman"/>
                <a:cs typeface="Times New Roman"/>
              </a:rPr>
              <a:t>music</a:t>
            </a:r>
            <a:endParaRPr sz="1100">
              <a:latin typeface="Times New Roman"/>
              <a:cs typeface="Times New Roman"/>
            </a:endParaRPr>
          </a:p>
          <a:p>
            <a:pPr marL="12700" marR="7531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 enter into the international arena and to succeed the singers </a:t>
            </a:r>
            <a:r>
              <a:rPr dirty="0" sz="1100">
                <a:latin typeface="Times New Roman"/>
                <a:cs typeface="Times New Roman"/>
              </a:rPr>
              <a:t>need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singing in 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Impact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through music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profound</a:t>
            </a:r>
            <a:r>
              <a:rPr dirty="0" sz="1100" spc="-5">
                <a:latin typeface="Times New Roman"/>
                <a:cs typeface="Times New Roman"/>
              </a:rPr>
              <a:t> and </a:t>
            </a:r>
            <a:r>
              <a:rPr dirty="0" sz="1100">
                <a:latin typeface="Times New Roman"/>
                <a:cs typeface="Times New Roman"/>
              </a:rPr>
              <a:t>positive</a:t>
            </a:r>
            <a:r>
              <a:rPr dirty="0" sz="1100" spc="-5">
                <a:latin typeface="Times New Roman"/>
                <a:cs typeface="Times New Roman"/>
              </a:rPr>
              <a:t> impact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modern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popular</a:t>
            </a:r>
            <a:r>
              <a:rPr dirty="0" sz="1100" spc="-5">
                <a:latin typeface="Times New Roman"/>
                <a:cs typeface="Times New Roman"/>
              </a:rPr>
              <a:t> culture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 music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Social,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spiritual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messages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conveyed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music</a:t>
            </a:r>
            <a:endParaRPr sz="1100">
              <a:latin typeface="Times New Roman"/>
              <a:cs typeface="Times New Roman"/>
            </a:endParaRPr>
          </a:p>
          <a:p>
            <a:pPr marL="12700" marR="8350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younger generation became a </a:t>
            </a:r>
            <a:r>
              <a:rPr dirty="0" sz="1100" spc="-5">
                <a:latin typeface="Times New Roman"/>
                <a:cs typeface="Times New Roman"/>
              </a:rPr>
              <a:t>symbol </a:t>
            </a:r>
            <a:r>
              <a:rPr dirty="0" sz="1100">
                <a:latin typeface="Times New Roman"/>
                <a:cs typeface="Times New Roman"/>
              </a:rPr>
              <a:t>of freedom, rebellion </a:t>
            </a:r>
            <a:r>
              <a:rPr dirty="0" sz="1100" spc="-5">
                <a:latin typeface="Times New Roman"/>
                <a:cs typeface="Times New Roman"/>
              </a:rPr>
              <a:t>and modernism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Impact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through music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certain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call</a:t>
            </a:r>
            <a:endParaRPr sz="1100">
              <a:latin typeface="Times New Roman"/>
              <a:cs typeface="Times New Roman"/>
            </a:endParaRPr>
          </a:p>
          <a:p>
            <a:pPr marL="12700" marR="3938904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When the world must come together as </a:t>
            </a:r>
            <a:r>
              <a:rPr dirty="0" sz="1100">
                <a:latin typeface="Times New Roman"/>
                <a:cs typeface="Times New Roman"/>
              </a:rPr>
              <a:t>one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people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dying</a:t>
            </a:r>
            <a:endParaRPr sz="1100">
              <a:latin typeface="Times New Roman"/>
              <a:cs typeface="Times New Roman"/>
            </a:endParaRPr>
          </a:p>
          <a:p>
            <a:pPr marL="12700" marR="425831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Oh, and it's time to lend </a:t>
            </a:r>
            <a:r>
              <a:rPr dirty="0" sz="1100">
                <a:latin typeface="Times New Roman"/>
                <a:cs typeface="Times New Roman"/>
              </a:rPr>
              <a:t>a hand </a:t>
            </a:r>
            <a:r>
              <a:rPr dirty="0" sz="1100" spc="-5">
                <a:latin typeface="Times New Roman"/>
                <a:cs typeface="Times New Roman"/>
              </a:rPr>
              <a:t>to life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greatest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gift of</a:t>
            </a:r>
            <a:r>
              <a:rPr dirty="0" sz="1100" spc="-5">
                <a:latin typeface="Times New Roman"/>
                <a:cs typeface="Times New Roman"/>
              </a:rPr>
              <a:t> all</a:t>
            </a:r>
            <a:endParaRPr sz="1100">
              <a:latin typeface="Times New Roman"/>
              <a:cs typeface="Times New Roman"/>
            </a:endParaRPr>
          </a:p>
          <a:p>
            <a:pPr marL="12700" marR="335343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  <a:hlinkClick r:id="rId2"/>
              </a:rPr>
              <a:t>https://www.youtube.com/watch?v=M9BNoNFKCBI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 through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 </a:t>
            </a:r>
            <a:r>
              <a:rPr dirty="0" sz="1100" spc="-5">
                <a:latin typeface="Times New Roman"/>
                <a:cs typeface="Times New Roman"/>
              </a:rPr>
              <a:t>music</a:t>
            </a:r>
            <a:endParaRPr sz="1100">
              <a:latin typeface="Times New Roman"/>
              <a:cs typeface="Times New Roman"/>
            </a:endParaRPr>
          </a:p>
          <a:p>
            <a:pPr marL="12700" marR="228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single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around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youth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rapidly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 </a:t>
            </a:r>
            <a:r>
              <a:rPr dirty="0" sz="1100">
                <a:latin typeface="Times New Roman"/>
                <a:cs typeface="Times New Roman"/>
              </a:rPr>
              <a:t> pervasively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Crystal,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2003,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p.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102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86430" y="661912"/>
            <a:ext cx="3829050" cy="652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Lesson-42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spc="30">
                <a:latin typeface="Times New Roman"/>
                <a:cs typeface="Times New Roman"/>
              </a:rPr>
              <a:t>Globalisation: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 spc="40">
                <a:latin typeface="Times New Roman"/>
                <a:cs typeface="Times New Roman"/>
              </a:rPr>
              <a:t>Various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60">
                <a:latin typeface="Times New Roman"/>
                <a:cs typeface="Times New Roman"/>
              </a:rPr>
              <a:t>Trends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1796223"/>
            <a:ext cx="6184900" cy="75984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378325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247 </a:t>
            </a:r>
            <a:r>
              <a:rPr dirty="0" sz="1100" spc="-5">
                <a:latin typeface="Times New Roman"/>
                <a:cs typeface="Times New Roman"/>
              </a:rPr>
              <a:t>Demographic Trends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political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</a:t>
            </a:r>
            <a:endParaRPr sz="1100">
              <a:latin typeface="Times New Roman"/>
              <a:cs typeface="Times New Roman"/>
            </a:endParaRPr>
          </a:p>
          <a:p>
            <a:pPr marL="12700" marR="18173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Effects </a:t>
            </a:r>
            <a:r>
              <a:rPr dirty="0" sz="1100">
                <a:latin typeface="Times New Roman"/>
                <a:cs typeface="Times New Roman"/>
              </a:rPr>
              <a:t>of population </a:t>
            </a:r>
            <a:r>
              <a:rPr dirty="0" sz="1100" spc="-5">
                <a:latin typeface="Times New Roman"/>
                <a:cs typeface="Times New Roman"/>
              </a:rPr>
              <a:t>increase </a:t>
            </a:r>
            <a:r>
              <a:rPr dirty="0" sz="1100">
                <a:latin typeface="Times New Roman"/>
                <a:cs typeface="Times New Roman"/>
              </a:rPr>
              <a:t>on developing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developed </a:t>
            </a:r>
            <a:r>
              <a:rPr dirty="0" sz="1100" spc="-5">
                <a:latin typeface="Times New Roman"/>
                <a:cs typeface="Times New Roman"/>
              </a:rPr>
              <a:t>countries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18th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century</a:t>
            </a:r>
            <a:endParaRPr sz="1100">
              <a:latin typeface="Times New Roman"/>
              <a:cs typeface="Times New Roman"/>
            </a:endParaRPr>
          </a:p>
          <a:p>
            <a:pPr marL="12700" marR="40589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Expansion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cities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Demographic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challenges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12700" marR="31750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Possible stabilization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world </a:t>
            </a:r>
            <a:r>
              <a:rPr dirty="0" sz="1100">
                <a:latin typeface="Times New Roman"/>
                <a:cs typeface="Times New Roman"/>
              </a:rPr>
              <a:t>population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Overall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endParaRPr sz="1100">
              <a:latin typeface="Times New Roman"/>
              <a:cs typeface="Times New Roman"/>
            </a:endParaRPr>
          </a:p>
          <a:p>
            <a:pPr marL="12700" marR="26435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existing situation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world: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state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transition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248 </a:t>
            </a:r>
            <a:r>
              <a:rPr dirty="0" sz="1100" spc="-5">
                <a:latin typeface="Times New Roman"/>
                <a:cs typeface="Times New Roman"/>
              </a:rPr>
              <a:t>Demographic Trends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II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Future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 linguistic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trends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depend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following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aspects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people’s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live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endParaRPr sz="1100">
              <a:latin typeface="Times New Roman"/>
              <a:cs typeface="Times New Roman"/>
            </a:endParaRPr>
          </a:p>
          <a:p>
            <a:pPr marL="12700" marR="41998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kind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Challenges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younger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endParaRPr sz="1100">
              <a:latin typeface="Times New Roman"/>
              <a:cs typeface="Times New Roman"/>
            </a:endParaRPr>
          </a:p>
          <a:p>
            <a:pPr marL="12700" marR="34950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Challenges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older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age structure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Decreasing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r>
              <a:rPr dirty="0" sz="1100" spc="-5">
                <a:latin typeface="Times New Roman"/>
                <a:cs typeface="Times New Roman"/>
              </a:rPr>
              <a:t> leads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migrant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workers 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endParaRPr sz="1100">
              <a:latin typeface="Times New Roman"/>
              <a:cs typeface="Times New Roman"/>
            </a:endParaRPr>
          </a:p>
          <a:p>
            <a:pPr marL="12700" marR="2511425">
              <a:lnSpc>
                <a:spcPct val="110200"/>
              </a:lnSpc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Change in the ethnic and linguistic </a:t>
            </a:r>
            <a:r>
              <a:rPr dirty="0" sz="1100">
                <a:latin typeface="Times New Roman"/>
                <a:cs typeface="Times New Roman"/>
              </a:rPr>
              <a:t>profile of </a:t>
            </a:r>
            <a:r>
              <a:rPr dirty="0" sz="1100" spc="-5">
                <a:latin typeface="Times New Roman"/>
                <a:cs typeface="Times New Roman"/>
              </a:rPr>
              <a:t>the country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Demographic changes 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people’s movement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Migrant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Refugees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asylum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seekers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Immigrants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Tourists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Business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Troop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Emergency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aid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workers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Demographic changes 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people’s movement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Total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migrants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reported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258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2017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(3.4%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population)</a:t>
            </a:r>
            <a:endParaRPr sz="1100">
              <a:latin typeface="Times New Roman"/>
              <a:cs typeface="Times New Roman"/>
            </a:endParaRPr>
          </a:p>
          <a:p>
            <a:pPr marL="12700" marR="182245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Source: </a:t>
            </a:r>
            <a:r>
              <a:rPr dirty="0" sz="1100">
                <a:latin typeface="Times New Roman"/>
                <a:cs typeface="Times New Roman"/>
                <a:hlinkClick r:id="rId2"/>
              </a:rPr>
              <a:t>http://www.un.org/en/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development/desa/population/publications/pdf/popfacts/PopFacts_2017-5.pdf  </a:t>
            </a:r>
            <a:r>
              <a:rPr dirty="0" sz="1100" spc="-5">
                <a:latin typeface="Times New Roman"/>
                <a:cs typeface="Times New Roman"/>
              </a:rPr>
              <a:t>Demographic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changes and immigration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013450" cy="9148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85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Migrants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life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developed</a:t>
            </a:r>
            <a:r>
              <a:rPr dirty="0" sz="1100" spc="-5">
                <a:latin typeface="Times New Roman"/>
                <a:cs typeface="Times New Roman"/>
              </a:rPr>
              <a:t> countries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Immigration of </a:t>
            </a:r>
            <a:r>
              <a:rPr dirty="0" sz="1100" spc="-5">
                <a:latin typeface="Times New Roman"/>
                <a:cs typeface="Times New Roman"/>
              </a:rPr>
              <a:t>skilled workers to counterbalance the ageing workforce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destination </a:t>
            </a:r>
            <a:r>
              <a:rPr dirty="0" sz="1100" spc="-5">
                <a:latin typeface="Times New Roman"/>
                <a:cs typeface="Times New Roman"/>
              </a:rPr>
              <a:t>countries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Consequences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immigration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Change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profile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destination</a:t>
            </a:r>
            <a:r>
              <a:rPr dirty="0" sz="1100" spc="-5">
                <a:latin typeface="Times New Roman"/>
                <a:cs typeface="Times New Roman"/>
              </a:rPr>
              <a:t> countries</a:t>
            </a:r>
            <a:endParaRPr sz="1100">
              <a:latin typeface="Times New Roman"/>
              <a:cs typeface="Times New Roman"/>
            </a:endParaRPr>
          </a:p>
          <a:p>
            <a:pPr marL="12700" marR="15227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London the most multilingual city in the world with </a:t>
            </a:r>
            <a:r>
              <a:rPr dirty="0" sz="1100">
                <a:latin typeface="Times New Roman"/>
                <a:cs typeface="Times New Roman"/>
              </a:rPr>
              <a:t>over 300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consequences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immigration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Freedom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labour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movement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influx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workers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eastern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before</a:t>
            </a:r>
            <a:r>
              <a:rPr dirty="0" sz="1100" spc="-5">
                <a:latin typeface="Times New Roman"/>
                <a:cs typeface="Times New Roman"/>
              </a:rPr>
              <a:t> Brexit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Emergence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communities</a:t>
            </a:r>
            <a:endParaRPr sz="1100">
              <a:latin typeface="Times New Roman"/>
              <a:cs typeface="Times New Roman"/>
            </a:endParaRPr>
          </a:p>
          <a:p>
            <a:pPr marL="12700" marR="32302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Migrant workers and </a:t>
            </a:r>
            <a:r>
              <a:rPr dirty="0" sz="1100">
                <a:latin typeface="Times New Roman"/>
                <a:cs typeface="Times New Roman"/>
              </a:rPr>
              <a:t>demand for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Tourism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Travelling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12700" marR="37439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Growing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249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Trends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internet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needed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internet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computer</a:t>
            </a:r>
            <a:endParaRPr sz="1100">
              <a:latin typeface="Times New Roman"/>
              <a:cs typeface="Times New Roman"/>
            </a:endParaRPr>
          </a:p>
          <a:p>
            <a:pPr marL="12700" marR="26314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Decrease in the </a:t>
            </a:r>
            <a:r>
              <a:rPr dirty="0" sz="1100">
                <a:latin typeface="Times New Roman"/>
                <a:cs typeface="Times New Roman"/>
              </a:rPr>
              <a:t>number of </a:t>
            </a:r>
            <a:r>
              <a:rPr dirty="0" sz="1100" spc="-5">
                <a:latin typeface="Times New Roman"/>
                <a:cs typeface="Times New Roman"/>
              </a:rPr>
              <a:t>English L1 internet </a:t>
            </a:r>
            <a:r>
              <a:rPr dirty="0" sz="1100">
                <a:latin typeface="Times New Roman"/>
                <a:cs typeface="Times New Roman"/>
              </a:rPr>
              <a:t>users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the internet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Decline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web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Nunberg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Schulze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(1998):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85%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web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pages</a:t>
            </a:r>
            <a:r>
              <a:rPr dirty="0" sz="1100" spc="-5">
                <a:latin typeface="Times New Roman"/>
                <a:cs typeface="Times New Roman"/>
              </a:rPr>
              <a:t> were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ExciteHome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(1999)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72%</a:t>
            </a:r>
            <a:endParaRPr sz="1100">
              <a:latin typeface="Times New Roman"/>
              <a:cs typeface="Times New Roman"/>
            </a:endParaRPr>
          </a:p>
          <a:p>
            <a:pPr marL="12700" marR="36366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Catalan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ISP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VilaWeb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(2000)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68%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Declining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internet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internet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Computer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software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national</a:t>
            </a:r>
            <a:endParaRPr sz="1100">
              <a:latin typeface="Times New Roman"/>
              <a:cs typeface="Times New Roman"/>
            </a:endParaRPr>
          </a:p>
          <a:p>
            <a:pPr marL="12700" marR="36360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Used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communication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Anglophone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Popularity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time-lag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Internet</a:t>
            </a:r>
            <a:r>
              <a:rPr dirty="0" sz="1100" spc="-5">
                <a:latin typeface="Times New Roman"/>
                <a:cs typeface="Times New Roman"/>
              </a:rPr>
              <a:t> sites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 appear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5">
                <a:latin typeface="Times New Roman"/>
                <a:cs typeface="Times New Roman"/>
              </a:rPr>
              <a:t> in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begin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using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internet</a:t>
            </a:r>
            <a:endParaRPr sz="1100">
              <a:latin typeface="Times New Roman"/>
              <a:cs typeface="Times New Roman"/>
            </a:endParaRPr>
          </a:p>
          <a:p>
            <a:pPr marL="12700" marR="385000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Preference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L1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Anglophone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tomultilingual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Software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kinds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script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Many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corporate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websites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multilingual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strategies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Easy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availability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machine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translation</a:t>
            </a:r>
            <a:endParaRPr sz="1100">
              <a:latin typeface="Times New Roman"/>
              <a:cs typeface="Times New Roman"/>
            </a:endParaRPr>
          </a:p>
          <a:p>
            <a:pPr marL="12700" marR="44132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internet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News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Media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Domination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Recent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trends: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Opening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channels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Diversification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viewpoint</a:t>
            </a:r>
            <a:r>
              <a:rPr dirty="0" sz="1100" spc="-5">
                <a:latin typeface="Times New Roman"/>
                <a:cs typeface="Times New Roman"/>
              </a:rPr>
              <a:t> available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180593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 </a:t>
            </a:r>
            <a:r>
              <a:rPr dirty="0" sz="1100" spc="-5">
                <a:latin typeface="Times New Roman"/>
                <a:cs typeface="Times New Roman"/>
              </a:rPr>
              <a:t>in the </a:t>
            </a:r>
            <a:r>
              <a:rPr dirty="0" sz="1100">
                <a:latin typeface="Times New Roman"/>
                <a:cs typeface="Times New Roman"/>
              </a:rPr>
              <a:t>number of </a:t>
            </a:r>
            <a:r>
              <a:rPr dirty="0" sz="1100" spc="-5">
                <a:latin typeface="Times New Roman"/>
                <a:cs typeface="Times New Roman"/>
              </a:rPr>
              <a:t>languages in which the </a:t>
            </a:r>
            <a:r>
              <a:rPr dirty="0" sz="1100">
                <a:latin typeface="Times New Roman"/>
                <a:cs typeface="Times New Roman"/>
              </a:rPr>
              <a:t>news </a:t>
            </a:r>
            <a:r>
              <a:rPr dirty="0" sz="1100" spc="-5">
                <a:latin typeface="Times New Roman"/>
                <a:cs typeface="Times New Roman"/>
              </a:rPr>
              <a:t>is available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global reach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Jazeera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establishing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news</a:t>
            </a:r>
            <a:r>
              <a:rPr dirty="0" sz="1100" spc="-5">
                <a:latin typeface="Times New Roman"/>
                <a:cs typeface="Times New Roman"/>
              </a:rPr>
              <a:t> channel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Russia’s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government-funded,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English-language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24-hour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TV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channel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‘Russia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Today’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87465" cy="870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331845">
              <a:lnSpc>
                <a:spcPct val="110200"/>
              </a:lnSpc>
              <a:spcBef>
                <a:spcPts val="10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German international channel Deutsche Welle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Blog</a:t>
            </a:r>
            <a:endParaRPr sz="1100">
              <a:latin typeface="Times New Roman"/>
              <a:cs typeface="Times New Roman"/>
            </a:endParaRPr>
          </a:p>
          <a:p>
            <a:pPr marL="12700" marR="304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online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informational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website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even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writers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share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views</a:t>
            </a:r>
            <a:r>
              <a:rPr dirty="0" sz="1100" spc="1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individual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endParaRPr sz="1100">
              <a:latin typeface="Times New Roman"/>
              <a:cs typeface="Times New Roman"/>
            </a:endParaRPr>
          </a:p>
          <a:p>
            <a:pPr marL="12700" marR="36810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More than </a:t>
            </a:r>
            <a:r>
              <a:rPr dirty="0" sz="1100">
                <a:latin typeface="Times New Roman"/>
                <a:cs typeface="Times New Roman"/>
              </a:rPr>
              <a:t>440 </a:t>
            </a:r>
            <a:r>
              <a:rPr dirty="0" sz="1100" spc="-5">
                <a:latin typeface="Times New Roman"/>
                <a:cs typeface="Times New Roman"/>
              </a:rPr>
              <a:t>million </a:t>
            </a:r>
            <a:r>
              <a:rPr dirty="0" sz="1100">
                <a:latin typeface="Times New Roman"/>
                <a:cs typeface="Times New Roman"/>
              </a:rPr>
              <a:t>blogs </a:t>
            </a:r>
            <a:r>
              <a:rPr dirty="0" sz="1100" spc="-5">
                <a:latin typeface="Times New Roman"/>
                <a:cs typeface="Times New Roman"/>
              </a:rPr>
              <a:t>worldwide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250</a:t>
            </a:r>
            <a:r>
              <a:rPr dirty="0" sz="1100" spc="-5">
                <a:latin typeface="Times New Roman"/>
                <a:cs typeface="Times New Roman"/>
              </a:rPr>
              <a:t> Economic Trends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Relationship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Growth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Indian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economies</a:t>
            </a:r>
            <a:endParaRPr sz="1100">
              <a:latin typeface="Times New Roman"/>
              <a:cs typeface="Times New Roman"/>
            </a:endParaRPr>
          </a:p>
          <a:p>
            <a:pPr marL="12700" marR="26041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China </a:t>
            </a:r>
            <a:r>
              <a:rPr dirty="0" sz="1100">
                <a:latin typeface="Times New Roman"/>
                <a:cs typeface="Times New Roman"/>
              </a:rPr>
              <a:t>becoming </a:t>
            </a:r>
            <a:r>
              <a:rPr dirty="0" sz="1100" spc="-5">
                <a:latin typeface="Times New Roman"/>
                <a:cs typeface="Times New Roman"/>
              </a:rPr>
              <a:t>the second largest economy after the USA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BRICS</a:t>
            </a:r>
            <a:endParaRPr sz="1100">
              <a:latin typeface="Times New Roman"/>
              <a:cs typeface="Times New Roman"/>
            </a:endParaRPr>
          </a:p>
          <a:p>
            <a:pPr marL="12700" marR="236347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 BRICs economies together may </a:t>
            </a:r>
            <a:r>
              <a:rPr dirty="0" sz="1100">
                <a:latin typeface="Times New Roman"/>
                <a:cs typeface="Times New Roman"/>
              </a:rPr>
              <a:t>overtake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G6 in US </a:t>
            </a:r>
            <a:r>
              <a:rPr dirty="0" sz="1100">
                <a:latin typeface="Times New Roman"/>
                <a:cs typeface="Times New Roman"/>
              </a:rPr>
              <a:t>dollar </a:t>
            </a:r>
            <a:r>
              <a:rPr dirty="0" sz="1100" spc="-5">
                <a:latin typeface="Times New Roman"/>
                <a:cs typeface="Times New Roman"/>
              </a:rPr>
              <a:t>terms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Changing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 trends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Asian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European economic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domination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initiatives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acquiring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controlling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interest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resources</a:t>
            </a:r>
            <a:endParaRPr sz="1100">
              <a:latin typeface="Times New Roman"/>
              <a:cs typeface="Times New Roman"/>
            </a:endParaRPr>
          </a:p>
          <a:p>
            <a:pPr marL="12700" marR="19634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China’s </a:t>
            </a:r>
            <a:r>
              <a:rPr dirty="0" sz="1100">
                <a:latin typeface="Times New Roman"/>
                <a:cs typeface="Times New Roman"/>
              </a:rPr>
              <a:t>huge </a:t>
            </a:r>
            <a:r>
              <a:rPr dirty="0" sz="1100" spc="-5">
                <a:latin typeface="Times New Roman"/>
                <a:cs typeface="Times New Roman"/>
              </a:rPr>
              <a:t>investment 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a </a:t>
            </a:r>
            <a:r>
              <a:rPr dirty="0" sz="1100" spc="-5">
                <a:latin typeface="Times New Roman"/>
                <a:cs typeface="Times New Roman"/>
              </a:rPr>
              <a:t>need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 context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Road </a:t>
            </a:r>
            <a:r>
              <a:rPr dirty="0" sz="1100">
                <a:latin typeface="Times New Roman"/>
                <a:cs typeface="Times New Roman"/>
              </a:rPr>
              <a:t>Initiative (BRI)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new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paradigm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maintain</a:t>
            </a:r>
            <a:r>
              <a:rPr dirty="0" sz="1100" spc="2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China’s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2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dynamism</a:t>
            </a:r>
            <a:endParaRPr sz="1100">
              <a:latin typeface="Times New Roman"/>
              <a:cs typeface="Times New Roman"/>
            </a:endParaRPr>
          </a:p>
          <a:p>
            <a:pPr marL="12700" marR="20580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Developing </a:t>
            </a:r>
            <a:r>
              <a:rPr dirty="0" sz="1100">
                <a:latin typeface="Times New Roman"/>
                <a:cs typeface="Times New Roman"/>
              </a:rPr>
              <a:t>new </a:t>
            </a:r>
            <a:r>
              <a:rPr dirty="0" sz="1100" spc="-5">
                <a:latin typeface="Times New Roman"/>
                <a:cs typeface="Times New Roman"/>
              </a:rPr>
              <a:t>markets and </a:t>
            </a:r>
            <a:r>
              <a:rPr dirty="0" sz="1100">
                <a:latin typeface="Times New Roman"/>
                <a:cs typeface="Times New Roman"/>
              </a:rPr>
              <a:t>delivering </a:t>
            </a:r>
            <a:r>
              <a:rPr dirty="0" sz="1100" spc="-5">
                <a:latin typeface="Times New Roman"/>
                <a:cs typeface="Times New Roman"/>
              </a:rPr>
              <a:t>to them </a:t>
            </a:r>
            <a:r>
              <a:rPr dirty="0" sz="1100">
                <a:latin typeface="Times New Roman"/>
                <a:cs typeface="Times New Roman"/>
              </a:rPr>
              <a:t>by using </a:t>
            </a:r>
            <a:r>
              <a:rPr dirty="0" sz="1100" spc="-5">
                <a:latin typeface="Times New Roman"/>
                <a:cs typeface="Times New Roman"/>
              </a:rPr>
              <a:t>land </a:t>
            </a:r>
            <a:r>
              <a:rPr dirty="0" sz="1100">
                <a:latin typeface="Times New Roman"/>
                <a:cs typeface="Times New Roman"/>
              </a:rPr>
              <a:t>routes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Road </a:t>
            </a:r>
            <a:r>
              <a:rPr dirty="0" sz="1100">
                <a:latin typeface="Times New Roman"/>
                <a:cs typeface="Times New Roman"/>
              </a:rPr>
              <a:t>Initiative (BRI)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Based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proposals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government:</a:t>
            </a:r>
            <a:endParaRPr sz="1100">
              <a:latin typeface="Times New Roman"/>
              <a:cs typeface="Times New Roman"/>
            </a:endParaRPr>
          </a:p>
          <a:p>
            <a:pPr marL="12700" marR="311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Creation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belt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includes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original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Silk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Road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Central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Asia, the Middle East and Europe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maritime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road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links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China’s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port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facilities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African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coast,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pushing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1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through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Suez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 the Mediterranean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CPEC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collection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infrastructure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projects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currently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Modernize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Pakistani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infrastructure</a:t>
            </a:r>
            <a:endParaRPr sz="1100">
              <a:latin typeface="Times New Roman"/>
              <a:cs typeface="Times New Roman"/>
            </a:endParaRPr>
          </a:p>
          <a:p>
            <a:pPr marL="12700" marR="317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Strengthen</a:t>
            </a:r>
            <a:r>
              <a:rPr dirty="0" sz="1100" spc="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economy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construction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modern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transportation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networks,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numerous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energy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projects,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special economic zones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CPEC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kind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CPEC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Mandarin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both?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 exclusive ‘elitist’ policy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exclusive</a:t>
            </a:r>
            <a:endParaRPr sz="1100">
              <a:latin typeface="Times New Roman"/>
              <a:cs typeface="Times New Roman"/>
            </a:endParaRPr>
          </a:p>
          <a:p>
            <a:pPr marL="12700" marR="25400">
              <a:lnSpc>
                <a:spcPct val="110200"/>
              </a:lnSpc>
              <a:buChar char="•"/>
              <a:tabLst>
                <a:tab pos="526415" algn="l"/>
                <a:tab pos="52705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inclusive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policy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enabling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communities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participate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projects</a:t>
            </a:r>
            <a:endParaRPr sz="1100">
              <a:latin typeface="Times New Roman"/>
              <a:cs typeface="Times New Roman"/>
            </a:endParaRPr>
          </a:p>
          <a:p>
            <a:pPr marL="12700" marR="452564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251 </a:t>
            </a:r>
            <a:r>
              <a:rPr dirty="0" sz="1100" spc="-5">
                <a:latin typeface="Times New Roman"/>
                <a:cs typeface="Times New Roman"/>
              </a:rPr>
              <a:t>Economic Trends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Globalization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234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interaction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integration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among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people,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companies,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governments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nations</a:t>
            </a:r>
            <a:endParaRPr sz="1100">
              <a:latin typeface="Times New Roman"/>
              <a:cs typeface="Times New Roman"/>
            </a:endParaRPr>
          </a:p>
          <a:p>
            <a:pPr marL="12700" marR="1600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Allows companies to conduct their activities anywhere in the world to </a:t>
            </a:r>
            <a:r>
              <a:rPr dirty="0" sz="1100">
                <a:latin typeface="Times New Roman"/>
                <a:cs typeface="Times New Roman"/>
              </a:rPr>
              <a:t>obtain </a:t>
            </a:r>
            <a:r>
              <a:rPr dirty="0" sz="1100" spc="-5">
                <a:latin typeface="Times New Roman"/>
                <a:cs typeface="Times New Roman"/>
              </a:rPr>
              <a:t>maximum cost advantage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Global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business plan</a:t>
            </a:r>
            <a:endParaRPr sz="1100">
              <a:latin typeface="Times New Roman"/>
              <a:cs typeface="Times New Roman"/>
            </a:endParaRPr>
          </a:p>
          <a:p>
            <a:pPr marL="12700" marR="279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products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manufactured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labour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cheap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sold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into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markets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 </a:t>
            </a:r>
            <a:r>
              <a:rPr dirty="0" sz="1100" spc="-5">
                <a:latin typeface="Times New Roman"/>
                <a:cs typeface="Times New Roman"/>
              </a:rPr>
              <a:t>are </a:t>
            </a:r>
            <a:r>
              <a:rPr dirty="0" sz="1100">
                <a:latin typeface="Times New Roman"/>
                <a:cs typeface="Times New Roman"/>
              </a:rPr>
              <a:t>rich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BPO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ITO</a:t>
            </a:r>
            <a:endParaRPr sz="1100">
              <a:latin typeface="Times New Roman"/>
              <a:cs typeface="Times New Roman"/>
            </a:endParaRPr>
          </a:p>
          <a:p>
            <a:pPr marL="12700" marR="198056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Business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outsourcing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Information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outsourcing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Call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centres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53810" cy="796798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Fast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food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service</a:t>
            </a:r>
            <a:endParaRPr sz="1100">
              <a:latin typeface="Times New Roman"/>
              <a:cs typeface="Times New Roman"/>
            </a:endParaRPr>
          </a:p>
          <a:p>
            <a:pPr marL="12700" marR="48602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Home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work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tutors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BPO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ITO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Demand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outsourcing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business</a:t>
            </a:r>
            <a:endParaRPr sz="1100">
              <a:latin typeface="Times New Roman"/>
              <a:cs typeface="Times New Roman"/>
            </a:endParaRPr>
          </a:p>
          <a:p>
            <a:pPr marL="12700" marR="18294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Most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offshore </a:t>
            </a:r>
            <a:r>
              <a:rPr dirty="0" sz="1100" spc="-5">
                <a:latin typeface="Times New Roman"/>
                <a:cs typeface="Times New Roman"/>
              </a:rPr>
              <a:t>contracts come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English speaking corporations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elitist social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remains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privilege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rich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Access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limited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elite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past</a:t>
            </a:r>
            <a:endParaRPr sz="1100">
              <a:latin typeface="Times New Roman"/>
              <a:cs typeface="Times New Roman"/>
            </a:endParaRPr>
          </a:p>
          <a:p>
            <a:pPr marL="12700" marR="29222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wider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distribution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globalised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Dangers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processes</a:t>
            </a:r>
            <a:r>
              <a:rPr dirty="0" sz="1100" spc="-5">
                <a:latin typeface="Times New Roman"/>
                <a:cs typeface="Times New Roman"/>
              </a:rPr>
              <a:t> and </a:t>
            </a:r>
            <a:r>
              <a:rPr dirty="0" sz="1100">
                <a:latin typeface="Times New Roman"/>
                <a:cs typeface="Times New Roman"/>
              </a:rPr>
              <a:t>providing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 knowledge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Availability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jobs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require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knowledge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29432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as an instrument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structuring inequality in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Dangers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instrument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structuring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inequality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developing</a:t>
            </a:r>
            <a:r>
              <a:rPr dirty="0" sz="1100" spc="-5">
                <a:latin typeface="Times New Roman"/>
                <a:cs typeface="Times New Roman"/>
              </a:rPr>
              <a:t> countries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now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threatens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exclude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minority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rather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majority</a:t>
            </a:r>
            <a:r>
              <a:rPr dirty="0" sz="1100" spc="1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Dangers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Exodus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12700" marR="28740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is </a:t>
            </a:r>
            <a:r>
              <a:rPr dirty="0" sz="1100">
                <a:latin typeface="Times New Roman"/>
                <a:cs typeface="Times New Roman"/>
              </a:rPr>
              <a:t>a necessary </a:t>
            </a:r>
            <a:r>
              <a:rPr dirty="0" sz="1100" spc="-5">
                <a:latin typeface="Times New Roman"/>
                <a:cs typeface="Times New Roman"/>
              </a:rPr>
              <a:t>skill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many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these workers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252 </a:t>
            </a:r>
            <a:r>
              <a:rPr dirty="0" sz="1100" spc="-5">
                <a:latin typeface="Times New Roman"/>
                <a:cs typeface="Times New Roman"/>
              </a:rPr>
              <a:t>Societal Trends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urbanised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percentage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r>
              <a:rPr dirty="0" sz="1100" spc="-5">
                <a:latin typeface="Times New Roman"/>
                <a:cs typeface="Times New Roman"/>
              </a:rPr>
              <a:t> 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dwellers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economy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makes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urbanisation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inevitable</a:t>
            </a:r>
            <a:endParaRPr sz="1100">
              <a:latin typeface="Times New Roman"/>
              <a:cs typeface="Times New Roman"/>
            </a:endParaRPr>
          </a:p>
          <a:p>
            <a:pPr marL="12700" marR="24403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becoming popular </a:t>
            </a:r>
            <a:r>
              <a:rPr dirty="0" sz="1100" spc="-5">
                <a:latin typeface="Times New Roman"/>
                <a:cs typeface="Times New Roman"/>
              </a:rPr>
              <a:t>in an increasingly </a:t>
            </a:r>
            <a:r>
              <a:rPr dirty="0" sz="1100">
                <a:latin typeface="Times New Roman"/>
                <a:cs typeface="Times New Roman"/>
              </a:rPr>
              <a:t>urbanised </a:t>
            </a:r>
            <a:r>
              <a:rPr dirty="0" sz="1100" spc="-5">
                <a:latin typeface="Times New Roman"/>
                <a:cs typeface="Times New Roman"/>
              </a:rPr>
              <a:t>world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urbanised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endParaRPr sz="1100">
              <a:latin typeface="Times New Roman"/>
              <a:cs typeface="Times New Roman"/>
            </a:endParaRPr>
          </a:p>
          <a:p>
            <a:pPr marL="12700" marR="124015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 middle class </a:t>
            </a:r>
            <a:r>
              <a:rPr dirty="0" sz="1100">
                <a:latin typeface="Times New Roman"/>
                <a:cs typeface="Times New Roman"/>
              </a:rPr>
              <a:t>not a </a:t>
            </a:r>
            <a:r>
              <a:rPr dirty="0" sz="1100" spc="-5">
                <a:latin typeface="Times New Roman"/>
                <a:cs typeface="Times New Roman"/>
              </a:rPr>
              <a:t>consequence </a:t>
            </a:r>
            <a:r>
              <a:rPr dirty="0" sz="1100">
                <a:latin typeface="Times New Roman"/>
                <a:cs typeface="Times New Roman"/>
              </a:rPr>
              <a:t>but </a:t>
            </a:r>
            <a:r>
              <a:rPr dirty="0" sz="1100" spc="-5">
                <a:latin typeface="Times New Roman"/>
                <a:cs typeface="Times New Roman"/>
              </a:rPr>
              <a:t>also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contributory </a:t>
            </a:r>
            <a:r>
              <a:rPr dirty="0" sz="1100">
                <a:latin typeface="Times New Roman"/>
                <a:cs typeface="Times New Roman"/>
              </a:rPr>
              <a:t>factor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a developing </a:t>
            </a:r>
            <a:r>
              <a:rPr dirty="0" sz="1100" spc="-5">
                <a:latin typeface="Times New Roman"/>
                <a:cs typeface="Times New Roman"/>
              </a:rPr>
              <a:t>economy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Urbanization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developing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Paksitan: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39.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7%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China: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56.1%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>
                <a:latin typeface="Times New Roman"/>
                <a:cs typeface="Times New Roman"/>
              </a:rPr>
              <a:t>India: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33.5%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Urbanization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urban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population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middle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class</a:t>
            </a:r>
            <a:endParaRPr sz="1100">
              <a:latin typeface="Times New Roman"/>
              <a:cs typeface="Times New Roman"/>
            </a:endParaRPr>
          </a:p>
          <a:p>
            <a:pPr marL="12700" marR="22390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Mass migration to the cities </a:t>
            </a:r>
            <a:r>
              <a:rPr dirty="0" sz="1100">
                <a:latin typeface="Times New Roman"/>
                <a:cs typeface="Times New Roman"/>
              </a:rPr>
              <a:t>gives rise </a:t>
            </a:r>
            <a:r>
              <a:rPr dirty="0" sz="1100" spc="-5">
                <a:latin typeface="Times New Roman"/>
                <a:cs typeface="Times New Roman"/>
              </a:rPr>
              <a:t>to slums and slows </a:t>
            </a:r>
            <a:r>
              <a:rPr dirty="0" sz="1100">
                <a:latin typeface="Times New Roman"/>
                <a:cs typeface="Times New Roman"/>
              </a:rPr>
              <a:t>growth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diversity </a:t>
            </a:r>
            <a:r>
              <a:rPr dirty="0" sz="1100" spc="-5">
                <a:latin typeface="Times New Roman"/>
                <a:cs typeface="Times New Roman"/>
              </a:rPr>
              <a:t>and social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opinions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controversial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issues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Urbanisation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immigration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conflicts</a:t>
            </a:r>
            <a:endParaRPr sz="1100">
              <a:latin typeface="Times New Roman"/>
              <a:cs typeface="Times New Roman"/>
            </a:endParaRPr>
          </a:p>
          <a:p>
            <a:pPr marL="12700" marR="19386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Differences in life stlyes and </a:t>
            </a:r>
            <a:r>
              <a:rPr dirty="0" sz="1100">
                <a:latin typeface="Times New Roman"/>
                <a:cs typeface="Times New Roman"/>
              </a:rPr>
              <a:t>values </a:t>
            </a:r>
            <a:r>
              <a:rPr dirty="0" sz="1100" spc="-5">
                <a:latin typeface="Times New Roman"/>
                <a:cs typeface="Times New Roman"/>
              </a:rPr>
              <a:t>accentuated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diversity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Development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language shift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attrition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shift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families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socialization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escape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values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61912"/>
            <a:ext cx="6361430" cy="87795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51815">
              <a:lnSpc>
                <a:spcPct val="100000"/>
              </a:lnSpc>
              <a:spcBef>
                <a:spcPts val="100"/>
              </a:spcBef>
            </a:pPr>
            <a:r>
              <a:rPr dirty="0" sz="1400" spc="10">
                <a:latin typeface="Times New Roman"/>
                <a:cs typeface="Times New Roman"/>
              </a:rPr>
              <a:t>Lesson-43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92710">
              <a:lnSpc>
                <a:spcPct val="100000"/>
              </a:lnSpc>
            </a:pPr>
            <a:r>
              <a:rPr dirty="0" sz="1400" spc="40">
                <a:latin typeface="Times New Roman"/>
                <a:cs typeface="Times New Roman"/>
              </a:rPr>
              <a:t>Dangers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25">
                <a:latin typeface="Times New Roman"/>
                <a:cs typeface="Times New Roman"/>
              </a:rPr>
              <a:t>English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35">
                <a:latin typeface="Times New Roman"/>
                <a:cs typeface="Times New Roman"/>
              </a:rPr>
              <a:t>as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75">
                <a:latin typeface="Times New Roman"/>
                <a:cs typeface="Times New Roman"/>
              </a:rPr>
              <a:t>a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35">
                <a:latin typeface="Times New Roman"/>
                <a:cs typeface="Times New Roman"/>
              </a:rPr>
              <a:t>Global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40">
                <a:latin typeface="Times New Roman"/>
                <a:cs typeface="Times New Roman"/>
              </a:rPr>
              <a:t>Language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 marR="4117975">
              <a:lnSpc>
                <a:spcPct val="110200"/>
              </a:lnSpc>
              <a:spcBef>
                <a:spcPts val="1075"/>
              </a:spcBef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253 </a:t>
            </a:r>
            <a:r>
              <a:rPr dirty="0" sz="1100" spc="-5">
                <a:latin typeface="Times New Roman"/>
                <a:cs typeface="Times New Roman"/>
              </a:rPr>
              <a:t>English 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Killer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pertinent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question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Will the emergence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 global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accelerate the</a:t>
            </a:r>
            <a:r>
              <a:rPr dirty="0" sz="1100">
                <a:latin typeface="Times New Roman"/>
                <a:cs typeface="Times New Roman"/>
              </a:rPr>
              <a:t> disappearance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minority languages 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widespread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>
                <a:latin typeface="Times New Roman"/>
                <a:cs typeface="Times New Roman"/>
              </a:rPr>
              <a:t>death?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historic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process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Exists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independently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emergence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8496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Often caused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an ethnic </a:t>
            </a:r>
            <a:r>
              <a:rPr dirty="0" sz="1100">
                <a:latin typeface="Times New Roman"/>
                <a:cs typeface="Times New Roman"/>
              </a:rPr>
              <a:t>group </a:t>
            </a:r>
            <a:r>
              <a:rPr dirty="0" sz="1100" spc="-5">
                <a:latin typeface="Times New Roman"/>
                <a:cs typeface="Times New Roman"/>
              </a:rPr>
              <a:t>coming 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assimilated within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more </a:t>
            </a:r>
            <a:r>
              <a:rPr dirty="0" sz="1100">
                <a:latin typeface="Times New Roman"/>
                <a:cs typeface="Times New Roman"/>
              </a:rPr>
              <a:t>dominant </a:t>
            </a:r>
            <a:r>
              <a:rPr dirty="0" sz="1100" spc="-5">
                <a:latin typeface="Times New Roman"/>
                <a:cs typeface="Times New Roman"/>
              </a:rPr>
              <a:t>society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facts </a:t>
            </a:r>
            <a:r>
              <a:rPr dirty="0" sz="1100" spc="-5">
                <a:latin typeface="Times New Roman"/>
                <a:cs typeface="Times New Roman"/>
              </a:rPr>
              <a:t>about languages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total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7097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endangered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(spoken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fewer</a:t>
            </a:r>
            <a:r>
              <a:rPr dirty="0" sz="1100" spc="-5">
                <a:latin typeface="Times New Roman"/>
                <a:cs typeface="Times New Roman"/>
              </a:rPr>
              <a:t> 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1000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people):</a:t>
            </a:r>
            <a:r>
              <a:rPr dirty="0" sz="1100" spc="-5">
                <a:latin typeface="Times New Roman"/>
                <a:cs typeface="Times New Roman"/>
              </a:rPr>
              <a:t> 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third</a:t>
            </a:r>
            <a:endParaRPr sz="1100">
              <a:latin typeface="Times New Roman"/>
              <a:cs typeface="Times New Roman"/>
            </a:endParaRPr>
          </a:p>
          <a:p>
            <a:pPr marL="12700" marR="157670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Death </a:t>
            </a:r>
            <a:r>
              <a:rPr dirty="0" sz="1100">
                <a:latin typeface="Times New Roman"/>
                <a:cs typeface="Times New Roman"/>
              </a:rPr>
              <a:t>rate of </a:t>
            </a:r>
            <a:r>
              <a:rPr dirty="0" sz="1100" spc="-5">
                <a:latin typeface="Times New Roman"/>
                <a:cs typeface="Times New Roman"/>
              </a:rPr>
              <a:t>languages: Two languages </a:t>
            </a:r>
            <a:r>
              <a:rPr dirty="0" sz="1100">
                <a:latin typeface="Times New Roman"/>
                <a:cs typeface="Times New Roman"/>
              </a:rPr>
              <a:t>per </a:t>
            </a:r>
            <a:r>
              <a:rPr dirty="0" sz="1100" spc="-5">
                <a:latin typeface="Times New Roman"/>
                <a:cs typeface="Times New Roman"/>
              </a:rPr>
              <a:t>month </a:t>
            </a:r>
            <a:r>
              <a:rPr dirty="0" sz="1100">
                <a:latin typeface="Times New Roman"/>
                <a:cs typeface="Times New Roman"/>
              </a:rPr>
              <a:t>(Over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next 100 years)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loss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Globalization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6540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Spread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benefitting politically </a:t>
            </a:r>
            <a:r>
              <a:rPr dirty="0" sz="1100" spc="-5">
                <a:latin typeface="Times New Roman"/>
                <a:cs typeface="Times New Roman"/>
              </a:rPr>
              <a:t>and economically </a:t>
            </a:r>
            <a:r>
              <a:rPr dirty="0" sz="1100">
                <a:latin typeface="Times New Roman"/>
                <a:cs typeface="Times New Roman"/>
              </a:rPr>
              <a:t>powerful </a:t>
            </a:r>
            <a:r>
              <a:rPr dirty="0" sz="1100" spc="-5">
                <a:latin typeface="Times New Roman"/>
                <a:cs typeface="Times New Roman"/>
              </a:rPr>
              <a:t>English speaking </a:t>
            </a:r>
            <a:r>
              <a:rPr dirty="0" sz="1100">
                <a:latin typeface="Times New Roman"/>
                <a:cs typeface="Times New Roman"/>
              </a:rPr>
              <a:t>nations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loss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‘ideology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contempt’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practice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standardizing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promoting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language/dialect</a:t>
            </a:r>
            <a:endParaRPr sz="1100">
              <a:latin typeface="Times New Roman"/>
              <a:cs typeface="Times New Roman"/>
            </a:endParaRPr>
          </a:p>
          <a:p>
            <a:pPr marL="12700" marR="23622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Mistaking technological </a:t>
            </a:r>
            <a:r>
              <a:rPr dirty="0" sz="1100">
                <a:latin typeface="Times New Roman"/>
                <a:cs typeface="Times New Roman"/>
              </a:rPr>
              <a:t>development for </a:t>
            </a:r>
            <a:r>
              <a:rPr dirty="0" sz="1100" spc="-5">
                <a:latin typeface="Times New Roman"/>
                <a:cs typeface="Times New Roman"/>
              </a:rPr>
              <a:t>cultural </a:t>
            </a:r>
            <a:r>
              <a:rPr dirty="0" sz="1100">
                <a:latin typeface="Times New Roman"/>
                <a:cs typeface="Times New Roman"/>
              </a:rPr>
              <a:t>development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loss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European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‘ideology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contempt’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12700" marR="24155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Looked </a:t>
            </a:r>
            <a:r>
              <a:rPr dirty="0" sz="1100">
                <a:latin typeface="Times New Roman"/>
                <a:cs typeface="Times New Roman"/>
              </a:rPr>
              <a:t>down upon </a:t>
            </a:r>
            <a:r>
              <a:rPr dirty="0" sz="1100" spc="-5">
                <a:latin typeface="Times New Roman"/>
                <a:cs typeface="Times New Roman"/>
              </a:rPr>
              <a:t>the indigenous languages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their colonies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254 </a:t>
            </a:r>
            <a:r>
              <a:rPr dirty="0" sz="1100" spc="-5">
                <a:latin typeface="Times New Roman"/>
                <a:cs typeface="Times New Roman"/>
              </a:rPr>
              <a:t>English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Killer Language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loss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Correlation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capacity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survival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survival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fittest</a:t>
            </a:r>
            <a:endParaRPr sz="1100">
              <a:latin typeface="Times New Roman"/>
              <a:cs typeface="Times New Roman"/>
            </a:endParaRPr>
          </a:p>
          <a:p>
            <a:pPr marL="12700" marR="45364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self-serving </a:t>
            </a:r>
            <a:r>
              <a:rPr dirty="0" sz="1100">
                <a:latin typeface="Times New Roman"/>
                <a:cs typeface="Times New Roman"/>
              </a:rPr>
              <a:t>belief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 causes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loss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Discouraging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bilingualism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Europeans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bilingualism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burdensome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Discouraging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refugees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immigrants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maintain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12700" marR="38906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Subtractive spread </a:t>
            </a:r>
            <a:r>
              <a:rPr dirty="0" sz="1100">
                <a:latin typeface="Times New Roman"/>
                <a:cs typeface="Times New Roman"/>
              </a:rPr>
              <a:t>of big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language loss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capital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Advantages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15671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 </a:t>
            </a:r>
            <a:r>
              <a:rPr dirty="0" sz="1100">
                <a:latin typeface="Times New Roman"/>
                <a:cs typeface="Times New Roman"/>
              </a:rPr>
              <a:t>of knowledge of </a:t>
            </a:r>
            <a:r>
              <a:rPr dirty="0" sz="1100" spc="-5">
                <a:latin typeface="Times New Roman"/>
                <a:cs typeface="Times New Roman"/>
              </a:rPr>
              <a:t>English linked with loss </a:t>
            </a:r>
            <a:r>
              <a:rPr dirty="0" sz="1100">
                <a:latin typeface="Times New Roman"/>
                <a:cs typeface="Times New Roman"/>
              </a:rPr>
              <a:t>of benefits of global </a:t>
            </a:r>
            <a:r>
              <a:rPr dirty="0" sz="1100" spc="-5">
                <a:latin typeface="Times New Roman"/>
                <a:cs typeface="Times New Roman"/>
              </a:rPr>
              <a:t>economy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Possible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language loss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Continued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colonies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Local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likely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disunity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Unsuitable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educational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technological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development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western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curricula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devalues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knowledge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3970" cy="870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957954">
              <a:lnSpc>
                <a:spcPct val="1102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255 </a:t>
            </a:r>
            <a:r>
              <a:rPr dirty="0" sz="1100" spc="-5">
                <a:latin typeface="Times New Roman"/>
                <a:cs typeface="Times New Roman"/>
              </a:rPr>
              <a:t>Creation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Monolingual Elite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gap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poor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Competence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advantaging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endParaRPr sz="1100">
              <a:latin typeface="Times New Roman"/>
              <a:cs typeface="Times New Roman"/>
            </a:endParaRPr>
          </a:p>
          <a:p>
            <a:pPr marL="12700" marR="26365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Manipulating the </a:t>
            </a:r>
            <a:r>
              <a:rPr dirty="0" sz="1100">
                <a:latin typeface="Times New Roman"/>
                <a:cs typeface="Times New Roman"/>
              </a:rPr>
              <a:t>knowledge of </a:t>
            </a:r>
            <a:r>
              <a:rPr dirty="0" sz="1100" spc="-5">
                <a:latin typeface="Times New Roman"/>
                <a:cs typeface="Times New Roman"/>
              </a:rPr>
              <a:t>English to their advantage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Rendering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unnecessary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Reducing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motivation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endParaRPr sz="1100">
              <a:latin typeface="Times New Roman"/>
              <a:cs typeface="Times New Roman"/>
            </a:endParaRPr>
          </a:p>
          <a:p>
            <a:pPr marL="12700" marR="30702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Limited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opportunities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Creation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an elite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Complacent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knowledge</a:t>
            </a:r>
            <a:endParaRPr sz="1100">
              <a:latin typeface="Times New Roman"/>
              <a:cs typeface="Times New Roman"/>
            </a:endParaRPr>
          </a:p>
          <a:p>
            <a:pPr marL="12700" marR="39681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Disdain </a:t>
            </a:r>
            <a:r>
              <a:rPr dirty="0" sz="1100">
                <a:latin typeface="Times New Roman"/>
                <a:cs typeface="Times New Roman"/>
              </a:rPr>
              <a:t>for other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Beliefs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mother-tongue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Belief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evolutionary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view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34931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Favouring the idea </a:t>
            </a:r>
            <a:r>
              <a:rPr dirty="0" sz="1100">
                <a:latin typeface="Times New Roman"/>
                <a:cs typeface="Times New Roman"/>
              </a:rPr>
              <a:t>of a </a:t>
            </a:r>
            <a:r>
              <a:rPr dirty="0" sz="1100" spc="-5">
                <a:latin typeface="Times New Roman"/>
                <a:cs typeface="Times New Roman"/>
              </a:rPr>
              <a:t>monolingual world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256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Power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Advantages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698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automatically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position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9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compared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 who </a:t>
            </a:r>
            <a:r>
              <a:rPr dirty="0" sz="1100">
                <a:latin typeface="Times New Roman"/>
                <a:cs typeface="Times New Roman"/>
              </a:rPr>
              <a:t>have </a:t>
            </a:r>
            <a:r>
              <a:rPr dirty="0" sz="1100" spc="-5">
                <a:latin typeface="Times New Roman"/>
                <a:cs typeface="Times New Roman"/>
              </a:rPr>
              <a:t>to learn it 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</a:t>
            </a:r>
            <a:r>
              <a:rPr dirty="0" sz="1100">
                <a:latin typeface="Times New Roman"/>
                <a:cs typeface="Times New Roman"/>
              </a:rPr>
              <a:t>official or foreign </a:t>
            </a:r>
            <a:r>
              <a:rPr dirty="0" sz="1100" spc="-5">
                <a:latin typeface="Times New Roman"/>
                <a:cs typeface="Times New Roman"/>
              </a:rPr>
              <a:t>language?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Advantages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Mother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tongues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versus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Scientific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academic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community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Multinational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companies</a:t>
            </a:r>
            <a:endParaRPr sz="1100">
              <a:latin typeface="Times New Roman"/>
              <a:cs typeface="Times New Roman"/>
            </a:endParaRPr>
          </a:p>
          <a:p>
            <a:pPr marL="12700" marR="3519804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Dealing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disadvantages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Proper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Early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exposure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Continued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maintenance</a:t>
            </a:r>
            <a:endParaRPr sz="1100">
              <a:latin typeface="Times New Roman"/>
              <a:cs typeface="Times New Roman"/>
            </a:endParaRPr>
          </a:p>
          <a:p>
            <a:pPr marL="12700" marR="41916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Availability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good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resources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Difficulties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Proper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Difficult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achieve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degree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Availability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good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resources</a:t>
            </a:r>
            <a:endParaRPr sz="1100">
              <a:latin typeface="Times New Roman"/>
              <a:cs typeface="Times New Roman"/>
            </a:endParaRPr>
          </a:p>
          <a:p>
            <a:pPr marL="12700" marR="464248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Financia</a:t>
            </a:r>
            <a:r>
              <a:rPr dirty="0" sz="1100">
                <a:latin typeface="Times New Roman"/>
                <a:cs typeface="Times New Roman"/>
              </a:rPr>
              <a:t>l</a:t>
            </a:r>
            <a:r>
              <a:rPr dirty="0" sz="1100" spc="-5">
                <a:latin typeface="Times New Roman"/>
                <a:cs typeface="Times New Roman"/>
              </a:rPr>
              <a:t> implications  </a:t>
            </a:r>
            <a:r>
              <a:rPr dirty="0" sz="1100" spc="-5">
                <a:latin typeface="Times New Roman"/>
                <a:cs typeface="Times New Roman"/>
              </a:rPr>
              <a:t>Limited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success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Proper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Native-like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competence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achieved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minority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5">
                <a:latin typeface="Times New Roman"/>
                <a:cs typeface="Times New Roman"/>
              </a:rPr>
              <a:t> learners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Difficult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achievable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(as </a:t>
            </a:r>
            <a:r>
              <a:rPr dirty="0" sz="1100" spc="-5">
                <a:latin typeface="Times New Roman"/>
                <a:cs typeface="Times New Roman"/>
              </a:rPr>
              <a:t>evidenced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repeatedly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5">
                <a:latin typeface="Times New Roman"/>
                <a:cs typeface="Times New Roman"/>
              </a:rPr>
              <a:t> 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around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world)</a:t>
            </a:r>
            <a:endParaRPr sz="1100">
              <a:latin typeface="Times New Roman"/>
              <a:cs typeface="Times New Roman"/>
            </a:endParaRPr>
          </a:p>
          <a:p>
            <a:pPr marL="12700" marR="352679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disadvantaged </a:t>
            </a:r>
            <a:r>
              <a:rPr dirty="0" sz="1100" spc="-5">
                <a:latin typeface="Times New Roman"/>
                <a:cs typeface="Times New Roman"/>
              </a:rPr>
              <a:t>scenario can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altered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257</a:t>
            </a:r>
            <a:r>
              <a:rPr dirty="0" sz="1100" spc="-5">
                <a:latin typeface="Times New Roman"/>
                <a:cs typeface="Times New Roman"/>
              </a:rPr>
              <a:t> Linguistic Complacency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Presence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Assumptions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speakers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knowledge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25901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motivation and interest in learning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statistics about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Ninety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businesses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Belgium,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Netherlands,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Luxembourg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Greece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had</a:t>
            </a:r>
            <a:r>
              <a:rPr dirty="0" sz="1100" spc="9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8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executive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negotiate </a:t>
            </a:r>
            <a:r>
              <a:rPr dirty="0" sz="1100" spc="-5">
                <a:latin typeface="Times New Roman"/>
                <a:cs typeface="Times New Roman"/>
              </a:rPr>
              <a:t>in another language</a:t>
            </a:r>
            <a:endParaRPr sz="1100">
              <a:latin typeface="Times New Roman"/>
              <a:cs typeface="Times New Roman"/>
            </a:endParaRPr>
          </a:p>
          <a:p>
            <a:pPr marL="12700" marR="22599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(European </a:t>
            </a:r>
            <a:r>
              <a:rPr dirty="0" sz="1100" spc="-5">
                <a:latin typeface="Times New Roman"/>
                <a:cs typeface="Times New Roman"/>
              </a:rPr>
              <a:t>Business Survey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Grant Thornton </a:t>
            </a:r>
            <a:r>
              <a:rPr dirty="0" sz="1100">
                <a:latin typeface="Times New Roman"/>
                <a:cs typeface="Times New Roman"/>
              </a:rPr>
              <a:t>reported </a:t>
            </a:r>
            <a:r>
              <a:rPr dirty="0" sz="1100" spc="-5">
                <a:latin typeface="Times New Roman"/>
                <a:cs typeface="Times New Roman"/>
              </a:rPr>
              <a:t>in </a:t>
            </a:r>
            <a:r>
              <a:rPr dirty="0" sz="1100">
                <a:latin typeface="Times New Roman"/>
                <a:cs typeface="Times New Roman"/>
              </a:rPr>
              <a:t>1996)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statistics about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Only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38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 </a:t>
            </a:r>
            <a:r>
              <a:rPr dirty="0" sz="1100" spc="-5">
                <a:latin typeface="Times New Roman"/>
                <a:cs typeface="Times New Roman"/>
              </a:rPr>
              <a:t>cent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companies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had </a:t>
            </a:r>
            <a:r>
              <a:rPr dirty="0" sz="1100" spc="-5">
                <a:latin typeface="Times New Roman"/>
                <a:cs typeface="Times New Roman"/>
              </a:rPr>
              <a:t>someone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 could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negotiate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 </a:t>
            </a:r>
            <a:r>
              <a:rPr dirty="0" sz="1100">
                <a:latin typeface="Times New Roman"/>
                <a:cs typeface="Times New Roman"/>
              </a:rPr>
              <a:t>one</a:t>
            </a:r>
            <a:r>
              <a:rPr dirty="0" sz="1100" spc="-5">
                <a:latin typeface="Times New Roman"/>
                <a:cs typeface="Times New Roman"/>
              </a:rPr>
              <a:t> language.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(European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Business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Survey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Thornton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reported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1996)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72225" cy="546925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Some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statistics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exporters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opportunities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because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skills.</a:t>
            </a:r>
            <a:endParaRPr sz="1100">
              <a:latin typeface="Times New Roman"/>
              <a:cs typeface="Times New Roman"/>
            </a:endParaRPr>
          </a:p>
          <a:p>
            <a:pPr marL="12700" marR="24358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(Centre for Information on </a:t>
            </a:r>
            <a:r>
              <a:rPr dirty="0" sz="1100" spc="-5">
                <a:latin typeface="Times New Roman"/>
                <a:cs typeface="Times New Roman"/>
              </a:rPr>
              <a:t>Language Teaching and Research)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issue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Growing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awareness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give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traditional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monolingual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bias</a:t>
            </a:r>
            <a:endParaRPr sz="1100">
              <a:latin typeface="Times New Roman"/>
              <a:cs typeface="Times New Roman"/>
            </a:endParaRPr>
          </a:p>
          <a:p>
            <a:pPr marL="12700" marR="18751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Role </a:t>
            </a:r>
            <a:r>
              <a:rPr dirty="0" sz="1100">
                <a:latin typeface="Times New Roman"/>
                <a:cs typeface="Times New Roman"/>
              </a:rPr>
              <a:t>of a foreign </a:t>
            </a:r>
            <a:r>
              <a:rPr dirty="0" sz="1100" spc="-5">
                <a:latin typeface="Times New Roman"/>
                <a:cs typeface="Times New Roman"/>
              </a:rPr>
              <a:t>language in </a:t>
            </a:r>
            <a:r>
              <a:rPr dirty="0" sz="1100">
                <a:latin typeface="Times New Roman"/>
                <a:cs typeface="Times New Roman"/>
              </a:rPr>
              <a:t>business </a:t>
            </a:r>
            <a:r>
              <a:rPr dirty="0" sz="1100" spc="-5">
                <a:latin typeface="Times New Roman"/>
                <a:cs typeface="Times New Roman"/>
              </a:rPr>
              <a:t>and attracting </a:t>
            </a:r>
            <a:r>
              <a:rPr dirty="0" sz="1100">
                <a:latin typeface="Times New Roman"/>
                <a:cs typeface="Times New Roman"/>
              </a:rPr>
              <a:t>foreign </a:t>
            </a:r>
            <a:r>
              <a:rPr dirty="0" sz="1100" spc="-5">
                <a:latin typeface="Times New Roman"/>
                <a:cs typeface="Times New Roman"/>
              </a:rPr>
              <a:t>investment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Addressing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issue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Signs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growing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respect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-5">
                <a:latin typeface="Times New Roman"/>
                <a:cs typeface="Times New Roman"/>
              </a:rPr>
              <a:t> cultures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more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readiness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Influence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important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personalities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promoting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endParaRPr sz="11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is all too easy to make </a:t>
            </a:r>
            <a:r>
              <a:rPr dirty="0" sz="1100">
                <a:latin typeface="Times New Roman"/>
                <a:cs typeface="Times New Roman"/>
              </a:rPr>
              <a:t>your </a:t>
            </a:r>
            <a:r>
              <a:rPr dirty="0" sz="1100" spc="-5">
                <a:latin typeface="Times New Roman"/>
                <a:cs typeface="Times New Roman"/>
              </a:rPr>
              <a:t>way in the world linguistically with English as </a:t>
            </a:r>
            <a:r>
              <a:rPr dirty="0" sz="1100">
                <a:latin typeface="Times New Roman"/>
                <a:cs typeface="Times New Roman"/>
              </a:rPr>
              <a:t>your </a:t>
            </a:r>
            <a:r>
              <a:rPr dirty="0" sz="1100" spc="-5">
                <a:latin typeface="Times New Roman"/>
                <a:cs typeface="Times New Roman"/>
              </a:rPr>
              <a:t>mother tongue </a:t>
            </a:r>
            <a:r>
              <a:rPr dirty="0" sz="1100">
                <a:latin typeface="Times New Roman"/>
                <a:cs typeface="Times New Roman"/>
              </a:rPr>
              <a:t>. . .We become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lazy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other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</a:t>
            </a:r>
            <a:r>
              <a:rPr dirty="0" sz="1100">
                <a:latin typeface="Times New Roman"/>
                <a:cs typeface="Times New Roman"/>
              </a:rPr>
              <a:t> . . .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may</a:t>
            </a:r>
            <a:r>
              <a:rPr dirty="0" sz="1100">
                <a:latin typeface="Times New Roman"/>
                <a:cs typeface="Times New Roman"/>
              </a:rPr>
              <a:t> be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language;</a:t>
            </a:r>
            <a:r>
              <a:rPr dirty="0" sz="1100">
                <a:latin typeface="Times New Roman"/>
                <a:cs typeface="Times New Roman"/>
              </a:rPr>
              <a:t> but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>
                <a:latin typeface="Times New Roman"/>
                <a:cs typeface="Times New Roman"/>
              </a:rPr>
              <a:t> not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world’s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only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and if we are to </a:t>
            </a:r>
            <a:r>
              <a:rPr dirty="0" sz="1100">
                <a:latin typeface="Times New Roman"/>
                <a:cs typeface="Times New Roman"/>
              </a:rPr>
              <a:t>be good global neighbours </a:t>
            </a:r>
            <a:r>
              <a:rPr dirty="0" sz="1100" spc="-5">
                <a:latin typeface="Times New Roman"/>
                <a:cs typeface="Times New Roman"/>
              </a:rPr>
              <a:t>we shall </a:t>
            </a:r>
            <a:r>
              <a:rPr dirty="0" sz="1100">
                <a:latin typeface="Times New Roman"/>
                <a:cs typeface="Times New Roman"/>
              </a:rPr>
              <a:t>have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5">
                <a:latin typeface="Times New Roman"/>
                <a:cs typeface="Times New Roman"/>
              </a:rPr>
              <a:t>less condescending to the languages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world…”</a:t>
            </a:r>
            <a:endParaRPr sz="1100">
              <a:latin typeface="Times New Roman"/>
              <a:cs typeface="Times New Roman"/>
            </a:endParaRPr>
          </a:p>
          <a:p>
            <a:pPr algn="just" marL="4699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Sir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SridathRamphal</a:t>
            </a:r>
            <a:endParaRPr sz="110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258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Bilingualism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Prevent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Death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r" marR="563245">
              <a:lnSpc>
                <a:spcPct val="100000"/>
              </a:lnSpc>
            </a:pPr>
            <a:r>
              <a:rPr dirty="0" sz="1400" spc="10">
                <a:latin typeface="Times New Roman"/>
                <a:cs typeface="Times New Roman"/>
              </a:rPr>
              <a:t>Lesson-44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39370">
              <a:lnSpc>
                <a:spcPct val="100000"/>
              </a:lnSpc>
            </a:pPr>
            <a:r>
              <a:rPr dirty="0" sz="1400" spc="70">
                <a:latin typeface="Times New Roman"/>
                <a:cs typeface="Times New Roman"/>
              </a:rPr>
              <a:t>Future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60">
                <a:latin typeface="Times New Roman"/>
                <a:cs typeface="Times New Roman"/>
              </a:rPr>
              <a:t>World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Englishes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259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Shift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Shift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higher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12700" marR="19894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Centre likely to shift in the </a:t>
            </a:r>
            <a:r>
              <a:rPr dirty="0" sz="1100">
                <a:latin typeface="Times New Roman"/>
                <a:cs typeface="Times New Roman"/>
              </a:rPr>
              <a:t>direction 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higher number of </a:t>
            </a:r>
            <a:r>
              <a:rPr dirty="0" sz="1100" spc="-5">
                <a:latin typeface="Times New Roman"/>
                <a:cs typeface="Times New Roman"/>
              </a:rPr>
              <a:t>speakers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International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ownership 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Claim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rights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circle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countries</a:t>
            </a:r>
            <a:endParaRPr sz="1100">
              <a:latin typeface="Times New Roman"/>
              <a:cs typeface="Times New Roman"/>
            </a:endParaRPr>
          </a:p>
          <a:p>
            <a:pPr marL="12700" marR="136461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Outer and expanding circle </a:t>
            </a:r>
            <a:r>
              <a:rPr dirty="0" sz="1100">
                <a:latin typeface="Times New Roman"/>
                <a:cs typeface="Times New Roman"/>
              </a:rPr>
              <a:t>refusal </a:t>
            </a:r>
            <a:r>
              <a:rPr dirty="0" sz="1100" spc="-5">
                <a:latin typeface="Times New Roman"/>
                <a:cs typeface="Times New Roman"/>
              </a:rPr>
              <a:t>to </a:t>
            </a:r>
            <a:r>
              <a:rPr dirty="0" sz="1100">
                <a:latin typeface="Times New Roman"/>
                <a:cs typeface="Times New Roman"/>
              </a:rPr>
              <a:t>defer </a:t>
            </a:r>
            <a:r>
              <a:rPr dirty="0" sz="1100" spc="-5">
                <a:latin typeface="Times New Roman"/>
                <a:cs typeface="Times New Roman"/>
              </a:rPr>
              <a:t>to British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American English </a:t>
            </a:r>
            <a:r>
              <a:rPr dirty="0" sz="1100">
                <a:latin typeface="Times New Roman"/>
                <a:cs typeface="Times New Roman"/>
              </a:rPr>
              <a:t>norms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Paradigm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shift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6661956"/>
            <a:ext cx="749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6090766"/>
            <a:ext cx="3431540" cy="76454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between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distribution</a:t>
            </a:r>
            <a:endParaRPr sz="1100">
              <a:latin typeface="Times New Roman"/>
              <a:cs typeface="Times New Roman"/>
            </a:endParaRPr>
          </a:p>
          <a:p>
            <a:pPr marL="469265" marR="1643380" indent="-4692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Distribution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adoption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conformity</a:t>
            </a:r>
            <a:endParaRPr sz="11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Spread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adaptation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non-conformity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6829588"/>
            <a:ext cx="4742815" cy="261175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Paradigm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shift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adaptation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matches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preferences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its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Claims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rights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endParaRPr sz="1100">
              <a:latin typeface="Times New Roman"/>
              <a:cs typeface="Times New Roman"/>
            </a:endParaRPr>
          </a:p>
          <a:p>
            <a:pPr marL="12700" marR="51815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 international language is meant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all and </a:t>
            </a:r>
            <a:r>
              <a:rPr dirty="0" sz="1100">
                <a:latin typeface="Times New Roman"/>
                <a:cs typeface="Times New Roman"/>
              </a:rPr>
              <a:t>not only a </a:t>
            </a:r>
            <a:r>
              <a:rPr dirty="0" sz="1100" spc="-5">
                <a:latin typeface="Times New Roman"/>
                <a:cs typeface="Times New Roman"/>
              </a:rPr>
              <a:t>select </a:t>
            </a:r>
            <a:r>
              <a:rPr dirty="0" sz="1100">
                <a:latin typeface="Times New Roman"/>
                <a:cs typeface="Times New Roman"/>
              </a:rPr>
              <a:t>few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260 </a:t>
            </a:r>
            <a:r>
              <a:rPr dirty="0" sz="1100" spc="-5">
                <a:latin typeface="Times New Roman"/>
                <a:cs typeface="Times New Roman"/>
              </a:rPr>
              <a:t>Linguistic Shift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Loss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Loss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international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role</a:t>
            </a:r>
            <a:endParaRPr sz="1100">
              <a:latin typeface="Times New Roman"/>
              <a:cs typeface="Times New Roman"/>
            </a:endParaRPr>
          </a:p>
          <a:p>
            <a:pPr marL="12700" marR="17100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Sharing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Reasons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English’s loss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power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Abandoning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non-native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Difficulties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inherent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10439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Emergence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some </a:t>
            </a:r>
            <a:r>
              <a:rPr dirty="0" sz="1100">
                <a:latin typeface="Times New Roman"/>
                <a:cs typeface="Times New Roman"/>
              </a:rPr>
              <a:t>other </a:t>
            </a:r>
            <a:r>
              <a:rPr dirty="0" sz="1100" spc="-5">
                <a:latin typeface="Times New Roman"/>
                <a:cs typeface="Times New Roman"/>
              </a:rPr>
              <a:t>language as the world 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Inherent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difficulties of</a:t>
            </a:r>
            <a:r>
              <a:rPr dirty="0" sz="1100" spc="-5">
                <a:latin typeface="Times New Roman"/>
                <a:cs typeface="Times New Roman"/>
              </a:rPr>
              <a:t> English language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findings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prove</a:t>
            </a:r>
            <a:r>
              <a:rPr dirty="0" sz="1100" spc="-5">
                <a:latin typeface="Times New Roman"/>
                <a:cs typeface="Times New Roman"/>
              </a:rPr>
              <a:t> that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hardest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60160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 spc="-5">
                <a:latin typeface="Times New Roman"/>
                <a:cs typeface="Times New Roman"/>
              </a:rPr>
              <a:t>Types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difficulties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Orthographic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Phonological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Grammatical</a:t>
            </a:r>
            <a:endParaRPr sz="1100">
              <a:latin typeface="Times New Roman"/>
              <a:cs typeface="Times New Roman"/>
            </a:endParaRPr>
          </a:p>
          <a:p>
            <a:pPr marL="12700" marR="408368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Inherent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difficulties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pronounce</a:t>
            </a:r>
            <a:r>
              <a:rPr dirty="0" sz="1100" spc="-5">
                <a:latin typeface="Times New Roman"/>
                <a:cs typeface="Times New Roman"/>
              </a:rPr>
              <a:t> this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word?</a:t>
            </a:r>
            <a:endParaRPr sz="1100">
              <a:latin typeface="Times New Roman"/>
              <a:cs typeface="Times New Roman"/>
            </a:endParaRPr>
          </a:p>
          <a:p>
            <a:pPr marL="469900" marR="556387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Ghoti  </a:t>
            </a:r>
            <a:r>
              <a:rPr dirty="0" sz="1100" spc="-5">
                <a:latin typeface="Times New Roman"/>
                <a:cs typeface="Times New Roman"/>
              </a:rPr>
              <a:t>Fish</a:t>
            </a:r>
            <a:endParaRPr sz="1100">
              <a:latin typeface="Times New Roman"/>
              <a:cs typeface="Times New Roman"/>
            </a:endParaRPr>
          </a:p>
          <a:p>
            <a:pPr algn="just" marL="12700" marR="542734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Gh</a:t>
            </a:r>
            <a:r>
              <a:rPr dirty="0" sz="1100">
                <a:latin typeface="Times New Roman"/>
                <a:cs typeface="Times New Roman"/>
              </a:rPr>
              <a:t> =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(tough)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 = I (women)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=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(initiate)</a:t>
            </a:r>
            <a:endParaRPr sz="1100">
              <a:latin typeface="Times New Roman"/>
              <a:cs typeface="Times New Roman"/>
            </a:endParaRPr>
          </a:p>
          <a:p>
            <a:pPr marL="12700" marR="408368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Inherent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difficulties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Orthography</a:t>
            </a:r>
            <a:endParaRPr sz="1100">
              <a:latin typeface="Times New Roman"/>
              <a:cs typeface="Times New Roman"/>
            </a:endParaRPr>
          </a:p>
          <a:p>
            <a:pPr marL="12700" marR="31534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Different ways</a:t>
            </a:r>
            <a:r>
              <a:rPr dirty="0" sz="1100">
                <a:latin typeface="Times New Roman"/>
                <a:cs typeface="Times New Roman"/>
              </a:rPr>
              <a:t> of </a:t>
            </a:r>
            <a:r>
              <a:rPr dirty="0" sz="1100" spc="-5">
                <a:latin typeface="Times New Roman"/>
                <a:cs typeface="Times New Roman"/>
              </a:rPr>
              <a:t>pronouncing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sequence ‘ea’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bead,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head, bear,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fear, pearl</a:t>
            </a:r>
            <a:endParaRPr sz="1100">
              <a:latin typeface="Times New Roman"/>
              <a:cs typeface="Times New Roman"/>
            </a:endParaRPr>
          </a:p>
          <a:p>
            <a:pPr marL="12700" marR="29972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Different ways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pronouncing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sequence </a:t>
            </a:r>
            <a:r>
              <a:rPr dirty="0" sz="1100">
                <a:latin typeface="Times New Roman"/>
                <a:cs typeface="Times New Roman"/>
              </a:rPr>
              <a:t>‘ough’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cough,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bough, dough,</a:t>
            </a:r>
            <a:r>
              <a:rPr dirty="0" sz="1100" spc="-5">
                <a:latin typeface="Times New Roman"/>
                <a:cs typeface="Times New Roman"/>
              </a:rPr>
              <a:t> through,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thorough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>
                <a:latin typeface="Times New Roman"/>
                <a:cs typeface="Times New Roman"/>
              </a:rPr>
              <a:t>Inherent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difficulties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37204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Silent letters at the </a:t>
            </a:r>
            <a:r>
              <a:rPr dirty="0" sz="1100">
                <a:latin typeface="Times New Roman"/>
                <a:cs typeface="Times New Roman"/>
              </a:rPr>
              <a:t>beginning of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psychology,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pneumonia,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knife,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Silent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letters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thumb,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limb,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climb,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bomb</a:t>
            </a:r>
            <a:endParaRPr sz="1100">
              <a:latin typeface="Times New Roman"/>
              <a:cs typeface="Times New Roman"/>
            </a:endParaRPr>
          </a:p>
          <a:p>
            <a:pPr marL="12700" marR="46653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Silent medial letters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Muscle,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fasten,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castle,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whistle</a:t>
            </a:r>
            <a:endParaRPr sz="1100">
              <a:latin typeface="Times New Roman"/>
              <a:cs typeface="Times New Roman"/>
            </a:endParaRPr>
          </a:p>
          <a:p>
            <a:pPr marL="12700" marR="408368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Inherent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difficulties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Pronunciation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vowel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phonemes: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(Twenty)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Extensive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central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vowel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schwa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regardless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spelling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2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prepositions,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auxiliaries</a:t>
            </a:r>
            <a:r>
              <a:rPr dirty="0" sz="1100" spc="2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pronouns:</a:t>
            </a:r>
            <a:endParaRPr sz="1100">
              <a:latin typeface="Times New Roman"/>
              <a:cs typeface="Times New Roman"/>
            </a:endParaRPr>
          </a:p>
          <a:p>
            <a:pPr marL="12700" marR="382142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her,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them,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Inherent difficulties of </a:t>
            </a:r>
            <a:r>
              <a:rPr dirty="0" sz="1100" spc="-5">
                <a:latin typeface="Times New Roman"/>
                <a:cs typeface="Times New Roman"/>
              </a:rPr>
              <a:t>English language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Grammar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Verb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Link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reference</a:t>
            </a:r>
            <a:endParaRPr sz="1100">
              <a:latin typeface="Times New Roman"/>
              <a:cs typeface="Times New Roman"/>
            </a:endParaRPr>
          </a:p>
          <a:p>
            <a:pPr marL="12700" marR="31248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Modal </a:t>
            </a:r>
            <a:r>
              <a:rPr dirty="0" sz="1100">
                <a:latin typeface="Times New Roman"/>
                <a:cs typeface="Times New Roman"/>
              </a:rPr>
              <a:t>verbs: </a:t>
            </a:r>
            <a:r>
              <a:rPr dirty="0" sz="1100" spc="-5">
                <a:latin typeface="Times New Roman"/>
                <a:cs typeface="Times New Roman"/>
              </a:rPr>
              <a:t>may, might, can, could, will, would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261 </a:t>
            </a:r>
            <a:r>
              <a:rPr dirty="0" sz="1100" spc="-5">
                <a:latin typeface="Times New Roman"/>
                <a:cs typeface="Times New Roman"/>
              </a:rPr>
              <a:t>Linguistic Shift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Spanish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Total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Spanish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speakers: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470-500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endParaRPr sz="1100">
              <a:latin typeface="Times New Roman"/>
              <a:cs typeface="Times New Roman"/>
            </a:endParaRPr>
          </a:p>
          <a:p>
            <a:pPr marL="12700" marR="330707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Increasing </a:t>
            </a:r>
            <a:r>
              <a:rPr dirty="0" sz="1100" spc="-5">
                <a:latin typeface="Times New Roman"/>
                <a:cs typeface="Times New Roman"/>
              </a:rPr>
              <a:t>importance in America and Europe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Spanish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 emerging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demand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travellers</a:t>
            </a:r>
            <a:endParaRPr sz="1100">
              <a:latin typeface="Times New Roman"/>
              <a:cs typeface="Times New Roman"/>
            </a:endParaRPr>
          </a:p>
          <a:p>
            <a:pPr marL="12700" marR="2171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Spanish speaking countries </a:t>
            </a:r>
            <a:r>
              <a:rPr dirty="0" sz="1100">
                <a:latin typeface="Times New Roman"/>
                <a:cs typeface="Times New Roman"/>
              </a:rPr>
              <a:t>becoming popular </a:t>
            </a:r>
            <a:r>
              <a:rPr dirty="0" sz="1100" spc="-5">
                <a:latin typeface="Times New Roman"/>
                <a:cs typeface="Times New Roman"/>
              </a:rPr>
              <a:t>tourist </a:t>
            </a:r>
            <a:r>
              <a:rPr dirty="0" sz="1100">
                <a:latin typeface="Times New Roman"/>
                <a:cs typeface="Times New Roman"/>
              </a:rPr>
              <a:t>destination: </a:t>
            </a:r>
            <a:r>
              <a:rPr dirty="0" sz="1100" spc="-5">
                <a:latin typeface="Times New Roman"/>
                <a:cs typeface="Times New Roman"/>
              </a:rPr>
              <a:t>Mexico, Cuba, Dominical Republic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Spanish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an emerging </a:t>
            </a:r>
            <a:r>
              <a:rPr dirty="0" sz="1100">
                <a:latin typeface="Times New Roman"/>
                <a:cs typeface="Times New Roman"/>
              </a:rPr>
              <a:t>global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Increase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teaching/learning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Spanish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foreign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12700" marR="12331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Spanish </a:t>
            </a:r>
            <a:r>
              <a:rPr dirty="0" sz="1100">
                <a:latin typeface="Times New Roman"/>
                <a:cs typeface="Times New Roman"/>
              </a:rPr>
              <a:t>government </a:t>
            </a:r>
            <a:r>
              <a:rPr dirty="0" sz="1100" spc="-5">
                <a:latin typeface="Times New Roman"/>
                <a:cs typeface="Times New Roman"/>
              </a:rPr>
              <a:t>trying to </a:t>
            </a:r>
            <a:r>
              <a:rPr dirty="0" sz="1100">
                <a:latin typeface="Times New Roman"/>
                <a:cs typeface="Times New Roman"/>
              </a:rPr>
              <a:t>promote a pan-Hispanic </a:t>
            </a:r>
            <a:r>
              <a:rPr dirty="0" sz="1100" spc="-5">
                <a:latin typeface="Times New Roman"/>
                <a:cs typeface="Times New Roman"/>
              </a:rPr>
              <a:t>community across the world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Spanish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an emerging </a:t>
            </a:r>
            <a:r>
              <a:rPr dirty="0" sz="1100">
                <a:latin typeface="Times New Roman"/>
                <a:cs typeface="Times New Roman"/>
              </a:rPr>
              <a:t>global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41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11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58255" cy="879411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L1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</a:t>
            </a:r>
            <a:endParaRPr sz="1100">
              <a:latin typeface="Times New Roman"/>
              <a:cs typeface="Times New Roman"/>
            </a:endParaRPr>
          </a:p>
          <a:p>
            <a:pPr marL="12700" marR="12560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Second international language </a:t>
            </a:r>
            <a:r>
              <a:rPr dirty="0" sz="1100">
                <a:latin typeface="Times New Roman"/>
                <a:cs typeface="Times New Roman"/>
              </a:rPr>
              <a:t>of business </a:t>
            </a:r>
            <a:r>
              <a:rPr dirty="0" sz="1100" spc="-5">
                <a:latin typeface="Times New Roman"/>
                <a:cs typeface="Times New Roman"/>
              </a:rPr>
              <a:t>with an increasing importance in the US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Spanish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an emerging </a:t>
            </a:r>
            <a:r>
              <a:rPr dirty="0" sz="1100">
                <a:latin typeface="Times New Roman"/>
                <a:cs typeface="Times New Roman"/>
              </a:rPr>
              <a:t>global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41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native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11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million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users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L1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group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</a:t>
            </a:r>
            <a:endParaRPr sz="1100">
              <a:latin typeface="Times New Roman"/>
              <a:cs typeface="Times New Roman"/>
            </a:endParaRPr>
          </a:p>
          <a:p>
            <a:pPr marL="12700" marR="12560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Second international language </a:t>
            </a:r>
            <a:r>
              <a:rPr dirty="0" sz="1100">
                <a:latin typeface="Times New Roman"/>
                <a:cs typeface="Times New Roman"/>
              </a:rPr>
              <a:t>of business </a:t>
            </a:r>
            <a:r>
              <a:rPr dirty="0" sz="1100" spc="-5">
                <a:latin typeface="Times New Roman"/>
                <a:cs typeface="Times New Roman"/>
              </a:rPr>
              <a:t>with an increasing importance in the US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Spanish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an emerging </a:t>
            </a:r>
            <a:r>
              <a:rPr dirty="0" sz="1100">
                <a:latin typeface="Times New Roman"/>
                <a:cs typeface="Times New Roman"/>
              </a:rPr>
              <a:t>global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Resurgence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cultural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confidence</a:t>
            </a:r>
            <a:endParaRPr sz="1100">
              <a:latin typeface="Times New Roman"/>
              <a:cs typeface="Times New Roman"/>
            </a:endParaRPr>
          </a:p>
          <a:p>
            <a:pPr marL="12700" marR="40900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Popularity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Latino stars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China’s economic rise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attracting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attention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Mandarin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endParaRPr sz="1100">
              <a:latin typeface="Times New Roman"/>
              <a:cs typeface="Times New Roman"/>
            </a:endParaRPr>
          </a:p>
          <a:p>
            <a:pPr marL="12700" marR="1751964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One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fastest-growing </a:t>
            </a:r>
            <a:r>
              <a:rPr dirty="0" sz="1100" spc="-5">
                <a:latin typeface="Times New Roman"/>
                <a:cs typeface="Times New Roman"/>
              </a:rPr>
              <a:t>economies in the world in the last two </a:t>
            </a:r>
            <a:r>
              <a:rPr dirty="0" sz="1100">
                <a:latin typeface="Times New Roman"/>
                <a:cs typeface="Times New Roman"/>
              </a:rPr>
              <a:t>decades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an emerging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exporter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second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largest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importer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goods</a:t>
            </a:r>
            <a:r>
              <a:rPr dirty="0" sz="1100" spc="-5">
                <a:latin typeface="Times New Roman"/>
                <a:cs typeface="Times New Roman"/>
              </a:rPr>
              <a:t> in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world</a:t>
            </a:r>
            <a:endParaRPr sz="1100">
              <a:latin typeface="Times New Roman"/>
              <a:cs typeface="Times New Roman"/>
            </a:endParaRPr>
          </a:p>
          <a:p>
            <a:pPr marL="12700" marR="38601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One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world's top manufacturer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global</a:t>
            </a:r>
            <a:r>
              <a:rPr dirty="0" sz="1100" spc="-5">
                <a:latin typeface="Times New Roman"/>
                <a:cs typeface="Times New Roman"/>
              </a:rPr>
              <a:t> language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increasing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number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upper-class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parents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investing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children's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ability</a:t>
            </a:r>
            <a:endParaRPr sz="1100">
              <a:latin typeface="Times New Roman"/>
              <a:cs typeface="Times New Roman"/>
            </a:endParaRPr>
          </a:p>
          <a:p>
            <a:pPr marL="12700" marR="27228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Likely to </a:t>
            </a:r>
            <a:r>
              <a:rPr dirty="0" sz="1100">
                <a:latin typeface="Times New Roman"/>
                <a:cs typeface="Times New Roman"/>
              </a:rPr>
              <a:t>become </a:t>
            </a:r>
            <a:r>
              <a:rPr dirty="0" sz="1100" spc="-5">
                <a:latin typeface="Times New Roman"/>
                <a:cs typeface="Times New Roman"/>
              </a:rPr>
              <a:t>the majority language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internet </a:t>
            </a:r>
            <a:r>
              <a:rPr dirty="0" sz="1100">
                <a:latin typeface="Times New Roman"/>
                <a:cs typeface="Times New Roman"/>
              </a:rPr>
              <a:t>users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 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emerging </a:t>
            </a:r>
            <a:r>
              <a:rPr dirty="0" sz="1100">
                <a:latin typeface="Times New Roman"/>
                <a:cs typeface="Times New Roman"/>
              </a:rPr>
              <a:t>global </a:t>
            </a:r>
            <a:r>
              <a:rPr dirty="0" sz="1100" spc="-5">
                <a:latin typeface="Times New Roman"/>
                <a:cs typeface="Times New Roman"/>
              </a:rPr>
              <a:t>language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first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bilingual </a:t>
            </a:r>
            <a:r>
              <a:rPr dirty="0" sz="1100" spc="-5">
                <a:latin typeface="Times New Roman"/>
                <a:cs typeface="Times New Roman"/>
              </a:rPr>
              <a:t>English-Chinese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primary</a:t>
            </a:r>
            <a:r>
              <a:rPr dirty="0" sz="1100" spc="-5">
                <a:latin typeface="Times New Roman"/>
                <a:cs typeface="Times New Roman"/>
              </a:rPr>
              <a:t> school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Europe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was </a:t>
            </a:r>
            <a:r>
              <a:rPr dirty="0" sz="1100">
                <a:latin typeface="Times New Roman"/>
                <a:cs typeface="Times New Roman"/>
              </a:rPr>
              <a:t>opened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UK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2017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Mark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Zuckerberg,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Malia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Obama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Arabella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Kushner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 learning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Chinese</a:t>
            </a:r>
            <a:endParaRPr sz="1100">
              <a:latin typeface="Times New Roman"/>
              <a:cs typeface="Times New Roman"/>
            </a:endParaRPr>
          </a:p>
          <a:p>
            <a:pPr marL="12700" marR="28371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Showing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potential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becoming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franca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262 </a:t>
            </a:r>
            <a:r>
              <a:rPr dirty="0" sz="1100" spc="-5">
                <a:latin typeface="Times New Roman"/>
                <a:cs typeface="Times New Roman"/>
              </a:rPr>
              <a:t>Future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English </a:t>
            </a:r>
            <a:r>
              <a:rPr dirty="0" sz="1100">
                <a:latin typeface="Times New Roman"/>
                <a:cs typeface="Times New Roman"/>
              </a:rPr>
              <a:t>I</a:t>
            </a:r>
            <a:endParaRPr sz="1100">
              <a:latin typeface="Times New Roman"/>
              <a:cs typeface="Times New Roman"/>
            </a:endParaRPr>
          </a:p>
          <a:p>
            <a:pPr marL="12700" marR="454787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263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Future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II 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264</a:t>
            </a:r>
            <a:r>
              <a:rPr dirty="0" sz="1100" spc="2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Future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III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r" marR="548640">
              <a:lnSpc>
                <a:spcPct val="100000"/>
              </a:lnSpc>
            </a:pPr>
            <a:r>
              <a:rPr dirty="0" sz="1400" spc="10">
                <a:latin typeface="Times New Roman"/>
                <a:cs typeface="Times New Roman"/>
              </a:rPr>
              <a:t>Lesson-45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Times New Roman"/>
              <a:cs typeface="Times New Roman"/>
            </a:endParaRPr>
          </a:p>
          <a:p>
            <a:pPr algn="ctr" marR="20320">
              <a:lnSpc>
                <a:spcPct val="100000"/>
              </a:lnSpc>
            </a:pPr>
            <a:r>
              <a:rPr dirty="0" sz="1400" spc="70">
                <a:latin typeface="Times New Roman"/>
                <a:cs typeface="Times New Roman"/>
              </a:rPr>
              <a:t>Future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30">
                <a:latin typeface="Times New Roman"/>
                <a:cs typeface="Times New Roman"/>
              </a:rPr>
              <a:t>Directions: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40">
                <a:latin typeface="Times New Roman"/>
                <a:cs typeface="Times New Roman"/>
              </a:rPr>
              <a:t>Research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35">
                <a:latin typeface="Times New Roman"/>
                <a:cs typeface="Times New Roman"/>
              </a:rPr>
              <a:t>in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 spc="60">
                <a:latin typeface="Times New Roman"/>
                <a:cs typeface="Times New Roman"/>
              </a:rPr>
              <a:t>World</a:t>
            </a:r>
            <a:r>
              <a:rPr dirty="0" sz="1400">
                <a:latin typeface="Times New Roman"/>
                <a:cs typeface="Times New Roman"/>
              </a:rPr>
              <a:t> </a:t>
            </a:r>
            <a:r>
              <a:rPr dirty="0" sz="1400" spc="20">
                <a:latin typeface="Times New Roman"/>
                <a:cs typeface="Times New Roman"/>
              </a:rPr>
              <a:t>Englishes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 marR="3033395">
              <a:lnSpc>
                <a:spcPct val="110200"/>
              </a:lnSpc>
              <a:spcBef>
                <a:spcPts val="1070"/>
              </a:spcBef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265 </a:t>
            </a:r>
            <a:r>
              <a:rPr dirty="0" sz="1100" spc="-5">
                <a:latin typeface="Times New Roman"/>
                <a:cs typeface="Times New Roman"/>
              </a:rPr>
              <a:t>Research in World Englishes: Corpus Analysis </a:t>
            </a:r>
            <a:r>
              <a:rPr dirty="0" sz="1100">
                <a:latin typeface="Times New Roman"/>
                <a:cs typeface="Times New Roman"/>
              </a:rPr>
              <a:t>I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Corpus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body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written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-5">
                <a:latin typeface="Times New Roman"/>
                <a:cs typeface="Times New Roman"/>
              </a:rPr>
              <a:t> spoken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material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usually</a:t>
            </a:r>
            <a:r>
              <a:rPr dirty="0" sz="1100" spc="-5">
                <a:latin typeface="Times New Roman"/>
                <a:cs typeface="Times New Roman"/>
              </a:rPr>
              <a:t> stored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electronic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database.</a:t>
            </a:r>
            <a:endParaRPr sz="1100">
              <a:latin typeface="Times New Roman"/>
              <a:cs typeface="Times New Roman"/>
            </a:endParaRPr>
          </a:p>
          <a:p>
            <a:pPr marL="12700" marR="1447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collection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linguistic </a:t>
            </a:r>
            <a:r>
              <a:rPr dirty="0" sz="1100">
                <a:latin typeface="Times New Roman"/>
                <a:cs typeface="Times New Roman"/>
              </a:rPr>
              <a:t>data, </a:t>
            </a:r>
            <a:r>
              <a:rPr dirty="0" sz="1100" spc="-5">
                <a:latin typeface="Times New Roman"/>
                <a:cs typeface="Times New Roman"/>
              </a:rPr>
              <a:t>either compiled as written texts </a:t>
            </a:r>
            <a:r>
              <a:rPr dirty="0" sz="1100">
                <a:latin typeface="Times New Roman"/>
                <a:cs typeface="Times New Roman"/>
              </a:rPr>
              <a:t>or </a:t>
            </a:r>
            <a:r>
              <a:rPr dirty="0" sz="1100" spc="-5">
                <a:latin typeface="Times New Roman"/>
                <a:cs typeface="Times New Roman"/>
              </a:rPr>
              <a:t>as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transcription </a:t>
            </a:r>
            <a:r>
              <a:rPr dirty="0" sz="1100">
                <a:latin typeface="Times New Roman"/>
                <a:cs typeface="Times New Roman"/>
              </a:rPr>
              <a:t>of recorded </a:t>
            </a:r>
            <a:r>
              <a:rPr dirty="0" sz="1100" spc="-5">
                <a:latin typeface="Times New Roman"/>
                <a:cs typeface="Times New Roman"/>
              </a:rPr>
              <a:t>speech.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Purpose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 a</a:t>
            </a:r>
            <a:r>
              <a:rPr dirty="0" sz="1100" spc="-5">
                <a:latin typeface="Times New Roman"/>
                <a:cs typeface="Times New Roman"/>
              </a:rPr>
              <a:t> corpus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Corpus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analysis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provides: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Lexical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Morphosyntactic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information</a:t>
            </a:r>
            <a:endParaRPr sz="1100">
              <a:latin typeface="Times New Roman"/>
              <a:cs typeface="Times New Roman"/>
            </a:endParaRPr>
          </a:p>
          <a:p>
            <a:pPr marL="12700" marR="46018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Pragmatic information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Collins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(1991)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modals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Collins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(1991)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uses 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subset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modals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 study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their </a:t>
            </a:r>
            <a:r>
              <a:rPr dirty="0" sz="1100">
                <a:latin typeface="Times New Roman"/>
                <a:cs typeface="Times New Roman"/>
              </a:rPr>
              <a:t>behaviour</a:t>
            </a:r>
            <a:r>
              <a:rPr dirty="0" sz="1100" spc="-5">
                <a:latin typeface="Times New Roman"/>
                <a:cs typeface="Times New Roman"/>
              </a:rPr>
              <a:t> in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AusE,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Modals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obligation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necessity</a:t>
            </a:r>
            <a:r>
              <a:rPr dirty="0" sz="1100" spc="-5">
                <a:latin typeface="Times New Roman"/>
                <a:cs typeface="Times New Roman"/>
              </a:rPr>
              <a:t> were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selected: must,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ought,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 (got)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endParaRPr sz="1100">
              <a:latin typeface="Times New Roman"/>
              <a:cs typeface="Times New Roman"/>
            </a:endParaRPr>
          </a:p>
          <a:p>
            <a:pPr marL="12700" marR="363283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database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comprised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250,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000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Collins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(1991)</a:t>
            </a:r>
            <a:r>
              <a:rPr dirty="0" sz="1100" spc="-5">
                <a:latin typeface="Times New Roman"/>
                <a:cs typeface="Times New Roman"/>
              </a:rPr>
              <a:t> study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modals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90640" cy="8522335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234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words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drawn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genres: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reportage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corpus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Formal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writing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textbook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Transcripts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luncheon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dinner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party</a:t>
            </a:r>
            <a:r>
              <a:rPr dirty="0" sz="1100" spc="-5">
                <a:latin typeface="Times New Roman"/>
                <a:cs typeface="Times New Roman"/>
              </a:rPr>
              <a:t> conversations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5">
                <a:latin typeface="Times New Roman"/>
                <a:cs typeface="Times New Roman"/>
              </a:rPr>
              <a:t> Horvath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(1985)</a:t>
            </a:r>
            <a:endParaRPr sz="1100">
              <a:latin typeface="Times New Roman"/>
              <a:cs typeface="Times New Roman"/>
            </a:endParaRPr>
          </a:p>
          <a:p>
            <a:pPr marL="12700" marR="38290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Relatively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speech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senate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Collins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(1991)</a:t>
            </a:r>
            <a:r>
              <a:rPr dirty="0" sz="1100" spc="-5">
                <a:latin typeface="Times New Roman"/>
                <a:cs typeface="Times New Roman"/>
              </a:rPr>
              <a:t> study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modals</a:t>
            </a:r>
            <a:endParaRPr sz="1100">
              <a:latin typeface="Times New Roman"/>
              <a:cs typeface="Times New Roman"/>
            </a:endParaRPr>
          </a:p>
          <a:p>
            <a:pPr marL="12700" marR="2794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modals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Hermerén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(1978)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BrE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Coates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(1983)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comparison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AusE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Collins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(1991)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modals</a:t>
            </a:r>
            <a:endParaRPr sz="1100">
              <a:latin typeface="Times New Roman"/>
              <a:cs typeface="Times New Roman"/>
            </a:endParaRPr>
          </a:p>
          <a:p>
            <a:pPr marL="12700" marR="382333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Frequency </a:t>
            </a:r>
            <a:r>
              <a:rPr dirty="0" sz="1100">
                <a:latin typeface="Times New Roman"/>
                <a:cs typeface="Times New Roman"/>
              </a:rPr>
              <a:t>distribution of </a:t>
            </a:r>
            <a:r>
              <a:rPr dirty="0" sz="1100" spc="-5">
                <a:latin typeface="Times New Roman"/>
                <a:cs typeface="Times New Roman"/>
              </a:rPr>
              <a:t>the selected modals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made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following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findings: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got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most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frequent</a:t>
            </a:r>
            <a:r>
              <a:rPr dirty="0" sz="1100" spc="-5">
                <a:latin typeface="Times New Roman"/>
                <a:cs typeface="Times New Roman"/>
              </a:rPr>
              <a:t> items</a:t>
            </a:r>
            <a:endParaRPr sz="1100">
              <a:latin typeface="Times New Roman"/>
              <a:cs typeface="Times New Roman"/>
            </a:endParaRPr>
          </a:p>
          <a:p>
            <a:pPr marL="12700" marR="245110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frequency of </a:t>
            </a:r>
            <a:r>
              <a:rPr dirty="0" sz="1100" spc="-5">
                <a:latin typeface="Times New Roman"/>
                <a:cs typeface="Times New Roman"/>
              </a:rPr>
              <a:t>should in </a:t>
            </a:r>
            <a:r>
              <a:rPr dirty="0" sz="1100">
                <a:latin typeface="Times New Roman"/>
                <a:cs typeface="Times New Roman"/>
              </a:rPr>
              <a:t>parliamentary </a:t>
            </a:r>
            <a:r>
              <a:rPr dirty="0" sz="1100" spc="-5">
                <a:latin typeface="Times New Roman"/>
                <a:cs typeface="Times New Roman"/>
              </a:rPr>
              <a:t>speech is </a:t>
            </a:r>
            <a:r>
              <a:rPr dirty="0" sz="1100">
                <a:latin typeface="Times New Roman"/>
                <a:cs typeface="Times New Roman"/>
              </a:rPr>
              <a:t>quite high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Collins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(1991)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modals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Frequency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distribution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selected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modals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Frequency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ought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extremely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endParaRPr sz="1100">
              <a:latin typeface="Times New Roman"/>
              <a:cs typeface="Times New Roman"/>
            </a:endParaRPr>
          </a:p>
          <a:p>
            <a:pPr marL="12700" marR="35540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Press </a:t>
            </a:r>
            <a:r>
              <a:rPr dirty="0" sz="1100">
                <a:latin typeface="Times New Roman"/>
                <a:cs typeface="Times New Roman"/>
              </a:rPr>
              <a:t>reports </a:t>
            </a:r>
            <a:r>
              <a:rPr dirty="0" sz="1100" spc="-5">
                <a:latin typeface="Times New Roman"/>
                <a:cs typeface="Times New Roman"/>
              </a:rPr>
              <a:t>make the least </a:t>
            </a:r>
            <a:r>
              <a:rPr dirty="0" sz="1100">
                <a:latin typeface="Times New Roman"/>
                <a:cs typeface="Times New Roman"/>
              </a:rPr>
              <a:t>use of </a:t>
            </a:r>
            <a:r>
              <a:rPr dirty="0" sz="1100" spc="-5">
                <a:latin typeface="Times New Roman"/>
                <a:cs typeface="Times New Roman"/>
              </a:rPr>
              <a:t>modals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Collins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(1991)</a:t>
            </a:r>
            <a:r>
              <a:rPr dirty="0" sz="1100" spc="-5">
                <a:latin typeface="Times New Roman"/>
                <a:cs typeface="Times New Roman"/>
              </a:rPr>
              <a:t> study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modals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Comparison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Higher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figures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must,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ought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occurrence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got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corpus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Low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frequency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ought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three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corpora</a:t>
            </a:r>
            <a:endParaRPr sz="1100">
              <a:latin typeface="Times New Roman"/>
              <a:cs typeface="Times New Roman"/>
            </a:endParaRPr>
          </a:p>
          <a:p>
            <a:pPr marL="12700" marR="383222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Need is </a:t>
            </a:r>
            <a:r>
              <a:rPr dirty="0" sz="1100">
                <a:latin typeface="Times New Roman"/>
                <a:cs typeface="Times New Roman"/>
              </a:rPr>
              <a:t>not found </a:t>
            </a:r>
            <a:r>
              <a:rPr dirty="0" sz="1100" spc="-5">
                <a:latin typeface="Times New Roman"/>
                <a:cs typeface="Times New Roman"/>
              </a:rPr>
              <a:t>in the AmE corpus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findings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All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variation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effect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finding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description</a:t>
            </a:r>
            <a:r>
              <a:rPr dirty="0" sz="1100" spc="-5">
                <a:latin typeface="Times New Roman"/>
                <a:cs typeface="Times New Roman"/>
              </a:rPr>
              <a:t> 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codification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535305" algn="l"/>
                <a:tab pos="535940" algn="l"/>
              </a:tabLst>
            </a:pPr>
            <a:r>
              <a:rPr dirty="0" sz="1100" spc="-5">
                <a:latin typeface="Times New Roman"/>
                <a:cs typeface="Times New Roman"/>
              </a:rPr>
              <a:t>ELT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profession’s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difficulty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norms,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models,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canonicity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literatures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Advantages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corpora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forces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researchers</a:t>
            </a:r>
            <a:r>
              <a:rPr dirty="0" sz="1100" spc="-5">
                <a:latin typeface="Times New Roman"/>
                <a:cs typeface="Times New Roman"/>
              </a:rPr>
              <a:t> 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deal</a:t>
            </a:r>
            <a:r>
              <a:rPr dirty="0" sz="1100" spc="-5">
                <a:latin typeface="Times New Roman"/>
                <a:cs typeface="Times New Roman"/>
              </a:rPr>
              <a:t> 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entire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of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modals</a:t>
            </a:r>
            <a:endParaRPr sz="1100">
              <a:latin typeface="Times New Roman"/>
              <a:cs typeface="Times New Roman"/>
            </a:endParaRPr>
          </a:p>
          <a:p>
            <a:pPr marL="12700" marR="141986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It </a:t>
            </a:r>
            <a:r>
              <a:rPr dirty="0" sz="1100" spc="-5">
                <a:latin typeface="Times New Roman"/>
                <a:cs typeface="Times New Roman"/>
              </a:rPr>
              <a:t>makes comparison across </a:t>
            </a:r>
            <a:r>
              <a:rPr dirty="0" sz="1100">
                <a:latin typeface="Times New Roman"/>
                <a:cs typeface="Times New Roman"/>
              </a:rPr>
              <a:t>varieties </a:t>
            </a:r>
            <a:r>
              <a:rPr dirty="0" sz="1100" spc="-5">
                <a:latin typeface="Times New Roman"/>
                <a:cs typeface="Times New Roman"/>
              </a:rPr>
              <a:t>and within </a:t>
            </a:r>
            <a:r>
              <a:rPr dirty="0" sz="1100">
                <a:latin typeface="Times New Roman"/>
                <a:cs typeface="Times New Roman"/>
              </a:rPr>
              <a:t>varieties </a:t>
            </a:r>
            <a:r>
              <a:rPr dirty="0" sz="1100" spc="-5">
                <a:latin typeface="Times New Roman"/>
                <a:cs typeface="Times New Roman"/>
              </a:rPr>
              <a:t>among </a:t>
            </a:r>
            <a:r>
              <a:rPr dirty="0" sz="1100">
                <a:latin typeface="Times New Roman"/>
                <a:cs typeface="Times New Roman"/>
              </a:rPr>
              <a:t>genres possible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266 </a:t>
            </a:r>
            <a:r>
              <a:rPr dirty="0" sz="1100" spc="-5">
                <a:latin typeface="Times New Roman"/>
                <a:cs typeface="Times New Roman"/>
              </a:rPr>
              <a:t>Research in World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Englishes: Corpus Analysis </a:t>
            </a:r>
            <a:r>
              <a:rPr dirty="0" sz="1100">
                <a:latin typeface="Times New Roman"/>
                <a:cs typeface="Times New Roman"/>
              </a:rPr>
              <a:t>II</a:t>
            </a:r>
            <a:endParaRPr sz="1100">
              <a:latin typeface="Times New Roman"/>
              <a:cs typeface="Times New Roman"/>
            </a:endParaRPr>
          </a:p>
          <a:p>
            <a:pPr marL="12700" marR="288163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267 </a:t>
            </a:r>
            <a:r>
              <a:rPr dirty="0" sz="1100" spc="-5">
                <a:latin typeface="Times New Roman"/>
                <a:cs typeface="Times New Roman"/>
              </a:rPr>
              <a:t>Research in World Englishes: Changes in Grammar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Subject-Verb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agreement: </a:t>
            </a:r>
            <a:r>
              <a:rPr dirty="0" sz="1100">
                <a:latin typeface="Times New Roman"/>
                <a:cs typeface="Times New Roman"/>
              </a:rPr>
              <a:t>rule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Proximity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nearest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 rather</a:t>
            </a:r>
            <a:r>
              <a:rPr dirty="0" sz="1100" spc="-5">
                <a:latin typeface="Times New Roman"/>
                <a:cs typeface="Times New Roman"/>
              </a:rPr>
              <a:t> than 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sentence's 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distant</a:t>
            </a:r>
            <a:r>
              <a:rPr dirty="0" sz="1100" spc="-5">
                <a:latin typeface="Times New Roman"/>
                <a:cs typeface="Times New Roman"/>
              </a:rPr>
              <a:t> subject.</a:t>
            </a:r>
            <a:endParaRPr sz="1100">
              <a:latin typeface="Times New Roman"/>
              <a:cs typeface="Times New Roman"/>
            </a:endParaRPr>
          </a:p>
          <a:p>
            <a:pPr marL="12700" marR="31115">
              <a:lnSpc>
                <a:spcPct val="110200"/>
              </a:lnSpc>
              <a:buChar char="•"/>
              <a:tabLst>
                <a:tab pos="513080" algn="l"/>
                <a:tab pos="51435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practice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relying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closest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determine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singular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plural</a:t>
            </a:r>
            <a:endParaRPr sz="1100">
              <a:latin typeface="Times New Roman"/>
              <a:cs typeface="Times New Roman"/>
            </a:endParaRPr>
          </a:p>
          <a:p>
            <a:pPr marL="12700" marR="472059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Subject-Verb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agreement: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rule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Proximity agreement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voters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amendments</a:t>
            </a:r>
            <a:endParaRPr sz="1100">
              <a:latin typeface="Times New Roman"/>
              <a:cs typeface="Times New Roman"/>
            </a:endParaRPr>
          </a:p>
          <a:p>
            <a:pPr marL="12700" marR="3226435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flock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goats</a:t>
            </a:r>
            <a:r>
              <a:rPr dirty="0" sz="1100" spc="-5">
                <a:latin typeface="Times New Roman"/>
                <a:cs typeface="Times New Roman"/>
              </a:rPr>
              <a:t> were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grazing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Subject-Verb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agreement: </a:t>
            </a:r>
            <a:r>
              <a:rPr dirty="0" sz="1100">
                <a:latin typeface="Times New Roman"/>
                <a:cs typeface="Times New Roman"/>
              </a:rPr>
              <a:t>rule</a:t>
            </a:r>
            <a:endParaRPr sz="1100">
              <a:latin typeface="Times New Roman"/>
              <a:cs typeface="Times New Roman"/>
            </a:endParaRPr>
          </a:p>
          <a:p>
            <a:pPr marL="12700" marR="510794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Compounding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9160879"/>
            <a:ext cx="7239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-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3823" y="9160879"/>
            <a:ext cx="28454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latin typeface="Times New Roman"/>
                <a:cs typeface="Times New Roman"/>
              </a:rPr>
              <a:t>Leftover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macaroni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cheese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refrigerator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81115" cy="8707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216910">
              <a:lnSpc>
                <a:spcPct val="1102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-	</a:t>
            </a:r>
            <a:r>
              <a:rPr dirty="0" sz="1100" spc="-5">
                <a:latin typeface="Times New Roman"/>
                <a:cs typeface="Times New Roman"/>
              </a:rPr>
              <a:t>Haider and Taha are coming to the </a:t>
            </a:r>
            <a:r>
              <a:rPr dirty="0" sz="1100">
                <a:latin typeface="Times New Roman"/>
                <a:cs typeface="Times New Roman"/>
              </a:rPr>
              <a:t>party </a:t>
            </a:r>
            <a:r>
              <a:rPr dirty="0" sz="1100" spc="-5">
                <a:latin typeface="Times New Roman"/>
                <a:cs typeface="Times New Roman"/>
              </a:rPr>
              <a:t>tonight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Subject-Verb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agreement: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endParaRPr sz="1100">
              <a:latin typeface="Times New Roman"/>
              <a:cs typeface="Times New Roman"/>
            </a:endParaRPr>
          </a:p>
          <a:p>
            <a:pPr marL="12700" marR="1397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Taylor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(1993)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examined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fifty-two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published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subject-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r>
              <a:rPr dirty="0" sz="1100" spc="-5">
                <a:latin typeface="Times New Roman"/>
                <a:cs typeface="Times New Roman"/>
              </a:rPr>
              <a:t> agreement </a:t>
            </a:r>
            <a:r>
              <a:rPr dirty="0" sz="1100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  <a:p>
            <a:pPr marL="12700" marR="57404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Data came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well-known scholars </a:t>
            </a:r>
            <a:r>
              <a:rPr dirty="0" sz="1100">
                <a:latin typeface="Times New Roman"/>
                <a:cs typeface="Times New Roman"/>
              </a:rPr>
              <a:t>published by reputable publishers </a:t>
            </a:r>
            <a:r>
              <a:rPr dirty="0" sz="1100" spc="-5">
                <a:latin typeface="Times New Roman"/>
                <a:cs typeface="Times New Roman"/>
              </a:rPr>
              <a:t>in Britain and the USA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Subject-Verb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agreement: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Taylor’s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data</a:t>
            </a:r>
            <a:endParaRPr sz="1100">
              <a:latin typeface="Times New Roman"/>
              <a:cs typeface="Times New Roman"/>
            </a:endParaRPr>
          </a:p>
          <a:p>
            <a:pPr marL="12700" marR="4188460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recollection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visits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amply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bear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differences.</a:t>
            </a:r>
            <a:endParaRPr sz="1100">
              <a:latin typeface="Times New Roman"/>
              <a:cs typeface="Times New Roman"/>
            </a:endParaRPr>
          </a:p>
          <a:p>
            <a:pPr marL="12700" marR="4182745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Prices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equipment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risen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dramatically</a:t>
            </a:r>
            <a:r>
              <a:rPr dirty="0" sz="1100" spc="-5">
                <a:latin typeface="Times New Roman"/>
                <a:cs typeface="Times New Roman"/>
              </a:rPr>
              <a:t> since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1974:</a:t>
            </a:r>
            <a:endParaRPr sz="1100">
              <a:latin typeface="Times New Roman"/>
              <a:cs typeface="Times New Roman"/>
            </a:endParaRPr>
          </a:p>
          <a:p>
            <a:pPr marL="12700" marR="467677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government </a:t>
            </a:r>
            <a:r>
              <a:rPr dirty="0" sz="1100" spc="-5">
                <a:latin typeface="Times New Roman"/>
                <a:cs typeface="Times New Roman"/>
              </a:rPr>
              <a:t>subsidies and </a:t>
            </a:r>
            <a:r>
              <a:rPr dirty="0" sz="1100">
                <a:latin typeface="Times New Roman"/>
                <a:cs typeface="Times New Roman"/>
              </a:rPr>
              <a:t> parental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whole,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kept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endParaRPr sz="1100">
              <a:latin typeface="Times New Roman"/>
              <a:cs typeface="Times New Roman"/>
            </a:endParaRPr>
          </a:p>
          <a:p>
            <a:pPr marL="12700" marR="446214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Subject-Verb agreement: </a:t>
            </a:r>
            <a:r>
              <a:rPr dirty="0" sz="1100">
                <a:latin typeface="Times New Roman"/>
                <a:cs typeface="Times New Roman"/>
              </a:rPr>
              <a:t>research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Taylor’s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data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Kleiman’s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personality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factors,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anxiety,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confidence,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willingness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risks,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provides </a:t>
            </a:r>
            <a:r>
              <a:rPr dirty="0" sz="1100" spc="-5">
                <a:latin typeface="Times New Roman"/>
                <a:cs typeface="Times New Roman"/>
              </a:rPr>
              <a:t>information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 are likely to avoid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various </a:t>
            </a:r>
            <a:r>
              <a:rPr dirty="0" sz="1100" spc="-5">
                <a:latin typeface="Times New Roman"/>
                <a:cs typeface="Times New Roman"/>
              </a:rPr>
              <a:t>structures.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Subject-Verb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endParaRPr sz="1100">
              <a:latin typeface="Times New Roman"/>
              <a:cs typeface="Times New Roman"/>
            </a:endParaRPr>
          </a:p>
          <a:p>
            <a:pPr marL="12700" marR="1943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concern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speakers and writers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AmE and BrE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traditional </a:t>
            </a:r>
            <a:r>
              <a:rPr dirty="0" sz="1100">
                <a:latin typeface="Times New Roman"/>
                <a:cs typeface="Times New Roman"/>
              </a:rPr>
              <a:t>grammatical rules of </a:t>
            </a:r>
            <a:r>
              <a:rPr dirty="0" sz="1100" spc="-5">
                <a:latin typeface="Times New Roman"/>
                <a:cs typeface="Times New Roman"/>
              </a:rPr>
              <a:t>concord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Subject-Verb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agreement: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Questions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raised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findings:</a:t>
            </a:r>
            <a:endParaRPr sz="1100">
              <a:latin typeface="Times New Roman"/>
              <a:cs typeface="Times New Roman"/>
            </a:endParaRPr>
          </a:p>
          <a:p>
            <a:pPr marL="12700" marR="2095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mature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uncertain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concord,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towards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learners’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difficulties</a:t>
            </a:r>
            <a:r>
              <a:rPr dirty="0" sz="1100" spc="-5">
                <a:latin typeface="Times New Roman"/>
                <a:cs typeface="Times New Roman"/>
              </a:rPr>
              <a:t> with concord </a:t>
            </a:r>
            <a:r>
              <a:rPr dirty="0" sz="1100">
                <a:latin typeface="Times New Roman"/>
                <a:cs typeface="Times New Roman"/>
              </a:rPr>
              <a:t>be?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teach?</a:t>
            </a:r>
            <a:endParaRPr sz="1100">
              <a:latin typeface="Times New Roman"/>
              <a:cs typeface="Times New Roman"/>
            </a:endParaRPr>
          </a:p>
          <a:p>
            <a:pPr marL="12700" marR="300799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 is standard </a:t>
            </a:r>
            <a:r>
              <a:rPr dirty="0" sz="1100">
                <a:latin typeface="Times New Roman"/>
                <a:cs typeface="Times New Roman"/>
              </a:rPr>
              <a:t>usage? </a:t>
            </a:r>
            <a:r>
              <a:rPr dirty="0" sz="1100" spc="-5">
                <a:latin typeface="Times New Roman"/>
                <a:cs typeface="Times New Roman"/>
              </a:rPr>
              <a:t>where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we turn </a:t>
            </a:r>
            <a:r>
              <a:rPr dirty="0" sz="1100">
                <a:latin typeface="Times New Roman"/>
                <a:cs typeface="Times New Roman"/>
              </a:rPr>
              <a:t>for help?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Taylor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cited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Kachru&amp; Nelson, </a:t>
            </a:r>
            <a:r>
              <a:rPr dirty="0" sz="1100">
                <a:latin typeface="Times New Roman"/>
                <a:cs typeface="Times New Roman"/>
              </a:rPr>
              <a:t>2006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Char char="•"/>
            </a:pPr>
            <a:endParaRPr sz="1250">
              <a:latin typeface="Times New Roman"/>
              <a:cs typeface="Times New Roman"/>
            </a:endParaRPr>
          </a:p>
          <a:p>
            <a:pPr marL="12700" marR="287083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 </a:t>
            </a:r>
            <a:r>
              <a:rPr dirty="0" sz="1100">
                <a:latin typeface="Times New Roman"/>
                <a:cs typeface="Times New Roman"/>
              </a:rPr>
              <a:t>268 </a:t>
            </a:r>
            <a:r>
              <a:rPr dirty="0" sz="1100" spc="-5">
                <a:latin typeface="Times New Roman"/>
                <a:cs typeface="Times New Roman"/>
              </a:rPr>
              <a:t>Research in World Englishes: Changes in Grammar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Subject-Verb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agreement: </a:t>
            </a:r>
            <a:r>
              <a:rPr dirty="0" sz="1100">
                <a:latin typeface="Times New Roman"/>
                <a:cs typeface="Times New Roman"/>
              </a:rPr>
              <a:t>rule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Proximity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r>
              <a:rPr dirty="0" sz="1100" spc="2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nearest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 rather</a:t>
            </a:r>
            <a:r>
              <a:rPr dirty="0" sz="1100" spc="-5">
                <a:latin typeface="Times New Roman"/>
                <a:cs typeface="Times New Roman"/>
              </a:rPr>
              <a:t> than 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sentence's more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distant</a:t>
            </a:r>
            <a:r>
              <a:rPr dirty="0" sz="1100" spc="-5">
                <a:latin typeface="Times New Roman"/>
                <a:cs typeface="Times New Roman"/>
              </a:rPr>
              <a:t> subject.</a:t>
            </a:r>
            <a:endParaRPr sz="1100">
              <a:latin typeface="Times New Roman"/>
              <a:cs typeface="Times New Roman"/>
            </a:endParaRPr>
          </a:p>
          <a:p>
            <a:pPr marL="12700" marR="21590">
              <a:lnSpc>
                <a:spcPct val="110200"/>
              </a:lnSpc>
              <a:buChar char="•"/>
              <a:tabLst>
                <a:tab pos="513080" algn="l"/>
                <a:tab pos="51435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practice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relying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closest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determine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whether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singular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 plural</a:t>
            </a:r>
            <a:endParaRPr sz="1100">
              <a:latin typeface="Times New Roman"/>
              <a:cs typeface="Times New Roman"/>
            </a:endParaRPr>
          </a:p>
          <a:p>
            <a:pPr marL="12700" marR="471043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Subject-Verb agreement: </a:t>
            </a:r>
            <a:r>
              <a:rPr dirty="0" sz="1100">
                <a:latin typeface="Times New Roman"/>
                <a:cs typeface="Times New Roman"/>
              </a:rPr>
              <a:t>rule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Proximity agreement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majority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voters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support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amendments</a:t>
            </a:r>
            <a:endParaRPr sz="1100">
              <a:latin typeface="Times New Roman"/>
              <a:cs typeface="Times New Roman"/>
            </a:endParaRPr>
          </a:p>
          <a:p>
            <a:pPr marL="12700" marR="3216275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flock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goats</a:t>
            </a:r>
            <a:r>
              <a:rPr dirty="0" sz="1100" spc="-5">
                <a:latin typeface="Times New Roman"/>
                <a:cs typeface="Times New Roman"/>
              </a:rPr>
              <a:t> were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grazing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planes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Subject-Verb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agreement: </a:t>
            </a:r>
            <a:r>
              <a:rPr dirty="0" sz="1100">
                <a:latin typeface="Times New Roman"/>
                <a:cs typeface="Times New Roman"/>
              </a:rPr>
              <a:t>rule</a:t>
            </a:r>
            <a:endParaRPr sz="1100">
              <a:latin typeface="Times New Roman"/>
              <a:cs typeface="Times New Roman"/>
            </a:endParaRPr>
          </a:p>
          <a:p>
            <a:pPr marL="12700" marR="50977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Compounding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noun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-"/>
              <a:tabLst>
                <a:tab pos="504190" algn="l"/>
                <a:tab pos="504825" algn="l"/>
              </a:tabLst>
            </a:pPr>
            <a:r>
              <a:rPr dirty="0" sz="1100" spc="-5">
                <a:latin typeface="Times New Roman"/>
                <a:cs typeface="Times New Roman"/>
              </a:rPr>
              <a:t>Leftover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macaroni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cheese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refrigerator</a:t>
            </a:r>
            <a:endParaRPr sz="1100">
              <a:latin typeface="Times New Roman"/>
              <a:cs typeface="Times New Roman"/>
            </a:endParaRPr>
          </a:p>
          <a:p>
            <a:pPr marL="12700" marR="3216910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Haider and Taha are coming to the </a:t>
            </a:r>
            <a:r>
              <a:rPr dirty="0" sz="1100">
                <a:latin typeface="Times New Roman"/>
                <a:cs typeface="Times New Roman"/>
              </a:rPr>
              <a:t>party </a:t>
            </a:r>
            <a:r>
              <a:rPr dirty="0" sz="1100" spc="-5">
                <a:latin typeface="Times New Roman"/>
                <a:cs typeface="Times New Roman"/>
              </a:rPr>
              <a:t>tonight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Subject-Verb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agreement: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Taylor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(1993)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examined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small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data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fifty-two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3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published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sources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subject-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6389370" cy="870712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dirty="0" sz="1100">
                <a:latin typeface="Times New Roman"/>
                <a:cs typeface="Times New Roman"/>
              </a:rPr>
              <a:t>verb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endParaRPr sz="1100">
              <a:latin typeface="Times New Roman"/>
              <a:cs typeface="Times New Roman"/>
            </a:endParaRPr>
          </a:p>
          <a:p>
            <a:pPr marL="12700" marR="5829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Data came </a:t>
            </a:r>
            <a:r>
              <a:rPr dirty="0" sz="1100">
                <a:latin typeface="Times New Roman"/>
                <a:cs typeface="Times New Roman"/>
              </a:rPr>
              <a:t>from </a:t>
            </a:r>
            <a:r>
              <a:rPr dirty="0" sz="1100" spc="-5">
                <a:latin typeface="Times New Roman"/>
                <a:cs typeface="Times New Roman"/>
              </a:rPr>
              <a:t>well-known scholars </a:t>
            </a:r>
            <a:r>
              <a:rPr dirty="0" sz="1100">
                <a:latin typeface="Times New Roman"/>
                <a:cs typeface="Times New Roman"/>
              </a:rPr>
              <a:t>published by reputable publishers </a:t>
            </a:r>
            <a:r>
              <a:rPr dirty="0" sz="1100" spc="-5">
                <a:latin typeface="Times New Roman"/>
                <a:cs typeface="Times New Roman"/>
              </a:rPr>
              <a:t>in Britain and the USA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Subject-Verb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agreement: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Taylor’s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data</a:t>
            </a:r>
            <a:endParaRPr sz="1100">
              <a:latin typeface="Times New Roman"/>
              <a:cs typeface="Times New Roman"/>
            </a:endParaRPr>
          </a:p>
          <a:p>
            <a:pPr marL="12700" marR="4196715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own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recollection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school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visits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amply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bear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these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differences.</a:t>
            </a:r>
            <a:endParaRPr sz="1100">
              <a:latin typeface="Times New Roman"/>
              <a:cs typeface="Times New Roman"/>
            </a:endParaRPr>
          </a:p>
          <a:p>
            <a:pPr marL="12700" marR="4191000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Prices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equipment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risen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dramatically</a:t>
            </a:r>
            <a:r>
              <a:rPr dirty="0" sz="1100" spc="-5">
                <a:latin typeface="Times New Roman"/>
                <a:cs typeface="Times New Roman"/>
              </a:rPr>
              <a:t> since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1974:</a:t>
            </a:r>
            <a:endParaRPr sz="1100">
              <a:latin typeface="Times New Roman"/>
              <a:cs typeface="Times New Roman"/>
            </a:endParaRPr>
          </a:p>
          <a:p>
            <a:pPr marL="12700" marR="468566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government </a:t>
            </a:r>
            <a:r>
              <a:rPr dirty="0" sz="1100" spc="-5">
                <a:latin typeface="Times New Roman"/>
                <a:cs typeface="Times New Roman"/>
              </a:rPr>
              <a:t>subsidies and </a:t>
            </a:r>
            <a:r>
              <a:rPr dirty="0" sz="1100">
                <a:latin typeface="Times New Roman"/>
                <a:cs typeface="Times New Roman"/>
              </a:rPr>
              <a:t> parental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power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not,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whole,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kept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it.</a:t>
            </a:r>
            <a:endParaRPr sz="1100">
              <a:latin typeface="Times New Roman"/>
              <a:cs typeface="Times New Roman"/>
            </a:endParaRPr>
          </a:p>
          <a:p>
            <a:pPr marL="12700" marR="447103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Subject-Verb agreement: </a:t>
            </a:r>
            <a:r>
              <a:rPr dirty="0" sz="1100">
                <a:latin typeface="Times New Roman"/>
                <a:cs typeface="Times New Roman"/>
              </a:rPr>
              <a:t>research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Taylor’s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data</a:t>
            </a:r>
            <a:endParaRPr sz="1100">
              <a:latin typeface="Times New Roman"/>
              <a:cs typeface="Times New Roman"/>
            </a:endParaRPr>
          </a:p>
          <a:p>
            <a:pPr marL="12700" marR="13335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Kleiman’s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research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suggests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that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personality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factors,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anxiety,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confidence,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willingness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take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risks,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provides </a:t>
            </a:r>
            <a:r>
              <a:rPr dirty="0" sz="1100" spc="-5">
                <a:latin typeface="Times New Roman"/>
                <a:cs typeface="Times New Roman"/>
              </a:rPr>
              <a:t>information </a:t>
            </a:r>
            <a:r>
              <a:rPr dirty="0" sz="1100">
                <a:latin typeface="Times New Roman"/>
                <a:cs typeface="Times New Roman"/>
              </a:rPr>
              <a:t>on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students are likely to avoid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various </a:t>
            </a:r>
            <a:r>
              <a:rPr dirty="0" sz="1100" spc="-5">
                <a:latin typeface="Times New Roman"/>
                <a:cs typeface="Times New Roman"/>
              </a:rPr>
              <a:t>structures.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Subject-Verb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agreement: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endParaRPr sz="1100">
              <a:latin typeface="Times New Roman"/>
              <a:cs typeface="Times New Roman"/>
            </a:endParaRPr>
          </a:p>
          <a:p>
            <a:pPr marL="12700" marR="20256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Lack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concern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speakers and writers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AmE and BrE </a:t>
            </a:r>
            <a:r>
              <a:rPr dirty="0" sz="1100">
                <a:latin typeface="Times New Roman"/>
                <a:cs typeface="Times New Roman"/>
              </a:rPr>
              <a:t>for </a:t>
            </a:r>
            <a:r>
              <a:rPr dirty="0" sz="1100" spc="-5">
                <a:latin typeface="Times New Roman"/>
                <a:cs typeface="Times New Roman"/>
              </a:rPr>
              <a:t>traditional </a:t>
            </a:r>
            <a:r>
              <a:rPr dirty="0" sz="1100">
                <a:latin typeface="Times New Roman"/>
                <a:cs typeface="Times New Roman"/>
              </a:rPr>
              <a:t>grammatical rules of </a:t>
            </a:r>
            <a:r>
              <a:rPr dirty="0" sz="1100" spc="-5">
                <a:latin typeface="Times New Roman"/>
                <a:cs typeface="Times New Roman"/>
              </a:rPr>
              <a:t>concord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Subject-Verb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agreement: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Questions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raised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findings:</a:t>
            </a:r>
            <a:endParaRPr sz="1100">
              <a:latin typeface="Times New Roman"/>
              <a:cs typeface="Times New Roman"/>
            </a:endParaRPr>
          </a:p>
          <a:p>
            <a:pPr marL="12700" marR="29209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mature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native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speakers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so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uncertain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about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concord,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should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our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attitude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towards</a:t>
            </a:r>
            <a:r>
              <a:rPr dirty="0" sz="1100" spc="18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learners’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difficulties</a:t>
            </a:r>
            <a:r>
              <a:rPr dirty="0" sz="1100" spc="-5">
                <a:latin typeface="Times New Roman"/>
                <a:cs typeface="Times New Roman"/>
              </a:rPr>
              <a:t> with concord </a:t>
            </a:r>
            <a:r>
              <a:rPr dirty="0" sz="1100">
                <a:latin typeface="Times New Roman"/>
                <a:cs typeface="Times New Roman"/>
              </a:rPr>
              <a:t>be?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teach?</a:t>
            </a:r>
            <a:endParaRPr sz="1100">
              <a:latin typeface="Times New Roman"/>
              <a:cs typeface="Times New Roman"/>
            </a:endParaRPr>
          </a:p>
          <a:p>
            <a:pPr marL="12700" marR="301625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What is standard </a:t>
            </a:r>
            <a:r>
              <a:rPr dirty="0" sz="1100">
                <a:latin typeface="Times New Roman"/>
                <a:cs typeface="Times New Roman"/>
              </a:rPr>
              <a:t>usage? </a:t>
            </a:r>
            <a:r>
              <a:rPr dirty="0" sz="1100" spc="-5">
                <a:latin typeface="Times New Roman"/>
                <a:cs typeface="Times New Roman"/>
              </a:rPr>
              <a:t>where </a:t>
            </a:r>
            <a:r>
              <a:rPr dirty="0" sz="1100">
                <a:latin typeface="Times New Roman"/>
                <a:cs typeface="Times New Roman"/>
              </a:rPr>
              <a:t>do </a:t>
            </a:r>
            <a:r>
              <a:rPr dirty="0" sz="1100" spc="-5">
                <a:latin typeface="Times New Roman"/>
                <a:cs typeface="Times New Roman"/>
              </a:rPr>
              <a:t>we turn </a:t>
            </a:r>
            <a:r>
              <a:rPr dirty="0" sz="1100">
                <a:latin typeface="Times New Roman"/>
                <a:cs typeface="Times New Roman"/>
              </a:rPr>
              <a:t>for help?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Taylor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cited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Kachru&amp; Nelson, </a:t>
            </a:r>
            <a:r>
              <a:rPr dirty="0" sz="1100">
                <a:latin typeface="Times New Roman"/>
                <a:cs typeface="Times New Roman"/>
              </a:rPr>
              <a:t>2006</a:t>
            </a:r>
            <a:endParaRPr sz="1100">
              <a:latin typeface="Times New Roman"/>
              <a:cs typeface="Times New Roman"/>
            </a:endParaRPr>
          </a:p>
          <a:p>
            <a:pPr marL="12700" marR="487616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269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Range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linguistic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items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extension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range 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 of</a:t>
            </a:r>
            <a:r>
              <a:rPr dirty="0" sz="1100" spc="-5">
                <a:latin typeface="Times New Roman"/>
                <a:cs typeface="Times New Roman"/>
              </a:rPr>
              <a:t> linguistic items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comparable items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substratum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language(s)</a:t>
            </a:r>
            <a:endParaRPr sz="1100">
              <a:latin typeface="Times New Roman"/>
              <a:cs typeface="Times New Roman"/>
            </a:endParaRPr>
          </a:p>
          <a:p>
            <a:pPr marL="12700" marR="220853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Result </a:t>
            </a:r>
            <a:r>
              <a:rPr dirty="0" sz="1100">
                <a:latin typeface="Times New Roman"/>
                <a:cs typeface="Times New Roman"/>
              </a:rPr>
              <a:t>of nativization under </a:t>
            </a:r>
            <a:r>
              <a:rPr dirty="0" sz="1100" spc="-5">
                <a:latin typeface="Times New Roman"/>
                <a:cs typeface="Times New Roman"/>
              </a:rPr>
              <a:t>the influence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substratum languages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Bao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Wee’s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(1998)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focuses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differences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17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until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between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Singaporean</a:t>
            </a:r>
            <a:r>
              <a:rPr dirty="0" sz="1100" spc="17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 of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550354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Variatio</a:t>
            </a:r>
            <a:r>
              <a:rPr dirty="0" sz="1100">
                <a:latin typeface="Times New Roman"/>
                <a:cs typeface="Times New Roman"/>
              </a:rPr>
              <a:t>n</a:t>
            </a:r>
            <a:r>
              <a:rPr dirty="0" sz="1100" spc="-5">
                <a:latin typeface="Times New Roman"/>
                <a:cs typeface="Times New Roman"/>
              </a:rPr>
              <a:t> study 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Until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grammar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</a:t>
            </a:r>
            <a:endParaRPr sz="1100">
              <a:latin typeface="Times New Roman"/>
              <a:cs typeface="Times New Roman"/>
            </a:endParaRPr>
          </a:p>
          <a:p>
            <a:pPr marL="12700" marR="51860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preposition  </a:t>
            </a:r>
            <a:r>
              <a:rPr dirty="0" sz="1100" spc="-5">
                <a:latin typeface="Times New Roman"/>
                <a:cs typeface="Times New Roman"/>
              </a:rPr>
              <a:t>Variation study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491236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conjunction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until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meanings:</a:t>
            </a:r>
            <a:endParaRPr sz="1100">
              <a:latin typeface="Times New Roman"/>
              <a:cs typeface="Times New Roman"/>
            </a:endParaRPr>
          </a:p>
          <a:p>
            <a:pPr marL="12700" marR="506222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point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time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Example: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-	</a:t>
            </a: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guard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building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until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safely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shipped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back.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Signal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result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469265" algn="l"/>
              </a:tabLst>
            </a:pPr>
            <a:r>
              <a:rPr dirty="0" sz="1100">
                <a:latin typeface="Times New Roman"/>
                <a:cs typeface="Times New Roman"/>
              </a:rPr>
              <a:t>-	</a:t>
            </a:r>
            <a:r>
              <a:rPr dirty="0" sz="1100" spc="-5">
                <a:latin typeface="Times New Roman"/>
                <a:cs typeface="Times New Roman"/>
              </a:rPr>
              <a:t>Dad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busy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until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book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6388735" cy="9148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0555" algn="l"/>
              </a:tabLst>
            </a:pPr>
            <a:r>
              <a:rPr dirty="0" sz="1200" spc="-5">
                <a:latin typeface="Times New Roman"/>
                <a:cs typeface="Times New Roman"/>
              </a:rPr>
              <a:t>World Englishes </a:t>
            </a:r>
            <a:r>
              <a:rPr dirty="0" sz="1200">
                <a:latin typeface="Times New Roman"/>
                <a:cs typeface="Times New Roman"/>
              </a:rPr>
              <a:t>(ENG506)	</a:t>
            </a: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 marR="5502910">
              <a:lnSpc>
                <a:spcPct val="110200"/>
              </a:lnSpc>
              <a:spcBef>
                <a:spcPts val="5"/>
              </a:spcBef>
            </a:pPr>
            <a:r>
              <a:rPr dirty="0" sz="1100" spc="-5">
                <a:latin typeface="Times New Roman"/>
                <a:cs typeface="Times New Roman"/>
              </a:rPr>
              <a:t>Variatio</a:t>
            </a:r>
            <a:r>
              <a:rPr dirty="0" sz="1100">
                <a:latin typeface="Times New Roman"/>
                <a:cs typeface="Times New Roman"/>
              </a:rPr>
              <a:t>n</a:t>
            </a:r>
            <a:r>
              <a:rPr dirty="0" sz="1100" spc="-5">
                <a:latin typeface="Times New Roman"/>
                <a:cs typeface="Times New Roman"/>
              </a:rPr>
              <a:t> study  </a:t>
            </a:r>
            <a:r>
              <a:rPr dirty="0" sz="1100" spc="-5">
                <a:latin typeface="Times New Roman"/>
                <a:cs typeface="Times New Roman"/>
              </a:rPr>
              <a:t>British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Until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also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functions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preposition:</a:t>
            </a:r>
            <a:endParaRPr sz="1100">
              <a:latin typeface="Times New Roman"/>
              <a:cs typeface="Times New Roman"/>
            </a:endParaRPr>
          </a:p>
          <a:p>
            <a:pPr marL="12700" marR="396811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We will stay in New York </a:t>
            </a:r>
            <a:r>
              <a:rPr dirty="0" sz="1100">
                <a:latin typeface="Times New Roman"/>
                <a:cs typeface="Times New Roman"/>
              </a:rPr>
              <a:t>until next </a:t>
            </a:r>
            <a:r>
              <a:rPr dirty="0" sz="1100" spc="-5">
                <a:latin typeface="Times New Roman"/>
                <a:cs typeface="Times New Roman"/>
              </a:rPr>
              <a:t>week.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Britis</a:t>
            </a:r>
            <a:r>
              <a:rPr dirty="0" sz="1100">
                <a:latin typeface="Times New Roman"/>
                <a:cs typeface="Times New Roman"/>
              </a:rPr>
              <a:t>h</a:t>
            </a:r>
            <a:r>
              <a:rPr dirty="0" sz="1100" spc="-5">
                <a:latin typeface="Times New Roman"/>
                <a:cs typeface="Times New Roman"/>
              </a:rPr>
              <a:t> English</a:t>
            </a:r>
            <a:endParaRPr sz="1100">
              <a:latin typeface="Times New Roman"/>
              <a:cs typeface="Times New Roman"/>
            </a:endParaRPr>
          </a:p>
          <a:p>
            <a:pPr marL="12700" marR="22987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 action signalled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the main clause ceases when the action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signalled </a:t>
            </a:r>
            <a:r>
              <a:rPr dirty="0" sz="1100">
                <a:latin typeface="Times New Roman"/>
                <a:cs typeface="Times New Roman"/>
              </a:rPr>
              <a:t>by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until-clause or phrase occurs.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guard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building</a:t>
            </a:r>
            <a:r>
              <a:rPr dirty="0" sz="1100" spc="2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until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statue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 safely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shipped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back.</a:t>
            </a:r>
            <a:endParaRPr sz="1100">
              <a:latin typeface="Times New Roman"/>
              <a:cs typeface="Times New Roman"/>
            </a:endParaRPr>
          </a:p>
          <a:p>
            <a:pPr marL="12700" marR="3738879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Dad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will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busy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until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2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book</a:t>
            </a:r>
            <a:r>
              <a:rPr dirty="0" sz="1100" spc="-5">
                <a:latin typeface="Times New Roman"/>
                <a:cs typeface="Times New Roman"/>
              </a:rPr>
              <a:t> is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out.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Singapore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action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the main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 does not</a:t>
            </a:r>
            <a:r>
              <a:rPr dirty="0" sz="1100" spc="-5">
                <a:latin typeface="Times New Roman"/>
                <a:cs typeface="Times New Roman"/>
              </a:rPr>
              <a:t> end at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point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action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until-phrase occurs: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5">
                <a:latin typeface="Times New Roman"/>
                <a:cs typeface="Times New Roman"/>
              </a:rPr>
              <a:t> waited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until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(was)</a:t>
            </a:r>
            <a:r>
              <a:rPr dirty="0" sz="1100" spc="-5">
                <a:latin typeface="Times New Roman"/>
                <a:cs typeface="Times New Roman"/>
              </a:rPr>
              <a:t> angry;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luckily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turn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came ten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minutes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later.</a:t>
            </a:r>
            <a:endParaRPr sz="1100">
              <a:latin typeface="Times New Roman"/>
              <a:cs typeface="Times New Roman"/>
            </a:endParaRPr>
          </a:p>
          <a:p>
            <a:pPr marL="12700" marR="1231900">
              <a:lnSpc>
                <a:spcPct val="110200"/>
              </a:lnSpc>
              <a:buChar char="-"/>
              <a:tabLst>
                <a:tab pos="504190" algn="l"/>
                <a:tab pos="504825" algn="l"/>
              </a:tabLst>
            </a:pPr>
            <a:r>
              <a:rPr dirty="0" sz="1100">
                <a:latin typeface="Times New Roman"/>
                <a:cs typeface="Times New Roman"/>
              </a:rPr>
              <a:t>I </a:t>
            </a:r>
            <a:r>
              <a:rPr dirty="0" sz="1100" spc="-5">
                <a:latin typeface="Times New Roman"/>
                <a:cs typeface="Times New Roman"/>
              </a:rPr>
              <a:t>ate until</a:t>
            </a:r>
            <a:r>
              <a:rPr dirty="0" sz="1100">
                <a:latin typeface="Times New Roman"/>
                <a:cs typeface="Times New Roman"/>
              </a:rPr>
              <a:t> I </a:t>
            </a:r>
            <a:r>
              <a:rPr dirty="0" sz="1100" spc="-5">
                <a:latin typeface="Times New Roman"/>
                <a:cs typeface="Times New Roman"/>
              </a:rPr>
              <a:t>(was)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sick,</a:t>
            </a:r>
            <a:r>
              <a:rPr dirty="0" sz="1100">
                <a:latin typeface="Times New Roman"/>
                <a:cs typeface="Times New Roman"/>
              </a:rPr>
              <a:t> but I </a:t>
            </a:r>
            <a:r>
              <a:rPr dirty="0" sz="1100" spc="-5">
                <a:latin typeface="Times New Roman"/>
                <a:cs typeface="Times New Roman"/>
              </a:rPr>
              <a:t>didn’t want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stop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because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already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paid</a:t>
            </a:r>
            <a:r>
              <a:rPr dirty="0" sz="1100">
                <a:latin typeface="Times New Roman"/>
                <a:cs typeface="Times New Roman"/>
              </a:rPr>
              <a:t> 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food.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Semantic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extension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Singapore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5">
                <a:latin typeface="Times New Roman"/>
                <a:cs typeface="Times New Roman"/>
              </a:rPr>
              <a:t>Until has</a:t>
            </a:r>
            <a:r>
              <a:rPr dirty="0" sz="1100">
                <a:latin typeface="Times New Roman"/>
                <a:cs typeface="Times New Roman"/>
              </a:rPr>
              <a:t> a</a:t>
            </a:r>
            <a:r>
              <a:rPr dirty="0" sz="1100" spc="-5">
                <a:latin typeface="Times New Roman"/>
                <a:cs typeface="Times New Roman"/>
              </a:rPr>
              <a:t> ‘result’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‘to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extent’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Singaporean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Don’t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talk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until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(your) </a:t>
            </a:r>
            <a:r>
              <a:rPr dirty="0" sz="1100" spc="-5">
                <a:latin typeface="Times New Roman"/>
                <a:cs typeface="Times New Roman"/>
              </a:rPr>
              <a:t>saliva flies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all over.</a:t>
            </a:r>
            <a:endParaRPr sz="1100">
              <a:latin typeface="Times New Roman"/>
              <a:cs typeface="Times New Roman"/>
            </a:endParaRPr>
          </a:p>
          <a:p>
            <a:pPr marL="12700" marR="3446145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Look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laugh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until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(your)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face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(is)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red.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Nativization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item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Singapore English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combine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two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features</a:t>
            </a:r>
            <a:r>
              <a:rPr dirty="0" sz="1100">
                <a:latin typeface="Times New Roman"/>
                <a:cs typeface="Times New Roman"/>
              </a:rPr>
              <a:t> of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dao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–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comparable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linguistic item</a:t>
            </a:r>
            <a:r>
              <a:rPr dirty="0" sz="1100">
                <a:latin typeface="Times New Roman"/>
                <a:cs typeface="Times New Roman"/>
              </a:rPr>
              <a:t> from </a:t>
            </a:r>
            <a:r>
              <a:rPr dirty="0" sz="1100" spc="-5">
                <a:latin typeface="Times New Roman"/>
                <a:cs typeface="Times New Roman"/>
              </a:rPr>
              <a:t>Chinese:</a:t>
            </a:r>
            <a:endParaRPr sz="1100">
              <a:latin typeface="Times New Roman"/>
              <a:cs typeface="Times New Roman"/>
            </a:endParaRPr>
          </a:p>
          <a:p>
            <a:pPr marL="504825" indent="-492125">
              <a:lnSpc>
                <a:spcPct val="100000"/>
              </a:lnSpc>
              <a:spcBef>
                <a:spcPts val="135"/>
              </a:spcBef>
              <a:buChar char="•"/>
              <a:tabLst>
                <a:tab pos="504190" algn="l"/>
                <a:tab pos="504825" algn="l"/>
              </a:tabLst>
            </a:pPr>
            <a:r>
              <a:rPr dirty="0" sz="1100">
                <a:latin typeface="Times New Roman"/>
                <a:cs typeface="Times New Roman"/>
              </a:rPr>
              <a:t>Its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semantics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(degree/result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meaning)</a:t>
            </a:r>
            <a:endParaRPr sz="1100">
              <a:latin typeface="Times New Roman"/>
              <a:cs typeface="Times New Roman"/>
            </a:endParaRPr>
          </a:p>
          <a:p>
            <a:pPr marL="12700" marR="25565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 subtle </a:t>
            </a:r>
            <a:r>
              <a:rPr dirty="0" sz="1100">
                <a:latin typeface="Times New Roman"/>
                <a:cs typeface="Times New Roman"/>
              </a:rPr>
              <a:t>difference </a:t>
            </a:r>
            <a:r>
              <a:rPr dirty="0" sz="1100" spc="-5">
                <a:latin typeface="Times New Roman"/>
                <a:cs typeface="Times New Roman"/>
              </a:rPr>
              <a:t>in indicating </a:t>
            </a:r>
            <a:r>
              <a:rPr dirty="0" sz="1100">
                <a:latin typeface="Times New Roman"/>
                <a:cs typeface="Times New Roman"/>
              </a:rPr>
              <a:t>non-terminal </a:t>
            </a:r>
            <a:r>
              <a:rPr dirty="0" sz="1100" spc="-5">
                <a:latin typeface="Times New Roman"/>
                <a:cs typeface="Times New Roman"/>
              </a:rPr>
              <a:t>temporality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Topic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270 </a:t>
            </a:r>
            <a:r>
              <a:rPr dirty="0" sz="1100" spc="-5">
                <a:latin typeface="Times New Roman"/>
                <a:cs typeface="Times New Roman"/>
              </a:rPr>
              <a:t>Variation Study</a:t>
            </a:r>
            <a:endParaRPr sz="1100">
              <a:latin typeface="Times New Roman"/>
              <a:cs typeface="Times New Roman"/>
            </a:endParaRPr>
          </a:p>
          <a:p>
            <a:pPr marL="12700" marR="50342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Variation study 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Morphology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syntax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There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substantial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research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5">
                <a:latin typeface="Times New Roman"/>
                <a:cs typeface="Times New Roman"/>
              </a:rPr>
              <a:t>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morphology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syntax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different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Indian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Pakistani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</a:t>
            </a:r>
            <a:endParaRPr sz="1100">
              <a:latin typeface="Times New Roman"/>
              <a:cs typeface="Times New Roman"/>
            </a:endParaRPr>
          </a:p>
          <a:p>
            <a:pPr marL="12700" marR="4867910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Malaysia</a:t>
            </a:r>
            <a:r>
              <a:rPr dirty="0" sz="1100">
                <a:latin typeface="Times New Roman"/>
                <a:cs typeface="Times New Roman"/>
              </a:rPr>
              <a:t>n</a:t>
            </a:r>
            <a:r>
              <a:rPr dirty="0" sz="1100" spc="-5">
                <a:latin typeface="Times New Roman"/>
                <a:cs typeface="Times New Roman"/>
              </a:rPr>
              <a:t> English 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endParaRPr sz="1100">
              <a:latin typeface="Times New Roman"/>
              <a:cs typeface="Times New Roman"/>
            </a:endParaRPr>
          </a:p>
          <a:p>
            <a:pPr marL="12700" marR="3772535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use of progressive </a:t>
            </a:r>
            <a:r>
              <a:rPr dirty="0" sz="1100" spc="-5">
                <a:latin typeface="Times New Roman"/>
                <a:cs typeface="Times New Roman"/>
              </a:rPr>
              <a:t>with completed actions </a:t>
            </a:r>
            <a:r>
              <a:rPr dirty="0" sz="1100" spc="-26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BSE: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 do</a:t>
            </a:r>
            <a:r>
              <a:rPr dirty="0" sz="1100" spc="-5">
                <a:latin typeface="Times New Roman"/>
                <a:cs typeface="Times New Roman"/>
              </a:rPr>
              <a:t> it </a:t>
            </a:r>
            <a:r>
              <a:rPr dirty="0" sz="1100">
                <a:latin typeface="Times New Roman"/>
                <a:cs typeface="Times New Roman"/>
              </a:rPr>
              <a:t>often.</a:t>
            </a:r>
            <a:endParaRPr sz="1100">
              <a:latin typeface="Times New Roman"/>
              <a:cs typeface="Times New Roman"/>
            </a:endParaRPr>
          </a:p>
          <a:p>
            <a:pPr marL="12700" marR="3818254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IE:</a:t>
            </a:r>
            <a:r>
              <a:rPr dirty="0" sz="1100" spc="25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it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often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(with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habitual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action).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BSE:</a:t>
            </a:r>
            <a:r>
              <a:rPr dirty="0" sz="1100" spc="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Where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come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from?</a:t>
            </a:r>
            <a:endParaRPr sz="1100">
              <a:latin typeface="Times New Roman"/>
              <a:cs typeface="Times New Roman"/>
            </a:endParaRPr>
          </a:p>
          <a:p>
            <a:pPr marL="12700" marR="3119755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IE: </a:t>
            </a:r>
            <a:r>
              <a:rPr dirty="0" sz="1100" spc="-5">
                <a:latin typeface="Times New Roman"/>
                <a:cs typeface="Times New Roman"/>
              </a:rPr>
              <a:t>Where are </a:t>
            </a:r>
            <a:r>
              <a:rPr dirty="0" sz="1100">
                <a:latin typeface="Times New Roman"/>
                <a:cs typeface="Times New Roman"/>
              </a:rPr>
              <a:t>you </a:t>
            </a:r>
            <a:r>
              <a:rPr dirty="0" sz="1100" spc="-5">
                <a:latin typeface="Times New Roman"/>
                <a:cs typeface="Times New Roman"/>
              </a:rPr>
              <a:t>coming </a:t>
            </a:r>
            <a:r>
              <a:rPr dirty="0" sz="1100">
                <a:latin typeface="Times New Roman"/>
                <a:cs typeface="Times New Roman"/>
              </a:rPr>
              <a:t>from? (with </a:t>
            </a:r>
            <a:r>
              <a:rPr dirty="0" sz="1100" spc="-5">
                <a:latin typeface="Times New Roman"/>
                <a:cs typeface="Times New Roman"/>
              </a:rPr>
              <a:t>completed action).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progressive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  <a:p>
            <a:pPr marL="12700" marR="2984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Stative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are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those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which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‘refer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relatively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permanent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physical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psychological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states</a:t>
            </a:r>
            <a:r>
              <a:rPr dirty="0" sz="1100" spc="114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or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mental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perceptions</a:t>
            </a:r>
            <a:endParaRPr sz="1100">
              <a:latin typeface="Times New Roman"/>
              <a:cs typeface="Times New Roman"/>
            </a:endParaRPr>
          </a:p>
          <a:p>
            <a:pPr marL="12700" marR="2378075">
              <a:lnSpc>
                <a:spcPct val="110200"/>
              </a:lnSpc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Verbs </a:t>
            </a:r>
            <a:r>
              <a:rPr dirty="0" sz="1100">
                <a:latin typeface="Times New Roman"/>
                <a:cs typeface="Times New Roman"/>
              </a:rPr>
              <a:t>relating </a:t>
            </a:r>
            <a:r>
              <a:rPr dirty="0" sz="1100" spc="-5">
                <a:latin typeface="Times New Roman"/>
                <a:cs typeface="Times New Roman"/>
              </a:rPr>
              <a:t>to actions, such as </a:t>
            </a:r>
            <a:r>
              <a:rPr dirty="0" sz="1100">
                <a:latin typeface="Times New Roman"/>
                <a:cs typeface="Times New Roman"/>
              </a:rPr>
              <a:t>run, </a:t>
            </a:r>
            <a:r>
              <a:rPr dirty="0" sz="1100" spc="-5">
                <a:latin typeface="Times New Roman"/>
                <a:cs typeface="Times New Roman"/>
              </a:rPr>
              <a:t>eat, walk, are </a:t>
            </a:r>
            <a:r>
              <a:rPr dirty="0" sz="1100">
                <a:latin typeface="Times New Roman"/>
                <a:cs typeface="Times New Roman"/>
              </a:rPr>
              <a:t>non-stative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progressive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Verbs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considered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stative in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standard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English </a:t>
            </a:r>
            <a:r>
              <a:rPr dirty="0" sz="1100">
                <a:latin typeface="Times New Roman"/>
                <a:cs typeface="Times New Roman"/>
              </a:rPr>
              <a:t>but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used</a:t>
            </a:r>
            <a:r>
              <a:rPr dirty="0" sz="1100" spc="-5">
                <a:latin typeface="Times New Roman"/>
                <a:cs typeface="Times New Roman"/>
              </a:rPr>
              <a:t> in 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progressive</a:t>
            </a:r>
            <a:r>
              <a:rPr dirty="0" sz="1100" spc="-5">
                <a:latin typeface="Times New Roman"/>
                <a:cs typeface="Times New Roman"/>
              </a:rPr>
              <a:t> in </a:t>
            </a:r>
            <a:r>
              <a:rPr dirty="0" sz="1100">
                <a:latin typeface="Times New Roman"/>
                <a:cs typeface="Times New Roman"/>
              </a:rPr>
              <a:t>outer</a:t>
            </a:r>
            <a:r>
              <a:rPr dirty="0" sz="1100" spc="-5">
                <a:latin typeface="Times New Roman"/>
                <a:cs typeface="Times New Roman"/>
              </a:rPr>
              <a:t> circle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varieties: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•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see,</a:t>
            </a:r>
            <a:r>
              <a:rPr dirty="0" sz="1100" spc="229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hear,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think,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feel,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believe,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know,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understand,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remember,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forget,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doubt,</a:t>
            </a:r>
            <a:r>
              <a:rPr dirty="0" sz="1100" spc="2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want,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wish,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cost,</a:t>
            </a:r>
            <a:r>
              <a:rPr dirty="0" sz="1100" spc="23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weigh,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pc="-5"/>
              <a:t>©Copyright</a:t>
            </a:r>
            <a:r>
              <a:rPr dirty="0" spc="-25"/>
              <a:t> </a:t>
            </a:r>
            <a:r>
              <a:rPr dirty="0" spc="-5"/>
              <a:t>Virtual</a:t>
            </a:r>
            <a:r>
              <a:rPr dirty="0" spc="-20"/>
              <a:t> </a:t>
            </a:r>
            <a:r>
              <a:rPr dirty="0" spc="-5"/>
              <a:t>University</a:t>
            </a:r>
            <a:r>
              <a:rPr dirty="0" spc="-2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Pakistan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7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IJLAL</a:t>
            </a:r>
            <a:r>
              <a:rPr dirty="0" spc="-10"/>
              <a:t> </a:t>
            </a:r>
            <a:r>
              <a:rPr dirty="0" spc="-5"/>
              <a:t>BANGASH</a:t>
            </a:r>
            <a:r>
              <a:rPr dirty="0" spc="-15"/>
              <a:t> </a:t>
            </a:r>
            <a:r>
              <a:rPr dirty="0" spc="-10"/>
              <a:t>(Spring-2020)</a:t>
            </a:r>
            <a:fld id="{81D60167-4931-47E6-BA6A-407CBD079E47}" type="slidenum">
              <a:rPr dirty="0" spc="-10">
                <a:latin typeface="Cambria"/>
                <a:cs typeface="Cambria"/>
              </a:rPr>
              <a:t>100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01700" y="205774"/>
            <a:ext cx="172338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World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5">
                <a:latin typeface="Times New Roman"/>
                <a:cs typeface="Times New Roman"/>
              </a:rPr>
              <a:t>Englishes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(ENG506)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99730" y="205774"/>
            <a:ext cx="2457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Times New Roman"/>
                <a:cs typeface="Times New Roman"/>
              </a:rPr>
              <a:t>VU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647368"/>
            <a:ext cx="5715635" cy="3350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779645">
              <a:lnSpc>
                <a:spcPct val="110200"/>
              </a:lnSpc>
              <a:spcBef>
                <a:spcPts val="100"/>
              </a:spcBef>
            </a:pPr>
            <a:r>
              <a:rPr dirty="0" sz="1100">
                <a:latin typeface="Times New Roman"/>
                <a:cs typeface="Times New Roman"/>
              </a:rPr>
              <a:t>belong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endParaRPr sz="1100">
              <a:latin typeface="Times New Roman"/>
              <a:cs typeface="Times New Roman"/>
            </a:endParaRPr>
          </a:p>
          <a:p>
            <a:pPr marL="12700" marR="30403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Use </a:t>
            </a:r>
            <a:r>
              <a:rPr dirty="0" sz="1100">
                <a:latin typeface="Times New Roman"/>
                <a:cs typeface="Times New Roman"/>
              </a:rPr>
              <a:t>of </a:t>
            </a:r>
            <a:r>
              <a:rPr dirty="0" sz="1100" spc="-5">
                <a:latin typeface="Times New Roman"/>
                <a:cs typeface="Times New Roman"/>
              </a:rPr>
              <a:t>the </a:t>
            </a:r>
            <a:r>
              <a:rPr dirty="0" sz="1100">
                <a:latin typeface="Times New Roman"/>
                <a:cs typeface="Times New Roman"/>
              </a:rPr>
              <a:t>progressive </a:t>
            </a:r>
            <a:r>
              <a:rPr dirty="0" sz="1100" spc="-5">
                <a:latin typeface="Times New Roman"/>
                <a:cs typeface="Times New Roman"/>
              </a:rPr>
              <a:t>aspect with stative </a:t>
            </a:r>
            <a:r>
              <a:rPr dirty="0" sz="1100">
                <a:latin typeface="Times New Roman"/>
                <a:cs typeface="Times New Roman"/>
              </a:rPr>
              <a:t>verbs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Examples: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0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seeing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sky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here.</a:t>
            </a:r>
            <a:endParaRPr sz="1100">
              <a:latin typeface="Times New Roman"/>
              <a:cs typeface="Times New Roman"/>
            </a:endParaRPr>
          </a:p>
          <a:p>
            <a:pPr marL="12700" marR="3761104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They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were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having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horse.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progressive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  <a:p>
            <a:pPr marL="12700" marR="5080">
              <a:lnSpc>
                <a:spcPct val="110200"/>
              </a:lnSpc>
            </a:pPr>
            <a:r>
              <a:rPr dirty="0" sz="1100" spc="-5">
                <a:latin typeface="Times New Roman"/>
                <a:cs typeface="Times New Roman"/>
              </a:rPr>
              <a:t>According to Kachru the Hindi-Urdu </a:t>
            </a:r>
            <a:r>
              <a:rPr dirty="0" sz="1100">
                <a:latin typeface="Times New Roman"/>
                <a:cs typeface="Times New Roman"/>
              </a:rPr>
              <a:t>verbs </a:t>
            </a:r>
            <a:r>
              <a:rPr dirty="0" sz="1100" spc="-5">
                <a:latin typeface="Times New Roman"/>
                <a:cs typeface="Times New Roman"/>
              </a:rPr>
              <a:t>sunna </a:t>
            </a:r>
            <a:r>
              <a:rPr dirty="0" sz="1100">
                <a:latin typeface="Times New Roman"/>
                <a:cs typeface="Times New Roman"/>
              </a:rPr>
              <a:t>(to hear) dekhna (to </a:t>
            </a:r>
            <a:r>
              <a:rPr dirty="0" sz="1100" spc="-5">
                <a:latin typeface="Times New Roman"/>
                <a:cs typeface="Times New Roman"/>
              </a:rPr>
              <a:t>see) are </a:t>
            </a:r>
            <a:r>
              <a:rPr dirty="0" sz="1100">
                <a:latin typeface="Times New Roman"/>
                <a:cs typeface="Times New Roman"/>
              </a:rPr>
              <a:t>used </a:t>
            </a:r>
            <a:r>
              <a:rPr dirty="0" sz="1100" spc="-5">
                <a:latin typeface="Times New Roman"/>
                <a:cs typeface="Times New Roman"/>
              </a:rPr>
              <a:t>in the </a:t>
            </a:r>
            <a:r>
              <a:rPr dirty="0" sz="1100">
                <a:latin typeface="Times New Roman"/>
                <a:cs typeface="Times New Roman"/>
              </a:rPr>
              <a:t>progressive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Use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progressive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aspect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with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stative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verbs</a:t>
            </a:r>
            <a:endParaRPr sz="11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135"/>
              </a:spcBef>
              <a:buChar char="-"/>
              <a:tabLst>
                <a:tab pos="469265" algn="l"/>
                <a:tab pos="469900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5">
                <a:latin typeface="Times New Roman"/>
                <a:cs typeface="Times New Roman"/>
              </a:rPr>
              <a:t> am hearing </a:t>
            </a:r>
            <a:r>
              <a:rPr dirty="0" sz="1100">
                <a:latin typeface="Times New Roman"/>
                <a:cs typeface="Times New Roman"/>
              </a:rPr>
              <a:t>you. </a:t>
            </a:r>
            <a:r>
              <a:rPr dirty="0" sz="1100" spc="-5">
                <a:latin typeface="Times New Roman"/>
                <a:cs typeface="Times New Roman"/>
              </a:rPr>
              <a:t>You are loud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and clear’</a:t>
            </a:r>
            <a:endParaRPr sz="1100">
              <a:latin typeface="Times New Roman"/>
              <a:cs typeface="Times New Roman"/>
            </a:endParaRPr>
          </a:p>
          <a:p>
            <a:pPr marL="12700" marR="3686810">
              <a:lnSpc>
                <a:spcPct val="110200"/>
              </a:lnSpc>
              <a:buChar char="-"/>
              <a:tabLst>
                <a:tab pos="469265" algn="l"/>
                <a:tab pos="469900" algn="l"/>
              </a:tabLst>
            </a:pPr>
            <a:r>
              <a:rPr dirty="0" sz="1100" spc="-5">
                <a:latin typeface="Times New Roman"/>
                <a:cs typeface="Times New Roman"/>
              </a:rPr>
              <a:t>It’s costing </a:t>
            </a:r>
            <a:r>
              <a:rPr dirty="0" sz="1100">
                <a:latin typeface="Times New Roman"/>
                <a:cs typeface="Times New Roman"/>
              </a:rPr>
              <a:t>a </a:t>
            </a:r>
            <a:r>
              <a:rPr dirty="0" sz="1100" spc="-5">
                <a:latin typeface="Times New Roman"/>
                <a:cs typeface="Times New Roman"/>
              </a:rPr>
              <a:t>lot these days.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Variation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study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Addition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preposition</a:t>
            </a:r>
            <a:endParaRPr sz="1100">
              <a:latin typeface="Times New Roman"/>
              <a:cs typeface="Times New Roman"/>
            </a:endParaRPr>
          </a:p>
          <a:p>
            <a:pPr marL="12700" marR="3276600">
              <a:lnSpc>
                <a:spcPct val="110200"/>
              </a:lnSpc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fill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the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form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my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admission. </a:t>
            </a:r>
            <a:r>
              <a:rPr dirty="0" sz="1100" spc="-2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5">
                <a:latin typeface="Times New Roman"/>
                <a:cs typeface="Times New Roman"/>
              </a:rPr>
              <a:t> can’t cope </a:t>
            </a:r>
            <a:r>
              <a:rPr dirty="0" sz="1100">
                <a:latin typeface="Times New Roman"/>
                <a:cs typeface="Times New Roman"/>
              </a:rPr>
              <a:t>up</a:t>
            </a:r>
            <a:r>
              <a:rPr dirty="0" sz="1100" spc="-5">
                <a:latin typeface="Times New Roman"/>
                <a:cs typeface="Times New Roman"/>
              </a:rPr>
              <a:t> with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this situation.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">
                <a:latin typeface="Times New Roman"/>
                <a:cs typeface="Times New Roman"/>
              </a:rPr>
              <a:t>We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to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combat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5">
                <a:latin typeface="Times New Roman"/>
                <a:cs typeface="Times New Roman"/>
              </a:rPr>
              <a:t>against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poverty.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2021-04-21T09:41:09Z</dcterms:created>
  <dcterms:modified xsi:type="dcterms:W3CDTF">2021-04-21T09:41:09Z</dcterms:modified>
</cp:coreProperties>
</file>