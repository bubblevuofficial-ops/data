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package/2006/relationships/metadata/core-properties" Target="docProps/core.xml" TargetMode="Internal"></Relationship><Relationship Id="rId2" Type="http://schemas.openxmlformats.org/officeDocument/2006/relationships/extended-properties" Target="docProps/app.xml" TargetMode="Internal"></Relationship><Relationship Id="rId3" Type="http://schemas.openxmlformats.org/officeDocument/2006/relationships/officeDocument" Target="ppt/presentation.xml" TargetMode="Interna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7772400" cy="10058400" type="custom"/>
  <p:notesSz cx="6858000" cy="9144000"/>
  <p:defaultTextStyle>
    <a:defPPr>
      <a:defRPr lang="ko-KR"/>
    </a:defPPr>
    <a:lvl1pPr algn="l" marL="0" indent="0" defTabSz="914400">
      <a:buNone/>
      <a:defRPr lang="ko-KR" smtClean="0" sz="1800" baseline="0">
        <a:solidFill>
          <a:srgbClr val="000000"/>
        </a:solidFill>
        <a:latin typeface="SimSun"/>
        <a:ea typeface="SimSun"/>
      </a:defRPr>
    </a:lvl1pPr>
    <a:lvl2pPr lvl="1" marL="457200" indent="0" defTabSz="914400">
      <a:defRPr lang="ko-KR" smtClean="0"/>
    </a:lvl2pPr>
    <a:lvl3pPr lvl="2" marL="914400" indent="0" defTabSz="914400">
      <a:defRPr lang="ko-KR" smtClean="0"/>
    </a:lvl3pPr>
    <a:lvl4pPr lvl="3" marL="1371600" indent="0" defTabSz="914400">
      <a:defRPr lang="ko-KR" smtClean="0"/>
    </a:lvl4pPr>
    <a:lvl5pPr lvl="4" marL="1828800" indent="0" defTabSz="914400">
      <a:defRPr lang="ko-KR" smtClean="0"/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6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slideMaster" Target="slideMasters/slideMaster1.xml" TargetMode="Internal"></Relationship><Relationship Id="rId2" Type="http://schemas.openxmlformats.org/officeDocument/2006/relationships/slide" Target="slides/slide1.xml" TargetMode="Internal"></Relationship><Relationship Id="rId3" Type="http://schemas.openxmlformats.org/officeDocument/2006/relationships/slide" Target="slides/slide2.xml" TargetMode="Internal"></Relationship><Relationship Id="rId4" Type="http://schemas.openxmlformats.org/officeDocument/2006/relationships/slide" Target="slides/slide3.xml" TargetMode="Internal"></Relationship><Relationship Id="rId5" Type="http://schemas.openxmlformats.org/officeDocument/2006/relationships/slide" Target="slides/slide4.xml" TargetMode="Internal"></Relationship><Relationship Id="rId6" Type="http://schemas.openxmlformats.org/officeDocument/2006/relationships/slide" Target="slides/slide5.xml" TargetMode="Internal"></Relationship><Relationship Id="rId7" Type="http://schemas.openxmlformats.org/officeDocument/2006/relationships/slide" Target="slides/slide6.xml" TargetMode="Internal"></Relationship><Relationship Id="rId8" Type="http://schemas.openxmlformats.org/officeDocument/2006/relationships/slide" Target="slides/slide7.xml" TargetMode="Internal"></Relationship><Relationship Id="rId9" Type="http://schemas.openxmlformats.org/officeDocument/2006/relationships/slide" Target="slides/slide8.xml" TargetMode="Internal"></Relationship><Relationship Id="rId10" Type="http://schemas.openxmlformats.org/officeDocument/2006/relationships/slide" Target="slides/slide9.xml" TargetMode="Internal"></Relationship><Relationship Id="rId11" Type="http://schemas.openxmlformats.org/officeDocument/2006/relationships/slide" Target="slides/slide10.xml" TargetMode="Internal"></Relationship><Relationship Id="rId12" Type="http://schemas.openxmlformats.org/officeDocument/2006/relationships/slide" Target="slides/slide11.xml" TargetMode="Internal"></Relationship><Relationship Id="rId13" Type="http://schemas.openxmlformats.org/officeDocument/2006/relationships/slide" Target="slides/slide12.xml" TargetMode="Internal"></Relationship><Relationship Id="rId14" Type="http://schemas.openxmlformats.org/officeDocument/2006/relationships/slide" Target="slides/slide13.xml" TargetMode="Internal"></Relationship><Relationship Id="rId15" Type="http://schemas.openxmlformats.org/officeDocument/2006/relationships/slide" Target="slides/slide14.xml" TargetMode="Internal"></Relationship><Relationship Id="rId16" Type="http://schemas.openxmlformats.org/officeDocument/2006/relationships/slide" Target="slides/slide15.xml" TargetMode="Internal"></Relationship><Relationship Id="rId17" Type="http://schemas.openxmlformats.org/officeDocument/2006/relationships/slide" Target="slides/slide16.xml" TargetMode="Internal"></Relationship><Relationship Id="rId18" Type="http://schemas.openxmlformats.org/officeDocument/2006/relationships/slide" Target="slides/slide17.xml" TargetMode="Internal"></Relationship><Relationship Id="rId19" Type="http://schemas.openxmlformats.org/officeDocument/2006/relationships/slide" Target="slides/slide18.xml" TargetMode="Internal"></Relationship><Relationship Id="rId20" Type="http://schemas.openxmlformats.org/officeDocument/2006/relationships/slide" Target="slides/slide19.xml" TargetMode="Internal"></Relationship><Relationship Id="rId21" Type="http://schemas.openxmlformats.org/officeDocument/2006/relationships/slide" Target="slides/slide20.xml" TargetMode="Internal"></Relationship><Relationship Id="rId22" Type="http://schemas.openxmlformats.org/officeDocument/2006/relationships/slide" Target="slides/slide21.xml" TargetMode="Internal"></Relationship><Relationship Id="rId23" Type="http://schemas.openxmlformats.org/officeDocument/2006/relationships/slide" Target="slides/slide22.xml" TargetMode="Internal"></Relationship><Relationship Id="rId24" Type="http://schemas.openxmlformats.org/officeDocument/2006/relationships/slide" Target="slides/slide23.xml" TargetMode="Internal"></Relationship><Relationship Id="rId25" Type="http://schemas.openxmlformats.org/officeDocument/2006/relationships/slide" Target="slides/slide24.xml" TargetMode="Internal"></Relationship><Relationship Id="rId26" Type="http://schemas.openxmlformats.org/officeDocument/2006/relationships/slide" Target="slides/slide25.xml" TargetMode="Internal"></Relationship><Relationship Id="rId27" Type="http://schemas.openxmlformats.org/officeDocument/2006/relationships/slide" Target="slides/slide26.xml" TargetMode="Internal"></Relationship><Relationship Id="rId28" Type="http://schemas.openxmlformats.org/officeDocument/2006/relationships/slide" Target="slides/slide27.xml" TargetMode="Internal"></Relationship><Relationship Id="rId29" Type="http://schemas.openxmlformats.org/officeDocument/2006/relationships/slide" Target="slides/slide28.xml" TargetMode="Internal"></Relationship><Relationship Id="rId30" Type="http://schemas.openxmlformats.org/officeDocument/2006/relationships/slide" Target="slides/slide29.xml" TargetMode="Internal"></Relationship><Relationship Id="rId31" Type="http://schemas.openxmlformats.org/officeDocument/2006/relationships/slide" Target="slides/slide30.xml" TargetMode="Internal"></Relationship><Relationship Id="rId32" Type="http://schemas.openxmlformats.org/officeDocument/2006/relationships/slide" Target="slides/slide31.xml" TargetMode="Internal"></Relationship><Relationship Id="rId33" Type="http://schemas.openxmlformats.org/officeDocument/2006/relationships/slide" Target="slides/slide32.xml" TargetMode="Internal"></Relationship><Relationship Id="rId34" Type="http://schemas.openxmlformats.org/officeDocument/2006/relationships/slide" Target="slides/slide33.xml" TargetMode="Internal"></Relationship><Relationship Id="rId35" Type="http://schemas.openxmlformats.org/officeDocument/2006/relationships/slide" Target="slides/slide34.xml" TargetMode="Internal"></Relationship><Relationship Id="rId36" Type="http://schemas.openxmlformats.org/officeDocument/2006/relationships/slide" Target="slides/slide35.xml" TargetMode="Internal"></Relationship><Relationship Id="rId37" Type="http://schemas.openxmlformats.org/officeDocument/2006/relationships/slide" Target="slides/slide36.xml" TargetMode="Internal"></Relationship><Relationship Id="rId38" Type="http://schemas.openxmlformats.org/officeDocument/2006/relationships/slide" Target="slides/slide37.xml" TargetMode="Internal"></Relationship><Relationship Id="rId39" Type="http://schemas.openxmlformats.org/officeDocument/2006/relationships/slide" Target="slides/slide38.xml" TargetMode="Internal"></Relationship><Relationship Id="rId40" Type="http://schemas.openxmlformats.org/officeDocument/2006/relationships/slide" Target="slides/slide39.xml" TargetMode="Internal"></Relationship><Relationship Id="rId41" Type="http://schemas.openxmlformats.org/officeDocument/2006/relationships/slide" Target="slides/slide40.xml" TargetMode="Internal"></Relationship><Relationship Id="rId42" Type="http://schemas.openxmlformats.org/officeDocument/2006/relationships/slide" Target="slides/slide41.xml" TargetMode="Internal"></Relationship><Relationship Id="rId43" Type="http://schemas.openxmlformats.org/officeDocument/2006/relationships/slide" Target="slides/slide42.xml" TargetMode="Internal"></Relationship><Relationship Id="rId44" Type="http://schemas.openxmlformats.org/officeDocument/2006/relationships/slide" Target="slides/slide43.xml" TargetMode="Internal"></Relationship><Relationship Id="rId45" Type="http://schemas.openxmlformats.org/officeDocument/2006/relationships/slide" Target="slides/slide44.xml" TargetMode="Internal"></Relationship><Relationship Id="rId46" Type="http://schemas.openxmlformats.org/officeDocument/2006/relationships/slide" Target="slides/slide45.xml" TargetMode="Internal"></Relationship><Relationship Id="rId47" Type="http://schemas.openxmlformats.org/officeDocument/2006/relationships/slide" Target="slides/slide46.xml" TargetMode="Internal"></Relationship><Relationship Id="rId48" Type="http://schemas.openxmlformats.org/officeDocument/2006/relationships/slide" Target="slides/slide47.xml" TargetMode="Internal"></Relationship><Relationship Id="rId49" Type="http://schemas.openxmlformats.org/officeDocument/2006/relationships/slide" Target="slides/slide48.xml" TargetMode="Internal"></Relationship><Relationship Id="rId50" Type="http://schemas.openxmlformats.org/officeDocument/2006/relationships/slide" Target="slides/slide49.xml" TargetMode="Internal"></Relationship><Relationship Id="rId51" Type="http://schemas.openxmlformats.org/officeDocument/2006/relationships/slide" Target="slides/slide50.xml" TargetMode="Internal"></Relationship><Relationship Id="rId52" Type="http://schemas.openxmlformats.org/officeDocument/2006/relationships/slide" Target="slides/slide51.xml" TargetMode="Internal"></Relationship><Relationship Id="rId53" Type="http://schemas.openxmlformats.org/officeDocument/2006/relationships/slide" Target="slides/slide52.xml" TargetMode="Internal"></Relationship><Relationship Id="rId54" Type="http://schemas.openxmlformats.org/officeDocument/2006/relationships/slide" Target="slides/slide53.xml" TargetMode="Internal"></Relationship><Relationship Id="rId55" Type="http://schemas.openxmlformats.org/officeDocument/2006/relationships/slide" Target="slides/slide54.xml" TargetMode="Internal"></Relationship><Relationship Id="rId56" Type="http://schemas.openxmlformats.org/officeDocument/2006/relationships/slide" Target="slides/slide55.xml" TargetMode="Internal"></Relationship><Relationship Id="rId57" Type="http://schemas.openxmlformats.org/officeDocument/2006/relationships/slide" Target="slides/slide56.xml" TargetMode="Internal"></Relationship><Relationship Id="rId58" Type="http://schemas.openxmlformats.org/officeDocument/2006/relationships/slide" Target="slides/slide57.xml" TargetMode="Internal"></Relationship><Relationship Id="rId59" Type="http://schemas.openxmlformats.org/officeDocument/2006/relationships/slide" Target="slides/slide58.xml" TargetMode="Internal"></Relationship><Relationship Id="rId60" Type="http://schemas.openxmlformats.org/officeDocument/2006/relationships/slide" Target="slides/slide59.xml" TargetMode="Internal"></Relationship><Relationship Id="rId61" Type="http://schemas.openxmlformats.org/officeDocument/2006/relationships/slide" Target="slides/slide60.xml" TargetMode="Internal"></Relationship><Relationship Id="rId62" Type="http://schemas.openxmlformats.org/officeDocument/2006/relationships/slide" Target="slides/slide61.xml" TargetMode="Internal"></Relationship><Relationship Id="rId63" Type="http://schemas.openxmlformats.org/officeDocument/2006/relationships/slide" Target="slides/slide62.xml" TargetMode="Internal"></Relationship><Relationship Id="rId64" Type="http://schemas.openxmlformats.org/officeDocument/2006/relationships/slide" Target="slides/slide63.xml" TargetMode="Internal"></Relationship><Relationship Id="rId65" Type="http://schemas.openxmlformats.org/officeDocument/2006/relationships/slide" Target="slides/slide64.xml" TargetMode="Internal"></Relationship><Relationship Id="rId66" Type="http://schemas.openxmlformats.org/officeDocument/2006/relationships/slide" Target="slides/slide65.xml" TargetMode="Internal"></Relationship><Relationship Id="rId67" Type="http://schemas.openxmlformats.org/officeDocument/2006/relationships/slide" Target="slides/slide66.xml" TargetMode="Internal"></Relationship><Relationship Id="rId68" Type="http://schemas.openxmlformats.org/officeDocument/2006/relationships/slide" Target="slides/slide67.xml" TargetMode="Internal"></Relationship><Relationship Id="rId69" Type="http://schemas.openxmlformats.org/officeDocument/2006/relationships/slide" Target="slides/slide68.xml" TargetMode="Internal"></Relationship><Relationship Id="rId70" Type="http://schemas.openxmlformats.org/officeDocument/2006/relationships/slide" Target="slides/slide69.xml" TargetMode="Internal"></Relationship><Relationship Id="rId71" Type="http://schemas.openxmlformats.org/officeDocument/2006/relationships/slide" Target="slides/slide70.xml" TargetMode="Internal"></Relationship><Relationship Id="rId72" Type="http://schemas.openxmlformats.org/officeDocument/2006/relationships/slide" Target="slides/slide71.xml" TargetMode="Internal"></Relationship><Relationship Id="rId73" Type="http://schemas.openxmlformats.org/officeDocument/2006/relationships/slide" Target="slides/slide72.xml" TargetMode="Internal"></Relationship><Relationship Id="rId74" Type="http://schemas.openxmlformats.org/officeDocument/2006/relationships/slide" Target="slides/slide73.xml" TargetMode="Internal"></Relationship><Relationship Id="rId75" Type="http://schemas.openxmlformats.org/officeDocument/2006/relationships/slide" Target="slides/slide74.xml" TargetMode="Internal"></Relationship><Relationship Id="rId76" Type="http://schemas.openxmlformats.org/officeDocument/2006/relationships/slide" Target="slides/slide75.xml" TargetMode="Internal"></Relationship><Relationship Id="rId77" Type="http://schemas.openxmlformats.org/officeDocument/2006/relationships/slide" Target="slides/slide76.xml" TargetMode="Internal"></Relationship><Relationship Id="rId78" Type="http://schemas.openxmlformats.org/officeDocument/2006/relationships/slide" Target="slides/slide77.xml" TargetMode="Internal"></Relationship><Relationship Id="rId79" Type="http://schemas.openxmlformats.org/officeDocument/2006/relationships/slide" Target="slides/slide78.xml" TargetMode="Internal"></Relationship><Relationship Id="rId80" Type="http://schemas.openxmlformats.org/officeDocument/2006/relationships/slide" Target="slides/slide79.xml" TargetMode="Internal"></Relationship><Relationship Id="rId81" Type="http://schemas.openxmlformats.org/officeDocument/2006/relationships/slide" Target="slides/slide80.xml" TargetMode="Internal"></Relationship><Relationship Id="rId82" Type="http://schemas.openxmlformats.org/officeDocument/2006/relationships/slide" Target="slides/slide81.xml" TargetMode="Internal"></Relationship><Relationship Id="rId83" Type="http://schemas.openxmlformats.org/officeDocument/2006/relationships/slide" Target="slides/slide82.xml" TargetMode="Internal"></Relationship><Relationship Id="rId84" Type="http://schemas.openxmlformats.org/officeDocument/2006/relationships/slide" Target="slides/slide83.xml" TargetMode="Internal"></Relationship><Relationship Id="rId85" Type="http://schemas.openxmlformats.org/officeDocument/2006/relationships/slide" Target="slides/slide84.xml" TargetMode="Internal"></Relationship><Relationship Id="rId86" Type="http://schemas.openxmlformats.org/officeDocument/2006/relationships/slide" Target="slides/slide85.xml" TargetMode="Internal"></Relationship><Relationship Id="rId87" Type="http://schemas.openxmlformats.org/officeDocument/2006/relationships/slide" Target="slides/slide86.xml" TargetMode="Internal"></Relationship><Relationship Id="rId88" Type="http://schemas.openxmlformats.org/officeDocument/2006/relationships/slide" Target="slides/slide87.xml" TargetMode="Internal"></Relationship><Relationship Id="rId89" Type="http://schemas.openxmlformats.org/officeDocument/2006/relationships/slide" Target="slides/slide88.xml" TargetMode="Internal"></Relationship><Relationship Id="rId90" Type="http://schemas.openxmlformats.org/officeDocument/2006/relationships/slide" Target="slides/slide89.xml" TargetMode="Internal"></Relationship><Relationship Id="rId91" Type="http://schemas.openxmlformats.org/officeDocument/2006/relationships/slide" Target="slides/slide90.xml" TargetMode="Internal"></Relationship><Relationship Id="rId92" Type="http://schemas.openxmlformats.org/officeDocument/2006/relationships/slide" Target="slides/slide91.xml" TargetMode="Internal"></Relationship><Relationship Id="rId93" Type="http://schemas.openxmlformats.org/officeDocument/2006/relationships/slide" Target="slides/slide92.xml" TargetMode="Internal"></Relationship><Relationship Id="rId94" Type="http://schemas.openxmlformats.org/officeDocument/2006/relationships/slide" Target="slides/slide93.xml" TargetMode="Internal"></Relationship><Relationship Id="rId95" Type="http://schemas.openxmlformats.org/officeDocument/2006/relationships/slide" Target="slides/slide94.xml" TargetMode="Internal"></Relationship><Relationship Id="rId96" Type="http://schemas.openxmlformats.org/officeDocument/2006/relationships/slide" Target="slides/slide95.xml" TargetMode="Internal"></Relationship><Relationship Id="rId97" Type="http://schemas.openxmlformats.org/officeDocument/2006/relationships/slide" Target="slides/slide96.xml" TargetMode="Internal"></Relationship><Relationship Id="rId98" Type="http://schemas.openxmlformats.org/officeDocument/2006/relationships/slide" Target="slides/slide97.xml" TargetMode="Internal"></Relationship><Relationship Id="rId99" Type="http://schemas.openxmlformats.org/officeDocument/2006/relationships/slide" Target="slides/slide98.xml" TargetMode="Internal"></Relationship><Relationship Id="rId100" Type="http://schemas.openxmlformats.org/officeDocument/2006/relationships/slide" Target="slides/slide99.xml" TargetMode="Internal"></Relationship><Relationship Id="rId101" Type="http://schemas.openxmlformats.org/officeDocument/2006/relationships/slide" Target="slides/slide100.xml" TargetMode="Internal"></Relationship><Relationship Id="rId102" Type="http://schemas.openxmlformats.org/officeDocument/2006/relationships/theme" Target="theme/theme1.xml" TargetMode="Internal"></Relationship><Relationship Id="rId103" Type="http://schemas.openxmlformats.org/officeDocument/2006/relationships/presProps" Target="presProps.xml" TargetMode="Internal"></Relationship><Relationship Id="rId104" Type="http://schemas.openxmlformats.org/officeDocument/2006/relationships/viewProps" Target="viewProps.xml" TargetMode="Internal"></Relationship><Relationship Id="rId105" Type="http://schemas.openxmlformats.org/officeDocument/2006/relationships/tableStyles" Target="tableStyles.xml" TargetMode="Internal"></Relationship></Relationship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marL="0" indent="0">
              <a:buNone/>
              <a:defRPr>
                <a:solidFill>
                  <a:srgbClr val="000000"/>
                </a:solidFill>
              </a:defRPr>
            </a:lvl1pPr>
            <a:lvl2pPr algn="ctr" marL="457200" indent="0">
              <a:buNone/>
              <a:defRPr>
                <a:solidFill>
                  <a:srgbClr val="000000"/>
                </a:solidFill>
              </a:defRPr>
            </a:lvl2pPr>
            <a:lvl3pPr algn="ctr" marL="914400" indent="0">
              <a:buNone/>
              <a:defRPr>
                <a:solidFill>
                  <a:srgbClr val="000000"/>
                </a:solidFill>
              </a:defRPr>
            </a:lvl3pPr>
            <a:lvl4pPr algn="ctr" marL="1371600" indent="0">
              <a:buNone/>
              <a:defRPr>
                <a:solidFill>
                  <a:srgbClr val="000000"/>
                </a:solidFill>
              </a:defRPr>
            </a:lvl4pPr>
            <a:lvl5pPr algn="ctr" marL="1828800" indent="0">
              <a:buNone/>
              <a:defRPr>
                <a:solidFill>
                  <a:srgbClr val="000000"/>
                </a:solidFill>
              </a:defRPr>
            </a:lvl5pPr>
            <a:lvl6pPr algn="ctr" marL="2286000" indent="0">
              <a:buNone/>
              <a:defRPr>
                <a:solidFill>
                  <a:srgbClr val="000000"/>
                </a:solidFill>
              </a:defRPr>
            </a:lvl6pPr>
            <a:lvl7pPr algn="ctr" marL="2743200" indent="0">
              <a:buNone/>
              <a:defRPr>
                <a:solidFill>
                  <a:srgbClr val="000000"/>
                </a:solidFill>
              </a:defRPr>
            </a:lvl7pPr>
            <a:lvl8pPr algn="ctr" marL="3200400" indent="0">
              <a:buNone/>
              <a:defRPr>
                <a:solidFill>
                  <a:srgbClr val="000000"/>
                </a:solidFill>
              </a:defRPr>
            </a:lvl8pPr>
            <a:lvl9pPr algn="ctr" marL="3657600" indent="0">
              <a:buNone/>
              <a:defRPr>
                <a:solidFill>
                  <a:srgbClr val="000000"/>
                </a:solidFill>
              </a:defRPr>
            </a:lvl9pPr>
          </a:lstStyle>
          <a:p>
            <a:r>
              <a:rPr lang="ko-KR" altLang="en-US" dirty="0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  <a:lvl2pPr marL="457200" indent="0">
              <a:buNone/>
              <a:defRPr sz="1800">
                <a:solidFill>
                  <a:srgbClr val="000000"/>
                </a:solidFill>
              </a:defRPr>
            </a:lvl2pPr>
            <a:lvl3pPr marL="914400" indent="0">
              <a:buNone/>
              <a:defRPr sz="1600">
                <a:solidFill>
                  <a:srgbClr val="000000"/>
                </a:solidFill>
              </a:defRPr>
            </a:lvl3pPr>
            <a:lvl4pPr marL="1371600" indent="0">
              <a:buNone/>
              <a:defRPr sz="1400">
                <a:solidFill>
                  <a:srgbClr val="000000"/>
                </a:solidFill>
              </a:defRPr>
            </a:lvl4pPr>
            <a:lvl5pPr marL="1828800" indent="0">
              <a:buNone/>
              <a:defRPr sz="1400">
                <a:solidFill>
                  <a:srgbClr val="000000"/>
                </a:solidFill>
              </a:defRPr>
            </a:lvl5pPr>
            <a:lvl6pPr marL="2286000" indent="0">
              <a:buNone/>
              <a:defRPr sz="1400">
                <a:solidFill>
                  <a:srgbClr val="000000"/>
                </a:solidFill>
              </a:defRPr>
            </a:lvl6pPr>
            <a:lvl7pPr marL="2743200" indent="0">
              <a:buNone/>
              <a:defRPr sz="1400">
                <a:solidFill>
                  <a:srgbClr val="000000"/>
                </a:solidFill>
              </a:defRPr>
            </a:lvl7pPr>
            <a:lvl8pPr marL="3200400" indent="0">
              <a:buNone/>
              <a:defRPr sz="1400">
                <a:solidFill>
                  <a:srgbClr val="000000"/>
                </a:solidFill>
              </a:defRPr>
            </a:lvl8pPr>
            <a:lvl9pPr marL="3657600" indent="0">
              <a:buNone/>
              <a:defRPr sz="1400">
                <a:solidFill>
                  <a:srgbClr val="000000"/>
                </a:solidFill>
              </a:defRPr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 marL="0" defTabSz="0">
              <a:defRPr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type="pic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0" defTabSz="0">
              <a:defRPr sz="3200"/>
            </a:lvl1pPr>
            <a:lvl2pPr marL="0" defTabSz="0">
              <a:defRPr sz="2800"/>
            </a:lvl2pPr>
            <a:lvl3pPr marL="0" defTabSz="0">
              <a:defRPr sz="2400"/>
            </a:lvl3pPr>
            <a:lvl4pPr marL="0" defTabSz="0">
              <a:defRPr sz="2000"/>
            </a:lvl4pPr>
            <a:lvl5pPr marL="0" defTabSz="0">
              <a:defRPr sz="2000"/>
            </a:lvl5pPr>
            <a:lvl6pPr marL="0" defTabSz="0">
              <a:defRPr sz="2000"/>
            </a:lvl6pPr>
            <a:lvl7pPr marL="0" defTabSz="0">
              <a:defRPr sz="2000"/>
            </a:lvl7pPr>
            <a:lvl8pPr marL="0" defTabSz="0">
              <a:defRPr sz="2000"/>
            </a:lvl8pPr>
            <a:lvl9pPr marL="0" defTabSz="0">
              <a:defRPr sz="20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1"/>
          <p:cNvSpPr>
            <a:spLocks noGrp="1"/>
          </p:cNvSpPr>
          <p:nvPr>
            <p:ph type="title" orient="vert" idx="0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 TargetMode="Internal"></Relationship><Relationship Id="rId2" Type="http://schemas.openxmlformats.org/officeDocument/2006/relationships/slideLayout" Target="../slideLayouts/slideLayout2.xml" TargetMode="Internal"></Relationship><Relationship Id="rId3" Type="http://schemas.openxmlformats.org/officeDocument/2006/relationships/slideLayout" Target="../slideLayouts/slideLayout3.xml" TargetMode="Internal"></Relationship><Relationship Id="rId4" Type="http://schemas.openxmlformats.org/officeDocument/2006/relationships/slideLayout" Target="../slideLayouts/slideLayout4.xml" TargetMode="Internal"></Relationship><Relationship Id="rId5" Type="http://schemas.openxmlformats.org/officeDocument/2006/relationships/slideLayout" Target="../slideLayouts/slideLayout5.xml" TargetMode="Internal"></Relationship><Relationship Id="rId6" Type="http://schemas.openxmlformats.org/officeDocument/2006/relationships/slideLayout" Target="../slideLayouts/slideLayout6.xml" TargetMode="Internal"></Relationship><Relationship Id="rId7" Type="http://schemas.openxmlformats.org/officeDocument/2006/relationships/slideLayout" Target="../slideLayouts/slideLayout7.xml" TargetMode="Internal"></Relationship><Relationship Id="rId8" Type="http://schemas.openxmlformats.org/officeDocument/2006/relationships/slideLayout" Target="../slideLayouts/slideLayout8.xml" TargetMode="Internal"></Relationship><Relationship Id="rId9" Type="http://schemas.openxmlformats.org/officeDocument/2006/relationships/slideLayout" Target="../slideLayouts/slideLayout9.xml" TargetMode="Internal"></Relationship><Relationship Id="rId10" Type="http://schemas.openxmlformats.org/officeDocument/2006/relationships/slideLayout" Target="../slideLayouts/slideLayout10.xml" TargetMode="Internal"></Relationship><Relationship Id="rId11" Type="http://schemas.openxmlformats.org/officeDocument/2006/relationships/slideLayout" Target="../slideLayouts/slideLayout11.xml" TargetMode="Internal"></Relationship><Relationship Id="rId12" Type="http://schemas.openxmlformats.org/officeDocument/2006/relationships/theme" Target="../theme/theme1.xml" TargetMode="Interna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fld id="{5C1A2B81-1DA3-497E-83CD-70D401AD2C06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0000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9CD56DC7-0AF8-4C3E-9120-C82FF52A6C0B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marL="0" indent="0" defTabSz="914400">
        <a:buNone/>
        <a:defRPr lang="ko-KR" smtClean="0" sz="4400" baseline="0">
          <a:solidFill>
            <a:srgbClr val="000000"/>
          </a:solidFill>
          <a:latin typeface="SimSun"/>
          <a:ea typeface="SimSun"/>
        </a:defRPr>
      </a:lvl1pPr>
    </p:titleStyle>
    <p:bodyStyle>
      <a:lvl1pPr algn="l" marL="342900" indent="-342900" defTabSz="914400">
        <a:spcBef>
          <a:spcPct val="20000"/>
        </a:spcBef>
        <a:buFont typeface="SimSun"/>
        <a:buChar char="●"/>
        <a:defRPr lang="ko-KR" smtClean="0" sz="3200" baseline="0">
          <a:solidFill>
            <a:srgbClr val="000000"/>
          </a:solidFill>
          <a:latin typeface="SimSun"/>
          <a:ea typeface="SimSun"/>
        </a:defRPr>
      </a:lvl1pPr>
      <a:lvl2pPr lvl="1" marL="742950" indent="-285750" defTabSz="914400">
        <a:buChar char="-"/>
        <a:defRPr lang="ko-KR" smtClean="0" sz="2800"/>
      </a:lvl2pPr>
      <a:lvl3pPr lvl="2" marL="1143000" indent="-228600" defTabSz="914400">
        <a:buChar char="●"/>
        <a:defRPr lang="ko-KR" smtClean="0" sz="2400"/>
      </a:lvl3pPr>
      <a:lvl4pPr lvl="3" marL="1600200" indent="-228600" defTabSz="914400">
        <a:buChar char="-"/>
        <a:defRPr lang="ko-KR" smtClean="0" sz="2000"/>
      </a:lvl4pPr>
      <a:lvl5pPr lvl="4" marL="2057400" indent="-228600" defTabSz="914400">
        <a:buChar char="»"/>
        <a:defRPr lang="ko-KR" smtClean="0"/>
      </a:lvl5pPr>
    </p:bodyStyle>
    <p:otherStyle>
      <a:lvl1pPr algn="l" marL="0" indent="0" defTabSz="914400">
        <a:buNone/>
        <a:defRPr lang="ko-KR" smtClean="0" sz="1800" baseline="0">
          <a:solidFill>
            <a:srgbClr val="000000"/>
          </a:solidFill>
          <a:latin typeface="SimSun"/>
          <a:ea typeface="SimSun"/>
        </a:defRPr>
      </a:lvl1pPr>
      <a:lvl2pPr lvl="1" marL="457200" indent="0" defTabSz="914400">
        <a:defRPr lang="ko-KR" smtClean="0"/>
      </a:lvl2pPr>
      <a:lvl3pPr lvl="2" marL="914400" indent="0" defTabSz="914400">
        <a:defRPr lang="ko-KR" smtClean="0"/>
      </a:lvl3pPr>
      <a:lvl4pPr lvl="3" marL="1371600" indent="0" defTabSz="914400">
        <a:defRPr lang="ko-KR" smtClean="0"/>
      </a:lvl4pPr>
      <a:lvl5pPr lvl="4" marL="1828800" indent="0" defTabSz="914400">
        <a:defRPr lang="ko-KR" smtClean="0"/>
      </a:lvl5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.jpeg" TargetMode="Interna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.jpeg" TargetMode="Interna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.jpeg" TargetMode="Interna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.jpeg" TargetMode="Interna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.jpeg" TargetMode="Interna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.jpeg" TargetMode="Interna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.jpeg" TargetMode="Interna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.jpeg" TargetMode="Interna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.jpeg" TargetMode="Interna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.jpeg" TargetMode="Interna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.jpeg" TargetMode="Interna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.jpeg" TargetMode="Interna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.jpeg" TargetMode="Interna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.jpeg" TargetMode="Interna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.jpeg" TargetMode="Interna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.jpeg" TargetMode="Interna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.jpeg" TargetMode="Internal"></Relationship><Relationship Id="rId3" Type="http://schemas.openxmlformats.org/officeDocument/2006/relationships/image" Target="../media/fImage18.jpeg" TargetMode="Interna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.jpeg" TargetMode="Internal"></Relationship><Relationship Id="rId3" Type="http://schemas.openxmlformats.org/officeDocument/2006/relationships/image" Target="../media/fImage20.jpeg" TargetMode="Interna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.jpeg" TargetMode="Internal"></Relationship><Relationship Id="rId3" Type="http://schemas.openxmlformats.org/officeDocument/2006/relationships/image" Target="../media/fImage22.jpeg" TargetMode="Interna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.jpeg" TargetMode="Internal"></Relationship><Relationship Id="rId3" Type="http://schemas.openxmlformats.org/officeDocument/2006/relationships/image" Target="../media/fImage24.jpeg" TargetMode="Internal"></Relationship><Relationship Id="rId4" Type="http://schemas.openxmlformats.org/officeDocument/2006/relationships/image" Target="../media/fImage25.jpeg" TargetMode="Internal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6.jpeg" TargetMode="Interna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.jpeg" TargetMode="Internal"></Relationship><Relationship Id="rId3" Type="http://schemas.openxmlformats.org/officeDocument/2006/relationships/image" Target="../media/fImage28.jpeg" TargetMode="Interna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9.jpeg" TargetMode="Interna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.jpeg" TargetMode="Interna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1.jpeg" TargetMode="Interna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.jpeg" TargetMode="Interna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3.jpeg" TargetMode="Interna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4.jpeg" TargetMode="Interna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5.jpeg" TargetMode="Interna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.jpeg" TargetMode="Interna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7.jpeg" TargetMode="Internal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.jpeg" TargetMode="Interna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.jpeg" TargetMode="Interna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.jpeg" TargetMode="Internal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.jpeg" TargetMode="Internal"></Relationship></Relationships>
</file>

<file path=ppt/slides/_rels/slide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.jpeg" TargetMode="Internal"></Relationship></Relationships>
</file>

<file path=ppt/slides/_rels/slide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.jpeg" TargetMode="Internal"></Relationship></Relationships>
</file>

<file path=ppt/slides/_rels/slide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.jpeg" TargetMode="Internal"></Relationship></Relationships>
</file>

<file path=ppt/slides/_rels/slide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.jpeg" TargetMode="Internal"></Relationship></Relationships>
</file>

<file path=ppt/slides/_rels/slide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.jpeg" TargetMode="Internal"></Relationship></Relationships>
</file>

<file path=ppt/slides/_rels/slide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.jpeg" TargetMode="Internal"></Relationship></Relationships>
</file>

<file path=ppt/slides/_rels/slide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8.jpeg" TargetMode="Internal"></Relationship></Relationships>
</file>

<file path=ppt/slides/_rels/slide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9.jpeg" TargetMode="Internal"></Relationship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0.jpeg" TargetMode="Internal"></Relationship></Relationships>
</file>

<file path=ppt/slides/_rels/slide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1.jpeg" TargetMode="Internal"></Relationship></Relationships>
</file>

<file path=ppt/slides/_rels/slide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2.jpeg" TargetMode="Internal"></Relationship></Relationships>
</file>

<file path=ppt/slides/_rels/slide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3.jpeg" TargetMode="Internal"></Relationship></Relationships>
</file>

<file path=ppt/slides/_rels/slide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4.jpeg" TargetMode="Internal"></Relationship></Relationships>
</file>

<file path=ppt/slides/_rels/slide4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5.jpeg" TargetMode="Internal"></Relationship></Relationships>
</file>

<file path=ppt/slides/_rels/slide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6.jpeg" TargetMode="Internal"></Relationship><Relationship Id="rId3" Type="http://schemas.openxmlformats.org/officeDocument/2006/relationships/image" Target="../media/fImage57.jpeg" TargetMode="Internal"></Relationship><Relationship Id="rId4" Type="http://schemas.openxmlformats.org/officeDocument/2006/relationships/image" Target="../media/fImage58.jpeg" TargetMode="Internal"></Relationship><Relationship Id="rId5" Type="http://schemas.openxmlformats.org/officeDocument/2006/relationships/image" Target="../media/fImage59.jpeg" TargetMode="Internal"></Relationship><Relationship Id="rId6" Type="http://schemas.openxmlformats.org/officeDocument/2006/relationships/image" Target="../media/fImage60.jpeg" TargetMode="Internal"></Relationship></Relationships>
</file>

<file path=ppt/slides/_rels/slide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1.jpeg" TargetMode="Internal"></Relationship></Relationships>
</file>

<file path=ppt/slides/_rels/slide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2.jpeg" TargetMode="Internal"></Relationship></Relationships>
</file>

<file path=ppt/slides/_rels/slide5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3.jpeg" TargetMode="Internal"></Relationship></Relationships>
</file>

<file path=ppt/slides/_rels/slide5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4.jpeg" TargetMode="Internal"></Relationship></Relationships>
</file>

<file path=ppt/slides/_rels/slide5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5.jpeg" TargetMode="Internal"></Relationship></Relationships>
</file>

<file path=ppt/slides/_rels/slide5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6.jpeg" TargetMode="Internal"></Relationship></Relationships>
</file>

<file path=ppt/slides/_rels/slide5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7.jpeg" TargetMode="Internal"></Relationship></Relationships>
</file>

<file path=ppt/slides/_rels/slide5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8.jpeg" TargetMode="Internal"></Relationship></Relationships>
</file>

<file path=ppt/slides/_rels/slide5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9.jpeg" TargetMode="Internal"></Relationship><Relationship Id="rId3" Type="http://schemas.openxmlformats.org/officeDocument/2006/relationships/image" Target="../media/fImage70.jpeg" TargetMode="Internal"></Relationship><Relationship Id="rId4" Type="http://schemas.openxmlformats.org/officeDocument/2006/relationships/image" Target="../media/fImage71.jpeg" TargetMode="Internal"></Relationship><Relationship Id="rId5" Type="http://schemas.openxmlformats.org/officeDocument/2006/relationships/image" Target="../media/fImage72.jpeg" TargetMode="Internal"></Relationship><Relationship Id="rId6" Type="http://schemas.openxmlformats.org/officeDocument/2006/relationships/image" Target="../media/fImage73.jpeg" TargetMode="Internal"></Relationship><Relationship Id="rId7" Type="http://schemas.openxmlformats.org/officeDocument/2006/relationships/image" Target="../media/fImage74.jpeg" TargetMode="Internal"></Relationship></Relationships>
</file>

<file path=ppt/slides/_rels/slide6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5.jpeg" TargetMode="Internal"></Relationship></Relationships>
</file>

<file path=ppt/slides/_rels/slide6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6.jpeg" TargetMode="Internal"></Relationship></Relationships>
</file>

<file path=ppt/slides/_rels/slide6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7.jpeg" TargetMode="Internal"></Relationship></Relationships>
</file>

<file path=ppt/slides/_rels/slide6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8.jpeg" TargetMode="Internal"></Relationship><Relationship Id="rId3" Type="http://schemas.openxmlformats.org/officeDocument/2006/relationships/image" Target="../media/fImage79.jpeg" TargetMode="Internal"></Relationship></Relationships>
</file>

<file path=ppt/slides/_rels/slide6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0.jpeg" TargetMode="Internal"></Relationship></Relationships>
</file>

<file path=ppt/slides/_rels/slide6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1.jpeg" TargetMode="Internal"></Relationship></Relationships>
</file>

<file path=ppt/slides/_rels/slide6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2.jpeg" TargetMode="Internal"></Relationship></Relationships>
</file>

<file path=ppt/slides/_rels/slide6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3.jpeg" TargetMode="Internal"></Relationship></Relationships>
</file>

<file path=ppt/slides/_rels/slide6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4.jpeg" TargetMode="Internal"></Relationship></Relationships>
</file>

<file path=ppt/slides/_rels/slide6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5.jpeg" TargetMode="Internal"></Relationship></Relationships>
</file>

<file path=ppt/slides/_rels/slide7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6.jpeg" TargetMode="Internal"></Relationship></Relationships>
</file>

<file path=ppt/slides/_rels/slide7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7.jpeg" TargetMode="Internal"></Relationship></Relationships>
</file>

<file path=ppt/slides/_rels/slide7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8.jpeg" TargetMode="Internal"></Relationship></Relationships>
</file>

<file path=ppt/slides/_rels/slide7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9.jpeg" TargetMode="Internal"></Relationship></Relationships>
</file>

<file path=ppt/slides/_rels/slide7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0.jpeg" TargetMode="Internal"></Relationship></Relationships>
</file>

<file path=ppt/slides/_rels/slide7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1.jpeg" TargetMode="Internal"></Relationship></Relationships>
</file>

<file path=ppt/slides/_rels/slide7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2.jpeg" TargetMode="Internal"></Relationship></Relationships>
</file>

<file path=ppt/slides/_rels/slide7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3.jpeg" TargetMode="Internal"></Relationship></Relationships>
</file>

<file path=ppt/slides/_rels/slide7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4.jpeg" TargetMode="Internal"></Relationship></Relationships>
</file>

<file path=ppt/slides/_rels/slide7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5.jpeg" TargetMode="Internal"></Relationship></Relationships>
</file>

<file path=ppt/slides/_rels/slide8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6.jpeg" TargetMode="Internal"></Relationship></Relationships>
</file>

<file path=ppt/slides/_rels/slide8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7.jpeg" TargetMode="Internal"></Relationship></Relationships>
</file>

<file path=ppt/slides/_rels/slide8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8.jpeg" TargetMode="Internal"></Relationship></Relationships>
</file>

<file path=ppt/slides/_rels/slide8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9.jpeg" TargetMode="Internal"></Relationship></Relationships>
</file>

<file path=ppt/slides/_rels/slide8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0.jpeg" TargetMode="Internal"></Relationship></Relationships>
</file>

<file path=ppt/slides/_rels/slide8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1.jpeg" TargetMode="Internal"></Relationship></Relationships>
</file>

<file path=ppt/slides/_rels/slide8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2.jpeg" TargetMode="Internal"></Relationship></Relationships>
</file>

<file path=ppt/slides/_rels/slide8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3.jpeg" TargetMode="Internal"></Relationship></Relationships>
</file>

<file path=ppt/slides/_rels/slide8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4.jpeg" TargetMode="Internal"></Relationship><Relationship Id="rId3" Type="http://schemas.openxmlformats.org/officeDocument/2006/relationships/image" Target="../media/fImage105.jpeg" TargetMode="Internal"></Relationship><Relationship Id="rId4" Type="http://schemas.openxmlformats.org/officeDocument/2006/relationships/image" Target="../media/fImage106.jpeg" TargetMode="Internal"></Relationship><Relationship Id="rId5" Type="http://schemas.openxmlformats.org/officeDocument/2006/relationships/image" Target="../media/fImage107.jpeg" TargetMode="Internal"></Relationship><Relationship Id="rId6" Type="http://schemas.openxmlformats.org/officeDocument/2006/relationships/image" Target="../media/fImage108.jpeg" TargetMode="Internal"></Relationship></Relationships>
</file>

<file path=ppt/slides/_rels/slide8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9.jpeg" TargetMode="Internal"></Relationship><Relationship Id="rId3" Type="http://schemas.openxmlformats.org/officeDocument/2006/relationships/image" Target="../media/fImage110.jpeg" TargetMode="Internal"></Relationship><Relationship Id="rId4" Type="http://schemas.openxmlformats.org/officeDocument/2006/relationships/image" Target="../media/fImage111.jpeg" TargetMode="Internal"></Relationship><Relationship Id="rId5" Type="http://schemas.openxmlformats.org/officeDocument/2006/relationships/image" Target="../media/fImage112.jpeg" TargetMode="Internal"></Relationship></Relationships>
</file>

<file path=ppt/slides/_rels/slide9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3.jpeg" TargetMode="Internal"></Relationship></Relationships>
</file>

<file path=ppt/slides/_rels/slide9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4.jpeg" TargetMode="Internal"></Relationship></Relationships>
</file>

<file path=ppt/slides/_rels/slide9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5.jpeg" TargetMode="Internal"></Relationship></Relationships>
</file>

<file path=ppt/slides/_rels/slide9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6.jpeg" TargetMode="Internal"></Relationship></Relationships>
</file>

<file path=ppt/slides/_rels/slide9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7.jpeg" TargetMode="Internal"></Relationship></Relationships>
</file>

<file path=ppt/slides/_rels/slide9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8.jpeg" TargetMode="Internal"></Relationship></Relationships>
</file>

<file path=ppt/slides/_rels/slide9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19.jpeg" TargetMode="Internal"></Relationship></Relationships>
</file>

<file path=ppt/slides/_rels/slide9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0.jpeg" TargetMode="Internal"></Relationship></Relationships>
</file>

<file path=ppt/slides/_rels/slide9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1.jpeg" TargetMode="Internal"></Relationship></Relationships>
</file>

<file path=ppt/slides/_rels/slide9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2.jpeg" TargetMode="Internal"></Relationship></Relationships>
</file>

<file path=ppt/slides/_rels/slide10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3.jpeg" TargetMode="Interna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EVOLUTION OF MASS MEDIA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pictures were first used to convey the messages.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century in Europe.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imperialism was in rule. The rulers were using Church in Europe as an authority over people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convey any message. Because Church was the only platform that was influential and was in reach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and government. So most of the times Church was considered the first platform of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their rule. The rulers presumed that people would become aware of their rights and they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challenge the authority. So most of the rulers in Europe took it as a revolt and declared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punishment for the persons involved in Mass Media. In 1663, the last capital punishment was given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 publisher because he published a book of an anonymous writer. This book contained the idea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rulers are accountable for their deeds and decisions to the masses and if any ruler does not feel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himself accountable then masses have the right to overthrow his rule. This was the last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punishment that was awarded in the history of England.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the societies and most of the newspapers were read by the elite class because state was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responsible for the education of the masses and elites had a privilege to get private education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arranged tutors.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mostly read by the employees of the East-India company. In 1757 when East India Company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conquered Bengal, there were one lac informal institutions that were either run by Hindu Pandits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Muslim Ulamas. So publishing papers entirely in English language means that they ignored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factor of local educated people. Later on the English papers started to publish in Madras, Bombay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Calcutta because East India Company offices were in all these cities. So, it proved that publish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this paper was entirely for Company employees and not for the local Indians.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them and they started to think to impose press laws to outclass local papers. Therefore,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1823 Press Act came to suppress Urdu press and it was made compulsory that the name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Editor, Publisher and Owner along with the address should be on the first page of the newspaper.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 that the government can recognize the authority of these papers. It was named as Press &amp;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Publication Ordinance (PPO). So, the era before the division of India was a tough one for the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as many press owners and editors faced punishments several times under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ordinance. </a:t>
            </a:r>
            <a:endParaRPr lang="ko-KR" altLang="en-US" dirty="0" smtClean="0" sz="1097"/>
          </a:p>
          <a:p>
            <a:pPr marL="0" indent="0" defTabSz="15240" algn="l">
              <a:lnSpc>
                <a:spcPts val="20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3" name="Rect 3"/>
          <p:cNvSpPr>
            <a:spLocks noGrp="1" noChangeArrowheads="1"/>
          </p:cNvSpPr>
          <p:nvPr/>
        </p:nvSpPr>
        <p:spPr>
          <a:xfrm rot="0">
            <a:off x="1645920" y="1112520"/>
            <a:ext cx="545719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oldest mass medium is print media. Human history gives us a clue that posters, banners and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the 10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handmade press was first established. Book printing was started in 15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&amp; 16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endParaRPr lang="ko-KR" altLang="en-US" dirty="0" smtClean="0" sz="70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Mass Media at first faced a lot of restrictions because when mass media emerged at that time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emergence of Print Media created doubts in the minds of the rulers and they took it as a threat </a:t>
            </a:r>
            <a:endParaRPr lang="ko-KR" altLang="en-US" dirty="0" smtClean="0" sz="1097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Print media could not get its full growth till the 18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as illiteracy was the major problem in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the sub-continent East India Company started some papers that were in English language and </a:t>
            </a:r>
            <a:endParaRPr lang="ko-KR" altLang="en-US" dirty="0" smtClean="0" sz="1097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1822, first Urdu paper named Jam-e-Jahanuma emerged and English rulers took it as a threat </a:t>
            </a:r>
            <a:endParaRPr lang="ko-KR" altLang="en-US" dirty="0" smtClean="0" sz="1097"/>
          </a:p>
          <a:p>
            <a:pPr marL="0" indent="0" defTabSz="15240" algn="l">
              <a:lnSpc>
                <a:spcPts val="29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EMERGENCE &amp; ROLE OF PRINT MEDIA IN THE SUB-CONTINENT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 be denied from the basic rights. It also gave the idea of respect to everyone. The same idea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came in the sub-continent when people became aware of their rights. So, this awareness led them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have their own press and their own 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simple in its style. There was no concept of headlines, format settings and catch lines.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 was just in a story form.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soon these newspapers started to condemn the brutalities of East India Company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started to become aware of the callous attitude of the Englishmen. So this emergence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 Media started a concept of unity. Because now a person of Bengal and Lahore can well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assume the critical situation regarding the atrocities of the Englishmen.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East India Company. Till 1857, this practice continued. In Oct 1857 Delhi fall occurred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Englishmen took control of the entire India. After one year a report for the causes of the revolt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sent to the Queen Victoria by the appointed commission. This report also blamed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Indian papers and Molvi M, Baqar, who was printing Sadiq-ul-Akhbar, was given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punishment.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people of India as the slaves of the colony. This created a sense of inferiority among the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they got the idea that they are under a constant suppression. In the mean while Sir Syed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Ahmed Khan started reformation and he assured the people that suppression could be ended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just getting modern education and Muslims were not in a position to afford any conflict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rulers. On the other hand, he assured Englishmen that Muslims were not only responsible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revolt but it was done by all the natives collectively so to target Muslims was not the best idea. Sir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Syed was not a professional journalist but he used print media to educate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incidents like World War1 occurred on international arena in which Muslims of the Sub-continent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having sympathies with Turks because of the Caliph and Turks were fighting against England.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Therefore, British Govt. kept a close eye on Indian press and never allowed to publish anything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the interest of the rulers.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 media. Maulana Zafar Ali Khan, Maulana Muhammad Ali Johar and Maulana Hasrat Mohani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the famous names of that era. These people never cared about the ferocious laws of British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and they continued their work. Zimindar that was published by Maulana Zafar Khan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faced several time bans but it continued to print and gained much popularity among people.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brave stance of Journalism in the history of Print Media of Sub-continent is knows as Militant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Journalism.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Dawn from Delhi that was later shifted to Karachi after communal violence. Similarly the Urdu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daily ‘Manshoor’ and weekly ‘Aaj- Kal’ were printed in the same age. In the same era Jang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Delhi started to publish and Nawa-i-Waqat from Lahore. ‘Inqalab’ was representing Uninest party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Lahore but after Pakistan Resolution it started to portray Muslim League stance.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homeland where Muslims can save themselves from cultural eclipse of the dominating Hindu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majority. </a:t>
            </a:r>
            <a:endParaRPr lang="ko-KR" altLang="en-US" dirty="0" smtClean="0" sz="1097"/>
          </a:p>
          <a:p>
            <a:pPr marL="0" indent="0" defTabSz="15240" algn="l">
              <a:lnSpc>
                <a:spcPts val="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6" name="Rect 3"/>
          <p:cNvSpPr>
            <a:spLocks noGrp="1" noChangeArrowheads="1"/>
          </p:cNvSpPr>
          <p:nvPr/>
        </p:nvSpPr>
        <p:spPr>
          <a:xfrm rot="0">
            <a:off x="1197610" y="1112520"/>
            <a:ext cx="580771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emergence of democratic societies asserted that knowledge is the right of everyone and no one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Print media in the sub-continent carried the same style as of English newspapers and it was very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emergence of print media in the sub-continent was an ill omen for the East India Company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Urdu papers of Lucknou and Delhi adopted a harsh stance and strong words were used </a:t>
            </a:r>
            <a:endParaRPr lang="ko-KR" altLang="en-US" dirty="0" smtClean="0" sz="1097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1858, Queen Victoria declared India as a colony and the Police Act of 1861 was introduced for </a:t>
            </a:r>
            <a:endParaRPr lang="ko-KR" altLang="en-US" dirty="0" smtClean="0" sz="1097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After the abrogation of Bengal Division Muslims became more aware of their rights and also some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Despite, the punishments Muslims continued to work for presented and adopted a bold stance in </a:t>
            </a:r>
            <a:endParaRPr lang="ko-KR" altLang="en-US" dirty="0" smtClean="0" sz="1097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Quaid-e-Azam after Pakistan Resolution paid special attention to print media and he published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1937, Progressive Papers Ltd started Pakistan Times in Lahore by Mian Iftikhar.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All these above newspapers played a vital role in awakening people for the struggle of Pakistan as a </a:t>
            </a:r>
            <a:endParaRPr lang="ko-KR" altLang="en-US" dirty="0" smtClean="0" sz="1097"/>
          </a:p>
          <a:p>
            <a:pPr marL="0" indent="0" defTabSz="15240" algn="l">
              <a:lnSpc>
                <a:spcPts val="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MASS MEDIA AFTER INDEPENDENCE &amp; AYUB KHAN’S ERA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independence there was no organized structure for mass communication in Pakistan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were few radio stations that were functional. The Radio station of Peshawar was built in 1927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it was under agriculture department used to give instructions to the farmers.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the establishment of Pakistan it was expected that there would be a shift in the print media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it would be far better from the age of colonialism. But the problems at the time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independence were so grave like the problem of refugees, lack of infra structure, absence of official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machinery and  lack of administration that government remained  disheveled and so as the print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media. Therefore, it was very unfortunate for the mass media that it could not bear any change.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Law and order situation of the country hindered the freedom of press.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of the newspapers that were in Delhi prior to independence were shifted to Karachi while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papers of Lahore continued to work in their normal routine. However, some civil and military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gazettes were printed in English.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‘Imroz’ started its publication and for the first time this paper collected a good team in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prominent personalities like Abdullah Malik, Faiz Ahmed Faiz, and Chragh Hassan Hasrat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came under one roof. So ‘Imroz’ very quickly attained a reputable place in the leading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1953 ‘Kohistan’ was published by a famous novel writer Nasim Hijazi in Rawalpindi. This paper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gave a new trend to publications by starting Offset printing method instead of Litho printing.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was a big problem in offset printing method that pictures could not be printed in this sort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typing. So till 1953, before the arrival of Litho printing there was no photo journalism.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1953, communal riots between Muslims and Ahmedis started and a commission was appointed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investigate the causes. The members of the commission were Justice Munir Ahmed and justice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Kiyyani and after sometime the commission published its findings and it blamed newspapers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provoking the emotions of the people for communal riots.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Till 1957 media was free in Pakistan and there were only 60 cases that were registered in the entire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 in which actions were taken against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1960 Magazines were replaced by ‘Digests’ that were influenced by western style.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Progressive Papers Ltd. Published Lail-O-Nehar, Imroze, Pakistan Times and the literary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personalities attached with Progressive Papers Ltd. started Progressive movement in literature.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that time there was a shift in the government and Gen M. Ayub Khan took control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 as President of Pakistan and imposed Martial Law. So the progressive movement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unacceptable for government. Therefore, government took over Progressive Papers Ltd.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were two independent news agencies APP (Associated Press of Pakistan) and PPI (Pakistan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International) were working in the country. Martial Law government also took over those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agencies. Ayub government also bound international news agencies that they will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distribute news and reports directly to the radio and other newspapers. So government took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complete hold over all the news resources and the freedom of press was totally abolished.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National Press Trust was established by the government and government took the stance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trust will look after or take over those newspapers that are suffering from financial crisis. 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gradually till 1960, it took over almost 60% renowned newspapers of the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9" name="Rect 3"/>
          <p:cNvSpPr>
            <a:spLocks noGrp="1" noChangeArrowheads="1"/>
          </p:cNvSpPr>
          <p:nvPr/>
        </p:nvSpPr>
        <p:spPr>
          <a:xfrm rot="0">
            <a:off x="6903720" y="9540240"/>
            <a:ext cx="1016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04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ROLE OF PAKISTANI MASS MEDIA IN AYUB KHAN’S ERA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1961, Press laws were reformed and all the newspapers strongly condemned that move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demanded that Ayub government should revise it. So in 1963, government revised it but still it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without much flexibility.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the Press Act of 1823, declaration was submitted to the government official (Deputy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Commissioner) who was not supposed to decline it as it was not considered a license. Ayub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announced that Deputy Commissioner had the right to refuse the declaration so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time it was treated as a license. It was a strong check against anti-government newspapers.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District Magistrates started a practice with the support of government to gather secret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regarding the person who filed the declaration. So it became a common practice that the applicant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blamed in any charge by the Commissioner and he gave a verdict against him. This was against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ethics of law that Commissioner was given the right to blame and also to make a decision.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plays a major role in profit taking of newspapers and government sector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advertisements are very important for any newspaper. Governments usually use this policy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pressurize newspapers and governments do not give advertisements to anti-government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newspapers. Ayub government also used this famous tool to manipulate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Pakistan almost all the printing material is imported and import license is required to import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materials. Ayub government restricted the quantity of import material for anti-government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to pressurize them and to stop their circulation on a large scale.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1965 war, radio, television and newspapers supported government stance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unrealistic and exaggerated stance regarding the victory in war was presented to the people.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Tashqand agreement was signed in Jan 1966 and people protested against it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was declaring it as victory and Tashqand was humiliation in the eyes of the people. 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protests against government started and a student died. This helped to build a mass movement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the government and ultimately it ended on the resign of Gen Ayub Khan in March 1969.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a direct result of a wrong media policy by hiding facts from the 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celebrated “A decade of development” in 1968 and radio television and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used as mouth piece of government.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 media is a source by which rulers can well understand what people think and what they want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it plays a role of a watchdog. They give direct response to government policies because they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directly affected by that policy. Ayub Khan closed that channel so government remained blind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opinion and it resulted in severe hatred against government policies which ultimately lead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fall of Ayub Khan. </a:t>
            </a:r>
            <a:endParaRPr lang="ko-KR" altLang="en-US" dirty="0" smtClean="0" sz="1097"/>
          </a:p>
          <a:p>
            <a:pPr marL="0" indent="0" defTabSz="15240" algn="l">
              <a:lnSpc>
                <a:spcPts val="2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2" name="Rect 3"/>
          <p:cNvSpPr>
            <a:spLocks noGrp="1" noChangeArrowheads="1"/>
          </p:cNvSpPr>
          <p:nvPr/>
        </p:nvSpPr>
        <p:spPr>
          <a:xfrm rot="0">
            <a:off x="6903720" y="9540240"/>
            <a:ext cx="1016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05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CHANGES IN MASS MEDIA IN AYUB’S ERA AND ITS IMPACTS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focus on politics since 1857 in Indo-Pak. So to maintain the interest of the readers in the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a big challenge as martial law government put ban on all political news.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supplements like Sports Supplements, Women Supplement, and Youth Supplement etc. So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focus shifted to social life. In the mean while ‘Imroz’ hired a woman reporter and started to publish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article on the problems of women and its title was “Khatoon ki Nazar Main”. Imroz was the first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 to introduce such trends in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glamorous journalism. It also created a bad impact on those magazines that were purely film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magazines. So with the variety of film pages in daily newspapers, the purely film based magazines just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disappeared gradually because they lost leadership.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aspects.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writing for the newspapers without any financial gain. Television ended this trend and they were paid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writing anything for the television. So they stopped writing for the newspapers and gradually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lost readership.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supplements where all the material for different age group people was present in one single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policy of government but also papers felt themselves secure after portraying government point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view.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terms of journalism. Official statements are subjective while news should be objective. Also, a page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represent subjective opinion is present and it is called Editorial page. So the official statements should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cover the major portion of the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citizen but it also means a specific group of people. There are three different terms that are used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frequently in the mass medium namely, Mob, Mass and Public.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Mob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is a result of an immediate problem. When the problem will not be there mob will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be there. Secondly the people in a crowd or in a mob have no link with each other.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gathered quickly without any plan on a problem. Thirdly, they have no resemblance among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each other of income, status and intelligence.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Mass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have the same reaction about like and dislike but it is not a deliberate effort. For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reading of a famous daily by 1 million people is a similarity of liking but they did not start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deliberately. It is by chance that their liking matched among themselves.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Public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is a group of people that emerged after an effort. Paper builds opinion so its audience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called public. Public opinion is never unanimous. Sometimes even the opinion of minorities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prevails as public opinion. Public opinion is the opinion of those people who assert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opinion by using different communication techniques. Any opinion to become public opinion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must be apparent. So public opinion should be expressive.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 in a nut shell we can say that papers of Ayub’s era were not to build a public opinion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were for masses to assert the news of government policies. </a:t>
            </a:r>
            <a:endParaRPr lang="ko-KR" altLang="en-US" dirty="0" smtClean="0" sz="1097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5" name="Rect 3"/>
          <p:cNvSpPr>
            <a:spLocks noGrp="1" noChangeArrowheads="1"/>
          </p:cNvSpPr>
          <p:nvPr/>
        </p:nvSpPr>
        <p:spPr>
          <a:xfrm rot="0">
            <a:off x="1417320" y="1112520"/>
            <a:ext cx="568579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Ayub’s age newspapers faced a big challenge because newspapers were habitual of keeping their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This resulted in an effort on the behalf of newspapers to seek other topics and they started to publish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After the efforts of ‘Imroz’, Mashriq and Kohistan from Lahore started to publish women Pages.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Feature writing also got a new dimension. The features along with the pictures were printed.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Some newspapers got the attention of the public by publishing film pages and film bulletins. It gave rise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trend also shifted to weekly and episodically features. These features covered the social and cultural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entry of television affected the readership of the newspapers. Because poets and writers were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Periodical journalism also went to decline because all the newspapers gradually started to publish in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Official statements of government ministers replaced the touch of political news not only it highlighted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Even today newspapers present government ministers statements but this is not a healthy trend in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newspaper is for public and it is a device to build public opinion. The term ‘Public’ does not mean </a:t>
            </a:r>
            <a:endParaRPr lang="ko-KR" altLang="en-US" dirty="0" smtClean="0" sz="1097"/>
          </a:p>
          <a:p>
            <a:pPr marL="0" indent="0" defTabSz="15240" algn="l">
              <a:lnSpc>
                <a:spcPts val="2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06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ROLE OF MASS MEDIA IN GENERAL YAHYA’S ERA AND ITS RESULT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parliamentary system, Direct elections, Revival of trade unions and Student unions. He also broke 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unit and accepted the right of representation on the basis of population.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election campaign changed the environment and a political rivalry started and all the sixty three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parties launched their campaign immediately. In this situation, Mass media did not show sense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responsibility and most of the news that were reported by the papers were just those in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politicians blamed each other for being a traitor. The newspapers reported rumours, speculations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just predictions that were truly against the spirit of journalism. It was also against the universal code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conduct of journalism.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growth of newspapers was seen. As a result many ban newspapers started their publications again. 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started to give the support to politicians without thinking whether it is a healthy move or not.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created a very partial and electrified situation came into being.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impression that they would easily win elections but elections showed different results. It proved that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mass media did not perform the impartial role in the elections .Awami League in Eastern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PPP in West Pakistan got victory while newspapers showed that these parties would face a defeat.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 one sided stance was given to public and they were not mentally ready for that change. Keeping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view such an attitude in Aug 1969, Musawat started its publication to represent Pakistan Peoples Party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other newspapers were not giving proper coverage to this party. Similarly, Jamat-i- Islami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started two newspapers one was ‘Kohistan’ and the second was ‘Jasarat’. Kohistan due to some reasons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stopped its publications while ‘Jasarat’ is still printing from Karachi.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Awami League will win elections in East Pakistan and PPP in West Pakistan. So that was a realistic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picture of that era.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what changes were coming in the minds of the people of East Pakistan, and what was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magnitude of the political anger. Therefore people remained uninformed so they could not pressurize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government to transfer power to ‘Awami League’ and ultimately government was unable to take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right decisions and the right time.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would be held in Dhaka. Pakistan Peoples Party threatened to boycott the first session of the assembly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unless their demands are entertained. Sixty other independent candidates of West Pakistan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boycotted the first session. So General Yahya postponed the session of National Assembly. Awami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League strongly protested against that decision and on 7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March they declared non cooperation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movement. At that time it was the duty of the newspapers to inform the people about the entire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situation but they just portrayed the government stance saying, “Everything is fine”. The military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decided army action rather than a dialogue process. Awami League was banned and leaders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arrested. The constant strike paralyzed government machinery in East Pakistan. An attempt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made to run the Eastern Part of the country by sending essential staff members of the state department.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Papers remained silent and they neither persuaded people that a political move should be opted nor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pressurized government for dialogue. So ultimately all efforts of military action resulted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separation of East Pakistan as an independent state of Bangladesh.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wings of the country. Only English was a source of communication while a lot of population was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able to understand English language. The readership of the English newspapers was very limited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Urdu newspapers were not performing their role so the tragedy of life time could not be stopped.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was aware of their duties at that time it might never happen.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8" name="Rect 3"/>
          <p:cNvSpPr>
            <a:spLocks noGrp="1" noChangeArrowheads="1"/>
          </p:cNvSpPr>
          <p:nvPr/>
        </p:nvSpPr>
        <p:spPr>
          <a:xfrm rot="0">
            <a:off x="960120" y="1112520"/>
            <a:ext cx="604520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General Yahya agreed to all those demands presented by different sections of the society. He revived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announcement of elections was made in May, 1969 that elections would be held in Dec 1970. So </a:t>
            </a:r>
            <a:endParaRPr lang="ko-KR" altLang="en-US" dirty="0" smtClean="0" sz="1097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Press and Publication Ordinance (PPO) were not used by the Yahya government. So a mushroom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National Press Trust owned by the government was favoring rightists and mass media was giving </a:t>
            </a:r>
            <a:endParaRPr lang="ko-KR" altLang="en-US" dirty="0" smtClean="0" sz="1097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There was only one newspaper ‘Azad’ in West Pakistan that played a fair role in the elections. It showed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Mass media trains the people but unfortunately in 1970, Pakistani media failed to inform the people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General Yahya Khan announced that on 3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rd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March the introductory session of National Assembly </a:t>
            </a:r>
            <a:endParaRPr lang="ko-KR" altLang="en-US" dirty="0" smtClean="0" sz="1097"/>
          </a:p>
          <a:p>
            <a:pPr marL="0" indent="0" defTabSz="15240" algn="l">
              <a:lnSpc>
                <a:spcPts val="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Language barrier between East Pakistan and West Pakistan hindered communication between the two </a:t>
            </a:r>
            <a:endParaRPr lang="ko-KR" altLang="en-US" dirty="0" smtClean="0" sz="1097"/>
          </a:p>
          <a:p>
            <a:pPr marL="0" indent="0" defTabSz="15240" algn="l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EXPECTED ROLE OF MASS MEDIA IN CRISIS OF 1971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territory of a hostile country India was present between the two wings. It created a wider gap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understanding of the people of the two wings and there was never an effort to develop a collective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approach in between the two sections of the country. Even the newspapers remained fail to develop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 consensus among the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left to right. On the other hand Urdu was widely understood in the West Pakistan. Its script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derived from Arabic and Persian and it was written from right to left. So the only medium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between the two wings was English language and also this language was understood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very small number of people. Similarly there were very few English newspapers that were published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both the wings as they had a very low percentage of readers. The famous newspapers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Observer from Dhaka, Morning News from Dhaka, Dawn and Pakistan Times from Karachi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Lahore respectively. The area of influence of these newspapers was very small so they can never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communicate a true feeling among the people of both wings of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man. So a very few no of people ever got a chance to interact among themselves by visiting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areas.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life but these were the areas where East Pakistan and West Pakistan had no unanimity.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province and it consisted of the 56% population of the entire country. So after independence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immediately Urdu was declared as the national language Bengalis protested a lot against that decision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after 7 years of agitation Bengali was accepted as second official language of the country. Pakistani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never talked about that demand of Eastern Pakistan. The newspapers never wrote even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single article that Bengali demand was justified. Even some of the newspapers of West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declared that the people who were against Urdu were disloyal. It was the negative attitude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newspapers. Bengali was an old language and Urdu was a comparatively new language and it had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nothing to do with the loyalty. So this stance of newspapers further segregated people of both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wings.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1956 new constitution was made and it proved workable for 2 years only. In 1962, there came a 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constitution and in this constitution the West Pakistan was combined to one unit. Both wings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given equal representation. This was the exploitation of East Pakistan and it made them more annoyed.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 federation system it is never possible that all the federating units have the uniform population. 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usually in such a situation Bicameral System. One platform for population representation and the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equal representation. This policy was delayed in Pakistan and East Pakistan had to face the greater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new capital strengthens their perception.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Pakistanis. The decision of military operation 1000 miles away without any land contact was also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feasible. Gradually Bengalis started Mukti Bahni (Liberation Front) and it was supported by the India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made it very difficult for an isolated army to win the war of 1971 as army was fighting on two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fronts. On inner front it was facing Liberation Front and outside India started war to make things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complicated and ultimately Pak Army lost the battle ground.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Pakistanis were deprived of from their right to know and ultimately they cannot use the right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express. By knowing correct information people can opt right stand but unfortunately that was denied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Pakistanis and common man remained unaware till the last moment of the tragedy of East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silence of press made misery the destiny of people. </a:t>
            </a:r>
            <a:endParaRPr lang="ko-KR" altLang="en-US" dirty="0" smtClean="0" sz="109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1" name="Rect 3"/>
          <p:cNvSpPr>
            <a:spLocks noGrp="1" noChangeArrowheads="1"/>
          </p:cNvSpPr>
          <p:nvPr/>
        </p:nvSpPr>
        <p:spPr>
          <a:xfrm rot="0">
            <a:off x="1417320" y="1112520"/>
            <a:ext cx="568579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geographical borders of East Pakistan and West Pakistan were never joined. More importantly the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East Pakistanis had Bengali as their local language. Bengali had the Sanskrit script and was written from </a:t>
            </a:r>
            <a:endParaRPr lang="ko-KR" altLang="en-US" dirty="0" smtClean="0" sz="1097"/>
          </a:p>
          <a:p>
            <a:pPr marL="0" indent="0" defTabSz="15240" algn="l">
              <a:lnSpc>
                <a:spcPts val="1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PIA was the only air line to bride up the gap of two wings but its fare was not in the reach of a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National identity is always on communication, Common literature, Common culture and daily aspects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Bengalis had many complaints against the rulers since the independence. East Pakistan was the biggest </a:t>
            </a:r>
            <a:endParaRPr lang="ko-KR" altLang="en-US" dirty="0" smtClean="0" sz="1097"/>
          </a:p>
          <a:p>
            <a:pPr marL="0" indent="0" defTabSz="15240" algn="l">
              <a:lnSpc>
                <a:spcPts val="1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Constitutional problem was also a very big problem because the first constitution was delayed and in </a:t>
            </a:r>
            <a:endParaRPr lang="ko-KR" altLang="en-US" dirty="0" smtClean="0" sz="1097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Bengalis were getting the impression that all the wealth is spent in West Pakistan only. The construction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most popular political party of Awami League was banned in 1970. It further infuriated East </a:t>
            </a:r>
            <a:endParaRPr lang="ko-KR" altLang="en-US" dirty="0" smtClean="0" sz="1097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all these miserable circumstances the newspapers never gave a true picture to the people of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08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ROLE OF MASS MEDIA AFTER THE CRISIS OF 1971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approach of the people, economic crisis and tarnished reputation of Pakistan in the community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public after the crisis of East Pakistan. Therefore, General Yahya decided to handover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Pakistan Peoples Party because it was the largest political party in the West Pakistan in 1970. So Mr.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Zulfiqar Ali Bhutto took the oath as president and the martial law administrator. The role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was very critical in this age because they encouraged the people and gave them the self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belief.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had failed badly. Even the Indian Prime Minister Indra Ghandi said, “Two Nation theory is buried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in the gulf of Bengal”. In this scenario people started to think that probably it was the decline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Ideology after the fall of Dhaka. However, all the newspapers splendidly defended the stance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Pakistan and assured people that separation of Pakistan was a political failure it never meant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ideology or philosophy of Pakistan was no more.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nationalization of the major industries helped in boosting the confidence of the laborers and land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reforms boosted the confidence of the farmers.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the Muslim Countries. All the 40 members of Islamic countries participated in that and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important decisions were taken in that conference. This conference was also held at a very crucial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in 1973, Egypt defeated Israel in war and Arab countries got the confidence for the first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they were in a position to defeat Israel. So all the Muslim countries who were the members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OPEC decided that they would not sell oil to friendly countries of Israel. This decision shook the entire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West and oil was the major source of energy for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positive and appreciable way. This was the positive role of the Pakistani mass medium that helped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to regain its prominent position in the Islamic World. The live telecast of OIC was made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many languages the special programs were telecasted.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International News Agency (IINA). The wealthy Muslim countries like Kuwait, Saudi Arabia and Libya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promised to provide the major share of funds for that.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nuclear technology. The bitter history of relations between Pakistan and India compelled Pakistan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take that decision. Western world did not like that decision because the session of success and the unity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Islamic countries made Western countries doubtful about the role of Pakistan and they started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criticize the decision. However, Pakistani newspapers published so many articles in which they justified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need of Nuclear weapons. In their publications they addressed the West and masses of Pakistan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nuclear armaments are the need of Pakistan. It is an essential for the security of Pakistan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cannot face threats like the separation of East Pakistan everyday. </a:t>
            </a:r>
            <a:endParaRPr lang="ko-KR" altLang="en-US" dirty="0" smtClean="0" sz="1097"/>
          </a:p>
          <a:p>
            <a:pPr marL="0" indent="0" defTabSz="15240" algn="l">
              <a:lnSpc>
                <a:spcPts val="1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4" name="Rect 3"/>
          <p:cNvSpPr>
            <a:spLocks noGrp="1" noChangeArrowheads="1"/>
          </p:cNvSpPr>
          <p:nvPr/>
        </p:nvSpPr>
        <p:spPr>
          <a:xfrm rot="0">
            <a:off x="960120" y="1112520"/>
            <a:ext cx="604520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There were many problems Pakistan faced after the separation of East Pakistan like the Pessimistic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There was a dead silence on the political arena as no political leader has the heart to come out and face </a:t>
            </a:r>
            <a:endParaRPr lang="ko-KR" altLang="en-US" dirty="0" smtClean="0" sz="1097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this critical era, Indian mass media started to propagate that Two Nation theory had no grounds and </a:t>
            </a:r>
            <a:endParaRPr lang="ko-KR" altLang="en-US" dirty="0" smtClean="0" sz="1097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economic problem was solved by the aid of Libya and Saudi Arabia. Also the policy of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Second Islamic Conference was held in 1974 in Lahore and it helped to revive the image of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Pakistani mass media during the OIC session portrayed the feelings of Muslim Ummah in a very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Muslim countries in the session of OIC in 1974, also decided to establish a news agency named Islamic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1974, India also tested nuclear devices. Z. A. Bhutto declared that Pakistan would also acquire </a:t>
            </a:r>
            <a:endParaRPr lang="ko-KR" altLang="en-US" dirty="0" smtClean="0" sz="1097"/>
          </a:p>
          <a:p>
            <a:pPr marL="0" indent="0" defTabSz="15240" algn="l">
              <a:lnSpc>
                <a:spcPts val="2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09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ROLE OF MASS MEDIA IN THE ERA OF 1977 TO 1988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major contribution of PPP rule of 1972 was to develop a unified constitution that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accepted by all the political parties present in the National Assembly. Pakistan is a federation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federation always faces a problem of representation. In Pakistan this problem was solved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introducing bicameral political system and Parliament was divided in National Assembly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(representation on the basis of population) and Parliament (Equal representation). This move gave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confidence to the smaller federating units that they would not be exploited by the influence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larger population units.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era Mass media created awareness about the approved constitution and gave them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realization that the new constitution is the best one considering the circumstances of Pakistan.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a positive contribution on the behalf of the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Zulfiqar Ali Bhutto also signed Shimla agreement with the Indian Government and 93000 Pakistani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army prisoners were released and Indian media started propaganda and they started to give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impression that Shimla agreement recognized Kashmir Issue as a bilateral issue between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India and it can not be raised on any international forum. Pakistani media clarified the vision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people that there is no such clause included in the Shimla accord. It was the best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agreement that was signed.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Elections were held in 1977 and Opposition parties made an alliance PNA (Pakistan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Alliance) in which 8 Pakistani political parties and 1 was from Azad Jammu Kashmir. This alliance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blamed government for rigging in elections and soon this movement became a very violent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 media in this movement very clearly presented the stance of opposition parties that was never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seen in the history of Pakistan. Only the radio, Television and NPT newspapers presented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point of view but rest of the papers felt their role and presented a real picture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political arena.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5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July, Gen Zia ul Haq enforced 3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rd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martial law of the history of Pakistan and promised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play a role of an umpire and holding free and fair elections and transferring of power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winning party. But he postponed elections not only after 90 days but several times till 1985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elections were held on the non party basis.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martial law era declaration of many newspapers were cancelled and Musawat was the first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 to be the target of Gen Zia’s aggression as it was the party newspaper of PPP.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meanwhile PFUJ (Pakistan federal union of Journalists) started a movement against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censorship policies of Gen Zia and against the cancellation of the declaration of the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14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March 1983, MRD (Movement for the restoration of democracy) was launched. 59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signatories signed a memorandum for the restoration of democracy. In these signatories 9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NPT employees and 1 was a Punjab university professor. All these 9 members were terminated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their services by martial government and were restored in 1985 in the civil government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Muhammad Khan Junicho.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Local Bodies elections were held in 1985 by the Gen Zia government and newspapers projected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importance of these elections in a very forceful way.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1978 the communist fraction in Afghan government over threw the government that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backed by USSR. The very next year Iranian revolution took place and religious fraction came into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power that was led by Ayotullah Khomeni and Raza Shah Pehlvi was forced to flee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country. The new Iranian government openly declared USA the open enemy of Iran. This was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threat for USA because US feared that through the influence of Afghanistan and Anti American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Communism could reach to the Gulf States and could capture the oil resources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Gulf States.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Communist philosophy negates God and provokes godless society. So Americans declared Muslims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their natural ally and Americans planned to support the Jihadis for a holy war against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communism. Pakistan had an important geographical position as its boundaries were joined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Iran and Afghanistan so Pakistan was given a leading role to stop the communist influence.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Pakistani media favored this holy war against communism. Pakistan was used as a base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 launched a militant movement in collaboration of Gen Zia ul Haq that ended in 1989.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7" name="Rect 3"/>
          <p:cNvSpPr>
            <a:spLocks noGrp="1" noChangeArrowheads="1"/>
          </p:cNvSpPr>
          <p:nvPr/>
        </p:nvSpPr>
        <p:spPr>
          <a:xfrm rot="0">
            <a:off x="6903720" y="9540240"/>
            <a:ext cx="1016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10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ROLE OF MASS MEDIA IN THE ERA OF 1977 TO 1988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Afghan Crisis and Iranian revolution were the two major events of that era and the geographical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location of Pakistan made it center of attention for super powers.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history mass media working in Pakistan was not easy because the ideal working for mass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possible in democracy where everyone enjoys the freedom of expression.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issue the slogans of Jihad or Holy war were providing a suitable environment to such parties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internally Gen Zia ul Haq was also in favor of that.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demands were: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(a)						Arms supply given to Mujahideen should be of Russian origin and no American ammunition would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used.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(b)					No other country including USA would be allowed to contact Mujahideen directly and aid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Afghan refugees would be dealt through Pakistan. So Pakistan can avoid any chaotic condition.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(c)						At a given time two aero planes loaded with ammunition will land in Pakistan. Further arms supply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be made after confirmation by this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Americans agreed to all those three demands of General Zia ul Haq and    Pakistan started to play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significant role in Afghan Jihad fully supported by mass media.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Mass media in that era did not mention the negative aspects of Afghan Policy but it left many areas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concern for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During Afghan war Pakistani militant groups got expertise in ammunition and sectarian groups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armed themselves with modern weapons and ammunition.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Religious groups also got encouragement that they were fighting a bigger enemy on the name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Jihad. This aspect encouraged religious extremism and sectarian violence in the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In the meanwhile, there was no tolerance preached by the newspapers to acknowledge the creed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sects of others. They published the news of sectarian violence quite regularly but there was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planned effort on the behalf of the newspapers to discourage sectarian violence.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Pakistani papers started to think that religion is a sensitive issue so they do not to touch such issued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editorial and articles. They used simplified terms to name and blame the culprits.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							Newspapers never developed a social pressure on the extremist groups by educating people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papers never tried to organize that problem. In fact we can say that in terms of Social Responsibility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Theory people ignored their role of social responsibility. The newspapers were never representative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following definition of democracy in the country, “When we agree to disagree with each other, it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democracy.” </a:t>
            </a:r>
            <a:endParaRPr lang="ko-KR" altLang="en-US" dirty="0" smtClean="0" sz="1097"/>
          </a:p>
          <a:p>
            <a:pPr marL="0" indent="0" defTabSz="15240" algn="l">
              <a:lnSpc>
                <a:spcPts val="1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30" name="Rect 3"/>
          <p:cNvSpPr>
            <a:spLocks noGrp="1" noChangeArrowheads="1"/>
          </p:cNvSpPr>
          <p:nvPr/>
        </p:nvSpPr>
        <p:spPr>
          <a:xfrm rot="0">
            <a:off x="1188720" y="1112520"/>
            <a:ext cx="589280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changes in international political arena directly effected Pakistan in the era of 1979. The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the inner political scenario General Zia ul Haq was trying to islamicize the country. In this phase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religious based political parties got a major role in the country politics because on the Afghan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All the newspapers of that time covered Afghan stories and fully supported Mujahidin and Jihadi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General Zia ul Haq presented three demands to perform a basic role in Afghan crisis and these </a:t>
            </a:r>
            <a:endParaRPr lang="ko-KR" altLang="en-US" dirty="0" smtClean="0" sz="1097"/>
          </a:p>
          <a:p>
            <a:pPr marL="0" indent="0" defTabSz="15240" algn="l">
              <a:lnSpc>
                <a:spcPts val="50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ROLE OF MASS MEDIA IN THE ERA OF 1988 TO 1999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1985, non party elections were held to life martial law and M. Khan Junicho was appointed the Prime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Minister of Pakistan.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international scenario Michael Gorbachauf came into power and he thought communism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not powerful enough so he amended the system completely. He declared communism is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a national movement. Because of international character of communism, it was obligatory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USSR to support smaller communist countries and it was a burden on USSR. So he decided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withdraw that. According to Geneva agreement he decided to withdraw Russian forces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Afghanistan. So in 1989 all the Russian forces were withdrawn from Afghanistan.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mean while M. Khan Junicho was dismissed by General Zia ul Haq saying that party system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not fruitful for Pakistan as there is no party system in Islam.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1988, General M. Zia ul Haq’s Plane C130 crashed in Bhawalpur and a care taker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formed. This caretaker government replaced PPO (Press Publication Ordinance) with RPPO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(Registration of Press &amp; Publication Ordinance). However when new assemblies were formed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ordinance was not presented for approval and it ultimately quashed. But during the care taker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government, with the decline of PPO a lot of newspapers started to publish and it suddenly give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boost to journalism in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Gradually, a new trend of evening newspapers was introduced. Evening newspapers were quite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in Karachi but now they started to print from Lahore and Islamabad. It was a positive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start. However, many critics said that they started a fiction trend and yellow journalism was started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practice. However, newspapers refuted this blame.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1988 to 1996 different governments were formed but all the time president dissolved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assemblies in different times. In 1996 election Pakistan Muslim League got a land slide victory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governments were formed in all the provinces and also in National Assembly.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1998, a conflict was established between Muhammad Nawaz Sharif and Jang group. Nawaz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Sharif demanded that 23 journalists should be dismissed from Jang group who were opposing Mian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Nawaz Sharif’s policy but Jang group denied to do so.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this step journalists launched a movement and called it an attack on freedom of Press.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this step, a group of Journalists started to say that journalists should stop to take privileges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government because it effects neutrality of journalists and the objective writing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journalists become subjective.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1998 India tested its nuclear devices and adopted very aggressive policy against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replied that aggressive policy by testing nuclear devices on 28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May, 1998.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this event all the newspapers started to favor government stance and told the people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is now in the race of super powers and there will be a new opening for Pakistan after that. </a:t>
            </a:r>
            <a:endParaRPr lang="ko-KR" altLang="en-US" dirty="0" smtClean="0" sz="1097"/>
          </a:p>
          <a:p>
            <a:pPr marL="0" indent="0" defTabSz="15240" algn="l">
              <a:lnSpc>
                <a:spcPts val="2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33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11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12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PAKISTN TOWARDS PRESS FREEDOM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Bhawalpur in 1988. On the other hand the world was moving towards global village. So the satellite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made it impossible for the governments to hide facts from the public. Pakistan was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affected by the new satellite technology and Dish antennas became quite common. Government also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felt the change and started to think about the freedom of press gradually.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hidden from the public. Ayub Khan was the first ruler who curtailed not only the political growth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the growth of the freedom of press. This trend prevailed in Pakistan for a very long time and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tried to break the chains of communication till 1988.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34 years in 2005. The reason for publish of this report was that an Indian Web site revealed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published it on internet. When it became an open secret then government of Pakistan also decided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publicize the report. It is the best examples how international scenario affects national policies.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strain in relation was seen on the international horizon. Western Europe and American relations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became strained. Similarly, Middle East and American relations also went under great strain.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decided. To complete the military operation on Afghanistan either Iran could be helpful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Pakistan. Iran has no bilateral relations with US SO Pakistan was the last suitable option for USA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complete military operation. President Musharaf was contacted and his answer was in affirmation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regarding the help of US forces to carry out military operation. Pakistani newspapers clearly wrote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of Pakistan did not like President Musharaf’s stand on the Afghan Issue. Some newspapers even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wrote that US is not the reliable friend of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world unless the root causes of terrorism are removed. So, we can say that a balance sort of view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seen in the newspapers. The papers not only given the feelings of the government but also given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anti government feelings.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Iraq war for the first time private TV channels and newspapers sent their representatives to Jordan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Syria near Iraq border to get the real picture. This was the first attempt of Pakistani mass media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present their point of view. </a:t>
            </a:r>
            <a:endParaRPr lang="ko-KR" altLang="en-US" dirty="0" smtClean="0" sz="1097"/>
          </a:p>
          <a:p>
            <a:pPr marL="0" indent="0" defTabSz="15240" algn="l">
              <a:lnSpc>
                <a:spcPts val="26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36" name="Rect 3"/>
          <p:cNvSpPr>
            <a:spLocks noGrp="1" noChangeArrowheads="1"/>
          </p:cNvSpPr>
          <p:nvPr/>
        </p:nvSpPr>
        <p:spPr>
          <a:xfrm rot="0">
            <a:off x="960120" y="1112520"/>
            <a:ext cx="612140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Freedom of expression in Pakistan started with the arrival of care taking government after the tragedy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Pakistan there was never a favorable time regarding the freedom of press. The facts were always kept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inquiry report of Dhaka fall named as Hamood Ur Rehman Commission Report was published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frame work of International politics also changed drastically after 9/11 tragedy in the US. The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blame of 9/11 was put on Osama bin Laden and Taliban’s in Afghanistan. So the military option </a:t>
            </a:r>
            <a:endParaRPr lang="ko-KR" altLang="en-US" dirty="0" smtClean="0" sz="1097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Despite all these things the statements of President Musharaf that Terrorism cannot be eradicated from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Generally, for all the information we rely on Western media that provides their point of view. During </a:t>
            </a:r>
            <a:endParaRPr lang="ko-KR" altLang="en-US" dirty="0" smtClean="0" sz="1097"/>
          </a:p>
          <a:p>
            <a:pPr marL="0" indent="0" defTabSz="15240" algn="l">
              <a:lnSpc>
                <a:spcPts val="30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ROLE OF PRINT MEDIA AFTER 2000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just highlight the achievements while mass media is also interested in the flaws and mistakes committed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a government as the role of mass media is just like a watch dog. The mistakes of the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become a hot issue when they get printed in the newspapers. Therefore, the interest of the reader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remains intact and every newspaper seeks such stories that portray some thing excited for the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wave of terrorism was seen across the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remain in the main line because they keep submitting the copies of the newspapers to press branch.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declaration of the newspapers is bound to their circulation. So many dummy newspapers just to keep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declaration intact give this impression that the newspaper is printing as a result they keep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submitting a few copies to press branch.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newspapers and immediately the emerged newspapers could not find technically competent staff.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Therefore, many journalists are unaware of the working condition and ethics of journalism.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have not much area of influence. It is very unfortunate that even these two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have a major difference in their policies. The readership of English newspapers is very much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culture, values, status, Economic interest and political understanding. Therefore, in many cases we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 a widening horizon between these two 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1998. When India tested nuclear devices and for the 3 weeks Pakistani government was thinking to take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step in response to Indian aggression at that time Urdu newspapers were clearly supporting the stance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Pakistan should also have nuclear weapons. Urdu newspapers not for a single time talked about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harmful impacts of nuclear weapons. On the other hand English newspapers opted a very moderate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stance and they clearly informed the public about the negative impacts of the nuclear weapons.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condemn the issue while there is a very rare chance of any such news or article in the Urdu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exploitation in the society as a suppressed class while Urdu newspapers are silent on this issue for quite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long time.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fact many times in Urdu newspapers such articles were written or news was molded in this way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developed sympathy with religious extremists all around the world. Our politicians also did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condemn religious extremism and as our Urdu newspapers give 70% of their news in the form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political Statements so a common man had nothing to read in Urdu newspapers and politicians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silent on 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never supported the policy and common man got very little to read about the negative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impacts of it. It is a fact that only those movements got success that was supported by mass media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happened in 1977 and during Afghan Jihad. English newspapers played their part but majority Urdu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did not do that.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newspapers. However, their policy was found different for Urdu newspapers and different for English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Urdu newspapers as the Urdu papers never supported government on this issue. </a:t>
            </a:r>
            <a:endParaRPr lang="ko-KR" altLang="en-US" dirty="0" smtClean="0" sz="1097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39" name="Rect 3"/>
          <p:cNvSpPr>
            <a:spLocks noGrp="1" noChangeArrowheads="1"/>
          </p:cNvSpPr>
          <p:nvPr/>
        </p:nvSpPr>
        <p:spPr>
          <a:xfrm rot="0">
            <a:off x="1417320" y="1112520"/>
            <a:ext cx="568579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Mass media and governments are mostly opposite to each other because every government wants to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decision of Musharaf Government to support US after 9/11 cost a lot for Pakistan because a fresh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Every newspaper tries to keep itself in the main stream. However, some dummy newspapers also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Pakistan many newspapers staff is untrained. The emergence of RPPO started a mushroom growth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Pakistan the main stream newspapers are either English or Urdu newspapers. The local languages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best example of the difference of opinion between English and Urdu newspapers can be seen in </a:t>
            </a:r>
            <a:endParaRPr lang="ko-KR" altLang="en-US" dirty="0" smtClean="0" sz="1097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Child Labour is another issue that is dealt very seriously by the English newspapers and they clearly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English newspapers very frequently talks about Woman rights and show the clear picture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Religious extremism is condemned by English newspapers while Urdu newspapers have no such policy. </a:t>
            </a:r>
            <a:endParaRPr lang="ko-KR" altLang="en-US" dirty="0" smtClean="0" sz="1097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President Musharaf’s policy to uproot extremism could not be successful because Urdu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There are some groups in Pakistan that are not only printing Urdu newspapers but also English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a nut shell the basic reason for government failure in catering religious extremism was the role of </a:t>
            </a:r>
            <a:endParaRPr lang="ko-KR" altLang="en-US" dirty="0" smtClean="0" sz="1097"/>
          </a:p>
          <a:p>
            <a:pPr marL="0" indent="0" defTabSz="15240" algn="l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PRESENT SITUATION OF PRINT MEDIA IN 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before the establishment of Pakistan and example can be quoted of Khilafat Movement.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other Islamic countries. To them the concept of Ummah negates nationalism. By thinking 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Muslim countries are in fact ignoring the present age of nation states.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extent media is free to criticize 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constant observation and would not be free it would be impossible to analyze a nation. Unfortunately,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Muslim world have no platform for self-analysis as press is not free in most of the Muslim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gap is filled by the mass media of West. People usually are bound to see the Western media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satisfy their curiosity to see the drawbacks of their governments.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nations. They have done it so successfully that today if Economist, Time Magazine and New York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Times write something that will be considered true.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will come to know that Psychological warfare is a part of mass media. In this regard Muslim world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far too behind to safeguard the interest of the world.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Civilians. To influence the policy makers it is important to influence common man because statesmen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take decision in favor of the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important part in 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opinion” is most commonly used in our media. While there is no unanimity in democracy as democracy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means to acknowledge the different thoughts. Another word that was exploited by our mass media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“dynamic leadership”. All these words tell the story how much our mass media is biased and how bad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outlook it gives in comparison to the other mass media of the world.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movement. We are still using obsolete and outdated terms. Mass media should realize that time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changed now we are no more in conflict to someone. Such words should be avoided that were used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leaders of Pakistan movement. Present age media should look like a true established democratic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and neutrality should be its chief characteristic. </a:t>
            </a:r>
            <a:endParaRPr lang="ko-KR" altLang="en-US" dirty="0" smtClean="0" sz="1097"/>
          </a:p>
          <a:p>
            <a:pPr marL="0" indent="0" defTabSz="15240" algn="l">
              <a:lnSpc>
                <a:spcPts val="2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42" name="Rect 3"/>
          <p:cNvSpPr>
            <a:spLocks noGrp="1" noChangeArrowheads="1"/>
          </p:cNvSpPr>
          <p:nvPr/>
        </p:nvSpPr>
        <p:spPr>
          <a:xfrm rot="0">
            <a:off x="960120" y="1112520"/>
            <a:ext cx="612140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Pakistan Urdu and English newspapers are different in content regarding religious extremism.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Pakistani mass media on International Islamic Character is very sensitive and it has been very sensitive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Most of the Muslim countries never paid attention to the identity of not only their country but also of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Muslim countries Mass Media is not as free as it is seen in Pakistan and Turkey. Therefore, to a great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Mass media presents an analysis of a nation that what are the drawbacks in it. If media would be under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Mass media of the Western countries create a monopoly and they try to manipulate the ideas of other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Western media has mastered in psychology of warfare. If we keenly observe the role of Western Media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It is true that radio, TV and newspapers should not be a tool for Propaganda.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any state there can be four influential groups namely Policy Makers, Military Elites, Politicians and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direct communication also has an important part to play. Television, radio and papers play an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Democratic societies do not use superficial sort of words in mass media. One word “unanimous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Pakistani mass media is still working on the same footing as it did in the past in the time of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2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NEWSPAPER CONTENTS AND CHANGES IN IT OVER THE PERIOD OF TIME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were just in a story form and there was no concept of formatting of news. In the sub-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continent Paisa newspaper was very popular. The layout of the newspaper was just like a Magazine.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was no concept of heading.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is a very important feature of a newspaper. The most persuasive advertising leaves a lasting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impact and has great appeal for the newspaper readers. There is a general concept that news sources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directly under control of Jews. This is a misconception. News sources are not in the control of Jews.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Jews in fact own Multinational companies and they are the biggest advertisers. So advertising is the life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blood of a newspaper that is why newspapers subdue to the policy of these multinationals.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 of the readers. In fact this marketing is a device to address the interest of the readers so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circulation of the newspapers can be enhanced.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this page. The ethics of journalism say that news should be objective. Therefore, a separate page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associated for that and it is called editorial page. Usually editorial page reflects the policy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newspaper. Columns are printed on editorial page and in the beginning columns were just humorous.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sub continent, Abdul Majeed Salik, Chragh Hassan Hasrat and Atta-ul-Haq Qasmi are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prominent names on this horizon. Usually columns are called the interpretation of the news. Walter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Lipan, who is a famous journalist, says that events are not important unless they are reported. Letters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editor also carry a personal opinion so they are also printed on the Editorial Page.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respective beat. Every reporter in a newspaper has a special beat. News are constantly monitored by sub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editors in a news room. Every source is used by the newspapers to collect the news. Radio, television,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agencies, National and International news agencies are used for this. For reporting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normally three shifts and the last shift is very important till 2am because it has to collect all the material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till dead line. </a:t>
            </a:r>
            <a:endParaRPr lang="ko-KR" altLang="en-US" dirty="0" smtClean="0" sz="1097"/>
          </a:p>
          <a:p>
            <a:pPr marL="0" indent="0" defTabSz="15240" algn="l">
              <a:lnSpc>
                <a:spcPts val="3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45" name="Rect 3"/>
          <p:cNvSpPr>
            <a:spLocks noGrp="1" noChangeArrowheads="1"/>
          </p:cNvSpPr>
          <p:nvPr/>
        </p:nvSpPr>
        <p:spPr>
          <a:xfrm rot="0">
            <a:off x="1417320" y="1112520"/>
            <a:ext cx="568579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the beginning all newspapers were not in this form as they are seen today. In earlier phase,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There are three basic segments in a newspaper nowadays. (a) Advertising (b) Editorial (c) News. </a:t>
            </a:r>
            <a:endParaRPr lang="ko-KR" altLang="en-US" dirty="0" smtClean="0" sz="1097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newspaper has a circulation department and good newspapers do a lot of research to find out the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Editorials are another important segment in a newspaper. The subjective opinion of every kind is given </a:t>
            </a:r>
            <a:endParaRPr lang="ko-KR" altLang="en-US" dirty="0" smtClean="0" sz="1097"/>
          </a:p>
          <a:p>
            <a:pPr marL="0" indent="0" defTabSz="15240" algn="l">
              <a:lnSpc>
                <a:spcPts val="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Reporting is the third important segment of a newspaper. Every kind of news is classified into its </a:t>
            </a:r>
            <a:endParaRPr lang="ko-KR" altLang="en-US" dirty="0" smtClean="0" sz="1097"/>
          </a:p>
          <a:p>
            <a:pPr marL="0" indent="0" defTabSz="15240" algn="l">
              <a:lnSpc>
                <a:spcPts val="3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 TRENDS OF JOURNALISM IN 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up, Designing and Printing and Stall value.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Printing and its impression on paper was very ordinary. In 1953, Kohistan started Offset printing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made photo journalism possible. In offset printing photographic plates are used and then it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converted on Aluminum plate.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picture is better than one thousand words.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and it created a very different impact and Americans started to criticize the policy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part of the newspapers.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Multi-colour which was absent 10 years ago.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gives the advantage of having different opinions at one plat form and then these are published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expression. The recent example is Hudood Ordinance. Many newspapers organized discussion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panels for that.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investigative reporting is very common.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Water Gates building is bugged. President Nixon ordered that all the speeches and sessions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Democrats would be recorded. When Washington Post published this news. President had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resign.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made things very easy but still it is not the ideal one.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bounds. Features can be objective and subjective while news is always objective.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2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48" name="Rect 3"/>
          <p:cNvSpPr>
            <a:spLocks noGrp="1" noChangeArrowheads="1"/>
          </p:cNvSpPr>
          <p:nvPr/>
        </p:nvSpPr>
        <p:spPr>
          <a:xfrm rot="0">
            <a:off x="1188720" y="1112520"/>
            <a:ext cx="5892800" cy="86017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There are some important things that are very important in the formation of a newspaper. Make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Pakistan after independence till 1953, Litho printing was used. There was no clarity in Litho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newspapers a good picture should supplement the news. There is a Chinese saying that a good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Vietnam war 58000 American soldiers lost their lives. People saw the ugly face of death on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other important aspect of pictoral journalism is show biz. Fashion photography has become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Similarly, advertising is also the essential part of pictoral journalism. Many advertisements are in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new trend that is emerged in our newspapers is forum discussion. Papers invite different experts.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Some newspapers organize Musical activities and get marketing and publicity.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Many seminars on serious issues are also organized by different newspapers. It enhances freedom,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Pakistani newspapers there is no investigative reporting. In many countries like USA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President Nixon had to leave his office after the investigation reporting of Washington Post that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 Pakistan freedom of press is not encouraging. But an ordinance of 2005 was implemented. It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Features have covered the gap of investigating reporting.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There is a wide difference in news and a feature. Features are not time bound while news are time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Features writer take their material from the happenings around them. </a:t>
            </a:r>
            <a:endParaRPr lang="ko-KR" altLang="en-US" dirty="0" smtClean="0" sz="1097"/>
          </a:p>
          <a:p>
            <a:pPr marL="0" indent="0" defTabSz="15240" algn="l">
              <a:lnSpc>
                <a:spcPts val="2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58510" y="2502535"/>
            <a:ext cx="1295400" cy="14535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MAGAZINE JOURNALISM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magazine is a periodical publication containing a wide variety of articles on various subjects.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Periodical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periodical is a regular issue from a press; it could be a magazine or a review.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Journal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journal is a professional periodical.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Historical perspective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term Magazine was first used in 1731 in the title of “Gentleman’s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Magazine” which was founded in London, however, magazine in its very early form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available to general public since 1646. In 1691 The Compleat Library appeared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scene which is taken as the first magazine that broke away from book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.The first essay-type periodical was Tattler and the first magazine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published from USA was Andrew Branford’s American Magazine.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Magazine Journalism after Independence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Major contribution of periodicals in the history of Pakistan had been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area of literature. Quite a huge number of literary journals and magazines of high quality were published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early years of our independence which resulted into this mindset of the readers that a periodical is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literary journal,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which is altogether wrong.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independence different magazines and periodicals have been published and are still being published.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magazines and periodicals can be classified into different categories: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Literary 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literary magazine is a periodical devoted to literature. It usually covers poetry, short stories, essays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different topics, critical reviews of different books, interviews of different poets and authors, letters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lot of other related stuff.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famous literary magazines that were published but have now vanished from the scene are: Sawera,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Naqsh, Naya Daur, Naya adab, Urdu adab, etc. After 60s one by one they vanished and digest magazines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took their place. Most of the critics blame radio, tv and newspapers for this. Television and radio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providing entertainment and information in the form of dramas, songs (poetry), discussions etc.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therefore people don’t bother to buy and read these magazines. Another reason is the lack of availability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good piece of writings and the cheap entertainment available in the form of digests.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Religious 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Religious magazine is a magazine devoted to some specific religion. It is usually aimed at preaching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particular religion though religious poetry, religious scholars’ articles and interviews, answering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people’s different questions and queries regarding that religion, historical incidents, comparative analysis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other religions etc.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when journalism was taking its shape in sub-continent the most popular periodicals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religious magazines. Hindus, Muslims and Christian missionaries were publishing their magazines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propagating their religions.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organizations, sects and people belonging to different religions are publishing their magazines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but they are not so popular any more because electronic media particularly private Islamic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channels are also doing the job in a bit different and to an extent popular way which has ultimately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reduced the demand for religious magazines.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51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17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08320" y="2904490"/>
            <a:ext cx="1029970" cy="137477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magazines provide both information as well as entertainment to the readers. They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considered as the most popular periodicals worldwide. They provide an update to public on the upcoming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 local and international movies, interviews and pictures of their favourite starts, some spicy news about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actors and actresses, and a lot of other stuff of public interest.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Pakistan, film magazines have become less popular over the time which is considered as the outcome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all downfall of Pakistan Film Industry. Till 1970, app.110 films were released per year and now it is 20-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25. Similarly, number of cinema houses in the country till 1970 was 850 and now it is about 350.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gradual decline of film industry has disturbed the circulation of film magazine in the country resulting into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lesser number of publications available. Another reason is the coverage of film and entertainment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newspapers. Newspapers are now providing such an extensive coverage to entertainment industry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particularly films that people don’t really feel like buying film magazines any more.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Sports 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the name indicates, sports magazine cover sports and sports persons.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provide information to sports fans about the international and national sports events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sports persons and also give pictorial coverage to mega sports events to meet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 demands.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Political 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Magazines providing an insight and update on different political events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nationally and internationally, political updates, news, interviews of famous politicians,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political parties’ activities and their affairs, political scandals, public opinion regarding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popularity of different parties and politicians are called Political magazines. In 7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8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decade of 20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endParaRPr lang="ko-KR" altLang="en-US" dirty="0" smtClean="0" sz="70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century we had some really popular political magz but now they are not that popular any more and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circulation has also decreased to a great extent. The major reason of their decline is newspapers;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now so deeply and thoroughly covering political news and other related things in the form of editorials,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features and columns that people are no more interested in spending extra money on reading political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magazines because they can read and get all the required information from newspapers. Some of the very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famous political magazines that once we had were: Lail-o-nahar, Al-fateh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Women’s 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partition, sub-continent had some very popular women’s magazines like Ismat, which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published from Delhi. After independence, in 1960s other then independent women magz, all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dailies also started publishing women’s periodicals.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women’s magazine has everything of women’s interest which could be beauty tips, articles on women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issues, their poetry and other writings, interviews of successful women, etc.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Children’s 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Phool was one of the most popular children’s magazine of sub-continent before independence.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Khilona from Delhi was another one that continued publishing even after partition. In Pakistan, daily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are also publishing children’s special periodicals in which they mostly cover children’s drawings,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pictures, poems, shot stories, cartoons and other stuff of their interest.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Fashion 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are also called society magazines as they inform people about the new trends of the society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ways. A special feature of these fashion magz is their quality of Photo Journalism, which is very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high. They are usually liked by people but their circulation is not that high in the country which is due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expensive nature.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Digest Magazine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Reader’s Digest is the first digest in the history of digest magazines. Digest magazine is a magazine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provides a digestible material to its readers.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54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18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8720" y="2477770"/>
            <a:ext cx="914400" cy="11099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Pakistan 80-85 digest magazines are available for light reading. They usually cover translations of short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stories and novels from other languages mostly English, mythological stories, local stories, fiction etc.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Digest magazines have now become the most popular and affordable type of magazine in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In-house Journal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journals published by different organizations to provide information to their client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employees regarding their services, policies and other related information. In Pakistan,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government, semi-government and private organizations are publishing in-house journals. They can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divided into different sub-categories; newsletter is one of the most popular of its types.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Research Journal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Research journals are usually published on quarterly basis. They cover and publish latest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research usually in the form of research papers, sometimes on different topics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sometime in a specific area. Almost all universities and higher education institutions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 these research journals on regular basis because they are now considered 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symbol of progress and knowledge. Students also give them more importance over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academic books.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other professional journals like medical journals, architectural journals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magazines, IT journals etc. are also being published in Pakistan.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Necessities/ requirements/qualities of Magazine Journalism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editor of a periodical or a magazine should be a reputable person in his field in terms of 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contacts e.g. an editor of a literary journal must be aware of all the important persons of the field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should have a friendly relation with them because they are the biggest source of information to 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Photo Journalism: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Another important thing is high quality photo journalism. Whatever category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 falls in its pictorial coverage of events, incidents and personalities has always been a major reason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popularity among its readers. A magazine with a low quality photo journalism cannot establish its identity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position, neither in the market nor in the eyes of its readers.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Life Magazine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 magazine of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repute, was purely based on Photo Journalism and is considered as a fine example for others. It not only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established its own identity through its pictures but also helped in establishing a standard guideline for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magazines. </a:t>
            </a:r>
            <a:endParaRPr lang="ko-KR" altLang="en-US" dirty="0" smtClean="0" sz="1097"/>
          </a:p>
          <a:p>
            <a:pPr marL="0" indent="0" defTabSz="15240" algn="l">
              <a:lnSpc>
                <a:spcPts val="2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57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19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64480" y="3892550"/>
            <a:ext cx="1173480" cy="134683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8345" y="6236335"/>
            <a:ext cx="802005" cy="6489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18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 AGENCY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news agency is an organization that acts as a source of news for different newspapers, radio,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and other organizations and individuals who are interested in getting them. News agencies do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 these news themselves; they collect the news and provide them after subscription to their clients.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are also called as wire services or news services or press agencies.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Historical perspective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World’s first news agency was formed around 1820s in New York City under the name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Association of Morning Newspapers. It was formed to gather upcoming reports from Europe.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international news agencies formed in Europe were: Agence Havas of Paris (1835); the Reuter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Telegram Company of London (1851), known simply as Reuters; and the Continental Telegraphen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Compagnie of Berlin (1849), known as the Wolff Agency. They started their work as a financial data service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bankers and businessmen but then extended their service to world news. Reuters is also considered as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oldest news agency of the world. Initially news agencies used to send news through telegraphy services now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has been replaced by internet.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International News Agency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Four major international news agencies are: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are providing extensive service to their subscribers all over the world. They provide 3.5 crore words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 day to their subscribers in more than 150 countries. These international news agencies work 24 hours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now also provide trade related hot news, international market trends and rates, currency rates and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commerce related information to their clients.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 Agencies in 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United India’s first news agencies were Press Trust of India and Associated Press of India.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Later before independence when two nation-theory got a recognition and acceptance,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news agency called Orient was formed in Lahore by Muslim journalists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of sub-continent. After independence, Orient survived for a very short time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however the part of Associated Press of India that remained in Pakistan was declared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news agency of Pakistan with a name called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Associated Press of Pakistan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APP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). Now APP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considered among the world’s major International news agencies. APP was formed and initially controlled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run by the journalists and newspapers’ editors of Pakistan. In 1956 some journalists parted from it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formed a private news agency called Pakistan Press Association. After sometime when it broaden its canvas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started working internationally, it changed its name to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Pakistan Press International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PPI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1960 General Ayub Khan’s government took APP under government’s control and made it a state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owned news agency under the Federal Information Department, from that day till date APP is working as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 owned news agency.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news agency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United Press of Pakistan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came into existence in December 1949. Mr. Qutubuddin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Aziz, as a private limited company founded it. However for a long time, the agency has merely existed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paper and just about manages to get the small subsidies marked for it by the central and provisional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governments.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60" name="Rect 3"/>
          <p:cNvSpPr>
            <a:spLocks noGrp="1" noChangeArrowheads="1"/>
          </p:cNvSpPr>
          <p:nvPr/>
        </p:nvSpPr>
        <p:spPr>
          <a:xfrm rot="0">
            <a:off x="960120" y="4099560"/>
            <a:ext cx="6121400" cy="56146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Reuters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Associated Press (AP)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United Press International (UPI)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Agence France-Presse (AFP)</a:t>
            </a:r>
            <a:endParaRPr lang="ko-KR" altLang="en-US" dirty="0" smtClean="0" sz="1097"/>
          </a:p>
          <a:p>
            <a:pPr marL="0" indent="0" defTabSz="15240" algn="l">
              <a:lnSpc>
                <a:spcPts val="3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general Zia’s regime some smaller news agencies also appeared but they could not establish their identity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name as APP and PPI did.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Difference between the working of a newspaper and news agency: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newspaper has its own policy under its own specific management; however, news agency cannot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 a specific policy or point of view. A news agency has its clients and subscribers in different parts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world with their own specific policies and stance on different issues therefore, a news agency is bound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adopt an unbiased, objective and indifferent approach in its reporting and services to keep its subscribers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satisfied. </a:t>
            </a:r>
            <a:endParaRPr lang="ko-KR" altLang="en-US" dirty="0" smtClean="0" sz="1097"/>
          </a:p>
          <a:p>
            <a:pPr marL="0" indent="0" defTabSz="15240" algn="l">
              <a:lnSpc>
                <a:spcPts val="58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63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21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30750" y="6455410"/>
            <a:ext cx="1831340" cy="137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AND GOVERNMENT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1780-1822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newspapers were published in English language which was not a matter of concern for East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 Company as major population of sub-continent was unable to read and understand English. So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at ease that these newspapers cannot raise the people against them in anyway. And therefore they did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regulate them and other publications in the form of any law. However, they showed a little concern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initially William Bolt in 1776 showed his interest in publishing first newspaper in sub-continent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therefore ultimately deported back to England by East India Company.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Jame Jahan Numa first Urdu newspaper appeared on the scene from Calcutta in 1822 but as Urdu was not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popular language at that time therefore Munshi Sada Sukh later converted it into Persian and then made it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bilingual newspaper. An important press act was introduced by the foreign rulers in 1823 immediately after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native people’s idea of publishing newspapers in their own languages (Persian, Urdu, Bengali). According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act taking a prior permission (license) for publishing a newspaper or any other publication was made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compulsory. The government also had the authority to cancel the license whenever it desires so.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 and post 1857 period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the war of independence began British government wanted to curtail the freedom of press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completely so therefore they victimized different local papers claiming that this war is the result of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freedom which was given by them to local media.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British came out victorious and it was a Muslim ruler whose throne was toppled by them therefore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Muslims had to face more bitter consequences than Hindus. Newspapers published and edited by them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particularly the newspapers and journalists of Delhi were blamed to be responsible for the so-called mutiny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rebellion against British and East India Company. Sadaq-al-akhbar edited by Syed Jamiluddin and Delhi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Urdu Akhbar edited by Maulvi Muhammad Baqir were closed down by the Raj as a punishment to stand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them.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this bleak and difficult time Sir Syed Ahmed Khan realized his responsibility as a learned and educated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 and played a major role in reducing distances between British government and Muslims of sub-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continent. His Tehzib-ul Ikhlaq, Urdu Journal, published in 1870 propagated his reformative doctrines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regarding society and religion. He is undoubtedly the greatest figure in the transitional period of sub-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continent’s history.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Khilafat Movement 1914-1924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Khilafat movement was a religio-political movement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launched by the Muslims of British India for the retention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Ottoman Khilafat and for not handing over the control of Muslim holy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places to non Muslims. When Khilafat movement started in 1914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Muslim journalists played a vital role to steer the direction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struggle.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Zamindar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of Molana Zafar Ali Khan,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Comrade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Hamdard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Maulana Muhammad Ali Jauhar,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Al-Hilal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and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 Al-Balagh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of Molana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Abul Kalam Azad,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Urdu e Mualla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of Molana Hasrat Mohani were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prominent newspapers and magazines which performed their duties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express their resentment.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Muslim journalists and their papers were sentenced and sanctioned several times. In 1910 another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act was enforced by the Raj, under this press act only Zamindar had to give security 11 times.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and journalists of Bombay, Delhi, UP, Madras were particularly under strict observation in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period. </a:t>
            </a:r>
            <a:endParaRPr lang="ko-KR" altLang="en-US" dirty="0" smtClean="0" sz="1097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66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22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Rowlett Act, 1919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Rowlett Act was a black law introduced in India. To the law, the government got authority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persecute any Indian and the arrested had no facility of legal assistance and right to appeal just as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‘Lettres de Cachet’ in France before the French Revolution. Quaid e Azam resigned from the central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legislature as protest.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1929, after the failure of All Parties Conference in which Hindus rejected demands presented by Muslim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leaders and refused to adjust them in anyway, Indian politics divided into muslim politics and hindu politics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similarly muslim journalism and hindu journalism.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1942, Congress started Quit India Movement which became quite violent, press laws were amended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 by the government to control them, strict actions were taken against newspapers that supported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movement which were mostly Hindu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After independence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establishment and beurocracy of the new born state was mostly comprised of British trained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officials. So in a way the same approach regarding the freedom given to press traveled down to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Raj. Quaid-e-Azam addressed the opening session of Pakistan’s Constituent Assembly on 11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Sep.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1947 which was presided by Jugindhar Nath Mandal. In this session Quaid-e-Azam took an oath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president of the Assembly and after that delivered a speech in which he announced his policy and the shape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constitution that this assembly will form, and along with this he also defined the to be structure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 of the political scene of Pakistan. A part of the speech was: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“….you are free to go to your mosques, you are free to go to your temples or to any other place of worship.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has nothing to do with the business of state and politics. By pursuing this policy you will realize after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sometime that Hindus will cease to be Hindus and Muslims will cease to be Muslims not in religious sense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religion is a matter of personal faith for everyone. But as citizens of Pakistan for political purposes,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citizens will have equal rights in Pakistan…”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press advice was issued to radio and newspapers in which they were asked not to publish the complete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text of Quaid’s speech. Dawn’s editor Altaf Hussain did not like the idea as he was very close to Quaid, 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called PID to find out who is behind it and what part of the speech they don’t want to be published but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true source could not be located. This is how the press-govt relationship began in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Contd... </a:t>
            </a:r>
            <a:endParaRPr lang="ko-KR" altLang="en-US" dirty="0" smtClean="0" sz="1097"/>
          </a:p>
          <a:p>
            <a:pPr marL="0" indent="0" defTabSz="15240" algn="l">
              <a:lnSpc>
                <a:spcPts val="2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69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23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AND GOVERNMENT   II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1947-1958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Pakistan appeared on the map of world, cold war or ideological war was going on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Soviet Union and America and the channel being used was media; whole world was divided in two blocks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i.e. Communist block and American block. When Pakistan came into being it also has to choose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two, so leaders of the nation decided to be a part of American block and after that numerous actions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taken against those newspapers, magazines and journalists who were more bent towards communist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school of thought.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Progressive Papers Limited (PPL) was an important organization that was formed by Mian Iftikhar uddin,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former member of a communist party of India, when Quaid-e-Azam Muhammad Ali Jinnah asked muslim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journalists of sub-continent to publish newspapers from different places to spread the message of Muslim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League and to support the Pakistan Movement. The intellectuals in PPL were mostly those that took part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Progressive Writers Movement (1936) and it is the only organization in the history of Pakistan that gathered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a huge number of laureates and intellectuals under its roof. After joining American Block the first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and publications that were targeted by the government were PPL’s publications. In 1953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Communist Party was banned; from 1947-53 almost 58 magazines and books were banned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establishment and removed from the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1958-1969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October 7, 1958, President Sikander Mirza abrogated the Constitution and declared Martial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Law in the country. This was the first of many military regimes to mar Pakistan's history. With this step,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Constitution of 1956 was abrogated, ministers were dismissed, Central and Provincial Assemblies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dissolved and all political activities were banned. General Muhammad Ayub Khan, the then Commander-in-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Chief of the armed forces, became the Chief Martial Law Administrator. The parliamentary system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came to end. Within three weeks of assuming charge on October 27, 1958, Sikander Mirza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ousted by General Ayub Khan, who then declared himself President.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Ayub Khan within the first week of his coup detained Syed Sibt e Hassan, editor of weekly Lail o Nihar,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Ahmed Nadim Qasmi, editor of Imrooz and Faiz Ahmed Faiz, editor of Pakistan Times who worked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Progressive Papers Limited (PPL) and went a step further and took over the PPL’s papers on April 18,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1959, this move was aimed at reining the PPL ( publishing Pakistan Times, Imrooz, Lail-o-Nihar, Sports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Times) from roaming in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“DISTANT ORBITS AND ALIEN HORIZONS”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as the PPL backed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Progressive Ideology. Board of directors of PPL was dissolved and an administrator was appointed.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and Publications Ordinance (PPO)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1961 Press and Publications Ordinance was formed and enforced to keep the newspapers under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government’s control. It was a black law completely boycotted by media organizations and journalists.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one clause stated in this ordinance all newspapers were ordered to publish DPR’s or PID’s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published handouts as it is which is simply against freedom of press.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1963, West Pakistan Press and Publications Ordinance and East Pakistan Press and Publications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Ordinance were introduced by the provincial governments, the pressure built by these provincial laws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resulted into an amendment in PPO but even after that its harshness remained same.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1964, National Press Trust was established and all the PPL papers were given to this monster. NPT had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right to take over any such newspaper, magazine which is apparently financially not able to run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 or is dangerous to country’s security. Apparently it was an independent body but actually it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state-controlled. After PPL’s publications Daily Mashriq was also handed over to NPT, Sindhi paper Hilal-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e-Pakistan was also taken over, Morning News which was being published since 1936 first from Calcutta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after partition from Karachi and Dhaka was also taken over. Some Bengali newspapers were also taken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by NPT. Dawn, Jung, Nawa-e-waqt were the only papers that were not taken in government’s custody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they still had a tough time in Ayub’s time as they were not liked by 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72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24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harsh action taken against press by Ayub’s government was the condition imposed on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agencies that they cannot directly send news to their subscribers in Pakistan. They were asked to send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news via APP or PPI. This action was taken to control and restrict the news and information coming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international media from reaching to Pakistani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1969-1971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March 1969 second Marshal Law was enforced in Pakistan by General Yahya Khan. After taking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he accepted all the political demands that were being asked by the political parties for quite a time now.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was also given complete freedom and on PPO a moratorium was put that it cannot be used against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any further.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freedom of press was enjoyed by the media and newspapers but still General Yahya’s period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considered as a flourishing period of journalism as in this period no ethics were observed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newspapers, with an exception to few reputable papers. Many dummy papers were revived; free insulting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even abusive language was being used. Other than state owned papers and some private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journalistic scenario was quite dark, this time, out of freedom given to the press.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period some actions were taken against journalists. First target was again PPL, 24 journalists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fired from Imroz, Pakistan Times &amp; Lail-o-Nihar. These fired journalists formed Journalist United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revived a dummy paper Azad. A rebellion case was filed against the editorial board of Azad in the Marshal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Law court as they were favoring the Majority Party that won the election. This action made it clear that even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General Yahya’s government freedom was restricted to immorality, not to the truth.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Contd…… </a:t>
            </a:r>
            <a:endParaRPr lang="ko-KR" altLang="en-US" dirty="0" smtClean="0" sz="1097"/>
          </a:p>
          <a:p>
            <a:pPr marL="0" indent="0" defTabSz="15240" algn="l">
              <a:lnSpc>
                <a:spcPts val="4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75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25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AND GOVERNMENT   III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all societies of the world, democratic or un-democratic, rulers always resent any attempt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provide new philosophies, new opinions and new ideas to the people.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history of Pakistan shows that most actions taken against the press and journalists by the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taken in first 5-7 years of its independence. Immediately after independence a Security Act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brought in front of Quaid-e-Azam which was a black law to restrict the freedom of people and press.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 this act, law enforcing agencies had the authority to arrest any person for three to six months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giving any reason in the name of keeping peace, law and order or to avoid any law and order situation.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Quaid-e Azam being a man of law very rigorously rejected this act. After Quaid’s death the same Act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enforced as an ordinance and later on passed by the parliament and enforced as a law. This Security Act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brutally used against politicians and the journalists by the later governments.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1971-1977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1971 crisis, journalists and newspapers were under strict observation and no journalist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 was permitted to write about situation or incidents happening in East Pakistan, to keep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blind of the situation. Freedom of press which was bestowed on newspapers and journalists was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obscene and immoral things, not for objective or unbiased reporting. People’s right to know was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unacceptable thing to the 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Later, nation’s anger over country’s humiliating defeat by India boiled into street demonstrations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throughout country. To forestall further unrest, General Yahya hastily surrendered his powers to Zulfikar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Ali Bhutto of Pakistan People’s Party.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Dhaka fall media played a great role in re-boasting nation’s morale that were very disappointed over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country’s division into two parts and brought them back to the real life. Even then Draconian law, PPO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revived again and used against the press by the new government. Weekly Outlook and Punjab Punch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closed down using this ordinance despite the fact that Punjab punch and outlook were among those 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supported PPP in election.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governments used different actions against newspapers and journalists in different times.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However most actions usually taken by the governments against newspapers to show their anger and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punish them are: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functions.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Declaration of Principles on the Conduct of Journalists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Adopted by the Second World Congress of the International Federation of Journalists at Bordeaux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25-28 April 1954 and amended by the 18th IFJ World Congress in Helsingör on 2-6 June 1986.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international Declaration is proclaimed as a standard of professional conduct for journalists engaged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gathering, transmitting, disseminating and commenting on news and information and in describing events.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								Respect for truth and for the right of the public to truth is the first duty of the journalist.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								In pursuance of this duty, the journalist shall at all times defend the principles of freedom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honest collection and publication of news, and of the right of fair comment and criticism.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3.								The journalist shall report only in accordance with facts of which he/ she knows the origin.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journalist shall not suppress essential information or falsify documents.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4.								The journalist shall use only fair methods to obtain news, photographs and documents.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5.								The journalist shall do the utmost to rectify any published information which is found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harmfully inaccurate.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78" name="Rect 3"/>
          <p:cNvSpPr>
            <a:spLocks noGrp="1" noChangeArrowheads="1"/>
          </p:cNvSpPr>
          <p:nvPr/>
        </p:nvSpPr>
        <p:spPr>
          <a:xfrm rot="0">
            <a:off x="1188720" y="6141720"/>
            <a:ext cx="5892800" cy="35725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Quota of Official ads is reduced or abandoned.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Newsprint quota is reduced.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Ending up subscription of newspapers in public institutions.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Not inviting journalists to official functions and not to let them cover official meetings, seminars or </a:t>
            </a:r>
            <a:endParaRPr lang="ko-KR" altLang="en-US" dirty="0" smtClean="0" sz="1097"/>
          </a:p>
          <a:p>
            <a:pPr marL="0" indent="0" defTabSz="15240" algn="l">
              <a:lnSpc>
                <a:spcPts val="2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6.								The journalist shall observe professional secrecy regarding the source of information obtained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confidence.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7.								The journalist shall be aware of the danger of discrimination being furthered by the media,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shall do the utmost to avoid facilitating such discrimination based on, among other things, race,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sex, sexual orientation, language, religion, political or other opinions, and national or social origins.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8.								The journalist shall regard as grave professional offences the following: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Plagiarism.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Malicious misrepresentation.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Calumny, slander, libel, unfounded accusations.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- Acceptance of a bribe in any form in consideration of either publication or suppression.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9.								Journalists worthy of that name shall deem in their duty to observe faithfully the principles stated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above. Within the general law of each country the journalist shall recognize in professional matters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jurisdiction of colleagues only, to the exclusion of every kind of interference by governments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 Pakistan three major organizations have been formed to secure the journalists’, newspapers’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editors’ rights. They are discussed below: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APNS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Pakistan Newspapers Society (APNS) is the organization of the Pakistani newspapers’ owners.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election is held every year; three major groups of newspapers are the major players of APNS that are: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Jang Group, Dawn Group and Nawa-i-Waqt Group. These groups are accused for bribing the smaller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and getting benefit at large from the successive governments. This is the major body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refuses to give the Wage Board Award to the working journalists. According to the Pakistan Federal Union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Journalists, the labor laws are violated in the Pakistani newspaper industry but no government dares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take action against these powerful elite of the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was founded in 1953 by the major, pioneering editors and publishers of they day to facilitate the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views between the editors of the major publications of Pakistan and to protect the rights of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giving them a voice to appeal unfair decisions against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Today, the APNS is a clearing house of sorts for its member publications, safeguarding the commercial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interests of newspapers under its membership (including tax payment). For example, if a company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advertises in a publication but refuses to pay, the publication complains to the APNS. The APNS gives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agency an ultimatum: pay or get blacklisted.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founders were: Hamid Nizami, Altaf Hussain – all the important, pioneering editors of the day. Before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APNS in 1950, the Pakistan Newspapers Society (PNS) was founded (to emerge the existing publishers),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the editors of the time realized that the print media needed organization and needed a clearing house.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However, the PNS didn’t last for very long as it didn’t receive much support from publishers, advertisers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authorities.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Three years later in 1953 the All Pakistan Newspapers Society (APNS) came into being. It was badly needed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‘facilitate the exchange of views amongst newspaper owners on matters of common interest. APNS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successfully gave newspaper owners the means to watch over, protect, preserve and promote the rights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 of the newspaper industry on matters directly or indirectly affecting its rights and interests.’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Daily DAWN was the founding member.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CPNE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couple of years later after APNS came into existence, in 1955, the Council of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Newspaper’s Editors (CPNE) was established as a representative body of the editors of the publications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Pakistan. Both the CPNE and the APNS struggled against black press laws that trampled over the freedom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press.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81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27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PFUJ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Federal Union of Journalists (PFUJ) is located in Islamabad, Pakistan. PFUJ is arguably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South Asia’s first association representing the journalists of an entire country. To its credit, in the 50-odd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years since its inception it has always stood out as a symbol of freedom of speech. The battles it waged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freedom and for a democratic dispensation in the country will always remain etched in the collective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memory of Pakistanis.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this day, PFUJ remains committed to the ideals for which it was established in 1950. Set up primarily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 towards a better working environment for Pakistani journalists, it didn’t remain isolated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struggles and campaigns launched by the civil society. In fact, it was in the vanguard whenever sacrifices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needed to be made and freedoms were to be won.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Pakistani journalists are although following some code of ethics on their own as different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organizations and newspapers have their own code of ethics but there is no unanimous written code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ethics for the country’s press which is mainly because PFUJ has always stood on the demand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should first abolish the black laws against press and after that talk about the code of ethics.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established democracies, press and media have their own independent bodies, court of honours and code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ethics to keep the media, press and journalists accountable.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the laws that are used against press, newspapers and journalists, other than press/ media laws,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laws of defamation and liable. Another law of contempt of court is also used against press and journalists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particularly in case of court reporting. </a:t>
            </a:r>
            <a:endParaRPr lang="ko-KR" altLang="en-US" dirty="0" smtClean="0" sz="1097"/>
          </a:p>
          <a:p>
            <a:pPr marL="0" indent="0" defTabSz="15240" algn="l">
              <a:lnSpc>
                <a:spcPts val="4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84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28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PRESS AND GOVERNMENT   IV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1977- till date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 Zia-ul-Haq came to power by overthrowing Prime Minister Zulfikar Ali Bhutto, after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widespread civil disorder, in a military coup on July 5, 1977 and imposed Martial Law. He assumed the post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President of Pakistan in 1978 which he held till his death. He was assassinated in a planned aircraft crash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August 17, 1988 under mysterious circumstances.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 magazines and newspapers were closed down and almost 150 journalists were arrested and given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punishments by the Marshal Law courts in this period. For a long time pre-censorship was also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imposed on the newspapers, no newspaper could publish anything without prior approval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department. In protest for quite a time newspapers kept publishing leaving an empty space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censored news but then they were ordered by the Information Department to publish or give some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in place of censored news. Till 1988 these restrictions continued. In 1988, General Zia-ul-Haq died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planned aircraft crash. After that the new caretaker government repealed PPO and introduced a new and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better ordinance Registration of Printing Press and Publications Ordinance (RPPPO). RPPPO was a sigh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relief for the journalists and newspapers since then press is comparatively enjoying and working in a better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environment and did not have a major clash with the government. It was just in 1997-99 Nawaz Sharif’s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had some problems with the Jang Group of Newspapers.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12h October, 1999 General Musharraf took over but no new law or additional restrictions were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imposed on the press rather Musharraf’s government appreciated the private sector and gave them a chance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invest more in electronic media which resulted into many new radio and TV channels.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People’s right to know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Freedom of press is something that is linked with the people’s right to know or free excess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that ensures accountability and a true democratic society. In all democratic societies,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accepts people’s right to know and therefore cannot stop anyone from getting any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an accepted basic human right in democratic societies to keep the governments accountable to public.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Universal Declaration of Human Rights (1948)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December 10, 1948 the General Assembly of the United Nations adopted and proclaimed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Universal Declaration of Human Rights. Following this historic act the Assembly called upon all Member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 to publicize the text of the Declaration and "to cause it to be disseminated, displayed, read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expounded principally in schools and other educational institutions, without distinction based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political status of countries or territories."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Article 19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“Everyone has the right to freedom of opinion and expression; this right includes freedom to hold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opinions without interference and to seek, receive and impart information and ideas through any media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regardless of frontiers.”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International Covenant on Civil and Political Rights (1966)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Article 19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								Everyone shall have the right to hold opinions without interference.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								Everyone shall have the right to freedom of expression; this right shall include freedom to seek,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receive and impart information and ideas of all kinds, regardless of frontiers, either orally, in writing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in print, in the form of art, or through any other media of his choice.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3.								The exercise of the rights provided for in paragraph 2 of this article carries with it special duties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responsibilities. It may therefore be subject to certain restrictions, but these shall only be such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provided by law and are necessary: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87" name="Rect 3"/>
          <p:cNvSpPr>
            <a:spLocks noGrp="1" noChangeArrowheads="1"/>
          </p:cNvSpPr>
          <p:nvPr/>
        </p:nvSpPr>
        <p:spPr>
          <a:xfrm rot="0">
            <a:off x="2103120" y="9015730"/>
            <a:ext cx="4978400" cy="698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For respect of the rights or reputations of others. </a:t>
            </a:r>
            <a:endParaRPr lang="ko-KR" altLang="en-US" dirty="0" smtClean="0" sz="1097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morals.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Till 2002 this basic right was not approved or accepted in Pakistan. Freedom of expression and freedom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is mentioned in Constitution of Pakistan 1973 but with conditions that are very vague and can be used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government to exploit any journalist, newspaper or media organization.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Constitution of Pakistan 1973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Article 19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“Every citizen shall have the right of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freedom of speech and expression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and there shall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freedom of the press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subject to any reasonable restrictions imposed by law in the interest of the glory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Islam or the integrity, security, or defense of Pakistan or any part thereof, friendly relations with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states, public order, decency or morality or in relation to the contempt of court, defamation or incitement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an office.”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the caretaker government of Malik Mairaj Khalid (Nov. 1996 – Feb. 1997), Information Minister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Javed Jabbar introduced an ordinance “Right to know”. But the government that came later did not forward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in the assembly and therefore the ordinance died its own death.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October 2002, when international donors insisted on legislation on the people's right to know,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ordinance called the Freedom of Information Ordinance was hurriedly promulgated by General Musharaf’s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government. The fact that the parliament that had come into being at that time was deliberately bypassed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 the law throws some light on the negative attitude of the government of the day on the issue.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of the serious flaws in the Freedom of Information Law stand out. First, the ordinance is in addition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to, and not in derogation of, anything contained in any other law for the time being in force. It means that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is any law that militates against the right to know, that will take precedence over the ordinance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nullify its effect.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Secondly, the ordinance prohibits making public several important documents which throw light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decision-making process in government departments. These include noting on files, minutes of meetings,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 interim orders, records of banking companies relating to the accounts of their customers and the record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private documents furnished to public offices among others.					Denying access to these important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documents means shielding the government against charges of mis-governance and corruption in hatching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schemes and making purchases that might be utterly useless or downright harmful.  </a:t>
            </a:r>
            <a:endParaRPr lang="ko-KR" altLang="en-US" dirty="0" smtClean="0" sz="1097"/>
          </a:p>
          <a:p>
            <a:pPr marL="0" indent="0" defTabSz="15240" algn="l">
              <a:lnSpc>
                <a:spcPts val="2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90" name="Rect 3"/>
          <p:cNvSpPr>
            <a:spLocks noGrp="1" noChangeArrowheads="1"/>
          </p:cNvSpPr>
          <p:nvPr/>
        </p:nvSpPr>
        <p:spPr>
          <a:xfrm rot="0">
            <a:off x="1645920" y="643255"/>
            <a:ext cx="5435600" cy="907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For the protection of national security or of public order (order public), or of public health </a:t>
            </a:r>
            <a:endParaRPr lang="ko-KR" altLang="en-US" dirty="0" smtClean="0" sz="1097"/>
          </a:p>
          <a:p>
            <a:pPr marL="0" indent="0" defTabSz="15240" algn="l">
              <a:lnSpc>
                <a:spcPts val="68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STATE OF MEDIA IN DIFFERENT SOCIETIES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good democracy two things are very important: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 media in a democratic state plays two major roles i.e. it works as a watchdog and as a mirror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society. Accountability is only possible if there is transparency, and mass media is the only mean to get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transparency. But being so powerful that it can positively or negatively influence the society, there must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ethical boundaries within which mass media should work. Universally, some ethics are being practiced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journalists but Pakistan could still not succeed in making its code of ethics for journalists and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Researchers of human psychology unanimously agree over the fact that it is very difficult for a human being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be objective like a machine therefore, now journalists and reporters are asked to be as objective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possible, unlike before when they were asked to be objective at every cost.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different societies media is enjoying different levels of freedom and working with different objectives: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book,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Four Theories of the Press,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originally published in 1956, Siebert, Peterson and Schramm help give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historical, philosophical and international perspective of the press. Siebert, Peterson &amp; Schramm (1956)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proposed that the press system is divided into four categories.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AUTHORITARIAN THEORY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Authoritarian doctrine has determined the mass communication pattern for more people over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longer period of time than any other theory.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Development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authoritarian theory evolved in 16th &amp; 17th century in different parts of Europe and is still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practice in many places.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Fred S. Siebert said: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“For almost two hundred years after the spread of printing in the western world, the authoritarian theory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furnished the exclusive basis for determining the function and relationship of the popular press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contemporary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... in fact practically all western Europe... utilized the basic principles of authoritarianism as the theoretical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foundation for their systems of press control.”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Who owns the media in an authoritarian system?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Ownership of printing remains mostly in private hands, but broadcasting and cinema usually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remain in the hands of 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form of control the government exercises over media in authoritarian countries is the same as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control it has over the people who live there. The concepts are inseparable. That is, one follows the 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History provides us with many examples. Two stand out: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Germany under Hitler and Italy under Mussolini.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Main Purpose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support and advance the policies of the government in power and to serve the state.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How are the media controlled?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patents, guilds, licensing, sometimes censorship. 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93" name="Rect 3"/>
          <p:cNvSpPr>
            <a:spLocks noGrp="1" noChangeArrowheads="1"/>
          </p:cNvSpPr>
          <p:nvPr/>
        </p:nvSpPr>
        <p:spPr>
          <a:xfrm rot="0">
            <a:off x="1645920" y="1271270"/>
            <a:ext cx="5435600" cy="8442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Accountability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Free Mass Media  </a:t>
            </a:r>
            <a:endParaRPr lang="ko-KR" altLang="en-US" dirty="0" smtClean="0" sz="1097"/>
          </a:p>
          <a:p>
            <a:pPr marL="0" indent="0" defTabSz="15240" algn="l">
              <a:lnSpc>
                <a:spcPts val="6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Authoritarian Assumptions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moral codes.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state.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LIBERTARIAN THEORY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DEVELOPMENT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Adopted in England after 1688. The best early expression of libertarian ideals is Areopagitica,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essay published by John Milton in 1644. In the essay, which was intended for Parliament, Milton argued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intellectual freedom without government control.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 said: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"... though all the winds of doctrine were let loose to play upon the earth, so truth be in the field. ... Let 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(truth) and falsehood grapple; who ever knew truth put to the worse, in a free and open encounter?"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America, the best example historically of libertarian thought was Thomas Jefferson. In a letter he wrote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1787, Jefferson said: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"The basis of our government being the opinion of the people, the very first object should be to keep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right; and were it left to me to decide whether we should have a government without newspapers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without a government, I should not hesitate a moment to prefer the latter."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Jefferson also said: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"Eternal vigilance is the price of liberty."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best spokesman for Libertarian thought was John Stuart Mill, an Englishman who lived from 1806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1873.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1859, he wrote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On Liberty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"When we consider either the history of opinion or the ordinary conduct of human life, to what is it to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ascribed that the one and the other are no worse than they are? Not certainly to the inherent force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human understanding, for on any matter not self-evident there are ninety-nine persons totally incapable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judging of it for one who is capable; and the capacity of the hundredth person is only comparative,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majority of the eminent men of every past generation held many opinions now known to be erroneous,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did or approved numerous things which no one will now justify. Why is it, then, that there is on the whole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preponderance among mankind of rational opinions and rational conduct? If there really is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preponderance - which there must be unless human affairs are, and have always been, in an almost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desperate state - it is owing to a quality of the human mind, the source of everything respectable in man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either as an intellectual or as a moral being, namely, that his errors are corrigible."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PHILOSOPHY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Writings of Milton, Mill and general philosophy or rationalism and natural rights.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theory takes the philosophical view that man is rational and able to discern between truth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falsehood and, therefore, can choose between a better and worse alternative. Man is capable of determining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 own destiny, and given all the facts will make the right choice. </a:t>
            </a:r>
            <a:endParaRPr lang="ko-KR" altLang="en-US" dirty="0" smtClean="0" sz="1097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96" name="Rect 3"/>
          <p:cNvSpPr>
            <a:spLocks noGrp="1" noChangeArrowheads="1"/>
          </p:cNvSpPr>
          <p:nvPr/>
        </p:nvSpPr>
        <p:spPr>
          <a:xfrm rot="0">
            <a:off x="1188720" y="801370"/>
            <a:ext cx="5892800" cy="8912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Press should do nothing to undermine vested powers and interests.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Press should be subordinated to vested power and authority.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Press should avoid acting in contravention of prevailing moral and political values.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Censorship justified in the application of these principles.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Criminalization of editorial attacks on vested power, deviations from official policy, violation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Media, as instrument/ mouthpiece to publicize and propagandize government ideology and actions.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Absolute power of state versus subservience of the individual – press “freedom” a right vested in </a:t>
            </a:r>
            <a:endParaRPr lang="ko-KR" altLang="en-US" dirty="0" smtClean="0" sz="1097"/>
          </a:p>
          <a:p>
            <a:pPr marL="0" indent="0" defTabSz="15240" algn="l">
              <a:lnSpc>
                <a:spcPts val="5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Rooted in this theory is the belief held by Thomas Jefferson, the third President of the United States, that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 exercised reason, the majority, as a group, would make sound decisions, even if individual citizens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might not.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Jefferson said, "Were it left to me to decide whether we should have government without newspapers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without government, I should not hesitate for a moment to prefer the latter. But I should mean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every man should receive those papers and be capable of reading them."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Main purpose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inform, entertain, sell – but chiefly to help discover truth and to keep check on the government.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Undermined authoritarianism – emphasis on personal freedom and democracy.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Modernity: rise of democracy, religious freedom, expansion of economic freedom, philosophical climate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enlightenment.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Who has the right to use the media?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Anyone with economic means to do so.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How are the media controlled?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‘self right process of truth’ in ‘free market place of ideas’ and by courts.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Ownership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Chiefly private.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Classical liberal perspective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willingness to pay).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self-righting mechanism, minimises bias and exposes weak arguments and evidence.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Another strand in liberal tradition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judicial authorities)) or as a watchdog protecting the public (individuals rights), overseeing the state.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media and dictates the form in which the media should be organised, i.e. the free market.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of power do not want told.” Peter Beaumont and John Sweeney,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Observer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independence as searchers after “objective truth”.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will lose its bite as a watchdog.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enables people to monitor government and form ideas about policy.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Libertarian Assumptions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license.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99" name="Rect 3"/>
          <p:cNvSpPr>
            <a:spLocks noGrp="1" noChangeArrowheads="1"/>
          </p:cNvSpPr>
          <p:nvPr/>
        </p:nvSpPr>
        <p:spPr>
          <a:xfrm rot="0">
            <a:off x="1645920" y="4614545"/>
            <a:ext cx="5435600" cy="5099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Free market as foundation of free media.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Freedom to publish without prior restriction – independence from 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Public has access to wide diversity of opinion (only limitation on freedom to publish is public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Market-based diversity promotes public rationality – free marketplace of ideas and information as a </a:t>
            </a:r>
            <a:endParaRPr lang="ko-KR" altLang="en-US" dirty="0" smtClean="0" sz="1097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as representative agency (‘Fourth pillar of the state’ alongside executive, legislative and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Watchdog reveals abuses in the exercise of state authority… this role overrides all other functions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“The best stories are those that afflict the comfortable and comfort the afflicted, the ones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But, can muckraking journalism co-exist with objective journalism?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Objectivity: As newspapers gradually lost their party affiliations, journalists worked to establish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Independence from government control and influence – if media is subject to public regulation it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Press is source of information and platform for expression of a range of divergent opinions; </a:t>
            </a:r>
            <a:endParaRPr lang="ko-KR" altLang="en-US" dirty="0" smtClean="0" sz="1097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Press should be free from any external censorship.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Publication and distribution should be accessible to any individual or group with a permit or </a:t>
            </a:r>
            <a:endParaRPr lang="ko-KR" altLang="en-US" dirty="0" smtClean="0" sz="1097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SOCIAL RESPONSIBILITY THEORY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Development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Hutchins Commission, 1947 – reaffirmed the principles of freedom/ independence but added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 the notion of social responsibility.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Practiced in the US in the 20th century.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Purpose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Purpose is to inform, entertain, sell, but also to raise conflict to the plane of discussion.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Who owns the media?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Ownership is private.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Philosophy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social responsibility theory is an outgrowth of the libertarian theory. However, social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responsibility goes beyond "objective" reporting to "interpretive" reporting.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truthful, complete account of the news is not necessarily enough today, notes the Commission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Freedom of the Press: "It is no longer enough to report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fact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truthfully. It is now necessary to report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truth about the fact."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Today's complex world often necessitates analysis, explanation, and interpretation.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the Commission stated in 1940: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“The emerging theory does not deny the rationality of man, although it puts far less confidence in it than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libertarian theory, but it does seem to deny that man is innately motivated to search for truth and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accept it as his guide. Under the social responsibility theory, man is viewed not so much irrational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lethargic. He is capable of using his reason but he is loath to do so.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If man is to remain free, he must live by reason instead of passively accepting what he sees, hears, and feels.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Therefore, the more alert elements of the community must goad him into the exercise of his reason.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Without such goading man is not likely to be moved to seek truth. The languor which keeps him from using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 gift of reason extends to all public discussion. Man's aim is not to find truth but to satisfy his immediate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needs and desires.”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Responsibility of Press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“It is the press, therefore, that must be the "more alert element" and keep the public informed,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informed populace is the cornerstone of democracy.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Today's large media conglomerates, however, may not function naturally as a public forum, where all ideas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shared and available. "The owners and managers of the press determine which persons, which facts,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versions of these facts, shall reach the public," writes the Commission.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same light, Siebert, Peterson and Schramm warn: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...the power and near monopoly position of the media impose on them an obligation to be socially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responsible, to see that all sides are fairly presented and that the public has enough information to decide;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that if the media do not take on themselves such responsibility it may be necessary for some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agency of the public to enforce it. 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02" name="Rect 3"/>
          <p:cNvSpPr>
            <a:spLocks noGrp="1" noChangeArrowheads="1"/>
          </p:cNvSpPr>
          <p:nvPr/>
        </p:nvSpPr>
        <p:spPr>
          <a:xfrm rot="0">
            <a:off x="1188720" y="643255"/>
            <a:ext cx="5892800" cy="907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Attacks on governments or parties should not be punishable.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 coercion to publish anything.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Freedom of access to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6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Siebert, Peterson and Schramm also note that "freedom of expression under the social responsibility theory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not an absolute right, as under pure libertarian theory....One's right to free expression must be balanced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the private rights of others and against vital social interests."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example, it likely would not be socially responsible to report how the terrorist, using some new method,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evaded security measures and smuggled a bomb onto a commercial airline.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Solutions to the problem (of reconciling freedom with responsibility)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Regulation 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broadcasting (e.g. ICASA).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Professionalism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impartial news presentation.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More principles (Denis McQuail)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and the truth, accuracy, objectivity and balance of their reporting.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well as information that can offend ethnic or religious minorities.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access to a variety of viewpoints and opportunity to react to them.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standards.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SOVIET COMMUNIST THEORY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Development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Developed in the Soviet Union, although some of the same things were done by Nazis.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Purpose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Purpose was to contribute to the success and continuance of the Soviet socialist system,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especially to the dictatorship of the party.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Who owns the media?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Ownership was public.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Assumptions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05" name="Rect 3"/>
          <p:cNvSpPr>
            <a:spLocks noGrp="1" noChangeArrowheads="1"/>
          </p:cNvSpPr>
          <p:nvPr/>
        </p:nvSpPr>
        <p:spPr>
          <a:xfrm rot="0">
            <a:off x="1645920" y="2453640"/>
            <a:ext cx="5435600" cy="72605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Promotion of political and cultural pluralism – independent public institutions for control of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Balance of public and private ownership. </a:t>
            </a:r>
            <a:endParaRPr lang="ko-KR" altLang="en-US" dirty="0" smtClean="0" sz="1097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Codes of conduct.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Training and continuing development of professionalism, to advance and nurture balanced and </a:t>
            </a:r>
            <a:endParaRPr lang="ko-KR" altLang="en-US" dirty="0" smtClean="0" sz="1097"/>
          </a:p>
          <a:p>
            <a:pPr marL="0" indent="0" defTabSz="1524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accept responsibilities towards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fulfil responsibilities by setting professional standards with regards to the supply of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apply self-regulation.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avoid publicising information that can lead to crime, violence or social disruption, as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collectively should represent all social groups and reflect the diversity of society by giving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Society entitled to high standards and intervention justifiable if the media fail to meet these </a:t>
            </a:r>
            <a:endParaRPr lang="ko-KR" altLang="en-US" dirty="0" smtClean="0" sz="1097"/>
          </a:p>
          <a:p>
            <a:pPr marL="0" indent="0" defTabSz="15240" algn="l">
              <a:lnSpc>
                <a:spcPts val="20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act in the interests of and be controlled by the working class.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not be under private control. </a:t>
            </a:r>
            <a:endParaRPr lang="ko-KR" altLang="en-US" dirty="0" smtClean="0" sz="1097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desirable norms), education, the supply of information, motivation and mobilisation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More assumptions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publication.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principles.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5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08" name="Rect 3"/>
          <p:cNvSpPr>
            <a:spLocks noGrp="1" noChangeArrowheads="1"/>
          </p:cNvSpPr>
          <p:nvPr/>
        </p:nvSpPr>
        <p:spPr>
          <a:xfrm rot="0">
            <a:off x="1188720" y="643255"/>
            <a:ext cx="5892800" cy="907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perform positive functions for society, such as socialisation (to make people conform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respond to the desire and needs of their recipients.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Society has right to use censorship and other legal measures to prevent and punish antisocial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reflect complete and objective view of world and society in terms of Marxist-Leninist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Media should support communist movements everywhere. </a:t>
            </a:r>
            <a:endParaRPr lang="ko-KR" altLang="en-US" dirty="0" smtClean="0" sz="1097"/>
          </a:p>
          <a:p>
            <a:pPr marL="0" indent="0" defTabSz="15240" algn="l">
              <a:lnSpc>
                <a:spcPts val="5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BROADCASTING – A BIG DEVELOPMENT IN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Till First World War, newspapers were a major medium of communication and information. After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communist revolution in Russia, Russian Radio started using radio as a medium to propagate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communist ideology to other parts of the world. Radio being a medium of no physical boundary and wisely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as well, helped Russians in spreading their new ideology of communism to the rest of the world. 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result European and American leaders showed their anger towards newly formed communist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protested against it internationally, taking its actions and broadcast as an effort to provoke their people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revolt against their governments. This is how the world realized the power of electronic media, which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tactically, can cross any border to achieve its goals.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that time in Europe some individuals were broadcasting different radio channels on their own.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Audio broadcasting (1915 to 1950s)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Code.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 (1917).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around Enrique Telémaco Susini.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started broadcasting. It has carried a regular schedule of programming to the present. Broadcasting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not yet supported by advertising. The stations owned by manufacturers and department stores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established to sell radios and those owned by newspapers to sell papers and express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opinions of the owners.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unlicensed predecessor of WWJ (AM) in Detroit, Michigan.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broadcasting station to be licensed when it was granted call letters KDKA. (Their engineer Frank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Conrad had been broadcasting from his own station since 1916.)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Centre at Writtle near Chelmsford, England. Early radios ran the entire power of the transmitter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a carbon microphone.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improved them. (Before that, the commonest type of receiver was the crystal set, although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early radios used some type of amplification through electric current or battery.)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than one station can send signals (as opposed to spark-gap radio, where one transmitter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covers the entire bandwidth of spectra). Westinghouse bought DeForest's and Armstrong's patent.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operators. By 1940, they were established commercial modes.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Westinghouse was brought into the patent allies group, General Electric, American Telephone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Telegraph, and Radio Corporation of America, and became a part owner of RCA. All radios made by 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Westinghouse were sold under the RCA label 60% GE and 40% Westinghouse. ATT's Western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Electric would build radio transmitters. The patent allies attempted to set up a monopoly, but they failed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due to successful competition. Much to the dismay of the patent allies, several of the contracts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inventor's patents held clauses protecting "amateurs" and allowing them to use the patents. Whether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competing manufacturers were really amateurs, was ignored by these competitors.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11" name="Rect 3"/>
          <p:cNvSpPr>
            <a:spLocks noGrp="1" noChangeArrowheads="1"/>
          </p:cNvSpPr>
          <p:nvPr/>
        </p:nvSpPr>
        <p:spPr>
          <a:xfrm rot="0">
            <a:off x="1645920" y="2999105"/>
            <a:ext cx="5457190" cy="6715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1916: First regular broadcasts on 9XM (now WHA) - Wisconsin state weather, delivered in Morse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1919: First clear transmission of human speech, (on 9XM) after experiments with voice (1918) and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1920: Regular wireless broadcasts for entertainment began in Argentina, pioneered by the group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1920: Spark-gap telegraphy stopped.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20 August 1920: E.W. Scripps's WWJ in Detroit received its commercial broadcasting license and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31 August 1920: The first known radio news program was broadcast by station 8MK, the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October 1920: Westinghouse in Pittsburgh, Pennsylvania became the first US commercial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1922: Regular wireless broadcasts for entertainment began in the UK from the Marconi Research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Mid 1920s: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Amplifying vacuum tubes revolutionized radio receivers and transmitters; Westinghouse engineers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Inventions of the triode amplifier, generator, and detector enabled audio radio.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Fessenden and Lee de Forest pioneered the invention of amplitude-modulated radio (AM radio), so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Early 1930s: Single sideband (SSB) and frequency modulation (FM) were invented by amateur radio </a:t>
            </a:r>
            <a:endParaRPr lang="ko-KR" altLang="en-US" dirty="0" smtClean="0" sz="1097"/>
          </a:p>
          <a:p>
            <a:pPr marL="0" indent="0" defTabSz="15240" algn="l">
              <a:lnSpc>
                <a:spcPts val="1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features arose:-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radio wave to minimize static and interference from electrical equipment and the atmosphere,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audio program.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Tesla's death, because prior art existed before Marconi's patent was established. Ignoring Tesla's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prior art, the decision may have let the U.S. government avoid paying damages that the Marconi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 was claiming for use of its patents during World War I; it is speculated that the U.S.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initially refused to grant Marconi the patent right, to nullify any claims Tesla had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compensation.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recent war, Germany (which was not even invited) was only given a few medium-wave frequencies,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are not very good for broadcasting. For this reason Germany began broadcasting on USW,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"ultra short wave" (nowadays called VHF). After some amplitude modulation experience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VHF, it was realized that FM radio was a much better alternative for VHF radio than AM.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Later 20th century developments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stations for navigation. (AM stations are still marked on U.S. aviation charts).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Battery".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be powered by a small battery. It was durable, because there were no tubes to burn out. Over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next twenty years, transistors displaced tubes almost completely except for very high power, or very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high frequency, uses.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TELSTAR, was launched. In late 1960s, the U.S. long-distance telephone network began to convert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 digital network, employing digital radios for many of its links.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satellite navigation.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process radio signals.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software radio that could become a different radio on the fly by changing software.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radio first started, no one thought about politics. Because radio was viewed as just another novelty,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getting politics on the air was a slow process.				For political purposes it was first used in USA in 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Presidential Elections 1924. Through mid-1924, shortwave was still seen as an inconsistent novelty even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engineers, and few believed it could ever be used reliably for daytime long-distance broadcasting.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October 11, the H.J. Heinz Company of Pittsburgh celebrated its 55th anniversary. Ten thousand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employees sat down in 65 banquet halls across the US and Great Britain. President Coolidge was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featured speaker - from Washington D.C. The president's speech was carried by landline to KDKA then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14" name="Rect 3"/>
          <p:cNvSpPr>
            <a:spLocks noGrp="1" noChangeArrowheads="1"/>
          </p:cNvSpPr>
          <p:nvPr/>
        </p:nvSpPr>
        <p:spPr>
          <a:xfrm rot="0">
            <a:off x="1188720" y="801370"/>
            <a:ext cx="5892800" cy="8912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Commercial (United States) or governmental (Europe) station networks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Federal Radio Commission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Federal Communications Commission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Birth of the soap opera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Race towards shorter waves and FM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1933: FM radio was patented; Edwin H. Armstrong invented it. FM uses frequency modulation of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1937: The first experimental FM radio station was granted a construction permit by the FCC.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1940s: Standard analog television transmissions started in North America and Europe.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1943: Tesla's patent (number 645576) was reinstated by the U.S. Supreme Court shortly after </a:t>
            </a:r>
            <a:endParaRPr lang="ko-KR" altLang="en-US" dirty="0" smtClean="0" sz="1097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After World War II: The FM radio broadcast was introduced in Germany.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1948: A new wavelength plan was set up for Europe at a meeting in Copenhagen. Because of the </a:t>
            </a:r>
            <a:endParaRPr lang="ko-KR" altLang="en-US" dirty="0" smtClean="0" sz="1097"/>
          </a:p>
          <a:p>
            <a:pPr marL="0" indent="0" defTabSz="15240" algn="l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Early 1960s: VOR systems finally became widespread; before that, aircraft used commercial AM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1954: Regency introduced a pocket transistor radio, the TR-1, powered by a "standard 22.5V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1960: Sony introduced their first transistorized radio, small enough to fit in a vest pocket, and able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1963: Color television was commercially transmitted, and the first (radio) communication satellite,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1970s: LORAN became the premier radio navigation system. Soon, the U.S. Navy experimented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1987: The GPS constellation of satellites was launched.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Early 1990s: Amateur radio experimenters began to use personal computers with audio cards to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1994: The U.S. Army and DARPA launched an aggressive successful project to construct a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Late 1990s: The digital transmissions began to be applied to broadcasting. </a:t>
            </a:r>
            <a:endParaRPr lang="ko-KR" altLang="en-US" dirty="0" smtClean="0" sz="1097"/>
          </a:p>
          <a:p>
            <a:pPr marL="0" indent="0" defTabSz="15240" algn="l">
              <a:lnSpc>
                <a:spcPts val="1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 over shortwave. This was the first time such a broadcast had been attempted, and millions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Americas and Europe are believed to have heard it.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the 1924 campaign began, no one knew that radio would be worth as a weapon in the campaign war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chest. For millions, to hear the voices of the candidates was unique - it couldn't be duplicated in silent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movies or newspapers. Many questioned how they could know if there was an audience listening and if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was reaching them. By the end of the campaign, these questions and more were answered. It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clear that radio had improved politics and furthermore politics had improved radio.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Broadcast in sub-continent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March 1926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Indian Broadcasting Company, a private company was formed in Bombay.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23rd July 1927  IBC launched its transmission.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small transmitting station was set up at Lahore.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April 1930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Broadcasting went under the direct control of Government and IBC was changed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Indian State Broadcasting Service.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Jan. 1934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Indian Wireless Telegraphy Act 1933 came into force.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Jan. 1935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Peshawar Radio Station was set up by NWFP Government – 250 watts transmitter.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Jan. 1936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Delhi Radio Station was opened. A.S. Bukhari was appointed as its 1st Station Director.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Jun 1936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Indian State Broadcasting Service was changed into All India Radio.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 1937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Lahore station went on air.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1939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Dhaka Radio station was opened.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Broadcast in 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Aug 14, 1947 Pakistan comes into being and the announcement of its creation is made by the new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organization, the Pakistan Broadcasting Service which comes into existence at the same time and later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designated as Radio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Pakistan came into being it had three radio stations: Lahore, Peshawar and Dhaka.			Setting up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further radio stations in every nook and corner of Pakistan is as under: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Rawalpindi-3 Radio Station. – 500 watts’ shortwave transmitter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Karachi Radio station – 100 watts’ shortwave transmitter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Rawalpindi station – 100 watts’ Medium wave transmitter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Karachi Radio Station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1951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Hyderabad Radio Station – 1 KW/ SW transmitter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Oct 1956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Quetta Radio Station 1 KW/ SW Transmitter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Oct 1960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Rawalpindi – 2 Radio Station 1KW/ SW Transmitter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1970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Staff training and technical training school at Islamabad.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1970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Multan Radio Station 120 KW/ MW.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20 Dec.1972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Pakistan was converted into “Pakistan Broadcasting Corporation. (PBC)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April 1973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 service for overseas Pakistanis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1974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Khairpur Radio station 100 KW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August 1975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Bhawalpur Radio Station 10 KW/ MW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1977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Islamabad Radio Station in the new national Broadcasting house 1000 KW/ MW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1977: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Skardu Radio Station 250 W/MW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1981: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Turbat Radio Station 250 W/MW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1981: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D.I. Khan Radio Station 10 KW/MW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1981: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Khuzdar Radio Station 250 W/MW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Sept 1982: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Faislabad Radio Station 250 W/MW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May 1986: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 BH at Khairpur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1989: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Sibi Relay Station - 250 W Trans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1989: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Abbotabad Relay Station 250 W/Trans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Aug 1993: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Chittral Radio Station 1 KW/FM Trans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17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39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1996: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Loralai Radio Station 10 KW/MW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1996: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Zhob Radio Station 10 KW/MW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as an effective medium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2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nd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world war began radio showed its affectivity in a much better way therefore making its place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mechanical world as an important invention. Radio was used to perform two important jobs in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 war. One, it was a best medium to transmit and provide latest information regarding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warfronts as each day was coming with a new warfront. Secondly, it was used as tool, to conduct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psychological war i.e. boasting the morale of your own people and demoralizing the enemy.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independence there wasn’t any concept of private ownership in the broadcasting world as British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was more sensitive towards electronic media and they could not afford to take the risk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allowing people to own radio stations. And that’s also the reason why we see newspapers playing their part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actively in Pakistan Movement and don’t hear about any radio station and its contribution in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Movement.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partition radio was more used as a medium of entertainment and even in the early years of 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independence it did more in entertainment section. Radio Pakistan’s contribution in promoting music, in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forms, and singers, is really acknowledging.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news section, being a state owned organization it has always followed government’s policies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worked as a government’s mouthpiece.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Pakistan is a developing country and its literacy rate is also very low, so like other developing and third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 countries, radio has been a very effective medium of communication (information and education)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here. In remote and rural areas where newspaper could not reach or where electricity is not available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therefore people cannot watch television, radio is still a best medium of communication. Radio is also very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cheap and in the form of transistor can be taken to any place therefore makes it possible for a person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aware of the things going on in the world even being on a warfront.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it has one disadvantage which makes it difficult for the broadcasters to use it to address complex issues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complicated things or even to use a difficult language. Radio like telephone is a time consuming channel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communication, therefore in its case speed of comprehension is always in performer’s hand which makes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impossible to be used to send complex messages. That’s the reason that among broadcasting standards,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standard is the use of simple language and precise messages.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Till 60’s when TV was not introduced, radio was a very popular medium of communication in both rural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urban blocks of the country, now it is more listened in rural areas with an exception to FM radio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channels that are equally appreciated and listened in cities.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(Cont…….) </a:t>
            </a:r>
            <a:endParaRPr lang="ko-KR" altLang="en-US" dirty="0" smtClean="0" sz="1097"/>
          </a:p>
          <a:p>
            <a:pPr marL="0" indent="0" defTabSz="15240" algn="l">
              <a:lnSpc>
                <a:spcPts val="2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20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IN PAKISTAN 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Immediately after the independence of Pakistan, the country was facing many challenges, it wasn’t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possible for anyone to solve those problems without the help of any medium of communication, using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was an impossible thing as they were not really in a position to help and at the time when every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second was unveiling a new challenge it wasn’t possible for the leaders of the nation to use such a medium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consumes 24 hrs time to produce a new paper; at that time radio stepped forward and dealt 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devotedly and passionately with those challenges that now the history of the nation acknowledges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salutes the role of radio, radio broadcasters and performers at that crucial time.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major challenge of the time was to deal with and rehabilitate the migrating people who were coming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 in a condition that besides physical shelter they also needed an emotional consolation. Children,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women, elderly people, everybody was in a devastating state. Radio on aired special programmes for them;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special announcements were given to re-join the separated members of different families, which wasn’t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possible otherwise for the administration of the newborn state.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that Radio Pakistan is also saluted for its role in 1965’s Pak-India war. In the war it produced two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types of programs. One were to keep the morale of the nation and its military forces high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were to demoralize the enemy country, its public and its military forces who were relying on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for the news and updates.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modern world, it is an accepted belief that now a country cannot win a war merely through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military force and arms or ammunition. Now people of the enemy country and there morale is equally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important, in the modern world wars are fought with military and media on parallel scale. The best example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America-Vietnam war. Americans, although a super power, lost the war just because its strategists failed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break the commitment and resistance of Vietnamese who had such a high morale that they were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ready to give up even after years and on the other side American people were not supporting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and were protesting against their government’s and military’s actions and decisions.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1965’s Pak-India war Radio Pakistan worked on psychological grounds and through its music and special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programs for people and soldiers keep providing a strong moral support to the nation. It also broadcast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 programs for the Indian people particularly for Eastern Punjab of India after which on 9 Sep.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1965 Indian government had to announce that under Defense Act of India anyone found listening Radio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will be given three years imprisonment. This shows that Radio Pakistan’s propaganda programs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very successful and it was being listened there and had more credibility than All India Radio that had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already lost its credibility by giving a wrong news of Lahore’s occupation at the early stages of the war.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Ayub Khan’s era Radio Pakistan being a state-controlled medium of communication worked 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government’s mouthpiece and therefore started losing its credibility in the eyes of the public, particularly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1968 when Radio Pakistan celebrated 10 Years of Progress with the government, it was very difficult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to absorb these celebrations as reality that they were seeing with their own eyes was saying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something contrary to these celebrations.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Till 60’s and even before partition the most popular format of radio was Radio Drama. Radio Pakistan did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very well as far as producing dramas are concerned; in fact it is very lucky to have such a big names like Rafi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Peer, Imtiaz Ali Taj etc in its very early days. The artists who worked in that golden era of Radio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still as famous as they used to be at that time.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 Programs of Radio Pakistan were also very popular. Moni Hameed, who worked as host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children’s Programs on Radio Pakistan and even in Untied India’s radio is still remembered for her beautiful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perfect voice.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being a medium of sound has always given an importance to the perfect voice of broadcast quality.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reason is that unlike other medium of communication the message delivered through radio has no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23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Parallel messages (body gestures, expressions etc) with it. So a prefect voice for broadcast is preferred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appreciated as it helps to fill the space left by Parallel messages. Now background music and sound effects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are improving with the passage of time are used as Parallel messages in radio broadcast.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(Cont….) </a:t>
            </a:r>
            <a:endParaRPr lang="ko-KR" altLang="en-US" dirty="0" smtClean="0" sz="1097"/>
          </a:p>
          <a:p>
            <a:pPr marL="0" indent="0" defTabSz="15240" algn="l">
              <a:lnSpc>
                <a:spcPts val="6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26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IN PAKISTAN II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“To express the public opinion and to mould the public opinion is the primary duty of all the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in a democratic society.”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 Ayub Khan's policies of concentrating political power in his own hands, his control over the press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media, imposing state of emergency in the country, and his interference in religion kept infuriating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people. Adding insult to injury, he celebrated a decade of his rule with the mass media (state-owned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and radio) in 1968 and made exaggerated claims about the development in the country.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end of 1968, the public resentment against the Ayub's regime touched a boiling point and an anti-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Ayub movement was launched by the urban-middle class; including students, teachers, lawyers, doctors,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engineers. The Joint Labor Council called for a labor strike. Demonstrations and agitation swept the whole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country. Law and order broke down and Ayub was left with no other option but to step down.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National integration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as a newborn state had a very strange territorial shape; it was comprised of two wings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had a hostile territory of 1400-1500 km in between them. Not only this, the two parts of the country had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languages, culture and traditions too, the only thing they shared was Ideology of Pakistan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they struggled together under the leadership of Quaid-e-Azam. When Pakistan came into being it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responsibility of its leaders and mass media to bring the people of East Pakistan and West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closer to each other by introducing them to each others cultures, traditions, languages and building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harmonious  relationship between them. But unfortunately the state’s media and leadership failed to bring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 close to each other. Radio Pakistan, rather than dividing its transmission into reasonable categories,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preferred to divide its stations and their responsibilities. Radio Pakistan’s Dhaka station transmitted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programmes in Bengali and Radio Pakistan’s stations in West Pakistan kept transmitting most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programmes in Urdu to which most of the people living in East Pakistan were unfamiliar of; a very small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 of Radio Pakistan’s transmission was in English which was a common language of understanding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between the people living at two ends of the same country.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a successful federation it is very important for the people to be aware of each other’s culture,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background and traditions and no one can perform this job better than the mass media, in fact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integration is one of the major responsibilities of mass media, which Radio Pakistan failed to accomplish.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newspapers were also available but due to the lack of transportation facilities and the distance we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had between the two ends it wasn’t possible to achieve such a big task through a limited mass medium like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newspapers. Radio was the only medium available that had the capability to do this job but unfortunately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failed.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and Development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UNESCO when suggested the use of mass media for development purposes particularly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underdeveloped or developing countries, the best medium it found around to be used for the purpose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Radio. UNESCO invited all nations to join in this great venture for the unshackling of men’s minds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liberation of a new technological, civic and moral potential everywhere.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this important decision was adopted by the General Assembly, a number of significant events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occurred within the framework of the U.N. and UNESCO which reveal the interest the idea of a mass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literacy campaign has aroused around the world.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Thus, two U.N. regional bodies – the Economic Commissions for Africa and for Asia and the Far East –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met respectively at Addis Ababa in February and Tehran in March 1964 and adopted resolutions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recommending that the governments of those regions include adult literacy programmes in their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education plans as a part of overall development. Similarly, the regional conferences of the Asian and Arab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National Commissions for UNESCO, the former held in Bangkok in February and the latter in Algiers in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29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March, used almost identical terms to stress the importance of literacy in those countries. At Algiers the idea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advanced for a regional system to co-ordinate activities in this field.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is an agricultural country. Today’s world is a world of mechanized farming. Radio can be and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used here to provide, the people in remote areas, information regarding modern farming which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definitely help in country’s overall development in agriculture sector.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1950 Japan invented transistor radios which are now available in very small sizes. In most cases only 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dry cell is required to make them work. After the invention of transistor radios it has become much easier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 this medium of mass communication for development purposes. People are conveyed messages though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programmes in their native languages and by favorite artists.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Pakistan is broadcasting programmes in 31 different languages, among them 23 are local languages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8 are international languages. Total broadcast hours of Radio Pakistan are 400 which is quite a time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properly and constructively. World’s biggest broadcasters, Voice of America and BBC have a 1000 hrs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 on daily basis and they are broadcasting their programmes in 70 different languages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definitely involve propaganda programmes too. </a:t>
            </a:r>
            <a:endParaRPr lang="ko-KR" altLang="en-US" dirty="0" smtClean="0" sz="1097"/>
          </a:p>
          <a:p>
            <a:pPr marL="0" indent="0" defTabSz="15240" algn="l">
              <a:lnSpc>
                <a:spcPts val="49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32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PAKISTAN – SERVICES AND FORMATS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in Pakistan started its job more as a source of entertainment than information or education.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its wonderful music, evergreen plays and sports coverage with vibrant running commentaries,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thought to be a medium made for entertainment at home. Later, Radio Pakistan emphasized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developing its other formats and services and extending its boundaries to other responsibilities and duties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owes towards the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Pakistan broadcast programmes in different formats that are discussed below: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Director General News is the in-charge of this department. His responsibility is to ensure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policy of the channel is followed by the news producers and the news bulletins which they are preparing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may not carry any such news item or information that is against the news policy of the channel. Being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state-controlled body Radio Pakistan has always kept its policies in accordance with the government,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therefore people listen to Radio Pakistan particularly when they want to know government’s stance on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issue or government’s policies regarding different things. Initially Radio Pakistan used to broadcast a few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bulletins in a day, now it is broadcasting a news bulletin after every hour to keep people informed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updated.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procedure that is followed in this format is that reporters collect news from different places and bring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 to the newsroom where they are sub-edited and after that selected to be placed in the news bulletin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will then be sent on air. Radio Pakistan also receives news from international and national news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agencies. For central news bulletin, news are sent to the Central Newsroom Islamabad, where they are again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edited by the news editor and after that chosen for the news bulletin. Central news bulletin is always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comprised of very important news whether national or international.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news usually do not carry that much details of a news as we can read in newspapers. To cover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insertions are made in news bulletins which could be a police officer’s statement on some murder case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a part of foreign office spokesperson’s briefing about government’s stance on some international issue.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Current Affairs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is another important format of Radio Pakistan. The programmes formed under this format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 be further divided into various categories. E.g. discussions, talk shows, interviews, seminars,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conferences etc. Usually the current affairs programmes involve debate on hot or important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national issues. The basic purpose of these programmes is to keep people aware of the issues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problems which they are surrounded with and also to keep them up to date. In these programmes both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sides of a picture are made public regarding some topic and then the decision is left on public.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Entertainment Programs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1. Drama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Drama is usually defined as a literary work in which the characters experience some sort of internal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external conflict. It is a very important format in entertainment or programming section. Radio drama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very different from TV drama. In radio drama there are no parallel messages along with the real message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has to be delivered, a voice artist has to be very expert in his dialogue delivery so that he could convey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true sense of his message. Radio Pakistan is very lucky in this genre as it had really good dramatists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performers even in its very early days when its other formats were not so developed.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2. Sports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Sports have always been a part of Radio Broadcast since its first day. Vibrant running commentaries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nation’s favorite games have added a lot to the radio’s popularity particularly before the arrival of TV,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still, in many parts of the world where there is no electricity or where people cannot afford to have TV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sets, they still tune in radios just to listen the running commentaries of Cricket or Hockey matches.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35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International Broadcasts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International broadcasts can also be divided into three main categories.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is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World Service for Overseas Pakistanis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In these broadcasts programmes are produced to keep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expatriates aware of what is going on in their homeland, usually local and national issues are discussed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programmes. Some entertainment-based programmes are also produced in this category. Then comes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External Service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(in almost all important international languages), these broadcasts are usually aimed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building and improving the image of Pakistan internationally. Another objective of these programmes is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build PR or better relations with foreign nations.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Propaganda broadcast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another category of International Broadcasts. These broadcasts are usually aimed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demoralizing or provoking the rival nations and their people against their own governments.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Library/ Archives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Library is the richest place in Radio Pakistan. Its archives have everything, Quaid-e-Azam’s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speeches and addresses, country’s political leader’s addresses, interviews of important personalities, musical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archives, dramas, etc. They are kept in the form of audio cassettes and cds.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USA since 1924 radio is being used as a commercial medium. Radio Pakistan got commercial in 1970s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it involved itself in advertising and sponsorships. In the present times, for a medium to be popular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public has to be successful commercially. Now ratings are issued for every program and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 gets more ads which is listened by more people. So, now competition is linked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commercialism. </a:t>
            </a:r>
            <a:endParaRPr lang="ko-KR" altLang="en-US" dirty="0" smtClean="0" sz="1097"/>
          </a:p>
          <a:p>
            <a:pPr marL="0" indent="0" defTabSz="15240" algn="l">
              <a:lnSpc>
                <a:spcPts val="4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38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28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AND DEVELOPMENT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the invention of transistor radio, radio did have some limitations e.g. it wasn’t possible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anyone to take it with him/her at far off places where there is no electricity or where radio signals could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reach. But with the arrival of transistor radios Japanese made it possible for the people to use radio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than it was used before. Development communication is one of those important areas (after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invention of transistor radio) where radio did a lot in most parts of the world and is still doing in 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 Communication refers to a spectrum of communication processes, strategies and principles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within the field of international development, aimed at improving the conditions and quality of life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struggling with underdevelopment and marginalization.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 communication is characterized by conceptual flexibility and diversity in the application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techniques used to address the problems of development. Some approaches in the “tool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kit” of the field include: information dissemination and education, behavior change, social marketing, social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mobilization, media advocacy, communication for social change, and participatory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 communication is for the betterment of the society, though raised from a particular group but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affects the whole mass for better.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Nora Quebral (1971) of the University of the Philippines at Los Baños first used the term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development communication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the concept has become entrenched in communication studies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practice.				Another working definition that contains many of the tenets and assumptions of the concept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refers to development communication as the planned and systematic application of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resources, channels, approaches and strategies to support the goals of socio-economic, political and cultural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the decades of the 1960s and 1970s, development communication strategies and approaches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employed in numerous development programmes and projects across the length and breadth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underdeveloped and developing countries of Asia and Africa.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Radio and Education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has been used extensively as an educational medium in developing countries. Published reports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confirm that it has supported educational programs in a wide range of subject areas and in many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countries. Consider the following list of examples (which is by no means exhaustive). Educational radio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utilized in: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Thailand, to teach mathematics to school children (Galda, 1984), and for teacher training and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curricula. (Faulder, 1984).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India, for rural development. (Long, 1984).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Swaziland, for public health purposes. (Byram &amp; Kidd, 1983).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Mali, for literacy training. (Ouane, 1982).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Columbia, for various programs. (Muhlmann de Masoner, Masoner, &amp; Bernal, 1982).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Mexico, for literacy training and other programs. (Ginsburg &amp; Arias-Goding, 1984).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Nigeria, for management courses for the agriculture sector. (Shears, 1984).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Kenya, in support of correspondence courses. (Kinyanjui, 1973).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Nicaragua, for health education. (Cooke &amp; Romweder, 1977).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02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1978).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Sri Lanka, for family planning and health. (Academy for Educational Development, 1980).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Trinidad and Tobago, to promote knowledge of breastfeeding. (Gueri, Jutsen &amp; White, 1978).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South Korea, in support of family planning. (Park, 1967).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Botswana, for civics education. (Byram, Kaute &amp; Matenge, 1980).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Dominion Republic, in support of primary education. (White, 1976 )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Paraguay, to offer primary school instruction. (Academy for Educational Development, 1979).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41" name="Rect 3"/>
          <p:cNvSpPr>
            <a:spLocks noGrp="1" noChangeArrowheads="1"/>
          </p:cNvSpPr>
          <p:nvPr/>
        </p:nvSpPr>
        <p:spPr>
          <a:xfrm rot="0">
            <a:off x="1645920" y="7766050"/>
            <a:ext cx="3567430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Philippine, for nutrition education. (Cooke &amp; Romweder, 1977).  </a:t>
            </a:r>
            <a:endParaRPr lang="ko-KR" altLang="en-US" dirty="0" smtClean="0" sz="1097"/>
          </a:p>
        </p:txBody>
      </p:sp>
      <p:sp>
        <p:nvSpPr>
          <p:cNvPr id="142" name="Rect 3"/>
          <p:cNvSpPr>
            <a:spLocks noGrp="1" noChangeArrowheads="1"/>
          </p:cNvSpPr>
          <p:nvPr/>
        </p:nvSpPr>
        <p:spPr>
          <a:xfrm rot="0">
            <a:off x="1417320" y="7921625"/>
            <a:ext cx="5682615" cy="17926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>
                <a:solidFill>
                  <a:srgbClr val="000000"/>
                </a:solidFill>
                <a:latin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Guatemala, in order to promote changes in farming practices and to improve production. (Ray, </a:t>
            </a:r>
            <a:endParaRPr lang="ko-KR" altLang="en-US" dirty="0" smtClean="0" sz="1097"/>
          </a:p>
          <a:p>
            <a:pPr marL="0" indent="0" defTabSz="15240" algn="l">
              <a:lnSpc>
                <a:spcPts val="1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Educational radio has been employed within a wide variety of instructional design contexts. In some cases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supported by the use of printed materials, by local discussion groups, and by regional study centres. It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sometimes designed so as to permit and encourage listener reaction and comment. Indeed, in some cases,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is provision for the audience to raise questions and to receive feedback.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Farm Radio Forum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 most dominant and widespread examples of the use of educational radio is known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"Farm Radio Forum." It was started in Canada in 1941 as a radio discussion program and served as a model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was adopted subsequently in a number of developing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lessons learned from Canada such as the use of forums, multi-media, printed materials, two-way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and various production techniques (drama, interview, panel discussion) were then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 in India early in 1956, and in Ghana in 1964, with the initiative and sponsorship of UNESCO.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radio programs for rural forums have been concerned with the problems of agriculture, rural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development, rural education, innovations, self-government and literacy. Such forums have now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introduced in many developing countries. By 1968, a total of about 15000 was reported. (Nyirenda, 1981;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Waniewicz, 1972).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a study sponsored by UNESCO, Paul Neurath (1959, 1960) studied the effects of a Farm Radio Forum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project at Poona, India. He compared 145 forum villages with non-forum villages. The forum lasted for ten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weeks with a total of twenty programs. Each forum had twenty members who came together twice a week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listen to a thirty-minute program on subjects such as agriculture, health, and literacy. Forum members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interviewed before and after the project as were samples of twenty adults from each of the control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villages. Each forum was visited and observed four times during the project. It was found that forum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members learned much more about the topics under discussion than did adults in villages without forums.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Neurath (1959):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“Radio farm forum, as an agent for transmission of knowledge, has proved to be a success beyond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expectation. Increase in knowledge in the forum villages between pre and post-broadcasts was spectacular,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whereas in the non-forum villages it was negligible. What little gain there was occurred mostly in the non-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forum villages with radio.”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Education and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Evaluation of communication programs, projects and experiments have repeatedly shown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can teach; it can present new concepts and information (Galda &amp; Searle, 1980; White, 1976, 1977;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Leslie, 1978; Jamison &amp; McAnany, 1978; Byram, Kaute &amp; Matenge, 1980; Hall &amp; Dodds, 1977; McAnany,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1976). In this regard, Sweeney and Parlato (1982) concluded that radio plays an effective educational role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both as the sole medium or in conjunction with print and group support.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Dialogue and Innovation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some cases, radio has been used effectively to advise populations of new government policies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to encourage discussion, feedback, and eventual support for new measures. Radio has also been used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promote community development, innovation, and other programs in which self-help and community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participation are essential: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Neil (1981) contends that educational radio can only be effectively utilized by employing the following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techniques: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								Using educators with long (and preferably recent) experience of living in rural areas.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								Communicating, in detail and continually, with the leaders of village learning groups where these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exist.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3.								Paying careful attention to, and learning from, the work of local communities or other organized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groups (for example, farmers, agricultural and health service radio broadcasters).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4.								Working through valid intermediaries such as chiefs or headmen in villages, i.e., through established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accepted social structures. 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45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5.								Encouraging illiterate people to communicate their ideas and concerns through trusted and better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educated villagers, who can act as scribes if, required.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Community Radio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Community radio is a type of radio service that caters to the interests of a certain area, broadcasting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material that is popular to a local audience but is overlooked by more powerful broadcast groups.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Community media is a term that describes media which are small in scale, and which are owned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operated by citizens on a not-for-profit basis to exclusively serve the public interest of a relatively small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community e.g. a cluster of villages or small settlements, or a small town or a city, or parts of a city.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can reach communities who live in areas with no phones and no electricity. And it reaches people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 can't read or write. Even in very poor communities, radio penetration is vast. Community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stations can play a significant role in increasing participation and opinion sharing, improving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diversifying knowledge and skills and in catering to health and cultural needs.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Thus, community radio in developing countries can give people hope for a better future. And groups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individuals from poor communities from across South Asia are taking communication and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matters in to their own hands and exercising greater control over their access and services. Even before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governments give official sanction to electronic community media, an increasing number of communities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exploring whatever avenues are open to them to get their voices and messages heard.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Generally, for successful development communication Mass Media must ensure: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Accessibility of the message to the target audience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should be attractive enough to attract the target audience.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Selection of the message on listener’s choice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Right time of broadcast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distance education, when TV was not there, in different parts of Pakistan, radio was used as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educational medium to teach children in their classrooms. It was mostly practiced in villages, and along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school going children it was also used and is still being used to educate elderly people. Pakistan is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agricultural country so teaching modern farming techniques is one of the basic objective of broadcasters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government which they are achieving and practicing through Radio.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Health is another area where Radio Pakistan and other private radio stations are doing a lot in creating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awareness among people regarding different diseases that are preventable with a little care. As it is said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prevention is better than cure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People in remote villages are not even aware of basic hygiene techniques radio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trying to aware masses of these basic things that can change their lives miraculously without any investment.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important issue in this area on which radio is trying to aware people is Family Planning and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advantages. Government is running campaigns through media (print and electronic media) and other forms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communication which even involve face to face communication to increase awareness among people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subject.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Commercial Broadcast and radio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broadcast in South Asia was first started by Radio Salon, Sri Lanka. After that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Pakistan was formed, it followed the same technique and was so popular among its listeners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market of South Asia which was initially relying on Radio Salon now turned its direction towards Radio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for its ads and commercials. Now Radio Pakistan is working as a complete commercial medium.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PEMRA has issued almost 70 licenses to new FM channels out of which 20 have started working.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FM channels are not only providing entertainment but are also serving the society through their other social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public service broadcast and messages. </a:t>
            </a:r>
            <a:endParaRPr lang="ko-KR" altLang="en-US" dirty="0" smtClean="0" sz="1097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48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49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42745" y="1603375"/>
            <a:ext cx="301625" cy="3441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093335" y="6711950"/>
            <a:ext cx="1487170" cy="74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093335" y="7470775"/>
            <a:ext cx="1487170" cy="28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257800" y="7927975"/>
            <a:ext cx="1350010" cy="2832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LOUD SPEAKERS, AUDIO CASSETTES &amp; TAPE RECORDERS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Audio linked with radio s used for mass communication in two ways: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Loud Speakers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Instant feedback is an advantage that is only available in face to face communication i.e. inter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personal communication. In other forms of mass communication instant feedback is still a dream. To get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rid of this disability, loud speakers were invented that made it possible for communicators to communicate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a mass level and get an instant feedback too. Loud speakers are used to deliver public speeches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politicians and public leaders. In rural areas they are also used for making announcements and public service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messages. E.g. during floods when electricity system and other communication means are adversely affected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heavy flow of water.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Loud speakers are very useful mean of communication in two step flow of communication. When the frame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reference of the sender and receiver is different or due to social differences or due to any other barrier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is not convincing for the person on receiving end and the communication is becoming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unsuccessful opinion leaders (usually religious leaders are considered as opinion leaders in religious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societies) are used to achieve the desired results. Opinion leader then conveys the same message to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target audience that in most cases is very successful. This is called as two step flow of communication.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remote and rural areas, mostly the mean of communication used for this two step flow formula, is loud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speaker.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Loudspeaker, speaker, or speaker system is an electromechanical device which converts an electrical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signal into sound. The term loudspeaker is used for both individual devices and for complete systems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consisting of one or more drivers (as the individual transducers are often called) in an enclosure, often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crossover circuit.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Alexander Graham Bell patented the first loudspeaker as part of his telephone in 1876. This was soon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followed by an improved version from Ernst Siemens in Germany and England (1878). Nikola Tesla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believed to have created a similar device in 1881. The modern design of moving-coil drivers was established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Oliver Lodge in (1898). The moving coil principle was patented in 1924 by Chester W. Rice and Edward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W. Kellogg.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first loudspeakers used electromagnets because large, powerful permanent magnets were not available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reasonable cost. The coil of an electromagnet, called a field coil,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energized by direct current through a second pair of connections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driver. This winding usually served a dual role, acting also as a choke coil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filtering the power supply of the amplifier to which the loudspeaker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connected.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quality of loudspeaker systems until the 1950s was, to modern ears, poor.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Developments in cabinet technology and changes in materials used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actual loudspeaker led to audible improvements. Despite their low-tech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appearance, paper cones (or coated paper cones, where the paper is treated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a substance to improve its performance) are still in use today and can provide good quality sound.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Plastics (e.g. Polypropylene), metals (e.g. aluminum), and composite materials (e.g. fiber-reinforced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materials) are also used as diaphragm materials.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Additional improvements in loudspeaker technology occurred in the 1970s.  </a:t>
            </a:r>
            <a:endParaRPr lang="ko-KR" altLang="en-US" dirty="0" smtClean="0" sz="1097"/>
          </a:p>
          <a:p>
            <a:pPr marL="0" indent="0" defTabSz="15240"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51" name="Rect 3"/>
          <p:cNvSpPr>
            <a:spLocks noGrp="1" noChangeArrowheads="1"/>
          </p:cNvSpPr>
          <p:nvPr/>
        </p:nvSpPr>
        <p:spPr>
          <a:xfrm rot="0">
            <a:off x="1188720" y="1271270"/>
            <a:ext cx="5892800" cy="8442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Loud Speakers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Audio Cassettes&amp; Tape Recorders </a:t>
            </a:r>
            <a:endParaRPr lang="ko-KR" altLang="en-US" dirty="0" smtClean="0" sz="1097"/>
          </a:p>
          <a:p>
            <a:pPr marL="0" indent="0" defTabSz="15240" algn="l">
              <a:lnSpc>
                <a:spcPts val="6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1877, German, Ernst Siemens patented the first loudspeaker on Dec. 14, 1877. Englishmen, Sir Oliver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Lodge received the second patent for a loudspeaker on April 27, 1898. This was all before music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electrified.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1924, two General Electric researchers, Chester W. Rice and Edward Washburn Kellogg patented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modern, moving coil, direct radiator, loudspeaker, which become the prominent design for all loudspeakers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Rice and Kellogg loudspeakers were sold to consumers under the name of "Radiola'' loudspeakers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beginning in 1926, and were superior to anything previously invented by lowering sound distortion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raising audio quality for the consumer. In 1958, the first box-enclosed loudspeakers were invented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Cabesse, a French company.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Tape Recorders and Audio Cassettes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Tape recorder is a mechanical device used for recording on magnetic tape and usually for playing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back the recorded material.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Magnetophon tape recorder was one of the first recording machines to use magnetic tape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preserving voice and music. It was developed in the mid-1930s by German scientists, primarily to record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speeches of Adolf Hitler for later broadcast, especially overseas. Since Hitler enjoyed classical music, 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probably approved of its use in recording concerts. One of the first concerts to be recorded on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Magnetophon was by Sir Thomas Beecham and the London Philharmonic Orchestra, during their 1936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concert tour. When Beecham and the musicians heard the playback they were amazed at the quality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recording since it did not have the surface noise of discs and generally was higher in fidelity.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1940, AEG engineers J. von Braunmühl and Dr. W. Weber accidentally discovered the technique of tape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bias in which the addition of an inaudible high-frequency tone resulted in a striking improvement in sound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quality. In 1944, Magnetophon was used to make the first stereophonic tape recordings, including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performance of Beethoven's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Piano Concerto No. 5.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Magnetophon recorders were widely used in German radio broadcasts during World War II, although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a closely guarded secret at the time. American audio engineer Jack Mullin acquired two Magnetophon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recorders and fifty reels of magnetic tape from a German radio station at Bad Nauheim near Frankfurt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1945, and over the next two years he modified and developed these machines, hoping to create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commercial recording system that could be used by movie studios.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Mullin's public demonstrations of his modified Magnetophon recorders in 1947 amazed American audio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professionals and led directly to the development of the world's first commercially-produced reel-to-reel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tape recorder, the Ampex Model 200, developed by the Ampex electronics company of California.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Magnetic tape proved particularly useful when Columbia Records introduced the first successful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microgroove long-playing records in 1948. It soon became an industry standard and tape recorders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by every major recording label until the development on digital audio tape. Remington Records began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 the first commercial stereophonic tapes in the U.S. in 1953, followed in February 1954 by RCA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Victor. These tapes were initially released for home stereophonic tape machines. (Columbia began taping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stereo in 1957, followed by other major record labels.) In 1958, with the introduction of stereo LPs, RCA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released its first series of "Living Stereo" discs.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Philips introduced the compact audio cassette medium for audio storage in Europe in 1963 and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United States in 1964, under the trademark name Compact Cassette.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Tape recorder is a recording system that uses electromagnetic phenomena to record and reproduce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sound waves. Their invention made it possible particularly for the broadcasters to keep a record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produced programmes for later use and also in the library as an asset. Tape recorders and audio cassettes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used for other purposes like political or religious purposes etc. Their biggest use recorded in the history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54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51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seen during Iran’s Islamic Revolution (1978-79) when even after the ban, the devotees and followers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exiled Ayatullah Khamnei used to bring his speeches and messages to the people living in Iran in the form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audio cassettes.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Nowadays journalists also use them extensively during reporting events and interviews. Radio Reporters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use these tape recorders to record interviews for broadcast particularly in radio news, which, definitely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add to their credibility. In Radio Pakistan and other private radio stations libraries have been formed to keep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record of programs. In these libraries archives are kept usually in the form of audio cassettes and cds.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Tape recorders and audio cassettes are a useful mean of communication particularly in development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In remote areas, they are used to educate people, even in schools they are used to give daily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lessons to the children. This technique of delivering Audio lectures is so catchy and attractive for students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they prefer to take lessons in this form along with other supporting means over conventional learning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system. UNESCO is also using them in various campaigns in different Asian and African developing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underdeveloped countries.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Audio cassettes and cassettes player/ recorders are a complete mass media which are being used to run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various awareness campaigns in rural areas. E.g. farmers are briefed and educated about new farming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techniques, pesticides etc. via this medium. But all these uses are secondary because if analyzed objectively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then their best use is seen with disable people, e.g. blind people. Blind people are getting their education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these audio cassettes, a lot of books are available in audio form, which are being used by these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to learn new concepts and theories and to keep pace with the world. Illiterate people are also getting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benefited as many other means of mass communication particularly newspapers, books and magazines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much of a use to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Video cassettes and recorders i.e. VCRs are another form of this recording system. But to use them TV is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mandatory thing as it has to record visuals with the audio. Invention of VCR added a lot to the usefulness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recording system and of course communication. For development purposes, promoting education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running awareness campaigns VCRs are equally used with cassette player or tape recorders/ players.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Cassette players in the form of Walkman’s are also used on a large scale especially by youngsters/ teenagers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entertainment and fun.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mass communication it is very important that what medium is used on what scale in what way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achieve what objectives? The mass media where helps societies in their development, can also be used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ruin or deteriorate them. In civilized democratic societies, ethics are observed by professionals working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various branches of mass media but mass media like tape recorders/ players and VCRs that are available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man cannot be monitored officially, here responsibility lies on people themselves who must know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these are such a powerful medium of communication that if not used carefully can bring very bad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results like we see in our country. Before the arrival of dish antenna when VCRs were introduced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society, the only thing they were used for was watching smuggled Indian movies that used to come 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Middle East. At layman’s level this medium was not used to attain positive or any educational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informational objectives. Although providing entertainment is an important responsibility of mass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the way these VCRs were used to get entertainment was neither legal nor ethical. Indian cinema brought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Indian culture with it, which is quite visible in the wedding ceremonies and family functions or get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togethers. No preventive measures were taken to save the Native culture. This sudden cultural shift was due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low literacy rate, thirst for entertainment and lack of awareness among people. Local cinema was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capable of providing people healthy entertainment so what they were getting in the form of Indian films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VCRs available at nominal rents was more than something to them. Suppressed minds adopted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foreign approach and culture like nothing which definitely affected our own culture. Some people did raise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hue and cry on social forums against this cultural attack but raising voices against foreign culture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more important than saving your own culture through strong propagation, which was not done. </a:t>
            </a:r>
            <a:endParaRPr lang="ko-KR" altLang="en-US" dirty="0" smtClean="0" sz="1097"/>
          </a:p>
          <a:p>
            <a:pPr marL="0" indent="0" defTabSz="15240" algn="l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57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52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TELEVISION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History of Television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is a common telecommunication system for broadcasting and receiving moving pictures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sound over a distance.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1831: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Michael Faraday in Britain and Joseph Henry in the United States experiment with electromagnetism,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providing the basis for research into electrical communication.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1844: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Samuel Morse publicly demonstrates the telegraph for the first time.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1862: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Italian physicist, Abbe Giovanni Caselli, is the first to send fixed images over a long distance, using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system he calls the "pantelegraph".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1873: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Two English telegraph engineers, May and Smith, experiment with selenium and light, giving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inventors a way of transforming images into electrical signals.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1880: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George Carey builds a rudimentary system using dozens of tiny light-sensitive selenium cells.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1884: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Germany, Paul Nipkow patents the first mechanical television scanning system, consisting of a disc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a spiral of holes. As the disc spins, the eye blurs all the points together to re-create the full picture.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1895: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Italian physicist Guglielmo Marconi develops radio telegraphy and transmits Morse code by wireless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the first time.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1897: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Karl Ferdinand Braun, a German physicist, invents the first cathode-ray tube, the basis of all modern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cameras and receivers.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1906: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Lee Deforest develops the "Audion", a vacuum tube capable of amplifying signals, and thus crucial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electronic revolution. Also this year, Boris Rosing of Russia develops a system combining the cathode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ray with a Nipkow disc, creating the world's first working television system.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1907: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Boris Rosing transmits black-and-white silhouettes of simple shapes, using a mechanical mirror-drum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apparatus as a camera and a cathode-ray tube as a receiver.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1908–1911: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A.A. Campbell-Swinton, a Scottish electrical engineer, publishes proposals about an all-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television system that uses a cathode-ray tube for both receiver and camera.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1923: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Vladimir Zworykin patents the "Iconoscope", an electronic camera tube. By the end of 1923 he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produced a picture display tube, the "Kinescope".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1924: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John Logie Baird is the first to transmit a moving silhouette image, using a mechanical system based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Paul Nipkow's model.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1925: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John Logie Baird obtains the first actual television picture, and Vladimir Zworykin takes out the first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patent for colour television, although electronic colour systems are not fully developed until 25 years later.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1926: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John Logie Baird gives the first successful public demonstration of mechanical television at 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laboratory in London.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1927: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British Broadcasting Corporation is founded, and the Columbia Phonographic Broadcasting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System — later CBS — is formed. Pictures of Herbert Hoover, U.S. Secretary of Commerce,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transmitted 200 miles from Washington D.C. to New York, in the world's first televised speech and first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long-distance television transmission.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1928: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John Logie Baird transmits images of London to New York via shortwave.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1929: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London, John Logie Baird opens the world's first television studio, but is still able to produce only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crude and jerky images. However, because Baird's television pictures carry so little visual information, it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possible to broadcast them from ordinary medium-wave radio transmitters.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1930: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first commercial is televised by Charles Jenkins, who is fined by the U.S. Federal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Commission. Also this year, the BBC begins regular television transmissions.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1935: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William Hoyt Peck of Peck Television of Canada uses a transmitter in Montreal during five weeks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experimental mechanical broadcasts. Germany opens the world's first three-day-a-week filmed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service. France begins broadcasting its first regular transmissions from the top of the Eiffel Tower.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1936: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There are about 2,000 television sets in use around the world. The BBC starts the world's first public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high-definition/electronic television service in London.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1938: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DuMont manufactures the first all-electronic television set for sale to the North American public.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these early DuMont television sets is featured in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Watching TV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1939: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Because of the outbreak of war, the BBC abruptly stops broadcasting in the middle of a Mickey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Mouse cartoon on September 1, resuming at that same point when peace returns in 1945. The first major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60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53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display of electronic television in Canada takes place at the Canadian National Exhibition in Toronto.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Baseball is televised for the first time.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1940: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Dr. Peter Goldmark of CBS introduces a 343-line colour television system for daily transmission,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using a disc of three filters (red, green and blue), rotated in front of the camera tube.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1941: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North America's current 525-line/30-pictures-a-second standard, known as the NTSC (National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Standards Committee) standard, is adopted.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1946: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world's first television broadcast via coaxial cable is transmitted from New York to Washington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D.C.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1950: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Cable TV begins in the U.S., and warnings begin to be issued on the impact of violent programming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children. European broadcasters fix a common picture standard of 625 lines. By the 1970s, virtually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nations in the world used 625-line service, except for the U.S., Japan, and some others which adopted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525-line U.S. standard. Over 100 television stations are in operation in the U.S.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1951: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first colour television transmissions begin in the U.S. this year. Unfortunately, for technical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reasons, the several million existing black-and-white receivers in America cannot pick up the colour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programmes, even in black-and-white, and colour sets go blank during television's many hours of black-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and-white broadcasting. The experiment is a failure and colour transmissions are stopped. Also this year,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U.S. sees its first coast-to-coast transmission in a broadcast of the Japanese Peace Conference in San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Francisco.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1952: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first political ads appear on U.S. television networks, when Democrats buy a half-hour slot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Adlai Stevenson. Stevenson is bombarded with hate mail for interfering with a broadcast of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I Love Lucy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Eisenhower, Stevenson's political opponent, buys only 20-second commercial spots, and wins the election.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1956: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Ampex Corporation demonstrates videotape recording, initially used only by television stations. Henri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 France develops the SECAM (sequential colour with memory) procedure. It is adopted in France,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SECAM colour transmission between Paris and London takes place in 1960.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1957: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Russian satellite, Sputnik 1 was the first artificial satellite to be put into geocentric orbit.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1960: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Direct telecast from one continent to other started.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1961: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The beginning of the Dodd hearings in the U.S., examining the television industry's "rampant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opportunistic use of violence".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1962: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Telstar television satellite is launched by the U.S., and starts relaying transatlantic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shortly after its launch. The first program shows scenes of Paris.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1965: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Vietnam War becomes the first war to be televised. Protesters against the war adopt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television-age slogan,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whole world is watching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1967: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FCC orders that cigarette ads on television, on radio and in print carry warnings about the health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dangers of smoking.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1968: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Sony develops the Trinitron tube, revolutionizing the picture quality of colour television. World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ownership nears 200 million, with 78 million sets in the U.S. alone.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1969: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On July 20, 1969, the first television transmission from the moon is viewed by 600 million viewers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around the world.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1972: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 American-conceived Intelsat system is launched this year, becoming a network and controlling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body for the world's communications satellite system.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1973: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Ninety-six countries now have regular television service.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1979: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There are now 300 million television sets in operation worldwide. Flat-screen pocket televisions,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liquid crystal display screens, are patented by the Japanese firm Matsushita.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1980: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India launches its national television network. Also during the 1980s, in the U.S. and Germany, laws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policies are enacted to preserve a person's right to television in the event of financial setback. Later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year, the U.S. Cable News Network (CNN) goes on the air in the U.S.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1996: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There are over a billion television sets in operation around the world.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History of Pakistan Television (PTV)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 Television Corporation Limited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Television Corporation Limited (PTV) is a public limited company. All its shares are held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Government of Pakistan. The decision to establish a general purpose television service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participation of private capital and under the general supervision of the Government of Pakistan (GOP)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taken in October 1963. In 1962, Philips had already introduced TV; in 1963 they ran a train and showed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63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54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skits and programs to the people in different parts of the country to promote television.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of Pakistan signed an agreement with Nippon Electronic Company (NEC) of Japan, allowing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to operate two pilot stations (Lahore, Dhaka) in Pakistan. The first of these stations went on air in Lahore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26 November 1964. On the completion of the experimental phase, a private limited company, called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Promoters Limited was set up in 1965, which was converted into a public limited company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1967. Television centres were established in Karachi and Rawalpindi/Islamabad in 1967 and in Peshawar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Quetta in 1974.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PTV’s satellite transmission is round the clock. The transmission includes ETV and PTV world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transmission.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Karachi Centre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Karachi Centre commenced its transmission on November 2, 1967 and was the first full-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fledged station housed in its own building fully and properly equipped with better technical extensive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equipment for production by electronic methods it has four main colour studios, including one designed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equipped for News.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professional quality of its varied programme fare, be it music or drama has been of a top standard.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PTV-Karachi Centre along with four re-broadcast stations at Thana Bola Khan, Shikarpur, Noorpur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Thando Allahyar, connected to other RBSs in the country through Microwave link cover about 90%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population.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Lahore Centre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Lahore’s pilot centre started in collaboration with N.H.K. Company in a very small studio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known as Studio 'C' (with three Cameras, one Tape recorder, one 35mm Telecine, one 16mm Telecine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Opaque Projector.). Studio 'C' was situated inside the Pakistan Broadcasting Corporation, Lahore area.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Lahore centre started its transmission on 26 Nov., 1964, six days in a week (Monday off-day) in black &amp;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white, with a very limited staff.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that time, all studio programmes were telecast "LIVE" as no VTR recording machines were available,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were made available in the year 1968.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Peshawar Centre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Pilot TV Centre was formally inaugurated on December 5, 1974 at 2-Fort Road, Peshawar. It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Black &amp; White production/ transmitting centre consisting of recording studio and a booth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news/announcement.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February 18, 1982 Main Color TV Centre was inaugurated at 58 Shahrah-e-Quaid-e-Azaim with two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production studios, one announcement/ news studio, an outdoor broadcast van &amp; 7 portable outdoor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recording units for News/Current Affairs and Programmes.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Quetta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Quetta was established during 1974 in the abandoned Masonic Lodge, Quetta Cantt. and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formally inaugurated on 26th November, 1974 (on the 10th opening anniversary of PTV in Pakistan, as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PTV Centre was established in Lahore on 26th November, 1964 and later on too, most of the centres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established on 26th November).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Importance of TV as a mass medium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is a very useful medium of communication as along with the real message all kinds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parallel messages can also be seen and heard on it. The only drawback it has or can say the difference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between face to face communication and mass communication via TV is that in case of TV Instant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Feedback is not available.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History gives us many examples that show the importance of television. In American-Vietnam war, USA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defeated by Vietnam. After the war US defense department researched and found out the major causes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66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55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their defeat. At the top of the list was electronic media particularly television. American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showed the war and its horrible images live on television and American people saw that how innocent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are being killed which turned them against their own government and they pressurized it to pull back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troops.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Guideline given to PTV regarding its channel policy included various things some of which are mentioned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below: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religion or sect of a religion.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beginning when television came to Pakistan and PTV’s foundation was laid in Lahore, no trained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staff was available; so most of the people who were initially included in its team were called from Radio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and PTV therefore, came under the shadow of radio particularly in the area of news. There was no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difference between radio and TV news other than this fact that in case of TV one can see picture too.  </a:t>
            </a:r>
            <a:endParaRPr lang="ko-KR" altLang="en-US" dirty="0" smtClean="0" sz="1097"/>
          </a:p>
          <a:p>
            <a:pPr marL="0" indent="0" defTabSz="15240" algn="l">
              <a:lnSpc>
                <a:spcPts val="48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69" name="Rect 3"/>
          <p:cNvSpPr>
            <a:spLocks noGrp="1" noChangeArrowheads="1"/>
          </p:cNvSpPr>
          <p:nvPr/>
        </p:nvSpPr>
        <p:spPr>
          <a:xfrm rot="0">
            <a:off x="1188720" y="1743710"/>
            <a:ext cx="5892800" cy="797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PTV’s programs and broadcast will not promote biased or prejudiced approach towards any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They will not show immoral or unethical programs.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 ethnic, racial or linguistic discrimination.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No gender discrimination. </a:t>
            </a:r>
            <a:endParaRPr lang="ko-KR" altLang="en-US" dirty="0" smtClean="0" sz="1097"/>
          </a:p>
          <a:p>
            <a:pPr marL="0" indent="0" defTabSz="15240" algn="l">
              <a:lnSpc>
                <a:spcPts val="5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TELEVISION AND VCR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1972 colour television was introduced in the country and along with that via microwave link,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nationwide broadcast also started. In 1975, VCP and VCR i.e. video cassette player and video cassette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recorder were introduced.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the arrival of VCR some rapid changes were observed in the society, which were mostly quite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negative. The introduction of VCR was not very formal to our society, initially it was brought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expatriates who were working in Middle East; they brought these VCRs along with other electronic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machines as gift to their families. This is how VCR started penetrating into the society. As Pakistani cinema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not very strong so the most attractive entertainment available to people was those Indian movies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also entering our borders via Middle East after the ban was imposed on their import by government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1962. It affected the society in two ways. One, it destroyed our culture as Indian dresses customs, traditions,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styles, and societal behaviors and approaches started getting popular here. Secondly, due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entertainment available at home in the form of VCR people stopped going to cinemas and our film industry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had just started taking its roots, was affected really badly and it started moving towards decline before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reaching the boom.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 Eastern societies, VCR was not a welcoming invention for the western societies too. Television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thought to be building bonds within the families and a new term TV Lounge was getting popular where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whole family used to sit together just to watch television, started segregating again as now they had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recording device at home on which they can record their favourite programs and watch it anytime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want. So the bonds started weakening again.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TV on Pakistani society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affected our society in many different ways which were both positive as well as negative.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television came there was so much excitement in the air that people used to go to each others houses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just to watch TV, if the don’t have it at their own home.  The famous personalities, actors and newscasters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like their own family members to them, not just this they used to take TV itself as a family member.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whole architecture changed. Now TV lounge was a mandatory part of every map of a house. Now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were more well-informed because in shape of TV they had a regular supply of information available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their homes. In the form of news, especially they were seeing everything happening in the world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own eyes. World sporting events, religious festivals, cultural events, wars, everything was now on TV.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1979, the whole world saw man’s first foot on moon. Similarly when tsunami came in South East Asia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2005, in every nook and corner of the world, people saw innocent people dying.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a survey, in Pakistan there are almost 40 Lack TV sets and if watched 2 hrs/set and 5pesons/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set then the average TV viewing that comes out is 4crore.hrs. This figure alone is enough to tell how strong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viewing has become in Pakistan which ultimately increases its impact on the society. Now PTV has 24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hrs transmissions. In 2003, PTV National was started which broadcasts news and other programs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regional languages of the country. PTV National shows that PTV has ultimately broken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watertight compartment policy.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Television – a tool of psychological warfare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as a powerful mass medium has played a great role in psychological war fares. E.g.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Gulf War when American Army was welcomed in Kuwait whole world saw it on their TV sets.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American lobbyist firm’s MD gave a speech in American Military Academy and told there that the flowers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American flags that were seen in that footage were provided by his firm who was given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responsibility by the American government to lobby all people in their favour.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Cold War ended in 1992, East and West Germany unified and the wall between East and West Berlin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fallen. Whole world saw those sentimental images on media, many divided families re-united on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historical day which became an event. For quite a time, western media kept repeating that footage on their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72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57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channels and portrayed that it’s not the Berlin Wall that has fallen rather it is the Communist Ideology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has fallen with the wall.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Similarly, when Baghdad was taken over by USA in 2004 it was thought by the Americans that they’ll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welcomed in Iraq in the similar way they were welcomed in Kuwait but on the contrary Iraqi people did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 any enthusiasm towards American invasion. American military tanks while patrolling in Baghdad’s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streets saw some of Saddam’s opponents trying to knock down his big brass statue but due its weight were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succeeding; those military soldiers helped that small group of people in demolishing that statue.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American media captured that scene and repeatedly showed it on various channels. Experts later noted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 long shot was taken by the cameraman of the scene and the crowd which was quite small in number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very prominent in the footage. Only close shots of the scene were taken which shows political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maneuvering of the incident, which definitely affects those who are seeing it and completely changes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meaning of the whole footage.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initial stages of the same war, British soldiers entered Basra City , Al-jazeera television of Oman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showed some clips in which they showed some dead British soldiers who died in that combat. USA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Britain protested at a very high level for showing this footage on media and declared it against the Geneva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Convention. The actual reason was that before American-Vietnam war they were not aware of the impact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on public’s opinion, now they were aware of it, they knew that it will not have a positive impact on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 people when they will see their own soldiers lying dead on TV.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Seeing is believing. This proverb makes the importance of television very clear.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has never done much as far as its news coverage is concerned. However, it has done a lot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category of entertainment, particularly Drama. PTV’s Drama was so powerful that it competed with Indian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Cinema and it is due to PTV drama that they had to start Parallel Cinema or Art cinema so that they could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beat PTV. PTV has used its dramas to address many social issues and it can do much more particularly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addressing those social problems that are poisoning our society slowly and still considered as social taboos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no one discuses them openly. A problem cannot be solved until and unless it is not addressed. PTV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play its part in this area via its plays. </a:t>
            </a:r>
            <a:endParaRPr lang="ko-KR" altLang="en-US" dirty="0" smtClean="0" sz="1097"/>
          </a:p>
          <a:p>
            <a:pPr marL="0" indent="0" defTabSz="15240" algn="l">
              <a:lnSpc>
                <a:spcPts val="3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75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58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22720" y="5516880"/>
            <a:ext cx="478790" cy="44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22720" y="6193790"/>
            <a:ext cx="478790" cy="4387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522720" y="6809105"/>
            <a:ext cx="478790" cy="44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507480" y="7418705"/>
            <a:ext cx="506095" cy="4692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507480" y="8195945"/>
            <a:ext cx="506095" cy="4692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 TELEVISION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television filled the space left in the entertainment industry by the Pakistani Film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dramas. PTV’s Long plays were even capable of competing with Indian Parallel Cinema.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Initially PTV had only one channel i.e. PTV 1 but with increasing demand and pressure from people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international media  Ministry of Information decided to launch an educational channel which was named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ETV. ETV used to broadcast Allama Iqbal Open university’s lectures. Its target audience was those children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students who wanted to study but could not due to financial constraints or any other reason. PTV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 was another channel launched to make Pakistan a part of this Global Village and to tell the world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expatriates how rich we are in our culture and mores.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that PTV broke its long time watertight compartment policy by launching PTV National. It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launched to promote and preserve different cultures of different regions of the country and of course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play PTV’s long dued part in National Integration.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PTV is not just facing competition at national level in the form of private channels but it is also facing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challenge on international level. The country whose media is not strong and cannot make its voice heard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international community cannot stand anywhere. It’s like being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out of sight, out of mind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situation.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make one’s place in this Global Village one has to have a strong and free electronic media. Understanding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this, Pakistan television started PTV World which is a complete news channel that not only covers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important national and international incidents in the form of news but also broadcasts analytical &amp; critical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reviews, experts’ opinions on hot issues and discussion programs.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Academy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main project of PTV i.e. having PTV’s own training academy was approved in 1981 with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estimated cost of Rs.33.9 million from the government, whereas PTV had to contribute Rs.9.7 million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form of old/used equipment. Engineering Training Cell was established in 1978 to train PTV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Engineers.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World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World, a new satellite channel was launched in the face of tough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competition. The objective was to provide update news for 24 hours.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National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objective of PTV National is to provide different local News and as well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entertainment in all languages spoken in different parts of the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AJK TV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AJK TV is a Kashmiri Channel, providing different programs for local viewers, including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Kashmiri and Gojri news.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BOLAN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Bolan is a complete channel launched to cover an ignored province and region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country i.e. Balochistan. It broadcasts news and programs in different local languages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 GLOBAL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Every field in the world is passing through the process of globalization; likewise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has entered into global competition. PTV Global would provide entertainment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latest news to Pakistanis working abroad. </a:t>
            </a:r>
            <a:endParaRPr lang="ko-KR" altLang="en-US" dirty="0" smtClean="0" sz="1097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78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59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Shalimar Television Network (STN), the first private channel (in fact semi government channel)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country, used to re-telecast programmes of BBC, CNN, TNT Movies etc. besides its own productions.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news bulletins that STN used to take from CNN were first re-edited according to the government’s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policies and then sent on-air.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PTV’s Policy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 the guidelines that were given to PTV for their News Policy, particularly, one important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instruction was to form and maintain a neutral policy. It was asked to adopt that policy in which all political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parties would be given equal importance and their view points will be conveyed to the public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media and no biasness will be shown towards any party. Keeping these instructions in mind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PTV’s past performance is analyzed then we don’t find them really following it. Almost every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the state controlled channel for their own objectives. Opposition has never been given any importance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PTV has always worked as a government’s mouthpiece.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Zia’s regime PTV was different, after that it was different and now it is more than different. Over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PTV has changed a lot and even matured in few areas, in every regime its shape and policies have kept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changing but one thing has always sustained i.e. its bent towards the party or the man in power. Due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competition that it is facing internationally and even due to the new private channels that are more objective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eyes of the people, PTV is changing its policy now, now it is broadcasting open debates in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issues that were not touched before on the national channel, are even discussed.  </a:t>
            </a:r>
            <a:endParaRPr lang="ko-KR" altLang="en-US" dirty="0" smtClean="0" sz="1097"/>
          </a:p>
          <a:p>
            <a:pPr marL="0" indent="0" defTabSz="15240" algn="l">
              <a:lnSpc>
                <a:spcPts val="4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81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60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TELEVISION ON SOCIETY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is a very strong and powerful medium of communication, where it can influence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societies and their cultures there it is also affected by the society or the environment it is growing in and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why we find different channels of different societies showing different kinds of programs on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media that reflect the culture and society they belong to.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TV ON CULTURE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Culture has always been a difficult term whenever comes a matter of defining it; different scholars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define it in different ways.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 Harper Collins Dictionary of Sociology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defines culture as: “the way of life for an entire society." As such,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includes codes of manners, dress, language, religion, rituals, norms of behavior such as law and morality,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systems of belief.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Culture also refers to refined music, art, and literature; one who is well versed in these subjects is considered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“cultured.”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Culture is an integrated pattern of human knowledge, belief, and behaviour that is both a result of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integral to the human capacity for learning and transmitting knowledge to succeeding generations. Culture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thus consists of language, ideas, beliefs, customs, taboos, codes, institutions, tools, techniques, works of art,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rituals, ceremonies, and symbols. Every human society has its own particular culture, or socio-cultural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system. Variation among cultures is attributable to such factors as differing physical habitats and resources;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range of possibilities inherent in areas such as language, ritual, and social organization; and historical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phenomena such as the development of links with other cultures. An individual's attitudes, values, ideals,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beliefs are greatly influenced by the culture (or cultures) in which he or she lives. Culture change takes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place as a result of ecological, socioeconomic, political, religious, or other fundamental factors affecting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our dilemma that we could not still decide what actually our culture is, different people see it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ways and there is no unanimous approach adopted so far. One school of thought says our culture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linked with our religion Islam and to the place where it originated from i.e. Arab. So our culture is actually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Arab’s culture. Another school of thought is that our culture is linked with Indus Valley civilization which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recoded to 5000 years back. Some other people think that our culture should be the way we have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living from thousands of years i.e. Punjab with its own culture, Sindh with its own culture and similarly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Balouchistan and N.W.F.P. with their own cultural ideology and background. This group believes that we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don’t need to have a culture based on nationalism; they believe that if Punjab has its borders beyond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 then on both sides Punjab’s culture should remain same and there is no need to bring any change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nationalism.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light of these different opinions the question that is raised by people and intellectuals is: What culture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revealed on our television channels then? This question is still a question as we could not still specify 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definition of culture.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responsibility of mass media is to bring both sides of picture in front of the people and then let them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decide what is right/good for them and what’s not.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Regarding influence and impact of TV programs on the society and culture of the society, some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believe that only dramas and plays influence it however the other group says that music particularly the 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genres of music are very strongly affecting our culture. These people blame and criticize  Pop or Rock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 for deteriorating our culture and new generation, they believe that our culture is restricted to 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traditional classical and folk music and every other form of music that has originated from any other land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particularly west is not our culture.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84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61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critics of TV say that television: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era of Globalization when whole world is becoming a global village you cannot restrict TV viewers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your own channels and when they’ll watch other channels it will definitely influence them in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ways, which will ultimately influence the culture of the society. There is only one way to handle it and it is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project and promote your own culture and traditions more strongly so that people may not be influenced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cultures or norms of other societies and this can only be done through strong and free mass media.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Couch Potato Syndrome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doesn't have to be violent or vulgar to have a negative effect. Excessive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watching of any sort has clear psychological and physiological effects on children. It is referred as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"couch potato" syndrome. Several studies have documented that even benign television content decreases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children's creativity and imagination, decreases physical activity, increases obesity. Lowered grades,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decreased ability to handle stress and conflict, and higher levels of aggressive behavior with peers have also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clearly documented.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TV ON KIDS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 much impact TV has on children depends on many factors: how much they watch, their age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personality, whether they watch alone or with adults, and whether their parents talk with them about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they see on TV.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there are potential benefits from viewing some television shows, such as the promotion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positive aspects of social		behavior (e.g. sharing, manners, and cooperation), many negative		health effects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can result.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Violence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past two decades, hundreds of studies have examined how violent programming on TV,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affects children and young people. While a direct "cause and effect" link is difficult to establish, there is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growing consensus that some children may be vulnerable to violent images and messages.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Researchers have identified three potential responses to media violence in children: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Increased fear—also known as the "mean and scary world" syndrome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Children, particularly girls, are much more likely than adults to be portrayed as victims of violence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TV, and this can make them more afraid of the world around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Desensitization to real-life violence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of the most violent TV shows are children's cartoons, in which violence is portrayed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humorous and realistic consequences of violence are seldom shown.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Increased aggressive behaviour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can be especially true of young children, who are more likely to exhibit aggressive behaviour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viewing violent TV shows or movies.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Parents should also pay close attention to what their children see in the news since studies have shown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kids are more afraid of violence in news coverage than in any other media content. Fear based on real news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events increases as children get older and are better able to distinguish fantasy from reality.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87" name="Rect 3"/>
          <p:cNvSpPr>
            <a:spLocks noGrp="1" noChangeArrowheads="1"/>
          </p:cNvSpPr>
          <p:nvPr/>
        </p:nvSpPr>
        <p:spPr>
          <a:xfrm rot="0">
            <a:off x="1188720" y="801370"/>
            <a:ext cx="5892800" cy="8912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Debases the arts and audience tastes.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Undermines moral standards.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Encourages escapism.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Engages in economic exploitation.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Exhibits a liberal bias.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Sets up false images of reality.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Distorts reality through omission. </a:t>
            </a:r>
            <a:endParaRPr lang="ko-KR" altLang="en-US" dirty="0" smtClean="0" sz="1097"/>
          </a:p>
          <a:p>
            <a:pPr marL="0" indent="0" defTabSz="15240" algn="l">
              <a:lnSpc>
                <a:spcPts val="59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40095" y="667385"/>
            <a:ext cx="1191895" cy="80200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on healthy child development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Negative health effects of television viewing on children and adolescents,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as violent			or aggressive behavior, substance use, sexual activity, obesity,			poor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body image, and decreased school performance.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can affect learning and school performance if it cuts into the time kids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need for activities crucial to healthy mental and physical development. Most of children's free time,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especially during the early formative years, should be spent in activities such as playing, reading, exploring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nature, learning about music or participating in sports.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viewing is a sedentary activity, and has been proven to be a significant factor in childhood obesity.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the Heart and Stroke Foundation of Canada almost one in four Canadian children,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seven and 12, is obese. Time spent in front of the TV is often at the expense of more active pastimes.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Scientific American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article entitled "Television Addiction" examined why children and adults may find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hard to turn their TVs off. According to researchers, viewers feel an instant sense of relaxation when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start to watch TV—but that feeling disappears just as quickly when the box is turned off. While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generally feel more energized after playing sports or engaging in hobbies, after watching TV they usually feel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depleted of energy. According to the article "this is the irony of TV: people watch a great deal longer than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plan to, even though prolonged viewing is less rewarding."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well as encouraging a sedentary lifestyle, television can also contribute to childhood obesity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aggressively marketing junk food to young audiences. According to the Canadian Paediatric Society, most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food advertising on children's TV shows is for fast foods, candy and pre-sweetened cereals. Commercials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healthy food make up only 4 per cent of those shown.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lot of money goes into making ads that are successful in influencing consumer behaviour. McDonald's,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largest food advertiser on TV, reportedly spent $500 million on their "We love to see you smile" 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campaign.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Sexual content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Kids today are bombarded with sexual messages and images in all media—television, magazines,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advertisements, music, movies and the Internet. Parents are often concerned about whether these messages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healthy. While television can be a powerful tool for educating young people about the responsibilities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risks of sexual behaviour, such issues are seldom mentioned or dealt with in a meaningful way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programs containing sexual content.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a 2001 study from the Kaiser Family Foundation, entitled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Sex on TV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three out of four prime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shows contain sexual references. Situation comedies top the list: 84 per cent contain sexual content.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shows with sexual content, only one in ten included references to safe sex, or the possible risks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responsibilities of sex. In shows that portrayed teens in sexual situations, only 17 per cent contained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messages about safe and responsible sex. </a:t>
            </a:r>
            <a:endParaRPr lang="ko-KR" altLang="en-US" dirty="0" smtClean="0" sz="1097"/>
          </a:p>
          <a:p>
            <a:pPr marL="0" indent="0" defTabSz="15240" algn="l">
              <a:lnSpc>
                <a:spcPts val="1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90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63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TELEVISION ON SOCIETY II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Sectarianism and Extremism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Father of the nation, Quaid-e- Azam Muhammad Ali Jinnah, in his very first address advised nation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its leaders to show tolerance particularly religious tolerance towards each other as it is the first thing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matters in the peaceful lives and histories of the nations.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Quaid-e-Azam, while addressing the opening session of Pakistan’s Constituent Assembly on 11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Sep. 1947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was presided by Jugindhar Nath Mandal, announced his policy and the shape of the constitution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assembly will form, and along with this he also defined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to be structure and form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of the political scene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Pakistan. A part of the speech was: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“….you are free to go to your mosques, you are free to go to your temples or to any other place of worship.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has nothing to do with the business of state and politics. By pursuing this policy you will realize after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sometime that Hindus will cease to be Hindus and Muslims will cease to be Muslims not in religious sense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religion is a matter of personal faith for everyone, but as citizens of Pakistan for political purposes,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citizens will have equal rights in Pakistan…”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the time of partition almost 10 Lac Muslims, Hindus and Sikhs were massacred to show hatred towards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each other in the name of sectarianism. Quaid-e Azam made it clear to the whole nation that in this new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country, religion will not be used or exploited to gain political or any other objectives. He put forth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example of European countries where they had this same intolerant attitude towards each other due to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and sometimes conflicting ideologies, faiths and beliefs but got rid of it through education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role that their media played in the development of the society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PTV, the state controlled and owned television, has certainly discussed this crucial issue but just to fulfill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formality. PTV probably preferred not to address this issue openly as one school of intellectuals believe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  if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you want to get rid of something just ignore it.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But this formula is not some universal formula which could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applied to all kinds of problems. There are some problems and issues that become more intense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sensitive with every passing moment and the more you ignore them the stronger they become and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 come to realize it, it is too late to handle that mountain-high problem. It can also be taken in this way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it is easy to mould and handle a child who is not that strong to fight with you but when that child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grown up into a strong man it becomes really difficult to mould his personality or change his habits.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Sectarianism or religious intolerance is one of such issues.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Our neighboring country India had the same problem from the day one. But their media policy had always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open. In their movies, TV dramas and even on radio they discussed sectarianism and religious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intolerance as a subject, to guide and teach their people. It may had not given them excellent results but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had definitely given an open chance to their people to think in a different and a better way and now among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extremists they are also having a class where religion is a person’s own business and nobody hates the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 for having different believes.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PTV, being a state channel, can do a lot to control sectarianism and extremism. Like many other areas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seems that in General Musharraf’s government, it has changed its policy, may be due to the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pressure, and has started addressing sectarianism and extremism in its plays, talk shows and discussions.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PTV’s these productions are just a beginning, a late beginning. PTV would have to do much more and in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much better way to convince its audience and viewers that religious intolerance will bring nothing,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devastation.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far as media’s role in propagating sectarianism and extremism is concerned then history has a lot to tell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 about it. In 1799, when newspapers started publishing in sub-continent, East India Company issued first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directive to the newspapers which was the beginning of regulation of media in this part of the world.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directive was issued on the reason that the newspapers being published by Christian missionaries, Hindus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93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64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Muslims were showing religious intolerance towards each other and were so intolerant that East Indian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 feared that it may not reach to a limit where government may have to face any problem.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 this directive, pre-censorship was imposed on the newspapers to control and censor the provoking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content that was being published in these newspapers, to insult each others religions and religious beliefs.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this area PTV had always been impartial and unbiased. It had never tried to provoke one group of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against other on any ethnic, religious or sectarian ground. But when this positive behaviour is acknowledged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also said that PTV did not do what it should have been doing or done to promote national integration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tolerance.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Media Violence/ Crime on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has always been a debate that should crime stories or crime news or crime in any sense, be shown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TV? A lot of people agree with the idea that being a news and being an issue it cannot be neglected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whatever consequences it brings or could bring. Efforts can be done to reduce its negative impacts, if there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any, but it cannot be ignored at all.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being a medium of communication should reflect what’s going on in the society it is entertaining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educating, and if any crime happens in that society it is mandatory to be reported on it. But certainly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matters a lot that how one presents or reports that crime on this influential screen. Glamorization of crime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a big issue in almost all societies particularly since the film and TV has started producing plays and movies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subject, for entertainment purposes. Some media experts, researchers and social scientists consider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extremely dangerous for their societies as this projection of crime and violence on media is changing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affecting people’s approaches, attitudes, behaviours and even their physical and mental health,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certainly affects their over all span of life too.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our society media violence is also playing its part because this is an era of globalization and satellite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 has also ended all borders and boundaries for those who want to know and see but as far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 owned channel i.e. PTV is concerned, its past and even present is clean in this regard. PTV is in fact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famous for family-oriented plays that were not only popular within country but also got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recognition. It is known for being humble and soft in its productions even when it is addressing serious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mattes or issues of the society. But overall, society has been influenced by the electronic media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VCRs, then Dish antennas and now Cable technology has not kept any limits for them. English plays,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movies and heroes are getting popular among people and now they like watching thrilling, violence based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programs and movies. Fun and entertainment, is all that it has become.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In 380 B.C., Saint Augustine lamented that his society was addicted to gladiator games and "drunk with the fascination of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bloodshed."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– Violence has always played a role in entertainment. But there's a growing consensus that,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recent years, something about media violence has changed.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Laval University professors Guy Paquette and Jacques de Guise studied six major Canadian television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networks over a seven-year period, examining films, situation comedies, dramatic series, and children's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programming (though not cartoons). The study found that between 1993 and 2001, incidents of physical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violence increased by 378 per cent. TV shows in 2001 averaged 40 acts of violence per hour.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Francophone viewers experienced the greatest increase. Although physical violence on the three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anglophone networks in the study increased by 183 per cent, on their francophone counterparts it increased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540 per cent. One network, TQS, accounted for just under half (49 %) of all the physical violence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networks studied.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Paquette and de Guise also identified a disturbing increase in psychological violence, especially in the last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two years. The study found that incidents of psychological violence remained relatively stable from 1993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1999, but increased 325 per cent from 1999 to 2001. Such incidents now occur more frequently than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physical violence on both francophone and anglophone networks.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96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65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 2001, only a quarter of the most violent television shows, and two-fifths of the most violent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movies, were rated R. The majority were rated PG or PG-13.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(Center for Media and Public Affairs, 2001)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Globalization of Media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Concerns about media violence have grown as television and movies have acquired a global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audience. When UNESCO surveyed children in 23 countries around the world in 1998, it discovered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91 per cent of children had a television in their home -- and not just in the U.S., Canada and Europe,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also in the Arab states, Latin America, Asia and Africa. More than half (51 per cent) of boys living in war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zones and high-crime areas chose action heroes as role models, ahead of any other images; and a remarkable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88 per cent of the children surveyed could identify the Arnold Schwarzenegger character from the film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Terminator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UNESCO reported that 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Terminator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"seems to represent the characteristics that children think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necessary to cope with difficult situations."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On average, children in the 23 countries surveyed watch television three hours each day, and spend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50 per cent more time watching the small screen than they spend on any other activity outside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school.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 (UNESCO, 1998)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Violence without Consequences or Moral Judgment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notion of violence as a means of problem solving is reinforced by entertainment in which both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villains and heroes resort to violence on a continual basis. The Center for Media and Public Affairs, Canada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(CMPA), which has studied violence in television, movies and music videos for a decade, reports that nearly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half of all violence is committed by the "good guys." Less than 10 per cent of the TV shows, movies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 videos that were analyzed contextualized the violence or explored its human consequences.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violence was simply presented as justifiable, natural and inevitable -- the most obvious way to solve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problem.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Research on the Effects of Media Violence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Whether or not exposure to media violence causes increased levels of aggression and violence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young people is the perennial question of media effects research. Some experts, like University of Michigan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professor L. Rowell Huesmann, argue that fifty years of evidence show "that exposure to media violence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causes children to behave more aggressively and affects them as adults years later." Others, like Jonathan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Freedman of the University of Toronto, maintain that "the scientific evidence simply does not show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watching violence either produces violence in people, or desensitizes them to it."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Many Studies, Many Conclusions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Andrea Martinez at the University of Ottawa conducted a comprehensive review of the scientific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literature for the Canadian Radio-television and Telecommunications Commission (CRTC) in 1994. She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concluded that the lack of consensus about media effects reflects three "grey areas" or constraints contained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research itself.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First, media violence is notoriously hard to define and measure. Some experts who track violence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programming, such as George Gerbner of Temple University, define violence as the act (or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threat) of injuring or killing someone, independent of the method used or the surrounding context.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Accordingly, Gerber includes cartoon violence in his data-set. But others, such as University of Laval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professors Guy Paquette and Jacques de Guise, specifically exclude cartoon violence from their research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of its comical and unrealistic presentation.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Second, researchers disagree over the type of relationship the data supports. Some argue that exposure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violence causes aggression. Others say that the two are associated, but that there is no causal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connection. (That both, for instance, may be caused by some third factor.) And others say the data supports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conclusion that there is no relationship between the two at all.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Third, even those who agree that there is a connection between media violence and aggression disagree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 how the one affects the other. Some say that the mechanism is a psychological one, rooted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ways we learn. For example, Huesmann argues that children develop "cognitive scripts" that guide their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199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66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 behaviour by imitating the actions of media heroes. As they watch violent shows, children learn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internalize scripts that use violence as an appropriate method of problem-solving.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researchers argue that it is the physiological effects of media violence that cause aggressive behaviour.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Exposure to violent imagery is linked to increased heart rate, faster respiration and higher blood pressure.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think that this simulated "fight-or-flight" response predisposes people to act aggressively in the real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Still others focus on the ways in which media violence primes or cues pre-existing aggressive thoughts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feelings. They argue that an individual’s desire to strike out is justified by media images in which both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hero and the villain use violence to seek revenge, often without consequences.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her final report to the CRTC, Martinez concluded that most studies support "a positive, though weak,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relation between exposure to television violence and aggressive behaviour." Although that relationship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cannot be "confirmed systematically," she agrees with Dutch researcher Tom Van der Voot who argues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would be illogical to conclude that "a phenomenon does not exist simply because it is found at times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occur, or only to occur under certain circumstances."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What the Researchers Are Saying?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lack of consensus about the relationship between media violence and real-world aggression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impeded ongoing research. Here’s a sampling of conclusions drawn to date, from the various research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strands: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Research strand: Children who consume high levels of media violence are more likely to be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aggressive in the real world.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1956, researchers took to the laboratory to compare the behaviour of 24 children watching TV.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Half watched a violent episode of the cartoon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Woody Woodpecker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and the other 12 watched the non-violent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cartoon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Little Red Hen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During play afterwards, the researchers observed that the children who watched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violent cartoon were much more likely to hit other children and break toys.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Six years later, in 1963, professors A. Badura, D. Ross and S.A. Ross studied the effect of exposure to real-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 violence, television violence, and cartoon violence. They divided 100 preschool children into four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groups. The first group watched a real person shout insults at an inflatable doll while hitting it with a mallet.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second group watched the incident on television. The third watched a cartoon version of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scene, and the fourth watched nothing.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all the children were later exposed to a frustrating situation, the first three groups responded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 aggression than the control group. The children who watched the incident on television were just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aggressive as those who had watched the real person use the mallet; and both were more aggressive than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those who had only watched the cartoon.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years, laboratory experiments such as these have consistently shown that exposure to violence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associated with increased heartbeat, blood pressure and respiration rate, and a greater willingness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administer electric shocks to inflict pain or punishment on others. However, this line of enquiry has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criticized because of its focus on short term results and the artificial nature of the viewing environment.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 scientists have sought to establish a connection between media violence and aggression outside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laboratory. For example, a number of surveys indicate that children and young people who report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preference for violent entertainment also score higher on aggression indexes than those who watch less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violent shows. L. Rowell Huesmann reviewed studies conducted in Australia, Finland, Poland, Israel,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Netherlands and the United States. He reports, "the child most likely to be aggressive would be the one who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(a) watches violent television programs most of the time, (b) believes that these shows portray life just as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is, [and] (c) identifies strongly with the aggressive characters in the shows."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2003, Craig Anderson and Iowa State University colleague Nicholas Carnagey and Janie Eubanks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Texas Department of Human Services reported that violent music lyrics increased aggressive thoughts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hostile feelings among 500 college students. They concluded, "There are now good theoretical and empirical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02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67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reasons to expect effects of music lyrics on aggressive behavior to be similar to the well-studied effects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exposure to TV and movie violence and the more recent research efforts on violent video games."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Research Strand: The introduction of television into a community leads to an increase in violent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behaviour.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Researchers have also pursued the link between media violence and real life aggression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examining communities before and after the introduction of television. In the mid 1970s, University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British Columbia professor Tannis McBeth Williams studied a remote village in British Columbia both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before and after television was introduced. She found that two years after TV arrived, violent incidents had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increased by 160 per cent.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University of Washington Professor Brandon Centerwall noted that the sharp increase in the murder rate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North America in 1955 occurred eight years after television sets began to enter North American homes.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test his hypothesis that the two were related, he examined the murder rate in South Africa where, prior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1975, television was banned by the government. He found that twelve years after the ban was lifted, murder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rates skyrocketed.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Research Strand: People who watch a lot of media violence tend to believe that the world is more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dangerous than it is in reality.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George Gerbner has conducted the longest running study of television violence. His seminal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research suggests that heavy TV viewers tend to perceive the world in ways that are consistent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images on TV. As viewers’ perceptions of the world come to conform with the depictions they see on TV,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become more passive, more anxious, and more fearful. Gerbner calls this the "Mean World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Syndrome."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Gerbner’s research found that those who watch greater amounts of television are more likely to: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overestimate their risk of being victimized by crime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believe their neighbourhoods are unsafe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believe "fear of crime is a very serious personal problem"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assume the crime rate is increasing, even when it is not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André Gosselin, Jacques de Guise and Guy Paquette decided to test Gerbner’s theory in the Canadian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context in 1997. They surveyed 360 university students, and found that heavy television viewers are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likely to believe the world is a more dangerous place. However, they also found heavy viewers are not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likely to actually feel more fearful.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Research Strand: Family attitudes to violent content are more important than the images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themselves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number of studies suggest that media is only one of a number of variables that put children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risk of aggressive behaviour.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example, a Norwegian study that included 20 at-risk teenaged boys found that the lack of parental rules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regulating what the boys watched was a more significant predictor of aggressive behaviour than the amount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media violence they watched. It also indicated that exposure to real world violence, together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exposure to media violence, created an "overload" of violent events. Boys who experienced this overload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were more likely to use violent media images to create and consolidate their identities as members of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anti-social and marginalized group.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other hand, researchers report that parental attitudes towards media violence can mitigate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impact it has on children. Huesmann and Bacharach conclude, "Family attitudes and social class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stronger determinants of attitudes toward aggression than is the amount of exposure to TV, which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nevertheless a significant but weaker predictor." </a:t>
            </a:r>
            <a:endParaRPr lang="ko-KR" altLang="en-US" dirty="0" smtClean="0" sz="1097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05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68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Television and Sports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has contributed a lot in promoting sports in the country. Before TV it wasn’t possible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to enjoy matches being played in different parts of the country which was definitely affecting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interests in games and their teams. When tv was introduced in 1964 it gave special coverage to sporting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events particularly of Hockey and Cricket, which increased general publics interest in these sports and also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supported these sports on economic grounds. Many multi national companies when saw people’s increasing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interests in these sports they not only sponsored players and their national and international sporting events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also gave special attention to their further progress and many multi national and national companies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started arranging sport events for their own promotion.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where played its part in promoting Hockey and Cricket there it has also ignored some very important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sports. All the traditional and regional sports have been ignored on the state controlled channel. Being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 of our culture PTV should have tried to preserve them but policy makers did not give any importance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them and now half of our new generation is unaware of them and the other half, if knows, don’t take 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 in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Advertising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is paid communication through a medium in which the sponsor is identified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message is controlled.					Variations include publicity, public relations, product placement, sponsorship,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underwriting, and sales promotion. Every major medium is used to deliver these messages, including: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television, radio, movies, magazines, newspapers, the Internet, and billboards. Advertisements can also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seen on the seats of grocery carts, on the walls of an airport walkway, on the sides of buses, heard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telephone hold messages and in-store PA systems. Advertisements are usually placed anywhere an audience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can easily and/or frequently access visuals and/or audio, especially on clothing.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TV commercial is generally considered the most effective mass-market advertising format and this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reflected by the high prices TV networks charge for commercial airtime during popular TV events.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annual Super Bowl football game in the United States is known as much for its commercial advertisements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 for the game itself, and the average cost of a single thirty-second TV spot during this game has reached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$2.7 million (as of 2007).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Virtual advertisements may be inserted into regular television programming through computer graphics.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typically inserted into otherwise blank backdrops or used to replace local billboards that are not relevant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remote broadcast audience. More controversially, virtual billboards may be inserted into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background where none existing in real-life. Virtual product placement is also possible.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television advertisement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or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commercial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(often called an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advert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in the United Kingdom) is a form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in which goods, services, organizations, ideas, etc. are promoted via the medium of television.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commercials are produced by an outside advertising agency and airtime is purchased from a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Agency or direct from the TV channel or network.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television advertisement was broadcast in the United States at 14:29 on July 1, 1941, when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Bulova Watch Company paid $9 to New York City NBC affiliate WNBT (now WNBC) for a 20-second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spot aired before a baseball game between the Brooklyn Dodgers and Philadelphia Phillies. It simply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displayed a Bulova watch over a map of the U.S., with a voiceover of the company's slogan "America runs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Bulova time!"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is now so much dependent on advertising that experts believe that this medium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cannot even think of surviving without ads. Television and advertising are inter-dependant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each other. In lesser educated societies like ours Electronic media becomes more important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because majority of the population is unable to read, so ads given in newspapers and magazines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don’t work too much. Television also gives an opportunity to advertisers and advertising industry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development.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08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69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ads can be categorized into various categories: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Straight announcements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Usually this exercise is done to save time and preferably in between the programs. There are hardly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 sound effects accompanying the advertisements of this nature. Since these ads are small in size,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advertisers can repeat them many a times during a day.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Jingle based ads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popular form of ads is perhaps the jingles. These are crisp little songs with a very attractive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musical composition. At times the jingles are so impressive that you may catch a person humming those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doing routine chores. Making a good jingle is rather difficult as compared to other forms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advertisements for it involves complete audio video production techniques of writing script, production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post-production. These ads also cost a little more than other ads.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Dialogue based ads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is a very common approach as during exchange of dialogue among two or more people that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established that a particular product, or services, are best in the market. In most cases advertisers prefer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include both male and female voices to give an impression that the product is meant for all the people alike.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Sponsorship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sponsor something is to support an event, activity, person, or organization financially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through the provision of products or services. A sponsor is the individual or group that provides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support, similar to a benefactor. Sponsorship typically benefits both the recipient (by providing material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benefits) as well as the sponsor (as a marketing tool that enhances the sponsor's public image and provides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access to a wider audience).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Sponsorship may be an arrangement to exchange advertising for the responsibility of funding a popular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 or entity. For example, a corporate entity may provide equipment for a famous athlete or sports team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exchange for brand recognition. The sponsor earns popularity this way while the sponsored can save a lot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money. This type of sponsorship, known as cause-related, is prominent in the sports, arts, media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charity sectors.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PTV usually sports programmes have been sponsored but now the trend has changed and we can see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entertainment based musical and fashion programs sponsored by multinational or national companies.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major religious or national days special programmes or shows are also sponsored by these companies. </a:t>
            </a:r>
            <a:endParaRPr lang="ko-KR" altLang="en-US" dirty="0" smtClean="0" sz="1097"/>
          </a:p>
          <a:p>
            <a:pPr marL="0" indent="0" defTabSz="15240" algn="l">
              <a:lnSpc>
                <a:spcPts val="26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11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70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War and Television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 on television has been the subject of both fictional accounts and extensive, often compelling,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 coverage. War and other bellicose activities have inspired television documentaries, docudramas,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dramatic series and situation comedies. But experts are still debating that is it right to bring war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which is present in almost every living room on this planet. Some say “Yes” and some, “No”.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Hawks, (people who are more bent towards using power against their enemies or opponents for solving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matters), say that war footage and images must not be shown on television, they consider it not good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 and people who are living in peace. They don’t think it good for people’s mental and psychological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health. But on the other hand, those who favour the idea support their point of view with the argument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will help in stopping on going and even future wars. They think that it will build revulsion and hatred,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wars and killings, in people’s hearts which can play an important part in stopping wars.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Vietnam was the first "television war." The first "living-room war," as Michael Arlen called it, began in mid-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1965, when Lyndon Johnson dispatched large numbers of U.S. combat troops, beginning what is still surely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biggest story, television news has ever covered. The Saigon bureau was for years the third largest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networks maintained, after New York and Washington, with five camera crews on duty most of the time.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Despite a less than definitive understanding of television coverage and its impact on popular support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 efforts, military strategists began to integrate domestic public relations strategy and overall military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strategy during the Vietnam War. As the war progressed, military analysts continued to debate whether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appropriate for the military to attempt to influence civilian public policy through such efforts. Within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military circles and in the wake of the Vietnam War, most such debates were left behind and media relations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strategies went far beyond censorship and toward a full-fledged engagement (some say co-optation)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televised media.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What was the effect of television on the development and outcome of the war? The conventional wisdom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generally been that for better or for worse it was an anti-war influence. It brought the "horror of war"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night after night into people's living rooms and eventually inspired revulsion and exhaustion. The argument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often been made that any war reported in an unrestricted way by television would eventually lose public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support. Researchers, however, have quite consistently told another story.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coverage inspired controversy during the Vietnam War (1962-1975). Despite clear evidence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war effort was less than successful in objective terms, popular opinion and much expert military opinion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 the Vietnam War as one that could have been won on the battlefield but was lost in the living room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(where viewers watched their television sets).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Whether the public turned against the Vietnam War because television, in particular, and the media,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general, presented it unfavorably, or whether the public turned against the war because media accurately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depicted its horrors and television did so most graphically? remains an open and hotly contested question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public debate. There is, however, no historic evidence to prove that a graphic portrayal of war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disinclines a viewing public to engage in a war. Some critics suggest that the opposite may be the case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public considers a war justified and is exposed to images of its side enduring great suffering.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Walter Lippmann (1922), a famous American journalist, whose syndicate column used to publish daily in 70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newspapers, said that all our ideas and experiences are stored in the form of pictures in our minds.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mental pictures are imagined ones; there could be a difference between the pictures formed in 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imagination regarding an incident and the real picture of that very incident. So when the real picture comes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front of us, we come to know, the reality and the difference between our imagination and the reality.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difference is what that TV made clear to the people when it started on airing war footages and made it clear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them that what they think of war is quite different from the real picture which is extremely horrible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terrible.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14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71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Hawks were initially not against putting war footage on television rather they were the ones who decided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give this liberty to television in Vietnam War, it was after the war that they went against the idea. After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Vietnam war, America fought many wars but it did not give that much liberty to the media particularly TV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channels that it had given in the war with Vietnam.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Doves believe that war coverage on media particularly television can play a great part in controlling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stopping future wars. They even believe that a lot of terrible wars and other related horrible incidents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took place in past could have been stopped if they had TV with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Hitler’s Nazi party brutally killed Jews in Second World War which is remembered as holocaust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history. Experts believe that if they had TV in Second World War Hitler may not have been able to do that.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case of Israel-Palestine Conflict, USA had been very openly supporting Israel by all means in all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actions and this support had not been on governmental level only rather American people had also been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thinking for a very long time that Israelites are very innocent and it is Palestinians who are militants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terrorists and they are the reason of all the problems in the region. But in 80s, due to TV, people saw sitting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their homes that how Israel is bombing at innocent people. On June 6, 1982 Israel attacked Lebanon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occupied southern part of Lebanon which was the hub of Palestinian refuges.			After the 1948 Arab-Israeli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conflict, Lebanon had become home to more than 110,000 Palestinian refugees from their homes in present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day Israel. By 1975, they numbered more than 300,000. Civil war was also going on in Lebanon so it sought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help from Syria officially, Syria accepted the request and sent its troops to Lebanon and provided support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neighbour by all means. Israel after occupying southern Beirut brutally bombarded Palestinian refugee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camps in the name of attacking PLO camps and the whole world saw that on their TV sets and came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know the real face of Israel. It is estimated that around 17,825 Arabs were killed during the war.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estimates of the proportion of civilians killed. Beirut newspaper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An Nahar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estimated that 5,515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people, military and civilian, were killed in the Beirut area only during the conflict, and 9,797 military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personnel (PLO, Syrian, and others) and 2,513 civilians were killed outside of the Beirut area. TV made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clear in front of the world that Israel is itself a terrorist state who attacked innocent Palestinians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knowingly and intentionally during the war.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Similarly, in 2003, US attacked Iraq and after invading it very proudly claimed that they’ve freed the Iraqi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of a tyrant leader and have enforced democracy in the country but people rejected this claim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were seeing on electronic media that how Iraqis themselves are protesting against Americans and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presence on their land.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Documentary film is a format of film medium but it has also been extensively used by TV to convey facts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people. TV documentary has always been a very popular format of its programming section. It is a very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effective way to influence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Public Opinion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Michael Moore, a famous US documentary director, used this format to address many sensitive issues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TV. His documentary Fahrenheit 9/11 got worldwide popularity for its subject and direction. It was made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the incident of 9/11 in which US official airline’s four planes were hijacked and then they destroyed two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 Trade Center’s twin towers, pentagon’s one wing and the fourth plane struck a deserted place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Pennsylvania. Michael Moore revealed come very important hidden facts regarding US government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officials in this documentary which were not known to the people before.  </a:t>
            </a:r>
            <a:endParaRPr lang="ko-KR" altLang="en-US" dirty="0" smtClean="0" sz="1097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17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72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Regulation of Television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Being very close to face to face communication TV proves to be a very effective medium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communication. But despite all advantages there is one disadvantage which affects its affectivity i.e.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speed of comprehension in this form of communication is controlled by the performer and newscaster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unlike print media where speed of comprehension is in readers own control. This disadvantage gives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limitation to the media persons in their use of TV as a tool of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Television is that medium of communication which has given extra ordinary strength to communication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now we are introduced to the global or international culture due to this television. TV has made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possible for the people living in two ends of the world to know about each others cultures, languages,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religions, philosophies of lives etc.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came under state’s control in its very early phase. Its this state-controlled status created some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problems in its use as medium of communication and more importantly as a medium of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Till 1998 PTV had a complete monopoly nationally, as there was no other channel that could give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competition to it. But despite that monopoly, introduction of dish antenna made PTV lost its status up to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great extent at least in the developed cities, because the majority of the population was living in rural areas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even in certain small cities not everyone could afford to have dish antenna, therefore we can say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 in the presence of dish antenna PTV was not having a huge competition.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Due to the popularity of satellite communication all over the world and under some international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national pressure it did not remain possible for the government to keep its people way from 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sources of information. Therefore in 1998, Federal Information Ministry, decided to allow private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 and TV channels to operate. However a regulatory body called PEMRA, Pakistan Electronic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Regulatory Authority, was made to regulate these private channels and to keep a check on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PEMRA under its rules devised a criterion for evaluating license application which is stated below: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Issuance of license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(1) The Authority shall process each application and on being satisfied that the applicant(s) fulfils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conditions and the criteria and procedure as provided for in section 19 of the Ordinance, may, on receipt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applicable license fee, as determined through the bidding process, and the prescribed security deposit,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issue license to the applicant(s) concerned.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(2) In addition to General Terms and Conditions contained in the Schedule, the Authority may impose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licensee such other terms and conditions as appear to it necessary.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(3) The Authority will consult the Government of the Province, with regard to proposed location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 station and the possible area of coverage, through the Chief Secretary of the Province or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officer so authorized by him. </a:t>
            </a:r>
            <a:endParaRPr lang="ko-KR" altLang="en-US" dirty="0" smtClean="0" sz="1097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20" name="Rect 3"/>
          <p:cNvSpPr>
            <a:spLocks noGrp="1" noChangeArrowheads="1"/>
          </p:cNvSpPr>
          <p:nvPr/>
        </p:nvSpPr>
        <p:spPr>
          <a:xfrm rot="0">
            <a:off x="1645920" y="5200015"/>
            <a:ext cx="5435600" cy="45142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Economic viability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Technical competence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Financial capability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Credibility and track record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Extent of Pakistani share in ownership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Prospects of technical progress and introduction of new technology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Market advancement, such as improved service features or market concepts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Contribution to universal service objectives 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Contribution to other social and economic development objectives  </a:t>
            </a:r>
            <a:endParaRPr lang="ko-KR" altLang="en-US" dirty="0" smtClean="0" sz="1097"/>
          </a:p>
          <a:p>
            <a:pPr marL="0" indent="0" defTabSz="15240" algn="l">
              <a:lnSpc>
                <a:spcPts val="2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(4) The Authority, if satisfied that the issue of the license to a particular person is not in the public interest,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may, for reasons to be recorded in writing and after giving the applicant an opportunity of being heard,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refuse to grant a license.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(5) The Authority shall take decision on the application for a license within one hundred days from receipt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application.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(6) The Authority shall make regulations setting the procedures for an open and transparent bidding process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such cases where the number of the applicants is likely to exceed the number of licenses which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Authority has fixed for that category of license.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In-eligibility for getting a License: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license to establish or operate a broadcast or cable TV network station shall not be granted to: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whose management control is vested in foreign nationals or companies.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contravention of the provisions of the Ordinance.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network station, printed newspaper or magazine or an advertising agency.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Programming content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(1) The contents of the programmes and advertisements broadcast or distributed by the broadcast or cable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 network stations shall conform to the provisions of section 20 of the Ordinance and the Code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Conduct set out in the Schedule.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(2) Programmes shall conform to the provisions of the Motion Pictures Ordinance, 1979 (XLIII of 1979),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 rules and Code of Conduct framed there under.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(3) The advertisements shall conform to the TV Code of Advertising Standards and Practices in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(4) The duration of the advertising break shall not be more than three minutes continuously and there must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at least a fifteen-minute regular programme duration between successive advertisement breaks.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(5) The licensee shall maintain a record and register of the programmes being broadcast by him and shall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preserve the programmes aired or distributed, on audio or as the case may be on the video tapes, at least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period not less than thirty days.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(6) The Authority may issue regulations regarding minimum Pakistani content in the programmes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 mix, to be broadcast or distributed by a licensee.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(7) The Authority may, by regulations, specify as eligible channels, which it considers suitable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broadcasting or distribution.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(8)  The cable TV operation licensee shall include the national TV broadcast channels, in his respective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bouquet, amongst the first five of the serial order of the distributed channels.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censor law was made by British Raj in 1874 to regulate the theatre. In Zia’s regime electronic media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was although already under state-control but still they had to face many additional restrictions e.g.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playwrights were not permitted to write stories on capitalists and workers conflict. Similarly for quite a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were also not permitted to show court scenes in there dramas and plays. </a:t>
            </a:r>
            <a:endParaRPr lang="ko-KR" altLang="en-US" dirty="0" smtClean="0" sz="1097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23" name="Rect 3"/>
          <p:cNvSpPr>
            <a:spLocks noGrp="1" noChangeArrowheads="1"/>
          </p:cNvSpPr>
          <p:nvPr/>
        </p:nvSpPr>
        <p:spPr>
          <a:xfrm rot="0">
            <a:off x="1188720" y="2843530"/>
            <a:ext cx="5892800" cy="6870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person who is not a citizen of Pakistan or resident in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foreign company organized under the laws of any foreign government.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firm or company the majority of whose shares are owned or controlled by foreign nationals or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person whose license under the Ordinance has previously been cancelled because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 person who already owns or operates, as sole or joint shareholder, any other broadcast or cable </a:t>
            </a:r>
            <a:endParaRPr lang="ko-KR" altLang="en-US" dirty="0" smtClean="0" sz="1097"/>
          </a:p>
          <a:p>
            <a:pPr marL="0" indent="0" defTabSz="15240" algn="l">
              <a:lnSpc>
                <a:spcPts val="4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PTV is facing competition not only at national level in the form of private channels but also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internationally with other channels some of which are very popular among people. It is not possible for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 to watch all channels; generally people adopt short listing policy in which either they short list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channels or short list programs that they want to watch. When Iraq was attacked in 2003 by the US and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allies, people started watching international channels for news update. And soon they realized that some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channels are biased and some are doing objective reporting so they short listed those channels which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thought objective and unbiased and left those that were biased.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almost all channels are commercial therefore they also have to fight to get ads because without ads no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 could exist in the market.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PTV has now got rid of its life long water tight compartment policy and is also providing people some real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and news, to keep its viewer ship intact and to survive in the market. Although being a state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 it does not have to struggle for ads but maintaining viewership is definitely a problem. Due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cable technology now people are having more variety in entertainment and information available to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Therefore it can be said that the private channels and satellite/cable technology has given some liberty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people for making a better choice that did not have before. </a:t>
            </a:r>
            <a:endParaRPr lang="ko-KR" altLang="en-US" dirty="0" smtClean="0" sz="1097"/>
          </a:p>
          <a:p>
            <a:pPr marL="0" indent="0" defTabSz="15240" algn="l">
              <a:lnSpc>
                <a:spcPts val="50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26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75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EFFECTS OF GLOBAL CULTURE ON OUR CULTURE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 Culture is usually defined as one world culture. Encyclopedia Britannica defines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globalization as: "process by which the experience of everyday life ... is becoming standardized around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world."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Globalisation has produced flows of people internationally and domestically for a variety of reasons.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Significant developments in transport and technology have given rise to a burgeoning tourism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Advertising and tourism have gone hand in hand in the promotion of a multi-billion dollar global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information superhighway to the international trade in drugs and arms, to the phenomenal impact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Mac World, Nike and the global media, the subject of globalization has come to concern all and sundry.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the core of most discussions of the issue is the extraordinary explosion of both technology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information, in ways that have considerably reduced the twin concepts of time and space. In particular,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and communications technology (ICT) has emerged as perhaps the most dominant force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 system of production, albeit with significant ramifications in all other spheres of contemporary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human existence.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all what is less known and less obvious to the people are the negative impacts of globalization (or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origin of Global Culture) on some indigenous cultures. Some argue that globalisation is a threat to local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cultures by creating a homogenised world culture. Others believe we are witnessing an increasing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hybridisation of cultures.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reason why globalization and global culture is becoming a threat to underdeveloped and developing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 is the fact that in the name of globalization and global culture developed countries(who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enjoying monopoly in Electronic Media due to their resources) are taking over the culture and even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economy of these struggling countries. Developed countries via their strong electronic media (TV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radio) are affecting the cultures of underdeveloped and developing countries. Technically and justified too,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 Culture should be a mixture of all cultures and should not represent or project one culture but when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look around and see what actually global culture is we find that it is more like Westernization or even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some experts Americanization than Globalization. Media hegemony of western world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influencing the culture and tradition of North, South and East, which to most experts is not Globalization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its true sense.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Historically we can see many incidents when media was used to achieve personal goals and to spread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personal thoughts and approaches by different countries particularly western nations. In Second World War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USA used electronic media to do propaganda against Russia and the ideology of Communism and along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it, US also used media to propagate Democratic System of Governance and tried to persuade people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world that no system is more good than democracy. Similarly, USSR used media to propagate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Communism.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regional or national level different countries are taking measures to confront this cultural imperialism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due to the lack of resources and the monopoly of western media, they are facing a lot of problems.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break this monopoly, third world countries attempted a try which is often referred as New World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 and Communication Order. New world order was a good idea but west’s negative reaction did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let it go and now we are having the same problems that we had at the time of its introduction.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Economy of Waste: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Globalization is affecting our culture in many ways. We are adopting those things in our daily lives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are not even economical to us. TV’s glamour and advertisements are influencing the mind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common man and he is coaxed to do what even does not make any sense. E.g. in western countries usually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cold drinks are taken in tins rather than glass bottles because tins are more economical to them than glass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bottles. But in Asian countries particularly in India and Pakistan tins are not economical than glass bottles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still young boys and girls prefer buying tins than bottles as a part of their style. Similarly,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Disposable </a:t>
            </a:r>
            <a:endParaRPr lang="ko-KR" altLang="en-US" dirty="0" smtClean="0" sz="1097" i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29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76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Culture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(using disposable things) is getting popular here which is also due to the global culture established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TV.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our wedding ceremonies we are adopting foreign trends and cultures that are not even appreciable in 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society. We are adopting foreign, mostly Western trends in our dresses and most importantly language. It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becoming a fashion talking in bilingual language and at times it becomes really difficult for a person, due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dearth of vocabulary, if he/she is asked to talk in his/her native or national language continuously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without seeking help from foreign tongue.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Due to the satellite and cable technology foreign media has got access to our homes and we know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foreign media would come they would bring their culture too. It is an obvious factor. The need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is to equip your own media with technology and give it a freedom which is mandatory for winning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people’s confidence that are relying on foreign channels for information and entertainment.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Showing off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also not a part of our culture but this approach is also among getting popular trends. Western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(American) TV channels are showing such plays, movies and shows in which they are portraying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showing off is among casual behaviours that make you trendy, stylish and advanced.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Western TV channels are not only taking over developing and underdeveloped countries’ cultures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societal set ups, they are so tactically using this medium that no area is out of their influence. They are even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targeting each others cultures to prove their supremacy over one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Feb. 21, 2005 a demonstration was held in Beirut, Lebanon demanding withdrawal of all Syrian troops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came to Lebanon on Lebanese government’s request when Israel attacked Beirut and killed many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innocent Palestinians taking refuge in Lebanon. Western electronic media gave extra ordinary converge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demonstration and propagated that small demonstration as an incident. As a result Syria called back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troops, Lebanese government resigned. Western media called this a victory of democracy.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March 9, 2005 a much bigger pro-Syrian demonstration was held in the same city to thank Syria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support at a crucial and difficult time. People were holding “Thank you Syria” placards and chanting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pro-Syrian slogans. Western media did not cover this demonstration in the same way it covered the former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one. It was the policy adopted with personal interests but influencing everyone who is watching it. This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monopoly.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Similarly in war against USSR, Osama bin Laden was among US allies, the man was presented by USA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media as a Hero and his followers were called Majhadins fighting for a sacred cause. But it continued till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had an interest when the interest ended the same man became a terrorist, a fanatic and a danger; media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changed its views, people changed theirs. This is media monopoly, this is media hegemony.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underdeveloped and developing countries can break this monopoly and can stop this invasion, if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could build the credibility of their TV channels and news sources in the eyes of people as western media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built. Individually this is not possible but certainly at least on regional level it is not difficult. They would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have to present themselves as credible sources of information. Credibility is the quality of being believable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trustworthy and that can be achieved with the freedom of speech, expression and by recognizing people’s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right to know. </a:t>
            </a:r>
            <a:endParaRPr lang="ko-KR" altLang="en-US" dirty="0" smtClean="0" sz="1097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32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77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38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MOTION PICTURE/ FILM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or movie is a form of entertainment that enacts a story by a sequence of images giving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illusion of continuous movement. They are also called motion picture because a film or a movie works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theme of pictures in motion.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Historical background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early 19th century scientists took note of a visual phenomenon: A sequence of individual still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pictures, when set in motion, can give the illusion of movement. These scientists attributed this experience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what they called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persistence of vision,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whereby the eye retains a visual image for a fraction of a second after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source has been removed. The eye’s retention of a visual image, now known as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positive afterimage,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has long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considered a founding principle of motion pictures, even though its relationship to the perception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motion is still not well understood.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Inventors began to conceive of combining the principles of these moving-image devices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photographic recording of actual movement soon after the development of still photography in the 1830s.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most famous experiment occurred in the 1870s in California, where railroad tycoon Leland Stanford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hired British photographer Eadweard Muybridge to settle a bet on whether a galloping horse ever had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four feet off the ground. Muybridge set up 12 cameras along a racetrack and spread threads across the track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a contact to each camera’s shutter. Moving along the track, the horse broke the threads and caused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sequence of photographs to be taken. The photos showed the horse with all four feet off the ground,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Muybridge went on a lecture tour showing his photographs on a moving-image device he called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zoopraxiscope.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Muybridge’s endeavors stimulated French scientist Étienne-Jules Marey to devise equipment for recording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analyzing animal and human movement. He built what he called a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chronophotographic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camera that could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take multiple images superimposed on one another. His work was aided in turn by developments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photographic materials. In 1885 American inventor George Eastman introduced sensitized paper roll “film”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place of the individual glass plates then in use. In 1889 Eastman replaced the paper roll with celluloid,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synthetic plastic material coated with a gelatin emulsion.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Legendary American inventor Thomas Alva Edison drew upon the work of Muybridge, Marey,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Eastman when he turned his attention to motion pictures in the late 1880s. In his laboratories in West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Orange, New Jersey, Edison assigned to a British employee, William K. L. Dickson, the task of constructing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machine for recording actual movement on film and another machine for viewing the resulting images.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1891 Dickson had produced a motion-picture camera, called the Kinetograph, and a viewing machine,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dubbed the Kinetoscope.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early 1893 Edison constructed a motion-picture studio on his laboratory grounds, dubbed the Black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Maria by his staff who thought it resembled police patrol wagons known by that nickname. On May 9,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1893, he held the first public exhibition of films shot using the Kinetograph in the Black Maria. But only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person at a time could use his viewing machine, the Kinetoscope.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France, the brothers Auguste and Louis Lumière, who ran a factory in Lyons that manufactured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photographic equipment, sought to improve on Edison’s accomplishment. By 1895 they developed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lightweight, hand-held camera that used a claw mechanism to advance the film roll. They named it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Cinématographe, and they soon discovered that it could also be used to show large images on a screen,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linked with projecting equipment. Throughout 1895 they shot films and projected them for select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groups. Their first screening for the general public was held in Paris in December 1895.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Lumière brothers held a unique place among all these simultaneous efforts, since they were innovative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filmmakers as well as inventors and manufacturers. The many films they made during 1895 and 1896,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though very short, are considered pivotal in the history of motion pictures.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Arroseur et arrosé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(Waterer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Watered, 1896), a brief comedy drawn from a newspaper cartoon, shows a gardener getting drenched with a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35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78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hose as the result of a boy’s prank.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La sortie de l’usine Lumière à Lyon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(Workers Leaving the Lumiere Factory,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1895)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Arrivée d’un train en gare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(Arrival of a Train at La Ciotat, 1896), which shows a train coming to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station and passengers getting off, were among the so-called actuality films—films that depicted actual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events rather than a story told by actors—for which the Lumières became noted.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the decade following the advent of projected motion pictures, films were shown as part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vaudeville or variety programs, at carnivals and fairgrounds, in lecture halls and churches, and gradually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spaces converted for the exclusive exhibition of movies. Most films ran no longer than 10 to 12 minutes,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reflected the amount of film that could be wound on a standard reel for projection (hence the term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one-reelers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). Many were comedies or actualities, following the Lumière brothers’ example. Their purpose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spectacle—to show something astounding, unusual, titillating, or perhaps newsworthy. But filmmakers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struck out in new directions, especially toward fantasy and narrative.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former projectionist and traveling exhibitor, Edwin S. Porter, took charge of motion-picture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Edison’s company in 1901 and began making longer films that told a story. As with Méliès’s films,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required multiple shots that could be edited into a narrative sequence. Porter’s most notable film—and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famous work of early cinema—was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Great Train Robbery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(1903), which is credited (being first story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based film) with establishing movies as a commercial entertainment medium.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a few experimental exceptions, motion pictures from their earliest days until the late 1920s lacked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synchronous sound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(sound that matches the action). But these silent movies were rarely silent. Early films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almost always were projected with piano or organ accompaniment, and sometimes also with a narrator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live actors behind the screen. As feature-length films (four reels, with a running time of 40 to 50 minutes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more) became the norm in the 1910s, live orchestras began to play in larger theaters, frequently using music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written specifically for the film.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advent of recorded sound in the late 1920s changed motion pictures forever and we were introduced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an entirely different world of Sound Films. Years of experimentation resulted in two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recording systems: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sound on disc,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modeled on the phonograph,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sound on film,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which involved recording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soundtrack directly onto the celluloid strip. At the same time, engineers achieved an effective amplification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system for theaters by drawing on the new technology behind radio. First demonstrated in 1926, recorded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sound was in almost universal use by 1930. By 1930 the sound-on-film method had become standard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because of problems with the discs.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in sub continent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Lumier Brothers of France exhibited their short films in December 1895 at Grande Cafe,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Paris. The following year, they brought the show to India and held its premiere at the Watson Hotel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Bombay on 7 July 1896. It was a package of 6 films, which were: Entry of cinematograph, Arrival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train, The sea bath, A demolition, Leaving the factory and Ladies and Soldiers on wheels. From 18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July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1896, films were released at the Novelty Theatre on a regular basis. Entrance tickets ranged from four annas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one rupee.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Raja Harishchandra (1913) was the first silent feature film made in subcontinent. It was made by Dadasaheb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Phalke.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1930s, the industry was producing over 200 films per annum. The first Indian sound film, Ardeshir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Irani's Alam Ara (1931), was a super hit. There was clearly a huge market for talkies and musicals;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Bollywood and all the regional film industries quickly switched to sound filming.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– a popular medium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is an important and a very popular mass medium of communication particularly persuasion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entertainment. Although in our society it has not been used in such a planned and systematic way where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could help in addressing social evils and other problems but in developed societies and even in many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developing countries this medium is being utilized to it fullest and have given very positive results.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38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79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 have been produced on different subjects and topics in different parts of the world but the topic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has always been a center of attention since the early years of motion picture is “War”.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 films have often been used as 'flag-waving' propaganda to inspire national pride and morale, and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display the nobility of one's own forces while harshly displaying and criticizing the villainy of the enemy,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especially during war or in post-war periods. Jingoistic-type war films usually do not represent war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realistically in their support of nationalistic interests, while avoiding the reality of the horrors of war.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good guys are portrayed as clashing against the bad guys.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war film to be documented was a one-reel, 90-second propagandist effort - the Vitagraph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Company's fictitious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	Tearing Down the Spanish Flag (1898)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produced in the year of the Spanish-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American War. It portrayed a faked, reconstructed version of the seizure of a Spanish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installation in Havana by U.S. Some other people believe that Greco-Turkish war 1897 was the first war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that US- Vietnam war, First World War and then Second World War also became subjects of many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war movies.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Experts have argued over popularity of movies generally and war movies specifically. They believe that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case of war movies one reason is that whatever the party it favours but in the end anti-war message is always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conveyed. Another reason is “conflict”. Conflict between right and wrong, conflict between good and evil,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conflict between two ideologies, conflict between two countries, in fact conflict in any form always attract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people’s attention. War movies and even other propaganda movies that show conflict between any two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things usually gain popularity which proves this research that conflict is something that catches people’s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attention.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Experts concluded that generally when people watch movies they assume themselves as their favourite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heroes and it takes them away from their real lives where they are facing many problems. It also help them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sometimes in seeing their unfulfilled dreams being fulfilled on screen which gives them a strange sense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satisfaction and despite the fact that they know what they are seeing on screen is fabricated and not real but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still they spend money and time to watch it and enjoy it. Deprived people when see people living luxurious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lives on screen, they dream themselves in place of protagonists, it gives them an unconscious feeling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themselves are present at those beautiful lands or living that extraordinary life which is nothing but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trance.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is a very strong medium of communication. Usually the films that are declared best movies of the year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those that have something for everyone. These movies have strong subjects and story lines whether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war movies or religious movies. Their story, camerawork, editing, script, dialogues, acting everything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quality which makes them best. </a:t>
            </a:r>
            <a:endParaRPr lang="ko-KR" altLang="en-US" dirty="0" smtClean="0" sz="1097"/>
          </a:p>
          <a:p>
            <a:pPr marL="0" indent="0" defTabSz="15240" algn="l">
              <a:lnSpc>
                <a:spcPts val="2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41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80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PAKISTAN FILM INDUSTRY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Till 1931 all movies were silent/mute films. Among the famous films that were produced in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era, Charlie Chaplin’s films are given classical status. He was a producer, director, writer as well as a very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good actor. He addressed very serious issues in his comedy films. Comedy is basically divided into three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main categories: (i) Dialogue-based comedy (ii) Situational comedy i.e. sit com, and (iii) Gesture-based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comedy. As those movies were silent films therefore Charlie Chaplin used later two categories of comedy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entertained his fans and viewers. He also made many movies on violence and Economic Depression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Europe was facing in those days.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in Sub-Continent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sub-continent films started in 1913. Calcutta, Bombay and Lahore were three main hubs of film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industry in India. Initially the films that were produced either were religious films or wars or violence based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films. The movies that were produced in Calcutta had an element of music too. The first talky film that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produced on Indian soil was Alam Ara (1931).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1931 to 1947 in addition to Lahore, Bombay and Calcutta, Madras also became a hub of film industry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 lot of the movies produced in this region appeared on the film world. Among the directors that got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international fame, Satya Jeetray, is a big name. He was a Bengali director and the only person from this part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film world who got international acclaim.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in Pakistan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Pakistan, along with Lahore the city that became a hub was Karachi. New studios were built 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 lot of the actors and directors migrated from India and started their work on Pakistani soil. Third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centre of Pakistan Film Industry was Dhaka, in Eastern wing of the country that has now become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Bangladesh.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Indian movies also kept coming to Pakistan, as they were a big source of entertainment to people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Film Industry was not so developed and very few films were being produced here. But whatever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films Pakistani Directors and Producers were producing, under the trade policy signed between the two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parties, Pakistani films were also sent to India. Initially, in spite of lack of facilities, Pakistan produced some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really good movies that competed with India films.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Under the agreed trade policy, exchange was taking place on the standard that our A class movie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exchanged with their B or C class film. It continued till 1962. In 1962, film producers protested that 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 industry cannot flourish until and unless Indian movies will keep coming here. This movement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remembered as Jaal Film Movement because it was launched when a very successful Indian film Jaal was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 released here. At film producers, directors and actors strong protest government finally accepted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demand and put a ban on the import of Indian films. After that Pakistan Film Industry started flourishing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almost 120-125 films were released in a year. At that time there were almost 850 picture houses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Ban on the import of Indian films, where gave a boom to our film industry, there it also affected it in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negative way. From 1962-1973, all the hit films produced by Pakistani producers were plagiarized versions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blockbuster Indian films. And people came to know it when Indian government fixed its boaster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Amritsar to make their TV broadcast reach to Pakistani border areas and started telecasting two films in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week. It was a great shame for the whole nation when they came to know that the entertainment provided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them by their great directors, producers and writers was all plagiarized. Media particularly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criticized it very openly and brutally and started publishing lists of all plagiarized films, song’s lyrics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Showing their reaction towards this open criticism film producers passed a collective resolution and stopped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giving their ads to Pakistan Times and Daily Mashriq. It was one reason that why our film industry could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flourish because they never trusted in their own abilities and preferred copying over producing original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stuff. 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44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81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Very few of our film producers and directors tried to produce original and creative stuff, most of them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copying others’ creativity that did not let them grow in their creativity and now they are not able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survive in this competitive word. </a:t>
            </a:r>
            <a:endParaRPr lang="ko-KR" altLang="en-US" dirty="0" smtClean="0" sz="1097"/>
          </a:p>
          <a:p>
            <a:pPr marL="0" indent="0" defTabSz="15240" algn="l">
              <a:lnSpc>
                <a:spcPts val="6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47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82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DOWNFALL OF PAKISTAN FILM INDUSTRY AND EMERGENCE OF COMMERCIAL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THEATRE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film industry is facing artistic as well as financial crisis. After a ban on Indian films, film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industry started progressing but their plagiarizing attitude restricted their creativity from further growth.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However that’s not the only reason of the present crisis that industry is facing. There are many other factors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are responsible for the downfall of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late 70s and early 80s when VCR culture flourished, once again it provided a market for Indian Films.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was no apparent ban on watching Indian films at homes and easy availability of VHS tapes and VCRs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minor rents, a whole market for Indian Films developed. People preferred watching original stuff than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plagiarized versions. Although most of their films were also copied from Hollywood or English films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still they were producing some original stuff too and along with that, technical quality of their films was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very good, this moved people towards Indian movies and than from habit, it became a culture.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reason is lack of any training or educational institute where producers, directors, actors,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cameramen, set designers, script writers could be given any training. In Pakistan, film has never been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accepted as a true Art form and therefore no step has been taken for its growth and development. Now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21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st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some private institutions have started some degree programs but still nothing could be said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quality of the education or training they are going to provide. Still, over all as a beginning it is a good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step and hopefully public institutions will also be taking such steps to add fresh blood to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Unlike Pakistan, in India there are many institutions from quite a time now where actors, producers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directors are given proper training and then as a professional they join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Pakistan, lack of technical facilities that are important to compete internationally, are another reason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downfall. Advertising companies make short films for TV but they don’t process their films here as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not satisfied with quality of the equipment available. They have to send their films to Thailand,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Singapore and Turkey for processing. This has affected Art films production in the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problem of our Film industry is finances. After 1971 East Pakistan separated from us where 56%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population was living. That tragedy affected the market and viewership of the industry. Then due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Indian films people also stopped coming to cinema houses and as a result producers stopped investing into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business. It also affected the owners of Cinema Houses who later started converting their Cinema/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Picture houses into Theatres or marriage halls or shopping centers etc. In 1973/74 country had almost 850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cinema houses and now they are almost 350, others have been converted into other businesses. By laws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government are another reason because they have made owning a cinema house a heavy business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people. Most of the cinema houses have been converted into commercial theatres, which are getting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popular day by day despite their low quality and standard.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Initially in theatre we had big names like Imtiaz Ali Taj, Rafi Peer etc. but theatre never had a status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 of mass entertainment particularly in our society. Serious theatre was the only form of theatre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available to people. Commercial Theatre began when cinema owners particularly in Lahore started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converting their cinemas into Theatre Halls. The theatre that started here was mostly comic but due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cheap and substandard content negative criticism arouse against theatre plays’ producers, directors, writers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actors and government therefore decided to censor the plays and theirs scripts. As dances were also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permanent element of these plays therefore government also adopted a strict stance over these dances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actresses were fined and at times even banned for performing vulgar or obscene dances on stage.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Experts say that although in this 21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st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century everyone around is talking about freedom of expression but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kind of entertainment these plays are providing to people is worth censoring. However, the laws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is using against them need to be updated or revised. Still 1874’s law is being used to censor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theatre plays.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50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83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Theatre is a very strong medium of communication. People buy very expensive tickets to see these plays.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used sensibly and seriously it can bring better and constructive results. The reason why it has not been used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seriously here is that unlike England, we don’t have a culture of watching theatre plays. We did have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culture of watching cinema but it has also almost diminished now.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If seen in over all scenario film and theatre actors particularly in comparison to TV actors are not given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respect and honour in one society. It is still not an accepted art form here. People watch their movies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plays, get entertained but don’t give back anything other than money. Some people even think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who invest money in these businesses invest for the purpose of turning their black money into white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money. There might be some truth in it but still they are art forms and they should be treated like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mediums of communication and entertainment.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civilized countries media of communication give support to each other. In Pakistan PTV has also tried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perform this job and has filled the space left due to the non-availability of good films and has even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competed with Indian Art Cinema but it could not do anything in developing the industry or getting it 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crisis it is facing, may be because people in film industry are themselves not united and not doing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anything in getting out of the present crisis.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our country the concept of Art Cinema or Parallel Cinema is also very vague. People don’t know much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about them Art films are formed for a specific audience and not for general audience. Another form of film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 is Amateur Film making, which is very developed in our neighboring country. Here in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people have now started taking interest in it but still due to the lack of good institutions they are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capable of competing at international level. However some of them are really good and show a spark that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given some support and training can do much better. </a:t>
            </a:r>
            <a:endParaRPr lang="ko-KR" altLang="en-US" dirty="0" smtClean="0" sz="1097"/>
          </a:p>
          <a:p>
            <a:pPr marL="0" indent="0" defTabSz="15240" algn="l">
              <a:lnSpc>
                <a:spcPts val="4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53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84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41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EXPLOITATION OF FILM AS A MEDIUM OF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Propaganda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as a mass medium has been exploited in various ways to achieve different objectives,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 is one of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propaganda film is a film, either a documentary-style production or a fictional screenplay, which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produced to convince the viewer of a certain political point or influence the opinions or behavior of people,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often by providing deliberately misleading, propagandistic content.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One of the early fictional films to be used for propaganda was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The Birth of a Nation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although it was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produced for the purposes of indoctrination. In 1918, Charlie Chaplin made, at his own expense,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The Bond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comic propaganda film for World War I.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1930s and 1940s, which saw the mad war i.e. Second World War, are arguably the "Golden Age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Propaganda". During this time USA, England, France and Italy produced many propaganda movies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support their stance and to prove Hitler and his Nazism wrong. In the United States during World War II,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filmmaker Frank Capra created a seven-part series of films to support the war effort entitled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Why We Fight.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series is considered a highlight of the propaganda film genre. Other propaganda movies, such as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Thirty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Seconds Over Tokyo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Casablanca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have become so well-loved by film viewers that they can stand on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 as dramatic films, apart from their original role as propaganda vehicles.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Leni Riefenstahl, a filmmaker working in Germany, created what is arguably the greatest propaganda movie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all time: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Triumph of the Will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 film made to chronicle the 1934 Nazi Party rally in Nuremberg. Despite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controversial subject, the film is still recognized today for its influential revolutionary approaches to using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music and cinematography.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Many of the dramatic war films in the early 1940s in the United States were designed to create a patriotic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mindset and convince viewers that sacrifices needed to be made to defeat "the enemy." One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conventions of the genre was to depict a racial and socioeconomic cross-section of the United States, either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platoon on the front lines or soldiers training on a base, which come together to fight for the good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Italy, at the same time, film directors like Roberto Rossellini produced propaganda films for similar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purposes.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World War II, films were used in promoting the Anti-Communist message. The US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placed substantial pressure on prominent individuals and companies in Hollywood to prove their allegiance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American democracy. This pressure, along with several incentives, pushed Hollywood producers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create numerous anti-communist films.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Governmental agencies funded the production of numerous films that dramatized the communist threat.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Red Nightmare: The Commies are Coming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was presented by the Department of Defense Directorate for Armed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Forces but starred two of Hollywood's big stars, Jack Webb and Jack Warner (William Smith 1).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Communist Blueprint for Conquest, The Communist Weapon of Allure, Communist Target Youth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were three films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originally produced by the Department of Defense and the Armed Forces Information Agency in 1955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1956. In Communist Blueprint for Conquest, the methods and techniques used by the Communists to seize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power in a country are explained. Shows how the party gains control of local and central governments, how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moves against other political parties, landowners, big business, the middle class, professional groups,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workers, and churches and describes the party attitude towards the individual in relation to the state.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after 9/11 western media particularly America is producing anti-terrorism propaganda movies.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 also propaganda films because in these movies they are projecting stereotype image of terrorism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showing a terrorist always a muslim. As the people involved in 9/11 incident were mostly Muslims so they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56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85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try to show in their movies (at times even without saying, just by clothing) that Islam or Muslims (Arab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Pakistani) are somehow more prone to terrorism or terrorist acts. They have produced quite many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successful movies on the subject.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While propaganda films are often associated with wartime movies and political films, they can also aim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influencing opinion on other issues. The film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Reefer Madness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is a propaganda film that depicts marijuana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 addictive and dangerous drug which leads to madness, as a way of discouraging young adults from drug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use. As well, during the 1960s, the United States produced propaganda films that cheerily instructed civilians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 to build homemade fallout shelters, to protect themselves in the event of nuclear war.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Kolberg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(1945),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directed by Veit Harlan and Wolfgang Liebeneiner, was one among them.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Our neighouring India has also been producing propaganda films on the subject of Partition. They try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show in their movies that division of sub-continent was unnatural and unjustified. They have even exploited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human emotions and feelings to move people and to influence their minds. Quite many of their propaganda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 have been successful on box office.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on the contrary could not give a proper reply to them in this regard. Our film industry has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discussed the subject but not forcefully and therefore could not make their presence felt. However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have successfully raised their voice, knowingly or unknowingly, on some other important issues of 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society. Capitalism is one among them. In our movies particularly Punjabi films, capitalism has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addressed very strongly and openly. We usually find a capitalist in a negative role and the person who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opposing it is as the hero of the film.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Documentary Film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is certainly a strong and in fact more accepted as a medium of entertainment. Fiction and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times over projection of ideas and subjects have been the favourite technique of film makers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entertainment. There are different types of films that are produced all over the world; very important among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them are Documentary Films.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Documentary is derived from document which means</a:t>
            </a:r>
            <a:r>
              <a:rPr lang="en-US" altLang="ko-KR" dirty="0" smtClean="0" sz="1002">
                <a:solidFill>
                  <a:srgbClr val="000000"/>
                </a:solidFill>
                <a:latin typeface="Arial"/>
                <a:ea typeface="Arial"/>
              </a:rPr>
              <a:t> a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		writing that contains information. They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produced to record facts. As compared to other types of films which are mostly made for entertainment,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documentary films are produced usually with the objectives of informing and educating people. E.g. a lot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movies have been produced on the subject of tourism both nationally and internationally. Tourism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itself an industry, every person cannot go and see every place; these films provide an opportunity to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see different places and enjoy beauty of nature sitting at their homes. Not only this, another objective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films is to introduce different hidden beauties of nature to foreign tourists who use these documentary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films as source of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Then archeology is another subject on which different documentaries have been formed here. In 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country we have quite a many archeological sites that are not only important for the anthropologists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students but tourists also show keen interest in visiting them. E.g. Mohinjodaro, which is an important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archeological site, has 5000 years old recorded history. Then Harappa (Punjab) is also a contemporary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civilization of Mohinjodaro. Similarly, Texla is an important archeological site of Buddhist civilization.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lot of the documentaries films have been produced on famous and important personalities, which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called Personality-based Documentaries. E.g. Quaid-e-Azam, then Allam Iqbal, a lot of documentaries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been produced on them. But number of such films is comparatively very less. Another reason of their non-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popularity is that in our country they are not properly exhibited and screened unlike west and even in many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developing countries where documentary films are treated like other films.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have a department called Films and Publications department, formed under Pakistan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Department that has been given this job and responsibility to produce documentaries and publish English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Urdu publications for preserving different parts of our culture and history. Among their publications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most are official publications: Mah-e-no (monthly literary magazine), pak jamhoriat(magazine), Pakistan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Pictorial( quarterly) . They have also been making films and exhibiting them in cinemas, in past.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59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86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 films are another kind of films that were very important particularly before the invention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 technology. They are very small in size are usually use to preserve files and to keep records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documents in the form of extremely small films.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lot of films have been produced to give a positive thought and bent to people’s approach and thinking.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Michael Moore is one of the very famous documentary film directors of the century. He has produced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directed various serious documentary films on extremely sensitive issues.  One among them was Fahrenheit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9/11. It was made on the incident of 9/11 in which four hijacked planes of American airline hit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destroyed, World trade Centre’s twin towers and a complete wing of pentagon. Fourth plane fell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destroyed in an uninhabited place in Pennsylvania. In this Documentary film he disclosed many secrets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related to the incident that forced people to think in a different direction. He also produced film on the free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availability and use of weapons in USA. In this film he addressed the happy trigger attitude and culture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Americans.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We’ve got many issues around us that can be addressed and dealt with by using this extremely strong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medium of communication. Scientific documentaries are another form of documentaries that are not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vogue in our society but are making their place in developed societies. In our society scientific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documentaries are only used at students’ level e.g. medical students use them for learning and education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particularly watching operations etc. </a:t>
            </a:r>
            <a:endParaRPr lang="ko-KR" altLang="en-US" dirty="0" smtClean="0" sz="1097"/>
          </a:p>
          <a:p>
            <a:pPr marL="0" indent="0" defTabSz="15240" algn="l">
              <a:lnSpc>
                <a:spcPts val="46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62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87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4545" y="2350135"/>
            <a:ext cx="5706110" cy="2863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4545" y="2633345"/>
            <a:ext cx="5706110" cy="160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04545" y="4230370"/>
            <a:ext cx="5706110" cy="11156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04545" y="5342890"/>
            <a:ext cx="5706110" cy="393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COMPUTER – A MEDIUM OF MASS COMMUNICATION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History of Computer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"Who invented the computer?" is not a question with a simple answer. The real answer is that many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inventors contributed to the history of computers and that a computer is a complex piece of machinery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made up of many parts, each of which can be considered a separate invention.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series covers many of the major milestones in computer history (but not all of them) with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concentration on the history of personal home computers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Year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Inventors/Inventions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Description of Event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1936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Konrad Zuse -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Z1 Computer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freely programmable computer.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1942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1944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John Presper Eckert &amp; John W.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Mauchly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20,000 vacuum tubes later...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ENIAC 1 Computer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Frederic Williams &amp; Tom Kilburn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Manchester Baby Computer &amp;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Williams Tube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John Bardeen, Walter Brattain &amp;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No, a transistor is not a computer, but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1947/48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Wiliam Shockley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invention greatly affected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Transistor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history of computers.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John Presper Eckert &amp; John W.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Mauchly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UNIVAC Computer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1953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John Backus &amp; IBM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FORTRAN Computer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Programming Language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1955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(In Use 1959)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1958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1962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1964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1969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ARPAnet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original Internet.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Intel 1103 Computer Memory</a:t>
            </a:r>
            <a:endParaRPr lang="ko-KR" altLang="en-US" dirty="0" smtClean="0" sz="1097" b="1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65" name="Rect 3"/>
          <p:cNvSpPr>
            <a:spLocks noGrp="1" noChangeArrowheads="1"/>
          </p:cNvSpPr>
          <p:nvPr/>
        </p:nvSpPr>
        <p:spPr>
          <a:xfrm rot="0">
            <a:off x="4431665" y="3398520"/>
            <a:ext cx="1936750" cy="469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Harvard Mark 1 computer. </a:t>
            </a:r>
            <a:endParaRPr lang="ko-KR" altLang="en-US" dirty="0" smtClean="0" sz="1097"/>
          </a:p>
          <a:p>
            <a:pPr marL="0" indent="0" defTabSz="15240" algn="l">
              <a:lnSpc>
                <a:spcPts val="3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Otherwise known as 'The Chip'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first computer game invented. </a:t>
            </a:r>
            <a:endParaRPr lang="ko-KR" altLang="en-US" dirty="0" smtClean="0" sz="1097"/>
          </a:p>
        </p:txBody>
      </p:sp>
      <p:sp>
        <p:nvSpPr>
          <p:cNvPr id="266" name="Rect 3"/>
          <p:cNvSpPr>
            <a:spLocks noGrp="1" noChangeArrowheads="1"/>
          </p:cNvSpPr>
          <p:nvPr/>
        </p:nvSpPr>
        <p:spPr>
          <a:xfrm rot="0">
            <a:off x="2350135" y="2919730"/>
            <a:ext cx="4731385" cy="6794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John Atanasoff &amp; Clifford Berry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Who was first in the computing biz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ABC Computer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always as easy as ABC.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Howard Aiken &amp; Grace Hopper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Harvard Mark I Computer</a:t>
            </a:r>
            <a:endParaRPr lang="ko-KR" altLang="en-US" dirty="0" smtClean="0" sz="1097" b="1"/>
          </a:p>
          <a:p>
            <a:pPr marL="0" indent="0" defTabSz="15240" algn="l"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Baby and the Williams Tube turn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memories. </a:t>
            </a:r>
            <a:endParaRPr lang="ko-KR" altLang="en-US" dirty="0" smtClean="0" sz="1097"/>
          </a:p>
          <a:p>
            <a:pPr marL="0" indent="0" defTabSz="1524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First commercial computer &amp; able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pick presidential winners.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International Business Machines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IBM enters into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'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The History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IBM 701 EDPM Computer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Computers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'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successful high level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programming language.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Stanford Research Institute, Bank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bank industry computer -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of America,  and General Electric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 (magnetic ink character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ERMA and MICR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recognition) for reading checks.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Jack Kilby &amp; Robert Noyce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Integrated Circuit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Steve Russell &amp; MIT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Spacewar Computer Game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Douglas Engelbart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Nicknamed the mouse because the tail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Computer Mouse &amp; Windows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came out the end.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world's first available dynamic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RAM chip.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61745" y="621665"/>
            <a:ext cx="5706110" cy="32886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61745" y="3907790"/>
            <a:ext cx="5706110" cy="4019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61745" y="4306570"/>
            <a:ext cx="5706110" cy="204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Faggin, Hoff &amp; Mazor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Intel 4004 Computer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microprocessor.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Microprocessor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1971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Robert Metcalfe &amp; Xerox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Ethernet Computer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Networking.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Networking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1974/75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1976/77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1978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Seymour Rubenstein &amp; Rob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1979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Barnaby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Word Processors.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WordStar Software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1981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Microsoft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1981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MS-DOS Computer Operating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System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1983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Apple Lisa Computer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1984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Apple Macintosh Computer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1985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Microsoft Windows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SERIES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BE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CONTINUED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Pakistan was introduced to this technology in 1960s when University of Engineering and Technology,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Lahore had a computer in their lab which was huge enough to cover a complete room.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 is a strange device comprised of many small chips that store all data which is later used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various purposes. A chip is a small piece of semi-conducting material (usually silicon) on which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integrated circuit is embedded. A typical chip is less than ¼-square inches and can contain millions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electronic components (transistors). Computers consist of many chips placed on electronic boards called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printed circuit boards.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are different types of chips. For example, CPU chips (also called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microprocessors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) contain an entire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processing unit, whereas memory chips contain blank memory.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present computer technology has developed so much that it is being used for millions of purposes.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Libraries are using computers to store their data and even books in this technology. It is being used in wars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too for quite a time now. In 1990-91 First gulf war, US bombed Iraq using computer technology which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controlled through satellite. Similarly USA also used this technology in its war against Afghanistan.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 has changed human life. One school of thought says that computer and other modern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technologies have benefited humanity but the other school of thought is that man has become subservient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69" name="Rect 3"/>
          <p:cNvSpPr>
            <a:spLocks noGrp="1" noChangeArrowheads="1"/>
          </p:cNvSpPr>
          <p:nvPr/>
        </p:nvSpPr>
        <p:spPr>
          <a:xfrm rot="0">
            <a:off x="4953000" y="2277110"/>
            <a:ext cx="1808480" cy="554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consumer computers.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More first consumer computers. </a:t>
            </a:r>
            <a:endParaRPr lang="ko-KR" altLang="en-US" dirty="0" smtClean="0" sz="1097"/>
          </a:p>
        </p:txBody>
      </p:sp>
      <p:sp>
        <p:nvSpPr>
          <p:cNvPr id="270" name="Rect 3"/>
          <p:cNvSpPr>
            <a:spLocks noGrp="1" noChangeArrowheads="1"/>
          </p:cNvSpPr>
          <p:nvPr/>
        </p:nvSpPr>
        <p:spPr>
          <a:xfrm rot="0">
            <a:off x="2773680" y="1240790"/>
            <a:ext cx="4307840" cy="847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Alan Shugart &amp;IBM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Nicknamed the "Floppy" for 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The "Floppy" Disk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flexibility.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Scelbi  &amp; Mark-8 Altair &amp; IBM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5100 Computers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Apple I, II &amp; TRS-80 &amp;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Commodore Pet Computers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Dan Bricklin &amp; Bob Frankston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Any product that pays for itself in two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VisiCalc Spreadsheet Software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weeks is a surefire winner. </a:t>
            </a:r>
            <a:endParaRPr lang="ko-KR" altLang="en-US" dirty="0" smtClean="0" sz="1097"/>
          </a:p>
          <a:p>
            <a:pPr marL="0" indent="0" defTabSz="15240" algn="l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IBM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an "Acorn" grows a personal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The IBM PC - Home Computer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 revolution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"Quick And Dirty" comes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operating system of the century.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first home computer with a GUI,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graphical user interface.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more affordable home computer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 a GUI.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Microsoft begins the friendly war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Apple. </a:t>
            </a:r>
            <a:endParaRPr lang="ko-KR" altLang="en-US" dirty="0" smtClean="0" sz="1097"/>
          </a:p>
          <a:p>
            <a:pPr marL="0" indent="0" defTabSz="15240" algn="l">
              <a:lnSpc>
                <a:spcPts val="2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technology which is bringing more disadvantages than benefits. If man had kept technology under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control rather than becoming subservient to it than it could have been taken as a blessing but in the present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circumstances it is getting dangerous day by day.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14 July 1945, Atom Bomb was invented and on 6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and 9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August it was used against Japan and just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win a mad war so many man’s generations’ war thrown into hell. It was the worst example of using modern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 which is still going on, more accurately with the help of computers, in various forms against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various nations. After that Russia also got nuclear technology and a race started between Russia and USA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they developed such a huge number of atomic and nuclear weapons that according to some experts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these weapons are used then this whole planet can be destroyed five times. Now supremacy is no more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man, technology has started ruling over humanity and humankind.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Among various uses of computers one important use its role in providing easy access to information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education and entertainment. Now via internet (A network of computer networks which operates world-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wide using a common set of communications protocols) one can get information on any topic regarding 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subject. Online universities, degrees and books are a great source of education and information particularly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 those who cannot adopt conventional methods and means to reach to them. Online advertising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shopping has also opened avenues for business. For online advertising you don’t even need to have a long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staff and a big office, you can do this business with a very small investment and set up, just because of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great technology.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Regarding Journalism and Mass Communication, computer is playing a very big role. In Pakistan and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world almost all newspapers and magazines have their websites where one can read their news,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columns and editorials etc. now you don’t have to buy a newspaper and you can get information not just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your national but also from international newspapers. In this online journalism, some newspapers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magazines have their whole newspapers and magazine available on their websites. Similarly broadcasting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services also give their news on their websites where you can also listen to their bulletins and broadcasts.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Different television channels have also made their websites. They provide information regarding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program schedules and at some sites you can also subscribe to watch tv online. Technology has really gone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far ahead.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has various types and forms. Two important among them are one-one i.e. interpersonal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communication and the other one is one-many i.e. mass communication. Computer does not fall in 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category as a medium of communication. You can chat on it with various people at a time and now even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voice chat and cameras are also available which makes your chat almost like face to face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Then you can read newspapers and other informative websites which are available to millions of people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same time, this quality makes it a mass medium.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computer remains your personal until and unless your work on it benefits you alone but when you put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something on it in the form of a blog or a website which is accessible to anyone who wants then it becomes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mass medium of communication. </a:t>
            </a:r>
            <a:endParaRPr lang="ko-KR" altLang="en-US" dirty="0" smtClean="0" sz="1097"/>
          </a:p>
          <a:p>
            <a:pPr marL="0" indent="0" defTabSz="15240" algn="l">
              <a:lnSpc>
                <a:spcPts val="19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73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43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IMPACT OF COMPUTER TECHNOLOGY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sociologists believe that technological innovation is the single most important source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social change. But just how does a technological advancement spur social change? What are some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changes taking place due to the proliferation of computer technology in our society, culture and in fact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our whole life?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the dawn of the Industrial Revolution, life in industrial and post industrial societies have been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characterized by a constant stream of evolving products, innovative methods of production and dynamic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means of distribution. The development of the World Wide Web is a major breakthrough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advancement of communication. Today, a few years after its introduction, the Web has become a major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cultural movement involving millions of people. One eminent computer scientist, Michael Dertouzos, head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Massachusetts Institute of Technology Laboratory for Computer Science, has authored a captivating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book about the future of computer science. Mr. Dertouzos thoughtfully explain his vision of the future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"Information Marketplace". In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	What Will Be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the author gives the reader an insider’s preview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advancements and inventions that will propel the information revolution in new directions.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world of information that we now live in has already altered many aspects of our lives, either directly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indirectly. For example, the millions of web users, from homeowners to Chief Executive Officers,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grown in numbers at an astronomical rate, adding daily to the cumulative web of information by posting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own "home pages" that describe their own specific interests and needs. The computer mouse clicks,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these subscribers, is opening new avenues for information retrieval, fun, commerce, and surprises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millions of web sites. The theses of Mr. Dertouzos book is that, in a quiet and relentless way,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 is altering our world so profoundly that the movement rivals the changes brought on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Industrial Revolution. The evidence of these changes is embedded in our popular culture and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ramifications for all our institutions.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Technology has given people the tools to do their jobs at home. People are also forging new communities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cyberspace and developing new relationships with their neighbors in real space. Arguably, technology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potential to increase individual freedom and strengthen community - even though so many people argue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does neither at the moment.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1965, Americans have gained an average of one hour of leisure each day, according to social scientist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the University of Maryland. Some "experts" even believe that by the middle of the next century,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average work week in America will be shorter than 28 hours. Today men and women have more time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opportunity than ever to pursue their dreams.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Besides keyboards and mice, today's interface devices include trackballs, joysticks, hand held styluses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handwriting and drawing, microphones that pick up speech and both still and video cameras for images.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There are many other devices being developed around the world. Scientists and engineers are currently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working on gloves that let the computer know the precise movement of your fingers. Experts are also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working on glasses and head tracking helmets with mechanical, electromagnetic and optical gadgets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track eye and head movements so that the computer knows where you are looking. Complete body suits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convey the motions of the torso and limbs are not readily available but they have been built (in clumsy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forms) and will undoubtedly appear in the future. These same devices will feed information back to you,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flooding your senses with spoken information, three dimensional video, audio and "bodyo"- tactile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impressions that will range from the tickle of a cats' whiskers to being driven into the back of your chair.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state of the art interfaces will forever alter the way we work and "re-create" in the near future.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 interfaces may allow individuals to work simultaneously with colleagues around the globe.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application possibilities for these interface technologies is really mind boggling.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Despite many uses computer is definitely being misused too and is also bringing some disadvantages.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Children and even adults now rely on computer for getting any kind of information rather than consulting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libraries and books. In fact now even online libraries are available where you can buy or read books online.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76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is not only affecting book reading culture but also affecting people’s health as they now spent even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on computer than television. Many people don’t even bother reading newspapers now as online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journalism has provided them this facility too. But this impact may not be as bad as plagiarism. Many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college students and even at higher levels of education, students copy someone else’s research from internet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present it with their own name. They now prefer plagiarizing over original research.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Obscene and porn material is easily available on internet, which is affecting children’s and teenager’s mental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psychological health and is becoming a matter of worry for parents as they can’t be with their children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the time. Now when internet cafés are present in every town and city and easy access to internet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material is available to children, it is becoming a huge problem in many societies.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internet people particularly teenagers meet and chat with different other people who are mostly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strangers. Dis-informing each other on chat regarding different things is becoming a fashion. People prefer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lying on internet than telling truth, which is affecting over all moral and ethical behaviors and values of 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Similarly, children spend too much time in playing different games on computer. They are now lesser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interested in physical games and activities and prefer playing computer games. Some games even show a lot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violent content that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 r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esearch suggests can increase children’s aggressive behavior in other situations.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Since 1994, computer games have carried the ratings of the Entertainment Software Ratings Board (ESRB).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ESRB ratings of age appropriateness (for example, early childhood, teen, mature) appear on the front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computer game box. On the back of the box, ESRB provides descriptors of game content in various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areas of concern, such as violence, language, sex, and gaming. The ESRB uses the following phrases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describe violent content in games: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Mild Animated Violence: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		Contains scenes involving cartoon/animated/pixilated characters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depiction of unsafe or hazardous acts or violent situations.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Mild Realistic Violence: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Contains scenes involving characters in the depiction of unsafe or hazardous acts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 violent situations in realistic or photographic detail.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Comic Mischief: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Contains scenes depicting activities that have been characterized as slapstick or gross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vulgar humor.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Animated Violence: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	Contains depictions of aggressive conflict involving cartoon/animated/pixilated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characters.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Realistic Violence: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Contains realistic or photographic-like depictions of body parts.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Animated Blood and Gore: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				Animated/pixilated or cartoon-like depictions of mutilation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dismemberment of body parts.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Realistic Blood and Gore: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Representations of blood and/or gore in realistic or photographic-like detail.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Animated Blood: 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Animated/pixilated or cartoon-like depictions of blood.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Realistic Blood: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Representations of blood in realistic or photographic-like detail.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Cyber crime is another issue. Many law enforcement agencies define cyber crime very narrowly and think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only in terms of complex, computer-specific issues like hacking or crimes that require a forensic computer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examination. This is a fatal flaw in two respects. First, it oversimplifies what are in fact very complex crimes,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secondly it inflates the investigative difficulty of relatively simply crimes. Law enforcement agencies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must recognize that many forms of simple theft and fraud are in fact cyber crimes, if a computer is used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commit the crime. What may appear to be a simple theft of small proportions--and may even go unreported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many cases--may actually be a major crime with a huge loss. In fact, computer thieves have recognized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almost infinite number of victims available to them on an international scale and the MO of "taking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little bit from a lot of places" to avoid the normal detection systems has become all too common.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Computer-related crime can involve use of the Internet to facilitate crimes such as: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0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Stalking (cyber stalking)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79" name="Rect 3"/>
          <p:cNvSpPr>
            <a:spLocks noGrp="1" noChangeArrowheads="1"/>
          </p:cNvSpPr>
          <p:nvPr/>
        </p:nvSpPr>
        <p:spPr>
          <a:xfrm rot="0">
            <a:off x="1188720" y="8802370"/>
            <a:ext cx="2228850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Internet auction fraud (primarily thefts)  </a:t>
            </a:r>
            <a:endParaRPr lang="ko-KR" altLang="en-US" dirty="0" smtClean="0" sz="1097"/>
          </a:p>
        </p:txBody>
      </p:sp>
      <p:sp>
        <p:nvSpPr>
          <p:cNvPr id="280" name="Rect 3"/>
          <p:cNvSpPr>
            <a:spLocks noGrp="1" noChangeArrowheads="1"/>
          </p:cNvSpPr>
          <p:nvPr/>
        </p:nvSpPr>
        <p:spPr>
          <a:xfrm rot="0">
            <a:off x="960120" y="8957945"/>
            <a:ext cx="6121400" cy="7562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>
                <a:solidFill>
                  <a:srgbClr val="000000"/>
                </a:solidFill>
                <a:latin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Criminal threats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Threatening or annoying electronic mail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Distribution of child pornography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Online gambling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Fraudulent credit card transactions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Fraudulent application for goods or services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Identity theft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a debate has started on having a universal code of ethics for computer users and even at the societal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level there must be some code that should be followed to avoid these misuses and disadvantages which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affecting our culture and societal set up. As for newspapers and radio &amp; TV there are some code of ethics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are followed and observed by the people concerned, there must be some ethical standards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 users and operators too, so that their activities and work may not hurt the society around.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At organizational levels different professional computer organizations have their own code of ethics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they follow, similarly different universities have also formed their code of ethics for their students in using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computer technology in university campuses but now it is needed at societal and even at international level,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particularly for teenagers who use it at their home and for the internet cafés too. </a:t>
            </a:r>
            <a:endParaRPr lang="ko-KR" altLang="en-US" dirty="0" smtClean="0" sz="1097"/>
          </a:p>
          <a:p>
            <a:pPr marL="0" indent="0" defTabSz="15240" algn="l">
              <a:lnSpc>
                <a:spcPts val="4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83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IMPORTANCE OF MASS MEDIA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When we talk about present society, it certainly means democratic society where everything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according to people’s own choice &amp; opinion and whatever that happens is people’s own decision. Now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such a society where government cannot take decisions without people’s approval and where majority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authority, the most obvious question that comes to mind is: how would one come to know that what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want and what is their opinion in any matter? Here comes mass media, which acts as a bridge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between the government and masses and tells the leaders what people want and similarly, the masses what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their government is doing.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 media is needed to make policies according to people’s will. Government’s different departments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regularly monitor radio, tv and even newspapers to know and be aware of people’s opinion regarding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and its policies. Mass media not only acts as a mirror of society but it also acts as a watchdog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keeps an eye on the government and its officials’ activities and keep people well-informed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leaders. It tells people that who is violating the law, who is involved in corruption and who is betraying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when it is said that mass media plays part in policy making, the question arises; how? There are two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ways adopted in this regard. One is mass media’s Agenda setting function, other is Agenda following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function. In agenda setting function, mass media informs policy makers that how a problem can be solved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setting the policy for them or by setting the policy with them. In Agenda following function, mass media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does not provide solutions rather it is used to implement those solutions or government’s policies. Usually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experts prefer and appreciate mass media’s function more as agenda setting body than agenda following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body.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US-Vietnam war is an important example of mass media’s role in agenda setting. In this war it was mass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that turned Americas against their own government and therefore they had to call back their troops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Vietnam. In this case, government had to change their policies on people’s demand which was due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 media’s live coverage of the war.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1971’s Pak-India war media played Agenda following part and was used as a tool to implement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government’s policies which were not going in the favour of the nation. In 1971’s election government did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not transfer power to the party that got majority votes and as a result we lost half of our land and people.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case mass media did not work as a watchdog and did not let people know the truth.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government has decided to make websites of all its ministries and departments and will be displaying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different policies and details of the actions on these websites which will reduce the distance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and masses and will also help in achieving transparency. It will also be possible for people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submit their applications and complaints regarding different issues on these websites.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Due to the non-acceptance of people’s right to know and access to information at governmental level a lot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the issues are still lying unsolved in our history. E.g. Liaqat Ali Khan’s assassination is still a mystery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similarly after Dhaka Fall, Hamood-ur-Rehman Commission was formed to investigate the causes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tragedy but its report was not opened and now when it has been opened only apart of it has been revealed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people, and the fact which was people’s right to know is still hidden from them.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After United State’s defeat in Vietnam War, they also held investigation to find out the causes,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resulted into their defeat against such a small nation, and came to know that it is due to mass media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people turned against the government and its policies and they lost war against a much smaller nation. After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investigation when they revealed the report, the US armed forces’ commanders said that from now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onwards no TV channel or reporter will be permitted to do live coverage of the war without prior approval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from the commanders. Against this order people filed cases in courts and the stance that they adopted was: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86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“Since our armed forced are paid from our tax money, and huge sums are spent on the purchase of arms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ammunition, therefore, public who is the financer of armed forces and war machinery, has a right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know what their armed forces are doing when they are outside of the country and fighting somewhere.”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New World Information and Communication Order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unfortunate fact about mass media is that there are few developed countries that are enjoying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monopoly over mass media. Their news agencies, broadcasting houses, TV channels and films are ruling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over the world of mass media. They can build and change any country’s image according to their own wish.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get rid of this monopoly and to give third world countries their share in mass media in October 1980,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21st General Conference of the United Nations Educational, Scientific and Cultural Organization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(UNESCO), meeting in Belgrade, received a report and issued a declaration on communication that caused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furor in the Western press.			The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New York Times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featured an editorial titled “UNESCO as Censor.”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Time </a:t>
            </a:r>
            <a:endParaRPr lang="ko-KR" altLang="en-US" dirty="0" smtClean="0" sz="1097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magazine issued a full-page editorial statement on “The Global First Amendment War.” Hundreds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newspapers carried stories similar to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	Editor and Publisher’s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	“Press Groups Denounce UNESCO Plan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Media.”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1976 UNESCO’s Director General Amadou-Mahtar M’Bow was authorized to appoint an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Commission for the Study of Communication Problems. The commission, under the leadership of Sean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MacBride (former foreign minister of Ireland and recipient of both the Nobel and Lenin Peace Prizes),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completed its work in time for the General Conference in Belgrade, October 1980. The report, 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</a:rPr>
              <a:t>Many Voices, </a:t>
            </a:r>
            <a:endParaRPr lang="ko-KR" altLang="en-US" dirty="0" smtClean="0" sz="109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Garamond"/>
                <a:ea typeface="Garamond"/>
              </a:rPr>
              <a:t>One World 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(Unipub, 1980), supported the principles of free reporting of news, but it also encouraged state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regulation of the media and suggested that UNESCO give priority to “the elaboration of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norms” in its communication program.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Belgrade Assembly merely referred the MacBride Commission report to its member governments,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without endorsing any of its conclusions. However, the assembly went on to produce its own shocks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West. The Group of 77, a bloc of more than 100 developing countries, had come with a detailed description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a “New World Information Order.” After strenuous negotiations, the sections that were most offensive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the West were removed. These included “the right of peoples . . . to comprehensive and true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information,” “the right of each nation” to inform the world about its affairs, and “the right of each nation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protect its cultural and social identity against the false or distorted information which may cause harm.”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the end, however, all of the participating nations for the first time accepted a document saying that it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possible to define a new information order. Only the United Kingdom stated that it would have opposed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resolution had it come to a vote (instead, it was adopted by consensus). The U.K. objected to the very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idea of defining the new order; its position got no votes from other Western nations.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Belgrade affirmed that UNESCO should lay “a major role in the examination and solution of problems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domain.” The assembly also agreed on a number of guidelines for the new information order: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1. Elimination of the imbalances and inequalities which characterize the present solution.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2. Elimination of the negative effects of certain monopolies, public or private and excessive concentrations.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3. Removal of the internal and external obstacles to a free flow and wider and better balanced dissemination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information and ideas.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4. Plurality of sources and channels of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5. Freedom of the press and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6. The freedom of journalists . . . a freedom inseparable from responsibility.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7. The capacity of developing countries to achieve improvement of their own situations, notably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providing their own equipment, by training their personnel, by improving their infrastructures and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 their information and communication means suitable to their needs and aspirations.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8. The sincere will of developed countries to help them attain these objectives.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9. Respect for each people’s cultural identity and the right of each nation to inform the world public about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its interests, its aspirations and its social and cultural values. </a:t>
            </a:r>
            <a:endParaRPr lang="ko-KR" altLang="en-US" dirty="0" smtClean="0" sz="1097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89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May 1981, some 100 representatives of print and broadcast organizations from the U.S. and 20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nations met in the French Alps, where they adopted the “Declaration of Talloires,” calling on UNESCO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“abandon attempts to regulate news content and formulate rules for the press.” In June, Elliott Abrams,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assistant secretary of state for international organization affairs, charged that UNESCO had “lent itself to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massive assault on the free flow of information” and challenged General Secretary M’Bow that if he did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remain “neutral” and avoid confrontation on the issue, he faced a battle with the U.S. “This is a war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UNESCO cannot win,” Abrams declared.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1984, the United States withheld its contributions and withdrew from the UNESCO in protest, followed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United Kingdom in 1985 and Singapore in 1986. Following the change in government in 1997,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UK rejoined; the United States rejoined in 2003. (As of 2007, Singapore has still not rejoined.) During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period, considerable reforms had been implemented in the organization.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attitude that media giants showed towards new world information &amp; communications order and Mac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Bridge’s report failed the idea and therefore it could not be implemented practically. </a:t>
            </a:r>
            <a:endParaRPr lang="ko-KR" altLang="en-US" dirty="0" smtClean="0" sz="1097"/>
          </a:p>
          <a:p>
            <a:pPr marL="0" indent="0" defTabSz="15240" algn="l">
              <a:lnSpc>
                <a:spcPts val="5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92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EFFECT OF OTHER ORGANIZATIONS ON MASS MEDIA AND ITS PERFORMANCE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Mass media where influence society and its different sections, there it is also influenced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organizations and institutions of the society in which it is operating. First and foremost body and institution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that influences mass media is government. In every society the relationship between government and mass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is very important. In certain societies, particularly in totalitarian societies where governments don’t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really believe in the freedom of press and people’s right to know, the relationship between government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media is not that good because government tries to keep mass media under its control. Mass media in every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society has two major responsibilities, one to work as a mirror of the society and the other one is its role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watchdog of the society. Usually the conflict between government and mass media is over its role as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watchdog of the society. Governments don’t want media to criticize over its policies which arises conflict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between the two. In some societies, this clash between government, its officials and media organizations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media persons is more and in some it’s less.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other organizations also affect mass media’s working and its performance. In Pakistan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organizations that have been influencing mass media are discussed below: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PFUJ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PFUJ i.e. Pakistan Federal Union of Journalists (PFUJ) is located in Islamabad, Pakistan. PFUJ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arguably South Asia’s first association representing the journalists of an entire country. To its credit, in all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these years since its inception it has always stood out as a symbol of freedom of speech. The battles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waged for press freedom and for a democratic dispensation in the country will always remain etched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collective memory of Pakistanis.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this day, PFUJ remains committed to the ideals for which it was established in 1950. Set up primarily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 towards a better working environment for Pakistani journalists, it didn’t remain isolated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struggles and campaigns launched by the civil society. In fact, it was in the vanguard whenever sacrifices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needed to be made and freedoms were to be won.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1959, government of Pakistan appointed a commission called Press Commission of Pakistan to check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financial conditions of working journalists and give its recommendations to improve those conditions.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Press Commission’s report government for the first time formed a Wage Board for journalists in 1963.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wage board directed the newspapers the minimum wages of journalists which they would have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follow. Wage board divided newspapers into three categories (depending on their circulation) and similarly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three categories of journalists’ minimum wages that they’ll pay. It was also recommended that after three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years these wages shall be revised according to the circumstances. This Wage Board was formed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efforts of PFUJ and in 2005 they are trying to implement 7</a:t>
            </a:r>
            <a:r>
              <a:rPr lang="en-US" altLang="ko-KR" dirty="0" smtClean="0" sz="701">
                <a:solidFill>
                  <a:srgbClr val="000000"/>
                </a:solidFill>
                <a:latin typeface="Garamond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wage board that has already been announced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 problem that this organization addressed very openly at all forums is that of Freedom of Press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which is needed for true democracy and transparency and Free Access to information or People’s right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Know. Press and publication laws that our governments inherited from British Raj still exist in one form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another. PFUJ is trying to get rid of these black media laws that do nothing but to restrict freedom of press.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the freedom that media is having now is mainly because of PFUJ’s efforts and sacrifices that it has given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get it.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CPNE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1955, the Council of Pakistan Newspaper’s Editors (CPNE) was established as a representative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body of the editors of the publications of Pakistan. CPNE is also a big organization like PFUJ.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Initially the newspapers’ editors used to be professional journalists and not the owners of the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but now after RPPO was enforced it has become a trend that a newspaper’s owner either himself becomes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editor of the newspaper or makes some of his close relative an editor or a chief editor. This trend has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negatively affected the newspapers’ policies and definitely the overall quality journalism in Pakistan. Now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95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editor who are owners too, while selecting news or writing articles keep this thing in mind that their writings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may not hurt some political party or a person who is giving them a business or may be the more powerful –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government itself. A professional editor never cares about such things because he is not the owner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the newspaper’s business is not his headache. He only cares about writing truth and not about pleasing 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friends or advertisers. A professional editor never comprises on newspaper’s or its editorial policy. Now we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regularly see columns in newspapers that are not written by its paid columnists, who are professional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journalists, but they are written by those who write for fame and they do get it. Now in columns and articles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we often see writers writing their personal incidents or giving references of their personal incidents which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certainly against ethics of journalism. Unfortunately, now we are not having those professional editors who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could turn back such fame-hungry writers’ articles. This dual job of owner cum editor has also affected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editor’s gatekeeper’s responsibility. Now editors are often seen stopping news that are true and should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known to people but are stopped just because they’ll bring damage to newspaper’s business. Although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apparently it looks very harmless and people are often seen saying that what’s wrong if a newspaper’s owner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becomes an editor too but if studied deeply this trend has damaged and is still damaging quality journalism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Pakistan.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APNS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Pakistan Newspapers Society is a proprietors’ association. Its election is held every year; three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major groups of newspapers are the major players of APNS that are: Jang Group, Dawn Group and Nawa-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i-Waqt Group.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was founded in 1953 by the major, pioneering editors and publishers of they day to facilitate the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of views between the owners of the major publications of Pakistan and to protect the rights of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giving them a voice to appeal unfair decisions against them.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Today, the APNS is a clearing house of sorts for its member publications, safeguarding the commercial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interests of newspapers under its membership (including tax payment). For example, if a company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advertises in a publication but refuses to pay, the publication complains to the APNS. The APNS gives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agency an ultimatum: pay or get blacklisted.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Now a lot of the owners of the newspapers being editors too are usually members of both organizations.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This results into the clash between the objectives of both organizations which is also affecting newspapers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journalism.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APNEC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All Pakistan Newspapers Employees Configuration is also a very active organization like PFUJ. In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newspaper there are not just working journalists that are its employees rather there are many other sections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and departments too. Printing press and its workers, computer lab and its technicians, advertising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marketing department, circulation dept., accounts dept. etc. are all part of a newspaper. Now the employees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working in these departments can’t be a part of PFUJ so they have formed their own separate unions.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APNEC is a configuration of all these unions. It was formed in 1970s to preserve newspapers’ employees’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rights and demands. Journalists are also a part of this organization.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Film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producers have also formed an association. But it is quite an inactive organization. It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formed to preserve film producers’ rights and have taken their demands to the governments too but as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lack unity therefore could not do much for the film industry and now we can see that it is facing the worst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time of its history.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Film producer’s association, although has got many problems to address but is not taking any serious united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stance over any problem. E.g. Censor Board issue is an important problem that industry is facing.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 lot of serious issues that cannot be addressed because our censor board does not allow it. But association’s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own attitude is non-serious and therefore whole industry is suffering. </a:t>
            </a:r>
            <a:endParaRPr lang="ko-KR" altLang="en-US" dirty="0" smtClean="0" sz="1097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298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Television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Although now we are having many private channels along with the state channel PTV but still there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 no collective union of TV channels or of their employees, particularly in Private Sector. PTV, being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 channel, has permitted its employees to have unions, which is not an appreciated culture in private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sector, and they have therefore made an association through which they don’t just preserve their own rights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rather they are also fighting for freedom of expression. There are many subjects that are banned on state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channel and producer and writers cannot address those issues despite their important and need.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Freedom of Expression and People’s Right to Know is still the biggest problem of our mass media.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Universal Declaration of Human Rights (1948)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On December 10, 1948 the General Assembly of the United Nations adopted and proclaimed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Universal Declaration of Human Rights. Following this historic act the Assembly called upon all Member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countries to publicize the text of the Declaration and "to cause it to be disseminated, displayed, read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expounded principally in schools and other educational institutions, without distinction based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political status of countries or territories."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Article 19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“Everyone has the right to freedom of opinion and expression; this right includes freedom to hold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opinions without interference and to seek, receive and impart information and ideas through any media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regardless of frontiers.”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Till 2002 this basic right was not approved or accepted in Pakistan. Freedom of expression and freedom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press is mentioned in Constitution of Pakistan 1973 but with conditions that are very vague and can be used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by the government to exploit any journalist, newspaper or media organization.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Constitution of Pakistan 1973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Article 19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“Every citizen shall have the right of 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</a:rPr>
              <a:t>	freedom of speech and expression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and there shall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freedom of the press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subject to any reasonable restrictions imposed by law in the interest of the glory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Islam or the integrity, security, or defense of Pakistan or any part thereof, friendly relations with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states, public order, decency or morality or in relation to the contempt of court, defamation or incitement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to an office.”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During the caretaker government of Malik Mairaj Khalid (Nov. 1996 – Feb. 1997), Information Minister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Javed Jabbar introduced an ordinance “Right to know”. But the government that came later did not forward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it in the assembly and therefore the ordinance died its own death.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 October 2002, when international donors insisted on legislation on the people's right to know, 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ordinance called the Freedom of Information Ordinance was hurriedly promulgated by General Musharaf’s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government. The fact that the parliament that had come into being at that time was deliberately bypassed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making the law throws some light on the negative attitude of the government of the day on the issue.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Some of the serious flaws in the Freedom of Information Law stand out but still overall it has been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appreciated on the account that it is the first step and hopefully more actions will be taken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government to ensure complete freedom of press and media. </a:t>
            </a:r>
            <a:endParaRPr lang="ko-KR" altLang="en-US" dirty="0" smtClean="0" sz="1097"/>
          </a:p>
          <a:p>
            <a:pPr marL="0" indent="0" defTabSz="15240" algn="l">
              <a:lnSpc>
                <a:spcPts val="1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301" name="Rect 3"/>
          <p:cNvSpPr>
            <a:spLocks noGrp="1" noChangeArrowheads="1"/>
          </p:cNvSpPr>
          <p:nvPr/>
        </p:nvSpPr>
        <p:spPr>
          <a:xfrm rot="0">
            <a:off x="6903720" y="9540240"/>
            <a:ext cx="177800" cy="17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99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Mass Media in Pakistan – MCM 304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20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References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Books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1999.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Lahore, 1996, Reprint 1997.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1997.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Websites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http://www.pbs.org/wgbh/aso/tryit/tech/indext.html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http://www.fao.org/docrep/U1320E/u1320e04.htm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http://www.civilization.ca/hist/tv/tv02eng.html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http://www.answers.com/what%20is%20culture%3F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http://www.media-awareness.ca/english/parents/television/tv_impact_kids.cfm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http://www.media-awareness.ca/english/issues/violence/violence_debates.cfm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http://en.wikipedia.org/wiki/Advertising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http://en.wikipedia.org/wiki/Sponsorship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http://www.museum.tv/archives/etv/V/htmlV/vietnamonte/vietnamonte.htm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http://en.wikipedia.org/wiki/World_War_II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http://www.pemra.gov.pk/rules.html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http://www.religion-online.org/showarticle.asp?title=1305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http://en.wikipedia.org/wiki/Propaganda_film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http://www.piedmontcommunities.us/servlet/go_ProcServ/dbpage=page&amp;GID=01304001151018296830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570175&amp;PG=01304001151018302154688894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http://encarta.msn.com/encyclopedia_761567568_2/History_of_Motion_Pictures.html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http://www.filmsite.org/warfilms.html</a:t>
            </a:r>
            <a:endParaRPr lang="ko-KR" altLang="en-US" dirty="0" smtClean="0" sz="1097" u="sng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http://inventors.about.com/library/blcoindex.htm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http://www.yale.edu/ynhti/curriculum/units/1999/7/99.07.07.x.html</a:t>
            </a:r>
            <a:endParaRPr lang="ko-KR" altLang="en-US" dirty="0" smtClean="0" sz="1097" u="sng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http://www.futureofchildren.org/usr_doc/vol10no2Art6.pdf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FF"/>
                </a:solidFill>
                <a:latin typeface="Garamond"/>
                <a:ea typeface="Garamond"/>
              </a:rPr>
              <a:t>http://www.religion-online.org/showarticle.asp?title=1305</a:t>
            </a:r>
            <a:endParaRPr lang="ko-KR" altLang="en-US" dirty="0" smtClean="0" sz="1097" u="sng"/>
          </a:p>
          <a:p>
            <a:pPr marL="0" indent="0" defTabSz="15240" algn="l">
              <a:lnSpc>
                <a:spcPts val="25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Garamond"/>
                <a:ea typeface="Garamond"/>
              </a:rPr>
              <a:t>©Copyright Virtual University of Pakistan </a:t>
            </a:r>
            <a:endParaRPr lang="ko-KR" altLang="en-US" dirty="0" smtClean="0" sz="1200"/>
          </a:p>
        </p:txBody>
      </p:sp>
      <p:sp>
        <p:nvSpPr>
          <p:cNvPr id="304" name="Rect 3"/>
          <p:cNvSpPr>
            <a:spLocks noGrp="1" noChangeArrowheads="1"/>
          </p:cNvSpPr>
          <p:nvPr/>
        </p:nvSpPr>
        <p:spPr>
          <a:xfrm rot="0">
            <a:off x="1188720" y="1115695"/>
            <a:ext cx="5969000" cy="85985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</a:rPr>
              <a:t>Dynamics of Mass Communication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Roger Dominic 6th ed, McGraw Hill New York, London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</a:rPr>
              <a:t>Mass Communication – Introducing New Trends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M. Imtiaz Shahid, Caravan Enterprises,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</a:rPr>
              <a:t>Exploring Journalism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Mirza Muhammad Yusuf, A-One Publishers, Lahore, 3rd ed.1993.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</a:rPr>
              <a:t>Iblagh-e-Aama (Urdu),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  Mehdi Hassan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</a:rPr>
              <a:t>Journalism for All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Mehdi Hassan and Abdus Salam Khurshid, Aziz Book Depot, Lahore.6th ed.,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u="sng" b="1">
                <a:solidFill>
                  <a:srgbClr val="000000"/>
                </a:solidFill>
                <a:latin typeface="Garamond"/>
              </a:rPr>
              <a:t>Mass Communication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</a:rPr>
              <a:t>, University of Karachi –2000. </a:t>
            </a:r>
            <a:endParaRPr lang="ko-KR" altLang="en-US" dirty="0" smtClean="0" sz="1097"/>
          </a:p>
          <a:p>
            <a:pPr marL="0" indent="0" defTabSz="15240" algn="l">
              <a:lnSpc>
                <a:spcPts val="5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Oox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PDF Converter</Application>
  <PresentationFormat>On-screen Show</PresentationFormat>
  <Paragraphs>0</Paragraphs>
  <Slides>1</Slides>
  <Notes>0</Notes>
  <HiddenSlides>0</HiddenSlides>
  <MMClips>0</MMClips>
  <HeadingPairs>
    <vt:vector size="4" baseType="variant">
      <vt:variant>
        <vt:lpstr>Theme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Title text</vt:lpstr>
    </vt:vector>
  </TitlesOfParts>
  <Company>PDFConverter, Inc.</Company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modified xsi:type="dcterms:W3CDTF">2010-06-24T10:54:49Z</dcterms:modified>
</cp:coreProperties>
</file>