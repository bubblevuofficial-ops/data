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jpg" ContentType="image/jp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</p:sldIdLst>
  <p:sldSz cx="7556500" cy="10699750"/>
  <p:notesSz cx="7556500" cy="106997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Relationship Id="rId180" Type="http://schemas.openxmlformats.org/officeDocument/2006/relationships/slide" Target="slides/slide175.xml"/><Relationship Id="rId181" Type="http://schemas.openxmlformats.org/officeDocument/2006/relationships/slide" Target="slides/slide176.xml"/><Relationship Id="rId182" Type="http://schemas.openxmlformats.org/officeDocument/2006/relationships/slide" Target="slides/slide177.xml"/><Relationship Id="rId183" Type="http://schemas.openxmlformats.org/officeDocument/2006/relationships/slide" Target="slides/slide178.xml"/><Relationship Id="rId184" Type="http://schemas.openxmlformats.org/officeDocument/2006/relationships/slide" Target="slides/slide179.xml"/><Relationship Id="rId185" Type="http://schemas.openxmlformats.org/officeDocument/2006/relationships/slide" Target="slides/slide180.xml"/><Relationship Id="rId186" Type="http://schemas.openxmlformats.org/officeDocument/2006/relationships/slide" Target="slides/slide181.xml"/><Relationship Id="rId187" Type="http://schemas.openxmlformats.org/officeDocument/2006/relationships/slide" Target="slides/slide182.xml"/><Relationship Id="rId188" Type="http://schemas.openxmlformats.org/officeDocument/2006/relationships/slide" Target="slides/slide183.xml"/><Relationship Id="rId189" Type="http://schemas.openxmlformats.org/officeDocument/2006/relationships/slide" Target="slides/slide18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101600">
              <a:lnSpc>
                <a:spcPts val="1280"/>
              </a:lnSpc>
            </a:pPr>
            <a:fld id="{81D60167-4931-47E6-BA6A-407CBD079E47}" type="slidenum">
              <a:rPr dirty="0" spc="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101600">
              <a:lnSpc>
                <a:spcPts val="1280"/>
              </a:lnSpc>
            </a:pPr>
            <a:fld id="{81D60167-4931-47E6-BA6A-407CBD079E47}" type="slidenum">
              <a:rPr dirty="0" spc="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101600">
              <a:lnSpc>
                <a:spcPts val="1280"/>
              </a:lnSpc>
            </a:pPr>
            <a:fld id="{81D60167-4931-47E6-BA6A-407CBD079E47}" type="slidenum">
              <a:rPr dirty="0" spc="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101600">
              <a:lnSpc>
                <a:spcPts val="1280"/>
              </a:lnSpc>
            </a:pPr>
            <a:fld id="{81D60167-4931-47E6-BA6A-407CBD079E47}" type="slidenum">
              <a:rPr dirty="0" spc="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101600">
              <a:lnSpc>
                <a:spcPts val="1280"/>
              </a:lnSpc>
            </a:pPr>
            <a:fld id="{81D60167-4931-47E6-BA6A-407CBD079E47}" type="slidenum">
              <a:rPr dirty="0" spc="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842005" y="9744940"/>
            <a:ext cx="2346325" cy="185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99808" y="9744940"/>
            <a:ext cx="277495" cy="185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aramond"/>
                <a:cs typeface="Garamond"/>
              </a:defRPr>
            </a:lvl1pPr>
          </a:lstStyle>
          <a:p>
            <a:pPr marL="101600">
              <a:lnSpc>
                <a:spcPts val="1280"/>
              </a:lnSpc>
            </a:pPr>
            <a:fld id="{81D60167-4931-47E6-BA6A-407CBD079E47}" type="slidenum">
              <a:rPr dirty="0" spc="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png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jpg"/></Relationships>
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/Relationships>
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
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
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/Relationships>
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
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4.jpg"/></Relationships>
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jpg"/></Relationships>
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.png"/></Relationships>
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.png"/></Relationships>
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png"/></Relationships>
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jpg"/></Relationships>
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
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
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
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.png"/></Relationships>
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
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0.jpg"/></Relationships>
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
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/Relationships>
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/Relationships>
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png"/></Relationships>
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jpg"/><Relationship Id="rId3" Type="http://schemas.openxmlformats.org/officeDocument/2006/relationships/image" Target="../media/image78.png"/></Relationships>
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9.png"/></Relationships>
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
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png"/></Relationships>
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/Relationships>
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6.png"/></Relationships>
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7.png"/></Relationships>
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8.png"/></Relationships>
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6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36595" y="9857943"/>
            <a:ext cx="254444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5">
                <a:latin typeface="Garamond"/>
                <a:cs typeface="Garamond"/>
              </a:rPr>
              <a:t>©</a:t>
            </a:r>
            <a:r>
              <a:rPr dirty="0" sz="1150" spc="-10">
                <a:latin typeface="Garamond"/>
                <a:cs typeface="Garamond"/>
              </a:rPr>
              <a:t> </a:t>
            </a:r>
            <a:r>
              <a:rPr dirty="0" sz="1150" spc="15">
                <a:latin typeface="Garamond"/>
                <a:cs typeface="Garamond"/>
              </a:rPr>
              <a:t>Copyright</a:t>
            </a:r>
            <a:r>
              <a:rPr dirty="0" sz="1150" spc="10">
                <a:latin typeface="Garamond"/>
                <a:cs typeface="Garamond"/>
              </a:rPr>
              <a:t> Virtual</a:t>
            </a:r>
            <a:r>
              <a:rPr dirty="0" sz="1150" spc="45">
                <a:latin typeface="Garamond"/>
                <a:cs typeface="Garamond"/>
              </a:rPr>
              <a:t> </a:t>
            </a:r>
            <a:r>
              <a:rPr dirty="0" sz="1150" spc="10">
                <a:latin typeface="Garamond"/>
                <a:cs typeface="Garamond"/>
              </a:rPr>
              <a:t>University</a:t>
            </a:r>
            <a:r>
              <a:rPr dirty="0" sz="1150" spc="5">
                <a:latin typeface="Garamond"/>
                <a:cs typeface="Garamond"/>
              </a:rPr>
              <a:t> </a:t>
            </a:r>
            <a:r>
              <a:rPr dirty="0" sz="1150" spc="15">
                <a:latin typeface="Garamond"/>
                <a:cs typeface="Garamond"/>
              </a:rPr>
              <a:t>of</a:t>
            </a:r>
            <a:r>
              <a:rPr dirty="0" sz="1150" spc="5">
                <a:latin typeface="Garamond"/>
                <a:cs typeface="Garamond"/>
              </a:rPr>
              <a:t> </a:t>
            </a:r>
            <a:r>
              <a:rPr dirty="0" sz="1150" spc="15">
                <a:latin typeface="Garamond"/>
                <a:cs typeface="Garamond"/>
              </a:rPr>
              <a:t>Pakistan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99514" y="9888219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37080" y="617473"/>
          <a:ext cx="4945380" cy="8906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7870"/>
                <a:gridCol w="3630929"/>
                <a:gridCol w="575945"/>
              </a:tblGrid>
              <a:tr h="5040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01420" marR="1066165" indent="-293370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ACC501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Business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Finance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Table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Contents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2154"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Lesson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#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Topic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Page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BEBEBE"/>
                    </a:solidFill>
                  </a:tcPr>
                </a:tc>
              </a:tr>
              <a:tr h="181605"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65"/>
                        </a:lnSpc>
                        <a:tabLst>
                          <a:tab pos="1456055" algn="l"/>
                          <a:tab pos="1935480" algn="l"/>
                          <a:tab pos="2414905" algn="l"/>
                          <a:tab pos="2894330" algn="l"/>
                          <a:tab pos="3404235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Introduction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- </a:t>
                      </a:r>
                      <a:r>
                        <a:rPr dirty="0" sz="1100" spc="1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7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Why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Study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Finance?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Corporate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Firm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Firm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The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Financial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Markets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Statement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----------------------------------------------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Shield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Statement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Flows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Common-Size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Statements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  <a:tabLst>
                          <a:tab pos="1360170" algn="l"/>
                          <a:tab pos="1839595" algn="l"/>
                          <a:tab pos="2319020" algn="l"/>
                          <a:tab pos="2798445" algn="l"/>
                          <a:tab pos="3190875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Ratio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Analysis</a:t>
                      </a:r>
                      <a:r>
                        <a:rPr dirty="0" u="dash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7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7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Ratio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Analysis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(Cont…) 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Du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Pont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Identity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44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Using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Financial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Statements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Information</a:t>
                      </a:r>
                      <a:r>
                        <a:rPr dirty="0" sz="1100" spc="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48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  <a:tabLst>
                          <a:tab pos="1296035" algn="l"/>
                          <a:tab pos="1775460" algn="l"/>
                          <a:tab pos="2254885" algn="l"/>
                          <a:tab pos="2647315" algn="l"/>
                          <a:tab pos="3126740" algn="l"/>
                          <a:tab pos="3350895" algn="l"/>
                        </a:tabLst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Future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Value</a:t>
                      </a:r>
                      <a:r>
                        <a:rPr dirty="0" u="dash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5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5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53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Evaluating</a:t>
                      </a:r>
                      <a:r>
                        <a:rPr dirty="0" sz="1100" spc="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Investments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56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  <a:tabLst>
                          <a:tab pos="848360" algn="l"/>
                          <a:tab pos="1327785" algn="l"/>
                          <a:tab pos="1807210" algn="l"/>
                          <a:tab pos="2286635" algn="l"/>
                          <a:tab pos="2766060" algn="l"/>
                          <a:tab pos="3158490" algn="l"/>
                          <a:tab pos="3408679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Annuities</a:t>
                      </a:r>
                      <a:r>
                        <a:rPr dirty="0" u="dash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62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  <a:tabLst>
                          <a:tab pos="1008380" algn="l"/>
                          <a:tab pos="1487805" algn="l"/>
                          <a:tab pos="1967230" algn="l"/>
                          <a:tab pos="2446655" algn="l"/>
                          <a:tab pos="2926080" algn="l"/>
                          <a:tab pos="3318510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Perpetuities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66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  <a:tabLst>
                          <a:tab pos="939165" algn="l"/>
                          <a:tab pos="1332230" algn="l"/>
                          <a:tab pos="1811655" algn="l"/>
                          <a:tab pos="2290445" algn="l"/>
                          <a:tab pos="2769870" algn="l"/>
                          <a:tab pos="3249295" algn="l"/>
                        </a:tabLst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Bonds</a:t>
                      </a:r>
                      <a:r>
                        <a:rPr dirty="0" u="dash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Valuing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Bond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72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Bond</a:t>
                      </a:r>
                      <a:r>
                        <a:rPr dirty="0" sz="1100" spc="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Pricing</a:t>
                      </a:r>
                      <a:r>
                        <a:rPr dirty="0" sz="1100" spc="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Theorems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76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Bond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Indenture</a:t>
                      </a:r>
                      <a:r>
                        <a:rPr dirty="0" sz="1100" spc="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78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Different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Types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Bonds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270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81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7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Term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Structure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Rates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84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7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Zero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Growth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Stocks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Non-Constant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Growth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Stocks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93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Preferred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Features 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99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  <a:tabLst>
                          <a:tab pos="1003935" algn="l"/>
                          <a:tab pos="1396365" algn="l"/>
                          <a:tab pos="1875789" algn="l"/>
                          <a:tab pos="2355215" algn="l"/>
                          <a:tab pos="2834640" algn="l"/>
                          <a:tab pos="3314065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Using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NPV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Average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Accounting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Return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Profitability</a:t>
                      </a:r>
                      <a:r>
                        <a:rPr dirty="0" sz="1100" spc="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Index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111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Making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Capital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Investment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Decisions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7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Pro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Forma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Financial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Statements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117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  <a:tabLst>
                          <a:tab pos="1163955" algn="l"/>
                          <a:tab pos="1643380" algn="l"/>
                          <a:tab pos="2122805" algn="l"/>
                          <a:tab pos="2515235" algn="l"/>
                          <a:tab pos="2994660" algn="l"/>
                          <a:tab pos="3418204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121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  <a:tabLst>
                          <a:tab pos="752475" algn="l"/>
                          <a:tab pos="1231900" algn="l"/>
                          <a:tab pos="1711325" algn="l"/>
                          <a:tab pos="2190750" algn="l"/>
                          <a:tab pos="2583180" algn="l"/>
                          <a:tab pos="3062605" algn="l"/>
                          <a:tab pos="3399154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Returns</a:t>
                      </a:r>
                      <a:r>
                        <a:rPr dirty="0" u="dash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7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Variability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Returns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129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  <a:tabLst>
                          <a:tab pos="1035685" algn="l"/>
                          <a:tab pos="1515110" algn="l"/>
                          <a:tab pos="1994535" algn="l"/>
                          <a:tab pos="2386965" algn="l"/>
                          <a:tab pos="2866390" algn="l"/>
                          <a:tab pos="3345815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Portfolio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u="dash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Capital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Weighted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Average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Capital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139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Capital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Structure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-----------------------------------------------------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142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M&amp;M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Propositions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146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Bankruptcy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Costs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151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Cycle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Cash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Cycle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157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Short-Term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Financial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Policy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161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Short-Term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Borrowing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Float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 Cash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Management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169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92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Credits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Receivables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174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176">
                <a:tc>
                  <a:txBody>
                    <a:bodyPr/>
                    <a:lstStyle/>
                    <a:p>
                      <a:pPr marL="68580">
                        <a:lnSpc>
                          <a:spcPts val="125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ts val="125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Inventory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Management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---------------------------------------------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178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3165519" y="1408746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 h="0">
                <a:moveTo>
                  <a:pt x="0" y="0"/>
                </a:moveTo>
                <a:lnTo>
                  <a:pt x="85393" y="0"/>
                </a:lnTo>
              </a:path>
            </a:pathLst>
          </a:custGeom>
          <a:ln w="623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12126" y="2872421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 h="0">
                <a:moveTo>
                  <a:pt x="0" y="0"/>
                </a:moveTo>
                <a:lnTo>
                  <a:pt x="85393" y="0"/>
                </a:lnTo>
              </a:path>
            </a:pathLst>
          </a:custGeom>
          <a:ln w="623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70585" y="4335969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 h="0">
                <a:moveTo>
                  <a:pt x="0" y="0"/>
                </a:moveTo>
                <a:lnTo>
                  <a:pt x="85393" y="0"/>
                </a:lnTo>
              </a:path>
            </a:pathLst>
          </a:custGeom>
          <a:ln w="623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6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-5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12890" y="714501"/>
            <a:ext cx="73025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5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1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629" y="883665"/>
            <a:ext cx="5673725" cy="8731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BUSINESS</a:t>
            </a:r>
            <a:r>
              <a:rPr dirty="0" sz="1150" spc="1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FINANCE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Primary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textbook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course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Essentials</a:t>
            </a:r>
            <a:r>
              <a:rPr dirty="0" sz="1100" spc="6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7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Corporate</a:t>
            </a:r>
            <a:r>
              <a:rPr dirty="0" sz="1100" spc="10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Finance,</a:t>
            </a:r>
            <a:r>
              <a:rPr dirty="0" sz="1100" spc="95" b="1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Ross,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Westerfield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Jordan,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fourth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edition,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McGraw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Publishers,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ISBN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0-07-121057-7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efe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10">
                <a:latin typeface="Garamond"/>
                <a:cs typeface="Garamond"/>
              </a:rPr>
              <a:t>en</a:t>
            </a:r>
            <a:r>
              <a:rPr dirty="0" sz="1100" spc="5">
                <a:latin typeface="Garamond"/>
                <a:cs typeface="Garamond"/>
              </a:rPr>
              <a:t>ce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b</a:t>
            </a:r>
            <a:r>
              <a:rPr dirty="0" sz="1100" spc="-25">
                <a:latin typeface="Garamond"/>
                <a:cs typeface="Garamond"/>
              </a:rPr>
              <a:t>o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20">
                <a:latin typeface="Garamond"/>
                <a:cs typeface="Garamond"/>
              </a:rPr>
              <a:t>k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w</a:t>
            </a:r>
            <a:r>
              <a:rPr dirty="0" sz="1100" spc="-5">
                <a:latin typeface="Garamond"/>
                <a:cs typeface="Garamond"/>
              </a:rPr>
              <a:t>il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25">
                <a:latin typeface="Garamond"/>
                <a:cs typeface="Garamond"/>
              </a:rPr>
              <a:t>b</a:t>
            </a:r>
            <a:r>
              <a:rPr dirty="0" sz="1100" spc="5">
                <a:latin typeface="Garamond"/>
                <a:cs typeface="Garamond"/>
              </a:rPr>
              <a:t>e: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Introduction</a:t>
            </a:r>
            <a:r>
              <a:rPr dirty="0" sz="1100" spc="-9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to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Finance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Lawrence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25">
                <a:latin typeface="Garamond"/>
                <a:cs typeface="Garamond"/>
              </a:rPr>
              <a:t>J.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Gitman </a:t>
            </a:r>
            <a:r>
              <a:rPr dirty="0" sz="1100">
                <a:latin typeface="Garamond"/>
                <a:cs typeface="Garamond"/>
              </a:rPr>
              <a:t>and Jeff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Madura,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Addison-Wesley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Publishers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Foundations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Financial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Management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Stanley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B.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Block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Geoffrey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A.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Hirt,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McGraw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Publishers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Course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Contents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overview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Financial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Environment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15">
                <a:latin typeface="Garamond"/>
                <a:cs typeface="Garamond"/>
              </a:rPr>
              <a:t>F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ci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St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35">
                <a:latin typeface="Garamond"/>
                <a:cs typeface="Garamond"/>
              </a:rPr>
              <a:t>t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25">
                <a:latin typeface="Garamond"/>
                <a:cs typeface="Garamond"/>
              </a:rPr>
              <a:t>m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>
                <a:latin typeface="Garamond"/>
                <a:cs typeface="Garamond"/>
              </a:rPr>
              <a:t>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35">
                <a:latin typeface="Garamond"/>
                <a:cs typeface="Garamond"/>
              </a:rPr>
              <a:t>T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x</a:t>
            </a:r>
            <a:r>
              <a:rPr dirty="0" sz="1100" spc="5">
                <a:latin typeface="Garamond"/>
                <a:cs typeface="Garamond"/>
              </a:rPr>
              <a:t>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d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C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45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F</a:t>
            </a:r>
            <a:r>
              <a:rPr dirty="0" sz="1100" spc="-5">
                <a:latin typeface="Garamond"/>
                <a:cs typeface="Garamond"/>
              </a:rPr>
              <a:t>l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20">
                <a:latin typeface="Garamond"/>
                <a:cs typeface="Garamond"/>
              </a:rPr>
              <a:t>w</a:t>
            </a:r>
            <a:r>
              <a:rPr dirty="0" sz="1100" spc="5">
                <a:latin typeface="Garamond"/>
                <a:cs typeface="Garamond"/>
              </a:rPr>
              <a:t>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Discounted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Valuation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V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l</a:t>
            </a:r>
            <a:r>
              <a:rPr dirty="0" sz="1100" spc="-40">
                <a:latin typeface="Garamond"/>
                <a:cs typeface="Garamond"/>
              </a:rPr>
              <a:t>u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n</a:t>
            </a:r>
            <a:r>
              <a:rPr dirty="0" sz="1100" spc="-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-40">
                <a:latin typeface="Garamond"/>
                <a:cs typeface="Garamond"/>
              </a:rPr>
              <a:t>t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30">
                <a:latin typeface="Garamond"/>
                <a:cs typeface="Garamond"/>
              </a:rPr>
              <a:t>c</a:t>
            </a:r>
            <a:r>
              <a:rPr dirty="0" sz="1100" spc="20">
                <a:latin typeface="Garamond"/>
                <a:cs typeface="Garamond"/>
              </a:rPr>
              <a:t>k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35">
                <a:latin typeface="Garamond"/>
                <a:cs typeface="Garamond"/>
              </a:rPr>
              <a:t>B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20">
                <a:latin typeface="Garamond"/>
                <a:cs typeface="Garamond"/>
              </a:rPr>
              <a:t>d</a:t>
            </a:r>
            <a:r>
              <a:rPr dirty="0" sz="1100" spc="5">
                <a:latin typeface="Garamond"/>
                <a:cs typeface="Garamond"/>
              </a:rPr>
              <a:t>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Criteria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5">
                <a:latin typeface="Garamond"/>
                <a:cs typeface="Garamond"/>
              </a:rPr>
              <a:t>C</a:t>
            </a:r>
            <a:r>
              <a:rPr dirty="0" sz="1100" spc="-2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-30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15">
                <a:latin typeface="Garamond"/>
                <a:cs typeface="Garamond"/>
              </a:rPr>
              <a:t>v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tm</a:t>
            </a:r>
            <a:r>
              <a:rPr dirty="0" sz="1100" spc="-30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sz="1100" spc="-30">
                <a:latin typeface="Garamond"/>
                <a:cs typeface="Garamond"/>
              </a:rPr>
              <a:t>e</a:t>
            </a:r>
            <a:r>
              <a:rPr dirty="0" sz="1100" spc="5">
                <a:latin typeface="Garamond"/>
                <a:cs typeface="Garamond"/>
              </a:rPr>
              <a:t>ci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n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Co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C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40">
                <a:latin typeface="Garamond"/>
                <a:cs typeface="Garamond"/>
              </a:rPr>
              <a:t>t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Leverage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-9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C</a:t>
            </a:r>
            <a:r>
              <a:rPr dirty="0" sz="1100" spc="-2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10">
                <a:latin typeface="Garamond"/>
                <a:cs typeface="Garamond"/>
              </a:rPr>
              <a:t>W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20">
                <a:latin typeface="Garamond"/>
                <a:cs typeface="Garamond"/>
              </a:rPr>
              <a:t>k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C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40">
                <a:latin typeface="Garamond"/>
                <a:cs typeface="Garamond"/>
              </a:rPr>
              <a:t>t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M</a:t>
            </a:r>
            <a:r>
              <a:rPr dirty="0" sz="1100" spc="-2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20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ge</a:t>
            </a:r>
            <a:r>
              <a:rPr dirty="0" sz="1100" spc="-20">
                <a:latin typeface="Garamond"/>
                <a:cs typeface="Garamond"/>
              </a:rPr>
              <a:t>m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>
                <a:latin typeface="Garamond"/>
                <a:cs typeface="Garamond"/>
              </a:rPr>
              <a:t>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Dividends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100" spc="5" b="1">
                <a:latin typeface="Garamond"/>
                <a:cs typeface="Garamond"/>
              </a:rPr>
              <a:t>F</a:t>
            </a:r>
            <a:r>
              <a:rPr dirty="0" sz="1100" spc="5" b="1">
                <a:latin typeface="Garamond"/>
                <a:cs typeface="Garamond"/>
              </a:rPr>
              <a:t>i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-40" b="1">
                <a:latin typeface="Garamond"/>
                <a:cs typeface="Garamond"/>
              </a:rPr>
              <a:t>n</a:t>
            </a:r>
            <a:r>
              <a:rPr dirty="0" sz="1100" spc="-15" b="1">
                <a:latin typeface="Garamond"/>
                <a:cs typeface="Garamond"/>
              </a:rPr>
              <a:t>c</a:t>
            </a:r>
            <a:r>
              <a:rPr dirty="0" sz="1100" spc="20" b="1">
                <a:latin typeface="Garamond"/>
                <a:cs typeface="Garamond"/>
              </a:rPr>
              <a:t>e</a:t>
            </a:r>
            <a:r>
              <a:rPr dirty="0" sz="1100" b="1">
                <a:latin typeface="Garamond"/>
                <a:cs typeface="Garamond"/>
              </a:rPr>
              <a:t>: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A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25" b="1">
                <a:latin typeface="Garamond"/>
                <a:cs typeface="Garamond"/>
              </a:rPr>
              <a:t>Q</a:t>
            </a:r>
            <a:r>
              <a:rPr dirty="0" sz="1100" spc="-40" b="1">
                <a:latin typeface="Garamond"/>
                <a:cs typeface="Garamond"/>
              </a:rPr>
              <a:t>u</a:t>
            </a:r>
            <a:r>
              <a:rPr dirty="0" sz="1100" spc="5" b="1">
                <a:latin typeface="Garamond"/>
                <a:cs typeface="Garamond"/>
              </a:rPr>
              <a:t>i</a:t>
            </a:r>
            <a:r>
              <a:rPr dirty="0" sz="1100" spc="20" b="1">
                <a:latin typeface="Garamond"/>
                <a:cs typeface="Garamond"/>
              </a:rPr>
              <a:t>c</a:t>
            </a:r>
            <a:r>
              <a:rPr dirty="0" sz="1100" spc="5" b="1">
                <a:latin typeface="Garamond"/>
                <a:cs typeface="Garamond"/>
              </a:rPr>
              <a:t>k</a:t>
            </a:r>
            <a:r>
              <a:rPr dirty="0" sz="1100" spc="-75" b="1">
                <a:latin typeface="Garamond"/>
                <a:cs typeface="Garamond"/>
              </a:rPr>
              <a:t> </a:t>
            </a:r>
            <a:r>
              <a:rPr dirty="0" sz="1100" spc="15" b="1">
                <a:latin typeface="Garamond"/>
                <a:cs typeface="Garamond"/>
              </a:rPr>
              <a:t>L</a:t>
            </a:r>
            <a:r>
              <a:rPr dirty="0" sz="1100" spc="-5" b="1">
                <a:latin typeface="Garamond"/>
                <a:cs typeface="Garamond"/>
              </a:rPr>
              <a:t>oo</a:t>
            </a:r>
            <a:r>
              <a:rPr dirty="0" sz="1100" spc="5" b="1">
                <a:latin typeface="Garamond"/>
                <a:cs typeface="Garamond"/>
              </a:rPr>
              <a:t>k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Four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Basic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Areas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F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ce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Investments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15">
                <a:latin typeface="Garamond"/>
                <a:cs typeface="Garamond"/>
              </a:rPr>
              <a:t>F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ci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-30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o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te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o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9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F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ce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Courier New"/>
              <a:buChar char="o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Bu</a:t>
            </a:r>
            <a:r>
              <a:rPr dirty="0" sz="1100" spc="5" b="1">
                <a:latin typeface="Garamond"/>
                <a:cs typeface="Garamond"/>
              </a:rPr>
              <a:t>s</a:t>
            </a:r>
            <a:r>
              <a:rPr dirty="0" sz="1100" spc="10" b="1">
                <a:latin typeface="Garamond"/>
                <a:cs typeface="Garamond"/>
              </a:rPr>
              <a:t>i</a:t>
            </a:r>
            <a:r>
              <a:rPr dirty="0" sz="1100" spc="-40" b="1">
                <a:latin typeface="Garamond"/>
                <a:cs typeface="Garamond"/>
              </a:rPr>
              <a:t>n</a:t>
            </a:r>
            <a:r>
              <a:rPr dirty="0" sz="1100" spc="20" b="1">
                <a:latin typeface="Garamond"/>
                <a:cs typeface="Garamond"/>
              </a:rPr>
              <a:t>e</a:t>
            </a:r>
            <a:r>
              <a:rPr dirty="0" sz="1100" spc="5" b="1">
                <a:latin typeface="Garamond"/>
                <a:cs typeface="Garamond"/>
              </a:rPr>
              <a:t>ss</a:t>
            </a:r>
            <a:r>
              <a:rPr dirty="0" sz="1100" spc="-90" b="1">
                <a:latin typeface="Garamond"/>
                <a:cs typeface="Garamond"/>
              </a:rPr>
              <a:t> </a:t>
            </a:r>
            <a:r>
              <a:rPr dirty="0" sz="1100" spc="-70" b="1">
                <a:latin typeface="Garamond"/>
                <a:cs typeface="Garamond"/>
              </a:rPr>
              <a:t>F</a:t>
            </a:r>
            <a:r>
              <a:rPr dirty="0" sz="1100" spc="10" b="1">
                <a:latin typeface="Garamond"/>
                <a:cs typeface="Garamond"/>
              </a:rPr>
              <a:t>i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-30" b="1">
                <a:latin typeface="Garamond"/>
                <a:cs typeface="Garamond"/>
              </a:rPr>
              <a:t>a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-20" b="1">
                <a:latin typeface="Garamond"/>
                <a:cs typeface="Garamond"/>
              </a:rPr>
              <a:t>c</a:t>
            </a:r>
            <a:r>
              <a:rPr dirty="0" sz="1100" spc="-35" b="1">
                <a:latin typeface="Garamond"/>
                <a:cs typeface="Garamond"/>
              </a:rPr>
              <a:t>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Addresses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questions: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long-term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should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engage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in?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raise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investments?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does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company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bills?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Investments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De</a:t>
            </a:r>
            <a:r>
              <a:rPr dirty="0" sz="1100" spc="20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l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w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40">
                <a:latin typeface="Garamond"/>
                <a:cs typeface="Garamond"/>
              </a:rPr>
              <a:t>t</a:t>
            </a:r>
            <a:r>
              <a:rPr dirty="0" sz="1100" spc="5">
                <a:latin typeface="Garamond"/>
                <a:cs typeface="Garamond"/>
              </a:rPr>
              <a:t>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ci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s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ets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-40">
                <a:latin typeface="Garamond"/>
                <a:cs typeface="Garamond"/>
              </a:rPr>
              <a:t>u</a:t>
            </a:r>
            <a:r>
              <a:rPr dirty="0" sz="1100" spc="5">
                <a:latin typeface="Garamond"/>
                <a:cs typeface="Garamond"/>
              </a:rPr>
              <a:t>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3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c</a:t>
            </a:r>
            <a:r>
              <a:rPr dirty="0" sz="1100" spc="20">
                <a:latin typeface="Garamond"/>
                <a:cs typeface="Garamond"/>
              </a:rPr>
              <a:t>k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bo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20">
                <a:latin typeface="Garamond"/>
                <a:cs typeface="Garamond"/>
              </a:rPr>
              <a:t>d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>
                <a:latin typeface="Garamond"/>
                <a:cs typeface="Garamond"/>
              </a:rPr>
              <a:t>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covers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issues: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15">
                <a:latin typeface="Garamond"/>
                <a:cs typeface="Garamond"/>
              </a:rPr>
              <a:t>P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ci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F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2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c</a:t>
            </a:r>
            <a:r>
              <a:rPr dirty="0" sz="1100" spc="-40">
                <a:latin typeface="Garamond"/>
                <a:cs typeface="Garamond"/>
              </a:rPr>
              <a:t>i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ss</a:t>
            </a:r>
            <a:r>
              <a:rPr dirty="0" sz="1100" spc="5">
                <a:latin typeface="Garamond"/>
                <a:cs typeface="Garamond"/>
              </a:rPr>
              <a:t>ets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Associated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Rewards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Dete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10">
                <a:latin typeface="Garamond"/>
                <a:cs typeface="Garamond"/>
              </a:rPr>
              <a:t>m</a:t>
            </a:r>
            <a:r>
              <a:rPr dirty="0" sz="1100" spc="-40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-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b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s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m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ci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40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15">
                <a:latin typeface="Garamond"/>
                <a:cs typeface="Garamond"/>
              </a:rPr>
              <a:t>v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s</a:t>
            </a:r>
            <a:r>
              <a:rPr dirty="0" sz="1100" spc="-5">
                <a:latin typeface="Garamond"/>
                <a:cs typeface="Garamond"/>
              </a:rPr>
              <a:t>t</a:t>
            </a:r>
            <a:r>
              <a:rPr dirty="0" sz="1100" spc="15">
                <a:latin typeface="Garamond"/>
                <a:cs typeface="Garamond"/>
              </a:rPr>
              <a:t>m</a:t>
            </a:r>
            <a:r>
              <a:rPr dirty="0" sz="1100" spc="-30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>
                <a:latin typeface="Garamond"/>
                <a:cs typeface="Garamond"/>
              </a:rPr>
              <a:t>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5">
                <a:latin typeface="Garamond"/>
                <a:cs typeface="Garamond"/>
              </a:rPr>
              <a:t>C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-30">
                <a:latin typeface="Garamond"/>
                <a:cs typeface="Garamond"/>
              </a:rPr>
              <a:t>e</a:t>
            </a:r>
            <a:r>
              <a:rPr dirty="0" sz="1100" spc="5">
                <a:latin typeface="Garamond"/>
                <a:cs typeface="Garamond"/>
              </a:rPr>
              <a:t>er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op</a:t>
            </a:r>
            <a:r>
              <a:rPr dirty="0" sz="1100" spc="-25">
                <a:latin typeface="Garamond"/>
                <a:cs typeface="Garamond"/>
              </a:rPr>
              <a:t>p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4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es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40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20">
                <a:latin typeface="Garamond"/>
                <a:cs typeface="Garamond"/>
              </a:rPr>
              <a:t>v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tm</a:t>
            </a:r>
            <a:r>
              <a:rPr dirty="0" sz="1100" spc="-30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>
                <a:latin typeface="Garamond"/>
                <a:cs typeface="Garamond"/>
              </a:rPr>
              <a:t>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Brokerage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161915" cy="18307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699135" indent="-229870">
              <a:lnSpc>
                <a:spcPts val="1270"/>
              </a:lnSpc>
              <a:spcBef>
                <a:spcPts val="114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15">
                <a:latin typeface="Garamond"/>
                <a:cs typeface="Garamond"/>
              </a:rPr>
              <a:t>P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tfo</a:t>
            </a:r>
            <a:r>
              <a:rPr dirty="0" sz="1100" spc="-5">
                <a:latin typeface="Garamond"/>
                <a:cs typeface="Garamond"/>
              </a:rPr>
              <a:t>li</a:t>
            </a:r>
            <a:r>
              <a:rPr dirty="0" sz="1100" spc="5">
                <a:latin typeface="Garamond"/>
                <a:cs typeface="Garamond"/>
              </a:rPr>
              <a:t>o</a:t>
            </a:r>
            <a:r>
              <a:rPr dirty="0" sz="1100" spc="-9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M</a:t>
            </a:r>
            <a:r>
              <a:rPr dirty="0" sz="1100" spc="-2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20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-25">
                <a:latin typeface="Garamond"/>
                <a:cs typeface="Garamond"/>
              </a:rPr>
              <a:t>e</a:t>
            </a:r>
            <a:r>
              <a:rPr dirty="0" sz="1100" spc="5">
                <a:latin typeface="Garamond"/>
                <a:cs typeface="Garamond"/>
              </a:rPr>
              <a:t>me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>
                <a:latin typeface="Garamond"/>
                <a:cs typeface="Garamond"/>
              </a:rPr>
              <a:t>t</a:t>
            </a:r>
            <a:endParaRPr sz="1100">
              <a:latin typeface="Garamond"/>
              <a:cs typeface="Garamond"/>
            </a:endParaRPr>
          </a:p>
          <a:p>
            <a:pPr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Se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ty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3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l</a:t>
            </a:r>
            <a:r>
              <a:rPr dirty="0" sz="1100" spc="5">
                <a:latin typeface="Garamond"/>
                <a:cs typeface="Garamond"/>
              </a:rPr>
              <a:t>y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Financial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Institutions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Garamond"/>
              <a:cs typeface="Garamond"/>
            </a:endParaRPr>
          </a:p>
          <a:p>
            <a:pPr marL="469900" indent="-229235">
              <a:lnSpc>
                <a:spcPts val="127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ss</a:t>
            </a:r>
            <a:r>
              <a:rPr dirty="0" sz="1100" spc="5">
                <a:latin typeface="Garamond"/>
                <a:cs typeface="Garamond"/>
              </a:rPr>
              <a:t>es</a:t>
            </a:r>
            <a:r>
              <a:rPr dirty="0" sz="1100" spc="-75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d</a:t>
            </a:r>
            <a:r>
              <a:rPr dirty="0" sz="1100" spc="-30">
                <a:latin typeface="Garamond"/>
                <a:cs typeface="Garamond"/>
              </a:rPr>
              <a:t>e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li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ci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m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t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s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75"/>
              </a:lnSpc>
              <a:tabLst>
                <a:tab pos="698500" algn="l"/>
              </a:tabLst>
            </a:pPr>
            <a:r>
              <a:rPr dirty="0" sz="1100" spc="5">
                <a:latin typeface="Courier New"/>
                <a:cs typeface="Courier New"/>
              </a:rPr>
              <a:t>o</a:t>
            </a:r>
            <a:r>
              <a:rPr dirty="0" sz="1100" spc="5">
                <a:latin typeface="Courier New"/>
                <a:cs typeface="Courier New"/>
              </a:rPr>
              <a:t>	</a:t>
            </a: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20">
                <a:latin typeface="Garamond"/>
                <a:cs typeface="Garamond"/>
              </a:rPr>
              <a:t>k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30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ce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25">
                <a:latin typeface="Garamond"/>
                <a:cs typeface="Garamond"/>
              </a:rPr>
              <a:t>m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-2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es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International </a:t>
            </a:r>
            <a:r>
              <a:rPr dirty="0" sz="1100" spc="-10" b="1">
                <a:latin typeface="Garamond"/>
                <a:cs typeface="Garamond"/>
              </a:rPr>
              <a:t>Finance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SzPct val="104545"/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Covers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international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aspects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corporate</a:t>
            </a:r>
            <a:r>
              <a:rPr dirty="0" sz="1100" spc="-10">
                <a:latin typeface="Garamond"/>
                <a:cs typeface="Garamond"/>
              </a:rPr>
              <a:t> finance,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institutions.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5459" y="714501"/>
            <a:ext cx="74104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5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2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883665"/>
            <a:ext cx="5668645" cy="55568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150" spc="35" b="1">
                <a:latin typeface="Garamond"/>
                <a:cs typeface="Garamond"/>
              </a:rPr>
              <a:t>WHY</a:t>
            </a:r>
            <a:r>
              <a:rPr dirty="0" sz="1150" spc="-1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STUDY</a:t>
            </a:r>
            <a:r>
              <a:rPr dirty="0" sz="1150" spc="-1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FINANCE?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10" b="1">
                <a:latin typeface="Garamond"/>
                <a:cs typeface="Garamond"/>
              </a:rPr>
              <a:t>Why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Study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Finance?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Marketing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5">
                <a:latin typeface="Garamond"/>
                <a:cs typeface="Garamond"/>
              </a:rPr>
              <a:t>Finance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Marketers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budgets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greatest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payoffs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expenditures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programs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Benefit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analysis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projects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vital</a:t>
            </a:r>
            <a:r>
              <a:rPr dirty="0" sz="1100" spc="-5">
                <a:latin typeface="Garamond"/>
                <a:cs typeface="Garamond"/>
              </a:rPr>
              <a:t> for: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8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Marketing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research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8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Design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distributions</a:t>
            </a:r>
            <a:r>
              <a:rPr dirty="0" sz="1100">
                <a:latin typeface="Garamond"/>
                <a:cs typeface="Garamond"/>
              </a:rPr>
              <a:t> channels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9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Product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pricing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Accounting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</a:t>
            </a:r>
            <a:endParaRPr sz="1100">
              <a:latin typeface="Garamond"/>
              <a:cs typeface="Garamond"/>
            </a:endParaRPr>
          </a:p>
          <a:p>
            <a:pPr lvl="1" marL="699135" marR="7620" indent="-229235">
              <a:lnSpc>
                <a:spcPts val="1230"/>
              </a:lnSpc>
              <a:spcBef>
                <a:spcPts val="8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Accountants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well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understand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implications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contracts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9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analysts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extensive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Management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Business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Strategy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always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disastrous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planning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adhered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to.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What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is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Business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Finance?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start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become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vital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What </a:t>
            </a:r>
            <a:r>
              <a:rPr dirty="0" sz="1100" spc="-5">
                <a:latin typeface="Garamond"/>
                <a:cs typeface="Garamond"/>
              </a:rPr>
              <a:t>long-term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taken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on?</a:t>
            </a:r>
            <a:endParaRPr sz="1100">
              <a:latin typeface="Garamond"/>
              <a:cs typeface="Garamond"/>
            </a:endParaRPr>
          </a:p>
          <a:p>
            <a:pPr lvl="1" marL="699135" marR="5080" indent="-229235">
              <a:lnSpc>
                <a:spcPts val="1220"/>
              </a:lnSpc>
              <a:spcBef>
                <a:spcPts val="7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From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long-term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investment?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Bring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owners</a:t>
            </a:r>
            <a:r>
              <a:rPr dirty="0" sz="1100" spc="5">
                <a:latin typeface="Garamond"/>
                <a:cs typeface="Garamond"/>
              </a:rPr>
              <a:t> 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borrow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money?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manage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everyday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activities?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The </a:t>
            </a:r>
            <a:r>
              <a:rPr dirty="0" sz="1100" spc="-5" b="1">
                <a:latin typeface="Garamond"/>
                <a:cs typeface="Garamond"/>
              </a:rPr>
              <a:t>Financial</a:t>
            </a:r>
            <a:r>
              <a:rPr dirty="0" sz="1100" spc="-10" b="1">
                <a:latin typeface="Garamond"/>
                <a:cs typeface="Garamond"/>
              </a:rPr>
              <a:t> Manager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create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 manager </a:t>
            </a:r>
            <a:r>
              <a:rPr dirty="0" sz="1100">
                <a:latin typeface="Garamond"/>
                <a:cs typeface="Garamond"/>
              </a:rPr>
              <a:t>should: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Try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smart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Try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smart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decisions.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100" spc="-5" b="1">
                <a:latin typeface="Garamond"/>
                <a:cs typeface="Garamond"/>
              </a:rPr>
              <a:t>Hypothetical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Organization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Chart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7969" y="6432803"/>
            <a:ext cx="4942205" cy="315233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508625" cy="21964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Business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Financial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Manager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Management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Budgeting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Structure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Management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100" b="1">
                <a:latin typeface="Garamond"/>
                <a:cs typeface="Garamond"/>
              </a:rPr>
              <a:t>Financial</a:t>
            </a:r>
            <a:r>
              <a:rPr dirty="0" sz="1100" spc="-10" b="1">
                <a:latin typeface="Garamond"/>
                <a:cs typeface="Garamond"/>
              </a:rPr>
              <a:t> Management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Decisions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Budgeting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process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planning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managing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concern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likely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95"/>
              </a:spcBef>
              <a:buSzPct val="104545"/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Evaluating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size,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risk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future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essence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budgeting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5727572"/>
            <a:ext cx="167513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Capital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Budgeting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Decision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5340" y="3299977"/>
            <a:ext cx="4373741" cy="20643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1176" y="6140518"/>
            <a:ext cx="4919884" cy="198017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6342" y="3869099"/>
            <a:ext cx="2162934" cy="20930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76629" y="714501"/>
            <a:ext cx="186245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Capital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Structure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Decision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6629" y="3536695"/>
            <a:ext cx="2680970" cy="18516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Capital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Structure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algn="just" marL="469900" marR="6350" indent="-228600">
              <a:lnSpc>
                <a:spcPts val="126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value </a:t>
            </a:r>
            <a:r>
              <a:rPr dirty="0" sz="1100" spc="5">
                <a:latin typeface="Garamond"/>
                <a:cs typeface="Garamond"/>
              </a:rPr>
              <a:t>of the </a:t>
            </a:r>
            <a:r>
              <a:rPr dirty="0" sz="1100">
                <a:latin typeface="Garamond"/>
                <a:cs typeface="Garamond"/>
              </a:rPr>
              <a:t>firm </a:t>
            </a:r>
            <a:r>
              <a:rPr dirty="0" sz="1100" spc="-5">
                <a:latin typeface="Garamond"/>
                <a:cs typeface="Garamond"/>
              </a:rPr>
              <a:t>can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>
                <a:latin typeface="Garamond"/>
                <a:cs typeface="Garamond"/>
              </a:rPr>
              <a:t>thought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pie.</a:t>
            </a:r>
            <a:endParaRPr sz="1100">
              <a:latin typeface="Garamond"/>
              <a:cs typeface="Garamond"/>
            </a:endParaRPr>
          </a:p>
          <a:p>
            <a:pPr algn="just" marL="469900" marR="571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goal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manager is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increase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size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pie.</a:t>
            </a:r>
            <a:endParaRPr sz="1100">
              <a:latin typeface="Garamond"/>
              <a:cs typeface="Garamond"/>
            </a:endParaRPr>
          </a:p>
          <a:p>
            <a:pPr algn="just" marL="469900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>
                <a:latin typeface="Garamond"/>
                <a:cs typeface="Garamond"/>
              </a:rPr>
              <a:t> decision can</a:t>
            </a:r>
            <a:r>
              <a:rPr dirty="0" sz="1100" spc="5">
                <a:latin typeface="Garamond"/>
                <a:cs typeface="Garamond"/>
              </a:rPr>
              <a:t> be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viewed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slice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up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pie.</a:t>
            </a:r>
            <a:endParaRPr sz="1100">
              <a:latin typeface="Garamond"/>
              <a:cs typeface="Garamond"/>
            </a:endParaRPr>
          </a:p>
          <a:p>
            <a:pPr algn="just" marL="469900" marR="5080" indent="-228600">
              <a:lnSpc>
                <a:spcPct val="94200"/>
              </a:lnSpc>
              <a:spcBef>
                <a:spcPts val="13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 spc="10">
                <a:latin typeface="Garamond"/>
                <a:cs typeface="Garamond"/>
              </a:rPr>
              <a:t>how </a:t>
            </a:r>
            <a:r>
              <a:rPr dirty="0" sz="1100" spc="-5">
                <a:latin typeface="Garamond"/>
                <a:cs typeface="Garamond"/>
              </a:rPr>
              <a:t>you </a:t>
            </a:r>
            <a:r>
              <a:rPr dirty="0" sz="1100">
                <a:latin typeface="Garamond"/>
                <a:cs typeface="Garamond"/>
              </a:rPr>
              <a:t>slice </a:t>
            </a:r>
            <a:r>
              <a:rPr dirty="0" sz="1100" spc="5">
                <a:latin typeface="Garamond"/>
                <a:cs typeface="Garamond"/>
              </a:rPr>
              <a:t>the pie </a:t>
            </a:r>
            <a:r>
              <a:rPr dirty="0" sz="1100">
                <a:latin typeface="Garamond"/>
                <a:cs typeface="Garamond"/>
              </a:rPr>
              <a:t>affects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size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pie,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 </a:t>
            </a:r>
            <a:r>
              <a:rPr dirty="0" sz="1100">
                <a:latin typeface="Garamond"/>
                <a:cs typeface="Garamond"/>
              </a:rPr>
              <a:t> decision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matters.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6629" y="6002273"/>
            <a:ext cx="27984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Net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Working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Capital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Investment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Decision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6629" y="8485758"/>
            <a:ext cx="5670550" cy="8636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The </a:t>
            </a:r>
            <a:r>
              <a:rPr dirty="0" sz="1100" spc="-5" b="1">
                <a:latin typeface="Garamond"/>
                <a:cs typeface="Garamond"/>
              </a:rPr>
              <a:t>Corporate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standard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method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solving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problems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encountered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raising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However,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 </a:t>
            </a:r>
            <a:r>
              <a:rPr dirty="0" sz="1100" spc="-5">
                <a:latin typeface="Garamond"/>
                <a:cs typeface="Garamond"/>
              </a:rPr>
              <a:t>forms.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9652" y="1108436"/>
            <a:ext cx="5049699" cy="19249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8728" y="6453256"/>
            <a:ext cx="4902845" cy="1860923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69280" cy="67932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F</a:t>
            </a:r>
            <a:r>
              <a:rPr dirty="0" sz="1100" spc="-5" b="1">
                <a:latin typeface="Garamond"/>
                <a:cs typeface="Garamond"/>
              </a:rPr>
              <a:t>o</a:t>
            </a:r>
            <a:r>
              <a:rPr dirty="0" sz="1100" spc="15" b="1">
                <a:latin typeface="Garamond"/>
                <a:cs typeface="Garamond"/>
              </a:rPr>
              <a:t>r</a:t>
            </a:r>
            <a:r>
              <a:rPr dirty="0" sz="1100" b="1">
                <a:latin typeface="Garamond"/>
                <a:cs typeface="Garamond"/>
              </a:rPr>
              <a:t>m</a:t>
            </a:r>
            <a:r>
              <a:rPr dirty="0" sz="1100" spc="5" b="1">
                <a:latin typeface="Garamond"/>
                <a:cs typeface="Garamond"/>
              </a:rPr>
              <a:t>s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o</a:t>
            </a:r>
            <a:r>
              <a:rPr dirty="0" sz="1100" b="1">
                <a:latin typeface="Garamond"/>
                <a:cs typeface="Garamond"/>
              </a:rPr>
              <a:t>f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B</a:t>
            </a:r>
            <a:r>
              <a:rPr dirty="0" sz="1100" spc="-35" b="1">
                <a:latin typeface="Garamond"/>
                <a:cs typeface="Garamond"/>
              </a:rPr>
              <a:t>u</a:t>
            </a:r>
            <a:r>
              <a:rPr dirty="0" sz="1100" spc="5" b="1">
                <a:latin typeface="Garamond"/>
                <a:cs typeface="Garamond"/>
              </a:rPr>
              <a:t>s</a:t>
            </a:r>
            <a:r>
              <a:rPr dirty="0" sz="1100" spc="10" b="1">
                <a:latin typeface="Garamond"/>
                <a:cs typeface="Garamond"/>
              </a:rPr>
              <a:t>i</a:t>
            </a:r>
            <a:r>
              <a:rPr dirty="0" sz="1100" spc="-40" b="1">
                <a:latin typeface="Garamond"/>
                <a:cs typeface="Garamond"/>
              </a:rPr>
              <a:t>n</a:t>
            </a:r>
            <a:r>
              <a:rPr dirty="0" sz="1100" spc="20" b="1">
                <a:latin typeface="Garamond"/>
                <a:cs typeface="Garamond"/>
              </a:rPr>
              <a:t>e</a:t>
            </a:r>
            <a:r>
              <a:rPr dirty="0" sz="1100" spc="5" b="1">
                <a:latin typeface="Garamond"/>
                <a:cs typeface="Garamond"/>
              </a:rPr>
              <a:t>ss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25" b="1">
                <a:latin typeface="Garamond"/>
                <a:cs typeface="Garamond"/>
              </a:rPr>
              <a:t>O</a:t>
            </a:r>
            <a:r>
              <a:rPr dirty="0" sz="1100" spc="15" b="1">
                <a:latin typeface="Garamond"/>
                <a:cs typeface="Garamond"/>
              </a:rPr>
              <a:t>r</a:t>
            </a:r>
            <a:r>
              <a:rPr dirty="0" sz="1100" spc="-25" b="1">
                <a:latin typeface="Garamond"/>
                <a:cs typeface="Garamond"/>
              </a:rPr>
              <a:t>g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-30" b="1">
                <a:latin typeface="Garamond"/>
                <a:cs typeface="Garamond"/>
              </a:rPr>
              <a:t>i</a:t>
            </a:r>
            <a:r>
              <a:rPr dirty="0" sz="1100" spc="20" b="1">
                <a:latin typeface="Garamond"/>
                <a:cs typeface="Garamond"/>
              </a:rPr>
              <a:t>z</a:t>
            </a:r>
            <a:r>
              <a:rPr dirty="0" sz="1100" spc="-30" b="1">
                <a:latin typeface="Garamond"/>
                <a:cs typeface="Garamond"/>
              </a:rPr>
              <a:t>a</a:t>
            </a:r>
            <a:r>
              <a:rPr dirty="0" sz="1100" spc="15" b="1">
                <a:latin typeface="Garamond"/>
                <a:cs typeface="Garamond"/>
              </a:rPr>
              <a:t>t</a:t>
            </a:r>
            <a:r>
              <a:rPr dirty="0" sz="1100" spc="5" b="1">
                <a:latin typeface="Garamond"/>
                <a:cs typeface="Garamond"/>
              </a:rPr>
              <a:t>i</a:t>
            </a:r>
            <a:r>
              <a:rPr dirty="0" sz="1100" spc="-40" b="1">
                <a:latin typeface="Garamond"/>
                <a:cs typeface="Garamond"/>
              </a:rPr>
              <a:t>o</a:t>
            </a:r>
            <a:r>
              <a:rPr dirty="0" sz="1100" spc="5" b="1">
                <a:latin typeface="Garamond"/>
                <a:cs typeface="Garamond"/>
              </a:rPr>
              <a:t>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Three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major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Sole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proprietorship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Partnership</a:t>
            </a:r>
            <a:endParaRPr sz="1100">
              <a:latin typeface="Garamond"/>
              <a:cs typeface="Garamond"/>
            </a:endParaRPr>
          </a:p>
          <a:p>
            <a:pPr algn="r" lvl="2" marL="227965" marR="4298315" indent="-227965">
              <a:lnSpc>
                <a:spcPts val="1280"/>
              </a:lnSpc>
              <a:buFont typeface="Wingdings"/>
              <a:buChar char=""/>
              <a:tabLst>
                <a:tab pos="227965" algn="l"/>
                <a:tab pos="228600" algn="l"/>
              </a:tabLst>
            </a:pPr>
            <a:r>
              <a:rPr dirty="0" sz="1100" spc="5">
                <a:latin typeface="Garamond"/>
                <a:cs typeface="Garamond"/>
              </a:rPr>
              <a:t>Ge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40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endParaRPr sz="1100">
              <a:latin typeface="Garamond"/>
              <a:cs typeface="Garamond"/>
            </a:endParaRPr>
          </a:p>
          <a:p>
            <a:pPr algn="r" lvl="2" marL="227965" marR="4290695" indent="-227965">
              <a:lnSpc>
                <a:spcPts val="1260"/>
              </a:lnSpc>
              <a:buFont typeface="Wingdings"/>
              <a:buChar char=""/>
              <a:tabLst>
                <a:tab pos="227965" algn="l"/>
                <a:tab pos="228600" algn="l"/>
              </a:tabLst>
            </a:pPr>
            <a:r>
              <a:rPr dirty="0" sz="1100">
                <a:latin typeface="Garamond"/>
                <a:cs typeface="Garamond"/>
              </a:rPr>
              <a:t>Limited</a:t>
            </a:r>
            <a:endParaRPr sz="1100">
              <a:latin typeface="Garamond"/>
              <a:cs typeface="Garamond"/>
            </a:endParaRPr>
          </a:p>
          <a:p>
            <a:pPr algn="r" lvl="1" marL="228600" marR="4290695" indent="-228600">
              <a:lnSpc>
                <a:spcPts val="1260"/>
              </a:lnSpc>
              <a:buFont typeface="Courier New"/>
              <a:buChar char="o"/>
              <a:tabLst>
                <a:tab pos="2286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Co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-25">
                <a:latin typeface="Garamond"/>
                <a:cs typeface="Garamond"/>
              </a:rPr>
              <a:t>p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4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n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31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Limited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100" b="1">
                <a:latin typeface="Garamond"/>
                <a:cs typeface="Garamond"/>
              </a:rPr>
              <a:t>Sole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Proprietorship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Advantages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Easiest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start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L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20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g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-40">
                <a:latin typeface="Garamond"/>
                <a:cs typeface="Garamond"/>
              </a:rPr>
              <a:t>l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35">
                <a:latin typeface="Garamond"/>
                <a:cs typeface="Garamond"/>
              </a:rPr>
              <a:t>e</a:t>
            </a:r>
            <a:r>
              <a:rPr dirty="0" sz="1100" spc="5">
                <a:latin typeface="Garamond"/>
                <a:cs typeface="Garamond"/>
              </a:rPr>
              <a:t>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Single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keeps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profits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Taxed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once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personal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Disadvantages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Limited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10">
                <a:latin typeface="Garamond"/>
                <a:cs typeface="Garamond"/>
              </a:rPr>
              <a:t>life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owner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limited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owner’s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personal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wealth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Unlimited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Difficult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ownership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Partnership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Two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(partners)</a:t>
            </a:r>
            <a:endParaRPr sz="1100">
              <a:latin typeface="Garamond"/>
              <a:cs typeface="Garamond"/>
            </a:endParaRPr>
          </a:p>
          <a:p>
            <a:pPr lvl="1" marL="699135" marR="8255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General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partnership: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partners</a:t>
            </a:r>
            <a:r>
              <a:rPr dirty="0" sz="1100">
                <a:latin typeface="Garamond"/>
                <a:cs typeface="Garamond"/>
              </a:rPr>
              <a:t> share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gains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losses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unlimited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partnership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Limited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partnership: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more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partners</a:t>
            </a:r>
            <a:r>
              <a:rPr dirty="0" sz="1100" spc="5">
                <a:latin typeface="Garamond"/>
                <a:cs typeface="Garamond"/>
              </a:rPr>
              <a:t> will </a:t>
            </a:r>
            <a:r>
              <a:rPr dirty="0" sz="1100" spc="-5">
                <a:latin typeface="Garamond"/>
                <a:cs typeface="Garamond"/>
              </a:rPr>
              <a:t>run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unlimited</a:t>
            </a:r>
            <a:endParaRPr sz="1100">
              <a:latin typeface="Garamond"/>
              <a:cs typeface="Garamond"/>
            </a:endParaRPr>
          </a:p>
          <a:p>
            <a:pPr marL="699135" marR="5080">
              <a:lnSpc>
                <a:spcPts val="1220"/>
              </a:lnSpc>
              <a:spcBef>
                <a:spcPts val="95"/>
              </a:spcBef>
            </a:pPr>
            <a:r>
              <a:rPr dirty="0" sz="1100">
                <a:latin typeface="Garamond"/>
                <a:cs typeface="Garamond"/>
              </a:rPr>
              <a:t>liability </a:t>
            </a:r>
            <a:r>
              <a:rPr dirty="0" sz="1100" spc="5">
                <a:latin typeface="Garamond"/>
                <a:cs typeface="Garamond"/>
              </a:rPr>
              <a:t>but </a:t>
            </a:r>
            <a:r>
              <a:rPr dirty="0" sz="1100" spc="-5">
                <a:latin typeface="Garamond"/>
                <a:cs typeface="Garamond"/>
              </a:rPr>
              <a:t>there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10">
                <a:latin typeface="Garamond"/>
                <a:cs typeface="Garamond"/>
              </a:rPr>
              <a:t>be </a:t>
            </a:r>
            <a:r>
              <a:rPr dirty="0" sz="1100" spc="-5">
                <a:latin typeface="Garamond"/>
                <a:cs typeface="Garamond"/>
              </a:rPr>
              <a:t>one </a:t>
            </a:r>
            <a:r>
              <a:rPr dirty="0" sz="1100" spc="5">
                <a:latin typeface="Garamond"/>
                <a:cs typeface="Garamond"/>
              </a:rPr>
              <a:t>or more </a:t>
            </a:r>
            <a:r>
              <a:rPr dirty="0" sz="1100" spc="-10">
                <a:latin typeface="Garamond"/>
                <a:cs typeface="Garamond"/>
              </a:rPr>
              <a:t>limited </a:t>
            </a:r>
            <a:r>
              <a:rPr dirty="0" sz="1100" spc="-5">
                <a:latin typeface="Garamond"/>
                <a:cs typeface="Garamond"/>
              </a:rPr>
              <a:t>partners </a:t>
            </a:r>
            <a:r>
              <a:rPr dirty="0" sz="1100">
                <a:latin typeface="Garamond"/>
                <a:cs typeface="Garamond"/>
              </a:rPr>
              <a:t>who </a:t>
            </a:r>
            <a:r>
              <a:rPr dirty="0" sz="1100" spc="15">
                <a:latin typeface="Garamond"/>
                <a:cs typeface="Garamond"/>
              </a:rPr>
              <a:t>do </a:t>
            </a:r>
            <a:r>
              <a:rPr dirty="0" sz="1100" spc="10">
                <a:latin typeface="Garamond"/>
                <a:cs typeface="Garamond"/>
              </a:rPr>
              <a:t>not </a:t>
            </a:r>
            <a:r>
              <a:rPr dirty="0" sz="1100">
                <a:latin typeface="Garamond"/>
                <a:cs typeface="Garamond"/>
              </a:rPr>
              <a:t>actively participate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limited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contribution.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2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Advantages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Two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available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Relatively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easy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start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Income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taxed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5">
                <a:latin typeface="Garamond"/>
                <a:cs typeface="Garamond"/>
              </a:rPr>
              <a:t> personal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5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Disadvantages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Unlimited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liability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8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Ge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40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3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10">
                <a:latin typeface="Garamond"/>
                <a:cs typeface="Garamond"/>
              </a:rPr>
              <a:t>h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p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6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10">
                <a:latin typeface="Garamond"/>
                <a:cs typeface="Garamond"/>
              </a:rPr>
              <a:t>L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m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35">
                <a:latin typeface="Garamond"/>
                <a:cs typeface="Garamond"/>
              </a:rPr>
              <a:t>e</a:t>
            </a:r>
            <a:r>
              <a:rPr dirty="0" sz="1100" spc="5">
                <a:latin typeface="Garamond"/>
                <a:cs typeface="Garamond"/>
              </a:rPr>
              <a:t>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-40">
                <a:latin typeface="Garamond"/>
                <a:cs typeface="Garamond"/>
              </a:rPr>
              <a:t>t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10">
                <a:latin typeface="Garamond"/>
                <a:cs typeface="Garamond"/>
              </a:rPr>
              <a:t>h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p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3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Partnership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dissolves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partner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wishes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325"/>
              </a:lnSpc>
              <a:buSzPct val="104545"/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Difficult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transfer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ownership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5459" y="714501"/>
            <a:ext cx="74104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5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3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629" y="883665"/>
            <a:ext cx="5669280" cy="8749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150" spc="35" b="1">
                <a:latin typeface="Garamond"/>
                <a:cs typeface="Garamond"/>
              </a:rPr>
              <a:t>THE</a:t>
            </a:r>
            <a:r>
              <a:rPr dirty="0" sz="1150" spc="-35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CORPORATE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FIRM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12700" marR="10160">
              <a:lnSpc>
                <a:spcPts val="126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form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standard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method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>
                <a:latin typeface="Garamond"/>
                <a:cs typeface="Garamond"/>
              </a:rPr>
              <a:t>solving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problems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encountered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raising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large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cash. However,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 </a:t>
            </a:r>
            <a:r>
              <a:rPr dirty="0" sz="1100" spc="-5">
                <a:latin typeface="Garamond"/>
                <a:cs typeface="Garamond"/>
              </a:rPr>
              <a:t>forms.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F</a:t>
            </a:r>
            <a:r>
              <a:rPr dirty="0" sz="1100" spc="-5" b="1">
                <a:latin typeface="Garamond"/>
                <a:cs typeface="Garamond"/>
              </a:rPr>
              <a:t>o</a:t>
            </a:r>
            <a:r>
              <a:rPr dirty="0" sz="1100" spc="15" b="1">
                <a:latin typeface="Garamond"/>
                <a:cs typeface="Garamond"/>
              </a:rPr>
              <a:t>r</a:t>
            </a:r>
            <a:r>
              <a:rPr dirty="0" sz="1100" b="1">
                <a:latin typeface="Garamond"/>
                <a:cs typeface="Garamond"/>
              </a:rPr>
              <a:t>m</a:t>
            </a:r>
            <a:r>
              <a:rPr dirty="0" sz="1100" spc="5" b="1">
                <a:latin typeface="Garamond"/>
                <a:cs typeface="Garamond"/>
              </a:rPr>
              <a:t>s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o</a:t>
            </a:r>
            <a:r>
              <a:rPr dirty="0" sz="1100" b="1">
                <a:latin typeface="Garamond"/>
                <a:cs typeface="Garamond"/>
              </a:rPr>
              <a:t>f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B</a:t>
            </a:r>
            <a:r>
              <a:rPr dirty="0" sz="1100" spc="-35" b="1">
                <a:latin typeface="Garamond"/>
                <a:cs typeface="Garamond"/>
              </a:rPr>
              <a:t>u</a:t>
            </a:r>
            <a:r>
              <a:rPr dirty="0" sz="1100" spc="5" b="1">
                <a:latin typeface="Garamond"/>
                <a:cs typeface="Garamond"/>
              </a:rPr>
              <a:t>s</a:t>
            </a:r>
            <a:r>
              <a:rPr dirty="0" sz="1100" spc="10" b="1">
                <a:latin typeface="Garamond"/>
                <a:cs typeface="Garamond"/>
              </a:rPr>
              <a:t>i</a:t>
            </a:r>
            <a:r>
              <a:rPr dirty="0" sz="1100" spc="-40" b="1">
                <a:latin typeface="Garamond"/>
                <a:cs typeface="Garamond"/>
              </a:rPr>
              <a:t>n</a:t>
            </a:r>
            <a:r>
              <a:rPr dirty="0" sz="1100" spc="20" b="1">
                <a:latin typeface="Garamond"/>
                <a:cs typeface="Garamond"/>
              </a:rPr>
              <a:t>e</a:t>
            </a:r>
            <a:r>
              <a:rPr dirty="0" sz="1100" spc="5" b="1">
                <a:latin typeface="Garamond"/>
                <a:cs typeface="Garamond"/>
              </a:rPr>
              <a:t>ss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25" b="1">
                <a:latin typeface="Garamond"/>
                <a:cs typeface="Garamond"/>
              </a:rPr>
              <a:t>O</a:t>
            </a:r>
            <a:r>
              <a:rPr dirty="0" sz="1100" spc="15" b="1">
                <a:latin typeface="Garamond"/>
                <a:cs typeface="Garamond"/>
              </a:rPr>
              <a:t>r</a:t>
            </a:r>
            <a:r>
              <a:rPr dirty="0" sz="1100" spc="-25" b="1">
                <a:latin typeface="Garamond"/>
                <a:cs typeface="Garamond"/>
              </a:rPr>
              <a:t>g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-30" b="1">
                <a:latin typeface="Garamond"/>
                <a:cs typeface="Garamond"/>
              </a:rPr>
              <a:t>i</a:t>
            </a:r>
            <a:r>
              <a:rPr dirty="0" sz="1100" spc="20" b="1">
                <a:latin typeface="Garamond"/>
                <a:cs typeface="Garamond"/>
              </a:rPr>
              <a:t>z</a:t>
            </a:r>
            <a:r>
              <a:rPr dirty="0" sz="1100" spc="-30" b="1">
                <a:latin typeface="Garamond"/>
                <a:cs typeface="Garamond"/>
              </a:rPr>
              <a:t>a</a:t>
            </a:r>
            <a:r>
              <a:rPr dirty="0" sz="1100" spc="15" b="1">
                <a:latin typeface="Garamond"/>
                <a:cs typeface="Garamond"/>
              </a:rPr>
              <a:t>t</a:t>
            </a:r>
            <a:r>
              <a:rPr dirty="0" sz="1100" spc="5" b="1">
                <a:latin typeface="Garamond"/>
                <a:cs typeface="Garamond"/>
              </a:rPr>
              <a:t>i</a:t>
            </a:r>
            <a:r>
              <a:rPr dirty="0" sz="1100" spc="-40" b="1">
                <a:latin typeface="Garamond"/>
                <a:cs typeface="Garamond"/>
              </a:rPr>
              <a:t>o</a:t>
            </a:r>
            <a:r>
              <a:rPr dirty="0" sz="1100" spc="5" b="1">
                <a:latin typeface="Garamond"/>
                <a:cs typeface="Garamond"/>
              </a:rPr>
              <a:t>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Three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major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Sole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proprietorship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Partnership</a:t>
            </a:r>
            <a:endParaRPr sz="1100">
              <a:latin typeface="Garamond"/>
              <a:cs typeface="Garamond"/>
            </a:endParaRPr>
          </a:p>
          <a:p>
            <a:pPr algn="r" lvl="2" marL="227965" marR="4298315" indent="-227965">
              <a:lnSpc>
                <a:spcPts val="1280"/>
              </a:lnSpc>
              <a:buFont typeface="Wingdings"/>
              <a:buChar char=""/>
              <a:tabLst>
                <a:tab pos="227965" algn="l"/>
                <a:tab pos="228600" algn="l"/>
              </a:tabLst>
            </a:pPr>
            <a:r>
              <a:rPr dirty="0" sz="1100" spc="5">
                <a:latin typeface="Garamond"/>
                <a:cs typeface="Garamond"/>
              </a:rPr>
              <a:t>Ge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40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endParaRPr sz="1100">
              <a:latin typeface="Garamond"/>
              <a:cs typeface="Garamond"/>
            </a:endParaRPr>
          </a:p>
          <a:p>
            <a:pPr algn="r" lvl="2" marL="227965" marR="4290695" indent="-227965">
              <a:lnSpc>
                <a:spcPts val="1260"/>
              </a:lnSpc>
              <a:buFont typeface="Wingdings"/>
              <a:buChar char=""/>
              <a:tabLst>
                <a:tab pos="227965" algn="l"/>
                <a:tab pos="228600" algn="l"/>
              </a:tabLst>
            </a:pPr>
            <a:r>
              <a:rPr dirty="0" sz="1100">
                <a:latin typeface="Garamond"/>
                <a:cs typeface="Garamond"/>
              </a:rPr>
              <a:t>Limited</a:t>
            </a:r>
            <a:endParaRPr sz="1100">
              <a:latin typeface="Garamond"/>
              <a:cs typeface="Garamond"/>
            </a:endParaRPr>
          </a:p>
          <a:p>
            <a:pPr algn="r" lvl="1" marL="228600" marR="4290695" indent="-228600">
              <a:lnSpc>
                <a:spcPts val="1260"/>
              </a:lnSpc>
              <a:buFont typeface="Courier New"/>
              <a:buChar char="o"/>
              <a:tabLst>
                <a:tab pos="2286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Co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-25">
                <a:latin typeface="Garamond"/>
                <a:cs typeface="Garamond"/>
              </a:rPr>
              <a:t>p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4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n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9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Limited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Sole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Proprietorship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75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Advantages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Easiest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start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L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20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g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-40">
                <a:latin typeface="Garamond"/>
                <a:cs typeface="Garamond"/>
              </a:rPr>
              <a:t>l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35">
                <a:latin typeface="Garamond"/>
                <a:cs typeface="Garamond"/>
              </a:rPr>
              <a:t>e</a:t>
            </a:r>
            <a:r>
              <a:rPr dirty="0" sz="1100" spc="5">
                <a:latin typeface="Garamond"/>
                <a:cs typeface="Garamond"/>
              </a:rPr>
              <a:t>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Single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keeps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profits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Taxed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once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personal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Disadvantages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Limited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10">
                <a:latin typeface="Garamond"/>
                <a:cs typeface="Garamond"/>
              </a:rPr>
              <a:t>life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owner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limited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owner’s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personal </a:t>
            </a:r>
            <a:r>
              <a:rPr dirty="0" sz="1100">
                <a:latin typeface="Garamond"/>
                <a:cs typeface="Garamond"/>
              </a:rPr>
              <a:t>wealth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Unlimited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Difficult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sell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ownership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Partnership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Two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(partners)</a:t>
            </a:r>
            <a:endParaRPr sz="1100">
              <a:latin typeface="Garamond"/>
              <a:cs typeface="Garamond"/>
            </a:endParaRPr>
          </a:p>
          <a:p>
            <a:pPr lvl="1" marL="699135" marR="8255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General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partnership: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partners</a:t>
            </a:r>
            <a:r>
              <a:rPr dirty="0" sz="1100">
                <a:latin typeface="Garamond"/>
                <a:cs typeface="Garamond"/>
              </a:rPr>
              <a:t> share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gains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losses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unlimited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partnership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debts</a:t>
            </a:r>
            <a:endParaRPr sz="1100">
              <a:latin typeface="Garamond"/>
              <a:cs typeface="Garamond"/>
            </a:endParaRPr>
          </a:p>
          <a:p>
            <a:pPr lvl="1" marL="699135" marR="5080" indent="-229235">
              <a:lnSpc>
                <a:spcPts val="1220"/>
              </a:lnSpc>
              <a:spcBef>
                <a:spcPts val="4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Limited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partnership: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10">
                <a:latin typeface="Garamond"/>
                <a:cs typeface="Garamond"/>
              </a:rPr>
              <a:t>more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partners</a:t>
            </a:r>
            <a:r>
              <a:rPr dirty="0" sz="1100" spc="5">
                <a:latin typeface="Garamond"/>
                <a:cs typeface="Garamond"/>
              </a:rPr>
              <a:t> 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</a:t>
            </a:r>
            <a:r>
              <a:rPr dirty="0" sz="1100">
                <a:latin typeface="Garamond"/>
                <a:cs typeface="Garamond"/>
              </a:rPr>
              <a:t> 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unlimited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limited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partners</a:t>
            </a:r>
            <a:r>
              <a:rPr dirty="0" sz="1100">
                <a:latin typeface="Garamond"/>
                <a:cs typeface="Garamond"/>
              </a:rPr>
              <a:t> who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actively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participate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endParaRPr sz="1100">
              <a:latin typeface="Garamond"/>
              <a:cs typeface="Garamond"/>
            </a:endParaRPr>
          </a:p>
          <a:p>
            <a:pPr marL="699135">
              <a:lnSpc>
                <a:spcPts val="1240"/>
              </a:lnSpc>
            </a:pPr>
            <a:r>
              <a:rPr dirty="0" sz="1100">
                <a:latin typeface="Garamond"/>
                <a:cs typeface="Garamond"/>
              </a:rPr>
              <a:t>business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limited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contribution.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Advantages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Two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available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Relatively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easy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start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Income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taxed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5">
                <a:latin typeface="Garamond"/>
                <a:cs typeface="Garamond"/>
              </a:rPr>
              <a:t> personal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Disadvantages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Unlimited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liability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8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Ge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40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3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10">
                <a:latin typeface="Garamond"/>
                <a:cs typeface="Garamond"/>
              </a:rPr>
              <a:t>h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p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6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10">
                <a:latin typeface="Garamond"/>
                <a:cs typeface="Garamond"/>
              </a:rPr>
              <a:t>L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m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35">
                <a:latin typeface="Garamond"/>
                <a:cs typeface="Garamond"/>
              </a:rPr>
              <a:t>e</a:t>
            </a:r>
            <a:r>
              <a:rPr dirty="0" sz="1100" spc="5">
                <a:latin typeface="Garamond"/>
                <a:cs typeface="Garamond"/>
              </a:rPr>
              <a:t>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-40">
                <a:latin typeface="Garamond"/>
                <a:cs typeface="Garamond"/>
              </a:rPr>
              <a:t>t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10">
                <a:latin typeface="Garamond"/>
                <a:cs typeface="Garamond"/>
              </a:rPr>
              <a:t>h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p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Partnership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dissolves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partner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wishes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Difficult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transfer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ownership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100" b="1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business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created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distinct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legal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entity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individuals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entities.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Forming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involves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preparing</a:t>
            </a:r>
            <a:endParaRPr sz="1100">
              <a:latin typeface="Garamond"/>
              <a:cs typeface="Garamond"/>
            </a:endParaRPr>
          </a:p>
          <a:p>
            <a:pPr lvl="1" marL="699135" marR="10160" indent="-229235">
              <a:lnSpc>
                <a:spcPts val="1230"/>
              </a:lnSpc>
              <a:spcBef>
                <a:spcPts val="8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Charter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including  </a:t>
            </a:r>
            <a:r>
              <a:rPr dirty="0" sz="1100" spc="-5">
                <a:latin typeface="Garamond"/>
                <a:cs typeface="Garamond"/>
              </a:rPr>
              <a:t>corporation’s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name,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intended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life,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purpose  and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number 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shares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9073"/>
            <a:ext cx="4045585" cy="53022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65"/>
              </a:spcBef>
              <a:tabLst>
                <a:tab pos="698500" algn="l"/>
              </a:tabLst>
            </a:pPr>
            <a:r>
              <a:rPr dirty="0" sz="1150" spc="20">
                <a:latin typeface="Courier New"/>
                <a:cs typeface="Courier New"/>
              </a:rPr>
              <a:t>o	</a:t>
            </a:r>
            <a:r>
              <a:rPr dirty="0" sz="1100" spc="5">
                <a:latin typeface="Garamond"/>
                <a:cs typeface="Garamond"/>
              </a:rPr>
              <a:t>Set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bylaws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describes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regulations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business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Separation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Ownership </a:t>
            </a:r>
            <a:r>
              <a:rPr dirty="0" sz="1100" spc="-10" b="1">
                <a:latin typeface="Garamond"/>
                <a:cs typeface="Garamond"/>
              </a:rPr>
              <a:t>and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Control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4529454"/>
            <a:ext cx="5668645" cy="4760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Advantages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Limited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Unlimited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life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Separation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ownership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management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Transfer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ownership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easy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Easier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raise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Disadvantages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Separation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ownership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management</a:t>
            </a:r>
            <a:endParaRPr sz="1100">
              <a:latin typeface="Garamond"/>
              <a:cs typeface="Garamond"/>
            </a:endParaRPr>
          </a:p>
          <a:p>
            <a:pPr lvl="1" marL="699135" marR="5080" indent="-229235">
              <a:lnSpc>
                <a:spcPts val="1220"/>
              </a:lnSpc>
              <a:spcBef>
                <a:spcPts val="7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Double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taxation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(income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taxed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taxed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personal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rate)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Courier New"/>
              <a:buChar char="o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Goal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Corporate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10795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traditional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answer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obliged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make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efforts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maximize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wealth.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Alternatively,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goal </a:t>
            </a:r>
            <a:r>
              <a:rPr dirty="0" sz="1100" spc="5">
                <a:latin typeface="Garamond"/>
                <a:cs typeface="Garamond"/>
              </a:rPr>
              <a:t>of the </a:t>
            </a:r>
            <a:r>
              <a:rPr dirty="0" sz="1100">
                <a:latin typeface="Garamond"/>
                <a:cs typeface="Garamond"/>
              </a:rPr>
              <a:t>financial manager is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maximize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current value </a:t>
            </a:r>
            <a:r>
              <a:rPr dirty="0" sz="1100" spc="-5">
                <a:latin typeface="Garamond"/>
                <a:cs typeface="Garamond"/>
              </a:rPr>
              <a:t>per share </a:t>
            </a:r>
            <a:r>
              <a:rPr dirty="0" sz="1100" spc="5">
                <a:latin typeface="Garamond"/>
                <a:cs typeface="Garamond"/>
              </a:rPr>
              <a:t>of 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existing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Set-of-Contracts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Perspective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viewed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contracts.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One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contracts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shareholders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managers.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5">
                <a:latin typeface="Garamond"/>
                <a:cs typeface="Garamond"/>
              </a:rPr>
              <a:t>usually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shareholders’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interests.</a:t>
            </a:r>
            <a:endParaRPr sz="1100">
              <a:latin typeface="Garamond"/>
              <a:cs typeface="Garamond"/>
            </a:endParaRPr>
          </a:p>
          <a:p>
            <a:pPr lvl="1" marL="699135" marR="5080" indent="-229235">
              <a:lnSpc>
                <a:spcPts val="1260"/>
              </a:lnSpc>
              <a:spcBef>
                <a:spcPts val="4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can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devise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contracts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align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incentives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goals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9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monitor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managers’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behavior.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5">
                <a:latin typeface="Garamond"/>
                <a:cs typeface="Garamond"/>
              </a:rPr>
              <a:t> contracting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monitoring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costly.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889" y="1451405"/>
            <a:ext cx="4959815" cy="293666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75630" cy="55130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Agency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Problem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Agency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relationship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Principal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hires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represent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Stockholders </a:t>
            </a:r>
            <a:r>
              <a:rPr dirty="0" sz="1100" spc="-5">
                <a:latin typeface="Garamond"/>
                <a:cs typeface="Garamond"/>
              </a:rPr>
              <a:t>(principals)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hire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managers</a:t>
            </a:r>
            <a:r>
              <a:rPr dirty="0" sz="1100">
                <a:latin typeface="Garamond"/>
                <a:cs typeface="Garamond"/>
              </a:rPr>
              <a:t> (agents)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Agency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problem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Conflict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principal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agent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5"/>
              </a:spcBef>
              <a:buSzPct val="104545"/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Management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goals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 </a:t>
            </a:r>
            <a:r>
              <a:rPr dirty="0" sz="1100">
                <a:latin typeface="Garamond"/>
                <a:cs typeface="Garamond"/>
              </a:rPr>
              <a:t>agency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1100" b="1">
                <a:latin typeface="Garamond"/>
                <a:cs typeface="Garamond"/>
              </a:rPr>
              <a:t>Managerial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Goals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Managerial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goals may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goals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Expensive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perquisites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Survival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Independence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Increased growth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size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necessarily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thing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increased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wealth.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5" b="1">
                <a:latin typeface="Garamond"/>
                <a:cs typeface="Garamond"/>
              </a:rPr>
              <a:t>Do </a:t>
            </a:r>
            <a:r>
              <a:rPr dirty="0" sz="1100" spc="-5" b="1">
                <a:latin typeface="Garamond"/>
                <a:cs typeface="Garamond"/>
              </a:rPr>
              <a:t>Shareholders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Control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Managerial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Behavior?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Shareholders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board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directors,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turn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team.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Contracts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carefully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constructed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incentive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compatible.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>
                <a:latin typeface="Garamond"/>
                <a:cs typeface="Garamond"/>
              </a:rPr>
              <a:t>managerial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talent—this</a:t>
            </a:r>
            <a:r>
              <a:rPr dirty="0" sz="1100" spc="10">
                <a:latin typeface="Garamond"/>
                <a:cs typeface="Garamond"/>
              </a:rPr>
              <a:t> may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provide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discipline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managers—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replaced.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fail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maximize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replaced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hostile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takeover.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Managing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Managers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Managerial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compensation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Incentives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used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align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stockholder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incentives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need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carefully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achieve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their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goal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Corporate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control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threat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takeover</a:t>
            </a:r>
            <a:r>
              <a:rPr dirty="0" sz="1100">
                <a:latin typeface="Garamond"/>
                <a:cs typeface="Garamond"/>
              </a:rPr>
              <a:t> may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result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better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management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60"/>
              </a:spcBef>
              <a:buSzPct val="104545"/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stakeholders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379979" y="714501"/>
            <a:ext cx="4446905" cy="3759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717925">
              <a:lnSpc>
                <a:spcPts val="1355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5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4</a:t>
            </a:r>
            <a:endParaRPr sz="1150">
              <a:latin typeface="Garamond"/>
              <a:cs typeface="Garamond"/>
            </a:endParaRPr>
          </a:p>
          <a:p>
            <a:pPr marL="12700">
              <a:lnSpc>
                <a:spcPts val="1355"/>
              </a:lnSpc>
            </a:pPr>
            <a:r>
              <a:rPr dirty="0" sz="1150" spc="35" b="1">
                <a:latin typeface="Garamond"/>
                <a:cs typeface="Garamond"/>
              </a:rPr>
              <a:t>THE</a:t>
            </a:r>
            <a:r>
              <a:rPr dirty="0" sz="1150" spc="-2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FIRM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45" b="1">
                <a:latin typeface="Garamond"/>
                <a:cs typeface="Garamond"/>
              </a:rPr>
              <a:t>AND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35" b="1">
                <a:latin typeface="Garamond"/>
                <a:cs typeface="Garamond"/>
              </a:rPr>
              <a:t>THE</a:t>
            </a:r>
            <a:r>
              <a:rPr dirty="0" sz="1150" spc="1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FINANCIAL</a:t>
            </a:r>
            <a:r>
              <a:rPr dirty="0" sz="1150" spc="30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MARKETS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5183504"/>
            <a:ext cx="4995545" cy="165036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Financial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Markets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Primary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corporation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Usually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underwriter</a:t>
            </a:r>
            <a:r>
              <a:rPr dirty="0" sz="1100">
                <a:latin typeface="Garamond"/>
                <a:cs typeface="Garamond"/>
              </a:rPr>
              <a:t> is </a:t>
            </a:r>
            <a:r>
              <a:rPr dirty="0" sz="1100" spc="-10">
                <a:latin typeface="Garamond"/>
                <a:cs typeface="Garamond"/>
              </a:rPr>
              <a:t>involved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Secondary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Involve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“used”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another.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exchange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traded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10">
                <a:latin typeface="Garamond"/>
                <a:cs typeface="Garamond"/>
              </a:rPr>
              <a:t>trade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over-the-counter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dealer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Financial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Markets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393" y="1511860"/>
            <a:ext cx="5477217" cy="348966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9617" y="7093788"/>
            <a:ext cx="5395506" cy="236017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66105" cy="281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Dealer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vs. </a:t>
            </a:r>
            <a:r>
              <a:rPr dirty="0" sz="1100" spc="-5" b="1">
                <a:latin typeface="Garamond"/>
                <a:cs typeface="Garamond"/>
              </a:rPr>
              <a:t>Auction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Markets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Auction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dealer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two </a:t>
            </a:r>
            <a:r>
              <a:rPr dirty="0" sz="1100">
                <a:latin typeface="Garamond"/>
                <a:cs typeface="Garamond"/>
              </a:rPr>
              <a:t>ways:</a:t>
            </a:r>
            <a:endParaRPr sz="1100">
              <a:latin typeface="Garamond"/>
              <a:cs typeface="Garamond"/>
            </a:endParaRPr>
          </a:p>
          <a:p>
            <a:pPr lvl="1" marL="699135" marR="5080" indent="-229235">
              <a:lnSpc>
                <a:spcPts val="1260"/>
              </a:lnSpc>
              <a:spcBef>
                <a:spcPts val="4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Trading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given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auction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exchange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takes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place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single</a:t>
            </a:r>
            <a:r>
              <a:rPr dirty="0" sz="1100">
                <a:latin typeface="Garamond"/>
                <a:cs typeface="Garamond"/>
              </a:rPr>
              <a:t> site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floor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exchange.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6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Transaction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communicated </a:t>
            </a:r>
            <a:r>
              <a:rPr dirty="0" sz="1100">
                <a:latin typeface="Garamond"/>
                <a:cs typeface="Garamond"/>
              </a:rPr>
              <a:t>almost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immediately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public.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Listing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The </a:t>
            </a:r>
            <a:r>
              <a:rPr dirty="0" sz="1100" spc="-10" b="1">
                <a:latin typeface="Garamond"/>
                <a:cs typeface="Garamond"/>
              </a:rPr>
              <a:t>Balance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Sheet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accountant’s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snapshot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particular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date.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Balance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Sheet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Identity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≡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Stockholder’s </a:t>
            </a:r>
            <a:r>
              <a:rPr dirty="0" sz="1100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 marL="469900" marR="342265" indent="-228600">
              <a:lnSpc>
                <a:spcPts val="1220"/>
              </a:lnSpc>
              <a:spcBef>
                <a:spcPts val="2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analyzing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sheet,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aware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three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concerns: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Liquidity,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versus Equity,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versus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Balance-Sheet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Model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b="1">
                <a:latin typeface="Garamond"/>
                <a:cs typeface="Garamond"/>
              </a:rPr>
              <a:t> Firm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5709284"/>
            <a:ext cx="3799840" cy="16687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 b="1">
                <a:latin typeface="Garamond"/>
                <a:cs typeface="Garamond"/>
              </a:rPr>
              <a:t>Net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Working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Capital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Assets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  <a:tab pos="1384935" algn="l"/>
                <a:tab pos="1842135" algn="l"/>
              </a:tabLst>
            </a:pPr>
            <a:r>
              <a:rPr dirty="0" sz="1100" spc="5">
                <a:latin typeface="Garamond"/>
                <a:cs typeface="Garamond"/>
              </a:rPr>
              <a:t>NWC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&gt;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	</a:t>
            </a:r>
            <a:r>
              <a:rPr dirty="0" sz="1100">
                <a:latin typeface="Garamond"/>
                <a:cs typeface="Garamond"/>
              </a:rPr>
              <a:t>when	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&gt;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  <a:tab pos="1384935" algn="l"/>
                <a:tab pos="1842135" algn="l"/>
              </a:tabLst>
            </a:pPr>
            <a:r>
              <a:rPr dirty="0" sz="1100" spc="5">
                <a:latin typeface="Garamond"/>
                <a:cs typeface="Garamond"/>
              </a:rPr>
              <a:t>NWC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&lt;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	</a:t>
            </a:r>
            <a:r>
              <a:rPr dirty="0" sz="1100">
                <a:latin typeface="Garamond"/>
                <a:cs typeface="Garamond"/>
              </a:rPr>
              <a:t>when	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&lt;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  <a:tab pos="1384935" algn="l"/>
                <a:tab pos="1842135" algn="l"/>
              </a:tabLst>
            </a:pPr>
            <a:r>
              <a:rPr dirty="0" sz="1100" spc="5">
                <a:latin typeface="Garamond"/>
                <a:cs typeface="Garamond"/>
              </a:rPr>
              <a:t>NWC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	</a:t>
            </a:r>
            <a:r>
              <a:rPr dirty="0" sz="1100">
                <a:latin typeface="Garamond"/>
                <a:cs typeface="Garamond"/>
              </a:rPr>
              <a:t>when	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NWC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usually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healthy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Garamond"/>
              <a:cs typeface="Garamond"/>
            </a:endParaRPr>
          </a:p>
          <a:p>
            <a:pPr marL="12700">
              <a:lnSpc>
                <a:spcPts val="1270"/>
              </a:lnSpc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Balance-Sheet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Model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6665" y="3742773"/>
            <a:ext cx="4958775" cy="194593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522475" y="7676388"/>
            <a:ext cx="1262380" cy="681355"/>
            <a:chOff x="1522475" y="7676388"/>
            <a:chExt cx="1262380" cy="68135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2475" y="7676388"/>
              <a:ext cx="1261872" cy="42976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95627" y="7891272"/>
              <a:ext cx="1115568" cy="466344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284732" y="8554211"/>
            <a:ext cx="1696720" cy="828040"/>
            <a:chOff x="1284732" y="8554211"/>
            <a:chExt cx="1696720" cy="82804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84732" y="8554211"/>
              <a:ext cx="1696212" cy="4297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0180" y="8778239"/>
              <a:ext cx="310895" cy="39319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7924" y="8805671"/>
              <a:ext cx="987551" cy="3611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0180" y="9006839"/>
              <a:ext cx="310895" cy="37490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88719" y="8516962"/>
            <a:ext cx="1794510" cy="91313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 marL="243204">
              <a:lnSpc>
                <a:spcPct val="100000"/>
              </a:lnSpc>
              <a:spcBef>
                <a:spcPts val="15"/>
              </a:spcBef>
            </a:pPr>
            <a:r>
              <a:rPr dirty="0" sz="2000" b="1">
                <a:latin typeface="Garamond"/>
                <a:cs typeface="Garamond"/>
              </a:rPr>
              <a:t>Fixed</a:t>
            </a:r>
            <a:r>
              <a:rPr dirty="0" sz="2000" spc="-30" b="1">
                <a:latin typeface="Garamond"/>
                <a:cs typeface="Garamond"/>
              </a:rPr>
              <a:t> </a:t>
            </a:r>
            <a:r>
              <a:rPr dirty="0" sz="2000" spc="-5" b="1">
                <a:latin typeface="Garamond"/>
                <a:cs typeface="Garamond"/>
              </a:rPr>
              <a:t>Assets</a:t>
            </a:r>
            <a:endParaRPr sz="2000">
              <a:latin typeface="Garamond"/>
              <a:cs typeface="Garamond"/>
            </a:endParaRPr>
          </a:p>
          <a:p>
            <a:pPr marL="595630" indent="-229235">
              <a:lnSpc>
                <a:spcPct val="100000"/>
              </a:lnSpc>
              <a:spcBef>
                <a:spcPts val="145"/>
              </a:spcBef>
              <a:buFont typeface="Symbol"/>
              <a:buChar char=""/>
              <a:tabLst>
                <a:tab pos="594995" algn="l"/>
                <a:tab pos="595630" algn="l"/>
              </a:tabLst>
            </a:pPr>
            <a:r>
              <a:rPr dirty="0" sz="1400" spc="-5" b="1">
                <a:latin typeface="Garamond"/>
                <a:cs typeface="Garamond"/>
              </a:rPr>
              <a:t>Tangible</a:t>
            </a:r>
            <a:endParaRPr sz="1400">
              <a:latin typeface="Garamond"/>
              <a:cs typeface="Garamond"/>
            </a:endParaRPr>
          </a:p>
          <a:p>
            <a:pPr marL="595630" indent="-229235">
              <a:lnSpc>
                <a:spcPct val="100000"/>
              </a:lnSpc>
              <a:spcBef>
                <a:spcPts val="120"/>
              </a:spcBef>
              <a:buFont typeface="Symbol"/>
              <a:buChar char=""/>
              <a:tabLst>
                <a:tab pos="594995" algn="l"/>
                <a:tab pos="595630" algn="l"/>
              </a:tabLst>
            </a:pPr>
            <a:r>
              <a:rPr dirty="0" sz="1400" b="1">
                <a:latin typeface="Garamond"/>
                <a:cs typeface="Garamond"/>
              </a:rPr>
              <a:t>Intangible</a:t>
            </a:r>
            <a:endParaRPr sz="1400">
              <a:latin typeface="Garamond"/>
              <a:cs typeface="Garamond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7923" y="9034271"/>
            <a:ext cx="1088136" cy="34747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95444" y="7488935"/>
            <a:ext cx="1792224" cy="34290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4707254" y="7942427"/>
            <a:ext cx="1807210" cy="702310"/>
            <a:chOff x="4707254" y="7942427"/>
            <a:chExt cx="1807210" cy="702310"/>
          </a:xfrm>
        </p:grpSpPr>
        <p:sp>
          <p:nvSpPr>
            <p:cNvPr id="21" name="object 21"/>
            <p:cNvSpPr/>
            <p:nvPr/>
          </p:nvSpPr>
          <p:spPr>
            <a:xfrm>
              <a:off x="4713604" y="7948777"/>
              <a:ext cx="1794510" cy="689610"/>
            </a:xfrm>
            <a:custGeom>
              <a:avLst/>
              <a:gdLst/>
              <a:ahLst/>
              <a:cxnLst/>
              <a:rect l="l" t="t" r="r" b="b"/>
              <a:pathLst>
                <a:path w="1794509" h="689609">
                  <a:moveTo>
                    <a:pt x="0" y="689254"/>
                  </a:moveTo>
                  <a:lnTo>
                    <a:pt x="1794255" y="689254"/>
                  </a:lnTo>
                  <a:lnTo>
                    <a:pt x="1794255" y="0"/>
                  </a:lnTo>
                  <a:lnTo>
                    <a:pt x="0" y="0"/>
                  </a:lnTo>
                  <a:lnTo>
                    <a:pt x="0" y="68925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20055" y="8060436"/>
              <a:ext cx="1271015" cy="34747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129276" y="8023986"/>
            <a:ext cx="944880" cy="495934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259715" marR="5080" indent="-247650">
              <a:lnSpc>
                <a:spcPts val="1800"/>
              </a:lnSpc>
              <a:spcBef>
                <a:spcPts val="240"/>
              </a:spcBef>
            </a:pPr>
            <a:r>
              <a:rPr dirty="0" sz="1550" spc="15" b="1">
                <a:latin typeface="Garamond"/>
                <a:cs typeface="Garamond"/>
              </a:rPr>
              <a:t>L</a:t>
            </a:r>
            <a:r>
              <a:rPr dirty="0" sz="1550" spc="15" b="1">
                <a:latin typeface="Garamond"/>
                <a:cs typeface="Garamond"/>
              </a:rPr>
              <a:t>o</a:t>
            </a:r>
            <a:r>
              <a:rPr dirty="0" sz="1550" b="1">
                <a:latin typeface="Garamond"/>
                <a:cs typeface="Garamond"/>
              </a:rPr>
              <a:t>n</a:t>
            </a:r>
            <a:r>
              <a:rPr dirty="0" sz="1550" spc="20" b="1">
                <a:latin typeface="Garamond"/>
                <a:cs typeface="Garamond"/>
              </a:rPr>
              <a:t>g-</a:t>
            </a:r>
            <a:r>
              <a:rPr dirty="0" sz="1550" spc="15" b="1">
                <a:latin typeface="Garamond"/>
                <a:cs typeface="Garamond"/>
              </a:rPr>
              <a:t>t</a:t>
            </a:r>
            <a:r>
              <a:rPr dirty="0" sz="1550" spc="25" b="1">
                <a:latin typeface="Garamond"/>
                <a:cs typeface="Garamond"/>
              </a:rPr>
              <a:t>e</a:t>
            </a:r>
            <a:r>
              <a:rPr dirty="0" sz="1550" spc="5" b="1">
                <a:latin typeface="Garamond"/>
                <a:cs typeface="Garamond"/>
              </a:rPr>
              <a:t>r</a:t>
            </a:r>
            <a:r>
              <a:rPr dirty="0" sz="1550" spc="15" b="1">
                <a:latin typeface="Garamond"/>
                <a:cs typeface="Garamond"/>
              </a:rPr>
              <a:t>m  </a:t>
            </a:r>
            <a:r>
              <a:rPr dirty="0" sz="1550" spc="10" b="1">
                <a:latin typeface="Garamond"/>
                <a:cs typeface="Garamond"/>
              </a:rPr>
              <a:t>Debt</a:t>
            </a:r>
            <a:endParaRPr sz="1550">
              <a:latin typeface="Garamond"/>
              <a:cs typeface="Garamond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182369" y="7365009"/>
          <a:ext cx="5338445" cy="1050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4510"/>
                <a:gridCol w="455930"/>
                <a:gridCol w="892809"/>
                <a:gridCol w="382904"/>
                <a:gridCol w="1794510"/>
              </a:tblGrid>
              <a:tr h="48433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553720" marR="475615" indent="-73660">
                        <a:lnSpc>
                          <a:spcPts val="2310"/>
                        </a:lnSpc>
                        <a:spcBef>
                          <a:spcPts val="5"/>
                        </a:spcBef>
                      </a:pPr>
                      <a:r>
                        <a:rPr dirty="0" sz="2000" spc="-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2000" spc="5" b="1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2000" spc="-10" b="1">
                          <a:latin typeface="Garamond"/>
                          <a:cs typeface="Garamond"/>
                        </a:rPr>
                        <a:t>rre</a:t>
                      </a:r>
                      <a:r>
                        <a:rPr dirty="0" sz="2000" spc="-5" b="1">
                          <a:latin typeface="Garamond"/>
                          <a:cs typeface="Garamond"/>
                        </a:rPr>
                        <a:t>nt  </a:t>
                      </a:r>
                      <a:r>
                        <a:rPr dirty="0" sz="2000" spc="5" b="1">
                          <a:latin typeface="Garamond"/>
                          <a:cs typeface="Garamond"/>
                        </a:rPr>
                        <a:t>Assets</a:t>
                      </a:r>
                      <a:endParaRPr sz="20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1550" spc="20" b="1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55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550" spc="15" b="1">
                          <a:latin typeface="Garamond"/>
                          <a:cs typeface="Garamond"/>
                        </a:rPr>
                        <a:t>Liabilities</a:t>
                      </a:r>
                      <a:endParaRPr sz="1550">
                        <a:latin typeface="Garamond"/>
                        <a:cs typeface="Garamond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953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9230" marR="180340">
                        <a:lnSpc>
                          <a:spcPct val="94200"/>
                        </a:lnSpc>
                        <a:spcBef>
                          <a:spcPts val="145"/>
                        </a:spcBef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Net 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W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k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g 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266944" y="8229600"/>
            <a:ext cx="777239" cy="40690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46903" y="8842247"/>
            <a:ext cx="1508760" cy="347472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713604" y="8721876"/>
            <a:ext cx="1794510" cy="70802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18745" rIns="0" bIns="0" rtlCol="0" vert="horz">
            <a:spAutoFit/>
          </a:bodyPr>
          <a:lstStyle/>
          <a:p>
            <a:pPr marL="643255" marR="275590" indent="-288290">
              <a:lnSpc>
                <a:spcPts val="1760"/>
              </a:lnSpc>
              <a:spcBef>
                <a:spcPts val="935"/>
              </a:spcBef>
            </a:pPr>
            <a:r>
              <a:rPr dirty="0" sz="1550" spc="-5" b="1">
                <a:latin typeface="Garamond"/>
                <a:cs typeface="Garamond"/>
              </a:rPr>
              <a:t>S</a:t>
            </a:r>
            <a:r>
              <a:rPr dirty="0" sz="1550" spc="35" b="1">
                <a:latin typeface="Garamond"/>
                <a:cs typeface="Garamond"/>
              </a:rPr>
              <a:t>h</a:t>
            </a:r>
            <a:r>
              <a:rPr dirty="0" sz="1550" spc="15" b="1">
                <a:latin typeface="Garamond"/>
                <a:cs typeface="Garamond"/>
              </a:rPr>
              <a:t>a</a:t>
            </a:r>
            <a:r>
              <a:rPr dirty="0" sz="1550" b="1">
                <a:latin typeface="Garamond"/>
                <a:cs typeface="Garamond"/>
              </a:rPr>
              <a:t>r</a:t>
            </a:r>
            <a:r>
              <a:rPr dirty="0" sz="1550" spc="25" b="1">
                <a:latin typeface="Garamond"/>
                <a:cs typeface="Garamond"/>
              </a:rPr>
              <a:t>e</a:t>
            </a:r>
            <a:r>
              <a:rPr dirty="0" sz="1550" b="1">
                <a:latin typeface="Garamond"/>
                <a:cs typeface="Garamond"/>
              </a:rPr>
              <a:t>h</a:t>
            </a:r>
            <a:r>
              <a:rPr dirty="0" sz="1550" spc="50" b="1">
                <a:latin typeface="Garamond"/>
                <a:cs typeface="Garamond"/>
              </a:rPr>
              <a:t>o</a:t>
            </a:r>
            <a:r>
              <a:rPr dirty="0" sz="1550" spc="-15" b="1">
                <a:latin typeface="Garamond"/>
                <a:cs typeface="Garamond"/>
              </a:rPr>
              <a:t>l</a:t>
            </a:r>
            <a:r>
              <a:rPr dirty="0" sz="1550" b="1">
                <a:latin typeface="Garamond"/>
                <a:cs typeface="Garamond"/>
              </a:rPr>
              <a:t>d</a:t>
            </a:r>
            <a:r>
              <a:rPr dirty="0" sz="1550" spc="60" b="1">
                <a:latin typeface="Garamond"/>
                <a:cs typeface="Garamond"/>
              </a:rPr>
              <a:t>e</a:t>
            </a:r>
            <a:r>
              <a:rPr dirty="0" sz="1550" spc="5" b="1">
                <a:latin typeface="Garamond"/>
                <a:cs typeface="Garamond"/>
              </a:rPr>
              <a:t>r</a:t>
            </a:r>
            <a:r>
              <a:rPr dirty="0" sz="1550" spc="-5" b="1">
                <a:latin typeface="Garamond"/>
                <a:cs typeface="Garamond"/>
              </a:rPr>
              <a:t>s</a:t>
            </a:r>
            <a:r>
              <a:rPr dirty="0" sz="1550" spc="5" b="1">
                <a:latin typeface="Garamond"/>
                <a:cs typeface="Garamond"/>
              </a:rPr>
              <a:t>’  </a:t>
            </a:r>
            <a:r>
              <a:rPr dirty="0" sz="1550" spc="10" b="1">
                <a:latin typeface="Garamond"/>
                <a:cs typeface="Garamond"/>
              </a:rPr>
              <a:t>Equity</a:t>
            </a:r>
            <a:endParaRPr sz="1550">
              <a:latin typeface="Garamond"/>
              <a:cs typeface="Garamond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234940" y="9006839"/>
            <a:ext cx="932688" cy="406908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3072383" y="8545067"/>
            <a:ext cx="1568450" cy="759460"/>
            <a:chOff x="3072383" y="8545067"/>
            <a:chExt cx="1568450" cy="759460"/>
          </a:xfrm>
        </p:grpSpPr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72383" y="8545067"/>
              <a:ext cx="1568195" cy="30175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72383" y="8714231"/>
              <a:ext cx="1568195" cy="36118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72383" y="8942831"/>
              <a:ext cx="1568195" cy="361188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3152901" y="8493465"/>
            <a:ext cx="1412875" cy="9455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07900"/>
              </a:lnSpc>
              <a:spcBef>
                <a:spcPts val="90"/>
              </a:spcBef>
            </a:pPr>
            <a:r>
              <a:rPr dirty="0" sz="1400">
                <a:latin typeface="Garamond"/>
                <a:cs typeface="Garamond"/>
              </a:rPr>
              <a:t>How</a:t>
            </a:r>
            <a:r>
              <a:rPr dirty="0" sz="1400" spc="5">
                <a:latin typeface="Garamond"/>
                <a:cs typeface="Garamond"/>
              </a:rPr>
              <a:t> </a:t>
            </a:r>
            <a:r>
              <a:rPr dirty="0" sz="1400" spc="-5">
                <a:latin typeface="Garamond"/>
                <a:cs typeface="Garamond"/>
              </a:rPr>
              <a:t>much</a:t>
            </a:r>
            <a:r>
              <a:rPr dirty="0" sz="1400">
                <a:latin typeface="Garamond"/>
                <a:cs typeface="Garamond"/>
              </a:rPr>
              <a:t> </a:t>
            </a:r>
            <a:r>
              <a:rPr dirty="0" sz="1400" spc="-5">
                <a:latin typeface="Garamond"/>
                <a:cs typeface="Garamond"/>
              </a:rPr>
              <a:t>short- </a:t>
            </a:r>
            <a:r>
              <a:rPr dirty="0" sz="1400">
                <a:latin typeface="Garamond"/>
                <a:cs typeface="Garamond"/>
              </a:rPr>
              <a:t> </a:t>
            </a:r>
            <a:r>
              <a:rPr dirty="0" sz="1400" spc="-10">
                <a:latin typeface="Garamond"/>
                <a:cs typeface="Garamond"/>
              </a:rPr>
              <a:t>term</a:t>
            </a:r>
            <a:r>
              <a:rPr dirty="0" sz="1400" spc="-20">
                <a:latin typeface="Garamond"/>
                <a:cs typeface="Garamond"/>
              </a:rPr>
              <a:t> </a:t>
            </a:r>
            <a:r>
              <a:rPr dirty="0" sz="1400" spc="-5">
                <a:latin typeface="Garamond"/>
                <a:cs typeface="Garamond"/>
              </a:rPr>
              <a:t>cash</a:t>
            </a:r>
            <a:r>
              <a:rPr dirty="0" sz="1400" spc="-10">
                <a:latin typeface="Garamond"/>
                <a:cs typeface="Garamond"/>
              </a:rPr>
              <a:t> </a:t>
            </a:r>
            <a:r>
              <a:rPr dirty="0" sz="1400" spc="5">
                <a:latin typeface="Garamond"/>
                <a:cs typeface="Garamond"/>
              </a:rPr>
              <a:t>flow</a:t>
            </a:r>
            <a:r>
              <a:rPr dirty="0" sz="1400" spc="-50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does </a:t>
            </a:r>
            <a:r>
              <a:rPr dirty="0" sz="1400" spc="-340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a </a:t>
            </a:r>
            <a:r>
              <a:rPr dirty="0" sz="1400" spc="-5">
                <a:latin typeface="Garamond"/>
                <a:cs typeface="Garamond"/>
              </a:rPr>
              <a:t>company need </a:t>
            </a:r>
            <a:r>
              <a:rPr dirty="0" sz="1400" spc="-10">
                <a:latin typeface="Garamond"/>
                <a:cs typeface="Garamond"/>
              </a:rPr>
              <a:t>to </a:t>
            </a:r>
            <a:r>
              <a:rPr dirty="0" sz="1400" spc="-5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pay</a:t>
            </a:r>
            <a:r>
              <a:rPr dirty="0" sz="1400" spc="-10">
                <a:latin typeface="Garamond"/>
                <a:cs typeface="Garamond"/>
              </a:rPr>
              <a:t> </a:t>
            </a:r>
            <a:r>
              <a:rPr dirty="0" sz="1400" spc="-5">
                <a:latin typeface="Garamond"/>
                <a:cs typeface="Garamond"/>
              </a:rPr>
              <a:t>its</a:t>
            </a:r>
            <a:r>
              <a:rPr dirty="0" sz="1400" spc="-10">
                <a:latin typeface="Garamond"/>
                <a:cs typeface="Garamond"/>
              </a:rPr>
              <a:t> </a:t>
            </a:r>
            <a:r>
              <a:rPr dirty="0" sz="1400" spc="-5">
                <a:latin typeface="Garamond"/>
                <a:cs typeface="Garamond"/>
              </a:rPr>
              <a:t>bills?</a:t>
            </a:r>
            <a:endParaRPr sz="1400">
              <a:latin typeface="Garamond"/>
              <a:cs typeface="Garamond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072383" y="9176003"/>
            <a:ext cx="1101852" cy="256031"/>
          </a:xfrm>
          <a:prstGeom prst="rect">
            <a:avLst/>
          </a:prstGeom>
        </p:spPr>
      </p:pic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3009900" cy="1984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Building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Balance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Sheet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has: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10">
                <a:latin typeface="Garamond"/>
                <a:cs typeface="Garamond"/>
              </a:rPr>
              <a:t> of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$100,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Fixed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10">
                <a:latin typeface="Garamond"/>
                <a:cs typeface="Garamond"/>
              </a:rPr>
              <a:t> of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$500,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Short-term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$70,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Debt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$200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9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Now…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$600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</a:t>
            </a:r>
            <a:r>
              <a:rPr dirty="0" sz="1100">
                <a:latin typeface="Garamond"/>
                <a:cs typeface="Garamond"/>
              </a:rPr>
              <a:t> 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$70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$270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Shareholders’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 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$600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270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$330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Building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Balance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Sheet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12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926082" y="2867913"/>
          <a:ext cx="4167504" cy="1619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050"/>
                <a:gridCol w="718185"/>
                <a:gridCol w="1574164"/>
                <a:gridCol w="713739"/>
              </a:tblGrid>
              <a:tr h="329438">
                <a:tc>
                  <a:txBody>
                    <a:bodyPr/>
                    <a:lstStyle/>
                    <a:p>
                      <a:pPr marL="7499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096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3175">
                        <a:lnSpc>
                          <a:spcPts val="114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Liabilities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and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905">
                        <a:lnSpc>
                          <a:spcPts val="1310"/>
                        </a:lnSpc>
                      </a:pPr>
                      <a:r>
                        <a:rPr dirty="0" baseline="2525" sz="1650" spc="7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baseline="2525" sz="1650" spc="-7" b="1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baseline="2525" sz="165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baseline="2525" sz="1650" spc="-37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baseline="2525" sz="1650" spc="22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baseline="2525" sz="1650" spc="-7" b="1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baseline="2525" sz="1650" spc="-1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baseline="2525" sz="1650" spc="-7" b="1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baseline="2525" sz="1650" spc="-67" b="1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baseline="2525" sz="1650" spc="-3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baseline="2525" sz="1650" spc="1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baseline="2525" sz="1650" b="1">
                          <a:latin typeface="Garamond"/>
                          <a:cs typeface="Garamond"/>
                        </a:rPr>
                        <a:t>s’</a:t>
                      </a:r>
                      <a:r>
                        <a:rPr dirty="0" baseline="2525" sz="1650" spc="-112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q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790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5082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24738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Long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Term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7310"/>
                </a:tc>
                <a:tc>
                  <a:txBody>
                    <a:bodyPr/>
                    <a:lstStyle/>
                    <a:p>
                      <a:pPr algn="r" marR="2508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7310"/>
                </a:tc>
              </a:tr>
              <a:tr h="319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Shareholders’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2865"/>
                </a:tc>
                <a:tc>
                  <a:txBody>
                    <a:bodyPr/>
                    <a:lstStyle/>
                    <a:p>
                      <a:pPr algn="r" marR="25082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2865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847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0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$600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0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46075">
                        <a:lnSpc>
                          <a:spcPts val="116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liabilities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and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r" marR="293370">
                        <a:lnSpc>
                          <a:spcPts val="124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                   </a:t>
                      </a:r>
                      <a:r>
                        <a:rPr dirty="0" u="sng" sz="1100" spc="-7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s’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q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18440">
                        <a:lnSpc>
                          <a:spcPct val="100000"/>
                        </a:lnSpc>
                        <a:spcBef>
                          <a:spcPts val="500"/>
                        </a:spcBef>
                        <a:tabLst>
                          <a:tab pos="223520" algn="l"/>
                        </a:tabLst>
                      </a:pPr>
                      <a:r>
                        <a:rPr dirty="0" u="dbl" baseline="-30303" sz="165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dbl" baseline="-30303" sz="165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60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0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4648326"/>
            <a:ext cx="256667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Balance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Sheet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5" b="1">
                <a:latin typeface="Garamond"/>
                <a:cs typeface="Garamond"/>
              </a:rPr>
              <a:t> the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XYZ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28725" y="4999354"/>
          <a:ext cx="7118985" cy="4592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0855"/>
                <a:gridCol w="1116330"/>
                <a:gridCol w="572135"/>
                <a:gridCol w="1820544"/>
                <a:gridCol w="1306195"/>
                <a:gridCol w="542289"/>
              </a:tblGrid>
              <a:tr h="631189">
                <a:tc gridSpan="6">
                  <a:txBody>
                    <a:bodyPr/>
                    <a:lstStyle/>
                    <a:p>
                      <a:pPr algn="ctr" marL="6985">
                        <a:lnSpc>
                          <a:spcPts val="111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2653030" marR="2636520" indent="34290">
                        <a:lnSpc>
                          <a:spcPts val="1230"/>
                        </a:lnSpc>
                        <a:spcBef>
                          <a:spcPts val="6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Balance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Sheet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8255">
                        <a:lnSpc>
                          <a:spcPts val="123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6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124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6850" marR="36893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92100" marR="257175" indent="-22860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Liabilities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(Debt)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and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Stockholder's</a:t>
                      </a:r>
                      <a:r>
                        <a:rPr dirty="0" u="sng" sz="1100" spc="-4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6850" marR="57023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924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6893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57023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5448"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equivalents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6235" marR="368935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$107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6870" marR="57023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$197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4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0370" marR="36893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294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607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Notes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4505" marR="570230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591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0370" marR="368935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269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6070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Accrued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286385">
                        <a:lnSpc>
                          <a:spcPts val="1185"/>
                        </a:lnSpc>
                        <a:tabLst>
                          <a:tab pos="420370" algn="l"/>
                          <a:tab pos="1005840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223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ts val="118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205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9291">
                <a:tc>
                  <a:txBody>
                    <a:bodyPr/>
                    <a:lstStyle/>
                    <a:p>
                      <a:pPr marL="68580">
                        <a:lnSpc>
                          <a:spcPts val="12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Other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  <a:tabLst>
                          <a:tab pos="484505" algn="l"/>
                          <a:tab pos="1111250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58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u="sng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50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2432">
                <a:tc>
                  <a:txBody>
                    <a:bodyPr/>
                    <a:lstStyle/>
                    <a:p>
                      <a:pPr marL="68580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6235" marR="368935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$761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$707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6870" marR="570230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$486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$455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4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6893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Long-term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57023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12372">
                <a:tc>
                  <a:txBody>
                    <a:bodyPr/>
                    <a:lstStyle/>
                    <a:p>
                      <a:pPr marL="68580">
                        <a:lnSpc>
                          <a:spcPts val="113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Property,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plant,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68580">
                        <a:lnSpc>
                          <a:spcPts val="12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equipment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2735" marR="368935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$1423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$1274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Deferred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6870" marR="570230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$117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$104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322378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ed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68580">
                        <a:lnSpc>
                          <a:spcPts val="129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4650" marR="368935">
                        <a:lnSpc>
                          <a:spcPts val="11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-550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ts val="11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-460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te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0370" marR="570230">
                        <a:lnSpc>
                          <a:spcPts val="11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471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ts val="11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458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1241">
                <a:tc>
                  <a:txBody>
                    <a:bodyPr/>
                    <a:lstStyle/>
                    <a:p>
                      <a:pPr marL="68580" marR="378460">
                        <a:lnSpc>
                          <a:spcPts val="12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property, plant,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 </a:t>
                      </a:r>
                      <a:r>
                        <a:rPr dirty="0" sz="1100" spc="-2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equipment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6235" marR="36893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$873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193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$814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long-term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6870" marR="57023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$562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4782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Intangible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other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785">
                        <a:lnSpc>
                          <a:spcPts val="1185"/>
                        </a:lnSpc>
                        <a:tabLst>
                          <a:tab pos="420370" algn="l"/>
                          <a:tab pos="104711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245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221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Stockholder's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57023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62306">
                <a:tc>
                  <a:txBody>
                    <a:bodyPr/>
                    <a:lstStyle/>
                    <a:p>
                      <a:pPr marL="68580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0350" marR="368935">
                        <a:lnSpc>
                          <a:spcPts val="11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$1,118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11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$1,035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Preferred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5450" marR="570230">
                        <a:lnSpc>
                          <a:spcPts val="11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ts val="11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6893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Common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($1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per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value)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84505" marR="570230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48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6893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07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Capital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surplus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0370" marR="570230">
                        <a:lnSpc>
                          <a:spcPts val="107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347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ts val="107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2456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6893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ts val="94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Accumulated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retained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95885">
                        <a:lnSpc>
                          <a:spcPts val="894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earnings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0370" marR="570230">
                        <a:lnSpc>
                          <a:spcPts val="109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ts val="109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347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3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6893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ts val="111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Less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treasury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stock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8784" marR="570230">
                        <a:lnSpc>
                          <a:spcPts val="111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-26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ts val="111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-20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68935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ts val="115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6870" marR="570230">
                        <a:lnSpc>
                          <a:spcPts val="115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$805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115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$725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365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 marL="264795" marR="3689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$1,879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048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$1,742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048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90550">
                        <a:lnSpc>
                          <a:spcPts val="1235"/>
                        </a:lnSpc>
                        <a:spcBef>
                          <a:spcPts val="160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liabilities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and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r" marR="552450">
                        <a:lnSpc>
                          <a:spcPts val="1210"/>
                        </a:lnSpc>
                      </a:pPr>
                      <a:r>
                        <a:rPr dirty="0" u="heavy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heavy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                                    </a:t>
                      </a:r>
                      <a:r>
                        <a:rPr dirty="0" u="heavy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stockholder's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marL="265430" marR="570230">
                        <a:lnSpc>
                          <a:spcPts val="1040"/>
                        </a:lnSpc>
                        <a:spcBef>
                          <a:spcPts val="55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$1,879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>
                        <a:lnSpc>
                          <a:spcPts val="1010"/>
                        </a:lnSpc>
                        <a:tabLst>
                          <a:tab pos="1303655" algn="l"/>
                        </a:tabLst>
                      </a:pPr>
                      <a:r>
                        <a:rPr dirty="0" u="heavy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heavy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048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$1,742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048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335352"/>
            <a:ext cx="5688965" cy="456374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25"/>
              </a:lnSpc>
              <a:spcBef>
                <a:spcPts val="780"/>
              </a:spcBef>
            </a:pPr>
            <a:r>
              <a:rPr dirty="0" sz="1150" spc="-25" b="1" i="1">
                <a:latin typeface="Garamond"/>
                <a:cs typeface="Garamond"/>
              </a:rPr>
              <a:t>Notes:</a:t>
            </a:r>
            <a:endParaRPr sz="1150">
              <a:latin typeface="Garamond"/>
              <a:cs typeface="Garamond"/>
            </a:endParaRPr>
          </a:p>
          <a:p>
            <a:pPr marL="12700" marR="24130">
              <a:lnSpc>
                <a:spcPts val="1260"/>
              </a:lnSpc>
              <a:spcBef>
                <a:spcPts val="40"/>
              </a:spcBef>
              <a:buAutoNum type="arabicPeriod"/>
              <a:tabLst>
                <a:tab pos="149860" algn="l"/>
              </a:tabLst>
            </a:pPr>
            <a:r>
              <a:rPr dirty="0" sz="1100" i="1">
                <a:latin typeface="Garamond"/>
                <a:cs typeface="Garamond"/>
              </a:rPr>
              <a:t>Long-term debt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rose</a:t>
            </a:r>
            <a:r>
              <a:rPr dirty="0" sz="1100" spc="10" i="1">
                <a:latin typeface="Garamond"/>
                <a:cs typeface="Garamond"/>
              </a:rPr>
              <a:t> by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($471</a:t>
            </a:r>
            <a:r>
              <a:rPr dirty="0" sz="1100" spc="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million–$458</a:t>
            </a:r>
            <a:r>
              <a:rPr dirty="0" sz="1100" spc="3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million)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$13</a:t>
            </a:r>
            <a:r>
              <a:rPr dirty="0" sz="1100" spc="3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million.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This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is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the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difference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between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$86</a:t>
            </a:r>
            <a:r>
              <a:rPr dirty="0" sz="1100" spc="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million</a:t>
            </a:r>
            <a:r>
              <a:rPr dirty="0" sz="1100" spc="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new</a:t>
            </a:r>
            <a:r>
              <a:rPr dirty="0" sz="1100" spc="-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debt </a:t>
            </a:r>
            <a:r>
              <a:rPr dirty="0" sz="1100" spc="-26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and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$73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million</a:t>
            </a:r>
            <a:r>
              <a:rPr dirty="0" sz="1100" i="1">
                <a:latin typeface="Garamond"/>
                <a:cs typeface="Garamond"/>
              </a:rPr>
              <a:t> in </a:t>
            </a:r>
            <a:r>
              <a:rPr dirty="0" sz="1100" spc="-5" i="1">
                <a:latin typeface="Garamond"/>
                <a:cs typeface="Garamond"/>
              </a:rPr>
              <a:t>retirement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of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old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  <a:p>
            <a:pPr marL="144780" indent="-132715">
              <a:lnSpc>
                <a:spcPct val="100000"/>
              </a:lnSpc>
              <a:spcBef>
                <a:spcPts val="880"/>
              </a:spcBef>
              <a:buAutoNum type="arabicPeriod"/>
              <a:tabLst>
                <a:tab pos="145415" algn="l"/>
              </a:tabLst>
            </a:pPr>
            <a:r>
              <a:rPr dirty="0" sz="1100" i="1">
                <a:latin typeface="Garamond"/>
                <a:cs typeface="Garamond"/>
              </a:rPr>
              <a:t>Treasury </a:t>
            </a:r>
            <a:r>
              <a:rPr dirty="0" sz="1100" spc="-5" i="1">
                <a:latin typeface="Garamond"/>
                <a:cs typeface="Garamond"/>
              </a:rPr>
              <a:t>stock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rose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by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$6</a:t>
            </a:r>
            <a:r>
              <a:rPr dirty="0" sz="1100" spc="-5" i="1">
                <a:latin typeface="Garamond"/>
                <a:cs typeface="Garamond"/>
              </a:rPr>
              <a:t> million.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This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reflects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the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repurchase</a:t>
            </a:r>
            <a:r>
              <a:rPr dirty="0" sz="1100" spc="-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of</a:t>
            </a:r>
            <a:r>
              <a:rPr dirty="0" sz="1100" spc="-10" i="1">
                <a:latin typeface="Garamond"/>
                <a:cs typeface="Garamond"/>
              </a:rPr>
              <a:t> $6</a:t>
            </a:r>
            <a:r>
              <a:rPr dirty="0" sz="1100" spc="3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million</a:t>
            </a:r>
            <a:r>
              <a:rPr dirty="0" sz="1100" spc="4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stock.</a:t>
            </a:r>
            <a:endParaRPr sz="1100">
              <a:latin typeface="Garamond"/>
              <a:cs typeface="Garamond"/>
            </a:endParaRPr>
          </a:p>
          <a:p>
            <a:pPr marL="12700" marR="123825">
              <a:lnSpc>
                <a:spcPts val="1230"/>
              </a:lnSpc>
              <a:spcBef>
                <a:spcPts val="1030"/>
              </a:spcBef>
              <a:buAutoNum type="arabicPeriod"/>
              <a:tabLst>
                <a:tab pos="146050" algn="l"/>
              </a:tabLst>
            </a:pPr>
            <a:r>
              <a:rPr dirty="0" sz="1100" spc="-5" i="1">
                <a:latin typeface="Garamond"/>
                <a:cs typeface="Garamond"/>
              </a:rPr>
              <a:t>XYZ </a:t>
            </a:r>
            <a:r>
              <a:rPr dirty="0" sz="1100" i="1">
                <a:latin typeface="Garamond"/>
                <a:cs typeface="Garamond"/>
              </a:rPr>
              <a:t>Corporation </a:t>
            </a:r>
            <a:r>
              <a:rPr dirty="0" sz="1100" spc="-5" i="1">
                <a:latin typeface="Garamond"/>
                <a:cs typeface="Garamond"/>
              </a:rPr>
              <a:t>reports </a:t>
            </a:r>
            <a:r>
              <a:rPr dirty="0" sz="1100" spc="5" i="1">
                <a:latin typeface="Garamond"/>
                <a:cs typeface="Garamond"/>
              </a:rPr>
              <a:t>$43 </a:t>
            </a:r>
            <a:r>
              <a:rPr dirty="0" sz="1100" spc="-5" i="1">
                <a:latin typeface="Garamond"/>
                <a:cs typeface="Garamond"/>
              </a:rPr>
              <a:t>million </a:t>
            </a:r>
            <a:r>
              <a:rPr dirty="0" sz="1100" i="1">
                <a:latin typeface="Garamond"/>
                <a:cs typeface="Garamond"/>
              </a:rPr>
              <a:t>in new equity. The </a:t>
            </a:r>
            <a:r>
              <a:rPr dirty="0" sz="1100" spc="-5" i="1">
                <a:latin typeface="Garamond"/>
                <a:cs typeface="Garamond"/>
              </a:rPr>
              <a:t>company issued </a:t>
            </a:r>
            <a:r>
              <a:rPr dirty="0" sz="1100" spc="15" i="1">
                <a:latin typeface="Garamond"/>
                <a:cs typeface="Garamond"/>
              </a:rPr>
              <a:t>23 </a:t>
            </a:r>
            <a:r>
              <a:rPr dirty="0" sz="1100" i="1">
                <a:latin typeface="Garamond"/>
                <a:cs typeface="Garamond"/>
              </a:rPr>
              <a:t>million </a:t>
            </a:r>
            <a:r>
              <a:rPr dirty="0" sz="1100" spc="-5" i="1">
                <a:latin typeface="Garamond"/>
                <a:cs typeface="Garamond"/>
              </a:rPr>
              <a:t>shares </a:t>
            </a:r>
            <a:r>
              <a:rPr dirty="0" sz="1100" spc="10" i="1">
                <a:latin typeface="Garamond"/>
                <a:cs typeface="Garamond"/>
              </a:rPr>
              <a:t>at </a:t>
            </a:r>
            <a:r>
              <a:rPr dirty="0" sz="1100" spc="5" i="1">
                <a:latin typeface="Garamond"/>
                <a:cs typeface="Garamond"/>
              </a:rPr>
              <a:t>a </a:t>
            </a:r>
            <a:r>
              <a:rPr dirty="0" sz="1100" spc="-5" i="1">
                <a:latin typeface="Garamond"/>
                <a:cs typeface="Garamond"/>
              </a:rPr>
              <a:t>price </a:t>
            </a:r>
            <a:r>
              <a:rPr dirty="0" sz="1100" i="1">
                <a:latin typeface="Garamond"/>
                <a:cs typeface="Garamond"/>
              </a:rPr>
              <a:t>of </a:t>
            </a:r>
            <a:r>
              <a:rPr dirty="0" sz="1100" spc="-5" i="1">
                <a:latin typeface="Garamond"/>
                <a:cs typeface="Garamond"/>
              </a:rPr>
              <a:t>$1.87. </a:t>
            </a:r>
            <a:r>
              <a:rPr dirty="0" sz="1100" spc="-10" i="1">
                <a:latin typeface="Garamond"/>
                <a:cs typeface="Garamond"/>
              </a:rPr>
              <a:t>The </a:t>
            </a:r>
            <a:r>
              <a:rPr dirty="0" sz="1100" spc="-26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par</a:t>
            </a:r>
            <a:r>
              <a:rPr dirty="0" sz="1100" spc="-4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value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-15" i="1">
                <a:latin typeface="Garamond"/>
                <a:cs typeface="Garamond"/>
              </a:rPr>
              <a:t>of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common</a:t>
            </a:r>
            <a:r>
              <a:rPr dirty="0" sz="110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stock</a:t>
            </a:r>
            <a:r>
              <a:rPr dirty="0" sz="1100" spc="2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is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increased </a:t>
            </a:r>
            <a:r>
              <a:rPr dirty="0" sz="1100" spc="10" i="1">
                <a:latin typeface="Garamond"/>
                <a:cs typeface="Garamond"/>
              </a:rPr>
              <a:t>by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$23</a:t>
            </a:r>
            <a:r>
              <a:rPr dirty="0" sz="1100" spc="-5" i="1">
                <a:latin typeface="Garamond"/>
                <a:cs typeface="Garamond"/>
              </a:rPr>
              <a:t> million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spc="-10" i="1">
                <a:latin typeface="Garamond"/>
                <a:cs typeface="Garamond"/>
              </a:rPr>
              <a:t>and</a:t>
            </a:r>
            <a:r>
              <a:rPr dirty="0" sz="1100" spc="25" i="1">
                <a:latin typeface="Garamond"/>
                <a:cs typeface="Garamond"/>
              </a:rPr>
              <a:t> </a:t>
            </a:r>
            <a:r>
              <a:rPr dirty="0" sz="1100" spc="-10" i="1">
                <a:latin typeface="Garamond"/>
                <a:cs typeface="Garamond"/>
              </a:rPr>
              <a:t>capital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surplus</a:t>
            </a:r>
            <a:r>
              <a:rPr dirty="0" sz="1100" spc="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is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increased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by</a:t>
            </a:r>
            <a:r>
              <a:rPr dirty="0" sz="1100" spc="-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$20</a:t>
            </a:r>
            <a:r>
              <a:rPr dirty="0" sz="1100" spc="-10" i="1">
                <a:latin typeface="Garamond"/>
                <a:cs typeface="Garamond"/>
              </a:rPr>
              <a:t> million.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Garamond"/>
              <a:buAutoNum type="arabicPeriod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Balance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Sheet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lvl="1"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analyzing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sheet,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aware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three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concerns:</a:t>
            </a:r>
            <a:endParaRPr sz="1100">
              <a:latin typeface="Garamond"/>
              <a:cs typeface="Garamond"/>
            </a:endParaRPr>
          </a:p>
          <a:p>
            <a:pPr lvl="2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Accounting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liquidity</a:t>
            </a:r>
            <a:endParaRPr sz="1100">
              <a:latin typeface="Garamond"/>
              <a:cs typeface="Garamond"/>
            </a:endParaRPr>
          </a:p>
          <a:p>
            <a:pPr lvl="2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Debt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versus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 lvl="2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versus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Accounting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Liquidity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lvl="1"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Refers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quickness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converted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cash.</a:t>
            </a:r>
            <a:endParaRPr sz="1100">
              <a:latin typeface="Garamond"/>
              <a:cs typeface="Garamond"/>
            </a:endParaRPr>
          </a:p>
          <a:p>
            <a:pPr lvl="1"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liquid.</a:t>
            </a:r>
            <a:endParaRPr sz="1100">
              <a:latin typeface="Garamond"/>
              <a:cs typeface="Garamond"/>
            </a:endParaRPr>
          </a:p>
          <a:p>
            <a:pPr lvl="1"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Some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intangible.</a:t>
            </a:r>
            <a:endParaRPr sz="1100">
              <a:latin typeface="Garamond"/>
              <a:cs typeface="Garamond"/>
            </a:endParaRPr>
          </a:p>
          <a:p>
            <a:pPr lvl="1" marL="469900" marR="2476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likely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experience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problems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meeting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obligations.</a:t>
            </a:r>
            <a:endParaRPr sz="1100">
              <a:latin typeface="Garamond"/>
              <a:cs typeface="Garamond"/>
            </a:endParaRPr>
          </a:p>
          <a:p>
            <a:pPr lvl="1"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Liquid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frequently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assets.</a:t>
            </a:r>
            <a:endParaRPr sz="1100">
              <a:latin typeface="Garamond"/>
              <a:cs typeface="Garamond"/>
            </a:endParaRPr>
          </a:p>
          <a:p>
            <a:pPr algn="ctr" marR="27305">
              <a:lnSpc>
                <a:spcPct val="100000"/>
              </a:lnSpc>
              <a:spcBef>
                <a:spcPts val="1170"/>
              </a:spcBef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Balance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Sheet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XYZ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35049" y="5054218"/>
          <a:ext cx="5549265" cy="1948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2235"/>
                <a:gridCol w="798829"/>
                <a:gridCol w="518794"/>
                <a:gridCol w="1583055"/>
                <a:gridCol w="775970"/>
                <a:gridCol w="501014"/>
              </a:tblGrid>
              <a:tr h="635762">
                <a:tc gridSpan="6">
                  <a:txBody>
                    <a:bodyPr/>
                    <a:lstStyle/>
                    <a:p>
                      <a:pPr algn="ctr" marL="2540">
                        <a:lnSpc>
                          <a:spcPts val="112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r" marL="2341880" marR="2329815" indent="13335">
                        <a:lnSpc>
                          <a:spcPts val="1220"/>
                        </a:lnSpc>
                        <a:spcBef>
                          <a:spcPts val="9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Balance Sheet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r" marR="2371090">
                        <a:lnSpc>
                          <a:spcPts val="1205"/>
                        </a:lnSpc>
                        <a:tabLst>
                          <a:tab pos="2355215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$252m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$707-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$455	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36338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493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66370">
                        <a:lnSpc>
                          <a:spcPts val="119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19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3355" marR="138430" indent="-22860">
                        <a:lnSpc>
                          <a:spcPts val="1260"/>
                        </a:lnSpc>
                        <a:spcBef>
                          <a:spcPts val="2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Liabilities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(Debt)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baseline="7575" sz="1650" spc="7" b="1">
                          <a:latin typeface="Garamond"/>
                          <a:cs typeface="Garamond"/>
                        </a:rPr>
                        <a:t>and </a:t>
                      </a:r>
                      <a:r>
                        <a:rPr dirty="0" baseline="7575" sz="1650" spc="-39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Stockholder's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2875">
                        <a:lnSpc>
                          <a:spcPts val="119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9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8829">
                <a:tc>
                  <a:txBody>
                    <a:bodyPr/>
                    <a:lstStyle/>
                    <a:p>
                      <a:pPr marL="68580">
                        <a:lnSpc>
                          <a:spcPts val="115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5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7733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equivalents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637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$107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351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$197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5448"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637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294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Notes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0970">
                        <a:lnSpc>
                          <a:spcPts val="112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12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861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6370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269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Accrued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287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223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3707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Other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4465">
                        <a:lnSpc>
                          <a:spcPts val="118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18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594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3195">
                        <a:lnSpc>
                          <a:spcPts val="123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$761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$707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3510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$486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$455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733676" y="5914008"/>
            <a:ext cx="375285" cy="9525"/>
          </a:xfrm>
          <a:custGeom>
            <a:avLst/>
            <a:gdLst/>
            <a:ahLst/>
            <a:cxnLst/>
            <a:rect l="l" t="t" r="r" b="b"/>
            <a:pathLst>
              <a:path w="375285" h="9525">
                <a:moveTo>
                  <a:pt x="375208" y="0"/>
                </a:moveTo>
                <a:lnTo>
                  <a:pt x="0" y="0"/>
                </a:lnTo>
                <a:lnTo>
                  <a:pt x="0" y="9144"/>
                </a:lnTo>
                <a:lnTo>
                  <a:pt x="375208" y="9144"/>
                </a:lnTo>
                <a:lnTo>
                  <a:pt x="3752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98925" y="6000876"/>
            <a:ext cx="1235075" cy="9525"/>
          </a:xfrm>
          <a:custGeom>
            <a:avLst/>
            <a:gdLst/>
            <a:ahLst/>
            <a:cxnLst/>
            <a:rect l="l" t="t" r="r" b="b"/>
            <a:pathLst>
              <a:path w="1235075" h="9525">
                <a:moveTo>
                  <a:pt x="1235049" y="0"/>
                </a:moveTo>
                <a:lnTo>
                  <a:pt x="0" y="0"/>
                </a:lnTo>
                <a:lnTo>
                  <a:pt x="0" y="9144"/>
                </a:lnTo>
                <a:lnTo>
                  <a:pt x="1235049" y="9144"/>
                </a:lnTo>
                <a:lnTo>
                  <a:pt x="12350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656203" y="6971791"/>
            <a:ext cx="1496060" cy="5067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7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Here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NWC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25"/>
              </a:lnSpc>
            </a:pPr>
            <a:r>
              <a:rPr dirty="0" sz="1100" spc="5">
                <a:latin typeface="Garamond"/>
                <a:cs typeface="Garamond"/>
              </a:rPr>
              <a:t>$275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20X2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75"/>
              </a:lnSpc>
            </a:pPr>
            <a:r>
              <a:rPr dirty="0" sz="1100" spc="5">
                <a:latin typeface="Garamond"/>
                <a:cs typeface="Garamond"/>
              </a:rPr>
              <a:t>$252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20X1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68903" y="7446518"/>
            <a:ext cx="260985" cy="9525"/>
          </a:xfrm>
          <a:custGeom>
            <a:avLst/>
            <a:gdLst/>
            <a:ahLst/>
            <a:cxnLst/>
            <a:rect l="l" t="t" r="r" b="b"/>
            <a:pathLst>
              <a:path w="260985" h="9525">
                <a:moveTo>
                  <a:pt x="260908" y="0"/>
                </a:moveTo>
                <a:lnTo>
                  <a:pt x="0" y="0"/>
                </a:lnTo>
                <a:lnTo>
                  <a:pt x="0" y="9143"/>
                </a:lnTo>
                <a:lnTo>
                  <a:pt x="260908" y="9143"/>
                </a:lnTo>
                <a:lnTo>
                  <a:pt x="260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492377" y="7598409"/>
            <a:ext cx="12954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$275m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$761m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$486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69334" y="7442961"/>
            <a:ext cx="3085465" cy="351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9060">
              <a:lnSpc>
                <a:spcPts val="127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$23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70"/>
              </a:lnSpc>
            </a:pP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increase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6629" y="8065134"/>
            <a:ext cx="5670550" cy="15125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Debt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versus Equity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Generally,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bondholders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claim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flow.</a:t>
            </a:r>
            <a:endParaRPr sz="1100">
              <a:latin typeface="Garamond"/>
              <a:cs typeface="Garamond"/>
            </a:endParaRPr>
          </a:p>
          <a:p>
            <a:pPr marL="469900" marR="854710" indent="-4699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Thus </a:t>
            </a:r>
            <a:r>
              <a:rPr dirty="0" sz="1100" spc="-5">
                <a:latin typeface="Garamond"/>
                <a:cs typeface="Garamond"/>
              </a:rPr>
              <a:t>shareholder’s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residual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difference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5">
                <a:latin typeface="Garamond"/>
                <a:cs typeface="Garamond"/>
              </a:rPr>
              <a:t>liabilities.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Shareholders’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firm’s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“Financial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Leverage”</a:t>
            </a:r>
            <a:endParaRPr sz="1100">
              <a:latin typeface="Garamond"/>
              <a:cs typeface="Garamond"/>
            </a:endParaRPr>
          </a:p>
          <a:p>
            <a:pPr lvl="1" marL="699135" marR="5080" indent="-229235">
              <a:lnSpc>
                <a:spcPts val="1220"/>
              </a:lnSpc>
              <a:spcBef>
                <a:spcPts val="90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assets)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degree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leverage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Debt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sense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magnifies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gains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losses</a:t>
            </a:r>
            <a:endParaRPr sz="1100">
              <a:latin typeface="Garamond"/>
              <a:cs typeface="Garamond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92705" y="5600826"/>
            <a:ext cx="4725035" cy="2059305"/>
            <a:chOff x="2092705" y="5600826"/>
            <a:chExt cx="4725035" cy="2059305"/>
          </a:xfrm>
        </p:grpSpPr>
        <p:sp>
          <p:nvSpPr>
            <p:cNvPr id="14" name="object 14"/>
            <p:cNvSpPr/>
            <p:nvPr/>
          </p:nvSpPr>
          <p:spPr>
            <a:xfrm>
              <a:off x="2092706" y="5600826"/>
              <a:ext cx="4365625" cy="1209675"/>
            </a:xfrm>
            <a:custGeom>
              <a:avLst/>
              <a:gdLst/>
              <a:ahLst/>
              <a:cxnLst/>
              <a:rect l="l" t="t" r="r" b="b"/>
              <a:pathLst>
                <a:path w="4365625" h="1209675">
                  <a:moveTo>
                    <a:pt x="1517269" y="1185672"/>
                  </a:moveTo>
                  <a:lnTo>
                    <a:pt x="1516507" y="1183894"/>
                  </a:lnTo>
                  <a:lnTo>
                    <a:pt x="1479423" y="1097153"/>
                  </a:lnTo>
                  <a:lnTo>
                    <a:pt x="1478280" y="1094740"/>
                  </a:lnTo>
                  <a:lnTo>
                    <a:pt x="1475486" y="1093597"/>
                  </a:lnTo>
                  <a:lnTo>
                    <a:pt x="1470660" y="1095629"/>
                  </a:lnTo>
                  <a:lnTo>
                    <a:pt x="1469644" y="1098423"/>
                  </a:lnTo>
                  <a:lnTo>
                    <a:pt x="1470660" y="1100836"/>
                  </a:lnTo>
                  <a:lnTo>
                    <a:pt x="1498384" y="1165758"/>
                  </a:lnTo>
                  <a:lnTo>
                    <a:pt x="5588" y="57912"/>
                  </a:lnTo>
                  <a:lnTo>
                    <a:pt x="0" y="65532"/>
                  </a:lnTo>
                  <a:lnTo>
                    <a:pt x="1492770" y="1173454"/>
                  </a:lnTo>
                  <a:lnTo>
                    <a:pt x="1422527" y="1165606"/>
                  </a:lnTo>
                  <a:lnTo>
                    <a:pt x="1419987" y="1165352"/>
                  </a:lnTo>
                  <a:lnTo>
                    <a:pt x="1417574" y="1167257"/>
                  </a:lnTo>
                  <a:lnTo>
                    <a:pt x="1417320" y="1169797"/>
                  </a:lnTo>
                  <a:lnTo>
                    <a:pt x="1416939" y="1172464"/>
                  </a:lnTo>
                  <a:lnTo>
                    <a:pt x="1418844" y="1174750"/>
                  </a:lnTo>
                  <a:lnTo>
                    <a:pt x="1421511" y="1175131"/>
                  </a:lnTo>
                  <a:lnTo>
                    <a:pt x="1517269" y="1185672"/>
                  </a:lnTo>
                  <a:close/>
                </a:path>
                <a:path w="4365625" h="1209675">
                  <a:moveTo>
                    <a:pt x="4365244" y="1185672"/>
                  </a:moveTo>
                  <a:lnTo>
                    <a:pt x="4297553" y="1113536"/>
                  </a:lnTo>
                  <a:lnTo>
                    <a:pt x="4294505" y="1113409"/>
                  </a:lnTo>
                  <a:lnTo>
                    <a:pt x="4290695" y="1116965"/>
                  </a:lnTo>
                  <a:lnTo>
                    <a:pt x="4290568" y="1120013"/>
                  </a:lnTo>
                  <a:lnTo>
                    <a:pt x="4340530" y="1173353"/>
                  </a:lnTo>
                  <a:lnTo>
                    <a:pt x="394716" y="0"/>
                  </a:lnTo>
                  <a:lnTo>
                    <a:pt x="391922" y="9144"/>
                  </a:lnTo>
                  <a:lnTo>
                    <a:pt x="4338078" y="1182573"/>
                  </a:lnTo>
                  <a:lnTo>
                    <a:pt x="4266819" y="1199896"/>
                  </a:lnTo>
                  <a:lnTo>
                    <a:pt x="4265295" y="1202436"/>
                  </a:lnTo>
                  <a:lnTo>
                    <a:pt x="4265930" y="1204976"/>
                  </a:lnTo>
                  <a:lnTo>
                    <a:pt x="4266438" y="1207643"/>
                  </a:lnTo>
                  <a:lnTo>
                    <a:pt x="4269105" y="1209167"/>
                  </a:lnTo>
                  <a:lnTo>
                    <a:pt x="4357433" y="1187577"/>
                  </a:lnTo>
                  <a:lnTo>
                    <a:pt x="4365244" y="1185672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519169" y="6816978"/>
              <a:ext cx="422275" cy="200660"/>
            </a:xfrm>
            <a:custGeom>
              <a:avLst/>
              <a:gdLst/>
              <a:ahLst/>
              <a:cxnLst/>
              <a:rect l="l" t="t" r="r" b="b"/>
              <a:pathLst>
                <a:path w="422275" h="200659">
                  <a:moveTo>
                    <a:pt x="0" y="100329"/>
                  </a:moveTo>
                  <a:lnTo>
                    <a:pt x="40729" y="41093"/>
                  </a:lnTo>
                  <a:lnTo>
                    <a:pt x="86438" y="19369"/>
                  </a:lnTo>
                  <a:lnTo>
                    <a:pt x="144418" y="5118"/>
                  </a:lnTo>
                  <a:lnTo>
                    <a:pt x="211200" y="0"/>
                  </a:lnTo>
                  <a:lnTo>
                    <a:pt x="277921" y="5118"/>
                  </a:lnTo>
                  <a:lnTo>
                    <a:pt x="335864" y="19369"/>
                  </a:lnTo>
                  <a:lnTo>
                    <a:pt x="381553" y="41093"/>
                  </a:lnTo>
                  <a:lnTo>
                    <a:pt x="411515" y="68632"/>
                  </a:lnTo>
                  <a:lnTo>
                    <a:pt x="422275" y="100329"/>
                  </a:lnTo>
                  <a:lnTo>
                    <a:pt x="411515" y="132075"/>
                  </a:lnTo>
                  <a:lnTo>
                    <a:pt x="381553" y="159621"/>
                  </a:lnTo>
                  <a:lnTo>
                    <a:pt x="335864" y="181327"/>
                  </a:lnTo>
                  <a:lnTo>
                    <a:pt x="277921" y="195553"/>
                  </a:lnTo>
                  <a:lnTo>
                    <a:pt x="211200" y="200659"/>
                  </a:lnTo>
                  <a:lnTo>
                    <a:pt x="144418" y="195553"/>
                  </a:lnTo>
                  <a:lnTo>
                    <a:pt x="86438" y="181327"/>
                  </a:lnTo>
                  <a:lnTo>
                    <a:pt x="40729" y="159621"/>
                  </a:lnTo>
                  <a:lnTo>
                    <a:pt x="10760" y="132075"/>
                  </a:lnTo>
                  <a:lnTo>
                    <a:pt x="0" y="100329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168906" y="6906640"/>
              <a:ext cx="3594100" cy="753745"/>
            </a:xfrm>
            <a:custGeom>
              <a:avLst/>
              <a:gdLst/>
              <a:ahLst/>
              <a:cxnLst/>
              <a:rect l="l" t="t" r="r" b="b"/>
              <a:pathLst>
                <a:path w="3594100" h="753745">
                  <a:moveTo>
                    <a:pt x="860044" y="134874"/>
                  </a:moveTo>
                  <a:lnTo>
                    <a:pt x="761492" y="144145"/>
                  </a:lnTo>
                  <a:lnTo>
                    <a:pt x="759587" y="146431"/>
                  </a:lnTo>
                  <a:lnTo>
                    <a:pt x="760095" y="151638"/>
                  </a:lnTo>
                  <a:lnTo>
                    <a:pt x="762381" y="153670"/>
                  </a:lnTo>
                  <a:lnTo>
                    <a:pt x="835444" y="146697"/>
                  </a:lnTo>
                  <a:lnTo>
                    <a:pt x="0" y="745617"/>
                  </a:lnTo>
                  <a:lnTo>
                    <a:pt x="5588" y="753364"/>
                  </a:lnTo>
                  <a:lnTo>
                    <a:pt x="840816" y="154470"/>
                  </a:lnTo>
                  <a:lnTo>
                    <a:pt x="812038" y="218948"/>
                  </a:lnTo>
                  <a:lnTo>
                    <a:pt x="810895" y="221361"/>
                  </a:lnTo>
                  <a:lnTo>
                    <a:pt x="812038" y="224155"/>
                  </a:lnTo>
                  <a:lnTo>
                    <a:pt x="814451" y="225171"/>
                  </a:lnTo>
                  <a:lnTo>
                    <a:pt x="816864" y="226314"/>
                  </a:lnTo>
                  <a:lnTo>
                    <a:pt x="819658" y="225171"/>
                  </a:lnTo>
                  <a:lnTo>
                    <a:pt x="820674" y="222758"/>
                  </a:lnTo>
                  <a:lnTo>
                    <a:pt x="859294" y="136525"/>
                  </a:lnTo>
                  <a:lnTo>
                    <a:pt x="860044" y="134874"/>
                  </a:lnTo>
                  <a:close/>
                </a:path>
                <a:path w="3594100" h="753745">
                  <a:moveTo>
                    <a:pt x="3593719" y="29718"/>
                  </a:moveTo>
                  <a:lnTo>
                    <a:pt x="3585641" y="27178"/>
                  </a:lnTo>
                  <a:lnTo>
                    <a:pt x="3501771" y="762"/>
                  </a:lnTo>
                  <a:lnTo>
                    <a:pt x="3499231" y="0"/>
                  </a:lnTo>
                  <a:lnTo>
                    <a:pt x="3496564" y="1397"/>
                  </a:lnTo>
                  <a:lnTo>
                    <a:pt x="3495040" y="6477"/>
                  </a:lnTo>
                  <a:lnTo>
                    <a:pt x="3496437" y="9144"/>
                  </a:lnTo>
                  <a:lnTo>
                    <a:pt x="3498977" y="9906"/>
                  </a:lnTo>
                  <a:lnTo>
                    <a:pt x="3566363" y="31089"/>
                  </a:lnTo>
                  <a:lnTo>
                    <a:pt x="497078" y="728091"/>
                  </a:lnTo>
                  <a:lnTo>
                    <a:pt x="499110" y="737362"/>
                  </a:lnTo>
                  <a:lnTo>
                    <a:pt x="3568369" y="40360"/>
                  </a:lnTo>
                  <a:lnTo>
                    <a:pt x="3516757" y="88519"/>
                  </a:lnTo>
                  <a:lnTo>
                    <a:pt x="3514852" y="90424"/>
                  </a:lnTo>
                  <a:lnTo>
                    <a:pt x="3514725" y="93345"/>
                  </a:lnTo>
                  <a:lnTo>
                    <a:pt x="3516630" y="95250"/>
                  </a:lnTo>
                  <a:lnTo>
                    <a:pt x="3518408" y="97282"/>
                  </a:lnTo>
                  <a:lnTo>
                    <a:pt x="3521329" y="97282"/>
                  </a:lnTo>
                  <a:lnTo>
                    <a:pt x="3523361" y="95504"/>
                  </a:lnTo>
                  <a:lnTo>
                    <a:pt x="3593719" y="29718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907030" y="6813549"/>
              <a:ext cx="3897629" cy="200660"/>
            </a:xfrm>
            <a:custGeom>
              <a:avLst/>
              <a:gdLst/>
              <a:ahLst/>
              <a:cxnLst/>
              <a:rect l="l" t="t" r="r" b="b"/>
              <a:pathLst>
                <a:path w="3897629" h="200659">
                  <a:moveTo>
                    <a:pt x="3434079" y="100329"/>
                  </a:moveTo>
                  <a:lnTo>
                    <a:pt x="3465721" y="49652"/>
                  </a:lnTo>
                  <a:lnTo>
                    <a:pt x="3501961" y="29352"/>
                  </a:lnTo>
                  <a:lnTo>
                    <a:pt x="3548869" y="13678"/>
                  </a:lnTo>
                  <a:lnTo>
                    <a:pt x="3604236" y="3577"/>
                  </a:lnTo>
                  <a:lnTo>
                    <a:pt x="3665854" y="0"/>
                  </a:lnTo>
                  <a:lnTo>
                    <a:pt x="3727473" y="3577"/>
                  </a:lnTo>
                  <a:lnTo>
                    <a:pt x="3782840" y="13678"/>
                  </a:lnTo>
                  <a:lnTo>
                    <a:pt x="3829748" y="29352"/>
                  </a:lnTo>
                  <a:lnTo>
                    <a:pt x="3865988" y="49652"/>
                  </a:lnTo>
                  <a:lnTo>
                    <a:pt x="3897629" y="100329"/>
                  </a:lnTo>
                  <a:lnTo>
                    <a:pt x="3889351" y="126988"/>
                  </a:lnTo>
                  <a:lnTo>
                    <a:pt x="3829748" y="171259"/>
                  </a:lnTo>
                  <a:lnTo>
                    <a:pt x="3782840" y="186953"/>
                  </a:lnTo>
                  <a:lnTo>
                    <a:pt x="3727473" y="197073"/>
                  </a:lnTo>
                  <a:lnTo>
                    <a:pt x="3665854" y="200659"/>
                  </a:lnTo>
                  <a:lnTo>
                    <a:pt x="3604236" y="197073"/>
                  </a:lnTo>
                  <a:lnTo>
                    <a:pt x="3548869" y="186953"/>
                  </a:lnTo>
                  <a:lnTo>
                    <a:pt x="3501961" y="171259"/>
                  </a:lnTo>
                  <a:lnTo>
                    <a:pt x="3465721" y="150951"/>
                  </a:lnTo>
                  <a:lnTo>
                    <a:pt x="3434079" y="100329"/>
                  </a:lnTo>
                  <a:close/>
                </a:path>
                <a:path w="3897629" h="200659">
                  <a:moveTo>
                    <a:pt x="0" y="100329"/>
                  </a:moveTo>
                  <a:lnTo>
                    <a:pt x="40729" y="41038"/>
                  </a:lnTo>
                  <a:lnTo>
                    <a:pt x="86438" y="19332"/>
                  </a:lnTo>
                  <a:lnTo>
                    <a:pt x="144418" y="5106"/>
                  </a:lnTo>
                  <a:lnTo>
                    <a:pt x="211200" y="0"/>
                  </a:lnTo>
                  <a:lnTo>
                    <a:pt x="277921" y="5106"/>
                  </a:lnTo>
                  <a:lnTo>
                    <a:pt x="335864" y="19332"/>
                  </a:lnTo>
                  <a:lnTo>
                    <a:pt x="381553" y="41038"/>
                  </a:lnTo>
                  <a:lnTo>
                    <a:pt x="411515" y="68584"/>
                  </a:lnTo>
                  <a:lnTo>
                    <a:pt x="422274" y="100329"/>
                  </a:lnTo>
                  <a:lnTo>
                    <a:pt x="411515" y="132027"/>
                  </a:lnTo>
                  <a:lnTo>
                    <a:pt x="381553" y="159566"/>
                  </a:lnTo>
                  <a:lnTo>
                    <a:pt x="335864" y="181290"/>
                  </a:lnTo>
                  <a:lnTo>
                    <a:pt x="277921" y="195541"/>
                  </a:lnTo>
                  <a:lnTo>
                    <a:pt x="211200" y="200659"/>
                  </a:lnTo>
                  <a:lnTo>
                    <a:pt x="144418" y="195541"/>
                  </a:lnTo>
                  <a:lnTo>
                    <a:pt x="86438" y="181290"/>
                  </a:lnTo>
                  <a:lnTo>
                    <a:pt x="40729" y="159566"/>
                  </a:lnTo>
                  <a:lnTo>
                    <a:pt x="10760" y="132027"/>
                  </a:lnTo>
                  <a:lnTo>
                    <a:pt x="0" y="100329"/>
                  </a:lnTo>
                  <a:close/>
                </a:path>
                <a:path w="3897629" h="200659">
                  <a:moveTo>
                    <a:pt x="2853690" y="100329"/>
                  </a:moveTo>
                  <a:lnTo>
                    <a:pt x="2885331" y="49652"/>
                  </a:lnTo>
                  <a:lnTo>
                    <a:pt x="2921571" y="29352"/>
                  </a:lnTo>
                  <a:lnTo>
                    <a:pt x="2968479" y="13678"/>
                  </a:lnTo>
                  <a:lnTo>
                    <a:pt x="3023846" y="3577"/>
                  </a:lnTo>
                  <a:lnTo>
                    <a:pt x="3085465" y="0"/>
                  </a:lnTo>
                  <a:lnTo>
                    <a:pt x="3147083" y="3577"/>
                  </a:lnTo>
                  <a:lnTo>
                    <a:pt x="3202450" y="13678"/>
                  </a:lnTo>
                  <a:lnTo>
                    <a:pt x="3249358" y="29352"/>
                  </a:lnTo>
                  <a:lnTo>
                    <a:pt x="3285598" y="49652"/>
                  </a:lnTo>
                  <a:lnTo>
                    <a:pt x="3317240" y="100329"/>
                  </a:lnTo>
                  <a:lnTo>
                    <a:pt x="3308961" y="126988"/>
                  </a:lnTo>
                  <a:lnTo>
                    <a:pt x="3249358" y="171259"/>
                  </a:lnTo>
                  <a:lnTo>
                    <a:pt x="3202450" y="186953"/>
                  </a:lnTo>
                  <a:lnTo>
                    <a:pt x="3147083" y="197073"/>
                  </a:lnTo>
                  <a:lnTo>
                    <a:pt x="3085465" y="200659"/>
                  </a:lnTo>
                  <a:lnTo>
                    <a:pt x="3023846" y="197073"/>
                  </a:lnTo>
                  <a:lnTo>
                    <a:pt x="2968479" y="186953"/>
                  </a:lnTo>
                  <a:lnTo>
                    <a:pt x="2921571" y="171259"/>
                  </a:lnTo>
                  <a:lnTo>
                    <a:pt x="2885331" y="150951"/>
                  </a:lnTo>
                  <a:lnTo>
                    <a:pt x="2853690" y="100329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90193" y="5511672"/>
            <a:ext cx="5443855" cy="471170"/>
          </a:xfrm>
          <a:custGeom>
            <a:avLst/>
            <a:gdLst/>
            <a:ahLst/>
            <a:cxnLst/>
            <a:rect l="l" t="t" r="r" b="b"/>
            <a:pathLst>
              <a:path w="5443855" h="471170">
                <a:moveTo>
                  <a:pt x="5375135" y="0"/>
                </a:moveTo>
                <a:lnTo>
                  <a:pt x="68580" y="0"/>
                </a:lnTo>
                <a:lnTo>
                  <a:pt x="0" y="0"/>
                </a:lnTo>
                <a:lnTo>
                  <a:pt x="0" y="470916"/>
                </a:lnTo>
                <a:lnTo>
                  <a:pt x="68580" y="470916"/>
                </a:lnTo>
                <a:lnTo>
                  <a:pt x="5375135" y="470916"/>
                </a:lnTo>
                <a:lnTo>
                  <a:pt x="5375135" y="310896"/>
                </a:lnTo>
                <a:lnTo>
                  <a:pt x="5375135" y="155448"/>
                </a:lnTo>
                <a:lnTo>
                  <a:pt x="5375135" y="0"/>
                </a:lnTo>
                <a:close/>
              </a:path>
              <a:path w="5443855" h="471170">
                <a:moveTo>
                  <a:pt x="5443728" y="0"/>
                </a:moveTo>
                <a:lnTo>
                  <a:pt x="5375148" y="0"/>
                </a:lnTo>
                <a:lnTo>
                  <a:pt x="5375148" y="470916"/>
                </a:lnTo>
                <a:lnTo>
                  <a:pt x="5443728" y="470916"/>
                </a:lnTo>
                <a:lnTo>
                  <a:pt x="5443728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76629" y="869949"/>
            <a:ext cx="5669915" cy="51130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versus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Cost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10795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true </a:t>
            </a:r>
            <a:r>
              <a:rPr dirty="0" sz="1100">
                <a:latin typeface="Garamond"/>
                <a:cs typeface="Garamond"/>
              </a:rPr>
              <a:t>value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any </a:t>
            </a:r>
            <a:r>
              <a:rPr dirty="0" sz="1100" spc="-10">
                <a:latin typeface="Garamond"/>
                <a:cs typeface="Garamond"/>
              </a:rPr>
              <a:t>asset </a:t>
            </a:r>
            <a:r>
              <a:rPr dirty="0" sz="1100">
                <a:latin typeface="Garamond"/>
                <a:cs typeface="Garamond"/>
              </a:rPr>
              <a:t>is its market value, which is </a:t>
            </a:r>
            <a:r>
              <a:rPr dirty="0" sz="1100" spc="-5">
                <a:latin typeface="Garamond"/>
                <a:cs typeface="Garamond"/>
              </a:rPr>
              <a:t>simply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amount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>
                <a:latin typeface="Garamond"/>
                <a:cs typeface="Garamond"/>
              </a:rPr>
              <a:t>would </a:t>
            </a:r>
            <a:r>
              <a:rPr dirty="0" sz="1100" spc="-10">
                <a:latin typeface="Garamond"/>
                <a:cs typeface="Garamond"/>
              </a:rPr>
              <a:t>get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actually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it.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shown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sheet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generally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worth.</a:t>
            </a:r>
            <a:endParaRPr sz="1100">
              <a:latin typeface="Garamond"/>
              <a:cs typeface="Garamond"/>
            </a:endParaRPr>
          </a:p>
          <a:p>
            <a:pPr marL="469900" marR="952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standards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audited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carry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historical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cost.</a:t>
            </a:r>
            <a:endParaRPr sz="1100">
              <a:latin typeface="Garamond"/>
              <a:cs typeface="Garamond"/>
            </a:endParaRPr>
          </a:p>
          <a:p>
            <a:pPr marL="469900" marR="825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assets,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might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somewhat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since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bought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converted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relatively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marL="469900" marR="12700" indent="-228600">
              <a:lnSpc>
                <a:spcPts val="122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fixed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it’s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very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unlikely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equal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Example: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purchased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railroads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century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ago</a:t>
            </a:r>
            <a:endParaRPr sz="1100">
              <a:latin typeface="Garamond"/>
              <a:cs typeface="Garamond"/>
            </a:endParaRPr>
          </a:p>
          <a:p>
            <a:pPr marL="469900" marR="1079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Similarly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owner’s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figure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sheet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related.</a:t>
            </a:r>
            <a:endParaRPr sz="1100">
              <a:latin typeface="Garamond"/>
              <a:cs typeface="Garamond"/>
            </a:endParaRPr>
          </a:p>
          <a:p>
            <a:pPr marL="469900" marR="952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Managers,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matter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concern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rather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matters.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Market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vs.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Book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K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$700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appraised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$1,000</a:t>
            </a:r>
            <a:endParaRPr sz="1100">
              <a:latin typeface="Garamond"/>
              <a:cs typeface="Garamond"/>
            </a:endParaRPr>
          </a:p>
          <a:p>
            <a:pPr marL="469900" marR="6350" indent="-228600">
              <a:lnSpc>
                <a:spcPts val="1220"/>
              </a:lnSpc>
              <a:spcBef>
                <a:spcPts val="2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Net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>
                <a:latin typeface="Garamond"/>
                <a:cs typeface="Garamond"/>
              </a:rPr>
              <a:t> 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$400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books </a:t>
            </a:r>
            <a:r>
              <a:rPr dirty="0" sz="1100" spc="5">
                <a:latin typeface="Garamond"/>
                <a:cs typeface="Garamond"/>
              </a:rPr>
              <a:t>but </a:t>
            </a:r>
            <a:r>
              <a:rPr dirty="0" sz="1100">
                <a:latin typeface="Garamond"/>
                <a:cs typeface="Garamond"/>
              </a:rPr>
              <a:t>approx.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$600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5">
                <a:latin typeface="Garamond"/>
                <a:cs typeface="Garamond"/>
              </a:rPr>
              <a:t>realized</a:t>
            </a:r>
            <a:r>
              <a:rPr dirty="0" sz="1100">
                <a:latin typeface="Garamond"/>
                <a:cs typeface="Garamond"/>
              </a:rPr>
              <a:t> if</a:t>
            </a:r>
            <a:r>
              <a:rPr dirty="0" sz="1100" spc="5">
                <a:latin typeface="Garamond"/>
                <a:cs typeface="Garamond"/>
              </a:rPr>
              <a:t> the </a:t>
            </a:r>
            <a:r>
              <a:rPr dirty="0" sz="1100">
                <a:latin typeface="Garamond"/>
                <a:cs typeface="Garamond"/>
              </a:rPr>
              <a:t>current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liquidated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K </a:t>
            </a:r>
            <a:r>
              <a:rPr dirty="0" sz="1100">
                <a:latin typeface="Garamond"/>
                <a:cs typeface="Garamond"/>
              </a:rPr>
              <a:t>has </a:t>
            </a:r>
            <a:r>
              <a:rPr dirty="0" sz="1100" spc="-5">
                <a:latin typeface="Garamond"/>
                <a:cs typeface="Garamond"/>
              </a:rPr>
              <a:t>$500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long-term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&amp;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What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equity?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algn="ctr" marL="2414270" marR="2400935">
              <a:lnSpc>
                <a:spcPts val="1220"/>
              </a:lnSpc>
            </a:pPr>
            <a:r>
              <a:rPr dirty="0" sz="1100" spc="10" b="1">
                <a:latin typeface="Garamond"/>
                <a:cs typeface="Garamond"/>
              </a:rPr>
              <a:t>K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Corporation </a:t>
            </a:r>
            <a:r>
              <a:rPr dirty="0" sz="1100" spc="-26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Balance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Sheet</a:t>
            </a:r>
            <a:endParaRPr sz="1100">
              <a:latin typeface="Garamond"/>
              <a:cs typeface="Garamond"/>
            </a:endParaRPr>
          </a:p>
          <a:p>
            <a:pPr algn="ctr" marL="635">
              <a:lnSpc>
                <a:spcPts val="1205"/>
              </a:lnSpc>
            </a:pPr>
            <a:r>
              <a:rPr dirty="0" sz="1100" spc="-5" b="1">
                <a:latin typeface="Garamond"/>
                <a:cs typeface="Garamond"/>
              </a:rPr>
              <a:t>Market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vs.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Book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2980" y="5961125"/>
            <a:ext cx="40449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A</a:t>
            </a:r>
            <a:r>
              <a:rPr dirty="0" u="sng" sz="1100" spc="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s</a:t>
            </a:r>
            <a:r>
              <a:rPr dirty="0" u="sng" sz="1100" spc="1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s</a:t>
            </a:r>
            <a:r>
              <a:rPr dirty="0" u="sng" sz="1100" spc="-1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e</a:t>
            </a:r>
            <a:r>
              <a:rPr dirty="0" u="sng" sz="1100" spc="1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t</a:t>
            </a:r>
            <a:r>
              <a:rPr dirty="0" u="sng" sz="1100" spc="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91460" y="5961125"/>
            <a:ext cx="3435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Bo</a:t>
            </a:r>
            <a:r>
              <a:rPr dirty="0" sz="1100" spc="-5" b="1">
                <a:latin typeface="Garamond"/>
                <a:cs typeface="Garamond"/>
              </a:rPr>
              <a:t>o</a:t>
            </a:r>
            <a:r>
              <a:rPr dirty="0" sz="1100" spc="5" b="1">
                <a:latin typeface="Garamond"/>
                <a:cs typeface="Garamond"/>
              </a:rPr>
              <a:t>k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91027" y="5961125"/>
            <a:ext cx="44958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0" b="1">
                <a:latin typeface="Garamond"/>
                <a:cs typeface="Garamond"/>
              </a:rPr>
              <a:t>Market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96816" y="5979413"/>
            <a:ext cx="136207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Liabilities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(Debt)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baseline="7575" sz="1650" spc="7" b="1">
                <a:latin typeface="Garamond"/>
                <a:cs typeface="Garamond"/>
              </a:rPr>
              <a:t>and</a:t>
            </a:r>
            <a:endParaRPr baseline="7575" sz="165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95873" y="5961125"/>
            <a:ext cx="3435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Bo</a:t>
            </a:r>
            <a:r>
              <a:rPr dirty="0" sz="1100" spc="-5" b="1">
                <a:latin typeface="Garamond"/>
                <a:cs typeface="Garamond"/>
              </a:rPr>
              <a:t>o</a:t>
            </a:r>
            <a:r>
              <a:rPr dirty="0" sz="1100" spc="5" b="1">
                <a:latin typeface="Garamond"/>
                <a:cs typeface="Garamond"/>
              </a:rPr>
              <a:t>k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95186" y="5961125"/>
            <a:ext cx="44958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0" b="1">
                <a:latin typeface="Garamond"/>
                <a:cs typeface="Garamond"/>
              </a:rPr>
              <a:t>Market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0193" y="5982588"/>
            <a:ext cx="5443855" cy="9525"/>
          </a:xfrm>
          <a:custGeom>
            <a:avLst/>
            <a:gdLst/>
            <a:ahLst/>
            <a:cxnLst/>
            <a:rect l="l" t="t" r="r" b="b"/>
            <a:pathLst>
              <a:path w="5443855" h="9525">
                <a:moveTo>
                  <a:pt x="2639542" y="0"/>
                </a:moveTo>
                <a:lnTo>
                  <a:pt x="2639542" y="0"/>
                </a:lnTo>
                <a:lnTo>
                  <a:pt x="0" y="0"/>
                </a:lnTo>
                <a:lnTo>
                  <a:pt x="0" y="9144"/>
                </a:lnTo>
                <a:lnTo>
                  <a:pt x="2639542" y="9144"/>
                </a:lnTo>
                <a:lnTo>
                  <a:pt x="2639542" y="0"/>
                </a:lnTo>
                <a:close/>
              </a:path>
              <a:path w="5443855" h="9525">
                <a:moveTo>
                  <a:pt x="4135488" y="0"/>
                </a:moveTo>
                <a:lnTo>
                  <a:pt x="2648712" y="0"/>
                </a:lnTo>
                <a:lnTo>
                  <a:pt x="2639568" y="0"/>
                </a:lnTo>
                <a:lnTo>
                  <a:pt x="2639568" y="9144"/>
                </a:lnTo>
                <a:lnTo>
                  <a:pt x="2648712" y="9144"/>
                </a:lnTo>
                <a:lnTo>
                  <a:pt x="4135488" y="9144"/>
                </a:lnTo>
                <a:lnTo>
                  <a:pt x="4135488" y="0"/>
                </a:lnTo>
                <a:close/>
              </a:path>
              <a:path w="5443855" h="9525">
                <a:moveTo>
                  <a:pt x="4817034" y="0"/>
                </a:moveTo>
                <a:lnTo>
                  <a:pt x="4144645" y="0"/>
                </a:lnTo>
                <a:lnTo>
                  <a:pt x="4135501" y="0"/>
                </a:lnTo>
                <a:lnTo>
                  <a:pt x="4135501" y="9144"/>
                </a:lnTo>
                <a:lnTo>
                  <a:pt x="4144645" y="9144"/>
                </a:lnTo>
                <a:lnTo>
                  <a:pt x="4817034" y="9144"/>
                </a:lnTo>
                <a:lnTo>
                  <a:pt x="4817034" y="0"/>
                </a:lnTo>
                <a:close/>
              </a:path>
              <a:path w="5443855" h="9525">
                <a:moveTo>
                  <a:pt x="5443779" y="0"/>
                </a:moveTo>
                <a:lnTo>
                  <a:pt x="4826254" y="0"/>
                </a:lnTo>
                <a:lnTo>
                  <a:pt x="4817110" y="0"/>
                </a:lnTo>
                <a:lnTo>
                  <a:pt x="4817110" y="9144"/>
                </a:lnTo>
                <a:lnTo>
                  <a:pt x="4826254" y="9144"/>
                </a:lnTo>
                <a:lnTo>
                  <a:pt x="5443779" y="9144"/>
                </a:lnTo>
                <a:lnTo>
                  <a:pt x="54437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346072" y="6290309"/>
            <a:ext cx="1126490" cy="5251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98300"/>
              </a:lnSpc>
              <a:spcBef>
                <a:spcPts val="135"/>
              </a:spcBef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 </a:t>
            </a:r>
            <a:r>
              <a:rPr dirty="0" sz="1100" spc="-10">
                <a:latin typeface="Garamond"/>
                <a:cs typeface="Garamond"/>
              </a:rPr>
              <a:t>Fixed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TOTAL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60877" y="6290309"/>
            <a:ext cx="2882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-15">
                <a:latin typeface="Garamond"/>
                <a:cs typeface="Garamond"/>
              </a:rPr>
              <a:t>4</a:t>
            </a:r>
            <a:r>
              <a:rPr dirty="0" sz="1100" spc="20">
                <a:latin typeface="Garamond"/>
                <a:cs typeface="Garamond"/>
              </a:rPr>
              <a:t>0</a:t>
            </a:r>
            <a:r>
              <a:rPr dirty="0" sz="1100" spc="5">
                <a:latin typeface="Garamond"/>
                <a:cs typeface="Garamond"/>
              </a:rPr>
              <a:t>0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87622" y="6134861"/>
            <a:ext cx="1720850" cy="351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9900">
              <a:lnSpc>
                <a:spcPts val="1270"/>
              </a:lnSpc>
              <a:spcBef>
                <a:spcPts val="114"/>
              </a:spcBef>
            </a:pP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Stockholder's</a:t>
            </a:r>
            <a:r>
              <a:rPr dirty="0" u="sng" sz="1100" spc="-5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70"/>
              </a:lnSpc>
              <a:tabLst>
                <a:tab pos="410209" algn="l"/>
              </a:tabLst>
            </a:pPr>
            <a:r>
              <a:rPr dirty="0" sz="1100" spc="5">
                <a:latin typeface="Garamond"/>
                <a:cs typeface="Garamond"/>
              </a:rPr>
              <a:t>$600	</a:t>
            </a: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65038" y="6290309"/>
            <a:ext cx="915669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39445" algn="l"/>
              </a:tabLst>
            </a:pP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-15">
                <a:latin typeface="Garamond"/>
                <a:cs typeface="Garamond"/>
              </a:rPr>
              <a:t>5</a:t>
            </a:r>
            <a:r>
              <a:rPr dirty="0" sz="1100" spc="20">
                <a:latin typeface="Garamond"/>
                <a:cs typeface="Garamond"/>
              </a:rPr>
              <a:t>0</a:t>
            </a:r>
            <a:r>
              <a:rPr dirty="0" sz="1100" spc="5">
                <a:latin typeface="Garamond"/>
                <a:cs typeface="Garamond"/>
              </a:rPr>
              <a:t>0</a:t>
            </a:r>
            <a:r>
              <a:rPr dirty="0" sz="1100">
                <a:latin typeface="Garamond"/>
                <a:cs typeface="Garamond"/>
              </a:rPr>
              <a:t>	</a:t>
            </a: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-15">
                <a:latin typeface="Garamond"/>
                <a:cs typeface="Garamond"/>
              </a:rPr>
              <a:t>5</a:t>
            </a:r>
            <a:r>
              <a:rPr dirty="0" sz="1100" spc="20">
                <a:latin typeface="Garamond"/>
                <a:cs typeface="Garamond"/>
              </a:rPr>
              <a:t>0</a:t>
            </a:r>
            <a:r>
              <a:rPr dirty="0" sz="1100" spc="5">
                <a:latin typeface="Garamond"/>
                <a:cs typeface="Garamond"/>
              </a:rPr>
              <a:t>0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08579" y="6450329"/>
            <a:ext cx="249936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64490" algn="l"/>
                <a:tab pos="895350" algn="l"/>
              </a:tabLst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	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$700	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$1,000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Shareholders’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12994" y="6450329"/>
            <a:ext cx="13341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64490" algn="l"/>
                <a:tab pos="895350" algn="l"/>
              </a:tabLst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	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$600	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$1,100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64866" y="6619747"/>
            <a:ext cx="163385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38810" algn="l"/>
                <a:tab pos="1132840" algn="l"/>
              </a:tabLst>
            </a:pP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20">
                <a:latin typeface="Garamond"/>
                <a:cs typeface="Garamond"/>
              </a:rPr>
              <a:t>1</a:t>
            </a:r>
            <a:r>
              <a:rPr dirty="0" sz="1100" spc="-30">
                <a:latin typeface="Garamond"/>
                <a:cs typeface="Garamond"/>
              </a:rPr>
              <a:t>,</a:t>
            </a:r>
            <a:r>
              <a:rPr dirty="0" sz="1100" spc="-15">
                <a:latin typeface="Garamond"/>
                <a:cs typeface="Garamond"/>
              </a:rPr>
              <a:t>1</a:t>
            </a:r>
            <a:r>
              <a:rPr dirty="0" sz="1100" spc="20">
                <a:latin typeface="Garamond"/>
                <a:cs typeface="Garamond"/>
              </a:rPr>
              <a:t>0</a:t>
            </a:r>
            <a:r>
              <a:rPr dirty="0" sz="1100" spc="5">
                <a:latin typeface="Garamond"/>
                <a:cs typeface="Garamond"/>
              </a:rPr>
              <a:t>0</a:t>
            </a:r>
            <a:r>
              <a:rPr dirty="0" sz="1100">
                <a:latin typeface="Garamond"/>
                <a:cs typeface="Garamond"/>
              </a:rPr>
              <a:t>	</a:t>
            </a: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20">
                <a:latin typeface="Garamond"/>
                <a:cs typeface="Garamond"/>
              </a:rPr>
              <a:t>1</a:t>
            </a:r>
            <a:r>
              <a:rPr dirty="0" sz="1100" spc="-30">
                <a:latin typeface="Garamond"/>
                <a:cs typeface="Garamond"/>
              </a:rPr>
              <a:t>,</a:t>
            </a:r>
            <a:r>
              <a:rPr dirty="0" sz="1100" spc="-15">
                <a:latin typeface="Garamond"/>
                <a:cs typeface="Garamond"/>
              </a:rPr>
              <a:t>6</a:t>
            </a:r>
            <a:r>
              <a:rPr dirty="0" sz="1100" spc="20">
                <a:latin typeface="Garamond"/>
                <a:cs typeface="Garamond"/>
              </a:rPr>
              <a:t>0</a:t>
            </a:r>
            <a:r>
              <a:rPr dirty="0" sz="1100" spc="5">
                <a:latin typeface="Garamond"/>
                <a:cs typeface="Garamond"/>
              </a:rPr>
              <a:t>0</a:t>
            </a:r>
            <a:r>
              <a:rPr dirty="0" sz="1100">
                <a:latin typeface="Garamond"/>
                <a:cs typeface="Garamond"/>
              </a:rPr>
              <a:t>	</a:t>
            </a:r>
            <a:r>
              <a:rPr dirty="0" sz="1100" spc="-5" b="1">
                <a:latin typeface="Garamond"/>
                <a:cs typeface="Garamond"/>
              </a:rPr>
              <a:t>T</a:t>
            </a:r>
            <a:r>
              <a:rPr dirty="0" sz="1100" spc="25" b="1">
                <a:latin typeface="Garamond"/>
                <a:cs typeface="Garamond"/>
              </a:rPr>
              <a:t>O</a:t>
            </a:r>
            <a:r>
              <a:rPr dirty="0" sz="1100" spc="-5" b="1">
                <a:latin typeface="Garamond"/>
                <a:cs typeface="Garamond"/>
              </a:rPr>
              <a:t>TA</a:t>
            </a:r>
            <a:r>
              <a:rPr dirty="0" sz="1100" spc="10" b="1">
                <a:latin typeface="Garamond"/>
                <a:cs typeface="Garamond"/>
              </a:rPr>
              <a:t>L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69026" y="6619747"/>
            <a:ext cx="101155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38810" algn="l"/>
              </a:tabLst>
            </a:pP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20">
                <a:latin typeface="Garamond"/>
                <a:cs typeface="Garamond"/>
              </a:rPr>
              <a:t>1</a:t>
            </a:r>
            <a:r>
              <a:rPr dirty="0" sz="1100" spc="-30">
                <a:latin typeface="Garamond"/>
                <a:cs typeface="Garamond"/>
              </a:rPr>
              <a:t>,</a:t>
            </a:r>
            <a:r>
              <a:rPr dirty="0" sz="1100" spc="-15">
                <a:latin typeface="Garamond"/>
                <a:cs typeface="Garamond"/>
              </a:rPr>
              <a:t>1</a:t>
            </a:r>
            <a:r>
              <a:rPr dirty="0" sz="1100" spc="20">
                <a:latin typeface="Garamond"/>
                <a:cs typeface="Garamond"/>
              </a:rPr>
              <a:t>0</a:t>
            </a:r>
            <a:r>
              <a:rPr dirty="0" sz="1100" spc="5">
                <a:latin typeface="Garamond"/>
                <a:cs typeface="Garamond"/>
              </a:rPr>
              <a:t>0</a:t>
            </a:r>
            <a:r>
              <a:rPr dirty="0" sz="1100">
                <a:latin typeface="Garamond"/>
                <a:cs typeface="Garamond"/>
              </a:rPr>
              <a:t>	</a:t>
            </a: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20">
                <a:latin typeface="Garamond"/>
                <a:cs typeface="Garamond"/>
              </a:rPr>
              <a:t>1</a:t>
            </a:r>
            <a:r>
              <a:rPr dirty="0" sz="1100" spc="-30">
                <a:latin typeface="Garamond"/>
                <a:cs typeface="Garamond"/>
              </a:rPr>
              <a:t>,</a:t>
            </a:r>
            <a:r>
              <a:rPr dirty="0" sz="1100" spc="-15">
                <a:latin typeface="Garamond"/>
                <a:cs typeface="Garamond"/>
              </a:rPr>
              <a:t>6</a:t>
            </a:r>
            <a:r>
              <a:rPr dirty="0" sz="1100" spc="20">
                <a:latin typeface="Garamond"/>
                <a:cs typeface="Garamond"/>
              </a:rPr>
              <a:t>0</a:t>
            </a:r>
            <a:r>
              <a:rPr dirty="0" sz="1100" spc="5">
                <a:latin typeface="Garamond"/>
                <a:cs typeface="Garamond"/>
              </a:rPr>
              <a:t>0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12136" y="6819912"/>
            <a:ext cx="1317625" cy="13970"/>
          </a:xfrm>
          <a:custGeom>
            <a:avLst/>
            <a:gdLst/>
            <a:ahLst/>
            <a:cxnLst/>
            <a:rect l="l" t="t" r="r" b="b"/>
            <a:pathLst>
              <a:path w="1317625" h="13970">
                <a:moveTo>
                  <a:pt x="695185" y="9144"/>
                </a:moveTo>
                <a:lnTo>
                  <a:pt x="690676" y="9144"/>
                </a:lnTo>
                <a:lnTo>
                  <a:pt x="681469" y="9144"/>
                </a:lnTo>
                <a:lnTo>
                  <a:pt x="0" y="9144"/>
                </a:lnTo>
                <a:lnTo>
                  <a:pt x="0" y="13703"/>
                </a:lnTo>
                <a:lnTo>
                  <a:pt x="681469" y="13703"/>
                </a:lnTo>
                <a:lnTo>
                  <a:pt x="690676" y="13703"/>
                </a:lnTo>
                <a:lnTo>
                  <a:pt x="695185" y="13703"/>
                </a:lnTo>
                <a:lnTo>
                  <a:pt x="695185" y="9144"/>
                </a:lnTo>
                <a:close/>
              </a:path>
              <a:path w="1317625" h="13970">
                <a:moveTo>
                  <a:pt x="695185" y="0"/>
                </a:moveTo>
                <a:lnTo>
                  <a:pt x="690676" y="0"/>
                </a:lnTo>
                <a:lnTo>
                  <a:pt x="681469" y="0"/>
                </a:lnTo>
                <a:lnTo>
                  <a:pt x="0" y="0"/>
                </a:lnTo>
                <a:lnTo>
                  <a:pt x="0" y="4559"/>
                </a:lnTo>
                <a:lnTo>
                  <a:pt x="681469" y="4559"/>
                </a:lnTo>
                <a:lnTo>
                  <a:pt x="690676" y="4559"/>
                </a:lnTo>
                <a:lnTo>
                  <a:pt x="695185" y="4559"/>
                </a:lnTo>
                <a:lnTo>
                  <a:pt x="695185" y="0"/>
                </a:lnTo>
                <a:close/>
              </a:path>
              <a:path w="1317625" h="13970">
                <a:moveTo>
                  <a:pt x="1317599" y="9144"/>
                </a:moveTo>
                <a:lnTo>
                  <a:pt x="695198" y="9144"/>
                </a:lnTo>
                <a:lnTo>
                  <a:pt x="695198" y="13703"/>
                </a:lnTo>
                <a:lnTo>
                  <a:pt x="1317599" y="13703"/>
                </a:lnTo>
                <a:lnTo>
                  <a:pt x="1317599" y="9144"/>
                </a:lnTo>
                <a:close/>
              </a:path>
              <a:path w="1317625" h="13970">
                <a:moveTo>
                  <a:pt x="1317599" y="0"/>
                </a:moveTo>
                <a:lnTo>
                  <a:pt x="695198" y="0"/>
                </a:lnTo>
                <a:lnTo>
                  <a:pt x="695198" y="4559"/>
                </a:lnTo>
                <a:lnTo>
                  <a:pt x="1317599" y="4559"/>
                </a:lnTo>
                <a:lnTo>
                  <a:pt x="13175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416550" y="6819912"/>
            <a:ext cx="1317625" cy="13970"/>
          </a:xfrm>
          <a:custGeom>
            <a:avLst/>
            <a:gdLst/>
            <a:ahLst/>
            <a:cxnLst/>
            <a:rect l="l" t="t" r="r" b="b"/>
            <a:pathLst>
              <a:path w="1317625" h="13970">
                <a:moveTo>
                  <a:pt x="1317421" y="9144"/>
                </a:moveTo>
                <a:lnTo>
                  <a:pt x="695325" y="9144"/>
                </a:lnTo>
                <a:lnTo>
                  <a:pt x="690676" y="9144"/>
                </a:lnTo>
                <a:lnTo>
                  <a:pt x="681609" y="9144"/>
                </a:lnTo>
                <a:lnTo>
                  <a:pt x="0" y="9144"/>
                </a:lnTo>
                <a:lnTo>
                  <a:pt x="0" y="13703"/>
                </a:lnTo>
                <a:lnTo>
                  <a:pt x="681609" y="13703"/>
                </a:lnTo>
                <a:lnTo>
                  <a:pt x="690676" y="13703"/>
                </a:lnTo>
                <a:lnTo>
                  <a:pt x="695325" y="13703"/>
                </a:lnTo>
                <a:lnTo>
                  <a:pt x="1317421" y="13703"/>
                </a:lnTo>
                <a:lnTo>
                  <a:pt x="1317421" y="9144"/>
                </a:lnTo>
                <a:close/>
              </a:path>
              <a:path w="1317625" h="13970">
                <a:moveTo>
                  <a:pt x="1317421" y="0"/>
                </a:moveTo>
                <a:lnTo>
                  <a:pt x="695325" y="0"/>
                </a:lnTo>
                <a:lnTo>
                  <a:pt x="690676" y="0"/>
                </a:lnTo>
                <a:lnTo>
                  <a:pt x="681609" y="0"/>
                </a:lnTo>
                <a:lnTo>
                  <a:pt x="0" y="0"/>
                </a:lnTo>
                <a:lnTo>
                  <a:pt x="0" y="4559"/>
                </a:lnTo>
                <a:lnTo>
                  <a:pt x="681609" y="4559"/>
                </a:lnTo>
                <a:lnTo>
                  <a:pt x="690676" y="4559"/>
                </a:lnTo>
                <a:lnTo>
                  <a:pt x="695325" y="4559"/>
                </a:lnTo>
                <a:lnTo>
                  <a:pt x="1317421" y="4559"/>
                </a:lnTo>
                <a:lnTo>
                  <a:pt x="13174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44895" y="714501"/>
            <a:ext cx="68707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5" b="1">
                <a:latin typeface="Garamond"/>
                <a:cs typeface="Garamond"/>
              </a:rPr>
              <a:t>L</a:t>
            </a:r>
            <a:r>
              <a:rPr dirty="0" sz="1100" spc="5" b="1">
                <a:latin typeface="Garamond"/>
                <a:cs typeface="Garamond"/>
              </a:rPr>
              <a:t>E</a:t>
            </a:r>
            <a:r>
              <a:rPr dirty="0" sz="1100" spc="-25" b="1">
                <a:latin typeface="Garamond"/>
                <a:cs typeface="Garamond"/>
              </a:rPr>
              <a:t>SS</a:t>
            </a:r>
            <a:r>
              <a:rPr dirty="0" sz="1100" spc="25" b="1">
                <a:latin typeface="Garamond"/>
                <a:cs typeface="Garamond"/>
              </a:rPr>
              <a:t>O</a:t>
            </a:r>
            <a:r>
              <a:rPr dirty="0" sz="1100" spc="10" b="1">
                <a:latin typeface="Garamond"/>
                <a:cs typeface="Garamond"/>
              </a:rPr>
              <a:t>N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5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869949"/>
            <a:ext cx="5664835" cy="1965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892935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THE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INCOME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Income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30"/>
              </a:lnSpc>
              <a:spcBef>
                <a:spcPts val="9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5">
                <a:latin typeface="Garamond"/>
                <a:cs typeface="Garamond"/>
              </a:rPr>
              <a:t>think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balance </a:t>
            </a:r>
            <a:r>
              <a:rPr dirty="0" sz="1100" spc="-5">
                <a:latin typeface="Garamond"/>
                <a:cs typeface="Garamond"/>
              </a:rPr>
              <a:t>sheet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snapshot then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>
                <a:latin typeface="Garamond"/>
                <a:cs typeface="Garamond"/>
              </a:rPr>
              <a:t>can </a:t>
            </a:r>
            <a:r>
              <a:rPr dirty="0" sz="1100" spc="-5">
                <a:latin typeface="Garamond"/>
                <a:cs typeface="Garamond"/>
              </a:rPr>
              <a:t>think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income statement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video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recording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covering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before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after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picture.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statement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performance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specific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definition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842135">
              <a:lnSpc>
                <a:spcPct val="100000"/>
              </a:lnSpc>
              <a:spcBef>
                <a:spcPts val="1205"/>
              </a:spcBef>
            </a:pPr>
            <a:r>
              <a:rPr dirty="0" sz="1100">
                <a:latin typeface="Garamond"/>
                <a:cs typeface="Garamond"/>
              </a:rPr>
              <a:t>Revenue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Expenses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≡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XYZ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Corporation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Income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266185" y="3014217"/>
          <a:ext cx="4488180" cy="2983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2204"/>
                <a:gridCol w="815340"/>
              </a:tblGrid>
              <a:tr h="554191">
                <a:tc>
                  <a:txBody>
                    <a:bodyPr/>
                    <a:lstStyle/>
                    <a:p>
                      <a:pPr algn="ctr" marL="810260" marR="835025">
                        <a:lnSpc>
                          <a:spcPts val="114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276350" marR="1301115">
                        <a:lnSpc>
                          <a:spcPct val="70900"/>
                        </a:lnSpc>
                        <a:spcBef>
                          <a:spcPts val="33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Income Statement </a:t>
                      </a:r>
                      <a:r>
                        <a:rPr dirty="0" sz="1100" spc="-26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814705" marR="835025">
                        <a:lnSpc>
                          <a:spcPts val="869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58019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Tot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v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4810" marR="3175">
                        <a:lnSpc>
                          <a:spcPts val="1185"/>
                        </a:lnSpc>
                      </a:pPr>
                      <a:r>
                        <a:rPr dirty="0" sz="1100" spc="-20">
                          <a:latin typeface="Garamond"/>
                          <a:cs typeface="Garamond"/>
                        </a:rPr>
                        <a:t>$2,262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861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goods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sold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5920" marR="3175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1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,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65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861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Selling,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general,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administrative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1805" marR="3175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327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305">
                <a:tc>
                  <a:txBody>
                    <a:bodyPr/>
                    <a:lstStyle/>
                    <a:p>
                      <a:pPr marL="68580" marR="258445">
                        <a:lnSpc>
                          <a:spcPts val="1165"/>
                        </a:lnSpc>
                        <a:tabLst>
                          <a:tab pos="2616835" algn="l"/>
                          <a:tab pos="3398520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</a:pPr>
                      <a:r>
                        <a:rPr dirty="0" u="sng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-90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592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9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6250" marR="3175">
                        <a:lnSpc>
                          <a:spcPts val="119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782">
                <a:tc>
                  <a:txBody>
                    <a:bodyPr/>
                    <a:lstStyle/>
                    <a:p>
                      <a:pPr marL="68580" marR="222250">
                        <a:lnSpc>
                          <a:spcPts val="1185"/>
                        </a:lnSpc>
                        <a:tabLst>
                          <a:tab pos="2616835" algn="l"/>
                          <a:tab pos="3435350" algn="l"/>
                        </a:tabLst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Other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	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u="sng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29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496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Earnings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before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6250" marR="3175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$219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305">
                <a:tc>
                  <a:txBody>
                    <a:bodyPr/>
                    <a:lstStyle/>
                    <a:p>
                      <a:pPr marL="68580" marR="267970">
                        <a:lnSpc>
                          <a:spcPts val="1165"/>
                        </a:lnSpc>
                        <a:tabLst>
                          <a:tab pos="2616835" algn="l"/>
                          <a:tab pos="3394075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-49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592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9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Pretax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6250" marR="3175">
                        <a:lnSpc>
                          <a:spcPts val="119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478027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3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68580" marR="835025">
                        <a:lnSpc>
                          <a:spcPts val="12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Current: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$71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68580">
                        <a:lnSpc>
                          <a:spcPts val="1275"/>
                        </a:lnSpc>
                        <a:tabLst>
                          <a:tab pos="2616835" algn="l"/>
                          <a:tab pos="3669029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Deferred: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$13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0485">
                        <a:lnSpc>
                          <a:spcPts val="118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-84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3736">
                <a:tc>
                  <a:txBody>
                    <a:bodyPr/>
                    <a:lstStyle/>
                    <a:p>
                      <a:pPr marL="68580" marR="286385">
                        <a:lnSpc>
                          <a:spcPts val="1240"/>
                        </a:lnSpc>
                        <a:tabLst>
                          <a:tab pos="2616835" algn="l"/>
                          <a:tab pos="3375660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me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0"/>
                        </a:lnSpc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$86</a:t>
                      </a:r>
                      <a:r>
                        <a:rPr dirty="0" u="dbl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591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95"/>
                        </a:lnSpc>
                      </a:pP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et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ed</a:t>
                      </a:r>
                      <a:r>
                        <a:rPr dirty="0" sz="1100" spc="-114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19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448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Dividends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266185" y="6312153"/>
          <a:ext cx="4488180" cy="2996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2204"/>
                <a:gridCol w="815340"/>
              </a:tblGrid>
              <a:tr h="565907">
                <a:tc>
                  <a:txBody>
                    <a:bodyPr/>
                    <a:lstStyle/>
                    <a:p>
                      <a:pPr algn="ctr" marL="828675" marR="835025">
                        <a:lnSpc>
                          <a:spcPts val="114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285240" marR="1291590">
                        <a:lnSpc>
                          <a:spcPct val="70900"/>
                        </a:lnSpc>
                        <a:spcBef>
                          <a:spcPts val="33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Income Statement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833119" marR="835025">
                        <a:lnSpc>
                          <a:spcPts val="98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7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Tot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v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4810" marR="3175">
                        <a:lnSpc>
                          <a:spcPts val="1170"/>
                        </a:lnSpc>
                      </a:pPr>
                      <a:r>
                        <a:rPr dirty="0" sz="1100" spc="-20">
                          <a:latin typeface="Garamond"/>
                          <a:cs typeface="Garamond"/>
                        </a:rPr>
                        <a:t>$2,262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733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goods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sold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5920" marR="3175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1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,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65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5575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Selling,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general,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administrative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1805" marR="3175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327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719">
                <a:tc>
                  <a:txBody>
                    <a:bodyPr/>
                    <a:lstStyle/>
                    <a:p>
                      <a:pPr marL="68580" marR="258445">
                        <a:lnSpc>
                          <a:spcPts val="1165"/>
                        </a:lnSpc>
                        <a:tabLst>
                          <a:tab pos="2616835" algn="l"/>
                          <a:tab pos="3398520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</a:pPr>
                      <a:r>
                        <a:rPr dirty="0" u="sng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-90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592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9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6250" marR="3175">
                        <a:lnSpc>
                          <a:spcPts val="119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306">
                <a:tc>
                  <a:txBody>
                    <a:bodyPr/>
                    <a:lstStyle/>
                    <a:p>
                      <a:pPr marL="68580" marR="222250">
                        <a:lnSpc>
                          <a:spcPts val="1165"/>
                        </a:lnSpc>
                        <a:tabLst>
                          <a:tab pos="2616835" algn="l"/>
                          <a:tab pos="3435350" algn="l"/>
                        </a:tabLst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Other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	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</a:pPr>
                      <a:r>
                        <a:rPr dirty="0" u="sng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29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306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Earnings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before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6250" marR="3175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$219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782">
                <a:tc>
                  <a:txBody>
                    <a:bodyPr/>
                    <a:lstStyle/>
                    <a:p>
                      <a:pPr marL="68580" marR="267970">
                        <a:lnSpc>
                          <a:spcPts val="1165"/>
                        </a:lnSpc>
                        <a:tabLst>
                          <a:tab pos="2616835" algn="l"/>
                          <a:tab pos="3394075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-49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782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9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Pretax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6250" marR="3175">
                        <a:lnSpc>
                          <a:spcPts val="119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477900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68580" marR="835025">
                        <a:lnSpc>
                          <a:spcPts val="12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Current: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$71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68580">
                        <a:lnSpc>
                          <a:spcPts val="1290"/>
                        </a:lnSpc>
                        <a:tabLst>
                          <a:tab pos="2616835" algn="l"/>
                          <a:tab pos="3669029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Deferred: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$13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048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-84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577">
                <a:tc>
                  <a:txBody>
                    <a:bodyPr/>
                    <a:lstStyle/>
                    <a:p>
                      <a:pPr marL="68580" marR="286385">
                        <a:lnSpc>
                          <a:spcPts val="1220"/>
                        </a:lnSpc>
                        <a:tabLst>
                          <a:tab pos="2616835" algn="l"/>
                          <a:tab pos="3375660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me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$86</a:t>
                      </a:r>
                      <a:r>
                        <a:rPr dirty="0" u="dbl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6877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215"/>
                        </a:lnSpc>
                      </a:pP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et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ed</a:t>
                      </a:r>
                      <a:r>
                        <a:rPr dirty="0" sz="1100" spc="-114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21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9734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6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Dividends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16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2980689" y="3657599"/>
            <a:ext cx="229870" cy="735965"/>
          </a:xfrm>
          <a:custGeom>
            <a:avLst/>
            <a:gdLst/>
            <a:ahLst/>
            <a:cxnLst/>
            <a:rect l="l" t="t" r="r" b="b"/>
            <a:pathLst>
              <a:path w="229869" h="735964">
                <a:moveTo>
                  <a:pt x="229870" y="735964"/>
                </a:moveTo>
                <a:lnTo>
                  <a:pt x="185122" y="734450"/>
                </a:lnTo>
                <a:lnTo>
                  <a:pt x="148590" y="730329"/>
                </a:lnTo>
                <a:lnTo>
                  <a:pt x="123963" y="724231"/>
                </a:lnTo>
                <a:lnTo>
                  <a:pt x="114935" y="716787"/>
                </a:lnTo>
                <a:lnTo>
                  <a:pt x="114935" y="387096"/>
                </a:lnTo>
                <a:lnTo>
                  <a:pt x="105906" y="379652"/>
                </a:lnTo>
                <a:lnTo>
                  <a:pt x="81280" y="373554"/>
                </a:lnTo>
                <a:lnTo>
                  <a:pt x="44747" y="369433"/>
                </a:lnTo>
                <a:lnTo>
                  <a:pt x="0" y="367918"/>
                </a:lnTo>
                <a:lnTo>
                  <a:pt x="44747" y="366422"/>
                </a:lnTo>
                <a:lnTo>
                  <a:pt x="81280" y="362330"/>
                </a:lnTo>
                <a:lnTo>
                  <a:pt x="105906" y="356238"/>
                </a:lnTo>
                <a:lnTo>
                  <a:pt x="114935" y="348741"/>
                </a:lnTo>
                <a:lnTo>
                  <a:pt x="114935" y="19176"/>
                </a:lnTo>
                <a:lnTo>
                  <a:pt x="123963" y="11680"/>
                </a:lnTo>
                <a:lnTo>
                  <a:pt x="148590" y="5588"/>
                </a:lnTo>
                <a:lnTo>
                  <a:pt x="185122" y="1496"/>
                </a:lnTo>
                <a:lnTo>
                  <a:pt x="22987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71930" y="3435349"/>
            <a:ext cx="1508125" cy="11525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 marL="96520" marR="82550">
              <a:lnSpc>
                <a:spcPct val="108000"/>
              </a:lnSpc>
              <a:spcBef>
                <a:spcPts val="125"/>
              </a:spcBef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25">
                <a:latin typeface="Garamond"/>
                <a:cs typeface="Garamond"/>
              </a:rPr>
              <a:t> </a:t>
            </a:r>
            <a:r>
              <a:rPr dirty="0" sz="1100" spc="-25">
                <a:latin typeface="Garamond"/>
                <a:cs typeface="Garamond"/>
              </a:rPr>
              <a:t>o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4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45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n 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reports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 </a:t>
            </a:r>
            <a:r>
              <a:rPr dirty="0" sz="1100">
                <a:latin typeface="Garamond"/>
                <a:cs typeface="Garamond"/>
              </a:rPr>
              <a:t> revenues and </a:t>
            </a:r>
            <a:r>
              <a:rPr dirty="0" sz="1100" spc="-5">
                <a:latin typeface="Garamond"/>
                <a:cs typeface="Garamond"/>
              </a:rPr>
              <a:t>expenses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 </a:t>
            </a:r>
            <a:r>
              <a:rPr dirty="0" sz="1100">
                <a:latin typeface="Garamond"/>
                <a:cs typeface="Garamond"/>
              </a:rPr>
              <a:t>principal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operations.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80689" y="7680705"/>
            <a:ext cx="229870" cy="735965"/>
          </a:xfrm>
          <a:custGeom>
            <a:avLst/>
            <a:gdLst/>
            <a:ahLst/>
            <a:cxnLst/>
            <a:rect l="l" t="t" r="r" b="b"/>
            <a:pathLst>
              <a:path w="229869" h="735965">
                <a:moveTo>
                  <a:pt x="229870" y="735964"/>
                </a:moveTo>
                <a:lnTo>
                  <a:pt x="185122" y="734450"/>
                </a:lnTo>
                <a:lnTo>
                  <a:pt x="148590" y="730329"/>
                </a:lnTo>
                <a:lnTo>
                  <a:pt x="123963" y="724231"/>
                </a:lnTo>
                <a:lnTo>
                  <a:pt x="114935" y="716788"/>
                </a:lnTo>
                <a:lnTo>
                  <a:pt x="114935" y="387095"/>
                </a:lnTo>
                <a:lnTo>
                  <a:pt x="105906" y="379652"/>
                </a:lnTo>
                <a:lnTo>
                  <a:pt x="81280" y="373554"/>
                </a:lnTo>
                <a:lnTo>
                  <a:pt x="44747" y="369433"/>
                </a:lnTo>
                <a:lnTo>
                  <a:pt x="0" y="367919"/>
                </a:lnTo>
                <a:lnTo>
                  <a:pt x="44747" y="366422"/>
                </a:lnTo>
                <a:lnTo>
                  <a:pt x="81280" y="362330"/>
                </a:lnTo>
                <a:lnTo>
                  <a:pt x="105906" y="356238"/>
                </a:lnTo>
                <a:lnTo>
                  <a:pt x="114935" y="348741"/>
                </a:lnTo>
                <a:lnTo>
                  <a:pt x="114935" y="19176"/>
                </a:lnTo>
                <a:lnTo>
                  <a:pt x="123963" y="11680"/>
                </a:lnTo>
                <a:lnTo>
                  <a:pt x="148590" y="5587"/>
                </a:lnTo>
                <a:lnTo>
                  <a:pt x="185122" y="1496"/>
                </a:lnTo>
                <a:lnTo>
                  <a:pt x="22987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76375" y="7581900"/>
            <a:ext cx="1508125" cy="10191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 marL="97155" marR="131445">
              <a:lnSpc>
                <a:spcPct val="107800"/>
              </a:lnSpc>
              <a:spcBef>
                <a:spcPts val="140"/>
              </a:spcBef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25">
                <a:latin typeface="Garamond"/>
                <a:cs typeface="Garamond"/>
              </a:rPr>
              <a:t>o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25">
                <a:latin typeface="Garamond"/>
                <a:cs typeface="Garamond"/>
              </a:rPr>
              <a:t>p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4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g  </a:t>
            </a:r>
            <a:r>
              <a:rPr dirty="0" sz="1100">
                <a:latin typeface="Garamond"/>
                <a:cs typeface="Garamond"/>
              </a:rPr>
              <a:t>section </a:t>
            </a:r>
            <a:r>
              <a:rPr dirty="0" sz="1100" spc="5">
                <a:latin typeface="Garamond"/>
                <a:cs typeface="Garamond"/>
              </a:rPr>
              <a:t>of the </a:t>
            </a:r>
            <a:r>
              <a:rPr dirty="0" sz="1100" spc="-5">
                <a:latin typeface="Garamond"/>
                <a:cs typeface="Garamond"/>
              </a:rPr>
              <a:t>income </a:t>
            </a:r>
            <a:r>
              <a:rPr dirty="0" sz="1100">
                <a:latin typeface="Garamond"/>
                <a:cs typeface="Garamond"/>
              </a:rPr>
              <a:t> statement includes all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costs,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such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 </a:t>
            </a:r>
            <a:r>
              <a:rPr dirty="0" sz="1100" spc="-5">
                <a:latin typeface="Garamond"/>
                <a:cs typeface="Garamond"/>
              </a:rPr>
              <a:t>expense.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266185" y="910081"/>
          <a:ext cx="4488180" cy="299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2204"/>
                <a:gridCol w="815340"/>
              </a:tblGrid>
              <a:tr h="566034">
                <a:tc>
                  <a:txBody>
                    <a:bodyPr/>
                    <a:lstStyle/>
                    <a:p>
                      <a:pPr algn="ctr" marL="810260" marR="835025">
                        <a:lnSpc>
                          <a:spcPts val="11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276350" marR="1301115">
                        <a:lnSpc>
                          <a:spcPct val="73600"/>
                        </a:lnSpc>
                        <a:spcBef>
                          <a:spcPts val="280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Income Statement </a:t>
                      </a:r>
                      <a:r>
                        <a:rPr dirty="0" sz="1100" spc="-26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814705" marR="835025">
                        <a:lnSpc>
                          <a:spcPts val="97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7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Tot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v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4810" marR="3175">
                        <a:lnSpc>
                          <a:spcPts val="1170"/>
                        </a:lnSpc>
                      </a:pPr>
                      <a:r>
                        <a:rPr dirty="0" sz="1100" spc="-20">
                          <a:latin typeface="Garamond"/>
                          <a:cs typeface="Garamond"/>
                        </a:rPr>
                        <a:t>$2,262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861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goods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sold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5920" marR="3175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1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,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65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5575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Selling,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general,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administrative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1805" marR="3175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327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591">
                <a:tc>
                  <a:txBody>
                    <a:bodyPr/>
                    <a:lstStyle/>
                    <a:p>
                      <a:pPr marL="68580" marR="258445">
                        <a:lnSpc>
                          <a:spcPts val="1165"/>
                        </a:lnSpc>
                        <a:tabLst>
                          <a:tab pos="2616835" algn="l"/>
                          <a:tab pos="3398520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</a:pPr>
                      <a:r>
                        <a:rPr dirty="0" u="sng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-90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591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9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6250" marR="3175">
                        <a:lnSpc>
                          <a:spcPts val="119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496">
                <a:tc>
                  <a:txBody>
                    <a:bodyPr/>
                    <a:lstStyle/>
                    <a:p>
                      <a:pPr marL="68580" marR="222250">
                        <a:lnSpc>
                          <a:spcPts val="1165"/>
                        </a:lnSpc>
                        <a:tabLst>
                          <a:tab pos="2616835" algn="l"/>
                          <a:tab pos="3435350" algn="l"/>
                        </a:tabLst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Other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	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</a:pPr>
                      <a:r>
                        <a:rPr dirty="0" u="sng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29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496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Earnings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before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6250" marR="3175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$219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592">
                <a:tc>
                  <a:txBody>
                    <a:bodyPr/>
                    <a:lstStyle/>
                    <a:p>
                      <a:pPr marL="68580" marR="267970">
                        <a:lnSpc>
                          <a:spcPts val="1165"/>
                        </a:lnSpc>
                        <a:tabLst>
                          <a:tab pos="2616835" algn="l"/>
                          <a:tab pos="3394075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-49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591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9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Pretax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76250" marR="3175">
                        <a:lnSpc>
                          <a:spcPts val="119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478027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68580" marR="835025">
                        <a:lnSpc>
                          <a:spcPts val="12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Current: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$71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68580">
                        <a:lnSpc>
                          <a:spcPts val="1290"/>
                        </a:lnSpc>
                        <a:tabLst>
                          <a:tab pos="2616835" algn="l"/>
                          <a:tab pos="3669029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Deferred: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$13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048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-84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450">
                <a:tc>
                  <a:txBody>
                    <a:bodyPr/>
                    <a:lstStyle/>
                    <a:p>
                      <a:pPr marL="68580" marR="286385">
                        <a:lnSpc>
                          <a:spcPts val="1220"/>
                        </a:lnSpc>
                        <a:tabLst>
                          <a:tab pos="2616835" algn="l"/>
                          <a:tab pos="3375660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me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$86</a:t>
                      </a:r>
                      <a:r>
                        <a:rPr dirty="0" u="dbl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6877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215"/>
                        </a:lnSpc>
                      </a:pP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et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ed</a:t>
                      </a:r>
                      <a:r>
                        <a:rPr dirty="0" sz="1100" spc="-114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21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9734">
                <a:tc>
                  <a:txBody>
                    <a:bodyPr/>
                    <a:lstStyle/>
                    <a:p>
                      <a:pPr marL="68580" marR="835025">
                        <a:lnSpc>
                          <a:spcPts val="116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Dividends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16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66185" y="4217161"/>
          <a:ext cx="3646804" cy="299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6835"/>
                <a:gridCol w="1029335"/>
              </a:tblGrid>
              <a:tr h="568034">
                <a:tc gridSpan="2">
                  <a:txBody>
                    <a:bodyPr/>
                    <a:lstStyle/>
                    <a:p>
                      <a:pPr marL="1386205" marR="317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XYZ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322070" marR="1319530">
                        <a:lnSpc>
                          <a:spcPct val="71100"/>
                        </a:lnSpc>
                        <a:spcBef>
                          <a:spcPts val="33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te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 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8890" marR="3175">
                        <a:lnSpc>
                          <a:spcPts val="9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8019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Tot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v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98805" marR="3175">
                        <a:lnSpc>
                          <a:spcPts val="1185"/>
                        </a:lnSpc>
                      </a:pPr>
                      <a:r>
                        <a:rPr dirty="0" sz="1100" spc="-20">
                          <a:latin typeface="Garamond"/>
                          <a:cs typeface="Garamond"/>
                        </a:rPr>
                        <a:t>$2,262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5447"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goods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sold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89915" marR="3175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1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,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65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861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Selling,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general,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administrative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0485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327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8928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185"/>
                        </a:lnSpc>
                        <a:tabLst>
                          <a:tab pos="78168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-90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8096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9371">
                <a:tc>
                  <a:txBody>
                    <a:bodyPr/>
                    <a:lstStyle/>
                    <a:p>
                      <a:pPr marL="68580">
                        <a:lnSpc>
                          <a:spcPts val="115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Other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155"/>
                        </a:lnSpc>
                        <a:tabLst>
                          <a:tab pos="81851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29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7717">
                <a:tc>
                  <a:txBody>
                    <a:bodyPr/>
                    <a:lstStyle/>
                    <a:p>
                      <a:pPr marL="68580">
                        <a:lnSpc>
                          <a:spcPts val="12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Earnings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before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2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$219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8991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185"/>
                        </a:lnSpc>
                        <a:tabLst>
                          <a:tab pos="777240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-49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8096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Pretax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476762">
                <a:tc>
                  <a:txBody>
                    <a:bodyPr/>
                    <a:lstStyle/>
                    <a:p>
                      <a:pPr marL="68580">
                        <a:lnSpc>
                          <a:spcPts val="113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68580" marR="1788160">
                        <a:lnSpc>
                          <a:spcPts val="1220"/>
                        </a:lnSpc>
                        <a:spcBef>
                          <a:spcPts val="7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Current: $71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Defe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: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1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048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-84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3782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30"/>
                        </a:lnSpc>
                        <a:tabLst>
                          <a:tab pos="754380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$86</a:t>
                      </a:r>
                      <a:r>
                        <a:rPr dirty="0" u="dbl" sz="1100" spc="-3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8096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et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ed</a:t>
                      </a:r>
                      <a:r>
                        <a:rPr dirty="0" sz="1100" spc="-114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448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Dividends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7493253"/>
            <a:ext cx="5668010" cy="21215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Income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things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keep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analyzing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statement: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Generally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Accepted Accounting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Principles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(GAAP)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Non-Cash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Items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Income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Generally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Accepted Accounting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Principles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(GAAP)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“The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Realization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principle”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recognize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revenue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process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complete,</a:t>
            </a:r>
            <a:endParaRPr sz="1100">
              <a:latin typeface="Garamond"/>
              <a:cs typeface="Garamond"/>
            </a:endParaRPr>
          </a:p>
          <a:p>
            <a:pPr marL="699135" marR="9525">
              <a:lnSpc>
                <a:spcPts val="1230"/>
              </a:lnSpc>
              <a:spcBef>
                <a:spcPts val="85"/>
              </a:spcBef>
            </a:pPr>
            <a:r>
              <a:rPr dirty="0" sz="1100">
                <a:latin typeface="Garamond"/>
                <a:cs typeface="Garamond"/>
              </a:rPr>
              <a:t>i.e.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revenue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recognized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sale,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collection.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81960" y="2966846"/>
            <a:ext cx="229870" cy="414655"/>
          </a:xfrm>
          <a:custGeom>
            <a:avLst/>
            <a:gdLst/>
            <a:ahLst/>
            <a:cxnLst/>
            <a:rect l="l" t="t" r="r" b="b"/>
            <a:pathLst>
              <a:path w="229869" h="414654">
                <a:moveTo>
                  <a:pt x="229869" y="414654"/>
                </a:moveTo>
                <a:lnTo>
                  <a:pt x="185122" y="406497"/>
                </a:lnTo>
                <a:lnTo>
                  <a:pt x="148589" y="384254"/>
                </a:lnTo>
                <a:lnTo>
                  <a:pt x="123963" y="351272"/>
                </a:lnTo>
                <a:lnTo>
                  <a:pt x="114934" y="310895"/>
                </a:lnTo>
                <a:lnTo>
                  <a:pt x="105906" y="270593"/>
                </a:lnTo>
                <a:lnTo>
                  <a:pt x="81279" y="237648"/>
                </a:lnTo>
                <a:lnTo>
                  <a:pt x="44747" y="215419"/>
                </a:lnTo>
                <a:lnTo>
                  <a:pt x="0" y="207263"/>
                </a:lnTo>
                <a:lnTo>
                  <a:pt x="44747" y="199126"/>
                </a:lnTo>
                <a:lnTo>
                  <a:pt x="81280" y="176926"/>
                </a:lnTo>
                <a:lnTo>
                  <a:pt x="105906" y="143988"/>
                </a:lnTo>
                <a:lnTo>
                  <a:pt x="114934" y="103631"/>
                </a:lnTo>
                <a:lnTo>
                  <a:pt x="123963" y="63275"/>
                </a:lnTo>
                <a:lnTo>
                  <a:pt x="148589" y="30337"/>
                </a:lnTo>
                <a:lnTo>
                  <a:pt x="185122" y="8137"/>
                </a:lnTo>
                <a:lnTo>
                  <a:pt x="229869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590675" y="2740786"/>
            <a:ext cx="1388745" cy="8572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38100" rIns="0" bIns="0" rtlCol="0" vert="horz">
            <a:spAutoFit/>
          </a:bodyPr>
          <a:lstStyle/>
          <a:p>
            <a:pPr marL="97155" marR="251460">
              <a:lnSpc>
                <a:spcPct val="94100"/>
              </a:lnSpc>
              <a:spcBef>
                <a:spcPts val="300"/>
              </a:spcBef>
            </a:pPr>
            <a:r>
              <a:rPr dirty="0" sz="1100" spc="-25">
                <a:latin typeface="Garamond"/>
                <a:cs typeface="Garamond"/>
              </a:rPr>
              <a:t>U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-10">
                <a:latin typeface="Garamond"/>
                <a:cs typeface="Garamond"/>
              </a:rPr>
              <a:t>all</a:t>
            </a:r>
            <a:r>
              <a:rPr dirty="0" sz="1100" spc="-35">
                <a:latin typeface="Garamond"/>
                <a:cs typeface="Garamond"/>
              </a:rPr>
              <a:t>y</a:t>
            </a:r>
            <a:r>
              <a:rPr dirty="0" sz="1100" spc="-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45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te  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n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po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ts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  </a:t>
            </a:r>
            <a:r>
              <a:rPr dirty="0" sz="1100">
                <a:latin typeface="Garamond"/>
                <a:cs typeface="Garamond"/>
              </a:rPr>
              <a:t>separate </a:t>
            </a:r>
            <a:r>
              <a:rPr dirty="0" sz="1100" spc="-5">
                <a:latin typeface="Garamond"/>
                <a:cs typeface="Garamond"/>
              </a:rPr>
              <a:t>item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taxes </a:t>
            </a:r>
            <a:r>
              <a:rPr dirty="0" sz="1100">
                <a:latin typeface="Garamond"/>
                <a:cs typeface="Garamond"/>
              </a:rPr>
              <a:t> levied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income.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8700" y="6397497"/>
            <a:ext cx="2133600" cy="393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31114" rIns="0" bIns="0" rtlCol="0" vert="horz">
            <a:spAutoFit/>
          </a:bodyPr>
          <a:lstStyle/>
          <a:p>
            <a:pPr marL="205740">
              <a:lnSpc>
                <a:spcPct val="100000"/>
              </a:lnSpc>
              <a:spcBef>
                <a:spcPts val="244"/>
              </a:spcBef>
            </a:pP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25">
                <a:latin typeface="Garamond"/>
                <a:cs typeface="Garamond"/>
              </a:rPr>
              <a:t>t</a:t>
            </a:r>
            <a:r>
              <a:rPr dirty="0" sz="1100" spc="-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c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40">
                <a:latin typeface="Garamond"/>
                <a:cs typeface="Garamond"/>
              </a:rPr>
              <a:t>t</a:t>
            </a:r>
            <a:r>
              <a:rPr dirty="0" sz="1100" spc="10">
                <a:latin typeface="Garamond"/>
                <a:cs typeface="Garamond"/>
              </a:rPr>
              <a:t>h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30">
                <a:latin typeface="Garamond"/>
                <a:cs typeface="Garamond"/>
              </a:rPr>
              <a:t>“</a:t>
            </a:r>
            <a:r>
              <a:rPr dirty="0" sz="1100" spc="-25">
                <a:latin typeface="Garamond"/>
                <a:cs typeface="Garamond"/>
              </a:rPr>
              <a:t>bo</a:t>
            </a:r>
            <a:r>
              <a:rPr dirty="0" sz="1100">
                <a:latin typeface="Garamond"/>
                <a:cs typeface="Garamond"/>
              </a:rPr>
              <a:t>tt</a:t>
            </a:r>
            <a:r>
              <a:rPr dirty="0" sz="1100" spc="-25">
                <a:latin typeface="Garamond"/>
                <a:cs typeface="Garamond"/>
              </a:rPr>
              <a:t>o</a:t>
            </a:r>
            <a:r>
              <a:rPr dirty="0" sz="1100" spc="-60">
                <a:latin typeface="Garamond"/>
                <a:cs typeface="Garamond"/>
              </a:rPr>
              <a:t>m</a:t>
            </a:r>
            <a:r>
              <a:rPr dirty="0" sz="1100" spc="-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”</a:t>
            </a:r>
            <a:r>
              <a:rPr dirty="0" sz="1100">
                <a:latin typeface="Garamond"/>
                <a:cs typeface="Garamond"/>
              </a:rPr>
              <a:t>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62045" y="6612127"/>
            <a:ext cx="3489960" cy="231140"/>
          </a:xfrm>
          <a:custGeom>
            <a:avLst/>
            <a:gdLst/>
            <a:ahLst/>
            <a:cxnLst/>
            <a:rect l="l" t="t" r="r" b="b"/>
            <a:pathLst>
              <a:path w="3489959" h="231140">
                <a:moveTo>
                  <a:pt x="3462277" y="189076"/>
                </a:moveTo>
                <a:lnTo>
                  <a:pt x="3399535" y="221360"/>
                </a:lnTo>
                <a:lnTo>
                  <a:pt x="3397250" y="222630"/>
                </a:lnTo>
                <a:lnTo>
                  <a:pt x="3396360" y="225551"/>
                </a:lnTo>
                <a:lnTo>
                  <a:pt x="3397504" y="227837"/>
                </a:lnTo>
                <a:lnTo>
                  <a:pt x="3398774" y="230124"/>
                </a:lnTo>
                <a:lnTo>
                  <a:pt x="3401568" y="231139"/>
                </a:lnTo>
                <a:lnTo>
                  <a:pt x="3481215" y="189991"/>
                </a:lnTo>
                <a:lnTo>
                  <a:pt x="3479927" y="189991"/>
                </a:lnTo>
                <a:lnTo>
                  <a:pt x="3462277" y="189076"/>
                </a:lnTo>
                <a:close/>
              </a:path>
              <a:path w="3489959" h="231140">
                <a:moveTo>
                  <a:pt x="3470683" y="184750"/>
                </a:moveTo>
                <a:lnTo>
                  <a:pt x="3462277" y="189076"/>
                </a:lnTo>
                <a:lnTo>
                  <a:pt x="3479927" y="189991"/>
                </a:lnTo>
                <a:lnTo>
                  <a:pt x="3479967" y="189229"/>
                </a:lnTo>
                <a:lnTo>
                  <a:pt x="3477513" y="189229"/>
                </a:lnTo>
                <a:lnTo>
                  <a:pt x="3470683" y="184750"/>
                </a:lnTo>
                <a:close/>
              </a:path>
              <a:path w="3489959" h="231140">
                <a:moveTo>
                  <a:pt x="3406775" y="131444"/>
                </a:moveTo>
                <a:lnTo>
                  <a:pt x="3403854" y="132079"/>
                </a:lnTo>
                <a:lnTo>
                  <a:pt x="3402329" y="134238"/>
                </a:lnTo>
                <a:lnTo>
                  <a:pt x="3400932" y="136397"/>
                </a:lnTo>
                <a:lnTo>
                  <a:pt x="3401568" y="139445"/>
                </a:lnTo>
                <a:lnTo>
                  <a:pt x="3462752" y="179550"/>
                </a:lnTo>
                <a:lnTo>
                  <a:pt x="3480434" y="180466"/>
                </a:lnTo>
                <a:lnTo>
                  <a:pt x="3479927" y="189991"/>
                </a:lnTo>
                <a:lnTo>
                  <a:pt x="3481215" y="189991"/>
                </a:lnTo>
                <a:lnTo>
                  <a:pt x="3489579" y="185674"/>
                </a:lnTo>
                <a:lnTo>
                  <a:pt x="3406775" y="131444"/>
                </a:lnTo>
                <a:close/>
              </a:path>
              <a:path w="3489959" h="231140">
                <a:moveTo>
                  <a:pt x="3478022" y="180975"/>
                </a:moveTo>
                <a:lnTo>
                  <a:pt x="3470683" y="184750"/>
                </a:lnTo>
                <a:lnTo>
                  <a:pt x="3477513" y="189229"/>
                </a:lnTo>
                <a:lnTo>
                  <a:pt x="3478022" y="180975"/>
                </a:lnTo>
                <a:close/>
              </a:path>
              <a:path w="3489959" h="231140">
                <a:moveTo>
                  <a:pt x="3480407" y="180975"/>
                </a:moveTo>
                <a:lnTo>
                  <a:pt x="3478022" y="180975"/>
                </a:lnTo>
                <a:lnTo>
                  <a:pt x="3477513" y="189229"/>
                </a:lnTo>
                <a:lnTo>
                  <a:pt x="3479967" y="189229"/>
                </a:lnTo>
                <a:lnTo>
                  <a:pt x="3480407" y="180975"/>
                </a:lnTo>
                <a:close/>
              </a:path>
              <a:path w="3489959" h="231140">
                <a:moveTo>
                  <a:pt x="507" y="0"/>
                </a:moveTo>
                <a:lnTo>
                  <a:pt x="0" y="9525"/>
                </a:lnTo>
                <a:lnTo>
                  <a:pt x="3462277" y="189076"/>
                </a:lnTo>
                <a:lnTo>
                  <a:pt x="3470683" y="184750"/>
                </a:lnTo>
                <a:lnTo>
                  <a:pt x="3462752" y="179550"/>
                </a:lnTo>
                <a:lnTo>
                  <a:pt x="507" y="0"/>
                </a:lnTo>
                <a:close/>
              </a:path>
              <a:path w="3489959" h="231140">
                <a:moveTo>
                  <a:pt x="3462752" y="179550"/>
                </a:moveTo>
                <a:lnTo>
                  <a:pt x="3470683" y="184750"/>
                </a:lnTo>
                <a:lnTo>
                  <a:pt x="3478022" y="180975"/>
                </a:lnTo>
                <a:lnTo>
                  <a:pt x="3480407" y="180975"/>
                </a:lnTo>
                <a:lnTo>
                  <a:pt x="3480434" y="180466"/>
                </a:lnTo>
                <a:lnTo>
                  <a:pt x="3462752" y="1795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6572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699135" marR="23495" indent="-229235">
              <a:lnSpc>
                <a:spcPts val="1220"/>
              </a:lnSpc>
              <a:spcBef>
                <a:spcPts val="955"/>
              </a:spcBef>
              <a:tabLst>
                <a:tab pos="6985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 spc="5">
                <a:latin typeface="Garamond"/>
                <a:cs typeface="Garamond"/>
              </a:rPr>
              <a:t>“The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matching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principal”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GAAP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dictates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revenues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matched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expenses.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Thus,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reported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earned,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though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occurred.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Income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Non-Cash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Items</a:t>
            </a:r>
            <a:endParaRPr sz="1100">
              <a:latin typeface="Garamond"/>
              <a:cs typeface="Garamond"/>
            </a:endParaRPr>
          </a:p>
          <a:p>
            <a:pPr lvl="1" marL="699135" marR="19050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primary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reason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differs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income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statement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contain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non-cash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Depreciation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apparent.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writes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check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“depreciation”.</a:t>
            </a:r>
            <a:endParaRPr sz="1100">
              <a:latin typeface="Garamond"/>
              <a:cs typeface="Garamond"/>
            </a:endParaRPr>
          </a:p>
          <a:p>
            <a:pPr lvl="1" marL="699135" marR="30480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depreciation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deduction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simply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application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matching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principle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0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Another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noncash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deferred </a:t>
            </a:r>
            <a:r>
              <a:rPr dirty="0" sz="1100" spc="-5">
                <a:latin typeface="Garamond"/>
                <a:cs typeface="Garamond"/>
              </a:rPr>
              <a:t>taxes,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Income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algn="just" marL="469900" indent="-229235">
              <a:lnSpc>
                <a:spcPts val="129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algn="just" lvl="1" marL="699135" marR="24765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In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short </a:t>
            </a:r>
            <a:r>
              <a:rPr dirty="0" sz="1100" spc="-10">
                <a:latin typeface="Garamond"/>
                <a:cs typeface="Garamond"/>
              </a:rPr>
              <a:t>run, </a:t>
            </a:r>
            <a:r>
              <a:rPr dirty="0" sz="1100" spc="-5">
                <a:latin typeface="Garamond"/>
                <a:cs typeface="Garamond"/>
              </a:rPr>
              <a:t>certain equipment, resources, </a:t>
            </a:r>
            <a:r>
              <a:rPr dirty="0" sz="1100" spc="-15">
                <a:latin typeface="Garamond"/>
                <a:cs typeface="Garamond"/>
              </a:rPr>
              <a:t>and </a:t>
            </a:r>
            <a:r>
              <a:rPr dirty="0" sz="1100" spc="-5">
                <a:latin typeface="Garamond"/>
                <a:cs typeface="Garamond"/>
              </a:rPr>
              <a:t>commitments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 firm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-5">
                <a:latin typeface="Garamond"/>
                <a:cs typeface="Garamond"/>
              </a:rPr>
              <a:t>fixed, </a:t>
            </a:r>
            <a:r>
              <a:rPr dirty="0" sz="1100" spc="5">
                <a:latin typeface="Garamond"/>
                <a:cs typeface="Garamond"/>
              </a:rPr>
              <a:t>but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such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inputs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labor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materials.</a:t>
            </a:r>
            <a:endParaRPr sz="1100">
              <a:latin typeface="Garamond"/>
              <a:cs typeface="Garamond"/>
            </a:endParaRPr>
          </a:p>
          <a:p>
            <a:pPr algn="just" lvl="1" marL="699135" indent="-229870">
              <a:lnSpc>
                <a:spcPts val="1175"/>
              </a:lnSpc>
              <a:buFont typeface="Courier New"/>
              <a:buChar char="o"/>
              <a:tabLst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run,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inputs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production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(and hence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costs)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variable.</a:t>
            </a:r>
            <a:endParaRPr sz="1100">
              <a:latin typeface="Garamond"/>
              <a:cs typeface="Garamond"/>
            </a:endParaRPr>
          </a:p>
          <a:p>
            <a:pPr algn="just" lvl="1" marL="699135" marR="26670" indent="-229235">
              <a:lnSpc>
                <a:spcPct val="94100"/>
              </a:lnSpc>
              <a:spcBef>
                <a:spcPts val="50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Financial </a:t>
            </a:r>
            <a:r>
              <a:rPr dirty="0" sz="1100" spc="-5">
                <a:latin typeface="Garamond"/>
                <a:cs typeface="Garamond"/>
              </a:rPr>
              <a:t>accountants </a:t>
            </a:r>
            <a:r>
              <a:rPr dirty="0" sz="1100" spc="15">
                <a:latin typeface="Garamond"/>
                <a:cs typeface="Garamond"/>
              </a:rPr>
              <a:t>do </a:t>
            </a:r>
            <a:r>
              <a:rPr dirty="0" sz="1100" spc="-5">
                <a:latin typeface="Garamond"/>
                <a:cs typeface="Garamond"/>
              </a:rPr>
              <a:t>not distinguish between variable </a:t>
            </a:r>
            <a:r>
              <a:rPr dirty="0" sz="1100">
                <a:latin typeface="Garamond"/>
                <a:cs typeface="Garamond"/>
              </a:rPr>
              <a:t>costs and </a:t>
            </a:r>
            <a:r>
              <a:rPr dirty="0" sz="1100" spc="-5">
                <a:latin typeface="Garamond"/>
                <a:cs typeface="Garamond"/>
              </a:rPr>
              <a:t>fixed </a:t>
            </a:r>
            <a:r>
              <a:rPr dirty="0" sz="1100">
                <a:latin typeface="Garamond"/>
                <a:cs typeface="Garamond"/>
              </a:rPr>
              <a:t>costs. </a:t>
            </a:r>
            <a:r>
              <a:rPr dirty="0" sz="1100" spc="-5">
                <a:latin typeface="Garamond"/>
                <a:cs typeface="Garamond"/>
              </a:rPr>
              <a:t>Instead, </a:t>
            </a:r>
            <a:r>
              <a:rPr dirty="0" sz="1100">
                <a:latin typeface="Garamond"/>
                <a:cs typeface="Garamond"/>
              </a:rPr>
              <a:t> accounting </a:t>
            </a:r>
            <a:r>
              <a:rPr dirty="0" sz="1100" spc="-5">
                <a:latin typeface="Garamond"/>
                <a:cs typeface="Garamond"/>
              </a:rPr>
              <a:t>costs usually </a:t>
            </a:r>
            <a:r>
              <a:rPr dirty="0" sz="1100">
                <a:latin typeface="Garamond"/>
                <a:cs typeface="Garamond"/>
              </a:rPr>
              <a:t>fit </a:t>
            </a:r>
            <a:r>
              <a:rPr dirty="0" sz="1100" spc="-5">
                <a:latin typeface="Garamond"/>
                <a:cs typeface="Garamond"/>
              </a:rPr>
              <a:t>into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classification that </a:t>
            </a:r>
            <a:r>
              <a:rPr dirty="0" sz="1100">
                <a:latin typeface="Garamond"/>
                <a:cs typeface="Garamond"/>
              </a:rPr>
              <a:t>distinguishes product </a:t>
            </a:r>
            <a:r>
              <a:rPr dirty="0" sz="1100" spc="-5">
                <a:latin typeface="Garamond"/>
                <a:cs typeface="Garamond"/>
              </a:rPr>
              <a:t>costs from </a:t>
            </a:r>
            <a:r>
              <a:rPr dirty="0" sz="1100">
                <a:latin typeface="Garamond"/>
                <a:cs typeface="Garamond"/>
              </a:rPr>
              <a:t>period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costs.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buFont typeface="Courier New"/>
              <a:buChar char="o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Income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Garamond"/>
              <a:cs typeface="Garamond"/>
            </a:endParaRPr>
          </a:p>
          <a:p>
            <a:pPr algn="just" marL="469900" indent="-229235">
              <a:lnSpc>
                <a:spcPts val="129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algn="just" lvl="1" marL="699135" marR="27305" indent="-229235">
              <a:lnSpc>
                <a:spcPct val="94200"/>
              </a:lnSpc>
              <a:spcBef>
                <a:spcPts val="45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Product </a:t>
            </a:r>
            <a:r>
              <a:rPr dirty="0" sz="1100" spc="-5">
                <a:latin typeface="Garamond"/>
                <a:cs typeface="Garamond"/>
              </a:rPr>
              <a:t>cost </a:t>
            </a:r>
            <a:r>
              <a:rPr dirty="0" sz="1100">
                <a:latin typeface="Garamond"/>
                <a:cs typeface="Garamond"/>
              </a:rPr>
              <a:t>include such things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5">
                <a:latin typeface="Garamond"/>
                <a:cs typeface="Garamond"/>
              </a:rPr>
              <a:t>raw </a:t>
            </a:r>
            <a:r>
              <a:rPr dirty="0" sz="1100">
                <a:latin typeface="Garamond"/>
                <a:cs typeface="Garamond"/>
              </a:rPr>
              <a:t>materials, </a:t>
            </a:r>
            <a:r>
              <a:rPr dirty="0" sz="1100" spc="5">
                <a:latin typeface="Garamond"/>
                <a:cs typeface="Garamond"/>
              </a:rPr>
              <a:t>direct </a:t>
            </a:r>
            <a:r>
              <a:rPr dirty="0" sz="1100">
                <a:latin typeface="Garamond"/>
                <a:cs typeface="Garamond"/>
              </a:rPr>
              <a:t>labor </a:t>
            </a:r>
            <a:r>
              <a:rPr dirty="0" sz="1100" spc="-15">
                <a:latin typeface="Garamond"/>
                <a:cs typeface="Garamond"/>
              </a:rPr>
              <a:t>and </a:t>
            </a:r>
            <a:r>
              <a:rPr dirty="0" sz="1100">
                <a:latin typeface="Garamond"/>
                <a:cs typeface="Garamond"/>
              </a:rPr>
              <a:t>manufacturing </a:t>
            </a:r>
            <a:r>
              <a:rPr dirty="0" sz="1100" spc="-5">
                <a:latin typeface="Garamond"/>
                <a:cs typeface="Garamond"/>
              </a:rPr>
              <a:t>overhead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10">
                <a:latin typeface="Garamond"/>
                <a:cs typeface="Garamond"/>
              </a:rPr>
              <a:t>are reported on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income </a:t>
            </a:r>
            <a:r>
              <a:rPr dirty="0" sz="1100" spc="-5">
                <a:latin typeface="Garamond"/>
                <a:cs typeface="Garamond"/>
              </a:rPr>
              <a:t>statement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cost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goods sold, </a:t>
            </a:r>
            <a:r>
              <a:rPr dirty="0" sz="1100" spc="5">
                <a:latin typeface="Garamond"/>
                <a:cs typeface="Garamond"/>
              </a:rPr>
              <a:t>but </a:t>
            </a:r>
            <a:r>
              <a:rPr dirty="0" sz="1100" spc="-5">
                <a:latin typeface="Garamond"/>
                <a:cs typeface="Garamond"/>
              </a:rPr>
              <a:t>they include </a:t>
            </a:r>
            <a:r>
              <a:rPr dirty="0" sz="1100" spc="5">
                <a:latin typeface="Garamond"/>
                <a:cs typeface="Garamond"/>
              </a:rPr>
              <a:t>both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fixed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variable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costs.</a:t>
            </a:r>
            <a:endParaRPr sz="1100">
              <a:latin typeface="Garamond"/>
              <a:cs typeface="Garamond"/>
            </a:endParaRPr>
          </a:p>
          <a:p>
            <a:pPr algn="just" lvl="1" marL="699135" marR="27305" indent="-229235">
              <a:lnSpc>
                <a:spcPts val="1220"/>
              </a:lnSpc>
              <a:spcBef>
                <a:spcPts val="30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 </a:t>
            </a:r>
            <a:r>
              <a:rPr dirty="0" sz="1100">
                <a:latin typeface="Garamond"/>
                <a:cs typeface="Garamond"/>
              </a:rPr>
              <a:t>include </a:t>
            </a:r>
            <a:r>
              <a:rPr dirty="0" sz="1100" spc="-5">
                <a:latin typeface="Garamond"/>
                <a:cs typeface="Garamond"/>
              </a:rPr>
              <a:t>selling,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general,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administrative </a:t>
            </a:r>
            <a:r>
              <a:rPr dirty="0" sz="1100">
                <a:latin typeface="Garamond"/>
                <a:cs typeface="Garamond"/>
              </a:rPr>
              <a:t>expenses </a:t>
            </a:r>
            <a:r>
              <a:rPr dirty="0" sz="1100" spc="-5">
                <a:latin typeface="Garamond"/>
                <a:cs typeface="Garamond"/>
              </a:rPr>
              <a:t>which</a:t>
            </a:r>
            <a:r>
              <a:rPr dirty="0" sz="1100">
                <a:latin typeface="Garamond"/>
                <a:cs typeface="Garamond"/>
              </a:rPr>
              <a:t> may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variable.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ourier New"/>
              <a:buChar char="o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Taxes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One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outflows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experiences.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size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determined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through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schedule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Central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Board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Revenue.</a:t>
            </a:r>
            <a:endParaRPr sz="1100">
              <a:latin typeface="Garamond"/>
              <a:cs typeface="Garamond"/>
            </a:endParaRPr>
          </a:p>
          <a:p>
            <a:pPr marL="469900" marR="2984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Taxes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partnerships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proprietorship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computed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using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personal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income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schedules.</a:t>
            </a:r>
            <a:endParaRPr sz="1100">
              <a:latin typeface="Garamond"/>
              <a:cs typeface="Garamond"/>
            </a:endParaRPr>
          </a:p>
          <a:p>
            <a:pPr marL="2372995">
              <a:lnSpc>
                <a:spcPts val="1195"/>
              </a:lnSpc>
            </a:pPr>
            <a:r>
              <a:rPr dirty="0" sz="1100" spc="5">
                <a:latin typeface="Garamond"/>
                <a:cs typeface="Garamond"/>
              </a:rPr>
              <a:t>Model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Tax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813557" y="7002779"/>
          <a:ext cx="2401570" cy="2506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0985"/>
                <a:gridCol w="856615"/>
              </a:tblGrid>
              <a:tr h="28803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Taxable</a:t>
                      </a:r>
                      <a:r>
                        <a:rPr dirty="0" sz="1100" spc="-6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318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15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ax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318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27787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0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318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417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318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50,001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75,000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4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75,001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4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100,001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335,000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444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335,001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10,000,000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444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10,000,001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15,000,000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15,000,001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18,333,333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8476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18,333,334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+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76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68010" cy="1042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Average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vs.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Marginal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Tax </a:t>
            </a:r>
            <a:r>
              <a:rPr dirty="0" sz="1100" spc="-5" b="1">
                <a:latin typeface="Garamond"/>
                <a:cs typeface="Garamond"/>
              </a:rPr>
              <a:t>Rates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5080" indent="-228600">
              <a:lnSpc>
                <a:spcPts val="122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taxable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income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goes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Marginal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extra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$200,000.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5">
                <a:latin typeface="Garamond"/>
                <a:cs typeface="Garamond"/>
              </a:rPr>
              <a:t>be: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18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668016" y="2013865"/>
          <a:ext cx="2629535" cy="1343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4210"/>
                <a:gridCol w="695325"/>
              </a:tblGrid>
              <a:tr h="216884">
                <a:tc>
                  <a:txBody>
                    <a:bodyPr/>
                    <a:lstStyle/>
                    <a:p>
                      <a:pPr marL="127000">
                        <a:lnSpc>
                          <a:spcPts val="11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$50,000</a:t>
                      </a:r>
                      <a:r>
                        <a:rPr dirty="0" sz="1100" spc="2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spc="2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15%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ts val="11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$7,500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2745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($75,000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50,000)</a:t>
                      </a:r>
                      <a:r>
                        <a:rPr dirty="0" sz="1100" spc="2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25%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6,250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51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($100,000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75,000)</a:t>
                      </a:r>
                      <a:r>
                        <a:rPr dirty="0" sz="1100" spc="2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34%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8,500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8016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($200,000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100,000)</a:t>
                      </a:r>
                      <a:r>
                        <a:rPr dirty="0" sz="1100" spc="2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39%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39,000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5147">
                <a:tc>
                  <a:txBody>
                    <a:bodyPr/>
                    <a:lstStyle/>
                    <a:p>
                      <a:pPr algn="ctr" marL="698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7625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61,250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762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3344671"/>
            <a:ext cx="5673725" cy="2148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Our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 tax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$61,250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$61,250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5">
                <a:latin typeface="Garamond"/>
                <a:cs typeface="Garamond"/>
              </a:rPr>
              <a:t> 200,000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30.625%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Marginal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39%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1100" spc="5" b="1">
                <a:latin typeface="Garamond"/>
                <a:cs typeface="Garamond"/>
              </a:rPr>
              <a:t>Flat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Tax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levels.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tax,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marginal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always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same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average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model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schedule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presented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earlier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represents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modified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flat-rate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tax,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becomes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Let’s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another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view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Average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vs.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Marginal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Tax </a:t>
            </a:r>
            <a:r>
              <a:rPr dirty="0" sz="1100" spc="-5" b="1">
                <a:latin typeface="Garamond"/>
                <a:cs typeface="Garamond"/>
              </a:rPr>
              <a:t>Rates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550797" y="5648832"/>
          <a:ext cx="4922520" cy="2575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1100"/>
                <a:gridCol w="1175385"/>
                <a:gridCol w="1119505"/>
                <a:gridCol w="1431925"/>
              </a:tblGrid>
              <a:tr h="365988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Taxable</a:t>
                      </a:r>
                      <a:r>
                        <a:rPr dirty="0" sz="1100" spc="-7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8890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382905" marR="247015" indent="-265430">
                        <a:lnSpc>
                          <a:spcPts val="1220"/>
                        </a:lnSpc>
                        <a:spcBef>
                          <a:spcPts val="210"/>
                        </a:spcBef>
                      </a:pPr>
                      <a:r>
                        <a:rPr dirty="0" sz="1100" spc="-2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al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x 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Rate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667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Tax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8890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Average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tax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Rate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8890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286913">
                <a:tc>
                  <a:txBody>
                    <a:bodyPr/>
                    <a:lstStyle/>
                    <a:p>
                      <a:pPr algn="ctr" marR="342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45,000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318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318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2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6,750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318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6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15.00%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318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85876">
                <a:tc>
                  <a:txBody>
                    <a:bodyPr/>
                    <a:lstStyle/>
                    <a:p>
                      <a:pPr algn="ctr" marR="298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89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895"/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12,500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895"/>
                </a:tc>
                <a:tc>
                  <a:txBody>
                    <a:bodyPr/>
                    <a:lstStyle/>
                    <a:p>
                      <a:pPr marL="69469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17.86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89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4447">
                <a:tc>
                  <a:txBody>
                    <a:bodyPr/>
                    <a:lstStyle/>
                    <a:p>
                      <a:pPr algn="ctr" marR="298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95,000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/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20,550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/>
                </a:tc>
                <a:tc>
                  <a:txBody>
                    <a:bodyPr/>
                    <a:lstStyle/>
                    <a:p>
                      <a:pPr marL="6946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21.63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marR="317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/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80,750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/>
                </a:tc>
                <a:tc>
                  <a:txBody>
                    <a:bodyPr/>
                    <a:lstStyle/>
                    <a:p>
                      <a:pPr marL="6946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32.30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4447">
                <a:tc>
                  <a:txBody>
                    <a:bodyPr/>
                    <a:lstStyle/>
                    <a:p>
                      <a:pPr algn="ctr" marR="266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/>
                </a:tc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340,000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/>
                </a:tc>
                <a:tc>
                  <a:txBody>
                    <a:bodyPr/>
                    <a:lstStyle/>
                    <a:p>
                      <a:pPr marL="6946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34.00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4446">
                <a:tc>
                  <a:txBody>
                    <a:bodyPr/>
                    <a:lstStyle/>
                    <a:p>
                      <a:pPr algn="ctr" marR="298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17,500,000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/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6,100,000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/>
                </a:tc>
                <a:tc>
                  <a:txBody>
                    <a:bodyPr/>
                    <a:lstStyle/>
                    <a:p>
                      <a:pPr marL="6946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34.86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4510">
                <a:tc>
                  <a:txBody>
                    <a:bodyPr/>
                    <a:lstStyle/>
                    <a:p>
                      <a:pPr algn="ctr" marR="298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50,000,000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/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17,500,000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/>
                </a:tc>
                <a:tc>
                  <a:txBody>
                    <a:bodyPr/>
                    <a:lstStyle/>
                    <a:p>
                      <a:pPr marL="6946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35.00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55211">
                <a:tc>
                  <a:txBody>
                    <a:bodyPr/>
                    <a:lstStyle/>
                    <a:p>
                      <a:pPr algn="ctr" marR="317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35,000,000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46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35.00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176629" y="8344027"/>
            <a:ext cx="5666105" cy="12020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Average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vs.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Marginal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Tax </a:t>
            </a:r>
            <a:r>
              <a:rPr dirty="0" sz="1100" spc="-5" b="1">
                <a:latin typeface="Garamond"/>
                <a:cs typeface="Garamond"/>
              </a:rPr>
              <a:t>Rates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1016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makes,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grater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percentage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taxable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paid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never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down,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though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marginal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does.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normally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marginal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10">
                <a:latin typeface="Garamond"/>
                <a:cs typeface="Garamond"/>
              </a:rPr>
              <a:t> 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relevant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decision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making,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new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taxed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marginal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869949"/>
            <a:ext cx="5672455" cy="1024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Cost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Tax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Deductible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Expense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businesspersons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often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say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tax-deductible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item,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such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loans,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travel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expenditures,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salaries,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substantially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after-tax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basis.</a:t>
            </a:r>
            <a:endParaRPr sz="1100">
              <a:latin typeface="Garamond"/>
              <a:cs typeface="Garamond"/>
            </a:endParaRPr>
          </a:p>
          <a:p>
            <a:pPr marL="469900" marR="635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Let’s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examine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corporations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$100,000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expense.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19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825498" y="2049144"/>
          <a:ext cx="5617210" cy="1496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6075"/>
                <a:gridCol w="1743710"/>
                <a:gridCol w="987425"/>
              </a:tblGrid>
              <a:tr h="278892">
                <a:tc gridSpan="2">
                  <a:txBody>
                    <a:bodyPr/>
                    <a:lstStyle/>
                    <a:p>
                      <a:pPr algn="r" marR="9334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Co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9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1594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Co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B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1594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213990">
                <a:tc>
                  <a:txBody>
                    <a:bodyPr/>
                    <a:lstStyle/>
                    <a:p>
                      <a:pPr marL="67945" marR="37782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100" spc="-1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gs</a:t>
                      </a:r>
                      <a:r>
                        <a:rPr dirty="0" sz="1100" spc="-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x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9844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1150" marR="85344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$400,000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9844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$400,000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9844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algn="r">
                        <a:lnSpc>
                          <a:spcPts val="1240"/>
                        </a:lnSpc>
                        <a:tabLst>
                          <a:tab pos="2167890" algn="l"/>
                          <a:tab pos="2698750" algn="l"/>
                        </a:tabLst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17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Expense	</a:t>
                      </a: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5285">
                        <a:lnSpc>
                          <a:spcPts val="1240"/>
                        </a:lnSpc>
                        <a:tabLst>
                          <a:tab pos="1737995" algn="l"/>
                        </a:tabLst>
                      </a:pP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100,000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0"/>
                        </a:lnSpc>
                      </a:pPr>
                      <a:r>
                        <a:rPr dirty="0" u="sng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</a:t>
                      </a:r>
                      <a:r>
                        <a:rPr dirty="0" u="sng" sz="1100" spc="-3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205740">
                <a:tc>
                  <a:txBody>
                    <a:bodyPr/>
                    <a:lstStyle/>
                    <a:p>
                      <a:pPr marL="95885" marR="3778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1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gs</a:t>
                      </a:r>
                      <a:r>
                        <a:rPr dirty="0" sz="1100" spc="-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ef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x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(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x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me)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375285" marR="853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300,000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algn="r" marR="61594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400,000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/>
                </a:tc>
              </a:tr>
              <a:tr h="217297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"/>
                        </a:spcBef>
                        <a:tabLst>
                          <a:tab pos="2172335" algn="l"/>
                          <a:tab pos="2703195" algn="l"/>
                        </a:tabLst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@35%	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375285" marR="350520">
                        <a:lnSpc>
                          <a:spcPct val="100000"/>
                        </a:lnSpc>
                        <a:spcBef>
                          <a:spcPts val="60"/>
                        </a:spcBef>
                        <a:tabLst>
                          <a:tab pos="1381125" algn="l"/>
                        </a:tabLst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105,000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140,000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/>
                </a:tc>
              </a:tr>
              <a:tr h="208152">
                <a:tc>
                  <a:txBody>
                    <a:bodyPr/>
                    <a:lstStyle/>
                    <a:p>
                      <a:pPr marL="67945" marR="57785">
                        <a:lnSpc>
                          <a:spcPct val="100000"/>
                        </a:lnSpc>
                        <a:spcBef>
                          <a:spcPts val="114"/>
                        </a:spcBef>
                        <a:tabLst>
                          <a:tab pos="2346325" algn="l"/>
                          <a:tab pos="2813050" algn="l"/>
                        </a:tabLst>
                      </a:pPr>
                      <a:r>
                        <a:rPr dirty="0" sz="1100" spc="-1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gs</a:t>
                      </a:r>
                      <a:r>
                        <a:rPr dirty="0" sz="1100" spc="-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fter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x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heavy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heavy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311150" marR="414020">
                        <a:lnSpc>
                          <a:spcPct val="100000"/>
                        </a:lnSpc>
                        <a:spcBef>
                          <a:spcPts val="114"/>
                        </a:spcBef>
                        <a:tabLst>
                          <a:tab pos="1316990" algn="l"/>
                        </a:tabLst>
                      </a:pPr>
                      <a:r>
                        <a:rPr dirty="0" u="heavy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$195,000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u="heavy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$260,000</a:t>
                      </a:r>
                      <a:r>
                        <a:rPr dirty="0" u="heavy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4604"/>
                </a:tc>
              </a:tr>
              <a:tr h="184880">
                <a:tc>
                  <a:txBody>
                    <a:bodyPr/>
                    <a:lstStyle/>
                    <a:p>
                      <a:pPr marL="67945" marR="377825">
                        <a:lnSpc>
                          <a:spcPts val="1295"/>
                        </a:lnSpc>
                        <a:spcBef>
                          <a:spcPts val="60"/>
                        </a:spcBef>
                      </a:pPr>
                      <a:r>
                        <a:rPr dirty="0" sz="1100" spc="-10" b="1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ff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7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6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x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/>
                </a:tc>
                <a:tc gridSpan="2">
                  <a:txBody>
                    <a:bodyPr/>
                    <a:lstStyle/>
                    <a:p>
                      <a:pPr algn="ctr" marR="149860">
                        <a:lnSpc>
                          <a:spcPts val="131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$65,000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3838701"/>
            <a:ext cx="5672455" cy="17418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27735">
              <a:lnSpc>
                <a:spcPts val="127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computed</a:t>
            </a:r>
            <a:r>
              <a:rPr dirty="0" sz="1100">
                <a:latin typeface="Garamond"/>
                <a:cs typeface="Garamond"/>
              </a:rPr>
              <a:t> as: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Expense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rate)</a:t>
            </a:r>
            <a:endParaRPr sz="1100">
              <a:latin typeface="Garamond"/>
              <a:cs typeface="Garamond"/>
            </a:endParaRPr>
          </a:p>
          <a:p>
            <a:pPr marL="2757170">
              <a:lnSpc>
                <a:spcPts val="124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$100,000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35%)</a:t>
            </a:r>
            <a:endParaRPr sz="1100">
              <a:latin typeface="Garamond"/>
              <a:cs typeface="Garamond"/>
            </a:endParaRPr>
          </a:p>
          <a:p>
            <a:pPr marL="2757170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$65,000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Cost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Tax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Deductible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Expense</a:t>
            </a:r>
            <a:endParaRPr sz="1100">
              <a:latin typeface="Garamond"/>
              <a:cs typeface="Garamond"/>
            </a:endParaRPr>
          </a:p>
          <a:p>
            <a:pPr algn="just" marL="469900" marR="13335" indent="-228600">
              <a:lnSpc>
                <a:spcPts val="1220"/>
              </a:lnSpc>
              <a:spcBef>
                <a:spcPts val="894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Interest is deducted </a:t>
            </a:r>
            <a:r>
              <a:rPr dirty="0" sz="1100" spc="-5">
                <a:latin typeface="Garamond"/>
                <a:cs typeface="Garamond"/>
              </a:rPr>
              <a:t>from </a:t>
            </a:r>
            <a:r>
              <a:rPr dirty="0" sz="1100">
                <a:latin typeface="Garamond"/>
                <a:cs typeface="Garamond"/>
              </a:rPr>
              <a:t>earnings before determining taxable </a:t>
            </a:r>
            <a:r>
              <a:rPr dirty="0" sz="1100" spc="-5">
                <a:latin typeface="Garamond"/>
                <a:cs typeface="Garamond"/>
              </a:rPr>
              <a:t>income, </a:t>
            </a:r>
            <a:r>
              <a:rPr dirty="0" sz="1100">
                <a:latin typeface="Garamond"/>
                <a:cs typeface="Garamond"/>
              </a:rPr>
              <a:t>thus </a:t>
            </a:r>
            <a:r>
              <a:rPr dirty="0" sz="1100" spc="-5">
                <a:latin typeface="Garamond"/>
                <a:cs typeface="Garamond"/>
              </a:rPr>
              <a:t>saving $35,000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 taxes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$65,000</a:t>
            </a:r>
            <a:r>
              <a:rPr dirty="0" sz="1100" spc="-10">
                <a:latin typeface="Garamond"/>
                <a:cs typeface="Garamond"/>
              </a:rPr>
              <a:t> 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 </a:t>
            </a:r>
            <a:r>
              <a:rPr dirty="0" sz="1100">
                <a:latin typeface="Garamond"/>
                <a:cs typeface="Garamond"/>
              </a:rPr>
              <a:t>basis.</a:t>
            </a:r>
            <a:endParaRPr sz="1100">
              <a:latin typeface="Garamond"/>
              <a:cs typeface="Garamond"/>
            </a:endParaRPr>
          </a:p>
          <a:p>
            <a:pPr algn="just" marL="469900" marR="5080" indent="-228600">
              <a:lnSpc>
                <a:spcPct val="94200"/>
              </a:lnSpc>
              <a:spcBef>
                <a:spcPts val="14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Because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dividend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>
                <a:latin typeface="Garamond"/>
                <a:cs typeface="Garamond"/>
              </a:rPr>
              <a:t> is </a:t>
            </a:r>
            <a:r>
              <a:rPr dirty="0" sz="1100" spc="-5">
                <a:latin typeface="Garamond"/>
                <a:cs typeface="Garamond"/>
              </a:rPr>
              <a:t>non-tax-deductible,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 </a:t>
            </a:r>
            <a:r>
              <a:rPr dirty="0" sz="1100">
                <a:latin typeface="Garamond"/>
                <a:cs typeface="Garamond"/>
              </a:rPr>
              <a:t>say it </a:t>
            </a:r>
            <a:r>
              <a:rPr dirty="0" sz="1100" spc="-5">
                <a:latin typeface="Garamond"/>
                <a:cs typeface="Garamond"/>
              </a:rPr>
              <a:t>cost </a:t>
            </a:r>
            <a:r>
              <a:rPr dirty="0" sz="1100">
                <a:latin typeface="Garamond"/>
                <a:cs typeface="Garamond"/>
              </a:rPr>
              <a:t>100%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amount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paid. </a:t>
            </a:r>
            <a:r>
              <a:rPr dirty="0" sz="1100" spc="-10">
                <a:latin typeface="Garamond"/>
                <a:cs typeface="Garamond"/>
              </a:rPr>
              <a:t>From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purely </a:t>
            </a:r>
            <a:r>
              <a:rPr dirty="0" sz="1100" spc="-5">
                <a:latin typeface="Garamond"/>
                <a:cs typeface="Garamond"/>
              </a:rPr>
              <a:t>corporate cash flow </a:t>
            </a:r>
            <a:r>
              <a:rPr dirty="0" sz="1100" spc="5">
                <a:latin typeface="Garamond"/>
                <a:cs typeface="Garamond"/>
              </a:rPr>
              <a:t>point of </a:t>
            </a:r>
            <a:r>
              <a:rPr dirty="0" sz="1100" spc="-5">
                <a:latin typeface="Garamond"/>
                <a:cs typeface="Garamond"/>
              </a:rPr>
              <a:t>view, </a:t>
            </a:r>
            <a:r>
              <a:rPr dirty="0" sz="1100" spc="-10">
                <a:latin typeface="Garamond"/>
                <a:cs typeface="Garamond"/>
              </a:rPr>
              <a:t>the firm </a:t>
            </a:r>
            <a:r>
              <a:rPr dirty="0" sz="1100">
                <a:latin typeface="Garamond"/>
                <a:cs typeface="Garamond"/>
              </a:rPr>
              <a:t>would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10">
                <a:latin typeface="Garamond"/>
                <a:cs typeface="Garamond"/>
              </a:rPr>
              <a:t>indifferent </a:t>
            </a:r>
            <a:r>
              <a:rPr dirty="0" sz="1100" spc="-5">
                <a:latin typeface="Garamond"/>
                <a:cs typeface="Garamond"/>
              </a:rPr>
              <a:t>between </a:t>
            </a:r>
            <a:r>
              <a:rPr dirty="0" sz="1100">
                <a:latin typeface="Garamond"/>
                <a:cs typeface="Garamond"/>
              </a:rPr>
              <a:t> paying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$65,000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44895" y="714501"/>
            <a:ext cx="68707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5" b="1">
                <a:latin typeface="Garamond"/>
                <a:cs typeface="Garamond"/>
              </a:rPr>
              <a:t>L</a:t>
            </a:r>
            <a:r>
              <a:rPr dirty="0" sz="1100" spc="5" b="1">
                <a:latin typeface="Garamond"/>
                <a:cs typeface="Garamond"/>
              </a:rPr>
              <a:t>E</a:t>
            </a:r>
            <a:r>
              <a:rPr dirty="0" sz="1100" spc="-25" b="1">
                <a:latin typeface="Garamond"/>
                <a:cs typeface="Garamond"/>
              </a:rPr>
              <a:t>SS</a:t>
            </a:r>
            <a:r>
              <a:rPr dirty="0" sz="1100" spc="25" b="1">
                <a:latin typeface="Garamond"/>
                <a:cs typeface="Garamond"/>
              </a:rPr>
              <a:t>O</a:t>
            </a:r>
            <a:r>
              <a:rPr dirty="0" sz="1100" spc="10" b="1">
                <a:latin typeface="Garamond"/>
                <a:cs typeface="Garamond"/>
              </a:rPr>
              <a:t>N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6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20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5508" y="869949"/>
            <a:ext cx="5444490" cy="1069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R="220345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DEPRECATION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AS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A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TAX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SHIELD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Garamond"/>
              <a:cs typeface="Garamond"/>
            </a:endParaRPr>
          </a:p>
          <a:p>
            <a:pPr marL="240665" marR="11430" indent="-228600">
              <a:lnSpc>
                <a:spcPts val="126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Although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depreciation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source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funds,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provides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function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shielding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part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Again,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charges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off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$100,000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depreciation,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charges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none.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770252" y="2094864"/>
          <a:ext cx="4483735" cy="184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6960"/>
                <a:gridCol w="1114425"/>
                <a:gridCol w="1021080"/>
              </a:tblGrid>
              <a:tr h="278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Co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9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4765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Co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B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4765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21627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 spc="-1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gs</a:t>
                      </a:r>
                      <a:r>
                        <a:rPr dirty="0" sz="1100" spc="-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x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29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$400,000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29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29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4306">
                <a:tc>
                  <a:txBody>
                    <a:bodyPr/>
                    <a:lstStyle/>
                    <a:p>
                      <a:pPr marL="178435">
                        <a:lnSpc>
                          <a:spcPts val="119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17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ts val="108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08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88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-1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gs</a:t>
                      </a:r>
                      <a:r>
                        <a:rPr dirty="0" sz="1100" spc="-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ef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x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(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x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me)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300,000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318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400,000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318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1012"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@35%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105,000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71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140,000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71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5790">
                <a:tc>
                  <a:txBody>
                    <a:bodyPr/>
                    <a:lstStyle/>
                    <a:p>
                      <a:pPr marL="68580">
                        <a:lnSpc>
                          <a:spcPts val="1215"/>
                        </a:lnSpc>
                        <a:spcBef>
                          <a:spcPts val="305"/>
                        </a:spcBef>
                      </a:pPr>
                      <a:r>
                        <a:rPr dirty="0" sz="1100" spc="-1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gs</a:t>
                      </a:r>
                      <a:r>
                        <a:rPr dirty="0" sz="1100" spc="-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fter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x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735"/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ts val="1215"/>
                        </a:lnSpc>
                        <a:spcBef>
                          <a:spcPts val="30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$195,000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73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15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$260,000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73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6236">
                <a:tc>
                  <a:txBody>
                    <a:bodyPr/>
                    <a:lstStyle/>
                    <a:p>
                      <a:pPr marL="68580">
                        <a:lnSpc>
                          <a:spcPts val="1270"/>
                        </a:lnSpc>
                        <a:spcBef>
                          <a:spcPts val="15"/>
                        </a:spcBef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+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Dep.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charged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without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outlay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ts val="105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05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166">
                <a:tc>
                  <a:txBody>
                    <a:bodyPr/>
                    <a:lstStyle/>
                    <a:p>
                      <a:pPr marL="68580">
                        <a:lnSpc>
                          <a:spcPts val="1245"/>
                        </a:lnSpc>
                        <a:spcBef>
                          <a:spcPts val="17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lo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2225"/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ts val="130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$295,000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$260,000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4135">
                <a:tc>
                  <a:txBody>
                    <a:bodyPr/>
                    <a:lstStyle/>
                    <a:p>
                      <a:pPr marL="68580">
                        <a:lnSpc>
                          <a:spcPts val="1295"/>
                        </a:lnSpc>
                        <a:spcBef>
                          <a:spcPts val="13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Difference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7145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$35,000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176629" y="4071873"/>
            <a:ext cx="5675630" cy="55245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1944370">
              <a:lnSpc>
                <a:spcPts val="127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computed</a:t>
            </a:r>
            <a:r>
              <a:rPr dirty="0" sz="1100">
                <a:latin typeface="Garamond"/>
                <a:cs typeface="Garamond"/>
              </a:rPr>
              <a:t> as: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Depreciation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 algn="r" marR="1915160">
              <a:lnSpc>
                <a:spcPts val="124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$100,000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35%</a:t>
            </a:r>
            <a:endParaRPr sz="1100">
              <a:latin typeface="Garamond"/>
              <a:cs typeface="Garamond"/>
            </a:endParaRPr>
          </a:p>
          <a:p>
            <a:pPr algn="ctr" marL="39052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$35,000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Depreciation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as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Tax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Shield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1143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Corporation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enjoys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$35,000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since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depreciation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shielded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$100,000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taxation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saved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$35,000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eventually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appeared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Financial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Flow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aramond"/>
              <a:cs typeface="Garamond"/>
            </a:endParaRPr>
          </a:p>
          <a:p>
            <a:pPr marL="469900" marR="10795" indent="-228600">
              <a:lnSpc>
                <a:spcPts val="123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extracted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firm.</a:t>
            </a:r>
            <a:endParaRPr sz="1100">
              <a:latin typeface="Garamond"/>
              <a:cs typeface="Garamond"/>
            </a:endParaRPr>
          </a:p>
          <a:p>
            <a:pPr marL="469900" marR="15240" indent="-228600">
              <a:lnSpc>
                <a:spcPts val="122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magic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finance,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must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creditors</a:t>
            </a:r>
            <a:r>
              <a:rPr dirty="0" sz="1100">
                <a:latin typeface="Garamond"/>
                <a:cs typeface="Garamond"/>
              </a:rPr>
              <a:t> 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stockholders.</a:t>
            </a:r>
            <a:endParaRPr sz="1100">
              <a:latin typeface="Garamond"/>
              <a:cs typeface="Garamond"/>
            </a:endParaRPr>
          </a:p>
          <a:p>
            <a:pPr marL="524510">
              <a:lnSpc>
                <a:spcPts val="1240"/>
              </a:lnSpc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Flow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from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Assets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=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</a:t>
            </a:r>
            <a:r>
              <a:rPr dirty="0" sz="1100" spc="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Flow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to </a:t>
            </a:r>
            <a:r>
              <a:rPr dirty="0" sz="1100" spc="-5" b="1">
                <a:latin typeface="Garamond"/>
                <a:cs typeface="Garamond"/>
              </a:rPr>
              <a:t>Creditors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+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Flow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to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Stockholders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Flow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from</a:t>
            </a:r>
            <a:r>
              <a:rPr dirty="0" sz="1100" spc="-5" b="1">
                <a:latin typeface="Garamond"/>
                <a:cs typeface="Garamond"/>
              </a:rPr>
              <a:t> Assets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5">
                <a:latin typeface="Garamond"/>
                <a:cs typeface="Garamond"/>
              </a:rPr>
              <a:t>involves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components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Spending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Change in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 Working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Operating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Flow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9525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refers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results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day-to-day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activities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selling</a:t>
            </a:r>
            <a:endParaRPr sz="1100">
              <a:latin typeface="Garamond"/>
              <a:cs typeface="Garamond"/>
            </a:endParaRPr>
          </a:p>
          <a:p>
            <a:pPr marL="469900" marR="1270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Expenses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related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included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since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expenses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2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OCF,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revenues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minus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(including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cash),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25">
                <a:latin typeface="Garamond"/>
                <a:cs typeface="Garamond"/>
              </a:rPr>
              <a:t>but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don’t </a:t>
            </a:r>
            <a:r>
              <a:rPr dirty="0" sz="1100" spc="-5">
                <a:latin typeface="Garamond"/>
                <a:cs typeface="Garamond"/>
              </a:rPr>
              <a:t>include: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Depreciation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out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expense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831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 marR="29209" indent="-228600">
              <a:lnSpc>
                <a:spcPts val="1260"/>
              </a:lnSpc>
              <a:spcBef>
                <a:spcPts val="10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OCF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very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significant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tells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whether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inflows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operations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sufficient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cover</a:t>
            </a:r>
            <a:r>
              <a:rPr dirty="0" sz="1100">
                <a:latin typeface="Garamond"/>
                <a:cs typeface="Garamond"/>
              </a:rPr>
              <a:t> its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everyday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outflows.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negative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sign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trouble.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20749" y="1577974"/>
          <a:ext cx="2805430" cy="210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2965"/>
                <a:gridCol w="671830"/>
              </a:tblGrid>
              <a:tr h="631189">
                <a:tc>
                  <a:txBody>
                    <a:bodyPr/>
                    <a:lstStyle/>
                    <a:p>
                      <a:pPr algn="ctr" marL="665480">
                        <a:lnSpc>
                          <a:spcPts val="111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786765" marR="118745">
                        <a:lnSpc>
                          <a:spcPts val="1220"/>
                        </a:lnSpc>
                        <a:spcBef>
                          <a:spcPts val="7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Financial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664845">
                        <a:lnSpc>
                          <a:spcPts val="12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3507">
                <a:tc>
                  <a:txBody>
                    <a:bodyPr/>
                    <a:lstStyle/>
                    <a:p>
                      <a:pPr marL="67945">
                        <a:lnSpc>
                          <a:spcPts val="119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8210">
                <a:tc>
                  <a:txBody>
                    <a:bodyPr/>
                    <a:lstStyle/>
                    <a:p>
                      <a:pPr marL="67945">
                        <a:lnSpc>
                          <a:spcPts val="1160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-1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6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57448">
                <a:tc>
                  <a:txBody>
                    <a:bodyPr/>
                    <a:lstStyle/>
                    <a:p>
                      <a:pPr marL="67945">
                        <a:lnSpc>
                          <a:spcPts val="111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1594">
                        <a:lnSpc>
                          <a:spcPts val="111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(173)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305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Additions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working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  <a:tabLst>
                          <a:tab pos="23304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(23)</a:t>
                      </a:r>
                      <a:r>
                        <a:rPr dirty="0" u="sng" sz="1100" spc="-8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3736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  <a:tabLst>
                          <a:tab pos="246379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7005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Investors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5575">
                <a:tc>
                  <a:txBody>
                    <a:bodyPr/>
                    <a:lstStyle/>
                    <a:p>
                      <a:pPr marL="67945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591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  <a:tabLst>
                          <a:tab pos="37909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6</a:t>
                      </a:r>
                      <a:r>
                        <a:rPr dirty="0" u="sng" sz="1100" spc="-6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6592">
                <a:tc>
                  <a:txBody>
                    <a:bodyPr/>
                    <a:lstStyle/>
                    <a:p>
                      <a:pPr marL="67945">
                        <a:lnSpc>
                          <a:spcPts val="121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10"/>
                        </a:lnSpc>
                        <a:tabLst>
                          <a:tab pos="255904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21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76629" y="4021582"/>
            <a:ext cx="5670550" cy="1042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Capital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Spending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aramond"/>
              <a:cs typeface="Garamond"/>
            </a:endParaRPr>
          </a:p>
          <a:p>
            <a:pPr marL="469900" marR="5080" indent="-228600">
              <a:lnSpc>
                <a:spcPts val="123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Some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reinvested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firm.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spending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refers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spending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5">
                <a:latin typeface="Garamond"/>
                <a:cs typeface="Garamond"/>
              </a:rPr>
              <a:t>(Purchases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less </a:t>
            </a:r>
            <a:r>
              <a:rPr dirty="0" sz="1100" spc="-10">
                <a:latin typeface="Garamond"/>
                <a:cs typeface="Garamond"/>
              </a:rPr>
              <a:t>sale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assets).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Spending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could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negative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purchased.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Depreciation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respective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regard.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20749" y="5374512"/>
          <a:ext cx="2805430" cy="210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0"/>
                <a:gridCol w="671194"/>
              </a:tblGrid>
              <a:tr h="635508">
                <a:tc>
                  <a:txBody>
                    <a:bodyPr/>
                    <a:lstStyle/>
                    <a:p>
                      <a:pPr algn="ctr" marL="665480">
                        <a:lnSpc>
                          <a:spcPts val="111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786765" marR="119380">
                        <a:lnSpc>
                          <a:spcPts val="1260"/>
                        </a:lnSpc>
                        <a:spcBef>
                          <a:spcPts val="4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Financial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664210">
                        <a:lnSpc>
                          <a:spcPts val="119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1412"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marL="67945">
                        <a:lnSpc>
                          <a:spcPts val="1150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-1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8019">
                <a:tc>
                  <a:txBody>
                    <a:bodyPr/>
                    <a:lstStyle/>
                    <a:p>
                      <a:pPr marL="67945">
                        <a:lnSpc>
                          <a:spcPts val="115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1594">
                        <a:lnSpc>
                          <a:spcPts val="115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(173)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64433">
                <a:tc>
                  <a:txBody>
                    <a:bodyPr/>
                    <a:lstStyle/>
                    <a:p>
                      <a:pPr marL="67945">
                        <a:lnSpc>
                          <a:spcPts val="115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Additions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working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5"/>
                        </a:lnSpc>
                        <a:tabLst>
                          <a:tab pos="23304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(23)</a:t>
                      </a:r>
                      <a:r>
                        <a:rPr dirty="0" u="sng" sz="1100" spc="-8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576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  <a:tabLst>
                          <a:tab pos="246379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6877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Investors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7733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433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  <a:tabLst>
                          <a:tab pos="37909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6</a:t>
                      </a:r>
                      <a:r>
                        <a:rPr dirty="0" u="sng" sz="1100" spc="-6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433">
                <a:tc>
                  <a:txBody>
                    <a:bodyPr/>
                    <a:lstStyle/>
                    <a:p>
                      <a:pPr marL="67945">
                        <a:lnSpc>
                          <a:spcPts val="119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95"/>
                        </a:lnSpc>
                        <a:tabLst>
                          <a:tab pos="255904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7726959"/>
            <a:ext cx="5664835" cy="71247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00" b="1">
                <a:latin typeface="Garamond"/>
                <a:cs typeface="Garamond"/>
              </a:rPr>
              <a:t>Change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in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Net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Working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Capital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20"/>
              </a:lnSpc>
              <a:spcBef>
                <a:spcPts val="89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represents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over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liabilities.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036695" y="2233675"/>
          <a:ext cx="1524000" cy="1019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5515"/>
                <a:gridCol w="578485"/>
              </a:tblGrid>
              <a:tr h="219006">
                <a:tc gridSpan="2"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u="sng" sz="1100" spc="-3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u="sng" sz="1100" spc="-4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2384"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0784">
                <a:tc>
                  <a:txBody>
                    <a:bodyPr/>
                    <a:lstStyle/>
                    <a:p>
                      <a:pPr marL="98425">
                        <a:lnSpc>
                          <a:spcPts val="126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EBIT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70815">
                        <a:lnSpc>
                          <a:spcPts val="126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$219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80594">
                <a:tc>
                  <a:txBody>
                    <a:bodyPr/>
                    <a:lstStyle/>
                    <a:p>
                      <a:pPr marL="9842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636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98425">
                        <a:lnSpc>
                          <a:spcPts val="125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45415">
                        <a:lnSpc>
                          <a:spcPts val="125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2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(71)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255909">
                <a:tc>
                  <a:txBody>
                    <a:bodyPr/>
                    <a:lstStyle/>
                    <a:p>
                      <a:pPr marL="98425">
                        <a:lnSpc>
                          <a:spcPts val="129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OCF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70815">
                        <a:lnSpc>
                          <a:spcPts val="1290"/>
                        </a:lnSpc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$238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036695" y="6029197"/>
            <a:ext cx="1914525" cy="157861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3020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260"/>
              </a:spcBef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Capital</a:t>
            </a:r>
            <a:r>
              <a:rPr dirty="0" u="sng" sz="1100" spc="-5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Spending</a:t>
            </a:r>
            <a:endParaRPr sz="1100">
              <a:latin typeface="Garamond"/>
              <a:cs typeface="Garamond"/>
            </a:endParaRPr>
          </a:p>
          <a:p>
            <a:pPr marL="98425" marR="92075">
              <a:lnSpc>
                <a:spcPts val="1440"/>
              </a:lnSpc>
              <a:spcBef>
                <a:spcPts val="35"/>
              </a:spcBef>
              <a:tabLst>
                <a:tab pos="1470660" algn="l"/>
                <a:tab pos="1649095" algn="l"/>
              </a:tabLst>
            </a:pPr>
            <a:r>
              <a:rPr dirty="0" sz="1100">
                <a:latin typeface="Garamond"/>
                <a:cs typeface="Garamond"/>
              </a:rPr>
              <a:t>Purchase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$(198)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Sales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	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	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25</a:t>
            </a:r>
            <a:endParaRPr sz="1100">
              <a:latin typeface="Garamond"/>
              <a:cs typeface="Garamond"/>
            </a:endParaRPr>
          </a:p>
          <a:p>
            <a:pPr marL="98425">
              <a:lnSpc>
                <a:spcPct val="100000"/>
              </a:lnSpc>
              <a:spcBef>
                <a:spcPts val="15"/>
              </a:spcBef>
              <a:tabLst>
                <a:tab pos="1470660" algn="l"/>
              </a:tabLst>
            </a:pPr>
            <a:r>
              <a:rPr dirty="0" sz="1100" b="1">
                <a:latin typeface="Garamond"/>
                <a:cs typeface="Garamond"/>
              </a:rPr>
              <a:t>Capital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Spending	</a:t>
            </a:r>
            <a:r>
              <a:rPr dirty="0" u="dbl" sz="1100" spc="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$(173)</a:t>
            </a:r>
            <a:endParaRPr sz="1100">
              <a:latin typeface="Garamond"/>
              <a:cs typeface="Garamond"/>
            </a:endParaRPr>
          </a:p>
          <a:p>
            <a:pPr algn="just" marL="98425" marR="251460">
              <a:lnSpc>
                <a:spcPct val="109100"/>
              </a:lnSpc>
            </a:pPr>
            <a:r>
              <a:rPr dirty="0" sz="1100" spc="5" i="1">
                <a:latin typeface="Garamond"/>
                <a:cs typeface="Garamond"/>
              </a:rPr>
              <a:t>$173= </a:t>
            </a:r>
            <a:r>
              <a:rPr dirty="0" sz="1100" spc="-5" i="1">
                <a:latin typeface="Garamond"/>
                <a:cs typeface="Garamond"/>
              </a:rPr>
              <a:t>$149 </a:t>
            </a:r>
            <a:r>
              <a:rPr dirty="0" sz="1100" spc="10" i="1">
                <a:latin typeface="Garamond"/>
                <a:cs typeface="Garamond"/>
              </a:rPr>
              <a:t>+ </a:t>
            </a:r>
            <a:r>
              <a:rPr dirty="0" sz="1100" spc="-10" i="1">
                <a:latin typeface="Garamond"/>
                <a:cs typeface="Garamond"/>
              </a:rPr>
              <a:t>$24 </a:t>
            </a:r>
            <a:r>
              <a:rPr dirty="0" sz="1100" spc="-5" i="1">
                <a:latin typeface="Garamond"/>
                <a:cs typeface="Garamond"/>
              </a:rPr>
              <a:t>(increase </a:t>
            </a:r>
            <a:r>
              <a:rPr dirty="0" sz="1100" i="1">
                <a:latin typeface="Garamond"/>
                <a:cs typeface="Garamond"/>
              </a:rPr>
              <a:t>in </a:t>
            </a:r>
            <a:r>
              <a:rPr dirty="0" sz="1100" spc="-26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property, </a:t>
            </a:r>
            <a:r>
              <a:rPr dirty="0" sz="1100" spc="-5" i="1">
                <a:latin typeface="Garamond"/>
                <a:cs typeface="Garamond"/>
              </a:rPr>
              <a:t>plant, </a:t>
            </a:r>
            <a:r>
              <a:rPr dirty="0" sz="1100" spc="5" i="1">
                <a:latin typeface="Garamond"/>
                <a:cs typeface="Garamond"/>
              </a:rPr>
              <a:t>and </a:t>
            </a:r>
            <a:r>
              <a:rPr dirty="0" sz="1100" spc="-5" i="1">
                <a:latin typeface="Garamond"/>
                <a:cs typeface="Garamond"/>
              </a:rPr>
              <a:t>equipment </a:t>
            </a:r>
            <a:r>
              <a:rPr dirty="0" sz="1100" spc="10" i="1">
                <a:latin typeface="Garamond"/>
                <a:cs typeface="Garamond"/>
              </a:rPr>
              <a:t>+ </a:t>
            </a:r>
            <a:r>
              <a:rPr dirty="0" sz="1100" spc="-26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increase</a:t>
            </a:r>
            <a:r>
              <a:rPr dirty="0" sz="1100" spc="-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in </a:t>
            </a:r>
            <a:r>
              <a:rPr dirty="0" sz="1100" spc="-5" i="1">
                <a:latin typeface="Garamond"/>
                <a:cs typeface="Garamond"/>
              </a:rPr>
              <a:t>intangible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assets)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20749" y="905585"/>
          <a:ext cx="2805430" cy="210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2965"/>
                <a:gridCol w="671830"/>
              </a:tblGrid>
              <a:tr h="635812">
                <a:tc>
                  <a:txBody>
                    <a:bodyPr/>
                    <a:lstStyle/>
                    <a:p>
                      <a:pPr algn="ctr" marL="665480">
                        <a:lnSpc>
                          <a:spcPts val="112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786765" marR="118745">
                        <a:lnSpc>
                          <a:spcPts val="1220"/>
                        </a:lnSpc>
                        <a:spcBef>
                          <a:spcPts val="9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Financial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664845">
                        <a:lnSpc>
                          <a:spcPts val="120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3444"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67945">
                        <a:lnSpc>
                          <a:spcPts val="1125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-1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8019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1594">
                        <a:lnSpc>
                          <a:spcPts val="11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(173)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9448">
                <a:tc>
                  <a:txBody>
                    <a:bodyPr/>
                    <a:lstStyle/>
                    <a:p>
                      <a:pPr marL="67945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Additions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working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25"/>
                        </a:lnSpc>
                        <a:tabLst>
                          <a:tab pos="23304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(23)</a:t>
                      </a:r>
                      <a:r>
                        <a:rPr dirty="0" u="sng" sz="1100" spc="-8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76498"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65"/>
                        </a:lnSpc>
                        <a:tabLst>
                          <a:tab pos="246379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7068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Investors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7733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306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  <a:tabLst>
                          <a:tab pos="37909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6</a:t>
                      </a:r>
                      <a:r>
                        <a:rPr dirty="0" u="sng" sz="1100" spc="-6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306">
                <a:tc>
                  <a:txBody>
                    <a:bodyPr/>
                    <a:lstStyle/>
                    <a:p>
                      <a:pPr marL="67945">
                        <a:lnSpc>
                          <a:spcPts val="119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95"/>
                        </a:lnSpc>
                        <a:tabLst>
                          <a:tab pos="255904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22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20749" y="3531107"/>
          <a:ext cx="2805430" cy="210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2180"/>
                <a:gridCol w="603250"/>
              </a:tblGrid>
              <a:tr h="631190">
                <a:tc gridSpan="2">
                  <a:txBody>
                    <a:bodyPr/>
                    <a:lstStyle/>
                    <a:p>
                      <a:pPr algn="ctr" marL="3175" marR="3175">
                        <a:lnSpc>
                          <a:spcPts val="111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786765" marR="790575">
                        <a:lnSpc>
                          <a:spcPts val="1230"/>
                        </a:lnSpc>
                        <a:spcBef>
                          <a:spcPts val="6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Financial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2540" marR="3175">
                        <a:lnSpc>
                          <a:spcPts val="123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1241">
                <a:tc>
                  <a:txBody>
                    <a:bodyPr/>
                    <a:lstStyle/>
                    <a:p>
                      <a:pPr marL="67945">
                        <a:lnSpc>
                          <a:spcPts val="118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67945">
                        <a:lnSpc>
                          <a:spcPts val="1250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-1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r" marR="63500">
                        <a:lnSpc>
                          <a:spcPts val="1295"/>
                        </a:lnSpc>
                        <a:spcBef>
                          <a:spcPts val="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44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924">
                <a:tc>
                  <a:txBody>
                    <a:bodyPr/>
                    <a:lstStyle/>
                    <a:p>
                      <a:pPr marL="6794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1594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(173)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448">
                <a:tc>
                  <a:txBody>
                    <a:bodyPr/>
                    <a:lstStyle/>
                    <a:p>
                      <a:pPr marL="67945">
                        <a:lnSpc>
                          <a:spcPts val="113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Additions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working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135"/>
                        </a:lnSpc>
                        <a:tabLst>
                          <a:tab pos="23304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(23)</a:t>
                      </a:r>
                      <a:r>
                        <a:rPr dirty="0" u="sng" sz="1100" spc="-8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9163"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  <a:tabLst>
                          <a:tab pos="246379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331882">
                <a:tc>
                  <a:txBody>
                    <a:bodyPr/>
                    <a:lstStyle/>
                    <a:p>
                      <a:pPr marL="67945">
                        <a:lnSpc>
                          <a:spcPts val="1270"/>
                        </a:lnSpc>
                        <a:spcBef>
                          <a:spcPts val="1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Investors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6794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r" marR="63500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10"/>
                </a:tc>
              </a:tr>
              <a:tr h="164719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  <a:tabLst>
                          <a:tab pos="37909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6</a:t>
                      </a:r>
                      <a:r>
                        <a:rPr dirty="0" u="sng" sz="1100" spc="-6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6592">
                <a:tc>
                  <a:txBody>
                    <a:bodyPr/>
                    <a:lstStyle/>
                    <a:p>
                      <a:pPr marL="67945">
                        <a:lnSpc>
                          <a:spcPts val="121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10"/>
                        </a:lnSpc>
                        <a:tabLst>
                          <a:tab pos="255904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6084569"/>
            <a:ext cx="4535170" cy="5295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Flow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to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Creditors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creditors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calculated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borrowing.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120749" y="6925055"/>
          <a:ext cx="2805430" cy="210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2965"/>
                <a:gridCol w="671830"/>
              </a:tblGrid>
              <a:tr h="635761">
                <a:tc>
                  <a:txBody>
                    <a:bodyPr/>
                    <a:lstStyle/>
                    <a:p>
                      <a:pPr algn="ctr" marL="665480">
                        <a:lnSpc>
                          <a:spcPts val="112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786765" marR="118745">
                        <a:lnSpc>
                          <a:spcPts val="1220"/>
                        </a:lnSpc>
                        <a:spcBef>
                          <a:spcPts val="9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Financial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664845">
                        <a:lnSpc>
                          <a:spcPts val="12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3317"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marL="67945">
                        <a:lnSpc>
                          <a:spcPts val="1125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-1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924">
                <a:tc>
                  <a:txBody>
                    <a:bodyPr/>
                    <a:lstStyle/>
                    <a:p>
                      <a:pPr marL="6794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1594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(173)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782"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Additions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working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  <a:tabLst>
                          <a:tab pos="23304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(23)</a:t>
                      </a:r>
                      <a:r>
                        <a:rPr dirty="0" u="sng" sz="1100" spc="-8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3736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  <a:tabLst>
                          <a:tab pos="246379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6877">
                <a:tc>
                  <a:txBody>
                    <a:bodyPr/>
                    <a:lstStyle/>
                    <a:p>
                      <a:pPr marL="67945">
                        <a:lnSpc>
                          <a:spcPts val="122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Investors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5448">
                <a:tc>
                  <a:txBody>
                    <a:bodyPr/>
                    <a:lstStyle/>
                    <a:p>
                      <a:pPr marL="67945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62432">
                <a:tc>
                  <a:txBody>
                    <a:bodyPr/>
                    <a:lstStyle/>
                    <a:p>
                      <a:pPr marL="67945">
                        <a:lnSpc>
                          <a:spcPts val="115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5"/>
                        </a:lnSpc>
                        <a:tabLst>
                          <a:tab pos="37909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6</a:t>
                      </a:r>
                      <a:r>
                        <a:rPr dirty="0" u="sng" sz="1100" spc="-6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433">
                <a:tc>
                  <a:txBody>
                    <a:bodyPr/>
                    <a:lstStyle/>
                    <a:p>
                      <a:pPr marL="67945">
                        <a:lnSpc>
                          <a:spcPts val="119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95"/>
                        </a:lnSpc>
                        <a:tabLst>
                          <a:tab pos="255904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036695" y="1566798"/>
            <a:ext cx="1914525" cy="8096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19050" rIns="0" bIns="0" rtlCol="0" vert="horz">
            <a:spAutoFit/>
          </a:bodyPr>
          <a:lstStyle/>
          <a:p>
            <a:pPr algn="just" marL="98425" marR="81915">
              <a:lnSpc>
                <a:spcPct val="107300"/>
              </a:lnSpc>
              <a:spcBef>
                <a:spcPts val="150"/>
              </a:spcBef>
            </a:pPr>
            <a:r>
              <a:rPr dirty="0" sz="1100" spc="5">
                <a:latin typeface="Garamond"/>
                <a:cs typeface="Garamond"/>
              </a:rPr>
              <a:t>NWC </a:t>
            </a:r>
            <a:r>
              <a:rPr dirty="0" sz="1100">
                <a:latin typeface="Garamond"/>
                <a:cs typeface="Garamond"/>
              </a:rPr>
              <a:t>grew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$275 million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20X2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$252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r>
              <a:rPr dirty="0" sz="1100">
                <a:latin typeface="Garamond"/>
                <a:cs typeface="Garamond"/>
              </a:rPr>
              <a:t> 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20X1.</a:t>
            </a:r>
            <a:r>
              <a:rPr dirty="0" sz="1100" spc="5">
                <a:latin typeface="Garamond"/>
                <a:cs typeface="Garamond"/>
              </a:rPr>
              <a:t> 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$23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0">
                <a:latin typeface="Garamond"/>
                <a:cs typeface="Garamond"/>
              </a:rPr>
              <a:t> 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NWC.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36695" y="4696078"/>
            <a:ext cx="2038350" cy="30480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29209" rIns="0" bIns="0" rtlCol="0" vert="horz">
            <a:spAutoFit/>
          </a:bodyPr>
          <a:lstStyle/>
          <a:p>
            <a:pPr marL="98425">
              <a:lnSpc>
                <a:spcPct val="100000"/>
              </a:lnSpc>
              <a:spcBef>
                <a:spcPts val="229"/>
              </a:spcBef>
            </a:pPr>
            <a:r>
              <a:rPr dirty="0" sz="1150" spc="15" b="1">
                <a:latin typeface="Garamond"/>
                <a:cs typeface="Garamond"/>
              </a:rPr>
              <a:t>Total</a:t>
            </a:r>
            <a:r>
              <a:rPr dirty="0" sz="1150" spc="-5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Cash </a:t>
            </a:r>
            <a:r>
              <a:rPr dirty="0" sz="1150" spc="25" b="1">
                <a:latin typeface="Garamond"/>
                <a:cs typeface="Garamond"/>
              </a:rPr>
              <a:t>Flow</a:t>
            </a:r>
            <a:r>
              <a:rPr dirty="0" sz="1150" spc="10" b="1">
                <a:latin typeface="Garamond"/>
                <a:cs typeface="Garamond"/>
              </a:rPr>
              <a:t> of</a:t>
            </a:r>
            <a:r>
              <a:rPr dirty="0" sz="1150" spc="-10" b="1">
                <a:latin typeface="Garamond"/>
                <a:cs typeface="Garamond"/>
              </a:rPr>
              <a:t> </a:t>
            </a:r>
            <a:r>
              <a:rPr dirty="0" sz="1150" spc="20" b="1">
                <a:latin typeface="Garamond"/>
                <a:cs typeface="Garamond"/>
              </a:rPr>
              <a:t>the</a:t>
            </a:r>
            <a:r>
              <a:rPr dirty="0" sz="1150" spc="5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Firm</a:t>
            </a:r>
            <a:endParaRPr sz="1150">
              <a:latin typeface="Garamond"/>
              <a:cs typeface="Garamond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036695" y="7846948"/>
          <a:ext cx="2390775" cy="1181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1180"/>
                <a:gridCol w="568959"/>
              </a:tblGrid>
              <a:tr h="220276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u="sng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u="sng" sz="1100" spc="-3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u="sng" sz="1100" spc="-3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1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u="sng" sz="1100" spc="-3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Creditors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11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80784">
                <a:tc>
                  <a:txBody>
                    <a:bodyPr/>
                    <a:lstStyle/>
                    <a:p>
                      <a:pPr marL="9842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$(49)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80594">
                <a:tc>
                  <a:txBody>
                    <a:bodyPr/>
                    <a:lstStyle/>
                    <a:p>
                      <a:pPr marL="98425">
                        <a:lnSpc>
                          <a:spcPts val="125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Retirement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25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3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(73)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80594">
                <a:tc>
                  <a:txBody>
                    <a:bodyPr/>
                    <a:lstStyle/>
                    <a:p>
                      <a:pPr marL="9842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Debt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service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$(122)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80720">
                <a:tc>
                  <a:txBody>
                    <a:bodyPr/>
                    <a:lstStyle/>
                    <a:p>
                      <a:pPr marL="98425">
                        <a:lnSpc>
                          <a:spcPts val="125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Proceeds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new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debt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sales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255"/>
                        </a:lnSpc>
                        <a:tabLst>
                          <a:tab pos="27622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2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86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238129">
                <a:tc>
                  <a:txBody>
                    <a:bodyPr/>
                    <a:lstStyle/>
                    <a:p>
                      <a:pPr marL="98425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ts val="1275"/>
                        </a:lnSpc>
                      </a:pP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dbl" sz="1100" spc="-2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(36)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4978400" cy="5302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Flow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to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Stockholders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 less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raised.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23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20749" y="1399666"/>
          <a:ext cx="2805430" cy="210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2965"/>
                <a:gridCol w="671830"/>
              </a:tblGrid>
              <a:tr h="631190">
                <a:tc>
                  <a:txBody>
                    <a:bodyPr/>
                    <a:lstStyle/>
                    <a:p>
                      <a:pPr algn="ctr" marL="665480">
                        <a:lnSpc>
                          <a:spcPts val="111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786765" marR="118745">
                        <a:lnSpc>
                          <a:spcPts val="1260"/>
                        </a:lnSpc>
                        <a:spcBef>
                          <a:spcPts val="4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Financial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664845">
                        <a:lnSpc>
                          <a:spcPts val="119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3317"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733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-1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924">
                <a:tc>
                  <a:txBody>
                    <a:bodyPr/>
                    <a:lstStyle/>
                    <a:p>
                      <a:pPr marL="6794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1594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(173)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496">
                <a:tc>
                  <a:txBody>
                    <a:bodyPr/>
                    <a:lstStyle/>
                    <a:p>
                      <a:pPr marL="67945">
                        <a:lnSpc>
                          <a:spcPts val="117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Additions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working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0"/>
                        </a:lnSpc>
                        <a:tabLst>
                          <a:tab pos="23304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(23)</a:t>
                      </a:r>
                      <a:r>
                        <a:rPr dirty="0" u="sng" sz="1100" spc="-8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3736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  <a:tabLst>
                          <a:tab pos="246379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6877">
                <a:tc>
                  <a:txBody>
                    <a:bodyPr/>
                    <a:lstStyle/>
                    <a:p>
                      <a:pPr marL="67945">
                        <a:lnSpc>
                          <a:spcPts val="121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Investors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8273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9448">
                <a:tc>
                  <a:txBody>
                    <a:bodyPr/>
                    <a:lstStyle/>
                    <a:p>
                      <a:pPr marL="67945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25"/>
                        </a:lnSpc>
                        <a:tabLst>
                          <a:tab pos="37909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6</a:t>
                      </a:r>
                      <a:r>
                        <a:rPr dirty="0" u="sng" sz="1100" spc="-6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marL="67945">
                        <a:lnSpc>
                          <a:spcPts val="124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0"/>
                        </a:lnSpc>
                        <a:tabLst>
                          <a:tab pos="255904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120749" y="4148581"/>
          <a:ext cx="2805430" cy="2099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0414"/>
                <a:gridCol w="753744"/>
              </a:tblGrid>
              <a:tr h="631316">
                <a:tc gridSpan="2">
                  <a:txBody>
                    <a:bodyPr/>
                    <a:lstStyle/>
                    <a:p>
                      <a:pPr algn="ctr" marL="3175" marR="3175">
                        <a:lnSpc>
                          <a:spcPts val="111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786765" marR="790575">
                        <a:lnSpc>
                          <a:spcPts val="1260"/>
                        </a:lnSpc>
                        <a:spcBef>
                          <a:spcPts val="4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Financial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2540" marR="3175">
                        <a:lnSpc>
                          <a:spcPts val="119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3317"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-1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860">
                <a:tc>
                  <a:txBody>
                    <a:bodyPr/>
                    <a:lstStyle/>
                    <a:p>
                      <a:pPr marL="6794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1594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(173)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9498">
                <a:tc>
                  <a:txBody>
                    <a:bodyPr/>
                    <a:lstStyle/>
                    <a:p>
                      <a:pPr marL="67945">
                        <a:lnSpc>
                          <a:spcPts val="115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Additions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working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55"/>
                        </a:lnSpc>
                        <a:tabLst>
                          <a:tab pos="23304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(23)</a:t>
                      </a:r>
                      <a:r>
                        <a:rPr dirty="0" u="sng" sz="1100" spc="-8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5451"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5"/>
                        </a:lnSpc>
                        <a:tabLst>
                          <a:tab pos="246379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8096">
                <a:tc gridSpan="2">
                  <a:txBody>
                    <a:bodyPr/>
                    <a:lstStyle/>
                    <a:p>
                      <a:pPr marL="67945" marR="3175">
                        <a:lnSpc>
                          <a:spcPts val="114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Investors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7924">
                <a:tc>
                  <a:txBody>
                    <a:bodyPr/>
                    <a:lstStyle/>
                    <a:p>
                      <a:pPr marL="6794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8343">
                <a:tc>
                  <a:txBody>
                    <a:bodyPr/>
                    <a:lstStyle/>
                    <a:p>
                      <a:pPr marL="67945">
                        <a:lnSpc>
                          <a:spcPts val="115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155"/>
                        </a:lnSpc>
                        <a:tabLst>
                          <a:tab pos="37909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6</a:t>
                      </a:r>
                      <a:r>
                        <a:rPr dirty="0" u="sng" sz="1100" spc="-6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0019"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  <a:tabLst>
                          <a:tab pos="255904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120749" y="6897623"/>
          <a:ext cx="2805430" cy="2099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0414"/>
                <a:gridCol w="753744"/>
              </a:tblGrid>
              <a:tr h="631190">
                <a:tc gridSpan="2">
                  <a:txBody>
                    <a:bodyPr/>
                    <a:lstStyle/>
                    <a:p>
                      <a:pPr algn="ctr" marL="3810" marR="3175">
                        <a:lnSpc>
                          <a:spcPts val="111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786765" marR="790575">
                        <a:lnSpc>
                          <a:spcPts val="1260"/>
                        </a:lnSpc>
                        <a:spcBef>
                          <a:spcPts val="4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Financial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2540" marR="3175">
                        <a:lnSpc>
                          <a:spcPts val="119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5603">
                <a:tc>
                  <a:txBody>
                    <a:bodyPr/>
                    <a:lstStyle/>
                    <a:p>
                      <a:pPr marL="67945">
                        <a:lnSpc>
                          <a:spcPts val="120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-1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5447">
                <a:tc>
                  <a:txBody>
                    <a:bodyPr/>
                    <a:lstStyle/>
                    <a:p>
                      <a:pPr marL="67945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1594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(173)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1675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Additions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working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  <a:tabLst>
                          <a:tab pos="23304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(23)</a:t>
                      </a:r>
                      <a:r>
                        <a:rPr dirty="0" u="sng" sz="1100" spc="-8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528"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0"/>
                        </a:lnSpc>
                        <a:tabLst>
                          <a:tab pos="246379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58096">
                <a:tc gridSpan="2">
                  <a:txBody>
                    <a:bodyPr/>
                    <a:lstStyle/>
                    <a:p>
                      <a:pPr marL="67945" marR="3175">
                        <a:lnSpc>
                          <a:spcPts val="114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Investors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7733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8152">
                <a:tc>
                  <a:txBody>
                    <a:bodyPr/>
                    <a:lstStyle/>
                    <a:p>
                      <a:pPr marL="67945">
                        <a:lnSpc>
                          <a:spcPts val="115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150"/>
                        </a:lnSpc>
                        <a:tabLst>
                          <a:tab pos="37909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6</a:t>
                      </a:r>
                      <a:r>
                        <a:rPr dirty="0" u="sng" sz="1100" spc="-6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0273">
                <a:tc>
                  <a:txBody>
                    <a:bodyPr/>
                    <a:lstStyle/>
                    <a:p>
                      <a:pPr marL="67945">
                        <a:lnSpc>
                          <a:spcPts val="123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175">
                        <a:lnSpc>
                          <a:spcPts val="1235"/>
                        </a:lnSpc>
                        <a:tabLst>
                          <a:tab pos="255904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$42</a:t>
                      </a:r>
                      <a:r>
                        <a:rPr dirty="0" u="dbl" sz="1100" spc="-6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036695" y="2320924"/>
          <a:ext cx="2390775" cy="1181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5945"/>
                <a:gridCol w="544830"/>
              </a:tblGrid>
              <a:tr h="39941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u="sng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u="sng" sz="1100" spc="-3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u="sng" sz="1100" spc="-3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1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u="sng" sz="1100" spc="-4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Stockholders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Dividends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2384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r" marR="138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$(43)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715">
                    <a:solidFill>
                      <a:srgbClr val="D9D9D9"/>
                    </a:solidFill>
                  </a:tcPr>
                </a:tc>
              </a:tr>
              <a:tr h="180594">
                <a:tc>
                  <a:txBody>
                    <a:bodyPr/>
                    <a:lstStyle/>
                    <a:p>
                      <a:pPr marL="9842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Repurchase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Stock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28905">
                        <a:lnSpc>
                          <a:spcPts val="1275"/>
                        </a:lnSpc>
                        <a:tabLst>
                          <a:tab pos="177800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(6)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80721">
                <a:tc>
                  <a:txBody>
                    <a:bodyPr/>
                    <a:lstStyle/>
                    <a:p>
                      <a:pPr marL="98425">
                        <a:lnSpc>
                          <a:spcPts val="125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Stockholders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25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$(49)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180721">
                <a:tc>
                  <a:txBody>
                    <a:bodyPr/>
                    <a:lstStyle/>
                    <a:p>
                      <a:pPr marL="9842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Proceeds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new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issue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65735">
                        <a:lnSpc>
                          <a:spcPts val="1275"/>
                        </a:lnSpc>
                        <a:tabLst>
                          <a:tab pos="17335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-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  <a:tr h="239653">
                <a:tc>
                  <a:txBody>
                    <a:bodyPr/>
                    <a:lstStyle/>
                    <a:p>
                      <a:pPr marL="98425">
                        <a:lnSpc>
                          <a:spcPts val="125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5415">
                        <a:lnSpc>
                          <a:spcPts val="1255"/>
                        </a:lnSpc>
                      </a:pP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dbl" sz="1100" spc="-5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spc="1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(6)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036695" y="5746495"/>
            <a:ext cx="1981200" cy="5048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13335" rIns="0" bIns="0" rtlCol="0" vert="horz">
            <a:spAutoFit/>
          </a:bodyPr>
          <a:lstStyle/>
          <a:p>
            <a:pPr marL="98425" marR="89535">
              <a:lnSpc>
                <a:spcPct val="112400"/>
              </a:lnSpc>
              <a:spcBef>
                <a:spcPts val="105"/>
              </a:spcBef>
              <a:tabLst>
                <a:tab pos="664845" algn="l"/>
                <a:tab pos="1212850" algn="l"/>
                <a:tab pos="1758950" algn="l"/>
              </a:tabLst>
            </a:pPr>
            <a:r>
              <a:rPr dirty="0" sz="1150" spc="35" b="1">
                <a:latin typeface="Garamond"/>
                <a:cs typeface="Garamond"/>
              </a:rPr>
              <a:t>T</a:t>
            </a:r>
            <a:r>
              <a:rPr dirty="0" sz="1150" spc="5" b="1">
                <a:latin typeface="Garamond"/>
                <a:cs typeface="Garamond"/>
              </a:rPr>
              <a:t>o</a:t>
            </a:r>
            <a:r>
              <a:rPr dirty="0" sz="1150" spc="-5" b="1">
                <a:latin typeface="Garamond"/>
                <a:cs typeface="Garamond"/>
              </a:rPr>
              <a:t>t</a:t>
            </a:r>
            <a:r>
              <a:rPr dirty="0" sz="1150" spc="20" b="1">
                <a:latin typeface="Garamond"/>
                <a:cs typeface="Garamond"/>
              </a:rPr>
              <a:t>a</a:t>
            </a:r>
            <a:r>
              <a:rPr dirty="0" sz="1150" spc="5" b="1">
                <a:latin typeface="Garamond"/>
                <a:cs typeface="Garamond"/>
              </a:rPr>
              <a:t>l</a:t>
            </a:r>
            <a:r>
              <a:rPr dirty="0" sz="1150" b="1">
                <a:latin typeface="Garamond"/>
                <a:cs typeface="Garamond"/>
              </a:rPr>
              <a:t>	</a:t>
            </a:r>
            <a:r>
              <a:rPr dirty="0" sz="1150" spc="10" b="1">
                <a:latin typeface="Garamond"/>
                <a:cs typeface="Garamond"/>
              </a:rPr>
              <a:t>C</a:t>
            </a:r>
            <a:r>
              <a:rPr dirty="0" sz="1150" spc="20" b="1">
                <a:latin typeface="Garamond"/>
                <a:cs typeface="Garamond"/>
              </a:rPr>
              <a:t>as</a:t>
            </a:r>
            <a:r>
              <a:rPr dirty="0" sz="1150" spc="20" b="1">
                <a:latin typeface="Garamond"/>
                <a:cs typeface="Garamond"/>
              </a:rPr>
              <a:t>h</a:t>
            </a:r>
            <a:r>
              <a:rPr dirty="0" sz="1150" b="1">
                <a:latin typeface="Garamond"/>
                <a:cs typeface="Garamond"/>
              </a:rPr>
              <a:t>	</a:t>
            </a:r>
            <a:r>
              <a:rPr dirty="0" sz="1150" spc="5" b="1">
                <a:latin typeface="Garamond"/>
                <a:cs typeface="Garamond"/>
              </a:rPr>
              <a:t>F</a:t>
            </a:r>
            <a:r>
              <a:rPr dirty="0" sz="1150" spc="15" b="1">
                <a:latin typeface="Garamond"/>
                <a:cs typeface="Garamond"/>
              </a:rPr>
              <a:t>l</a:t>
            </a:r>
            <a:r>
              <a:rPr dirty="0" sz="1150" spc="5" b="1">
                <a:latin typeface="Garamond"/>
                <a:cs typeface="Garamond"/>
              </a:rPr>
              <a:t>o</a:t>
            </a:r>
            <a:r>
              <a:rPr dirty="0" sz="1150" spc="25" b="1">
                <a:latin typeface="Garamond"/>
                <a:cs typeface="Garamond"/>
              </a:rPr>
              <a:t>w</a:t>
            </a:r>
            <a:r>
              <a:rPr dirty="0" sz="1150" b="1">
                <a:latin typeface="Garamond"/>
                <a:cs typeface="Garamond"/>
              </a:rPr>
              <a:t>	</a:t>
            </a:r>
            <a:r>
              <a:rPr dirty="0" sz="1150" spc="-5" b="1">
                <a:latin typeface="Garamond"/>
                <a:cs typeface="Garamond"/>
              </a:rPr>
              <a:t>t</a:t>
            </a:r>
            <a:r>
              <a:rPr dirty="0" sz="1150" spc="10" b="1">
                <a:latin typeface="Garamond"/>
                <a:cs typeface="Garamond"/>
              </a:rPr>
              <a:t>o  </a:t>
            </a:r>
            <a:r>
              <a:rPr dirty="0" sz="1150" spc="15" b="1">
                <a:latin typeface="Garamond"/>
                <a:cs typeface="Garamond"/>
              </a:rPr>
              <a:t>Creditors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and</a:t>
            </a:r>
            <a:r>
              <a:rPr dirty="0" sz="1150" spc="-25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Stockholders.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36695" y="7492364"/>
            <a:ext cx="2390775" cy="15335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9530" rIns="0" bIns="0" rtlCol="0" vert="horz">
            <a:spAutoFit/>
          </a:bodyPr>
          <a:lstStyle/>
          <a:p>
            <a:pPr algn="just" marL="98425" marR="80645">
              <a:lnSpc>
                <a:spcPts val="1220"/>
              </a:lnSpc>
              <a:spcBef>
                <a:spcPts val="390"/>
              </a:spcBef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cash from received from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firm’s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must </a:t>
            </a:r>
            <a:r>
              <a:rPr dirty="0" sz="1100" spc="-5">
                <a:latin typeface="Garamond"/>
                <a:cs typeface="Garamond"/>
              </a:rPr>
              <a:t>equal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5">
                <a:latin typeface="Garamond"/>
                <a:cs typeface="Garamond"/>
              </a:rPr>
              <a:t> creditors</a:t>
            </a:r>
            <a:r>
              <a:rPr dirty="0" sz="1100">
                <a:latin typeface="Garamond"/>
                <a:cs typeface="Garamond"/>
              </a:rPr>
              <a:t> and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Garamond"/>
              <a:cs typeface="Garamond"/>
            </a:endParaRPr>
          </a:p>
          <a:p>
            <a:pPr algn="just" marL="98425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CF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(Assets)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346075">
              <a:lnSpc>
                <a:spcPct val="100000"/>
              </a:lnSpc>
            </a:pPr>
            <a:r>
              <a:rPr dirty="0" sz="1100" spc="10" b="1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Garamond"/>
              <a:cs typeface="Garamond"/>
            </a:endParaRPr>
          </a:p>
          <a:p>
            <a:pPr algn="just" marL="98425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CF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(Creditors)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+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CF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(Stockholders)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869949"/>
            <a:ext cx="5511800" cy="37592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Flow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Summary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</a:t>
            </a:r>
            <a:r>
              <a:rPr dirty="0" sz="1100">
                <a:latin typeface="Garamond"/>
                <a:cs typeface="Garamond"/>
              </a:rPr>
              <a:t> identity: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creditors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4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99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Assets: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ts val="1290"/>
              </a:lnSpc>
              <a:spcBef>
                <a:spcPts val="1200"/>
              </a:spcBef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</a:t>
            </a:r>
            <a:endParaRPr sz="1100">
              <a:latin typeface="Garamond"/>
              <a:cs typeface="Garamond"/>
            </a:endParaRPr>
          </a:p>
          <a:p>
            <a:pPr lvl="1" marL="2377440" indent="-78105">
              <a:lnSpc>
                <a:spcPts val="1245"/>
              </a:lnSpc>
              <a:buChar char="-"/>
              <a:tabLst>
                <a:tab pos="2378075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C</a:t>
            </a:r>
            <a:r>
              <a:rPr dirty="0" sz="1100" spc="-2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40">
                <a:latin typeface="Garamond"/>
                <a:cs typeface="Garamond"/>
              </a:rPr>
              <a:t>t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-25">
                <a:latin typeface="Garamond"/>
                <a:cs typeface="Garamond"/>
              </a:rPr>
              <a:t>p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20">
                <a:latin typeface="Garamond"/>
                <a:cs typeface="Garamond"/>
              </a:rPr>
              <a:t>d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g</a:t>
            </a:r>
            <a:endParaRPr sz="1100">
              <a:latin typeface="Garamond"/>
              <a:cs typeface="Garamond"/>
            </a:endParaRPr>
          </a:p>
          <a:p>
            <a:pPr lvl="1" marL="2377440" indent="-78105">
              <a:lnSpc>
                <a:spcPts val="1225"/>
              </a:lnSpc>
              <a:buChar char="-"/>
              <a:tabLst>
                <a:tab pos="2378075" algn="l"/>
              </a:tabLst>
            </a:pPr>
            <a:r>
              <a:rPr dirty="0" sz="1100">
                <a:latin typeface="Garamond"/>
                <a:cs typeface="Garamond"/>
              </a:rPr>
              <a:t>Change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ts val="1240"/>
              </a:lnSpc>
            </a:pPr>
            <a:r>
              <a:rPr dirty="0" sz="1100" spc="-15" i="1">
                <a:latin typeface="Garamond"/>
                <a:cs typeface="Garamond"/>
              </a:rPr>
              <a:t>Where,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ts val="1240"/>
              </a:lnSpc>
            </a:pPr>
            <a:r>
              <a:rPr dirty="0" sz="1100" i="1">
                <a:latin typeface="Garamond"/>
                <a:cs typeface="Garamond"/>
              </a:rPr>
              <a:t>Operating</a:t>
            </a:r>
            <a:r>
              <a:rPr dirty="0" sz="1100" spc="-6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cash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flow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=</a:t>
            </a:r>
            <a:r>
              <a:rPr dirty="0" sz="1100" spc="2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Earnings</a:t>
            </a:r>
            <a:r>
              <a:rPr dirty="0" sz="1100" spc="-5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before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Interest</a:t>
            </a:r>
            <a:r>
              <a:rPr dirty="0" sz="1100" spc="-10" i="1">
                <a:latin typeface="Garamond"/>
                <a:cs typeface="Garamond"/>
              </a:rPr>
              <a:t> and</a:t>
            </a:r>
            <a:r>
              <a:rPr dirty="0" sz="1100" spc="-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taxes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+</a:t>
            </a:r>
            <a:r>
              <a:rPr dirty="0" sz="1100" spc="-4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Depreciation</a:t>
            </a:r>
            <a:r>
              <a:rPr dirty="0" sz="1100" spc="-6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–</a:t>
            </a:r>
            <a:r>
              <a:rPr dirty="0" sz="1100" spc="-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Taxes</a:t>
            </a:r>
            <a:endParaRPr sz="1100">
              <a:latin typeface="Garamond"/>
              <a:cs typeface="Garamond"/>
            </a:endParaRPr>
          </a:p>
          <a:p>
            <a:pPr marL="927735" marR="5080">
              <a:lnSpc>
                <a:spcPts val="1230"/>
              </a:lnSpc>
              <a:spcBef>
                <a:spcPts val="70"/>
              </a:spcBef>
            </a:pPr>
            <a:r>
              <a:rPr dirty="0" sz="1100" i="1">
                <a:latin typeface="Garamond"/>
                <a:cs typeface="Garamond"/>
              </a:rPr>
              <a:t>Net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Capital</a:t>
            </a:r>
            <a:r>
              <a:rPr dirty="0" sz="1100" spc="-4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Spending</a:t>
            </a:r>
            <a:r>
              <a:rPr dirty="0" sz="1100" spc="-55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=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Ending</a:t>
            </a:r>
            <a:r>
              <a:rPr dirty="0" sz="1100" spc="-4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Net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Fixed</a:t>
            </a:r>
            <a:r>
              <a:rPr dirty="0" sz="1100" spc="-4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Assets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-</a:t>
            </a:r>
            <a:r>
              <a:rPr dirty="0" sz="1100" spc="-5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Beginning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-10" i="1">
                <a:latin typeface="Garamond"/>
                <a:cs typeface="Garamond"/>
              </a:rPr>
              <a:t>Net </a:t>
            </a:r>
            <a:r>
              <a:rPr dirty="0" sz="1100" i="1">
                <a:latin typeface="Garamond"/>
                <a:cs typeface="Garamond"/>
              </a:rPr>
              <a:t>Fixed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Assets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+</a:t>
            </a:r>
            <a:r>
              <a:rPr dirty="0" sz="1100" spc="-4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Depreciation </a:t>
            </a:r>
            <a:r>
              <a:rPr dirty="0" sz="1100" spc="-26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Change</a:t>
            </a:r>
            <a:r>
              <a:rPr dirty="0" sz="1100" spc="-6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in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NWC</a:t>
            </a:r>
            <a:r>
              <a:rPr dirty="0" sz="1100" spc="-4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=</a:t>
            </a:r>
            <a:r>
              <a:rPr dirty="0" sz="1100" spc="2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Ending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NWC</a:t>
            </a:r>
            <a:r>
              <a:rPr dirty="0" sz="1100" spc="-4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–</a:t>
            </a:r>
            <a:r>
              <a:rPr dirty="0" sz="1100" spc="-5" i="1">
                <a:latin typeface="Garamond"/>
                <a:cs typeface="Garamond"/>
              </a:rPr>
              <a:t> Beginning</a:t>
            </a:r>
            <a:r>
              <a:rPr dirty="0" sz="1100" spc="-6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NWC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54737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547370" algn="l"/>
                <a:tab pos="548005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creditors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(bondholders):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ct val="100000"/>
              </a:lnSpc>
              <a:spcBef>
                <a:spcPts val="1200"/>
              </a:spcBef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creditors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 borrowings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Garamond"/>
              <a:cs typeface="Garamond"/>
            </a:endParaRPr>
          </a:p>
          <a:p>
            <a:pPr marL="547370" indent="-229235">
              <a:lnSpc>
                <a:spcPct val="100000"/>
              </a:lnSpc>
              <a:buFont typeface="Symbol"/>
              <a:buChar char=""/>
              <a:tabLst>
                <a:tab pos="547370" algn="l"/>
                <a:tab pos="548005" algn="l"/>
              </a:tabLst>
            </a:pPr>
            <a:r>
              <a:rPr dirty="0" sz="1100" spc="15">
                <a:latin typeface="Garamond"/>
                <a:cs typeface="Garamond"/>
              </a:rPr>
              <a:t>C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h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40">
                <a:latin typeface="Garamond"/>
                <a:cs typeface="Garamond"/>
              </a:rPr>
              <a:t>l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10">
                <a:latin typeface="Garamond"/>
                <a:cs typeface="Garamond"/>
              </a:rPr>
              <a:t>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40">
                <a:latin typeface="Garamond"/>
                <a:cs typeface="Garamond"/>
              </a:rPr>
              <a:t>t</a:t>
            </a:r>
            <a:r>
              <a:rPr dirty="0" sz="1100" spc="5">
                <a:latin typeface="Garamond"/>
                <a:cs typeface="Garamond"/>
              </a:rPr>
              <a:t>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-40">
                <a:latin typeface="Garamond"/>
                <a:cs typeface="Garamond"/>
              </a:rPr>
              <a:t>t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30">
                <a:latin typeface="Garamond"/>
                <a:cs typeface="Garamond"/>
              </a:rPr>
              <a:t>c</a:t>
            </a:r>
            <a:r>
              <a:rPr dirty="0" sz="1100" spc="20">
                <a:latin typeface="Garamond"/>
                <a:cs typeface="Garamond"/>
              </a:rPr>
              <a:t>k</a:t>
            </a:r>
            <a:r>
              <a:rPr dirty="0" sz="1100" spc="10">
                <a:latin typeface="Garamond"/>
                <a:cs typeface="Garamond"/>
              </a:rPr>
              <a:t>ho</a:t>
            </a:r>
            <a:r>
              <a:rPr dirty="0" sz="1100" spc="-40">
                <a:latin typeface="Garamond"/>
                <a:cs typeface="Garamond"/>
              </a:rPr>
              <a:t>l</a:t>
            </a:r>
            <a:r>
              <a:rPr dirty="0" sz="1100" spc="20">
                <a:latin typeface="Garamond"/>
                <a:cs typeface="Garamond"/>
              </a:rPr>
              <a:t>d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-40">
                <a:latin typeface="Garamond"/>
                <a:cs typeface="Garamond"/>
              </a:rPr>
              <a:t>(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15">
                <a:latin typeface="Garamond"/>
                <a:cs typeface="Garamond"/>
              </a:rPr>
              <a:t>w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>
                <a:latin typeface="Garamond"/>
                <a:cs typeface="Garamond"/>
              </a:rPr>
              <a:t>):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ct val="100000"/>
              </a:lnSpc>
              <a:spcBef>
                <a:spcPts val="1200"/>
              </a:spcBef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Dividends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Paid</a:t>
            </a:r>
            <a:r>
              <a:rPr dirty="0" sz="1100" spc="5">
                <a:latin typeface="Garamond"/>
                <a:cs typeface="Garamond"/>
              </a:rPr>
              <a:t> –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>
                <a:latin typeface="Garamond"/>
                <a:cs typeface="Garamond"/>
              </a:rPr>
              <a:t> equity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raised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44895" y="714501"/>
            <a:ext cx="68707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5" b="1">
                <a:latin typeface="Garamond"/>
                <a:cs typeface="Garamond"/>
              </a:rPr>
              <a:t>L</a:t>
            </a:r>
            <a:r>
              <a:rPr dirty="0" sz="1100" spc="5" b="1">
                <a:latin typeface="Garamond"/>
                <a:cs typeface="Garamond"/>
              </a:rPr>
              <a:t>E</a:t>
            </a:r>
            <a:r>
              <a:rPr dirty="0" sz="1100" spc="-25" b="1">
                <a:latin typeface="Garamond"/>
                <a:cs typeface="Garamond"/>
              </a:rPr>
              <a:t>SS</a:t>
            </a:r>
            <a:r>
              <a:rPr dirty="0" sz="1100" spc="25" b="1">
                <a:latin typeface="Garamond"/>
                <a:cs typeface="Garamond"/>
              </a:rPr>
              <a:t>O</a:t>
            </a:r>
            <a:r>
              <a:rPr dirty="0" sz="1100" spc="10" b="1">
                <a:latin typeface="Garamond"/>
                <a:cs typeface="Garamond"/>
              </a:rPr>
              <a:t>N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7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25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629" y="869949"/>
            <a:ext cx="4567555" cy="16967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63195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THE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15" b="1">
                <a:latin typeface="Garamond"/>
                <a:cs typeface="Garamond"/>
              </a:rPr>
              <a:t>OF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official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helps </a:t>
            </a:r>
            <a:r>
              <a:rPr dirty="0" sz="1100" spc="-5">
                <a:latin typeface="Garamond"/>
                <a:cs typeface="Garamond"/>
              </a:rPr>
              <a:t>explain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cash,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activities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activities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activities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Balance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Sheet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XYZ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067814" y="2717037"/>
          <a:ext cx="3888740" cy="2882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2515"/>
                <a:gridCol w="931544"/>
                <a:gridCol w="615314"/>
              </a:tblGrid>
              <a:tr h="635761">
                <a:tc gridSpan="3">
                  <a:txBody>
                    <a:bodyPr/>
                    <a:lstStyle/>
                    <a:p>
                      <a:pPr algn="ctr" marL="6985">
                        <a:lnSpc>
                          <a:spcPts val="112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513840" marR="1497330" indent="-7620">
                        <a:lnSpc>
                          <a:spcPts val="1220"/>
                        </a:lnSpc>
                        <a:spcBef>
                          <a:spcPts val="90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Balance Sheet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20X2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8890">
                        <a:lnSpc>
                          <a:spcPts val="120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3317">
                <a:tc>
                  <a:txBody>
                    <a:bodyPr/>
                    <a:lstStyle/>
                    <a:p>
                      <a:pPr algn="ctr" marL="3175">
                        <a:lnSpc>
                          <a:spcPts val="1185"/>
                        </a:lnSpc>
                      </a:pP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5420">
                        <a:lnSpc>
                          <a:spcPts val="118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ts val="1185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assets: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7860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equivalents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478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$107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860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478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294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5448"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4785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269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5866"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Other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2245">
                        <a:lnSpc>
                          <a:spcPts val="116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16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3317">
                <a:tc>
                  <a:txBody>
                    <a:bodyPr/>
                    <a:lstStyle/>
                    <a:p>
                      <a:pPr marL="247015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1610">
                        <a:lnSpc>
                          <a:spcPts val="118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$761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8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$707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5638"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assets: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7924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Property,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plant,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equipment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4785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$1423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$1274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4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Less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accumulated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732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550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96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460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5447"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property,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plant,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equipment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4785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873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814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5866"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Intangible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other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4785">
                        <a:lnSpc>
                          <a:spcPts val="11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245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221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9417">
                <a:tc>
                  <a:txBody>
                    <a:bodyPr/>
                    <a:lstStyle/>
                    <a:p>
                      <a:pPr marL="247015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fixed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4785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$1,118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$1,035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317">
                <a:tc>
                  <a:txBody>
                    <a:bodyPr/>
                    <a:lstStyle/>
                    <a:p>
                      <a:pPr marL="104775">
                        <a:lnSpc>
                          <a:spcPts val="12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4785">
                        <a:lnSpc>
                          <a:spcPts val="120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$1,879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0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$1,742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834642" y="5609970"/>
          <a:ext cx="4350385" cy="3899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6670"/>
                <a:gridCol w="256539"/>
                <a:gridCol w="908684"/>
                <a:gridCol w="620395"/>
              </a:tblGrid>
              <a:tr h="185166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31316">
                <a:tc gridSpan="4">
                  <a:txBody>
                    <a:bodyPr/>
                    <a:lstStyle/>
                    <a:p>
                      <a:pPr algn="ctr" marL="2540">
                        <a:lnSpc>
                          <a:spcPts val="111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742439" marR="1730375" indent="-7620">
                        <a:lnSpc>
                          <a:spcPts val="1220"/>
                        </a:lnSpc>
                        <a:spcBef>
                          <a:spcPts val="7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Balance Sheet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20X2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2540">
                        <a:lnSpc>
                          <a:spcPts val="12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7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21178">
                <a:tc>
                  <a:txBody>
                    <a:bodyPr/>
                    <a:lstStyle/>
                    <a:p>
                      <a:pPr marL="790575" marR="499745" indent="-18415">
                        <a:lnSpc>
                          <a:spcPts val="1220"/>
                        </a:lnSpc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Liabilities 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(Debt) </a:t>
                      </a:r>
                      <a:r>
                        <a:rPr dirty="0" u="sng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and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Stockholder's</a:t>
                      </a:r>
                      <a:r>
                        <a:rPr dirty="0" u="sng" sz="11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9367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861">
                <a:tc>
                  <a:txBody>
                    <a:bodyPr/>
                    <a:lstStyle/>
                    <a:p>
                      <a:pPr marL="67945">
                        <a:lnSpc>
                          <a:spcPts val="114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Liabilities: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5447">
                <a:tc>
                  <a:txBody>
                    <a:bodyPr/>
                    <a:lstStyle/>
                    <a:p>
                      <a:pPr marL="67945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3675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$197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4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Notes</a:t>
                      </a:r>
                      <a:r>
                        <a:rPr dirty="0" sz="1100" spc="-7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3580"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Accrued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3040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223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3571">
                <a:tc>
                  <a:txBody>
                    <a:bodyPr/>
                    <a:lstStyle/>
                    <a:p>
                      <a:pPr marL="246379">
                        <a:lnSpc>
                          <a:spcPts val="119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3675">
                        <a:lnSpc>
                          <a:spcPts val="119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$486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9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$455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Long-term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liabilities: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7733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Deferred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367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$117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$104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1294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te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3040">
                        <a:lnSpc>
                          <a:spcPts val="11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471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458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5984">
                <a:tc>
                  <a:txBody>
                    <a:bodyPr/>
                    <a:lstStyle/>
                    <a:p>
                      <a:pPr marL="246379">
                        <a:lnSpc>
                          <a:spcPts val="120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long-term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3675">
                        <a:lnSpc>
                          <a:spcPts val="120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0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$562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733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Stockholder's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equity: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5447">
                <a:tc>
                  <a:txBody>
                    <a:bodyPr/>
                    <a:lstStyle/>
                    <a:p>
                      <a:pPr marL="67945">
                        <a:lnSpc>
                          <a:spcPts val="112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Preferred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3040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4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Common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($1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per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value)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1135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861">
                <a:tc>
                  <a:txBody>
                    <a:bodyPr/>
                    <a:lstStyle/>
                    <a:p>
                      <a:pPr marL="6794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Capital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surplus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3040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347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5575">
                <a:tc>
                  <a:txBody>
                    <a:bodyPr/>
                    <a:lstStyle/>
                    <a:p>
                      <a:pPr marL="67945">
                        <a:lnSpc>
                          <a:spcPts val="112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Accumulated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retained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earnings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304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347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5866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Less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treasury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stock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5580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-26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16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9163">
                <a:tc>
                  <a:txBody>
                    <a:bodyPr/>
                    <a:lstStyle/>
                    <a:p>
                      <a:pPr marL="246379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367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$805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$725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8907">
                <a:tc>
                  <a:txBody>
                    <a:bodyPr/>
                    <a:lstStyle/>
                    <a:p>
                      <a:pPr marL="67945">
                        <a:lnSpc>
                          <a:spcPts val="1305"/>
                        </a:lnSpc>
                        <a:spcBef>
                          <a:spcPts val="160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Total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liabilities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stockholder's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3040">
                        <a:lnSpc>
                          <a:spcPts val="123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$1,879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3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$1,742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335352"/>
            <a:ext cx="5688965" cy="192913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25"/>
              </a:lnSpc>
              <a:spcBef>
                <a:spcPts val="780"/>
              </a:spcBef>
            </a:pPr>
            <a:r>
              <a:rPr dirty="0" sz="1150" spc="-25" b="1" i="1">
                <a:latin typeface="Garamond"/>
                <a:cs typeface="Garamond"/>
              </a:rPr>
              <a:t>Notes:</a:t>
            </a:r>
            <a:endParaRPr sz="1150">
              <a:latin typeface="Garamond"/>
              <a:cs typeface="Garamond"/>
            </a:endParaRPr>
          </a:p>
          <a:p>
            <a:pPr marL="12700" marR="24130">
              <a:lnSpc>
                <a:spcPts val="1260"/>
              </a:lnSpc>
              <a:spcBef>
                <a:spcPts val="40"/>
              </a:spcBef>
              <a:buAutoNum type="arabicPeriod"/>
              <a:tabLst>
                <a:tab pos="149860" algn="l"/>
              </a:tabLst>
            </a:pPr>
            <a:r>
              <a:rPr dirty="0" sz="1100" i="1">
                <a:latin typeface="Garamond"/>
                <a:cs typeface="Garamond"/>
              </a:rPr>
              <a:t>Long-term debt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rose</a:t>
            </a:r>
            <a:r>
              <a:rPr dirty="0" sz="1100" spc="10" i="1">
                <a:latin typeface="Garamond"/>
                <a:cs typeface="Garamond"/>
              </a:rPr>
              <a:t> by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($471</a:t>
            </a:r>
            <a:r>
              <a:rPr dirty="0" sz="1100" spc="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million–$458</a:t>
            </a:r>
            <a:r>
              <a:rPr dirty="0" sz="1100" spc="3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million)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$13</a:t>
            </a:r>
            <a:r>
              <a:rPr dirty="0" sz="1100" spc="3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million.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This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is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the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difference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between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$86</a:t>
            </a:r>
            <a:r>
              <a:rPr dirty="0" sz="1100" spc="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million</a:t>
            </a:r>
            <a:r>
              <a:rPr dirty="0" sz="1100" spc="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new</a:t>
            </a:r>
            <a:r>
              <a:rPr dirty="0" sz="1100" spc="-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debt </a:t>
            </a:r>
            <a:r>
              <a:rPr dirty="0" sz="1100" spc="-26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and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$73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million</a:t>
            </a:r>
            <a:r>
              <a:rPr dirty="0" sz="1100" i="1">
                <a:latin typeface="Garamond"/>
                <a:cs typeface="Garamond"/>
              </a:rPr>
              <a:t> in </a:t>
            </a:r>
            <a:r>
              <a:rPr dirty="0" sz="1100" spc="-5" i="1">
                <a:latin typeface="Garamond"/>
                <a:cs typeface="Garamond"/>
              </a:rPr>
              <a:t>retirement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of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old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  <a:p>
            <a:pPr marL="144780" indent="-132715">
              <a:lnSpc>
                <a:spcPct val="100000"/>
              </a:lnSpc>
              <a:spcBef>
                <a:spcPts val="880"/>
              </a:spcBef>
              <a:buAutoNum type="arabicPeriod"/>
              <a:tabLst>
                <a:tab pos="145415" algn="l"/>
              </a:tabLst>
            </a:pPr>
            <a:r>
              <a:rPr dirty="0" sz="1100" i="1">
                <a:latin typeface="Garamond"/>
                <a:cs typeface="Garamond"/>
              </a:rPr>
              <a:t>Treasury </a:t>
            </a:r>
            <a:r>
              <a:rPr dirty="0" sz="1100" spc="-5" i="1">
                <a:latin typeface="Garamond"/>
                <a:cs typeface="Garamond"/>
              </a:rPr>
              <a:t>stock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rose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by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$6</a:t>
            </a:r>
            <a:r>
              <a:rPr dirty="0" sz="1100" spc="-5" i="1">
                <a:latin typeface="Garamond"/>
                <a:cs typeface="Garamond"/>
              </a:rPr>
              <a:t> million.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This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reflects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the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repurchase</a:t>
            </a:r>
            <a:r>
              <a:rPr dirty="0" sz="1100" spc="-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of</a:t>
            </a:r>
            <a:r>
              <a:rPr dirty="0" sz="1100" spc="-10" i="1">
                <a:latin typeface="Garamond"/>
                <a:cs typeface="Garamond"/>
              </a:rPr>
              <a:t> $6</a:t>
            </a:r>
            <a:r>
              <a:rPr dirty="0" sz="1100" spc="3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million</a:t>
            </a:r>
            <a:r>
              <a:rPr dirty="0" sz="1100" spc="4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stock.</a:t>
            </a:r>
            <a:endParaRPr sz="1100">
              <a:latin typeface="Garamond"/>
              <a:cs typeface="Garamond"/>
            </a:endParaRPr>
          </a:p>
          <a:p>
            <a:pPr marL="12700" marR="123825">
              <a:lnSpc>
                <a:spcPts val="1230"/>
              </a:lnSpc>
              <a:spcBef>
                <a:spcPts val="1030"/>
              </a:spcBef>
              <a:buAutoNum type="arabicPeriod"/>
              <a:tabLst>
                <a:tab pos="146050" algn="l"/>
              </a:tabLst>
            </a:pPr>
            <a:r>
              <a:rPr dirty="0" sz="1100" spc="-5" i="1">
                <a:latin typeface="Garamond"/>
                <a:cs typeface="Garamond"/>
              </a:rPr>
              <a:t>XYZ </a:t>
            </a:r>
            <a:r>
              <a:rPr dirty="0" sz="1100" i="1">
                <a:latin typeface="Garamond"/>
                <a:cs typeface="Garamond"/>
              </a:rPr>
              <a:t>Corporation </a:t>
            </a:r>
            <a:r>
              <a:rPr dirty="0" sz="1100" spc="-5" i="1">
                <a:latin typeface="Garamond"/>
                <a:cs typeface="Garamond"/>
              </a:rPr>
              <a:t>reports </a:t>
            </a:r>
            <a:r>
              <a:rPr dirty="0" sz="1100" spc="5" i="1">
                <a:latin typeface="Garamond"/>
                <a:cs typeface="Garamond"/>
              </a:rPr>
              <a:t>$43 </a:t>
            </a:r>
            <a:r>
              <a:rPr dirty="0" sz="1100" spc="-5" i="1">
                <a:latin typeface="Garamond"/>
                <a:cs typeface="Garamond"/>
              </a:rPr>
              <a:t>million </a:t>
            </a:r>
            <a:r>
              <a:rPr dirty="0" sz="1100" i="1">
                <a:latin typeface="Garamond"/>
                <a:cs typeface="Garamond"/>
              </a:rPr>
              <a:t>in new equity. The </a:t>
            </a:r>
            <a:r>
              <a:rPr dirty="0" sz="1100" spc="-5" i="1">
                <a:latin typeface="Garamond"/>
                <a:cs typeface="Garamond"/>
              </a:rPr>
              <a:t>company issued </a:t>
            </a:r>
            <a:r>
              <a:rPr dirty="0" sz="1100" spc="15" i="1">
                <a:latin typeface="Garamond"/>
                <a:cs typeface="Garamond"/>
              </a:rPr>
              <a:t>23 </a:t>
            </a:r>
            <a:r>
              <a:rPr dirty="0" sz="1100" i="1">
                <a:latin typeface="Garamond"/>
                <a:cs typeface="Garamond"/>
              </a:rPr>
              <a:t>million </a:t>
            </a:r>
            <a:r>
              <a:rPr dirty="0" sz="1100" spc="-5" i="1">
                <a:latin typeface="Garamond"/>
                <a:cs typeface="Garamond"/>
              </a:rPr>
              <a:t>shares </a:t>
            </a:r>
            <a:r>
              <a:rPr dirty="0" sz="1100" spc="10" i="1">
                <a:latin typeface="Garamond"/>
                <a:cs typeface="Garamond"/>
              </a:rPr>
              <a:t>at </a:t>
            </a:r>
            <a:r>
              <a:rPr dirty="0" sz="1100" spc="5" i="1">
                <a:latin typeface="Garamond"/>
                <a:cs typeface="Garamond"/>
              </a:rPr>
              <a:t>a </a:t>
            </a:r>
            <a:r>
              <a:rPr dirty="0" sz="1100" spc="-5" i="1">
                <a:latin typeface="Garamond"/>
                <a:cs typeface="Garamond"/>
              </a:rPr>
              <a:t>price </a:t>
            </a:r>
            <a:r>
              <a:rPr dirty="0" sz="1100" i="1">
                <a:latin typeface="Garamond"/>
                <a:cs typeface="Garamond"/>
              </a:rPr>
              <a:t>of </a:t>
            </a:r>
            <a:r>
              <a:rPr dirty="0" sz="1100" spc="-5" i="1">
                <a:latin typeface="Garamond"/>
                <a:cs typeface="Garamond"/>
              </a:rPr>
              <a:t>$1.87. </a:t>
            </a:r>
            <a:r>
              <a:rPr dirty="0" sz="1100" spc="-10" i="1">
                <a:latin typeface="Garamond"/>
                <a:cs typeface="Garamond"/>
              </a:rPr>
              <a:t>The </a:t>
            </a:r>
            <a:r>
              <a:rPr dirty="0" sz="1100" spc="-26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par</a:t>
            </a:r>
            <a:r>
              <a:rPr dirty="0" sz="1100" spc="-4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value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-15" i="1">
                <a:latin typeface="Garamond"/>
                <a:cs typeface="Garamond"/>
              </a:rPr>
              <a:t>of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common</a:t>
            </a:r>
            <a:r>
              <a:rPr dirty="0" sz="110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stock</a:t>
            </a:r>
            <a:r>
              <a:rPr dirty="0" sz="1100" spc="2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is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increased </a:t>
            </a:r>
            <a:r>
              <a:rPr dirty="0" sz="1100" spc="10" i="1">
                <a:latin typeface="Garamond"/>
                <a:cs typeface="Garamond"/>
              </a:rPr>
              <a:t>by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$23</a:t>
            </a:r>
            <a:r>
              <a:rPr dirty="0" sz="1100" spc="-5" i="1">
                <a:latin typeface="Garamond"/>
                <a:cs typeface="Garamond"/>
              </a:rPr>
              <a:t> million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spc="-10" i="1">
                <a:latin typeface="Garamond"/>
                <a:cs typeface="Garamond"/>
              </a:rPr>
              <a:t>and</a:t>
            </a:r>
            <a:r>
              <a:rPr dirty="0" sz="1100" spc="25" i="1">
                <a:latin typeface="Garamond"/>
                <a:cs typeface="Garamond"/>
              </a:rPr>
              <a:t> </a:t>
            </a:r>
            <a:r>
              <a:rPr dirty="0" sz="1100" spc="-10" i="1">
                <a:latin typeface="Garamond"/>
                <a:cs typeface="Garamond"/>
              </a:rPr>
              <a:t>capital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surplus</a:t>
            </a:r>
            <a:r>
              <a:rPr dirty="0" sz="1100" spc="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is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increased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by</a:t>
            </a:r>
            <a:r>
              <a:rPr dirty="0" sz="1100" spc="-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$20</a:t>
            </a:r>
            <a:r>
              <a:rPr dirty="0" sz="1100" spc="-10" i="1">
                <a:latin typeface="Garamond"/>
                <a:cs typeface="Garamond"/>
              </a:rPr>
              <a:t> million.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Income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XYZ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58670" y="2419552"/>
          <a:ext cx="3943984" cy="3070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545"/>
                <a:gridCol w="1233805"/>
              </a:tblGrid>
              <a:tr h="631240">
                <a:tc>
                  <a:txBody>
                    <a:bodyPr/>
                    <a:lstStyle/>
                    <a:p>
                      <a:pPr algn="ctr" marL="1195070">
                        <a:lnSpc>
                          <a:spcPts val="111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426845" marR="188595">
                        <a:lnSpc>
                          <a:spcPts val="1260"/>
                        </a:lnSpc>
                        <a:spcBef>
                          <a:spcPts val="40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Income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Statement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195070">
                        <a:lnSpc>
                          <a:spcPts val="119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30480"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3444"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revenues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95885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$2,262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860">
                <a:tc>
                  <a:txBody>
                    <a:bodyPr/>
                    <a:lstStyle/>
                    <a:p>
                      <a:pPr marL="6794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goods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sold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525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-1655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3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Selling,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general,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administrative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525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-327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9371">
                <a:tc>
                  <a:txBody>
                    <a:bodyPr/>
                    <a:lstStyle/>
                    <a:p>
                      <a:pPr marL="67945">
                        <a:lnSpc>
                          <a:spcPts val="115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480">
                        <a:lnSpc>
                          <a:spcPts val="1155"/>
                        </a:lnSpc>
                        <a:tabLst>
                          <a:tab pos="69913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-90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7653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5885">
                        <a:lnSpc>
                          <a:spcPts val="12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8928"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Other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480">
                        <a:lnSpc>
                          <a:spcPts val="1185"/>
                        </a:lnSpc>
                        <a:tabLst>
                          <a:tab pos="740410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29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8096">
                <a:tc>
                  <a:txBody>
                    <a:bodyPr/>
                    <a:lstStyle/>
                    <a:p>
                      <a:pPr marL="6794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Earnings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before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588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$219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9371">
                <a:tc>
                  <a:txBody>
                    <a:bodyPr/>
                    <a:lstStyle/>
                    <a:p>
                      <a:pPr marL="67945">
                        <a:lnSpc>
                          <a:spcPts val="115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480">
                        <a:lnSpc>
                          <a:spcPts val="1155"/>
                        </a:lnSpc>
                        <a:tabLst>
                          <a:tab pos="69913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-49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7717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Pretax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5885">
                        <a:lnSpc>
                          <a:spcPts val="12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484459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67945" marR="1881505">
                        <a:lnSpc>
                          <a:spcPts val="1260"/>
                        </a:lnSpc>
                        <a:spcBef>
                          <a:spcPts val="4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Current: $71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Defe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: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1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7790">
                        <a:lnSpc>
                          <a:spcPts val="118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-84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R="3048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5463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229360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3735"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480">
                        <a:lnSpc>
                          <a:spcPts val="1185"/>
                        </a:lnSpc>
                        <a:tabLst>
                          <a:tab pos="681355" algn="l"/>
                        </a:tabLst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$86</a:t>
                      </a:r>
                      <a:r>
                        <a:rPr dirty="0" u="dbl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0509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Retained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earnings: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5250">
                        <a:lnSpc>
                          <a:spcPts val="11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9861">
                <a:tc>
                  <a:txBody>
                    <a:bodyPr/>
                    <a:lstStyle/>
                    <a:p>
                      <a:pPr marL="67945">
                        <a:lnSpc>
                          <a:spcPts val="116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Dividends: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5250">
                        <a:lnSpc>
                          <a:spcPts val="116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76629" y="5601035"/>
            <a:ext cx="5354320" cy="492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25" b="1" i="1">
                <a:latin typeface="Garamond"/>
                <a:cs typeface="Garamond"/>
              </a:rPr>
              <a:t>Notes:</a:t>
            </a:r>
            <a:endParaRPr sz="11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100" spc="10" i="1">
                <a:latin typeface="Garamond"/>
                <a:cs typeface="Garamond"/>
              </a:rPr>
              <a:t>1.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There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are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spc="15" i="1">
                <a:latin typeface="Garamond"/>
                <a:cs typeface="Garamond"/>
              </a:rPr>
              <a:t>29</a:t>
            </a:r>
            <a:r>
              <a:rPr dirty="0" sz="1100" spc="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million</a:t>
            </a:r>
            <a:r>
              <a:rPr dirty="0" sz="1100" spc="-3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shares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outstanding.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Earnings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per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share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-10" i="1">
                <a:latin typeface="Garamond"/>
                <a:cs typeface="Garamond"/>
              </a:rPr>
              <a:t>and</a:t>
            </a:r>
            <a:r>
              <a:rPr dirty="0" sz="110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dividends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per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share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can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be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calculated</a:t>
            </a:r>
            <a:r>
              <a:rPr dirty="0" sz="110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as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-10" i="1">
                <a:latin typeface="Garamond"/>
                <a:cs typeface="Garamond"/>
              </a:rPr>
              <a:t>follows: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6221729"/>
            <a:ext cx="103822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i="1">
                <a:latin typeface="Garamond"/>
                <a:cs typeface="Garamond"/>
              </a:rPr>
              <a:t>Earnings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per</a:t>
            </a:r>
            <a:r>
              <a:rPr dirty="0" sz="1100" spc="-3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share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85720" y="6180581"/>
            <a:ext cx="59182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25">
                <a:latin typeface="Cambria Math"/>
                <a:cs typeface="Cambria Math"/>
              </a:rPr>
              <a:t>𝑁𝑒𝑡</a:t>
            </a:r>
            <a:r>
              <a:rPr dirty="0" sz="800" spc="-40">
                <a:latin typeface="Cambria Math"/>
                <a:cs typeface="Cambria Math"/>
              </a:rPr>
              <a:t> </a:t>
            </a:r>
            <a:r>
              <a:rPr dirty="0" sz="800" spc="40">
                <a:latin typeface="Cambria Math"/>
                <a:cs typeface="Cambria Math"/>
              </a:rPr>
              <a:t>𝐼𝑛𝑐𝑜𝑚𝑒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6282" y="6336029"/>
            <a:ext cx="125349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35">
                <a:latin typeface="Cambria Math"/>
                <a:cs typeface="Cambria Math"/>
              </a:rPr>
              <a:t>𝑇𝑜𝑡𝑎𝑙</a:t>
            </a:r>
            <a:r>
              <a:rPr dirty="0" sz="800" spc="-10">
                <a:latin typeface="Cambria Math"/>
                <a:cs typeface="Cambria Math"/>
              </a:rPr>
              <a:t> </a:t>
            </a:r>
            <a:r>
              <a:rPr dirty="0" sz="800" spc="40">
                <a:latin typeface="Cambria Math"/>
                <a:cs typeface="Cambria Math"/>
              </a:rPr>
              <a:t>𝑠ℎ𝑎𝑟𝑒</a:t>
            </a:r>
            <a:r>
              <a:rPr dirty="0" sz="800" spc="-10">
                <a:latin typeface="Cambria Math"/>
                <a:cs typeface="Cambria Math"/>
              </a:rPr>
              <a:t> </a:t>
            </a:r>
            <a:r>
              <a:rPr dirty="0" sz="800" spc="50">
                <a:latin typeface="Cambria Math"/>
                <a:cs typeface="Cambria Math"/>
              </a:rPr>
              <a:t>𝑜𝑢𝑡𝑠𝑡𝑎𝑛𝑑i𝑛g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68982" y="6330441"/>
            <a:ext cx="1231265" cy="9525"/>
          </a:xfrm>
          <a:custGeom>
            <a:avLst/>
            <a:gdLst/>
            <a:ahLst/>
            <a:cxnLst/>
            <a:rect l="l" t="t" r="r" b="b"/>
            <a:pathLst>
              <a:path w="1231264" h="9525">
                <a:moveTo>
                  <a:pt x="1230782" y="0"/>
                </a:moveTo>
                <a:lnTo>
                  <a:pt x="0" y="0"/>
                </a:lnTo>
                <a:lnTo>
                  <a:pt x="0" y="9144"/>
                </a:lnTo>
                <a:lnTo>
                  <a:pt x="1230782" y="9144"/>
                </a:lnTo>
                <a:lnTo>
                  <a:pt x="12307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51229" y="6615176"/>
            <a:ext cx="132397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i="1">
                <a:latin typeface="Garamond"/>
                <a:cs typeface="Garamond"/>
              </a:rPr>
              <a:t>Earnings</a:t>
            </a:r>
            <a:r>
              <a:rPr dirty="0" sz="1100" spc="-5" i="1">
                <a:latin typeface="Garamond"/>
                <a:cs typeface="Garamond"/>
              </a:rPr>
              <a:t> per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share</a:t>
            </a:r>
            <a:r>
              <a:rPr dirty="0" sz="110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=</a:t>
            </a:r>
            <a:r>
              <a:rPr dirty="0" sz="1100" spc="225" i="1">
                <a:latin typeface="Garamond"/>
                <a:cs typeface="Garamond"/>
              </a:rPr>
              <a:t> </a:t>
            </a:r>
            <a:r>
              <a:rPr dirty="0" baseline="45138" sz="1200" spc="7">
                <a:latin typeface="Cambria Math"/>
                <a:cs typeface="Cambria Math"/>
              </a:rPr>
              <a:t>$86</a:t>
            </a:r>
            <a:endParaRPr baseline="45138" sz="12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56282" y="6729476"/>
            <a:ext cx="19050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latin typeface="Cambria Math"/>
                <a:cs typeface="Cambria Math"/>
              </a:rPr>
              <a:t>$</a:t>
            </a:r>
            <a:r>
              <a:rPr dirty="0" sz="800" spc="20">
                <a:latin typeface="Cambria Math"/>
                <a:cs typeface="Cambria Math"/>
              </a:rPr>
              <a:t>2</a:t>
            </a:r>
            <a:r>
              <a:rPr dirty="0" sz="800" spc="-10">
                <a:latin typeface="Cambria Math"/>
                <a:cs typeface="Cambria Math"/>
              </a:rPr>
              <a:t>9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68982" y="6723582"/>
            <a:ext cx="169545" cy="9525"/>
          </a:xfrm>
          <a:custGeom>
            <a:avLst/>
            <a:gdLst/>
            <a:ahLst/>
            <a:cxnLst/>
            <a:rect l="l" t="t" r="r" b="b"/>
            <a:pathLst>
              <a:path w="169544" h="9525">
                <a:moveTo>
                  <a:pt x="169468" y="0"/>
                </a:moveTo>
                <a:lnTo>
                  <a:pt x="0" y="0"/>
                </a:lnTo>
                <a:lnTo>
                  <a:pt x="0" y="9449"/>
                </a:lnTo>
                <a:lnTo>
                  <a:pt x="169468" y="9449"/>
                </a:lnTo>
                <a:lnTo>
                  <a:pt x="169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76629" y="6944359"/>
            <a:ext cx="18459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i="1">
                <a:latin typeface="Garamond"/>
                <a:cs typeface="Garamond"/>
              </a:rPr>
              <a:t>Earnings </a:t>
            </a:r>
            <a:r>
              <a:rPr dirty="0" sz="1100" spc="-5" i="1">
                <a:latin typeface="Garamond"/>
                <a:cs typeface="Garamond"/>
              </a:rPr>
              <a:t>per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share</a:t>
            </a:r>
            <a:r>
              <a:rPr dirty="0" sz="110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=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$</a:t>
            </a:r>
            <a:r>
              <a:rPr dirty="0" sz="1100" spc="-5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2.97 per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share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6629" y="7282941"/>
            <a:ext cx="103441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i="1">
                <a:latin typeface="Garamond"/>
                <a:cs typeface="Garamond"/>
              </a:rPr>
              <a:t>Dividend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per</a:t>
            </a:r>
            <a:r>
              <a:rPr dirty="0" sz="1100" spc="-5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share </a:t>
            </a:r>
            <a:r>
              <a:rPr dirty="0" sz="1100" spc="10" i="1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99435" y="7241539"/>
            <a:ext cx="47815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20">
                <a:latin typeface="Cambria Math"/>
                <a:cs typeface="Cambria Math"/>
              </a:rPr>
              <a:t>𝐷</a:t>
            </a:r>
            <a:r>
              <a:rPr dirty="0" sz="800" spc="60">
                <a:latin typeface="Cambria Math"/>
                <a:cs typeface="Cambria Math"/>
              </a:rPr>
              <a:t>i</a:t>
            </a:r>
            <a:r>
              <a:rPr dirty="0" sz="800">
                <a:latin typeface="Cambria Math"/>
                <a:cs typeface="Cambria Math"/>
              </a:rPr>
              <a:t>𝑣</a:t>
            </a:r>
            <a:r>
              <a:rPr dirty="0" sz="800" spc="60">
                <a:latin typeface="Cambria Math"/>
                <a:cs typeface="Cambria Math"/>
              </a:rPr>
              <a:t>i</a:t>
            </a:r>
            <a:r>
              <a:rPr dirty="0" sz="800" spc="70">
                <a:latin typeface="Cambria Math"/>
                <a:cs typeface="Cambria Math"/>
              </a:rPr>
              <a:t>𝑑𝑒</a:t>
            </a:r>
            <a:r>
              <a:rPr dirty="0" sz="800" spc="100">
                <a:latin typeface="Cambria Math"/>
                <a:cs typeface="Cambria Math"/>
              </a:rPr>
              <a:t>𝑛</a:t>
            </a:r>
            <a:r>
              <a:rPr dirty="0" sz="800" spc="70">
                <a:latin typeface="Cambria Math"/>
                <a:cs typeface="Cambria Math"/>
              </a:rPr>
              <a:t>𝑑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15133" y="7397241"/>
            <a:ext cx="125349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35">
                <a:latin typeface="Cambria Math"/>
                <a:cs typeface="Cambria Math"/>
              </a:rPr>
              <a:t>𝑇𝑜𝑡𝑎𝑙</a:t>
            </a:r>
            <a:r>
              <a:rPr dirty="0" sz="800" spc="-10">
                <a:latin typeface="Cambria Math"/>
                <a:cs typeface="Cambria Math"/>
              </a:rPr>
              <a:t> </a:t>
            </a:r>
            <a:r>
              <a:rPr dirty="0" sz="800" spc="40">
                <a:latin typeface="Cambria Math"/>
                <a:cs typeface="Cambria Math"/>
              </a:rPr>
              <a:t>𝑠ℎ𝑎𝑟𝑒</a:t>
            </a:r>
            <a:r>
              <a:rPr dirty="0" sz="800" spc="-10">
                <a:latin typeface="Cambria Math"/>
                <a:cs typeface="Cambria Math"/>
              </a:rPr>
              <a:t> </a:t>
            </a:r>
            <a:r>
              <a:rPr dirty="0" sz="800" spc="50">
                <a:latin typeface="Cambria Math"/>
                <a:cs typeface="Cambria Math"/>
              </a:rPr>
              <a:t>𝑜𝑢𝑡𝑠𝑡𝑎𝑛𝑑i𝑛g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27833" y="7391400"/>
            <a:ext cx="1231265" cy="9525"/>
          </a:xfrm>
          <a:custGeom>
            <a:avLst/>
            <a:gdLst/>
            <a:ahLst/>
            <a:cxnLst/>
            <a:rect l="l" t="t" r="r" b="b"/>
            <a:pathLst>
              <a:path w="1231264" h="9525">
                <a:moveTo>
                  <a:pt x="1230782" y="0"/>
                </a:moveTo>
                <a:lnTo>
                  <a:pt x="0" y="0"/>
                </a:lnTo>
                <a:lnTo>
                  <a:pt x="0" y="9143"/>
                </a:lnTo>
                <a:lnTo>
                  <a:pt x="1230782" y="9143"/>
                </a:lnTo>
                <a:lnTo>
                  <a:pt x="12307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51229" y="7671561"/>
            <a:ext cx="12827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i="1">
                <a:latin typeface="Garamond"/>
                <a:cs typeface="Garamond"/>
              </a:rPr>
              <a:t>Dividend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per</a:t>
            </a:r>
            <a:r>
              <a:rPr dirty="0" sz="1100" spc="-5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share</a:t>
            </a:r>
            <a:r>
              <a:rPr dirty="0" sz="110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=</a:t>
            </a:r>
            <a:r>
              <a:rPr dirty="0" sz="1100" spc="-40" i="1">
                <a:latin typeface="Garamond"/>
                <a:cs typeface="Garamond"/>
              </a:rPr>
              <a:t> </a:t>
            </a:r>
            <a:r>
              <a:rPr dirty="0" baseline="45138" sz="1200" spc="7">
                <a:latin typeface="Cambria Math"/>
                <a:cs typeface="Cambria Math"/>
              </a:rPr>
              <a:t>$43</a:t>
            </a:r>
            <a:endParaRPr baseline="45138" sz="1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15133" y="7785861"/>
            <a:ext cx="19050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latin typeface="Cambria Math"/>
                <a:cs typeface="Cambria Math"/>
              </a:rPr>
              <a:t>$</a:t>
            </a:r>
            <a:r>
              <a:rPr dirty="0" sz="800" spc="20">
                <a:latin typeface="Cambria Math"/>
                <a:cs typeface="Cambria Math"/>
              </a:rPr>
              <a:t>2</a:t>
            </a:r>
            <a:r>
              <a:rPr dirty="0" sz="800" spc="-10">
                <a:latin typeface="Cambria Math"/>
                <a:cs typeface="Cambria Math"/>
              </a:rPr>
              <a:t>9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27833" y="7780273"/>
            <a:ext cx="169545" cy="9525"/>
          </a:xfrm>
          <a:custGeom>
            <a:avLst/>
            <a:gdLst/>
            <a:ahLst/>
            <a:cxnLst/>
            <a:rect l="l" t="t" r="r" b="b"/>
            <a:pathLst>
              <a:path w="169544" h="9525">
                <a:moveTo>
                  <a:pt x="169468" y="0"/>
                </a:moveTo>
                <a:lnTo>
                  <a:pt x="0" y="0"/>
                </a:lnTo>
                <a:lnTo>
                  <a:pt x="0" y="9144"/>
                </a:lnTo>
                <a:lnTo>
                  <a:pt x="169468" y="9144"/>
                </a:lnTo>
                <a:lnTo>
                  <a:pt x="1694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176629" y="8005698"/>
            <a:ext cx="183896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i="1">
                <a:latin typeface="Garamond"/>
                <a:cs typeface="Garamond"/>
              </a:rPr>
              <a:t>Dividend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per</a:t>
            </a:r>
            <a:r>
              <a:rPr dirty="0" sz="1100" spc="-4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share</a:t>
            </a:r>
            <a:r>
              <a:rPr dirty="0" sz="1100" spc="10" i="1">
                <a:latin typeface="Garamond"/>
                <a:cs typeface="Garamond"/>
              </a:rPr>
              <a:t> =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$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1.48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per</a:t>
            </a:r>
            <a:r>
              <a:rPr dirty="0" sz="1100" spc="-5" i="1">
                <a:latin typeface="Garamond"/>
                <a:cs typeface="Garamond"/>
              </a:rPr>
              <a:t> share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340741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Flow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from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Operating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Activities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XYZ</a:t>
            </a:r>
            <a:r>
              <a:rPr dirty="0" sz="1100" spc="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27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728339" y="1065910"/>
          <a:ext cx="3143250" cy="230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4590"/>
                <a:gridCol w="708660"/>
              </a:tblGrid>
              <a:tr h="565653">
                <a:tc gridSpan="2">
                  <a:txBody>
                    <a:bodyPr/>
                    <a:lstStyle/>
                    <a:p>
                      <a:pPr algn="ctr" marL="4445" marR="3175">
                        <a:lnSpc>
                          <a:spcPts val="112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480059" marR="485140">
                        <a:lnSpc>
                          <a:spcPct val="73600"/>
                        </a:lnSpc>
                        <a:spcBef>
                          <a:spcPts val="280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 from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Operating Activities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R="3175">
                        <a:lnSpc>
                          <a:spcPts val="9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5575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Operations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74930">
                        <a:lnSpc>
                          <a:spcPts val="1185"/>
                        </a:lnSpc>
                      </a:pPr>
                      <a:r>
                        <a:rPr dirty="0" sz="1100" spc="-15" b="1">
                          <a:latin typeface="Garamond"/>
                          <a:cs typeface="Garamond"/>
                        </a:rPr>
                        <a:t>$86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861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1120">
                        <a:lnSpc>
                          <a:spcPts val="1145"/>
                        </a:lnSpc>
                      </a:pPr>
                      <a:r>
                        <a:rPr dirty="0" sz="1100" spc="-15">
                          <a:latin typeface="Garamond"/>
                          <a:cs typeface="Garamond"/>
                        </a:rPr>
                        <a:t>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4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Deferred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5405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5448"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Changes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7924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5405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(24)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924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5405">
                        <a:lnSpc>
                          <a:spcPts val="114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4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5405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4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Accrued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Expenses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5405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5447"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Notes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5405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432"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Other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  <a:tabLst>
                          <a:tab pos="483870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(8)</a:t>
                      </a:r>
                      <a:r>
                        <a:rPr dirty="0" u="sng" sz="1100" spc="-5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433">
                <a:tc>
                  <a:txBody>
                    <a:bodyPr/>
                    <a:lstStyle/>
                    <a:p>
                      <a:pPr marL="68580">
                        <a:lnSpc>
                          <a:spcPts val="1195"/>
                        </a:lnSpc>
                      </a:pPr>
                      <a:r>
                        <a:rPr dirty="0" sz="1100" spc="-15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ash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w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-6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95"/>
                        </a:lnSpc>
                        <a:tabLst>
                          <a:tab pos="378460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$199</a:t>
                      </a:r>
                      <a:r>
                        <a:rPr dirty="0" u="dbl" sz="1100" spc="-3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728339" y="4020565"/>
          <a:ext cx="3170555" cy="1212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4895"/>
                <a:gridCol w="835660"/>
              </a:tblGrid>
              <a:tr h="567653">
                <a:tc gridSpan="2">
                  <a:txBody>
                    <a:bodyPr/>
                    <a:lstStyle/>
                    <a:p>
                      <a:pPr algn="ctr" marL="4445" marR="30480">
                        <a:lnSpc>
                          <a:spcPts val="114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507365" marR="535305">
                        <a:lnSpc>
                          <a:spcPct val="70900"/>
                        </a:lnSpc>
                        <a:spcBef>
                          <a:spcPts val="33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 from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Investing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Activities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R="30480">
                        <a:lnSpc>
                          <a:spcPts val="97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8400"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Acquisition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2235">
                        <a:lnSpc>
                          <a:spcPts val="1190"/>
                        </a:lnSpc>
                      </a:pPr>
                      <a:r>
                        <a:rPr dirty="0" sz="1100" spc="-15" b="1">
                          <a:latin typeface="Garamond"/>
                          <a:cs typeface="Garamond"/>
                        </a:rPr>
                        <a:t>$(198)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2305"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Sales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0955">
                        <a:lnSpc>
                          <a:spcPts val="1165"/>
                        </a:lnSpc>
                        <a:tabLst>
                          <a:tab pos="51625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25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324326"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Investing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Activities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77825" marR="30480">
                        <a:lnSpc>
                          <a:spcPts val="985"/>
                        </a:lnSpc>
                        <a:spcBef>
                          <a:spcPts val="509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$(173)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71120">
                        <a:lnSpc>
                          <a:spcPts val="960"/>
                        </a:lnSpc>
                        <a:tabLst>
                          <a:tab pos="830580" algn="l"/>
                        </a:tabLst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4769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176629" y="3673855"/>
            <a:ext cx="3361054" cy="15176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Flow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from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Investing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Activities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XYZ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2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>
              <a:latin typeface="Garamond"/>
              <a:cs typeface="Garamond"/>
            </a:endParaRPr>
          </a:p>
          <a:p>
            <a:pPr algn="just" marL="213995" marR="1176020">
              <a:lnSpc>
                <a:spcPct val="107800"/>
              </a:lnSpc>
            </a:pPr>
            <a:r>
              <a:rPr dirty="0" sz="1100" spc="5">
                <a:latin typeface="Garamond"/>
                <a:cs typeface="Garamond"/>
              </a:rPr>
              <a:t>Cash </a:t>
            </a:r>
            <a:r>
              <a:rPr dirty="0" sz="1100" spc="-5">
                <a:latin typeface="Garamond"/>
                <a:cs typeface="Garamond"/>
              </a:rPr>
              <a:t>flow from investing activities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involves </a:t>
            </a:r>
            <a:r>
              <a:rPr dirty="0" sz="1100" spc="-5">
                <a:latin typeface="Garamond"/>
                <a:cs typeface="Garamond"/>
              </a:rPr>
              <a:t>changes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assets: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acquisition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fixed </a:t>
            </a:r>
            <a:r>
              <a:rPr dirty="0" sz="1100">
                <a:latin typeface="Garamond"/>
                <a:cs typeface="Garamond"/>
              </a:rPr>
              <a:t>assets and </a:t>
            </a:r>
            <a:r>
              <a:rPr dirty="0" sz="1100" spc="-5">
                <a:latin typeface="Garamond"/>
                <a:cs typeface="Garamond"/>
              </a:rPr>
              <a:t>sales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>
                <a:latin typeface="Garamond"/>
                <a:cs typeface="Garamond"/>
              </a:rPr>
              <a:t> assets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(i.e.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>
                <a:latin typeface="Garamond"/>
                <a:cs typeface="Garamond"/>
              </a:rPr>
              <a:t> capital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expenditures).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6629" y="5901689"/>
            <a:ext cx="34080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Flow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from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Financing</a:t>
            </a:r>
            <a:r>
              <a:rPr dirty="0" sz="1100" spc="-5" b="1">
                <a:latin typeface="Garamond"/>
                <a:cs typeface="Garamond"/>
              </a:rPr>
              <a:t> Activities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 </a:t>
            </a:r>
            <a:r>
              <a:rPr dirty="0" sz="1100" spc="-15" b="1">
                <a:latin typeface="Garamond"/>
                <a:cs typeface="Garamond"/>
              </a:rPr>
              <a:t>XYZ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728339" y="6426453"/>
          <a:ext cx="3143250" cy="1679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6965"/>
                <a:gridCol w="755650"/>
              </a:tblGrid>
              <a:tr h="563335">
                <a:tc gridSpan="2">
                  <a:txBody>
                    <a:bodyPr/>
                    <a:lstStyle/>
                    <a:p>
                      <a:pPr algn="ctr" marL="4445" marR="3175">
                        <a:lnSpc>
                          <a:spcPts val="112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480059" marR="485140">
                        <a:lnSpc>
                          <a:spcPct val="73800"/>
                        </a:lnSpc>
                        <a:spcBef>
                          <a:spcPts val="280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Financing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Activities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R="3175">
                        <a:lnSpc>
                          <a:spcPts val="9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8019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Retirement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debt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(includes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notes)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74930">
                        <a:lnSpc>
                          <a:spcPts val="1185"/>
                        </a:lnSpc>
                      </a:pPr>
                      <a:r>
                        <a:rPr dirty="0" sz="1100" spc="-15" b="1">
                          <a:latin typeface="Garamond"/>
                          <a:cs typeface="Garamond"/>
                        </a:rPr>
                        <a:t>$(73)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Proceeds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long-term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debt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sales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5405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86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861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Dividends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5405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(43)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5575"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Repurchase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5405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(6)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592">
                <a:tc>
                  <a:txBody>
                    <a:bodyPr/>
                    <a:lstStyle/>
                    <a:p>
                      <a:pPr marL="68580">
                        <a:lnSpc>
                          <a:spcPts val="11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Proceeds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from new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issue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  <a:tabLst>
                          <a:tab pos="51625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43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322040">
                <a:tc>
                  <a:txBody>
                    <a:bodyPr/>
                    <a:lstStyle/>
                    <a:p>
                      <a:pPr marL="68580" marR="377190">
                        <a:lnSpc>
                          <a:spcPts val="122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Financing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Activities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050" marR="3175">
                        <a:lnSpc>
                          <a:spcPct val="100000"/>
                        </a:lnSpc>
                        <a:spcBef>
                          <a:spcPts val="530"/>
                        </a:spcBef>
                        <a:tabLst>
                          <a:tab pos="513080" algn="l"/>
                        </a:tabLst>
                      </a:pPr>
                      <a:r>
                        <a:rPr dirty="0" u="dbl" baseline="-30303" sz="165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baseline="-30303" sz="165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7310"/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282064" y="1644167"/>
            <a:ext cx="2077085" cy="9315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107800"/>
              </a:lnSpc>
              <a:spcBef>
                <a:spcPts val="110"/>
              </a:spcBef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operations, </a:t>
            </a:r>
            <a:r>
              <a:rPr dirty="0" sz="1100">
                <a:latin typeface="Garamond"/>
                <a:cs typeface="Garamond"/>
              </a:rPr>
              <a:t>start </a:t>
            </a:r>
            <a:r>
              <a:rPr dirty="0" sz="1100" spc="5">
                <a:latin typeface="Garamond"/>
                <a:cs typeface="Garamond"/>
              </a:rPr>
              <a:t>with net </a:t>
            </a:r>
            <a:r>
              <a:rPr dirty="0" sz="1100" spc="-5">
                <a:latin typeface="Garamond"/>
                <a:cs typeface="Garamond"/>
              </a:rPr>
              <a:t>income, </a:t>
            </a:r>
            <a:r>
              <a:rPr dirty="0" sz="1100" spc="-10">
                <a:latin typeface="Garamond"/>
                <a:cs typeface="Garamond"/>
              </a:rPr>
              <a:t>add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back </a:t>
            </a:r>
            <a:r>
              <a:rPr dirty="0" sz="1100" spc="-5">
                <a:latin typeface="Garamond"/>
                <a:cs typeface="Garamond"/>
              </a:rPr>
              <a:t>noncash items </a:t>
            </a:r>
            <a:r>
              <a:rPr dirty="0" sz="1100" spc="5">
                <a:latin typeface="Garamond"/>
                <a:cs typeface="Garamond"/>
              </a:rPr>
              <a:t>like </a:t>
            </a:r>
            <a:r>
              <a:rPr dirty="0" sz="1100" spc="-5">
                <a:latin typeface="Garamond"/>
                <a:cs typeface="Garamond"/>
              </a:rPr>
              <a:t>depreciation </a:t>
            </a:r>
            <a:r>
              <a:rPr dirty="0" sz="1100">
                <a:latin typeface="Garamond"/>
                <a:cs typeface="Garamond"/>
              </a:rPr>
              <a:t> and</a:t>
            </a:r>
            <a:r>
              <a:rPr dirty="0" sz="1100" spc="5">
                <a:latin typeface="Garamond"/>
                <a:cs typeface="Garamond"/>
              </a:rPr>
              <a:t> adjust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 </a:t>
            </a:r>
            <a:r>
              <a:rPr dirty="0" sz="1100">
                <a:latin typeface="Garamond"/>
                <a:cs typeface="Garamond"/>
              </a:rPr>
              <a:t> assets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(other</a:t>
            </a:r>
            <a:r>
              <a:rPr dirty="0" sz="1100" spc="-10">
                <a:latin typeface="Garamond"/>
                <a:cs typeface="Garamond"/>
              </a:rPr>
              <a:t> than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cash).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8680" y="7017511"/>
            <a:ext cx="1725295" cy="55753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algn="just" marL="12700" marR="5080">
              <a:lnSpc>
                <a:spcPct val="107800"/>
              </a:lnSpc>
              <a:spcBef>
                <a:spcPts val="10"/>
              </a:spcBef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2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2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 </a:t>
            </a:r>
            <a:r>
              <a:rPr dirty="0" sz="1100">
                <a:latin typeface="Garamond"/>
                <a:cs typeface="Garamond"/>
              </a:rPr>
              <a:t> creditors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include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changes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249936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Flow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XYZ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28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38754" y="1239646"/>
          <a:ext cx="4251325" cy="4401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8369"/>
                <a:gridCol w="782320"/>
              </a:tblGrid>
              <a:tr h="531077">
                <a:tc>
                  <a:txBody>
                    <a:bodyPr/>
                    <a:lstStyle/>
                    <a:p>
                      <a:pPr algn="ctr" marL="777240" marR="570230">
                        <a:lnSpc>
                          <a:spcPts val="10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XYZ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CORPORATION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102360" marR="891540">
                        <a:lnSpc>
                          <a:spcPct val="70900"/>
                        </a:lnSpc>
                        <a:spcBef>
                          <a:spcPts val="190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Statement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Flows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781685" marR="570230">
                        <a:lnSpc>
                          <a:spcPts val="97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58273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8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Operations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11809" marR="3175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$86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3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924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4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Deferred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ts val="114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924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4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Changes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Assets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57734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93395" marR="3175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(24)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5448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ts val="112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3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860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4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Accrued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Expenses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ts val="114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5575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Notes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592">
                <a:tc>
                  <a:txBody>
                    <a:bodyPr/>
                    <a:lstStyle/>
                    <a:p>
                      <a:pPr marL="67945" marR="12065">
                        <a:lnSpc>
                          <a:spcPts val="1165"/>
                        </a:lnSpc>
                        <a:tabLst>
                          <a:tab pos="2703830" algn="l"/>
                          <a:tab pos="3449320" algn="l"/>
                        </a:tabLst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Other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(8)</a:t>
                      </a:r>
                      <a:r>
                        <a:rPr dirty="0" u="sng" sz="1100" spc="-4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3736">
                <a:tc>
                  <a:txBody>
                    <a:bodyPr/>
                    <a:lstStyle/>
                    <a:p>
                      <a:pPr marL="67945" marR="113030">
                        <a:lnSpc>
                          <a:spcPts val="1240"/>
                        </a:lnSpc>
                        <a:tabLst>
                          <a:tab pos="2703830" algn="l"/>
                          <a:tab pos="3343910" algn="l"/>
                        </a:tabLst>
                      </a:pPr>
                      <a:r>
                        <a:rPr dirty="0" sz="1100" spc="-15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ash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w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-6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40"/>
                        </a:lnSpc>
                      </a:pP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$199</a:t>
                      </a:r>
                      <a:r>
                        <a:rPr dirty="0" u="dbl" sz="1100" spc="-3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7004">
                <a:tc gridSpan="2">
                  <a:txBody>
                    <a:bodyPr/>
                    <a:lstStyle/>
                    <a:p>
                      <a:pPr marL="67945" marR="3175">
                        <a:lnSpc>
                          <a:spcPts val="121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Investing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Activities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7860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Acquisition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5125" marR="3175">
                        <a:lnSpc>
                          <a:spcPts val="1145"/>
                        </a:lnSpc>
                      </a:pPr>
                      <a:r>
                        <a:rPr dirty="0" sz="1100" spc="-20">
                          <a:latin typeface="Garamond"/>
                          <a:cs typeface="Garamond"/>
                        </a:rPr>
                        <a:t>$(198)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305">
                <a:tc>
                  <a:txBody>
                    <a:bodyPr/>
                    <a:lstStyle/>
                    <a:p>
                      <a:pPr marL="67945">
                        <a:lnSpc>
                          <a:spcPts val="1165"/>
                        </a:lnSpc>
                        <a:tabLst>
                          <a:tab pos="2703830" algn="l"/>
                          <a:tab pos="3462654" algn="l"/>
                        </a:tabLst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Sales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assets	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5"/>
                        </a:lnSpc>
                      </a:pPr>
                      <a:r>
                        <a:rPr dirty="0" u="sng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25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3736">
                <a:tc>
                  <a:txBody>
                    <a:bodyPr/>
                    <a:lstStyle/>
                    <a:p>
                      <a:pPr marL="67945" marR="213360">
                        <a:lnSpc>
                          <a:spcPts val="1220"/>
                        </a:lnSpc>
                        <a:tabLst>
                          <a:tab pos="2703830" algn="l"/>
                          <a:tab pos="3243580" algn="l"/>
                        </a:tabLst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Investing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Activities	</a:t>
                      </a:r>
                      <a:r>
                        <a:rPr dirty="0" u="dbl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$(173)</a:t>
                      </a:r>
                      <a:r>
                        <a:rPr dirty="0" u="dbl" sz="1100" spc="-4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7068">
                <a:tc gridSpan="2">
                  <a:txBody>
                    <a:bodyPr/>
                    <a:lstStyle/>
                    <a:p>
                      <a:pPr marL="67945" marR="3175">
                        <a:lnSpc>
                          <a:spcPts val="121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Financing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Activities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5638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Retirement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debt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(includes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notes)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9259" marR="3175">
                        <a:lnSpc>
                          <a:spcPts val="1125"/>
                        </a:lnSpc>
                      </a:pPr>
                      <a:r>
                        <a:rPr dirty="0" sz="1100" spc="-20">
                          <a:latin typeface="Garamond"/>
                          <a:cs typeface="Garamond"/>
                        </a:rPr>
                        <a:t>$(73)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3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Proceeds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long-term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debt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sales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ts val="1140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86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4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Dividends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93395" marR="3175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(43)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734">
                <a:tc>
                  <a:txBody>
                    <a:bodyPr/>
                    <a:lstStyle/>
                    <a:p>
                      <a:pPr marL="67945" marR="57023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Repurchase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(6)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4719"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  <a:tabLst>
                          <a:tab pos="2703830" algn="l"/>
                          <a:tab pos="3462654" algn="l"/>
                        </a:tabLst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Proceeds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from new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issue	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dirty="0" u="sng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43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576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  <a:tabLst>
                          <a:tab pos="2703830" algn="l"/>
                          <a:tab pos="3462654" algn="l"/>
                        </a:tabLst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Financing	</a:t>
                      </a:r>
                      <a:r>
                        <a:rPr dirty="0" u="dbl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20"/>
                        </a:lnSpc>
                      </a:pPr>
                      <a:r>
                        <a:rPr dirty="0" u="dbl" sz="1100" spc="1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$7</a:t>
                      </a:r>
                      <a:r>
                        <a:rPr dirty="0" u="dbl" sz="1100" spc="-3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6592">
                <a:tc>
                  <a:txBody>
                    <a:bodyPr/>
                    <a:lstStyle/>
                    <a:p>
                      <a:pPr marL="67945" marR="57785">
                        <a:lnSpc>
                          <a:spcPts val="1210"/>
                        </a:lnSpc>
                        <a:tabLst>
                          <a:tab pos="2694305" algn="l"/>
                          <a:tab pos="3398520" algn="l"/>
                        </a:tabLst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Change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(on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balance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sheet)	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210"/>
                        </a:lnSpc>
                      </a:pPr>
                      <a:r>
                        <a:rPr dirty="0" u="dbl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$33</a:t>
                      </a:r>
                      <a:r>
                        <a:rPr dirty="0" u="dbl" sz="1100" spc="-3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6884923"/>
            <a:ext cx="5669280" cy="26517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Significance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Financial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algn="just" marL="469900" marR="5080" indent="-228600">
              <a:lnSpc>
                <a:spcPts val="126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good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Knowledge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Statements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desirable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simply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because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these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statements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primary means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communicating </a:t>
            </a:r>
            <a:r>
              <a:rPr dirty="0" sz="1100">
                <a:latin typeface="Garamond"/>
                <a:cs typeface="Garamond"/>
              </a:rPr>
              <a:t>financial </a:t>
            </a:r>
            <a:r>
              <a:rPr dirty="0" sz="1100" spc="-5">
                <a:latin typeface="Garamond"/>
                <a:cs typeface="Garamond"/>
              </a:rPr>
              <a:t>information </a:t>
            </a:r>
            <a:r>
              <a:rPr dirty="0" sz="1100">
                <a:latin typeface="Garamond"/>
                <a:cs typeface="Garamond"/>
              </a:rPr>
              <a:t>both within and </a:t>
            </a:r>
            <a:r>
              <a:rPr dirty="0" sz="1100" spc="5">
                <a:latin typeface="Garamond"/>
                <a:cs typeface="Garamond"/>
              </a:rPr>
              <a:t> outside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External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Uses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SzPct val="95652"/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u="sng" sz="1150" spc="-3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Trade</a:t>
            </a:r>
            <a:r>
              <a:rPr dirty="0" u="sng" sz="1150" spc="1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50" spc="-2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Creditors</a:t>
            </a:r>
            <a:r>
              <a:rPr dirty="0" sz="1150" spc="-20" b="1" i="1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--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Focus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SzPct val="95652"/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u="sng" sz="1150" spc="-2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Bondholders</a:t>
            </a:r>
            <a:r>
              <a:rPr dirty="0" sz="1150" spc="-25" b="1" i="1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--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Focus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SzPct val="95652"/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u="sng" sz="1150" spc="-2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Shareholders</a:t>
            </a:r>
            <a:r>
              <a:rPr dirty="0" sz="1150" spc="-20" b="1" i="1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--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Focus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profitability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long-term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health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100" b="1">
                <a:latin typeface="Garamond"/>
                <a:cs typeface="Garamond"/>
              </a:rPr>
              <a:t>Internal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Uses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algn="just" marL="469900" marR="10160" indent="-228600">
              <a:lnSpc>
                <a:spcPts val="1220"/>
              </a:lnSpc>
              <a:buSzPct val="95652"/>
              <a:buFont typeface="Symbol"/>
              <a:buChar char=""/>
              <a:tabLst>
                <a:tab pos="470534" algn="l"/>
              </a:tabLst>
            </a:pPr>
            <a:r>
              <a:rPr dirty="0" u="sng" sz="1150" spc="-2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Plan</a:t>
            </a:r>
            <a:r>
              <a:rPr dirty="0" sz="1150" spc="-15" b="1" i="1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--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Focus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assessing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position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evaluating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potential</a:t>
            </a:r>
            <a:r>
              <a:rPr dirty="0" sz="1100">
                <a:latin typeface="Garamond"/>
                <a:cs typeface="Garamond"/>
              </a:rPr>
              <a:t> firm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opportunities.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6337" y="1743836"/>
            <a:ext cx="1745614" cy="82740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just" marL="12700" marR="5080">
              <a:lnSpc>
                <a:spcPct val="94100"/>
              </a:lnSpc>
              <a:spcBef>
                <a:spcPts val="190"/>
              </a:spcBef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statement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>
                <a:latin typeface="Garamond"/>
                <a:cs typeface="Garamond"/>
              </a:rPr>
              <a:t>flows is </a:t>
            </a:r>
            <a:r>
              <a:rPr dirty="0" sz="1100" spc="5">
                <a:latin typeface="Garamond"/>
                <a:cs typeface="Garamond"/>
              </a:rPr>
              <a:t> the </a:t>
            </a:r>
            <a:r>
              <a:rPr dirty="0" sz="1100" spc="-5">
                <a:latin typeface="Garamond"/>
                <a:cs typeface="Garamond"/>
              </a:rPr>
              <a:t>addition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-5">
                <a:latin typeface="Garamond"/>
                <a:cs typeface="Garamond"/>
              </a:rPr>
              <a:t>from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operations,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>
                <a:latin typeface="Garamond"/>
                <a:cs typeface="Garamond"/>
              </a:rPr>
              <a:t> flows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activities,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activities.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25124"/>
            <a:ext cx="5669280" cy="4827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125"/>
              </a:spcBef>
              <a:buSzPct val="95652"/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u="sng" sz="1150" spc="-2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Control</a:t>
            </a:r>
            <a:r>
              <a:rPr dirty="0" sz="1150" spc="5" b="1" i="1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--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Focus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various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asset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efficiency.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SzPct val="95652"/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u="sng" sz="1150" spc="-3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Understand</a:t>
            </a:r>
            <a:r>
              <a:rPr dirty="0" sz="1150" spc="10" b="1" i="1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--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Focus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understanding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suppliers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funds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analyze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100" spc="-5" b="1">
                <a:latin typeface="Garamond"/>
                <a:cs typeface="Garamond"/>
              </a:rPr>
              <a:t>Significance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Financial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Garamond"/>
              <a:cs typeface="Garamond"/>
            </a:endParaRPr>
          </a:p>
          <a:p>
            <a:pPr marL="469900" marR="12065" indent="-228600">
              <a:lnSpc>
                <a:spcPts val="123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reason,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figures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almost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always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unable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obtain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want.</a:t>
            </a:r>
            <a:endParaRPr sz="1100">
              <a:latin typeface="Garamond"/>
              <a:cs typeface="Garamond"/>
            </a:endParaRPr>
          </a:p>
          <a:p>
            <a:pPr marL="469900" marR="6985" indent="-228600">
              <a:lnSpc>
                <a:spcPts val="122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meaningful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yardstick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evaluation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whether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create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economic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 marL="469900" marR="13970" indent="-228600">
              <a:lnSpc>
                <a:spcPts val="1260"/>
              </a:lnSpc>
              <a:spcBef>
                <a:spcPts val="16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Clearly,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goal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accountant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report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form </a:t>
            </a:r>
            <a:r>
              <a:rPr dirty="0" sz="1100" spc="-10">
                <a:latin typeface="Garamond"/>
                <a:cs typeface="Garamond"/>
              </a:rPr>
              <a:t>useful</a:t>
            </a:r>
            <a:r>
              <a:rPr dirty="0" sz="1100" spc="5">
                <a:latin typeface="Garamond"/>
                <a:cs typeface="Garamond"/>
              </a:rPr>
              <a:t> 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decision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making.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don’t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user’s </a:t>
            </a:r>
            <a:r>
              <a:rPr dirty="0" sz="1100" spc="-10">
                <a:latin typeface="Garamond"/>
                <a:cs typeface="Garamond"/>
              </a:rPr>
              <a:t>guide.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gap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through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learning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comprehensive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analysis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Standardized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Financial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8255" indent="-228600">
              <a:lnSpc>
                <a:spcPts val="122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obvious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company’s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those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other.</a:t>
            </a:r>
            <a:endParaRPr sz="1100">
              <a:latin typeface="Garamond"/>
              <a:cs typeface="Garamond"/>
            </a:endParaRPr>
          </a:p>
          <a:p>
            <a:pPr marL="469900" marR="11430" indent="-228600">
              <a:lnSpc>
                <a:spcPts val="123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almost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impossible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directly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companies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differences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size.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standardize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Common-Size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One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very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useful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standardized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comparison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percentages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instead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dollars.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standardized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common-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size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sheet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items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shown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income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44895" y="714501"/>
            <a:ext cx="68707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5" b="1">
                <a:latin typeface="Garamond"/>
                <a:cs typeface="Garamond"/>
              </a:rPr>
              <a:t>L</a:t>
            </a:r>
            <a:r>
              <a:rPr dirty="0" sz="1100" spc="5" b="1">
                <a:latin typeface="Garamond"/>
                <a:cs typeface="Garamond"/>
              </a:rPr>
              <a:t>E</a:t>
            </a:r>
            <a:r>
              <a:rPr dirty="0" sz="1100" spc="-25" b="1">
                <a:latin typeface="Garamond"/>
                <a:cs typeface="Garamond"/>
              </a:rPr>
              <a:t>SS</a:t>
            </a:r>
            <a:r>
              <a:rPr dirty="0" sz="1100" spc="25" b="1">
                <a:latin typeface="Garamond"/>
                <a:cs typeface="Garamond"/>
              </a:rPr>
              <a:t>O</a:t>
            </a:r>
            <a:r>
              <a:rPr dirty="0" sz="1100" spc="10" b="1">
                <a:latin typeface="Garamond"/>
                <a:cs typeface="Garamond"/>
              </a:rPr>
              <a:t>N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8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30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5508" y="869949"/>
            <a:ext cx="5440680" cy="13576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R="222885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COMMON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SIZE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240665" marR="10160" indent="-228600">
              <a:lnSpc>
                <a:spcPts val="126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One </a:t>
            </a:r>
            <a:r>
              <a:rPr dirty="0" sz="1100" spc="-5">
                <a:latin typeface="Garamond"/>
                <a:cs typeface="Garamond"/>
              </a:rPr>
              <a:t>very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useful way</a:t>
            </a:r>
            <a:r>
              <a:rPr dirty="0" sz="1100" spc="5">
                <a:latin typeface="Garamond"/>
                <a:cs typeface="Garamond"/>
              </a:rPr>
              <a:t> of </a:t>
            </a:r>
            <a:r>
              <a:rPr dirty="0" sz="1100" spc="-5">
                <a:latin typeface="Garamond"/>
                <a:cs typeface="Garamond"/>
              </a:rPr>
              <a:t>standardized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comparison</a:t>
            </a:r>
            <a:r>
              <a:rPr dirty="0" sz="1100">
                <a:latin typeface="Garamond"/>
                <a:cs typeface="Garamond"/>
              </a:rPr>
              <a:t> is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work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percentages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instead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dollars.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standardized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common-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size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statement.</a:t>
            </a:r>
            <a:endParaRPr sz="1100">
              <a:latin typeface="Garamond"/>
              <a:cs typeface="Garamond"/>
            </a:endParaRPr>
          </a:p>
          <a:p>
            <a:pPr marL="240665" marR="1333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sheet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items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shown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income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1170" y="2663189"/>
            <a:ext cx="1968500" cy="5067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39370">
              <a:lnSpc>
                <a:spcPts val="127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A</a:t>
            </a:r>
            <a:r>
              <a:rPr dirty="0" sz="1100" spc="20" b="1">
                <a:latin typeface="Garamond"/>
                <a:cs typeface="Garamond"/>
              </a:rPr>
              <a:t>2</a:t>
            </a:r>
            <a:r>
              <a:rPr dirty="0" sz="1100" spc="10" b="1">
                <a:latin typeface="Garamond"/>
                <a:cs typeface="Garamond"/>
              </a:rPr>
              <a:t>Z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45" b="1">
                <a:latin typeface="Garamond"/>
                <a:cs typeface="Garamond"/>
              </a:rPr>
              <a:t>I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-20" b="1">
                <a:latin typeface="Garamond"/>
                <a:cs typeface="Garamond"/>
              </a:rPr>
              <a:t>c</a:t>
            </a:r>
            <a:r>
              <a:rPr dirty="0" sz="1100" spc="-20" b="1">
                <a:latin typeface="Garamond"/>
                <a:cs typeface="Garamond"/>
              </a:rPr>
              <a:t>.</a:t>
            </a:r>
            <a:endParaRPr sz="1100">
              <a:latin typeface="Garamond"/>
              <a:cs typeface="Garamond"/>
            </a:endParaRPr>
          </a:p>
          <a:p>
            <a:pPr algn="ctr" marL="12700" marR="5080">
              <a:lnSpc>
                <a:spcPts val="1220"/>
              </a:lnSpc>
              <a:spcBef>
                <a:spcPts val="75"/>
              </a:spcBef>
            </a:pPr>
            <a:r>
              <a:rPr dirty="0" sz="1100" spc="-5" b="1">
                <a:latin typeface="Garamond"/>
                <a:cs typeface="Garamond"/>
              </a:rPr>
              <a:t>Balance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Sheet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as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December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20" b="1">
                <a:latin typeface="Garamond"/>
                <a:cs typeface="Garamond"/>
              </a:rPr>
              <a:t>31 </a:t>
            </a:r>
            <a:r>
              <a:rPr dirty="0" sz="1100" spc="-26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($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in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millions)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022094" y="5859144"/>
          <a:ext cx="3975735" cy="3234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6820"/>
                <a:gridCol w="961390"/>
                <a:gridCol w="516254"/>
              </a:tblGrid>
              <a:tr h="29298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Liabilities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260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260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260">
                    <a:solidFill>
                      <a:srgbClr val="BEBEBE"/>
                    </a:solidFill>
                  </a:tcPr>
                </a:tc>
              </a:tr>
              <a:tr h="31419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u="sng" sz="1100" spc="-4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159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1878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778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312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778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344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7785"/>
                </a:tc>
              </a:tr>
              <a:tr h="29273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Notes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89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89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196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895"/>
                </a:tc>
              </a:tr>
              <a:tr h="29502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89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89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895"/>
                </a:tc>
              </a:tr>
              <a:tr h="301878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Long-term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Debts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143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143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457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1435"/>
                </a:tc>
              </a:tr>
              <a:tr h="30880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Stockholders’</a:t>
                      </a:r>
                      <a:r>
                        <a:rPr dirty="0" u="sng" sz="11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58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1942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Common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Paid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surplus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8419"/>
                </a:tc>
              </a:tr>
              <a:tr h="29489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Retained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Earning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89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1,799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89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2,041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8895"/>
                </a:tc>
              </a:tr>
              <a:tr h="299592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Stockholders’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143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2,299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143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2,591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1435"/>
                </a:tc>
              </a:tr>
              <a:tr h="230727">
                <a:tc>
                  <a:txBody>
                    <a:bodyPr/>
                    <a:lstStyle/>
                    <a:p>
                      <a:pPr marL="68580">
                        <a:lnSpc>
                          <a:spcPts val="1295"/>
                        </a:lnSpc>
                        <a:spcBef>
                          <a:spcPts val="42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Liabilities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ts val="1295"/>
                        </a:lnSpc>
                        <a:spcBef>
                          <a:spcPts val="420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$3,373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334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95"/>
                        </a:lnSpc>
                        <a:spcBef>
                          <a:spcPts val="420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$3,588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3340"/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022094" y="3375659"/>
          <a:ext cx="3975735" cy="2416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6470"/>
                <a:gridCol w="1223009"/>
                <a:gridCol w="516889"/>
              </a:tblGrid>
              <a:tr h="26647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655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655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655">
                    <a:solidFill>
                      <a:srgbClr val="BEBEBE"/>
                    </a:solidFill>
                  </a:tcPr>
                </a:tc>
              </a:tr>
              <a:tr h="251301">
                <a:tc>
                  <a:txBody>
                    <a:bodyPr/>
                    <a:lstStyle/>
                    <a:p>
                      <a:pPr marL="68580">
                        <a:lnSpc>
                          <a:spcPts val="1155"/>
                        </a:lnSpc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Current </a:t>
                      </a:r>
                      <a:r>
                        <a:rPr dirty="0" u="sng" sz="11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Asset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873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Cash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429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$84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429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$98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4295"/>
                </a:tc>
              </a:tr>
              <a:tr h="274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165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393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422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203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Current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642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708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216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u="sng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u="sng" sz="1100" spc="-6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673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Plant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Equipment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2,731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2,880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19170">
                <a:tc>
                  <a:txBody>
                    <a:bodyPr/>
                    <a:lstStyle/>
                    <a:p>
                      <a:pPr marL="68580">
                        <a:lnSpc>
                          <a:spcPts val="1295"/>
                        </a:lnSpc>
                        <a:spcBef>
                          <a:spcPts val="33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ts val="1295"/>
                        </a:lnSpc>
                        <a:spcBef>
                          <a:spcPts val="330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$3,373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95"/>
                        </a:lnSpc>
                        <a:spcBef>
                          <a:spcPts val="330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$3,588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1910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221482" y="714501"/>
            <a:ext cx="1581150" cy="351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2540">
              <a:lnSpc>
                <a:spcPts val="127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2</a:t>
            </a:r>
            <a:r>
              <a:rPr dirty="0" sz="1100" spc="10">
                <a:latin typeface="Garamond"/>
                <a:cs typeface="Garamond"/>
              </a:rPr>
              <a:t>Z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30">
                <a:latin typeface="Garamond"/>
                <a:cs typeface="Garamond"/>
              </a:rPr>
              <a:t>c</a:t>
            </a:r>
            <a:r>
              <a:rPr dirty="0" sz="1100" spc="5">
                <a:latin typeface="Garamond"/>
                <a:cs typeface="Garamond"/>
              </a:rPr>
              <a:t>.</a:t>
            </a:r>
            <a:r>
              <a:rPr dirty="0" sz="1100">
                <a:latin typeface="Garamond"/>
                <a:cs typeface="Garamond"/>
              </a:rPr>
              <a:t>,</a:t>
            </a:r>
            <a:endParaRPr sz="1100">
              <a:latin typeface="Garamond"/>
              <a:cs typeface="Garamond"/>
            </a:endParaRPr>
          </a:p>
          <a:p>
            <a:pPr algn="ctr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Co</a:t>
            </a:r>
            <a:r>
              <a:rPr dirty="0" sz="1100" spc="-25">
                <a:latin typeface="Garamond"/>
                <a:cs typeface="Garamond"/>
              </a:rPr>
              <a:t>m</a:t>
            </a:r>
            <a:r>
              <a:rPr dirty="0" sz="1100" spc="10">
                <a:latin typeface="Garamond"/>
                <a:cs typeface="Garamond"/>
              </a:rPr>
              <a:t>m</a:t>
            </a:r>
            <a:r>
              <a:rPr dirty="0" sz="1100" spc="-25">
                <a:latin typeface="Garamond"/>
                <a:cs typeface="Garamond"/>
              </a:rPr>
              <a:t>o</a:t>
            </a:r>
            <a:r>
              <a:rPr dirty="0" sz="1100" spc="15">
                <a:latin typeface="Garamond"/>
                <a:cs typeface="Garamond"/>
              </a:rPr>
              <a:t>n</a:t>
            </a:r>
            <a:r>
              <a:rPr dirty="0" sz="1100" spc="-20">
                <a:latin typeface="Garamond"/>
                <a:cs typeface="Garamond"/>
              </a:rPr>
              <a:t>-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5">
                <a:latin typeface="Garamond"/>
                <a:cs typeface="Garamond"/>
              </a:rPr>
              <a:t>z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40">
                <a:latin typeface="Garamond"/>
                <a:cs typeface="Garamond"/>
              </a:rPr>
              <a:t>l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ce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10">
                <a:latin typeface="Garamond"/>
                <a:cs typeface="Garamond"/>
              </a:rPr>
              <a:t>h</a:t>
            </a:r>
            <a:r>
              <a:rPr dirty="0" sz="1100" spc="-30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e</a:t>
            </a:r>
            <a:r>
              <a:rPr dirty="0" sz="1100">
                <a:latin typeface="Garamond"/>
                <a:cs typeface="Garamond"/>
              </a:rPr>
              <a:t>t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31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32429" y="1396391"/>
            <a:ext cx="41910" cy="160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80"/>
              </a:lnSpc>
            </a:pPr>
            <a:r>
              <a:rPr dirty="0" sz="1100">
                <a:latin typeface="Garamond"/>
                <a:cs typeface="Garamond"/>
              </a:rPr>
              <a:t>t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164397" y="1239646"/>
          <a:ext cx="3695700" cy="5242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2030"/>
                <a:gridCol w="826769"/>
                <a:gridCol w="595629"/>
              </a:tblGrid>
              <a:tr h="27431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100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219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100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57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100">
                    <a:solidFill>
                      <a:srgbClr val="BEBEBE"/>
                    </a:solidFill>
                  </a:tcPr>
                </a:tc>
              </a:tr>
              <a:tr h="27317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Current </a:t>
                      </a:r>
                      <a:r>
                        <a:rPr dirty="0" u="sng" sz="11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Asset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7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44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Cash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1250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2.5%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806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2.7%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51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1250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4.9%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806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5.2%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51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1257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11.7%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806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11.8%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3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Current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1257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19.1%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806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19.7%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44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u="sng" sz="1100" spc="-6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44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Plant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Equipment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1257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80.9%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806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80.3%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559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1257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100.0%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812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100.0%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51713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Liabilities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4765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017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4765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4765">
                    <a:solidFill>
                      <a:srgbClr val="BEBEBE"/>
                    </a:solidFill>
                  </a:tcPr>
                </a:tc>
              </a:tr>
              <a:tr h="268473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u="sng" sz="1100" spc="-4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7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8508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933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9.2%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9.6%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925"/>
                </a:tc>
              </a:tr>
              <a:tr h="25165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Notes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  <a:tc>
                  <a:txBody>
                    <a:bodyPr/>
                    <a:lstStyle/>
                    <a:p>
                      <a:pPr algn="r" marR="933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6.8%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5.5%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</a:tr>
              <a:tr h="25146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  <a:tc>
                  <a:txBody>
                    <a:bodyPr/>
                    <a:lstStyle/>
                    <a:p>
                      <a:pPr algn="r" marR="933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16.0%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15.1%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</a:tr>
              <a:tr h="256158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Long-term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Debts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  <a:tc>
                  <a:txBody>
                    <a:bodyPr/>
                    <a:lstStyle/>
                    <a:p>
                      <a:pPr algn="r" marR="933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15.7%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12.7%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</a:tr>
              <a:tr h="263017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Stockholders’</a:t>
                      </a:r>
                      <a:r>
                        <a:rPr dirty="0" u="sng" sz="11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8317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Common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Paid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surplus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933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14.8%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925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15.3%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925"/>
                </a:tc>
              </a:tr>
              <a:tr h="25165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Retained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Earning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  <a:tc>
                  <a:txBody>
                    <a:bodyPr/>
                    <a:lstStyle/>
                    <a:p>
                      <a:pPr algn="r" marR="933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53.3%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56.9%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</a:tr>
              <a:tr h="253936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Stockholders’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  <a:tc>
                  <a:txBody>
                    <a:bodyPr/>
                    <a:lstStyle/>
                    <a:p>
                      <a:pPr algn="r" marR="933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68.1%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72.2%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</a:tr>
              <a:tr h="207740">
                <a:tc>
                  <a:txBody>
                    <a:bodyPr/>
                    <a:lstStyle/>
                    <a:p>
                      <a:pPr marL="62865">
                        <a:lnSpc>
                          <a:spcPts val="1295"/>
                        </a:lnSpc>
                        <a:spcBef>
                          <a:spcPts val="24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Liabilities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0480"/>
                </a:tc>
                <a:tc>
                  <a:txBody>
                    <a:bodyPr/>
                    <a:lstStyle/>
                    <a:p>
                      <a:pPr algn="r" marR="93345">
                        <a:lnSpc>
                          <a:spcPts val="1295"/>
                        </a:lnSpc>
                        <a:spcBef>
                          <a:spcPts val="240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100.0%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0480"/>
                </a:tc>
                <a:tc>
                  <a:txBody>
                    <a:bodyPr/>
                    <a:lstStyle/>
                    <a:p>
                      <a:pPr algn="r" marR="53340">
                        <a:lnSpc>
                          <a:spcPts val="1295"/>
                        </a:lnSpc>
                        <a:spcBef>
                          <a:spcPts val="240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100.0%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048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176629" y="6811771"/>
            <a:ext cx="5674360" cy="281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A2Z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Inc.,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Common-Size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Balance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Sheet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00">
              <a:latin typeface="Garamond"/>
              <a:cs typeface="Garamond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Standardized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ask: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“What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happened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A2Z’s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equipment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(NP&amp;E)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over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period?”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Based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20X1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20X2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B/S,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NP&amp;E</a:t>
            </a:r>
            <a:r>
              <a:rPr dirty="0" sz="1100">
                <a:latin typeface="Garamond"/>
                <a:cs typeface="Garamond"/>
              </a:rPr>
              <a:t> rose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$2,731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$2,880,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so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NP&amp;E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rose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$149.</a:t>
            </a:r>
            <a:endParaRPr sz="1100">
              <a:latin typeface="Garamond"/>
              <a:cs typeface="Garamond"/>
            </a:endParaRPr>
          </a:p>
          <a:p>
            <a:pPr algn="just" marL="469900" marR="5080" indent="-228600">
              <a:lnSpc>
                <a:spcPct val="94100"/>
              </a:lnSpc>
              <a:spcBef>
                <a:spcPts val="13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Did the </a:t>
            </a:r>
            <a:r>
              <a:rPr dirty="0" sz="1100" spc="-5">
                <a:latin typeface="Garamond"/>
                <a:cs typeface="Garamond"/>
              </a:rPr>
              <a:t>firm’s </a:t>
            </a:r>
            <a:r>
              <a:rPr dirty="0" sz="1100" spc="5">
                <a:latin typeface="Garamond"/>
                <a:cs typeface="Garamond"/>
              </a:rPr>
              <a:t>NP&amp;E go </a:t>
            </a:r>
            <a:r>
              <a:rPr dirty="0" sz="1100">
                <a:latin typeface="Garamond"/>
                <a:cs typeface="Garamond"/>
              </a:rPr>
              <a:t>up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down? Obviously, it went up, </a:t>
            </a:r>
            <a:r>
              <a:rPr dirty="0" sz="1100" spc="5">
                <a:latin typeface="Garamond"/>
                <a:cs typeface="Garamond"/>
              </a:rPr>
              <a:t>but </a:t>
            </a:r>
            <a:r>
              <a:rPr dirty="0" sz="1100" spc="-5">
                <a:latin typeface="Garamond"/>
                <a:cs typeface="Garamond"/>
              </a:rPr>
              <a:t>so did total </a:t>
            </a:r>
            <a:r>
              <a:rPr dirty="0" sz="1100" spc="-10">
                <a:latin typeface="Garamond"/>
                <a:cs typeface="Garamond"/>
              </a:rPr>
              <a:t>assets. </a:t>
            </a:r>
            <a:r>
              <a:rPr dirty="0" sz="1100" spc="5">
                <a:latin typeface="Garamond"/>
                <a:cs typeface="Garamond"/>
              </a:rPr>
              <a:t>In fact,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looking </a:t>
            </a:r>
            <a:r>
              <a:rPr dirty="0" sz="1100" spc="-10">
                <a:latin typeface="Garamond"/>
                <a:cs typeface="Garamond"/>
              </a:rPr>
              <a:t>at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standardized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NP&amp;E </a:t>
            </a:r>
            <a:r>
              <a:rPr dirty="0" sz="1100">
                <a:latin typeface="Garamond"/>
                <a:cs typeface="Garamond"/>
              </a:rPr>
              <a:t>went </a:t>
            </a:r>
            <a:r>
              <a:rPr dirty="0" sz="1100" spc="5">
                <a:latin typeface="Garamond"/>
                <a:cs typeface="Garamond"/>
              </a:rPr>
              <a:t>from </a:t>
            </a:r>
            <a:r>
              <a:rPr dirty="0" sz="1100">
                <a:latin typeface="Garamond"/>
                <a:cs typeface="Garamond"/>
              </a:rPr>
              <a:t>80.9%</a:t>
            </a:r>
            <a:r>
              <a:rPr dirty="0" sz="1100" spc="5">
                <a:latin typeface="Garamond"/>
                <a:cs typeface="Garamond"/>
              </a:rPr>
              <a:t> of total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80.3%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A2Z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Inc.,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Common-Size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Balance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Sheet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Garamond"/>
              <a:cs typeface="Garamond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Standardized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 algn="just" marL="469900" marR="9525" indent="-228600">
              <a:lnSpc>
                <a:spcPct val="94100"/>
              </a:lnSpc>
              <a:spcBef>
                <a:spcPts val="12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5">
                <a:latin typeface="Garamond"/>
                <a:cs typeface="Garamond"/>
              </a:rPr>
              <a:t>standardized </a:t>
            </a:r>
            <a:r>
              <a:rPr dirty="0" sz="1100" spc="-10">
                <a:latin typeface="Garamond"/>
                <a:cs typeface="Garamond"/>
              </a:rPr>
              <a:t>the 20X2 </a:t>
            </a:r>
            <a:r>
              <a:rPr dirty="0" sz="1100">
                <a:latin typeface="Garamond"/>
                <a:cs typeface="Garamond"/>
              </a:rPr>
              <a:t>numbers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dividing </a:t>
            </a:r>
            <a:r>
              <a:rPr dirty="0" sz="1100">
                <a:latin typeface="Garamond"/>
                <a:cs typeface="Garamond"/>
              </a:rPr>
              <a:t>each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20X1 number,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5">
                <a:latin typeface="Garamond"/>
                <a:cs typeface="Garamond"/>
              </a:rPr>
              <a:t>get a common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base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-5">
                <a:latin typeface="Garamond"/>
                <a:cs typeface="Garamond"/>
              </a:rPr>
              <a:t>statement. </a:t>
            </a:r>
            <a:r>
              <a:rPr dirty="0" sz="1100" spc="5">
                <a:latin typeface="Garamond"/>
                <a:cs typeface="Garamond"/>
              </a:rPr>
              <a:t>In </a:t>
            </a:r>
            <a:r>
              <a:rPr dirty="0" sz="1100" spc="-5">
                <a:latin typeface="Garamond"/>
                <a:cs typeface="Garamond"/>
              </a:rPr>
              <a:t>this case, $2,880 </a:t>
            </a:r>
            <a:r>
              <a:rPr dirty="0" sz="1100" spc="5">
                <a:latin typeface="Garamond"/>
                <a:cs typeface="Garamond"/>
              </a:rPr>
              <a:t>/ </a:t>
            </a:r>
            <a:r>
              <a:rPr dirty="0" sz="1100" spc="-5">
                <a:latin typeface="Garamond"/>
                <a:cs typeface="Garamond"/>
              </a:rPr>
              <a:t>$2,731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1.0545, so NP&amp;E </a:t>
            </a:r>
            <a:r>
              <a:rPr dirty="0" sz="1100">
                <a:latin typeface="Garamond"/>
                <a:cs typeface="Garamond"/>
              </a:rPr>
              <a:t>rose </a:t>
            </a:r>
            <a:r>
              <a:rPr dirty="0" sz="1100" spc="-10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5.45% </a:t>
            </a:r>
            <a:r>
              <a:rPr dirty="0" sz="1100" spc="10">
                <a:latin typeface="Garamond"/>
                <a:cs typeface="Garamond"/>
              </a:rPr>
              <a:t>over </a:t>
            </a:r>
            <a:r>
              <a:rPr dirty="0" sz="1100" spc="-5">
                <a:latin typeface="Garamond"/>
                <a:cs typeface="Garamond"/>
              </a:rPr>
              <a:t>this </a:t>
            </a:r>
            <a:r>
              <a:rPr dirty="0" sz="1100">
                <a:latin typeface="Garamond"/>
                <a:cs typeface="Garamond"/>
              </a:rPr>
              <a:t> period.</a:t>
            </a:r>
            <a:endParaRPr sz="1100">
              <a:latin typeface="Garamond"/>
              <a:cs typeface="Garamond"/>
            </a:endParaRPr>
          </a:p>
          <a:p>
            <a:pPr algn="just" marL="469900" marR="10795" indent="-228600">
              <a:lnSpc>
                <a:spcPts val="1230"/>
              </a:lnSpc>
              <a:spcBef>
                <a:spcPts val="20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5">
                <a:latin typeface="Garamond"/>
                <a:cs typeface="Garamond"/>
              </a:rPr>
              <a:t>standardized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20X2 </a:t>
            </a:r>
            <a:r>
              <a:rPr dirty="0" sz="1100" spc="-5">
                <a:latin typeface="Garamond"/>
                <a:cs typeface="Garamond"/>
              </a:rPr>
              <a:t>common size </a:t>
            </a:r>
            <a:r>
              <a:rPr dirty="0" sz="1100">
                <a:latin typeface="Garamond"/>
                <a:cs typeface="Garamond"/>
              </a:rPr>
              <a:t>numbers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>
                <a:latin typeface="Garamond"/>
                <a:cs typeface="Garamond"/>
              </a:rPr>
              <a:t>dividing each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20X1 </a:t>
            </a:r>
            <a:r>
              <a:rPr dirty="0" sz="1100" spc="-5">
                <a:latin typeface="Garamond"/>
                <a:cs typeface="Garamond"/>
              </a:rPr>
              <a:t>common size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combined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size,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statement.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case,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80.3%/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32740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830"/>
              </a:spcBef>
            </a:pPr>
            <a:r>
              <a:rPr dirty="0" sz="1100">
                <a:latin typeface="Garamond"/>
                <a:cs typeface="Garamond"/>
              </a:rPr>
              <a:t>80.9%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99.26%,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NP&amp;E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almost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remained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assets.</a:t>
            </a:r>
            <a:endParaRPr sz="1100">
              <a:latin typeface="Garamond"/>
              <a:cs typeface="Garamond"/>
            </a:endParaRPr>
          </a:p>
          <a:p>
            <a:pPr marL="469900" marR="3111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absolute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terms,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NP&amp;E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$149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5.45%,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relative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NP&amp;E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fell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0.6%.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A2Z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Inc.,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Common-Size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Balance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Sheet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Standardized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10">
                <a:latin typeface="Garamond"/>
                <a:cs typeface="Garamond"/>
              </a:rPr>
              <a:t>rose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19.1%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20X1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19.7%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20X2</a:t>
            </a:r>
            <a:endParaRPr sz="1100">
              <a:latin typeface="Garamond"/>
              <a:cs typeface="Garamond"/>
            </a:endParaRPr>
          </a:p>
          <a:p>
            <a:pPr marL="469900" marR="30480" indent="-228600">
              <a:lnSpc>
                <a:spcPts val="1220"/>
              </a:lnSpc>
              <a:spcBef>
                <a:spcPts val="209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declined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16.0%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15.1%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68.1%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72.2%.</a:t>
            </a:r>
            <a:endParaRPr sz="1100">
              <a:latin typeface="Garamond"/>
              <a:cs typeface="Garamond"/>
            </a:endParaRPr>
          </a:p>
          <a:p>
            <a:pPr marL="469900" marR="20955" indent="-228600">
              <a:lnSpc>
                <a:spcPts val="1220"/>
              </a:lnSpc>
              <a:spcBef>
                <a:spcPts val="209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Overall,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A2Z’s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liquidity</a:t>
            </a:r>
            <a:r>
              <a:rPr dirty="0" sz="1100" spc="10">
                <a:latin typeface="Garamond"/>
                <a:cs typeface="Garamond"/>
              </a:rPr>
              <a:t> 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A2Z’s </a:t>
            </a:r>
            <a:r>
              <a:rPr dirty="0" sz="1100" spc="-5">
                <a:latin typeface="Garamond"/>
                <a:cs typeface="Garamond"/>
              </a:rPr>
              <a:t>indebtness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diminished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conclude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sheet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stronger.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Garamond"/>
              <a:cs typeface="Garamond"/>
            </a:endParaRPr>
          </a:p>
          <a:p>
            <a:pPr algn="ctr" marL="1984375" marR="2042160">
              <a:lnSpc>
                <a:spcPts val="1220"/>
              </a:lnSpc>
            </a:pPr>
            <a:r>
              <a:rPr dirty="0" sz="1100" spc="5" b="1">
                <a:latin typeface="Garamond"/>
                <a:cs typeface="Garamond"/>
              </a:rPr>
              <a:t>A2Z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Inc.,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Income </a:t>
            </a:r>
            <a:r>
              <a:rPr dirty="0" sz="1100" spc="-20" b="1">
                <a:latin typeface="Garamond"/>
                <a:cs typeface="Garamond"/>
              </a:rPr>
              <a:t>Statement </a:t>
            </a:r>
            <a:r>
              <a:rPr dirty="0" sz="1100" spc="-26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For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Year</a:t>
            </a:r>
            <a:r>
              <a:rPr dirty="0" sz="1100" spc="-20" b="1">
                <a:latin typeface="Garamond"/>
                <a:cs typeface="Garamond"/>
              </a:rPr>
              <a:t> 20X2</a:t>
            </a:r>
            <a:endParaRPr sz="1100">
              <a:latin typeface="Garamond"/>
              <a:cs typeface="Garamond"/>
            </a:endParaRPr>
          </a:p>
          <a:p>
            <a:pPr algn="ctr" marR="55880">
              <a:lnSpc>
                <a:spcPts val="1205"/>
              </a:lnSpc>
            </a:pPr>
            <a:r>
              <a:rPr dirty="0" sz="1100" spc="-15" b="1">
                <a:latin typeface="Garamond"/>
                <a:cs typeface="Garamond"/>
              </a:rPr>
              <a:t>($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in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millions)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43404" y="3696996"/>
          <a:ext cx="3339465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1230"/>
                <a:gridCol w="1117599"/>
              </a:tblGrid>
              <a:tr h="171291">
                <a:tc>
                  <a:txBody>
                    <a:bodyPr/>
                    <a:lstStyle/>
                    <a:p>
                      <a:pPr marL="127000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Sales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1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$2311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Goods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Sold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1344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276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Earnings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before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691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Taxable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187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u="dbl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$363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7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Dividends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121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291">
                <a:tc>
                  <a:txBody>
                    <a:bodyPr/>
                    <a:lstStyle/>
                    <a:p>
                      <a:pPr marL="127000">
                        <a:lnSpc>
                          <a:spcPts val="125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Retained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Earnings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2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242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32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823717" y="5809868"/>
            <a:ext cx="239839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10">
                <a:latin typeface="Garamond"/>
                <a:cs typeface="Garamond"/>
              </a:rPr>
              <a:t> Inc.,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Common-Size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306827" y="6153430"/>
          <a:ext cx="3408045" cy="18059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4870"/>
                <a:gridCol w="1273809"/>
              </a:tblGrid>
              <a:tr h="171164">
                <a:tc>
                  <a:txBody>
                    <a:bodyPr/>
                    <a:lstStyle/>
                    <a:p>
                      <a:pPr marL="127000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Sales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1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100.0%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Goods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Sold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58.2%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11.9%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7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Earnings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before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29.9%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ts val="1275"/>
                        </a:lnSpc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6.1%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Taxable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23.8%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8.1%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7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15.7%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Dividends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5.2%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164">
                <a:tc>
                  <a:txBody>
                    <a:bodyPr/>
                    <a:lstStyle/>
                    <a:p>
                      <a:pPr marL="127000">
                        <a:lnSpc>
                          <a:spcPts val="125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Retained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Earnings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ts val="125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10.5%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8110854"/>
            <a:ext cx="5674995" cy="12153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A2Z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Inc.,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Common-Size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Income </a:t>
            </a:r>
            <a:r>
              <a:rPr dirty="0" sz="1100" spc="-5" b="1">
                <a:latin typeface="Garamond"/>
                <a:cs typeface="Garamond"/>
              </a:rPr>
              <a:t>Statement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tells</a:t>
            </a:r>
            <a:r>
              <a:rPr dirty="0" sz="1100">
                <a:latin typeface="Garamond"/>
                <a:cs typeface="Garamond"/>
              </a:rPr>
              <a:t> 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happened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each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 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expense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eats</a:t>
            </a:r>
            <a:r>
              <a:rPr dirty="0" sz="1100">
                <a:latin typeface="Garamond"/>
                <a:cs typeface="Garamond"/>
              </a:rPr>
              <a:t> up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6.1%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another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8.1%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figure.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Following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15.7%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revenues</a:t>
            </a:r>
            <a:r>
              <a:rPr dirty="0" sz="1100" spc="5">
                <a:latin typeface="Garamond"/>
                <a:cs typeface="Garamond"/>
              </a:rPr>
              <a:t> from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down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bottom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net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income;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one-third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remainder</a:t>
            </a:r>
            <a:r>
              <a:rPr dirty="0" sz="1100">
                <a:latin typeface="Garamond"/>
                <a:cs typeface="Garamond"/>
              </a:rPr>
              <a:t> two-thirds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taken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retained </a:t>
            </a:r>
            <a:r>
              <a:rPr dirty="0" sz="1100">
                <a:latin typeface="Garamond"/>
                <a:cs typeface="Garamond"/>
              </a:rPr>
              <a:t>earnings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As far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concerned,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58.2%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revenues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goods </a:t>
            </a:r>
            <a:r>
              <a:rPr dirty="0" sz="1100" spc="-10">
                <a:latin typeface="Garamond"/>
                <a:cs typeface="Garamond"/>
              </a:rPr>
              <a:t>sold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84520" cy="81089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Standardized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Financial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Garamond"/>
              <a:cs typeface="Garamond"/>
            </a:endParaRPr>
          </a:p>
          <a:p>
            <a:pPr marL="469900" marR="131445" indent="-228600">
              <a:lnSpc>
                <a:spcPct val="941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Although </a:t>
            </a:r>
            <a:r>
              <a:rPr dirty="0" sz="1100" spc="10">
                <a:latin typeface="Garamond"/>
                <a:cs typeface="Garamond"/>
              </a:rPr>
              <a:t>an </a:t>
            </a:r>
            <a:r>
              <a:rPr dirty="0" sz="1100" spc="-5">
                <a:latin typeface="Garamond"/>
                <a:cs typeface="Garamond"/>
              </a:rPr>
              <a:t>organization’s </a:t>
            </a:r>
            <a:r>
              <a:rPr dirty="0" sz="1100">
                <a:latin typeface="Garamond"/>
                <a:cs typeface="Garamond"/>
              </a:rPr>
              <a:t>common-size </a:t>
            </a:r>
            <a:r>
              <a:rPr dirty="0" sz="1100" spc="-5">
                <a:latin typeface="Garamond"/>
                <a:cs typeface="Garamond"/>
              </a:rPr>
              <a:t>statements provide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better </a:t>
            </a:r>
            <a:r>
              <a:rPr dirty="0" sz="1100" spc="-5">
                <a:latin typeface="Garamond"/>
                <a:cs typeface="Garamond"/>
              </a:rPr>
              <a:t>analytical </a:t>
            </a:r>
            <a:r>
              <a:rPr dirty="0" sz="1100">
                <a:latin typeface="Garamond"/>
                <a:cs typeface="Garamond"/>
              </a:rPr>
              <a:t>insight </a:t>
            </a:r>
            <a:r>
              <a:rPr dirty="0" sz="1100" spc="5">
                <a:latin typeface="Garamond"/>
                <a:cs typeface="Garamond"/>
              </a:rPr>
              <a:t>into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strength and standing, </a:t>
            </a:r>
            <a:r>
              <a:rPr dirty="0" sz="1100" spc="5">
                <a:latin typeface="Garamond"/>
                <a:cs typeface="Garamond"/>
              </a:rPr>
              <a:t>yet </a:t>
            </a:r>
            <a:r>
              <a:rPr dirty="0" sz="1100">
                <a:latin typeface="Garamond"/>
                <a:cs typeface="Garamond"/>
              </a:rPr>
              <a:t>its performance and </a:t>
            </a:r>
            <a:r>
              <a:rPr dirty="0" sz="1100" spc="-5">
                <a:latin typeface="Garamond"/>
                <a:cs typeface="Garamond"/>
              </a:rPr>
              <a:t>efficiency can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>
                <a:latin typeface="Garamond"/>
                <a:cs typeface="Garamond"/>
              </a:rPr>
              <a:t>better </a:t>
            </a:r>
            <a:r>
              <a:rPr dirty="0" sz="1100" spc="-5">
                <a:latin typeface="Garamond"/>
                <a:cs typeface="Garamond"/>
              </a:rPr>
              <a:t>judged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comparing </a:t>
            </a:r>
            <a:r>
              <a:rPr dirty="0" sz="1100">
                <a:latin typeface="Garamond"/>
                <a:cs typeface="Garamond"/>
              </a:rPr>
              <a:t> these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 competitors.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Ratio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Another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avoiding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problems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involved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companies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sizes,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3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calculate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ratios.</a:t>
            </a:r>
            <a:endParaRPr sz="1100">
              <a:latin typeface="Garamond"/>
              <a:cs typeface="Garamond"/>
            </a:endParaRPr>
          </a:p>
          <a:p>
            <a:pPr marL="469900" marR="2032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One </a:t>
            </a:r>
            <a:r>
              <a:rPr dirty="0" sz="1100">
                <a:latin typeface="Garamond"/>
                <a:cs typeface="Garamond"/>
              </a:rPr>
              <a:t>problem </a:t>
            </a:r>
            <a:r>
              <a:rPr dirty="0" sz="1100" spc="5">
                <a:latin typeface="Garamond"/>
                <a:cs typeface="Garamond"/>
              </a:rPr>
              <a:t>with </a:t>
            </a:r>
            <a:r>
              <a:rPr dirty="0" sz="1100" spc="-5">
                <a:latin typeface="Garamond"/>
                <a:cs typeface="Garamond"/>
              </a:rPr>
              <a:t>ratios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that different people </a:t>
            </a:r>
            <a:r>
              <a:rPr dirty="0" sz="1100">
                <a:latin typeface="Garamond"/>
                <a:cs typeface="Garamond"/>
              </a:rPr>
              <a:t>and different </a:t>
            </a:r>
            <a:r>
              <a:rPr dirty="0" sz="1100" spc="-5">
                <a:latin typeface="Garamond"/>
                <a:cs typeface="Garamond"/>
              </a:rPr>
              <a:t>sources frequently </a:t>
            </a:r>
            <a:r>
              <a:rPr dirty="0" sz="1100" spc="5">
                <a:latin typeface="Garamond"/>
                <a:cs typeface="Garamond"/>
              </a:rPr>
              <a:t>don’t </a:t>
            </a:r>
            <a:r>
              <a:rPr dirty="0" sz="1100">
                <a:latin typeface="Garamond"/>
                <a:cs typeface="Garamond"/>
              </a:rPr>
              <a:t>compute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exactly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same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way.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tool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analysis,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should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careful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document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 </a:t>
            </a:r>
            <a:r>
              <a:rPr dirty="0" sz="1100">
                <a:latin typeface="Garamond"/>
                <a:cs typeface="Garamond"/>
              </a:rPr>
              <a:t> each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and,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comparing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numbers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another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source,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sure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know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numbers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computed.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5" b="1">
                <a:latin typeface="Garamond"/>
                <a:cs typeface="Garamond"/>
              </a:rPr>
              <a:t>Ratio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 each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discuss,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several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questions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mind: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it</a:t>
            </a:r>
            <a:r>
              <a:rPr dirty="0" sz="1100" spc="-5">
                <a:latin typeface="Garamond"/>
                <a:cs typeface="Garamond"/>
              </a:rPr>
              <a:t> computed?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intended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might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interested?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What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measurement?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might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high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telling?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might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misleading?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could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 measure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improved?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Courier New"/>
              <a:buChar char="o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Ratio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traditionally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grouped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 categories: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b="1">
                <a:latin typeface="Garamond"/>
                <a:cs typeface="Garamond"/>
              </a:rPr>
              <a:t>Short-term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solvency,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or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liquidity,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ratios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4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Ability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bills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short-run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b="1">
                <a:latin typeface="Garamond"/>
                <a:cs typeface="Garamond"/>
              </a:rPr>
              <a:t>Long-term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solvency,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or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financial</a:t>
            </a:r>
            <a:r>
              <a:rPr dirty="0" sz="1100" b="1">
                <a:latin typeface="Garamond"/>
                <a:cs typeface="Garamond"/>
              </a:rPr>
              <a:t> leverage,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ratios</a:t>
            </a:r>
            <a:endParaRPr sz="1100">
              <a:latin typeface="Garamond"/>
              <a:cs typeface="Garamond"/>
            </a:endParaRPr>
          </a:p>
          <a:p>
            <a:pPr algn="r" lvl="2" marL="227965" marR="2740025" indent="-227965">
              <a:lnSpc>
                <a:spcPts val="1260"/>
              </a:lnSpc>
              <a:buFont typeface="Wingdings"/>
              <a:buChar char=""/>
              <a:tabLst>
                <a:tab pos="227965" algn="l"/>
                <a:tab pos="228600" algn="l"/>
              </a:tabLst>
            </a:pPr>
            <a:r>
              <a:rPr dirty="0" sz="1100">
                <a:latin typeface="Garamond"/>
                <a:cs typeface="Garamond"/>
              </a:rPr>
              <a:t>Ability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meet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obligations</a:t>
            </a:r>
            <a:endParaRPr sz="1100">
              <a:latin typeface="Garamond"/>
              <a:cs typeface="Garamond"/>
            </a:endParaRPr>
          </a:p>
          <a:p>
            <a:pPr algn="r" lvl="1" marL="228600" marR="2725420" indent="-228600">
              <a:lnSpc>
                <a:spcPts val="1260"/>
              </a:lnSpc>
              <a:buFont typeface="Courier New"/>
              <a:buChar char="o"/>
              <a:tabLst>
                <a:tab pos="228600" algn="l"/>
                <a:tab pos="699770" algn="l"/>
              </a:tabLst>
            </a:pPr>
            <a:r>
              <a:rPr dirty="0" sz="1100" b="1">
                <a:latin typeface="Garamond"/>
                <a:cs typeface="Garamond"/>
              </a:rPr>
              <a:t>Asset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management,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or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turnover,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ratios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6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Intensity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efficiency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use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 b="1">
                <a:latin typeface="Garamond"/>
                <a:cs typeface="Garamond"/>
              </a:rPr>
              <a:t>Profitability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ratios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6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Ability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control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expenses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 b="1">
                <a:latin typeface="Garamond"/>
                <a:cs typeface="Garamond"/>
              </a:rPr>
              <a:t>Market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ratios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31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Going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beyond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100" b="1">
                <a:latin typeface="Garamond"/>
                <a:cs typeface="Garamond"/>
              </a:rPr>
              <a:t>Short-Term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Solvency,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or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Liquidity,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Measures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225425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primary concern,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which these </a:t>
            </a:r>
            <a:r>
              <a:rPr dirty="0" sz="1100" spc="-5">
                <a:latin typeface="Garamond"/>
                <a:cs typeface="Garamond"/>
              </a:rPr>
              <a:t>ratios relate,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firm’s </a:t>
            </a:r>
            <a:r>
              <a:rPr dirty="0" sz="1100" spc="5">
                <a:latin typeface="Garamond"/>
                <a:cs typeface="Garamond"/>
              </a:rPr>
              <a:t>ability to </a:t>
            </a:r>
            <a:r>
              <a:rPr dirty="0" sz="1100">
                <a:latin typeface="Garamond"/>
                <a:cs typeface="Garamond"/>
              </a:rPr>
              <a:t>pay its bills over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without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undue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stress.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focus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liabilities.</a:t>
            </a:r>
            <a:endParaRPr sz="1100">
              <a:latin typeface="Garamond"/>
              <a:cs typeface="Garamond"/>
            </a:endParaRPr>
          </a:p>
          <a:p>
            <a:pPr marL="469900" marR="46990" indent="-228600">
              <a:lnSpc>
                <a:spcPct val="94100"/>
              </a:lnSpc>
              <a:spcBef>
                <a:spcPts val="9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Liquidity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particularly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creditors.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Since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constantly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banks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short-term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lenders,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understanding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essential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likely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fairly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rapidly,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hence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unpredictable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839469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Current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25189" y="1225930"/>
            <a:ext cx="1143635" cy="9525"/>
          </a:xfrm>
          <a:custGeom>
            <a:avLst/>
            <a:gdLst/>
            <a:ahLst/>
            <a:cxnLst/>
            <a:rect l="l" t="t" r="r" b="b"/>
            <a:pathLst>
              <a:path w="1143635" h="9525">
                <a:moveTo>
                  <a:pt x="1143609" y="0"/>
                </a:moveTo>
                <a:lnTo>
                  <a:pt x="0" y="0"/>
                </a:lnTo>
                <a:lnTo>
                  <a:pt x="0" y="9143"/>
                </a:lnTo>
                <a:lnTo>
                  <a:pt x="1143609" y="9143"/>
                </a:lnTo>
                <a:lnTo>
                  <a:pt x="11436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63929" y="1008494"/>
            <a:ext cx="5633720" cy="184150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866390">
              <a:lnSpc>
                <a:spcPct val="100000"/>
              </a:lnSpc>
              <a:spcBef>
                <a:spcPts val="315"/>
              </a:spcBef>
            </a:pPr>
            <a:r>
              <a:rPr dirty="0" sz="1000" spc="60">
                <a:latin typeface="Cambria Math"/>
                <a:cs typeface="Cambria Math"/>
              </a:rPr>
              <a:t>Current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Assets</a:t>
            </a:r>
            <a:endParaRPr sz="1000">
              <a:latin typeface="Cambria Math"/>
              <a:cs typeface="Cambria Math"/>
            </a:endParaRPr>
          </a:p>
          <a:p>
            <a:pPr algn="ctr" marL="101600">
              <a:lnSpc>
                <a:spcPct val="100000"/>
              </a:lnSpc>
              <a:spcBef>
                <a:spcPts val="250"/>
              </a:spcBef>
            </a:pPr>
            <a:r>
              <a:rPr dirty="0" baseline="35353" sz="1650">
                <a:latin typeface="Garamond"/>
                <a:cs typeface="Garamond"/>
              </a:rPr>
              <a:t>Current </a:t>
            </a:r>
            <a:r>
              <a:rPr dirty="0" baseline="35353" sz="1650" spc="-7">
                <a:latin typeface="Garamond"/>
                <a:cs typeface="Garamond"/>
              </a:rPr>
              <a:t>Ratio</a:t>
            </a:r>
            <a:r>
              <a:rPr dirty="0" baseline="35353" sz="1650" spc="-44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-75">
                <a:latin typeface="Garamond"/>
                <a:cs typeface="Garamond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Current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50">
                <a:latin typeface="Cambria Math"/>
                <a:cs typeface="Cambria Math"/>
              </a:rPr>
              <a:t>Liabilities</a:t>
            </a:r>
            <a:endParaRPr sz="1000">
              <a:latin typeface="Cambria Math"/>
              <a:cs typeface="Cambria Math"/>
            </a:endParaRPr>
          </a:p>
          <a:p>
            <a:pPr marL="482600" marR="30480" indent="-228600">
              <a:lnSpc>
                <a:spcPts val="1260"/>
              </a:lnSpc>
              <a:spcBef>
                <a:spcPts val="107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converted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12</a:t>
            </a:r>
            <a:r>
              <a:rPr dirty="0" sz="1100" spc="-5">
                <a:latin typeface="Garamond"/>
                <a:cs typeface="Garamond"/>
              </a:rPr>
              <a:t> months,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liquidity.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unit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either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times.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400">
              <a:latin typeface="Garamond"/>
              <a:cs typeface="Garamond"/>
            </a:endParaRPr>
          </a:p>
          <a:p>
            <a:pPr marL="25400">
              <a:lnSpc>
                <a:spcPct val="100000"/>
              </a:lnSpc>
              <a:spcBef>
                <a:spcPts val="850"/>
              </a:spcBef>
            </a:pPr>
            <a:r>
              <a:rPr dirty="0" sz="1100" spc="-5" b="1">
                <a:latin typeface="Garamond"/>
                <a:cs typeface="Garamond"/>
              </a:rPr>
              <a:t>Current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For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20X2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17060" y="2978657"/>
            <a:ext cx="3098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70</a:t>
            </a:r>
            <a:r>
              <a:rPr dirty="0" sz="1000" spc="25">
                <a:latin typeface="Cambria Math"/>
                <a:cs typeface="Cambria Math"/>
              </a:rPr>
              <a:t>8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29760" y="3169665"/>
            <a:ext cx="311150" cy="9525"/>
          </a:xfrm>
          <a:custGeom>
            <a:avLst/>
            <a:gdLst/>
            <a:ahLst/>
            <a:cxnLst/>
            <a:rect l="l" t="t" r="r" b="b"/>
            <a:pathLst>
              <a:path w="311150" h="9525">
                <a:moveTo>
                  <a:pt x="310896" y="0"/>
                </a:moveTo>
                <a:lnTo>
                  <a:pt x="0" y="0"/>
                </a:lnTo>
                <a:lnTo>
                  <a:pt x="0" y="9144"/>
                </a:lnTo>
                <a:lnTo>
                  <a:pt x="310896" y="9144"/>
                </a:lnTo>
                <a:lnTo>
                  <a:pt x="3108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981198" y="3070351"/>
            <a:ext cx="208978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10">
                <a:latin typeface="Cambria Math"/>
                <a:cs typeface="Cambria Math"/>
              </a:rPr>
              <a:t>=</a:t>
            </a:r>
            <a:r>
              <a:rPr dirty="0" sz="1100" spc="70">
                <a:latin typeface="Cambria Math"/>
                <a:cs typeface="Cambria Math"/>
              </a:rPr>
              <a:t> </a:t>
            </a:r>
            <a:r>
              <a:rPr dirty="0" baseline="-33333" sz="1500" spc="22">
                <a:latin typeface="Cambria Math"/>
                <a:cs typeface="Cambria Math"/>
              </a:rPr>
              <a:t>$540</a:t>
            </a:r>
            <a:r>
              <a:rPr dirty="0" baseline="-33333" sz="1500" spc="187">
                <a:latin typeface="Cambria Math"/>
                <a:cs typeface="Cambria Math"/>
              </a:rPr>
              <a:t> </a:t>
            </a:r>
            <a:r>
              <a:rPr dirty="0" sz="1100" spc="10">
                <a:latin typeface="Cambria Math"/>
                <a:cs typeface="Cambria Math"/>
              </a:rPr>
              <a:t>=</a:t>
            </a:r>
            <a:r>
              <a:rPr dirty="0" sz="1100" spc="-5">
                <a:latin typeface="Cambria Math"/>
                <a:cs typeface="Cambria Math"/>
              </a:rPr>
              <a:t> 1.31</a:t>
            </a:r>
            <a:r>
              <a:rPr dirty="0" sz="1100">
                <a:latin typeface="Cambria Math"/>
                <a:cs typeface="Cambria Math"/>
              </a:rPr>
              <a:t> </a:t>
            </a:r>
            <a:r>
              <a:rPr dirty="0" sz="1100" spc="-5">
                <a:latin typeface="Cambria Math"/>
                <a:cs typeface="Cambria Math"/>
              </a:rPr>
              <a:t>times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34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76629" y="3500119"/>
            <a:ext cx="5663565" cy="5634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9900" indent="-229235">
              <a:lnSpc>
                <a:spcPts val="1290"/>
              </a:lnSpc>
              <a:spcBef>
                <a:spcPts val="11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say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$1.31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$1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5">
                <a:latin typeface="Garamond"/>
                <a:cs typeface="Garamond"/>
              </a:rPr>
              <a:t> current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1.31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over.</a:t>
            </a:r>
            <a:endParaRPr sz="1100">
              <a:latin typeface="Garamond"/>
              <a:cs typeface="Garamond"/>
            </a:endParaRPr>
          </a:p>
          <a:p>
            <a:pPr marL="469900" marR="147955" indent="-228600">
              <a:lnSpc>
                <a:spcPts val="122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creditor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(particularly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creditor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like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supplier),</a:t>
            </a:r>
            <a:r>
              <a:rPr dirty="0" sz="1100" spc="-10">
                <a:latin typeface="Garamond"/>
                <a:cs typeface="Garamond"/>
              </a:rPr>
              <a:t> 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better</a:t>
            </a:r>
            <a:endParaRPr sz="1100">
              <a:latin typeface="Garamond"/>
              <a:cs typeface="Garamond"/>
            </a:endParaRPr>
          </a:p>
          <a:p>
            <a:pPr marL="469900" marR="87630" indent="-228600">
              <a:lnSpc>
                <a:spcPts val="1260"/>
              </a:lnSpc>
              <a:spcBef>
                <a:spcPts val="16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firm, high </a:t>
            </a:r>
            <a:r>
              <a:rPr dirty="0" sz="1100">
                <a:latin typeface="Garamond"/>
                <a:cs typeface="Garamond"/>
              </a:rPr>
              <a:t>current </a:t>
            </a:r>
            <a:r>
              <a:rPr dirty="0" sz="1100" spc="-5">
                <a:latin typeface="Garamond"/>
                <a:cs typeface="Garamond"/>
              </a:rPr>
              <a:t>ratio </a:t>
            </a:r>
            <a:r>
              <a:rPr dirty="0" sz="1100">
                <a:latin typeface="Garamond"/>
                <a:cs typeface="Garamond"/>
              </a:rPr>
              <a:t>indicates </a:t>
            </a:r>
            <a:r>
              <a:rPr dirty="0" sz="1100" spc="-5">
                <a:latin typeface="Garamond"/>
                <a:cs typeface="Garamond"/>
              </a:rPr>
              <a:t>liquidity, </a:t>
            </a:r>
            <a:r>
              <a:rPr dirty="0" sz="1100" spc="5">
                <a:latin typeface="Garamond"/>
                <a:cs typeface="Garamond"/>
              </a:rPr>
              <a:t>but </a:t>
            </a:r>
            <a:r>
              <a:rPr dirty="0" sz="1100">
                <a:latin typeface="Garamond"/>
                <a:cs typeface="Garamond"/>
              </a:rPr>
              <a:t>it may also </a:t>
            </a:r>
            <a:r>
              <a:rPr dirty="0" sz="1100" spc="-5">
                <a:latin typeface="Garamond"/>
                <a:cs typeface="Garamond"/>
              </a:rPr>
              <a:t>indicate </a:t>
            </a:r>
            <a:r>
              <a:rPr dirty="0" sz="1100" spc="10">
                <a:latin typeface="Garamond"/>
                <a:cs typeface="Garamond"/>
              </a:rPr>
              <a:t>an </a:t>
            </a:r>
            <a:r>
              <a:rPr dirty="0" sz="1100" spc="-5">
                <a:latin typeface="Garamond"/>
                <a:cs typeface="Garamond"/>
              </a:rPr>
              <a:t>inefficient use </a:t>
            </a:r>
            <a:r>
              <a:rPr dirty="0" sz="1100" spc="5">
                <a:latin typeface="Garamond"/>
                <a:cs typeface="Garamond"/>
              </a:rPr>
              <a:t>of cash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assets.</a:t>
            </a:r>
            <a:endParaRPr sz="1100">
              <a:latin typeface="Garamond"/>
              <a:cs typeface="Garamond"/>
            </a:endParaRPr>
          </a:p>
          <a:p>
            <a:pPr marL="469900" marR="3619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see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least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because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10">
                <a:latin typeface="Garamond"/>
                <a:cs typeface="Garamond"/>
              </a:rPr>
              <a:t> would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negative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Like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affected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various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transactions.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over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long-term,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8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liabilities.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31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affected,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would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rise.</a:t>
            </a:r>
            <a:endParaRPr sz="1100">
              <a:latin typeface="Garamond"/>
              <a:cs typeface="Garamond"/>
            </a:endParaRPr>
          </a:p>
          <a:p>
            <a:pPr marL="469900" marR="22479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An </a:t>
            </a:r>
            <a:r>
              <a:rPr dirty="0" sz="1100">
                <a:latin typeface="Garamond"/>
                <a:cs typeface="Garamond"/>
              </a:rPr>
              <a:t>apparently </a:t>
            </a:r>
            <a:r>
              <a:rPr dirty="0" sz="1100" spc="-5">
                <a:latin typeface="Garamond"/>
                <a:cs typeface="Garamond"/>
              </a:rPr>
              <a:t>low </a:t>
            </a:r>
            <a:r>
              <a:rPr dirty="0" sz="1100">
                <a:latin typeface="Garamond"/>
                <a:cs typeface="Garamond"/>
              </a:rPr>
              <a:t>current </a:t>
            </a:r>
            <a:r>
              <a:rPr dirty="0" sz="1100" spc="-5">
                <a:latin typeface="Garamond"/>
                <a:cs typeface="Garamond"/>
              </a:rPr>
              <a:t>ratio </a:t>
            </a:r>
            <a:r>
              <a:rPr dirty="0" sz="1100" spc="10">
                <a:latin typeface="Garamond"/>
                <a:cs typeface="Garamond"/>
              </a:rPr>
              <a:t>may </a:t>
            </a:r>
            <a:r>
              <a:rPr dirty="0" sz="1100" spc="-5">
                <a:latin typeface="Garamond"/>
                <a:cs typeface="Garamond"/>
              </a:rPr>
              <a:t>not </a:t>
            </a:r>
            <a:r>
              <a:rPr dirty="0" sz="1100" spc="-10">
                <a:latin typeface="Garamond"/>
                <a:cs typeface="Garamond"/>
              </a:rPr>
              <a:t>be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15">
                <a:latin typeface="Garamond"/>
                <a:cs typeface="Garamond"/>
              </a:rPr>
              <a:t>bad </a:t>
            </a:r>
            <a:r>
              <a:rPr dirty="0" sz="1100" spc="-10">
                <a:latin typeface="Garamond"/>
                <a:cs typeface="Garamond"/>
              </a:rPr>
              <a:t>sign for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company </a:t>
            </a:r>
            <a:r>
              <a:rPr dirty="0" sz="1100" spc="5">
                <a:latin typeface="Garamond"/>
                <a:cs typeface="Garamond"/>
              </a:rPr>
              <a:t>with a </a:t>
            </a:r>
            <a:r>
              <a:rPr dirty="0" sz="1100" spc="-5">
                <a:latin typeface="Garamond"/>
                <a:cs typeface="Garamond"/>
              </a:rPr>
              <a:t>large reserve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unlimited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power.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aramond"/>
              <a:cs typeface="Garamond"/>
            </a:endParaRPr>
          </a:p>
          <a:p>
            <a:pPr marL="469900" marR="276860" indent="-228600">
              <a:lnSpc>
                <a:spcPts val="123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firm </a:t>
            </a:r>
            <a:r>
              <a:rPr dirty="0" sz="1100" spc="5">
                <a:latin typeface="Garamond"/>
                <a:cs typeface="Garamond"/>
              </a:rPr>
              <a:t>wants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pay-off </a:t>
            </a:r>
            <a:r>
              <a:rPr dirty="0" sz="1100" spc="-5">
                <a:latin typeface="Garamond"/>
                <a:cs typeface="Garamond"/>
              </a:rPr>
              <a:t>some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5">
                <a:latin typeface="Garamond"/>
                <a:cs typeface="Garamond"/>
              </a:rPr>
              <a:t>suppliers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5">
                <a:latin typeface="Garamond"/>
                <a:cs typeface="Garamond"/>
              </a:rPr>
              <a:t>creditors. What </a:t>
            </a:r>
            <a:r>
              <a:rPr dirty="0" sz="1100">
                <a:latin typeface="Garamond"/>
                <a:cs typeface="Garamond"/>
              </a:rPr>
              <a:t>would happen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current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ratio?</a:t>
            </a:r>
            <a:endParaRPr sz="1100">
              <a:latin typeface="Garamond"/>
              <a:cs typeface="Garamond"/>
            </a:endParaRPr>
          </a:p>
          <a:p>
            <a:pPr lvl="1" marL="927735" marR="62230" indent="-228600">
              <a:lnSpc>
                <a:spcPts val="1220"/>
              </a:lnSpc>
              <a:spcBef>
                <a:spcPts val="30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moves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away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1.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greater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bigger.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1,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smaller.</a:t>
            </a:r>
            <a:endParaRPr sz="1100">
              <a:latin typeface="Garamond"/>
              <a:cs typeface="Garamond"/>
            </a:endParaRPr>
          </a:p>
          <a:p>
            <a:pPr marL="469900" marR="113030" indent="-228600">
              <a:lnSpc>
                <a:spcPts val="1260"/>
              </a:lnSpc>
              <a:spcBef>
                <a:spcPts val="1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firm has </a:t>
            </a:r>
            <a:r>
              <a:rPr dirty="0" sz="1100" spc="-15">
                <a:latin typeface="Garamond"/>
                <a:cs typeface="Garamond"/>
              </a:rPr>
              <a:t>$4 in </a:t>
            </a:r>
            <a:r>
              <a:rPr dirty="0" sz="1100" spc="-5">
                <a:latin typeface="Garamond"/>
                <a:cs typeface="Garamond"/>
              </a:rPr>
              <a:t>current </a:t>
            </a:r>
            <a:r>
              <a:rPr dirty="0" sz="1100">
                <a:latin typeface="Garamond"/>
                <a:cs typeface="Garamond"/>
              </a:rPr>
              <a:t>assets and </a:t>
            </a:r>
            <a:r>
              <a:rPr dirty="0" sz="1100" spc="5">
                <a:latin typeface="Garamond"/>
                <a:cs typeface="Garamond"/>
              </a:rPr>
              <a:t>$2 </a:t>
            </a:r>
            <a:r>
              <a:rPr dirty="0" sz="1100">
                <a:latin typeface="Garamond"/>
                <a:cs typeface="Garamond"/>
              </a:rPr>
              <a:t>in current </a:t>
            </a:r>
            <a:r>
              <a:rPr dirty="0" sz="1100" spc="-5">
                <a:latin typeface="Garamond"/>
                <a:cs typeface="Garamond"/>
              </a:rPr>
              <a:t>liabilities </a:t>
            </a:r>
            <a:r>
              <a:rPr dirty="0" sz="1100" spc="-10">
                <a:latin typeface="Garamond"/>
                <a:cs typeface="Garamond"/>
              </a:rPr>
              <a:t>for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current </a:t>
            </a:r>
            <a:r>
              <a:rPr dirty="0" sz="1100" spc="-5">
                <a:latin typeface="Garamond"/>
                <a:cs typeface="Garamond"/>
              </a:rPr>
              <a:t>ratio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 spc="10">
                <a:latin typeface="Garamond"/>
                <a:cs typeface="Garamond"/>
              </a:rPr>
              <a:t>2. </a:t>
            </a:r>
            <a:r>
              <a:rPr dirty="0" sz="1100" spc="-15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uses </a:t>
            </a:r>
            <a:r>
              <a:rPr dirty="0" sz="1100" spc="5">
                <a:latin typeface="Garamond"/>
                <a:cs typeface="Garamond"/>
              </a:rPr>
              <a:t>$1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reduce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($4-1)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($2-1)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</a:t>
            </a:r>
            <a:endParaRPr sz="1100">
              <a:latin typeface="Garamond"/>
              <a:cs typeface="Garamond"/>
            </a:endParaRPr>
          </a:p>
          <a:p>
            <a:pPr marL="469900" marR="62230" indent="-228600">
              <a:lnSpc>
                <a:spcPts val="122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Reversing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situation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$2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$4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cause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fall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1/2.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buys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happen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</a:t>
            </a:r>
            <a:r>
              <a:rPr dirty="0" sz="1100" spc="-5">
                <a:latin typeface="Garamond"/>
                <a:cs typeface="Garamond"/>
              </a:rPr>
              <a:t>case?</a:t>
            </a:r>
            <a:endParaRPr sz="1100">
              <a:latin typeface="Garamond"/>
              <a:cs typeface="Garamond"/>
            </a:endParaRPr>
          </a:p>
          <a:p>
            <a:pPr lvl="1" marL="699135" marR="120014" indent="-229235">
              <a:lnSpc>
                <a:spcPts val="1260"/>
              </a:lnSpc>
              <a:spcBef>
                <a:spcPts val="4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Nothing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happens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scenario,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(cash)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goes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down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another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(inventory)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up.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unaffected.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happens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merchandise?</a:t>
            </a:r>
            <a:endParaRPr sz="1100">
              <a:latin typeface="Garamond"/>
              <a:cs typeface="Garamond"/>
            </a:endParaRPr>
          </a:p>
          <a:p>
            <a:pPr lvl="1" marL="699135" marR="5080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Current </a:t>
            </a:r>
            <a:r>
              <a:rPr dirty="0" sz="1100" spc="-5">
                <a:latin typeface="Garamond"/>
                <a:cs typeface="Garamond"/>
              </a:rPr>
              <a:t>ratio </a:t>
            </a:r>
            <a:r>
              <a:rPr dirty="0" sz="1100">
                <a:latin typeface="Garamond"/>
                <a:cs typeface="Garamond"/>
              </a:rPr>
              <a:t>would </a:t>
            </a:r>
            <a:r>
              <a:rPr dirty="0" sz="1100" spc="-5">
                <a:latin typeface="Garamond"/>
                <a:cs typeface="Garamond"/>
              </a:rPr>
              <a:t>usually rise </a:t>
            </a:r>
            <a:r>
              <a:rPr dirty="0" sz="1100">
                <a:latin typeface="Garamond"/>
                <a:cs typeface="Garamond"/>
              </a:rPr>
              <a:t>because </a:t>
            </a:r>
            <a:r>
              <a:rPr dirty="0" sz="1100" spc="-5">
                <a:latin typeface="Garamond"/>
                <a:cs typeface="Garamond"/>
              </a:rPr>
              <a:t>inventory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shown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>
                <a:latin typeface="Garamond"/>
                <a:cs typeface="Garamond"/>
              </a:rPr>
              <a:t>cost and sale would normally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something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(difference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markup).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either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decrease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rises.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93410" cy="13576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Quick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(or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Acid-Test)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ct val="941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often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least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liquid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And</a:t>
            </a:r>
            <a:r>
              <a:rPr dirty="0" sz="1100">
                <a:latin typeface="Garamond"/>
                <a:cs typeface="Garamond"/>
              </a:rPr>
              <a:t> its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least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reliable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market </a:t>
            </a:r>
            <a:r>
              <a:rPr dirty="0" sz="1100">
                <a:latin typeface="Garamond"/>
                <a:cs typeface="Garamond"/>
              </a:rPr>
              <a:t>value </a:t>
            </a:r>
            <a:r>
              <a:rPr dirty="0" sz="1100" spc="-5">
                <a:latin typeface="Garamond"/>
                <a:cs typeface="Garamond"/>
              </a:rPr>
              <a:t>since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quality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inventory </a:t>
            </a:r>
            <a:r>
              <a:rPr dirty="0" sz="1100">
                <a:latin typeface="Garamond"/>
                <a:cs typeface="Garamond"/>
              </a:rPr>
              <a:t>isn’t </a:t>
            </a:r>
            <a:r>
              <a:rPr dirty="0" sz="1100" spc="-5">
                <a:latin typeface="Garamond"/>
                <a:cs typeface="Garamond"/>
              </a:rPr>
              <a:t>considered. </a:t>
            </a:r>
            <a:r>
              <a:rPr dirty="0" sz="1100">
                <a:latin typeface="Garamond"/>
                <a:cs typeface="Garamond"/>
              </a:rPr>
              <a:t>Some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inventory </a:t>
            </a:r>
            <a:r>
              <a:rPr dirty="0" sz="1100" spc="10">
                <a:latin typeface="Garamond"/>
                <a:cs typeface="Garamond"/>
              </a:rPr>
              <a:t>may </a:t>
            </a:r>
            <a:r>
              <a:rPr dirty="0" sz="1100">
                <a:latin typeface="Garamond"/>
                <a:cs typeface="Garamond"/>
              </a:rPr>
              <a:t>turn </a:t>
            </a:r>
            <a:r>
              <a:rPr dirty="0" sz="1100" spc="5">
                <a:latin typeface="Garamond"/>
                <a:cs typeface="Garamond"/>
              </a:rPr>
              <a:t> out 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damaged,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obsolete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lost.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Relatively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inventories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often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sign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trouble.</a:t>
            </a:r>
            <a:endParaRPr sz="1100">
              <a:latin typeface="Garamond"/>
              <a:cs typeface="Garamond"/>
            </a:endParaRPr>
          </a:p>
          <a:p>
            <a:pPr marL="469900" marR="92075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overestimated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overbought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overproduced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a</a:t>
            </a:r>
            <a:r>
              <a:rPr dirty="0" sz="1100" spc="-5">
                <a:latin typeface="Garamond"/>
                <a:cs typeface="Garamond"/>
              </a:rPr>
              <a:t> result,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hence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substantial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portion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5">
                <a:latin typeface="Garamond"/>
                <a:cs typeface="Garamond"/>
              </a:rPr>
              <a:t> liquidity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slow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moving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inventory.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6598" y="2315336"/>
            <a:ext cx="826769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Quick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 </a:t>
            </a:r>
            <a:r>
              <a:rPr dirty="0" sz="1100" spc="10">
                <a:latin typeface="Cambria Math"/>
                <a:cs typeface="Cambria Math"/>
              </a:rPr>
              <a:t>=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0192" y="2223897"/>
            <a:ext cx="14662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Current</a:t>
            </a:r>
            <a:r>
              <a:rPr dirty="0" sz="1000" spc="-35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Assets </a:t>
            </a:r>
            <a:r>
              <a:rPr dirty="0" sz="1000">
                <a:latin typeface="Cambria Math"/>
                <a:cs typeface="Cambria Math"/>
              </a:rPr>
              <a:t>-</a:t>
            </a:r>
            <a:r>
              <a:rPr dirty="0" sz="1000" spc="-20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Inventory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49648" y="2420873"/>
            <a:ext cx="10210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C</a:t>
            </a:r>
            <a:r>
              <a:rPr dirty="0" sz="1000" spc="-20">
                <a:latin typeface="Cambria Math"/>
                <a:cs typeface="Cambria Math"/>
              </a:rPr>
              <a:t>u</a:t>
            </a:r>
            <a:r>
              <a:rPr dirty="0" sz="1000" spc="10">
                <a:latin typeface="Cambria Math"/>
                <a:cs typeface="Cambria Math"/>
              </a:rPr>
              <a:t>rren</a:t>
            </a:r>
            <a:r>
              <a:rPr dirty="0" sz="1000">
                <a:latin typeface="Cambria Math"/>
                <a:cs typeface="Cambria Math"/>
              </a:rPr>
              <a:t>t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L</a:t>
            </a:r>
            <a:r>
              <a:rPr dirty="0" sz="1000" spc="5">
                <a:latin typeface="Cambria Math"/>
                <a:cs typeface="Cambria Math"/>
              </a:rPr>
              <a:t>i</a:t>
            </a:r>
            <a:r>
              <a:rPr dirty="0" sz="1000" spc="10">
                <a:latin typeface="Cambria Math"/>
                <a:cs typeface="Cambria Math"/>
              </a:rPr>
              <a:t>a</a:t>
            </a:r>
            <a:r>
              <a:rPr dirty="0" sz="1000" spc="-15">
                <a:latin typeface="Cambria Math"/>
                <a:cs typeface="Cambria Math"/>
              </a:rPr>
              <a:t>b</a:t>
            </a:r>
            <a:r>
              <a:rPr dirty="0" sz="1000" spc="5">
                <a:latin typeface="Cambria Math"/>
                <a:cs typeface="Cambria Math"/>
              </a:rPr>
              <a:t>i</a:t>
            </a:r>
            <a:r>
              <a:rPr dirty="0" sz="1000" spc="-25">
                <a:latin typeface="Cambria Math"/>
                <a:cs typeface="Cambria Math"/>
              </a:rPr>
              <a:t>l</a:t>
            </a:r>
            <a:r>
              <a:rPr dirty="0" sz="1000" spc="5">
                <a:latin typeface="Cambria Math"/>
                <a:cs typeface="Cambria Math"/>
              </a:rPr>
              <a:t>i</a:t>
            </a:r>
            <a:r>
              <a:rPr dirty="0" sz="1000" spc="-20">
                <a:latin typeface="Cambria Math"/>
                <a:cs typeface="Cambria Math"/>
              </a:rPr>
              <a:t>t</a:t>
            </a:r>
            <a:r>
              <a:rPr dirty="0" sz="1000" spc="5">
                <a:latin typeface="Cambria Math"/>
                <a:cs typeface="Cambria Math"/>
              </a:rPr>
              <a:t>i</a:t>
            </a:r>
            <a:r>
              <a:rPr dirty="0" sz="1000" spc="10">
                <a:latin typeface="Cambria Math"/>
                <a:cs typeface="Cambria Math"/>
              </a:rPr>
              <a:t>e</a:t>
            </a:r>
            <a:r>
              <a:rPr dirty="0" sz="1000">
                <a:latin typeface="Cambria Math"/>
                <a:cs typeface="Cambria Math"/>
              </a:rPr>
              <a:t>s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42892" y="2414904"/>
            <a:ext cx="1459230" cy="9525"/>
          </a:xfrm>
          <a:custGeom>
            <a:avLst/>
            <a:gdLst/>
            <a:ahLst/>
            <a:cxnLst/>
            <a:rect l="l" t="t" r="r" b="b"/>
            <a:pathLst>
              <a:path w="1459229" h="9525">
                <a:moveTo>
                  <a:pt x="1459102" y="0"/>
                </a:moveTo>
                <a:lnTo>
                  <a:pt x="0" y="0"/>
                </a:lnTo>
                <a:lnTo>
                  <a:pt x="0" y="9144"/>
                </a:lnTo>
                <a:lnTo>
                  <a:pt x="1459102" y="9144"/>
                </a:lnTo>
                <a:lnTo>
                  <a:pt x="14591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05508" y="2713482"/>
            <a:ext cx="201612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A2Z,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20X2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6598" y="3129787"/>
            <a:ext cx="82232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Quick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Cambria Math"/>
                <a:cs typeface="Cambria Math"/>
              </a:rPr>
              <a:t>=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25621" y="3038093"/>
            <a:ext cx="74358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70</a:t>
            </a:r>
            <a:r>
              <a:rPr dirty="0" sz="1000" spc="25">
                <a:latin typeface="Cambria Math"/>
                <a:cs typeface="Cambria Math"/>
              </a:rPr>
              <a:t>8</a:t>
            </a:r>
            <a:r>
              <a:rPr dirty="0" sz="1000" spc="25">
                <a:latin typeface="Cambria Math"/>
                <a:cs typeface="Cambria Math"/>
              </a:rPr>
              <a:t> 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15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422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40504" y="3234943"/>
            <a:ext cx="34099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35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540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38321" y="3229355"/>
            <a:ext cx="746125" cy="9525"/>
          </a:xfrm>
          <a:custGeom>
            <a:avLst/>
            <a:gdLst/>
            <a:ahLst/>
            <a:cxnLst/>
            <a:rect l="l" t="t" r="r" b="b"/>
            <a:pathLst>
              <a:path w="746125" h="9525">
                <a:moveTo>
                  <a:pt x="745540" y="0"/>
                </a:moveTo>
                <a:lnTo>
                  <a:pt x="0" y="0"/>
                </a:lnTo>
                <a:lnTo>
                  <a:pt x="0" y="9144"/>
                </a:lnTo>
                <a:lnTo>
                  <a:pt x="745540" y="9144"/>
                </a:lnTo>
                <a:lnTo>
                  <a:pt x="7455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603241" y="3129787"/>
            <a:ext cx="78994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Cambria Math"/>
                <a:cs typeface="Cambria Math"/>
              </a:rPr>
              <a:t>=</a:t>
            </a:r>
            <a:r>
              <a:rPr dirty="0" sz="1100" spc="-35">
                <a:latin typeface="Cambria Math"/>
                <a:cs typeface="Cambria Math"/>
              </a:rPr>
              <a:t> </a:t>
            </a:r>
            <a:r>
              <a:rPr dirty="0" sz="1100" spc="-5">
                <a:latin typeface="Cambria Math"/>
                <a:cs typeface="Cambria Math"/>
              </a:rPr>
              <a:t>0.53</a:t>
            </a:r>
            <a:r>
              <a:rPr dirty="0" sz="1100" spc="-30">
                <a:latin typeface="Cambria Math"/>
                <a:cs typeface="Cambria Math"/>
              </a:rPr>
              <a:t> </a:t>
            </a:r>
            <a:r>
              <a:rPr dirty="0" sz="1100" spc="5">
                <a:latin typeface="Cambria Math"/>
                <a:cs typeface="Cambria Math"/>
              </a:rPr>
              <a:t>times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783203" y="5159374"/>
            <a:ext cx="1016000" cy="9525"/>
          </a:xfrm>
          <a:custGeom>
            <a:avLst/>
            <a:gdLst/>
            <a:ahLst/>
            <a:cxnLst/>
            <a:rect l="l" t="t" r="r" b="b"/>
            <a:pathLst>
              <a:path w="1016000" h="9525">
                <a:moveTo>
                  <a:pt x="1015593" y="0"/>
                </a:moveTo>
                <a:lnTo>
                  <a:pt x="0" y="0"/>
                </a:lnTo>
                <a:lnTo>
                  <a:pt x="0" y="9144"/>
                </a:lnTo>
                <a:lnTo>
                  <a:pt x="1015593" y="9144"/>
                </a:lnTo>
                <a:lnTo>
                  <a:pt x="10155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51229" y="3509263"/>
            <a:ext cx="5638800" cy="214439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38100" marR="30480">
              <a:lnSpc>
                <a:spcPts val="1260"/>
              </a:lnSpc>
              <a:spcBef>
                <a:spcPts val="204"/>
              </a:spcBef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10">
                <a:latin typeface="Garamond"/>
                <a:cs typeface="Garamond"/>
              </a:rPr>
              <a:t>quick </a:t>
            </a:r>
            <a:r>
              <a:rPr dirty="0" sz="1100" spc="-5">
                <a:latin typeface="Garamond"/>
                <a:cs typeface="Garamond"/>
              </a:rPr>
              <a:t>ratio here </a:t>
            </a:r>
            <a:r>
              <a:rPr dirty="0" sz="1100">
                <a:latin typeface="Garamond"/>
                <a:cs typeface="Garamond"/>
              </a:rPr>
              <a:t>tells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somewhat </a:t>
            </a:r>
            <a:r>
              <a:rPr dirty="0" sz="1100" spc="-5">
                <a:latin typeface="Garamond"/>
                <a:cs typeface="Garamond"/>
              </a:rPr>
              <a:t>different </a:t>
            </a:r>
            <a:r>
              <a:rPr dirty="0" sz="1100">
                <a:latin typeface="Garamond"/>
                <a:cs typeface="Garamond"/>
              </a:rPr>
              <a:t>story than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current </a:t>
            </a:r>
            <a:r>
              <a:rPr dirty="0" sz="1100" spc="-5">
                <a:latin typeface="Garamond"/>
                <a:cs typeface="Garamond"/>
              </a:rPr>
              <a:t>ratio, </a:t>
            </a:r>
            <a:r>
              <a:rPr dirty="0" sz="1100">
                <a:latin typeface="Garamond"/>
                <a:cs typeface="Garamond"/>
              </a:rPr>
              <a:t>because </a:t>
            </a:r>
            <a:r>
              <a:rPr dirty="0" sz="1100" spc="-5">
                <a:latin typeface="Garamond"/>
                <a:cs typeface="Garamond"/>
              </a:rPr>
              <a:t>inventory </a:t>
            </a:r>
            <a:r>
              <a:rPr dirty="0" sz="1100">
                <a:latin typeface="Garamond"/>
                <a:cs typeface="Garamond"/>
              </a:rPr>
              <a:t>accounts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half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A2Z’s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assets.</a:t>
            </a:r>
            <a:endParaRPr sz="1100">
              <a:latin typeface="Garamond"/>
              <a:cs typeface="Garamond"/>
            </a:endParaRPr>
          </a:p>
          <a:p>
            <a:pPr marL="495300" marR="22923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If the </a:t>
            </a:r>
            <a:r>
              <a:rPr dirty="0" sz="1100" spc="-5">
                <a:latin typeface="Garamond"/>
                <a:cs typeface="Garamond"/>
              </a:rPr>
              <a:t>same </a:t>
            </a:r>
            <a:r>
              <a:rPr dirty="0" sz="1100" spc="-10">
                <a:latin typeface="Garamond"/>
                <a:cs typeface="Garamond"/>
              </a:rPr>
              <a:t>figure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10">
                <a:latin typeface="Garamond"/>
                <a:cs typeface="Garamond"/>
              </a:rPr>
              <a:t>an </a:t>
            </a:r>
            <a:r>
              <a:rPr dirty="0" sz="1100" spc="-5">
                <a:latin typeface="Garamond"/>
                <a:cs typeface="Garamond"/>
              </a:rPr>
              <a:t>aircraft </a:t>
            </a:r>
            <a:r>
              <a:rPr dirty="0" sz="1100">
                <a:latin typeface="Garamond"/>
                <a:cs typeface="Garamond"/>
              </a:rPr>
              <a:t>manufacturing </a:t>
            </a:r>
            <a:r>
              <a:rPr dirty="0" sz="1100" spc="-5">
                <a:latin typeface="Garamond"/>
                <a:cs typeface="Garamond"/>
              </a:rPr>
              <a:t>corporation, then </a:t>
            </a:r>
            <a:r>
              <a:rPr dirty="0" sz="1100">
                <a:latin typeface="Garamond"/>
                <a:cs typeface="Garamond"/>
              </a:rPr>
              <a:t>this would </a:t>
            </a:r>
            <a:r>
              <a:rPr dirty="0" sz="1100" spc="-5">
                <a:latin typeface="Garamond"/>
                <a:cs typeface="Garamond"/>
              </a:rPr>
              <a:t>certainly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cause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BIG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concern.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6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very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creditor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interested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ratio.</a:t>
            </a:r>
            <a:endParaRPr sz="1100">
              <a:latin typeface="Garamond"/>
              <a:cs typeface="Garamond"/>
            </a:endParaRPr>
          </a:p>
          <a:p>
            <a:pPr algn="ctr" marL="610235">
              <a:lnSpc>
                <a:spcPct val="100000"/>
              </a:lnSpc>
              <a:spcBef>
                <a:spcPts val="1195"/>
              </a:spcBef>
            </a:pPr>
            <a:r>
              <a:rPr dirty="0" sz="1000" spc="5">
                <a:latin typeface="Cambria Math"/>
                <a:cs typeface="Cambria Math"/>
              </a:rPr>
              <a:t>Cash</a:t>
            </a:r>
            <a:endParaRPr sz="1000">
              <a:latin typeface="Cambria Math"/>
              <a:cs typeface="Cambria Math"/>
            </a:endParaRPr>
          </a:p>
          <a:p>
            <a:pPr algn="ctr" marR="139700">
              <a:lnSpc>
                <a:spcPct val="100000"/>
              </a:lnSpc>
              <a:spcBef>
                <a:spcPts val="245"/>
              </a:spcBef>
            </a:pPr>
            <a:r>
              <a:rPr dirty="0" baseline="35353" sz="1650" spc="7">
                <a:latin typeface="Garamond"/>
                <a:cs typeface="Garamond"/>
              </a:rPr>
              <a:t>Cash</a:t>
            </a:r>
            <a:r>
              <a:rPr dirty="0" baseline="35353" sz="1650" spc="-44">
                <a:latin typeface="Garamond"/>
                <a:cs typeface="Garamond"/>
              </a:rPr>
              <a:t> </a:t>
            </a:r>
            <a:r>
              <a:rPr dirty="0" baseline="35353" sz="1650" spc="-7">
                <a:latin typeface="Garamond"/>
                <a:cs typeface="Garamond"/>
              </a:rPr>
              <a:t>Ratio</a:t>
            </a:r>
            <a:r>
              <a:rPr dirty="0" baseline="35353" sz="1650" spc="-30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Cambria Math"/>
                <a:cs typeface="Cambria Math"/>
              </a:rPr>
              <a:t>=</a:t>
            </a:r>
            <a:r>
              <a:rPr dirty="0" baseline="35353" sz="1650" spc="-15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Current</a:t>
            </a:r>
            <a:r>
              <a:rPr dirty="0" sz="1000" spc="-35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Liabilities</a:t>
            </a:r>
            <a:endParaRPr sz="1000">
              <a:latin typeface="Cambria Math"/>
              <a:cs typeface="Cambria Math"/>
            </a:endParaRPr>
          </a:p>
          <a:p>
            <a:pPr marL="495300" indent="-229235">
              <a:lnSpc>
                <a:spcPct val="100000"/>
              </a:lnSpc>
              <a:spcBef>
                <a:spcPts val="109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20X2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0.18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85459" y="714501"/>
            <a:ext cx="74104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5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9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36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71773" y="883665"/>
            <a:ext cx="1438275" cy="8547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36195">
              <a:lnSpc>
                <a:spcPct val="100000"/>
              </a:lnSpc>
              <a:spcBef>
                <a:spcPts val="135"/>
              </a:spcBef>
            </a:pPr>
            <a:r>
              <a:rPr dirty="0" sz="1150" spc="25" b="1">
                <a:latin typeface="Garamond"/>
                <a:cs typeface="Garamond"/>
              </a:rPr>
              <a:t>RATIO</a:t>
            </a:r>
            <a:r>
              <a:rPr dirty="0" sz="1150" spc="-4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ANALYSIS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Garamond"/>
              <a:cs typeface="Garamond"/>
            </a:endParaRPr>
          </a:p>
          <a:p>
            <a:pPr algn="ctr" marL="12700" marR="5080">
              <a:lnSpc>
                <a:spcPts val="1260"/>
              </a:lnSpc>
            </a:pPr>
            <a:r>
              <a:rPr dirty="0" sz="1100" spc="-5" b="1">
                <a:latin typeface="Garamond"/>
                <a:cs typeface="Garamond"/>
              </a:rPr>
              <a:t>A</a:t>
            </a:r>
            <a:r>
              <a:rPr dirty="0" sz="1100" spc="20" b="1">
                <a:latin typeface="Garamond"/>
                <a:cs typeface="Garamond"/>
              </a:rPr>
              <a:t>2</a:t>
            </a:r>
            <a:r>
              <a:rPr dirty="0" sz="1100" spc="10" b="1">
                <a:latin typeface="Garamond"/>
                <a:cs typeface="Garamond"/>
              </a:rPr>
              <a:t>Z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45" b="1">
                <a:latin typeface="Garamond"/>
                <a:cs typeface="Garamond"/>
              </a:rPr>
              <a:t>I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-20" b="1">
                <a:latin typeface="Garamond"/>
                <a:cs typeface="Garamond"/>
              </a:rPr>
              <a:t>c</a:t>
            </a:r>
            <a:r>
              <a:rPr dirty="0" sz="1100" b="1">
                <a:latin typeface="Garamond"/>
                <a:cs typeface="Garamond"/>
              </a:rPr>
              <a:t>.</a:t>
            </a:r>
            <a:r>
              <a:rPr dirty="0" sz="1100" spc="-20" b="1">
                <a:latin typeface="Garamond"/>
                <a:cs typeface="Garamond"/>
              </a:rPr>
              <a:t>,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B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b="1">
                <a:latin typeface="Garamond"/>
                <a:cs typeface="Garamond"/>
              </a:rPr>
              <a:t>lan</a:t>
            </a:r>
            <a:r>
              <a:rPr dirty="0" sz="1100" spc="15" b="1">
                <a:latin typeface="Garamond"/>
                <a:cs typeface="Garamond"/>
              </a:rPr>
              <a:t>c</a:t>
            </a:r>
            <a:r>
              <a:rPr dirty="0" sz="1100" spc="5" b="1">
                <a:latin typeface="Garamond"/>
                <a:cs typeface="Garamond"/>
              </a:rPr>
              <a:t>e</a:t>
            </a:r>
            <a:r>
              <a:rPr dirty="0" sz="1100" spc="-7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S</a:t>
            </a:r>
            <a:r>
              <a:rPr dirty="0" sz="1100" b="1">
                <a:latin typeface="Garamond"/>
                <a:cs typeface="Garamond"/>
              </a:rPr>
              <a:t>h</a:t>
            </a:r>
            <a:r>
              <a:rPr dirty="0" sz="1100" spc="-15" b="1">
                <a:latin typeface="Garamond"/>
                <a:cs typeface="Garamond"/>
              </a:rPr>
              <a:t>e</a:t>
            </a:r>
            <a:r>
              <a:rPr dirty="0" sz="1100" spc="20" b="1">
                <a:latin typeface="Garamond"/>
                <a:cs typeface="Garamond"/>
              </a:rPr>
              <a:t>e</a:t>
            </a:r>
            <a:r>
              <a:rPr dirty="0" sz="1100" b="1">
                <a:latin typeface="Garamond"/>
                <a:cs typeface="Garamond"/>
              </a:rPr>
              <a:t>t  </a:t>
            </a:r>
            <a:r>
              <a:rPr dirty="0" sz="1100" b="1">
                <a:latin typeface="Garamond"/>
                <a:cs typeface="Garamond"/>
              </a:rPr>
              <a:t>As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December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20" b="1">
                <a:latin typeface="Garamond"/>
                <a:cs typeface="Garamond"/>
              </a:rPr>
              <a:t>31</a:t>
            </a:r>
            <a:endParaRPr sz="1100">
              <a:latin typeface="Garamond"/>
              <a:cs typeface="Garamond"/>
            </a:endParaRPr>
          </a:p>
          <a:p>
            <a:pPr algn="ctr" marL="41910">
              <a:lnSpc>
                <a:spcPts val="1190"/>
              </a:lnSpc>
            </a:pPr>
            <a:r>
              <a:rPr dirty="0" sz="1100" spc="5" b="1">
                <a:latin typeface="Garamond"/>
                <a:cs typeface="Garamond"/>
              </a:rPr>
              <a:t>($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in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millions)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022094" y="1737943"/>
          <a:ext cx="3975735" cy="5426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6820"/>
                <a:gridCol w="961390"/>
                <a:gridCol w="516254"/>
              </a:tblGrid>
              <a:tr h="27462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290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290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290">
                    <a:solidFill>
                      <a:srgbClr val="BEBEBE"/>
                    </a:solidFill>
                  </a:tcPr>
                </a:tc>
              </a:tr>
              <a:tr h="26847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Current </a:t>
                      </a:r>
                      <a:r>
                        <a:rPr dirty="0" u="sng" sz="11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Asset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Cash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$84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$98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165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44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393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422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44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Current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$642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$708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3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u="sng" sz="1100" spc="-6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44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Plant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Equipment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$2,731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$2,880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8029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$3,373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$3,588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31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Liabilities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655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655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655">
                    <a:solidFill>
                      <a:srgbClr val="BEBEBE"/>
                    </a:solidFill>
                  </a:tcPr>
                </a:tc>
              </a:tr>
              <a:tr h="26885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u="sng" sz="1100" spc="-4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31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$312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$344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44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Notes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196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44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Long-term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Debts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457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Stockholders’</a:t>
                      </a:r>
                      <a:r>
                        <a:rPr dirty="0" u="sng" sz="11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Common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Paid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surplus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44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Retained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Earning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1,799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2,041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44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Stockholders’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2,299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2,591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16884">
                <a:tc>
                  <a:txBody>
                    <a:bodyPr/>
                    <a:lstStyle/>
                    <a:p>
                      <a:pPr marL="68580">
                        <a:lnSpc>
                          <a:spcPts val="1295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Liabilities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ts val="1295"/>
                        </a:lnSpc>
                        <a:spcBef>
                          <a:spcPts val="315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$3,373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95"/>
                        </a:lnSpc>
                        <a:spcBef>
                          <a:spcPts val="315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$3,588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148329" y="7195819"/>
            <a:ext cx="1680210" cy="50673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 marL="12065" marR="5080">
              <a:lnSpc>
                <a:spcPts val="1190"/>
              </a:lnSpc>
              <a:spcBef>
                <a:spcPts val="265"/>
              </a:spcBef>
            </a:pPr>
            <a:r>
              <a:rPr dirty="0" sz="1100" spc="5" b="1">
                <a:latin typeface="Garamond"/>
                <a:cs typeface="Garamond"/>
              </a:rPr>
              <a:t>A2Z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Inc.,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Income </a:t>
            </a:r>
            <a:r>
              <a:rPr dirty="0" sz="1100" spc="-20" b="1">
                <a:latin typeface="Garamond"/>
                <a:cs typeface="Garamond"/>
              </a:rPr>
              <a:t>Statement </a:t>
            </a:r>
            <a:r>
              <a:rPr dirty="0" sz="1100" spc="-26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For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Year</a:t>
            </a:r>
            <a:r>
              <a:rPr dirty="0" sz="1100" spc="-20" b="1">
                <a:latin typeface="Garamond"/>
                <a:cs typeface="Garamond"/>
              </a:rPr>
              <a:t> 20X2</a:t>
            </a:r>
            <a:endParaRPr sz="1100">
              <a:latin typeface="Garamond"/>
              <a:cs typeface="Garamond"/>
            </a:endParaRPr>
          </a:p>
          <a:p>
            <a:pPr algn="ctr" marL="1270">
              <a:lnSpc>
                <a:spcPts val="1240"/>
              </a:lnSpc>
            </a:pPr>
            <a:r>
              <a:rPr dirty="0" sz="1100" spc="-15" b="1">
                <a:latin typeface="Garamond"/>
                <a:cs typeface="Garamond"/>
              </a:rPr>
              <a:t>($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in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millions)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343404" y="7694702"/>
          <a:ext cx="3339465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9480"/>
                <a:gridCol w="1149984"/>
              </a:tblGrid>
              <a:tr h="171164">
                <a:tc>
                  <a:txBody>
                    <a:bodyPr/>
                    <a:lstStyle/>
                    <a:p>
                      <a:pPr marL="127000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Sales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1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$2,311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Goods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Sold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1,344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276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Earnings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before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$691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7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Taxable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187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u="dbl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$363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92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Dividends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$121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176">
                <a:tc>
                  <a:txBody>
                    <a:bodyPr/>
                    <a:lstStyle/>
                    <a:p>
                      <a:pPr marL="127000">
                        <a:lnSpc>
                          <a:spcPts val="125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Retained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Earnings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2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$242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709285" cy="54286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Current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Current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Events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buys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happen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</a:t>
            </a:r>
            <a:r>
              <a:rPr dirty="0" sz="1100" spc="-5">
                <a:latin typeface="Garamond"/>
                <a:cs typeface="Garamond"/>
              </a:rPr>
              <a:t>case?</a:t>
            </a:r>
            <a:endParaRPr sz="1100">
              <a:latin typeface="Garamond"/>
              <a:cs typeface="Garamond"/>
            </a:endParaRPr>
          </a:p>
          <a:p>
            <a:pPr marL="469900" marR="825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Nothing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happens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ratio.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scenario,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(cash)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down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while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another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(inventory)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up.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unaffected.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What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happens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if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firm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sells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some</a:t>
            </a:r>
            <a:r>
              <a:rPr dirty="0" sz="1100" spc="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merchandise?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9525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usually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shown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sale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normally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something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(difference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markup).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either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decrease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rises.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Current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wants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pay-off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suppliers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creditors.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What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happen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ratio?</a:t>
            </a:r>
            <a:endParaRPr sz="1100">
              <a:latin typeface="Garamond"/>
              <a:cs typeface="Garamond"/>
            </a:endParaRPr>
          </a:p>
          <a:p>
            <a:pPr marL="469900" marR="889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moves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away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1.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bigger.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less</a:t>
            </a:r>
            <a:r>
              <a:rPr dirty="0" sz="1100" spc="5">
                <a:latin typeface="Garamond"/>
                <a:cs typeface="Garamond"/>
              </a:rPr>
              <a:t> than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1,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smaller.</a:t>
            </a:r>
            <a:endParaRPr sz="1100">
              <a:latin typeface="Garamond"/>
              <a:cs typeface="Garamond"/>
            </a:endParaRPr>
          </a:p>
          <a:p>
            <a:pPr marL="469900" marR="1016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$4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$2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2.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uses </a:t>
            </a:r>
            <a:r>
              <a:rPr dirty="0" sz="1100" spc="5">
                <a:latin typeface="Garamond"/>
                <a:cs typeface="Garamond"/>
              </a:rPr>
              <a:t>$1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reduce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($4-1)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($2-1)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</a:t>
            </a:r>
            <a:endParaRPr sz="1100">
              <a:latin typeface="Garamond"/>
              <a:cs typeface="Garamond"/>
            </a:endParaRPr>
          </a:p>
          <a:p>
            <a:pPr marL="469900" marR="1397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Reversing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situation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$2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$4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cause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fall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1/2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Long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Term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Solvency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Measures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762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intended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address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long-run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ability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meet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obligations,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Total</a:t>
            </a:r>
            <a:r>
              <a:rPr dirty="0" sz="1100" spc="-15" b="1">
                <a:latin typeface="Garamond"/>
                <a:cs typeface="Garamond"/>
              </a:rPr>
              <a:t> Debt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maturities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creditors.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computed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6598" y="6386321"/>
            <a:ext cx="10795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0796" y="6294882"/>
            <a:ext cx="142049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Total</a:t>
            </a:r>
            <a:r>
              <a:rPr dirty="0" sz="1000" spc="-40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Assets</a:t>
            </a:r>
            <a:r>
              <a:rPr dirty="0" sz="1000" spc="-10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-Total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-10">
                <a:latin typeface="Cambria Math"/>
                <a:cs typeface="Cambria Math"/>
              </a:rPr>
              <a:t>Equity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84370" y="6491477"/>
            <a:ext cx="6883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Total</a:t>
            </a:r>
            <a:r>
              <a:rPr dirty="0" sz="1000" spc="-40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Assets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03496" y="6485889"/>
            <a:ext cx="1450340" cy="9525"/>
          </a:xfrm>
          <a:custGeom>
            <a:avLst/>
            <a:gdLst/>
            <a:ahLst/>
            <a:cxnLst/>
            <a:rect l="l" t="t" r="r" b="b"/>
            <a:pathLst>
              <a:path w="1450339" h="9525">
                <a:moveTo>
                  <a:pt x="1450213" y="0"/>
                </a:moveTo>
                <a:lnTo>
                  <a:pt x="0" y="0"/>
                </a:lnTo>
                <a:lnTo>
                  <a:pt x="0" y="9144"/>
                </a:lnTo>
                <a:lnTo>
                  <a:pt x="1450213" y="9144"/>
                </a:lnTo>
                <a:lnTo>
                  <a:pt x="14502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634108" y="6761479"/>
            <a:ext cx="124650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5">
                <a:latin typeface="Garamond"/>
                <a:cs typeface="Garamond"/>
              </a:rPr>
              <a:t>F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2</a:t>
            </a:r>
            <a:r>
              <a:rPr dirty="0" sz="1100" spc="10">
                <a:latin typeface="Garamond"/>
                <a:cs typeface="Garamond"/>
              </a:rPr>
              <a:t>Z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C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10">
                <a:latin typeface="Garamond"/>
                <a:cs typeface="Garamond"/>
              </a:rPr>
              <a:t>po</a:t>
            </a:r>
            <a:r>
              <a:rPr dirty="0" sz="1100" spc="-45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o</a:t>
            </a:r>
            <a:r>
              <a:rPr dirty="0" sz="1100" spc="25">
                <a:latin typeface="Garamond"/>
                <a:cs typeface="Garamond"/>
              </a:rPr>
              <a:t>n</a:t>
            </a:r>
            <a:r>
              <a:rPr dirty="0" sz="1100">
                <a:latin typeface="Garamond"/>
                <a:cs typeface="Garamond"/>
              </a:rPr>
              <a:t>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6598" y="7172959"/>
            <a:ext cx="10795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90796" y="7081519"/>
            <a:ext cx="9417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$</a:t>
            </a:r>
            <a:r>
              <a:rPr dirty="0" sz="1000" spc="40">
                <a:latin typeface="Cambria Math"/>
                <a:cs typeface="Cambria Math"/>
              </a:rPr>
              <a:t>3</a:t>
            </a:r>
            <a:r>
              <a:rPr dirty="0" sz="1000" spc="5">
                <a:latin typeface="Cambria Math"/>
                <a:cs typeface="Cambria Math"/>
              </a:rPr>
              <a:t>,</a:t>
            </a:r>
            <a:r>
              <a:rPr dirty="0" sz="1000" spc="15">
                <a:latin typeface="Cambria Math"/>
                <a:cs typeface="Cambria Math"/>
              </a:rPr>
              <a:t>58</a:t>
            </a:r>
            <a:r>
              <a:rPr dirty="0" sz="1000" spc="25">
                <a:latin typeface="Cambria Math"/>
                <a:cs typeface="Cambria Math"/>
              </a:rPr>
              <a:t>8</a:t>
            </a:r>
            <a:r>
              <a:rPr dirty="0" sz="1000" spc="-10">
                <a:latin typeface="Cambria Math"/>
                <a:cs typeface="Cambria Math"/>
              </a:rPr>
              <a:t> 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15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2</a:t>
            </a:r>
            <a:r>
              <a:rPr dirty="0" sz="1000" spc="5">
                <a:latin typeface="Cambria Math"/>
                <a:cs typeface="Cambria Math"/>
              </a:rPr>
              <a:t>,</a:t>
            </a:r>
            <a:r>
              <a:rPr dirty="0" sz="1000" spc="15">
                <a:latin typeface="Cambria Math"/>
                <a:cs typeface="Cambria Math"/>
              </a:rPr>
              <a:t>5</a:t>
            </a:r>
            <a:r>
              <a:rPr dirty="0" sz="1000" spc="-20">
                <a:latin typeface="Cambria Math"/>
                <a:cs typeface="Cambria Math"/>
              </a:rPr>
              <a:t>9</a:t>
            </a:r>
            <a:r>
              <a:rPr dirty="0" sz="1000" spc="25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83785" y="7278115"/>
            <a:ext cx="41402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$3,588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03496" y="7272527"/>
            <a:ext cx="970280" cy="9525"/>
          </a:xfrm>
          <a:custGeom>
            <a:avLst/>
            <a:gdLst/>
            <a:ahLst/>
            <a:cxnLst/>
            <a:rect l="l" t="t" r="r" b="b"/>
            <a:pathLst>
              <a:path w="970279" h="9525">
                <a:moveTo>
                  <a:pt x="969873" y="0"/>
                </a:moveTo>
                <a:lnTo>
                  <a:pt x="0" y="0"/>
                </a:lnTo>
                <a:lnTo>
                  <a:pt x="0" y="9144"/>
                </a:lnTo>
                <a:lnTo>
                  <a:pt x="969873" y="9144"/>
                </a:lnTo>
                <a:lnTo>
                  <a:pt x="969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097271" y="7172959"/>
            <a:ext cx="7073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0.28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37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05508" y="7580121"/>
            <a:ext cx="5479415" cy="124333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0665" marR="508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A2Z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28%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Whether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high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low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whether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difference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whether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matters.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28%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against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thus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72%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against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Here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draw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variations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De</a:t>
            </a:r>
            <a:r>
              <a:rPr dirty="0" sz="1100" spc="10">
                <a:latin typeface="Garamond"/>
                <a:cs typeface="Garamond"/>
              </a:rPr>
              <a:t>b</a:t>
            </a:r>
            <a:r>
              <a:rPr dirty="0" sz="1100" spc="-35">
                <a:latin typeface="Garamond"/>
                <a:cs typeface="Garamond"/>
              </a:rPr>
              <a:t>t</a:t>
            </a:r>
            <a:r>
              <a:rPr dirty="0" sz="1100" spc="15">
                <a:latin typeface="Garamond"/>
                <a:cs typeface="Garamond"/>
              </a:rPr>
              <a:t>-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>
                <a:latin typeface="Garamond"/>
                <a:cs typeface="Garamond"/>
              </a:rPr>
              <a:t>q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4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o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multiplier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Debt–Equity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06598" y="8627490"/>
            <a:ext cx="2065655" cy="10007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75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7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28%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5">
                <a:latin typeface="Garamond"/>
                <a:cs typeface="Garamond"/>
              </a:rPr>
              <a:t> 72%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0.39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70"/>
              </a:lnSpc>
              <a:spcBef>
                <a:spcPts val="85"/>
              </a:spcBef>
            </a:pP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 marL="469900" marR="499109" indent="-457834">
              <a:lnSpc>
                <a:spcPts val="1260"/>
              </a:lnSpc>
              <a:spcBef>
                <a:spcPts val="40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100%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72%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1.39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19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Debt-Equity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1.39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5508" y="8961501"/>
            <a:ext cx="118364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Multiplier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091689" y="1807844"/>
            <a:ext cx="143637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Coverage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869949"/>
            <a:ext cx="5711825" cy="9937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Interest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Coverage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known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(TIE)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ratio,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refers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ability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2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cover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obligations.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2372995">
              <a:lnSpc>
                <a:spcPct val="100000"/>
              </a:lnSpc>
            </a:pPr>
            <a:r>
              <a:rPr dirty="0" sz="1000">
                <a:latin typeface="Cambria Math"/>
                <a:cs typeface="Cambria Math"/>
              </a:rPr>
              <a:t>Earning</a:t>
            </a:r>
            <a:r>
              <a:rPr dirty="0" sz="1000" spc="-45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Befor</a:t>
            </a:r>
            <a:r>
              <a:rPr dirty="0" sz="1000" spc="5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Interest</a:t>
            </a:r>
            <a:r>
              <a:rPr dirty="0" sz="1000" spc="-30">
                <a:latin typeface="Cambria Math"/>
                <a:cs typeface="Cambria Math"/>
              </a:rPr>
              <a:t> </a:t>
            </a:r>
            <a:r>
              <a:rPr dirty="0" sz="1000" spc="10">
                <a:latin typeface="Cambria Math"/>
                <a:cs typeface="Cambria Math"/>
              </a:rPr>
              <a:t>and</a:t>
            </a:r>
            <a:r>
              <a:rPr dirty="0" sz="1000" spc="-30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Taxes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27957" y="1913000"/>
            <a:ext cx="4616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Interest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50030" y="1907412"/>
            <a:ext cx="1811655" cy="9525"/>
          </a:xfrm>
          <a:custGeom>
            <a:avLst/>
            <a:gdLst/>
            <a:ahLst/>
            <a:cxnLst/>
            <a:rect l="l" t="t" r="r" b="b"/>
            <a:pathLst>
              <a:path w="1811654" h="9525">
                <a:moveTo>
                  <a:pt x="1811401" y="0"/>
                </a:moveTo>
                <a:lnTo>
                  <a:pt x="0" y="0"/>
                </a:lnTo>
                <a:lnTo>
                  <a:pt x="0" y="9144"/>
                </a:lnTo>
                <a:lnTo>
                  <a:pt x="1811401" y="9144"/>
                </a:lnTo>
                <a:lnTo>
                  <a:pt x="1811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634108" y="2210180"/>
            <a:ext cx="121221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37330" y="2375153"/>
            <a:ext cx="3327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15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6</a:t>
            </a:r>
            <a:r>
              <a:rPr dirty="0" sz="1000" spc="-20">
                <a:latin typeface="Cambria Math"/>
                <a:cs typeface="Cambria Math"/>
              </a:rPr>
              <a:t>9</a:t>
            </a:r>
            <a:r>
              <a:rPr dirty="0" sz="1000" spc="25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50030" y="2579877"/>
            <a:ext cx="339090" cy="9525"/>
          </a:xfrm>
          <a:custGeom>
            <a:avLst/>
            <a:gdLst/>
            <a:ahLst/>
            <a:cxnLst/>
            <a:rect l="l" t="t" r="r" b="b"/>
            <a:pathLst>
              <a:path w="339089" h="9525">
                <a:moveTo>
                  <a:pt x="338632" y="0"/>
                </a:moveTo>
                <a:lnTo>
                  <a:pt x="0" y="0"/>
                </a:lnTo>
                <a:lnTo>
                  <a:pt x="0" y="9143"/>
                </a:lnTo>
                <a:lnTo>
                  <a:pt x="338632" y="9143"/>
                </a:lnTo>
                <a:lnTo>
                  <a:pt x="338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549144" y="3966717"/>
            <a:ext cx="128968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Coverage Ratio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2405" y="2480309"/>
            <a:ext cx="5746115" cy="154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4170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Coverage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baseline="-38888" sz="1500" spc="22">
                <a:latin typeface="Cambria Math"/>
                <a:cs typeface="Cambria Math"/>
              </a:rPr>
              <a:t>$141</a:t>
            </a:r>
            <a:r>
              <a:rPr dirty="0" baseline="-38888" sz="1500" spc="60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4.9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  <a:p>
            <a:pPr marL="63500">
              <a:lnSpc>
                <a:spcPct val="100000"/>
              </a:lnSpc>
              <a:spcBef>
                <a:spcPts val="1670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Coverage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83870" marR="30480" indent="-228600">
              <a:lnSpc>
                <a:spcPts val="1260"/>
              </a:lnSpc>
              <a:buFont typeface="Symbol"/>
              <a:buChar char=""/>
              <a:tabLst>
                <a:tab pos="483870" algn="l"/>
                <a:tab pos="484505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problem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 </a:t>
            </a:r>
            <a:r>
              <a:rPr dirty="0" sz="1100">
                <a:latin typeface="Garamond"/>
                <a:cs typeface="Garamond"/>
              </a:rPr>
              <a:t>Coverage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based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Earnings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before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Taxes </a:t>
            </a:r>
            <a:r>
              <a:rPr dirty="0" sz="1100" spc="-5">
                <a:latin typeface="Garamond"/>
                <a:cs typeface="Garamond"/>
              </a:rPr>
              <a:t>(EBIT)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measure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available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interest.</a:t>
            </a:r>
            <a:endParaRPr sz="1100">
              <a:latin typeface="Garamond"/>
              <a:cs typeface="Garamond"/>
            </a:endParaRPr>
          </a:p>
          <a:p>
            <a:pPr marL="48387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83870" algn="l"/>
                <a:tab pos="48450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reason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depreciation,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non-cash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expense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deducted</a:t>
            </a:r>
            <a:r>
              <a:rPr dirty="0" sz="1100">
                <a:latin typeface="Garamond"/>
                <a:cs typeface="Garamond"/>
              </a:rPr>
              <a:t> out.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use:</a:t>
            </a:r>
            <a:endParaRPr sz="1100">
              <a:latin typeface="Garamond"/>
              <a:cs typeface="Garamond"/>
            </a:endParaRPr>
          </a:p>
          <a:p>
            <a:pPr algn="ctr" marL="737235">
              <a:lnSpc>
                <a:spcPct val="100000"/>
              </a:lnSpc>
              <a:spcBef>
                <a:spcPts val="1160"/>
              </a:spcBef>
            </a:pPr>
            <a:r>
              <a:rPr dirty="0" sz="1000" spc="-5">
                <a:latin typeface="Cambria Math"/>
                <a:cs typeface="Cambria Math"/>
              </a:rPr>
              <a:t>EBIT+Depreciation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86809" y="4071873"/>
            <a:ext cx="4572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">
                <a:latin typeface="Cambria Math"/>
                <a:cs typeface="Cambria Math"/>
              </a:rPr>
              <a:t>Interest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70325" y="4066285"/>
            <a:ext cx="1093470" cy="9525"/>
          </a:xfrm>
          <a:custGeom>
            <a:avLst/>
            <a:gdLst/>
            <a:ahLst/>
            <a:cxnLst/>
            <a:rect l="l" t="t" r="r" b="b"/>
            <a:pathLst>
              <a:path w="1093470" h="9525">
                <a:moveTo>
                  <a:pt x="1093317" y="0"/>
                </a:moveTo>
                <a:lnTo>
                  <a:pt x="0" y="0"/>
                </a:lnTo>
                <a:lnTo>
                  <a:pt x="0" y="9144"/>
                </a:lnTo>
                <a:lnTo>
                  <a:pt x="1093317" y="9144"/>
                </a:lnTo>
                <a:lnTo>
                  <a:pt x="10933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634108" y="4337049"/>
            <a:ext cx="2204720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corporation,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ct val="100000"/>
              </a:lnSpc>
              <a:spcBef>
                <a:spcPts val="845"/>
              </a:spcBef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Coverage Ratio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48480" y="4506595"/>
            <a:ext cx="7391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$691</a:t>
            </a:r>
            <a:r>
              <a:rPr dirty="0" sz="1000" spc="-45">
                <a:latin typeface="Cambria Math"/>
                <a:cs typeface="Cambria Math"/>
              </a:rPr>
              <a:t> </a:t>
            </a:r>
            <a:r>
              <a:rPr dirty="0" sz="1000" spc="-15">
                <a:latin typeface="Cambria Math"/>
                <a:cs typeface="Cambria Math"/>
              </a:rPr>
              <a:t>+$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276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63365" y="4716907"/>
            <a:ext cx="3098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14</a:t>
            </a:r>
            <a:r>
              <a:rPr dirty="0" sz="1000" spc="25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61180" y="4711318"/>
            <a:ext cx="713740" cy="9525"/>
          </a:xfrm>
          <a:custGeom>
            <a:avLst/>
            <a:gdLst/>
            <a:ahLst/>
            <a:cxnLst/>
            <a:rect l="l" t="t" r="r" b="b"/>
            <a:pathLst>
              <a:path w="713739" h="9525">
                <a:moveTo>
                  <a:pt x="713536" y="0"/>
                </a:moveTo>
                <a:lnTo>
                  <a:pt x="0" y="0"/>
                </a:lnTo>
                <a:lnTo>
                  <a:pt x="0" y="9144"/>
                </a:lnTo>
                <a:lnTo>
                  <a:pt x="713536" y="9144"/>
                </a:lnTo>
                <a:lnTo>
                  <a:pt x="7135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861180" y="5205094"/>
            <a:ext cx="311150" cy="9525"/>
          </a:xfrm>
          <a:custGeom>
            <a:avLst/>
            <a:gdLst/>
            <a:ahLst/>
            <a:cxnLst/>
            <a:rect l="l" t="t" r="r" b="b"/>
            <a:pathLst>
              <a:path w="311150" h="9525">
                <a:moveTo>
                  <a:pt x="310896" y="0"/>
                </a:moveTo>
                <a:lnTo>
                  <a:pt x="0" y="0"/>
                </a:lnTo>
                <a:lnTo>
                  <a:pt x="0" y="9144"/>
                </a:lnTo>
                <a:lnTo>
                  <a:pt x="310896" y="9144"/>
                </a:lnTo>
                <a:lnTo>
                  <a:pt x="3108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125829" y="5000370"/>
            <a:ext cx="5763895" cy="17830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3970">
              <a:lnSpc>
                <a:spcPts val="1019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55">
                <a:latin typeface="Cambria Math"/>
                <a:cs typeface="Cambria Math"/>
              </a:rPr>
              <a:t> </a:t>
            </a:r>
            <a:r>
              <a:rPr dirty="0" sz="1000" spc="10">
                <a:latin typeface="Cambria Math"/>
                <a:cs typeface="Cambria Math"/>
              </a:rPr>
              <a:t>967</a:t>
            </a:r>
            <a:endParaRPr sz="1000">
              <a:latin typeface="Cambria Math"/>
              <a:cs typeface="Cambria Math"/>
            </a:endParaRPr>
          </a:p>
          <a:p>
            <a:pPr marL="1435735">
              <a:lnSpc>
                <a:spcPts val="1140"/>
              </a:lnSpc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Coverage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baseline="-38888" sz="1500" spc="22">
                <a:latin typeface="Cambria Math"/>
                <a:cs typeface="Cambria Math"/>
              </a:rPr>
              <a:t>$141</a:t>
            </a:r>
            <a:r>
              <a:rPr dirty="0" baseline="-38888" sz="1500" spc="277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6.9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  <a:p>
            <a:pPr marL="63500">
              <a:lnSpc>
                <a:spcPct val="100000"/>
              </a:lnSpc>
              <a:spcBef>
                <a:spcPts val="1710"/>
              </a:spcBef>
            </a:pPr>
            <a:r>
              <a:rPr dirty="0" sz="1100" b="1">
                <a:latin typeface="Garamond"/>
                <a:cs typeface="Garamond"/>
              </a:rPr>
              <a:t>Asset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Management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or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Turnover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Measures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Garamond"/>
              <a:cs typeface="Garamond"/>
            </a:endParaRPr>
          </a:p>
          <a:p>
            <a:pPr marL="63500" marR="43180">
              <a:lnSpc>
                <a:spcPts val="126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measures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section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sometimes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  </a:t>
            </a:r>
            <a:r>
              <a:rPr dirty="0" sz="1100" spc="-5">
                <a:latin typeface="Garamond"/>
                <a:cs typeface="Garamond"/>
              </a:rPr>
              <a:t>Asset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Utilization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Ratios.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intended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describe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efficiently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intensively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uses </a:t>
            </a:r>
            <a:r>
              <a:rPr dirty="0" sz="1100" spc="-10">
                <a:latin typeface="Garamond"/>
                <a:cs typeface="Garamond"/>
              </a:rPr>
              <a:t>its</a:t>
            </a:r>
            <a:r>
              <a:rPr dirty="0" sz="1100">
                <a:latin typeface="Garamond"/>
                <a:cs typeface="Garamond"/>
              </a:rPr>
              <a:t> 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Garamond"/>
              <a:cs typeface="Garamond"/>
            </a:endParaRPr>
          </a:p>
          <a:p>
            <a:pPr marL="635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Inventory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Turnover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635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9144" y="6976364"/>
            <a:ext cx="154432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5">
                <a:latin typeface="Garamond"/>
                <a:cs typeface="Garamond"/>
              </a:rPr>
              <a:t> turnover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=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04513" y="6907783"/>
            <a:ext cx="10287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Cost</a:t>
            </a:r>
            <a:r>
              <a:rPr dirty="0" sz="1000" spc="-45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of</a:t>
            </a:r>
            <a:r>
              <a:rPr dirty="0" sz="1000" spc="-45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Goods</a:t>
            </a:r>
            <a:r>
              <a:rPr dirty="0" sz="1000" spc="-20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Sold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51782" y="7118095"/>
            <a:ext cx="5607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">
                <a:latin typeface="Cambria Math"/>
                <a:cs typeface="Cambria Math"/>
              </a:rPr>
              <a:t>I</a:t>
            </a:r>
            <a:r>
              <a:rPr dirty="0" sz="1000" spc="5">
                <a:latin typeface="Cambria Math"/>
                <a:cs typeface="Cambria Math"/>
              </a:rPr>
              <a:t>n</a:t>
            </a:r>
            <a:r>
              <a:rPr dirty="0" sz="1000" spc="-5">
                <a:latin typeface="Cambria Math"/>
                <a:cs typeface="Cambria Math"/>
              </a:rPr>
              <a:t>v</a:t>
            </a:r>
            <a:r>
              <a:rPr dirty="0" sz="1000" spc="-25">
                <a:latin typeface="Cambria Math"/>
                <a:cs typeface="Cambria Math"/>
              </a:rPr>
              <a:t>e</a:t>
            </a:r>
            <a:r>
              <a:rPr dirty="0" sz="1000" spc="10">
                <a:latin typeface="Cambria Math"/>
                <a:cs typeface="Cambria Math"/>
              </a:rPr>
              <a:t>n</a:t>
            </a:r>
            <a:r>
              <a:rPr dirty="0" sz="1000" spc="-20">
                <a:latin typeface="Cambria Math"/>
                <a:cs typeface="Cambria Math"/>
              </a:rPr>
              <a:t>t</a:t>
            </a:r>
            <a:r>
              <a:rPr dirty="0" sz="1000">
                <a:latin typeface="Cambria Math"/>
                <a:cs typeface="Cambria Math"/>
              </a:rPr>
              <a:t>o</a:t>
            </a:r>
            <a:r>
              <a:rPr dirty="0" sz="1000" spc="-25">
                <a:latin typeface="Cambria Math"/>
                <a:cs typeface="Cambria Math"/>
              </a:rPr>
              <a:t>r</a:t>
            </a:r>
            <a:r>
              <a:rPr dirty="0" sz="1000">
                <a:latin typeface="Cambria Math"/>
                <a:cs typeface="Cambria Math"/>
              </a:rPr>
              <a:t>y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17213" y="7112507"/>
            <a:ext cx="1029335" cy="9525"/>
          </a:xfrm>
          <a:custGeom>
            <a:avLst/>
            <a:gdLst/>
            <a:ahLst/>
            <a:cxnLst/>
            <a:rect l="l" t="t" r="r" b="b"/>
            <a:pathLst>
              <a:path w="1029335" h="9525">
                <a:moveTo>
                  <a:pt x="1029309" y="0"/>
                </a:moveTo>
                <a:lnTo>
                  <a:pt x="0" y="0"/>
                </a:lnTo>
                <a:lnTo>
                  <a:pt x="0" y="9143"/>
                </a:lnTo>
                <a:lnTo>
                  <a:pt x="1029309" y="9143"/>
                </a:lnTo>
                <a:lnTo>
                  <a:pt x="10293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634108" y="7410957"/>
            <a:ext cx="2428875" cy="4749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corporation,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72509" y="7575550"/>
            <a:ext cx="4368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15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5">
                <a:latin typeface="Cambria Math"/>
                <a:cs typeface="Cambria Math"/>
              </a:rPr>
              <a:t>,</a:t>
            </a:r>
            <a:r>
              <a:rPr dirty="0" sz="1000" spc="15">
                <a:latin typeface="Cambria Math"/>
                <a:cs typeface="Cambria Math"/>
              </a:rPr>
              <a:t>344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50233" y="7795005"/>
            <a:ext cx="3098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42</a:t>
            </a:r>
            <a:r>
              <a:rPr dirty="0" sz="1000" spc="25">
                <a:latin typeface="Cambria Math"/>
                <a:cs typeface="Cambria Math"/>
              </a:rPr>
              <a:t>2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085209" y="7789418"/>
            <a:ext cx="439420" cy="9525"/>
          </a:xfrm>
          <a:custGeom>
            <a:avLst/>
            <a:gdLst/>
            <a:ahLst/>
            <a:cxnLst/>
            <a:rect l="l" t="t" r="r" b="b"/>
            <a:pathLst>
              <a:path w="439420" h="9525">
                <a:moveTo>
                  <a:pt x="439216" y="0"/>
                </a:moveTo>
                <a:lnTo>
                  <a:pt x="0" y="0"/>
                </a:lnTo>
                <a:lnTo>
                  <a:pt x="0" y="9143"/>
                </a:lnTo>
                <a:lnTo>
                  <a:pt x="439216" y="9143"/>
                </a:lnTo>
                <a:lnTo>
                  <a:pt x="4392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4548378" y="7689850"/>
            <a:ext cx="6438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3.2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38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176629" y="8069706"/>
            <a:ext cx="5674360" cy="113792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1220"/>
              </a:lnSpc>
              <a:spcBef>
                <a:spcPts val="240"/>
              </a:spcBef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A2Z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entire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3.2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>
                <a:latin typeface="Garamond"/>
                <a:cs typeface="Garamond"/>
              </a:rPr>
              <a:t>stock-out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foregoing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situation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doesn’t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arise,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efficiently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managed.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Days’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Sales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in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Inventory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12700" marR="89535">
              <a:lnSpc>
                <a:spcPts val="1220"/>
              </a:lnSpc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 spc="-5">
                <a:latin typeface="Garamond"/>
                <a:cs typeface="Garamond"/>
              </a:rPr>
              <a:t>we </a:t>
            </a:r>
            <a:r>
              <a:rPr dirty="0" sz="1100" spc="5">
                <a:latin typeface="Garamond"/>
                <a:cs typeface="Garamond"/>
              </a:rPr>
              <a:t>know </a:t>
            </a:r>
            <a:r>
              <a:rPr dirty="0" sz="1100" spc="-5">
                <a:latin typeface="Garamond"/>
                <a:cs typeface="Garamond"/>
              </a:rPr>
              <a:t>sales </a:t>
            </a:r>
            <a:r>
              <a:rPr dirty="0" sz="1100" spc="5">
                <a:latin typeface="Garamond"/>
                <a:cs typeface="Garamond"/>
              </a:rPr>
              <a:t>were </a:t>
            </a:r>
            <a:r>
              <a:rPr dirty="0" sz="1100" spc="-5">
                <a:latin typeface="Garamond"/>
                <a:cs typeface="Garamond"/>
              </a:rPr>
              <a:t>turned </a:t>
            </a:r>
            <a:r>
              <a:rPr dirty="0" sz="1100">
                <a:latin typeface="Garamond"/>
                <a:cs typeface="Garamond"/>
              </a:rPr>
              <a:t>over 3.2 </a:t>
            </a:r>
            <a:r>
              <a:rPr dirty="0" sz="1100" spc="-5">
                <a:latin typeface="Garamond"/>
                <a:cs typeface="Garamond"/>
              </a:rPr>
              <a:t>times </a:t>
            </a:r>
            <a:r>
              <a:rPr dirty="0" sz="1100" spc="5">
                <a:latin typeface="Garamond"/>
                <a:cs typeface="Garamond"/>
              </a:rPr>
              <a:t>during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year,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5">
                <a:latin typeface="Garamond"/>
                <a:cs typeface="Garamond"/>
              </a:rPr>
              <a:t>can calculate easily </a:t>
            </a:r>
            <a:r>
              <a:rPr dirty="0" sz="1100">
                <a:latin typeface="Garamond"/>
                <a:cs typeface="Garamond"/>
              </a:rPr>
              <a:t>how </a:t>
            </a:r>
            <a:r>
              <a:rPr dirty="0" sz="1100" spc="-5">
                <a:latin typeface="Garamond"/>
                <a:cs typeface="Garamond"/>
              </a:rPr>
              <a:t>long </a:t>
            </a:r>
            <a:r>
              <a:rPr dirty="0" sz="1100">
                <a:latin typeface="Garamond"/>
                <a:cs typeface="Garamond"/>
              </a:rPr>
              <a:t>it </a:t>
            </a:r>
            <a:r>
              <a:rPr dirty="0" sz="1100" spc="-10">
                <a:latin typeface="Garamond"/>
                <a:cs typeface="Garamond"/>
              </a:rPr>
              <a:t>took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turnover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021201" y="942085"/>
            <a:ext cx="1080135" cy="9525"/>
          </a:xfrm>
          <a:custGeom>
            <a:avLst/>
            <a:gdLst/>
            <a:ahLst/>
            <a:cxnLst/>
            <a:rect l="l" t="t" r="r" b="b"/>
            <a:pathLst>
              <a:path w="1080135" h="9525">
                <a:moveTo>
                  <a:pt x="1079601" y="0"/>
                </a:moveTo>
                <a:lnTo>
                  <a:pt x="0" y="0"/>
                </a:lnTo>
                <a:lnTo>
                  <a:pt x="0" y="9144"/>
                </a:lnTo>
                <a:lnTo>
                  <a:pt x="1079601" y="9144"/>
                </a:lnTo>
                <a:lnTo>
                  <a:pt x="10796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621408" y="719073"/>
            <a:ext cx="3531870" cy="717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51155">
              <a:lnSpc>
                <a:spcPts val="109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36</a:t>
            </a:r>
            <a:r>
              <a:rPr dirty="0" sz="1000">
                <a:latin typeface="Cambria Math"/>
                <a:cs typeface="Cambria Math"/>
              </a:rPr>
              <a:t>5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d</a:t>
            </a:r>
            <a:r>
              <a:rPr dirty="0" sz="1000" spc="-25">
                <a:latin typeface="Cambria Math"/>
                <a:cs typeface="Cambria Math"/>
              </a:rPr>
              <a:t>a</a:t>
            </a:r>
            <a:r>
              <a:rPr dirty="0" sz="1000" spc="-5">
                <a:latin typeface="Cambria Math"/>
                <a:cs typeface="Cambria Math"/>
              </a:rPr>
              <a:t>y</a:t>
            </a:r>
            <a:r>
              <a:rPr dirty="0" sz="1000">
                <a:latin typeface="Cambria Math"/>
                <a:cs typeface="Cambria Math"/>
              </a:rPr>
              <a:t>s</a:t>
            </a:r>
            <a:endParaRPr sz="1000">
              <a:latin typeface="Cambria Math"/>
              <a:cs typeface="Cambria Math"/>
            </a:endParaRPr>
          </a:p>
          <a:p>
            <a:pPr marL="940435">
              <a:lnSpc>
                <a:spcPts val="1210"/>
              </a:lnSpc>
            </a:pPr>
            <a:r>
              <a:rPr dirty="0" sz="1100">
                <a:latin typeface="Garamond"/>
                <a:cs typeface="Garamond"/>
              </a:rPr>
              <a:t>Day’s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Inventory</a:t>
            </a:r>
            <a:r>
              <a:rPr dirty="0" baseline="-38888" sz="1500" spc="-22">
                <a:latin typeface="Cambria Math"/>
                <a:cs typeface="Cambria Math"/>
              </a:rPr>
              <a:t> </a:t>
            </a:r>
            <a:r>
              <a:rPr dirty="0" baseline="-38888" sz="1500" spc="-7">
                <a:latin typeface="Cambria Math"/>
                <a:cs typeface="Cambria Math"/>
              </a:rPr>
              <a:t>Turnover</a:t>
            </a:r>
            <a:endParaRPr baseline="-38888" sz="15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55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8501" y="1396110"/>
            <a:ext cx="24511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365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21201" y="1600834"/>
            <a:ext cx="247015" cy="9525"/>
          </a:xfrm>
          <a:custGeom>
            <a:avLst/>
            <a:gdLst/>
            <a:ahLst/>
            <a:cxnLst/>
            <a:rect l="l" t="t" r="r" b="b"/>
            <a:pathLst>
              <a:path w="247014" h="9525">
                <a:moveTo>
                  <a:pt x="246887" y="0"/>
                </a:moveTo>
                <a:lnTo>
                  <a:pt x="0" y="0"/>
                </a:lnTo>
                <a:lnTo>
                  <a:pt x="0" y="9144"/>
                </a:lnTo>
                <a:lnTo>
                  <a:pt x="246887" y="9144"/>
                </a:lnTo>
                <a:lnTo>
                  <a:pt x="2468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25829" y="1501266"/>
            <a:ext cx="5528310" cy="13531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R="30988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Day’s</a:t>
            </a:r>
            <a:r>
              <a:rPr dirty="0" sz="1100" spc="-5">
                <a:latin typeface="Garamond"/>
                <a:cs typeface="Garamond"/>
              </a:rPr>
              <a:t> sales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85">
                <a:latin typeface="Garamond"/>
                <a:cs typeface="Garamond"/>
              </a:rPr>
              <a:t> </a:t>
            </a:r>
            <a:r>
              <a:rPr dirty="0" baseline="-38888" sz="1500" spc="22">
                <a:latin typeface="Cambria Math"/>
                <a:cs typeface="Cambria Math"/>
              </a:rPr>
              <a:t>3.2</a:t>
            </a:r>
            <a:r>
              <a:rPr dirty="0" baseline="-38888" sz="1500" spc="16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114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  <a:p>
            <a:pPr marL="63500" marR="55880">
              <a:lnSpc>
                <a:spcPts val="1260"/>
              </a:lnSpc>
              <a:spcBef>
                <a:spcPts val="1689"/>
              </a:spcBef>
            </a:pPr>
            <a:r>
              <a:rPr dirty="0" sz="1100" spc="5">
                <a:latin typeface="Garamond"/>
                <a:cs typeface="Garamond"/>
              </a:rPr>
              <a:t>So, </a:t>
            </a:r>
            <a:r>
              <a:rPr dirty="0" sz="1100" spc="-5">
                <a:latin typeface="Garamond"/>
                <a:cs typeface="Garamond"/>
              </a:rPr>
              <a:t>inventory stays </a:t>
            </a:r>
            <a:r>
              <a:rPr dirty="0" sz="1100" spc="-10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just </a:t>
            </a:r>
            <a:r>
              <a:rPr dirty="0" sz="1100" spc="-10">
                <a:latin typeface="Garamond"/>
                <a:cs typeface="Garamond"/>
              </a:rPr>
              <a:t>less </a:t>
            </a:r>
            <a:r>
              <a:rPr dirty="0" sz="1100">
                <a:latin typeface="Garamond"/>
                <a:cs typeface="Garamond"/>
              </a:rPr>
              <a:t>than </a:t>
            </a:r>
            <a:r>
              <a:rPr dirty="0" sz="1100" spc="5">
                <a:latin typeface="Garamond"/>
                <a:cs typeface="Garamond"/>
              </a:rPr>
              <a:t>4 </a:t>
            </a:r>
            <a:r>
              <a:rPr dirty="0" sz="1100">
                <a:latin typeface="Garamond"/>
                <a:cs typeface="Garamond"/>
              </a:rPr>
              <a:t>months before being </a:t>
            </a:r>
            <a:r>
              <a:rPr dirty="0" sz="1100" spc="-10">
                <a:latin typeface="Garamond"/>
                <a:cs typeface="Garamond"/>
              </a:rPr>
              <a:t>sold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it would take </a:t>
            </a:r>
            <a:r>
              <a:rPr dirty="0" sz="1100" spc="-10">
                <a:latin typeface="Garamond"/>
                <a:cs typeface="Garamond"/>
              </a:rPr>
              <a:t>114 </a:t>
            </a:r>
            <a:r>
              <a:rPr dirty="0" sz="1100">
                <a:latin typeface="Garamond"/>
                <a:cs typeface="Garamond"/>
              </a:rPr>
              <a:t>days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sell </a:t>
            </a:r>
            <a:r>
              <a:rPr dirty="0" sz="1100" spc="5">
                <a:latin typeface="Garamond"/>
                <a:cs typeface="Garamond"/>
              </a:rPr>
              <a:t>off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Garamond"/>
              <a:cs typeface="Garamond"/>
            </a:endParaRPr>
          </a:p>
          <a:p>
            <a:pPr marL="635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Receivables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Turnover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63500">
              <a:lnSpc>
                <a:spcPct val="100000"/>
              </a:lnSpc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look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fast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collect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87392" y="2978657"/>
            <a:ext cx="30861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S</a:t>
            </a:r>
            <a:r>
              <a:rPr dirty="0" sz="1000" spc="10">
                <a:latin typeface="Cambria Math"/>
                <a:cs typeface="Cambria Math"/>
              </a:rPr>
              <a:t>ale</a:t>
            </a:r>
            <a:r>
              <a:rPr dirty="0" sz="1000">
                <a:latin typeface="Cambria Math"/>
                <a:cs typeface="Cambria Math"/>
              </a:rPr>
              <a:t>s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56609" y="3169665"/>
            <a:ext cx="1166495" cy="9525"/>
          </a:xfrm>
          <a:custGeom>
            <a:avLst/>
            <a:gdLst/>
            <a:ahLst/>
            <a:cxnLst/>
            <a:rect l="l" t="t" r="r" b="b"/>
            <a:pathLst>
              <a:path w="1166495" h="9525">
                <a:moveTo>
                  <a:pt x="1166469" y="0"/>
                </a:moveTo>
                <a:lnTo>
                  <a:pt x="0" y="0"/>
                </a:lnTo>
                <a:lnTo>
                  <a:pt x="0" y="9144"/>
                </a:lnTo>
                <a:lnTo>
                  <a:pt x="1166469" y="9144"/>
                </a:lnTo>
                <a:lnTo>
                  <a:pt x="11664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608708" y="3070351"/>
            <a:ext cx="3456304" cy="5664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531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Receivables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baseline="-38888" sz="1500" spc="-15">
                <a:latin typeface="Cambria Math"/>
                <a:cs typeface="Cambria Math"/>
              </a:rPr>
              <a:t>Accounts</a:t>
            </a:r>
            <a:r>
              <a:rPr dirty="0" baseline="-38888" sz="1500" spc="-7">
                <a:latin typeface="Cambria Math"/>
                <a:cs typeface="Cambria Math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Receivables</a:t>
            </a:r>
            <a:endParaRPr baseline="-38888" sz="15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595"/>
              </a:spcBef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53053" y="3605275"/>
            <a:ext cx="441959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15">
                <a:latin typeface="Cambria Math"/>
                <a:cs typeface="Cambria Math"/>
              </a:rPr>
              <a:t> </a:t>
            </a:r>
            <a:r>
              <a:rPr dirty="0" sz="1000" spc="50">
                <a:latin typeface="Cambria Math"/>
                <a:cs typeface="Cambria Math"/>
              </a:rPr>
              <a:t>2</a:t>
            </a:r>
            <a:r>
              <a:rPr dirty="0" sz="1000" spc="5">
                <a:latin typeface="Cambria Math"/>
                <a:cs typeface="Cambria Math"/>
              </a:rPr>
              <a:t>,</a:t>
            </a:r>
            <a:r>
              <a:rPr dirty="0" sz="1000" spc="15">
                <a:latin typeface="Cambria Math"/>
                <a:cs typeface="Cambria Math"/>
              </a:rPr>
              <a:t>311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65753" y="3796283"/>
            <a:ext cx="411480" cy="9525"/>
          </a:xfrm>
          <a:custGeom>
            <a:avLst/>
            <a:gdLst/>
            <a:ahLst/>
            <a:cxnLst/>
            <a:rect l="l" t="t" r="r" b="b"/>
            <a:pathLst>
              <a:path w="411479" h="9525">
                <a:moveTo>
                  <a:pt x="411479" y="0"/>
                </a:moveTo>
                <a:lnTo>
                  <a:pt x="0" y="0"/>
                </a:lnTo>
                <a:lnTo>
                  <a:pt x="0" y="9144"/>
                </a:lnTo>
                <a:lnTo>
                  <a:pt x="411479" y="9144"/>
                </a:lnTo>
                <a:lnTo>
                  <a:pt x="4114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523744" y="3696715"/>
            <a:ext cx="251015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Receivables</a:t>
            </a:r>
            <a:r>
              <a:rPr dirty="0" sz="1100" spc="-5">
                <a:latin typeface="Garamond"/>
                <a:cs typeface="Garamond"/>
              </a:rPr>
              <a:t> turnover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$</a:t>
            </a:r>
            <a:r>
              <a:rPr dirty="0" baseline="-38888" sz="1500" spc="-30">
                <a:latin typeface="Cambria Math"/>
                <a:cs typeface="Cambria Math"/>
              </a:rPr>
              <a:t> </a:t>
            </a:r>
            <a:r>
              <a:rPr dirty="0" baseline="-38888" sz="1500" spc="30">
                <a:latin typeface="Cambria Math"/>
                <a:cs typeface="Cambria Math"/>
              </a:rPr>
              <a:t>188 </a:t>
            </a:r>
            <a:r>
              <a:rPr dirty="0" baseline="-38888" sz="1500" spc="32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12.3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6629" y="4081017"/>
            <a:ext cx="5494655" cy="6673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7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A2Z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outstanding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re-loaned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12.3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during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70"/>
              </a:lnSpc>
            </a:pPr>
            <a:r>
              <a:rPr dirty="0" sz="1100" i="1">
                <a:latin typeface="Garamond"/>
                <a:cs typeface="Garamond"/>
              </a:rPr>
              <a:t>(Assuming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all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the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sales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are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-10" i="1">
                <a:latin typeface="Garamond"/>
                <a:cs typeface="Garamond"/>
              </a:rPr>
              <a:t>credit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sales.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If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not,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we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use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only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-10" i="1">
                <a:latin typeface="Garamond"/>
                <a:cs typeface="Garamond"/>
              </a:rPr>
              <a:t>credit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sales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for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this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ratio)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Days’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Sales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in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Receivables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52365" y="4872354"/>
            <a:ext cx="51879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36</a:t>
            </a:r>
            <a:r>
              <a:rPr dirty="0" sz="1000">
                <a:latin typeface="Cambria Math"/>
                <a:cs typeface="Cambria Math"/>
              </a:rPr>
              <a:t>5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d</a:t>
            </a:r>
            <a:r>
              <a:rPr dirty="0" sz="1000" spc="-25">
                <a:latin typeface="Cambria Math"/>
                <a:cs typeface="Cambria Math"/>
              </a:rPr>
              <a:t>a</a:t>
            </a:r>
            <a:r>
              <a:rPr dirty="0" sz="1000" spc="-5">
                <a:latin typeface="Cambria Math"/>
                <a:cs typeface="Cambria Math"/>
              </a:rPr>
              <a:t>y</a:t>
            </a:r>
            <a:r>
              <a:rPr dirty="0" sz="1000">
                <a:latin typeface="Cambria Math"/>
                <a:cs typeface="Cambria Math"/>
              </a:rPr>
              <a:t>s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30928" y="5063362"/>
            <a:ext cx="1157605" cy="9525"/>
          </a:xfrm>
          <a:custGeom>
            <a:avLst/>
            <a:gdLst/>
            <a:ahLst/>
            <a:cxnLst/>
            <a:rect l="l" t="t" r="r" b="b"/>
            <a:pathLst>
              <a:path w="1157604" h="9525">
                <a:moveTo>
                  <a:pt x="1157325" y="0"/>
                </a:moveTo>
                <a:lnTo>
                  <a:pt x="0" y="0"/>
                </a:lnTo>
                <a:lnTo>
                  <a:pt x="0" y="9144"/>
                </a:lnTo>
                <a:lnTo>
                  <a:pt x="1157325" y="9144"/>
                </a:lnTo>
                <a:lnTo>
                  <a:pt x="11573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608708" y="4963794"/>
            <a:ext cx="3723640" cy="5664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531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Day’s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Receivable</a:t>
            </a:r>
            <a:r>
              <a:rPr dirty="0" baseline="-38888" sz="1500" spc="-44">
                <a:latin typeface="Cambria Math"/>
                <a:cs typeface="Cambria Math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Turnover</a:t>
            </a:r>
            <a:endParaRPr baseline="-38888" sz="15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595"/>
              </a:spcBef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54804" y="5489828"/>
            <a:ext cx="24511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365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40072" y="5680836"/>
            <a:ext cx="274955" cy="9525"/>
          </a:xfrm>
          <a:custGeom>
            <a:avLst/>
            <a:gdLst/>
            <a:ahLst/>
            <a:cxnLst/>
            <a:rect l="l" t="t" r="r" b="b"/>
            <a:pathLst>
              <a:path w="274954" h="9525">
                <a:moveTo>
                  <a:pt x="274624" y="0"/>
                </a:moveTo>
                <a:lnTo>
                  <a:pt x="0" y="0"/>
                </a:lnTo>
                <a:lnTo>
                  <a:pt x="0" y="9144"/>
                </a:lnTo>
                <a:lnTo>
                  <a:pt x="274624" y="9144"/>
                </a:lnTo>
                <a:lnTo>
                  <a:pt x="2746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523744" y="5581268"/>
            <a:ext cx="249682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Day’s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90">
                <a:latin typeface="Garamond"/>
                <a:cs typeface="Garamond"/>
              </a:rPr>
              <a:t> </a:t>
            </a:r>
            <a:r>
              <a:rPr dirty="0" baseline="-38888" sz="1500" spc="22">
                <a:latin typeface="Cambria Math"/>
                <a:cs typeface="Cambria Math"/>
              </a:rPr>
              <a:t>12.3</a:t>
            </a:r>
            <a:r>
              <a:rPr dirty="0" baseline="-38888" sz="1500" spc="89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76629" y="5951981"/>
            <a:ext cx="5564505" cy="9963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1260"/>
              </a:lnSpc>
              <a:spcBef>
                <a:spcPts val="204"/>
              </a:spcBef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A2Z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collects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month,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30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days’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uncollected.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Average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Collection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</a:t>
            </a:r>
            <a:r>
              <a:rPr dirty="0" sz="1100" spc="-5">
                <a:latin typeface="Garamond"/>
                <a:cs typeface="Garamond"/>
              </a:rPr>
              <a:t>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10" b="1">
                <a:latin typeface="Garamond"/>
                <a:cs typeface="Garamond"/>
              </a:rPr>
              <a:t>A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Variation: Payables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Turnover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describes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does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bills,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computed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49144" y="7163816"/>
            <a:ext cx="10414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Payables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38605" y="7255255"/>
            <a:ext cx="124333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284">
                <a:latin typeface="Garamond"/>
                <a:cs typeface="Garamond"/>
              </a:rPr>
              <a:t> </a:t>
            </a:r>
            <a:r>
              <a:rPr dirty="0" sz="1000" spc="-10">
                <a:latin typeface="Cambria Math"/>
                <a:cs typeface="Cambria Math"/>
              </a:rPr>
              <a:t>Accounts</a:t>
            </a:r>
            <a:r>
              <a:rPr dirty="0" sz="1000" spc="-15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payables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93363" y="7072376"/>
            <a:ext cx="1033144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Cost</a:t>
            </a:r>
            <a:r>
              <a:rPr dirty="0" sz="1000" spc="-50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of</a:t>
            </a:r>
            <a:r>
              <a:rPr dirty="0" sz="1000" spc="-45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Goods</a:t>
            </a:r>
            <a:r>
              <a:rPr dirty="0" sz="1000" spc="-30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Sold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806063" y="7263383"/>
            <a:ext cx="1034415" cy="9525"/>
          </a:xfrm>
          <a:custGeom>
            <a:avLst/>
            <a:gdLst/>
            <a:ahLst/>
            <a:cxnLst/>
            <a:rect l="l" t="t" r="r" b="b"/>
            <a:pathLst>
              <a:path w="1034414" h="9525">
                <a:moveTo>
                  <a:pt x="1033881" y="0"/>
                </a:moveTo>
                <a:lnTo>
                  <a:pt x="0" y="0"/>
                </a:lnTo>
                <a:lnTo>
                  <a:pt x="0" y="9143"/>
                </a:lnTo>
                <a:lnTo>
                  <a:pt x="1033881" y="9143"/>
                </a:lnTo>
                <a:lnTo>
                  <a:pt x="10338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549144" y="7502397"/>
            <a:ext cx="123507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Payables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47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93363" y="7410957"/>
            <a:ext cx="4375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10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5">
                <a:latin typeface="Cambria Math"/>
                <a:cs typeface="Cambria Math"/>
              </a:rPr>
              <a:t>,</a:t>
            </a:r>
            <a:r>
              <a:rPr dirty="0" sz="1000" spc="15">
                <a:latin typeface="Cambria Math"/>
                <a:cs typeface="Cambria Math"/>
              </a:rPr>
              <a:t>344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85057" y="7607553"/>
            <a:ext cx="3098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34</a:t>
            </a:r>
            <a:r>
              <a:rPr dirty="0" sz="1000" spc="25">
                <a:latin typeface="Cambria Math"/>
                <a:cs typeface="Cambria Math"/>
              </a:rPr>
              <a:t>4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06063" y="7601966"/>
            <a:ext cx="439420" cy="9525"/>
          </a:xfrm>
          <a:custGeom>
            <a:avLst/>
            <a:gdLst/>
            <a:ahLst/>
            <a:cxnLst/>
            <a:rect l="l" t="t" r="r" b="b"/>
            <a:pathLst>
              <a:path w="439420" h="9525">
                <a:moveTo>
                  <a:pt x="439216" y="0"/>
                </a:moveTo>
                <a:lnTo>
                  <a:pt x="0" y="0"/>
                </a:lnTo>
                <a:lnTo>
                  <a:pt x="0" y="9143"/>
                </a:lnTo>
                <a:lnTo>
                  <a:pt x="439216" y="9143"/>
                </a:lnTo>
                <a:lnTo>
                  <a:pt x="4392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269104" y="7502397"/>
            <a:ext cx="64325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3.9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76629" y="7886445"/>
            <a:ext cx="247523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 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took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turn-over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payables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are: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56203" y="8042275"/>
            <a:ext cx="24511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365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68903" y="8233282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247192" y="0"/>
                </a:moveTo>
                <a:lnTo>
                  <a:pt x="0" y="0"/>
                </a:lnTo>
                <a:lnTo>
                  <a:pt x="0" y="9144"/>
                </a:lnTo>
                <a:lnTo>
                  <a:pt x="247192" y="9144"/>
                </a:lnTo>
                <a:lnTo>
                  <a:pt x="2471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151229" y="8133715"/>
            <a:ext cx="4438015" cy="5664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389505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baseline="-38888" sz="1500" spc="7">
                <a:latin typeface="Cambria Math"/>
                <a:cs typeface="Cambria Math"/>
              </a:rPr>
              <a:t>3.9</a:t>
            </a:r>
            <a:r>
              <a:rPr dirty="0" baseline="-38888" sz="1500" spc="32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94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  <a:spcBef>
                <a:spcPts val="1595"/>
              </a:spcBef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figure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very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significant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potential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creditors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A2Z.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26022" y="714501"/>
            <a:ext cx="80073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10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40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83738" y="883665"/>
            <a:ext cx="2047875" cy="8547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150" spc="25" b="1">
                <a:latin typeface="Garamond"/>
                <a:cs typeface="Garamond"/>
              </a:rPr>
              <a:t>RATIO</a:t>
            </a:r>
            <a:r>
              <a:rPr dirty="0" sz="1150" spc="-3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ANALYSIS</a:t>
            </a:r>
            <a:r>
              <a:rPr dirty="0" sz="1150" spc="-25" b="1">
                <a:latin typeface="Garamond"/>
                <a:cs typeface="Garamond"/>
              </a:rPr>
              <a:t> </a:t>
            </a:r>
            <a:r>
              <a:rPr dirty="0" sz="1150" spc="35" b="1">
                <a:latin typeface="Garamond"/>
                <a:cs typeface="Garamond"/>
              </a:rPr>
              <a:t>(CONT…)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Garamond"/>
              <a:cs typeface="Garamond"/>
            </a:endParaRPr>
          </a:p>
          <a:p>
            <a:pPr algn="ctr" marL="300355" marR="326390">
              <a:lnSpc>
                <a:spcPts val="1260"/>
              </a:lnSpc>
            </a:pPr>
            <a:r>
              <a:rPr dirty="0" sz="1100" spc="-5" b="1">
                <a:latin typeface="Garamond"/>
                <a:cs typeface="Garamond"/>
              </a:rPr>
              <a:t>A</a:t>
            </a:r>
            <a:r>
              <a:rPr dirty="0" sz="1100" spc="20" b="1">
                <a:latin typeface="Garamond"/>
                <a:cs typeface="Garamond"/>
              </a:rPr>
              <a:t>2</a:t>
            </a:r>
            <a:r>
              <a:rPr dirty="0" sz="1100" spc="10" b="1">
                <a:latin typeface="Garamond"/>
                <a:cs typeface="Garamond"/>
              </a:rPr>
              <a:t>Z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45" b="1">
                <a:latin typeface="Garamond"/>
                <a:cs typeface="Garamond"/>
              </a:rPr>
              <a:t>I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-20" b="1">
                <a:latin typeface="Garamond"/>
                <a:cs typeface="Garamond"/>
              </a:rPr>
              <a:t>c</a:t>
            </a:r>
            <a:r>
              <a:rPr dirty="0" sz="1100" b="1">
                <a:latin typeface="Garamond"/>
                <a:cs typeface="Garamond"/>
              </a:rPr>
              <a:t>.</a:t>
            </a:r>
            <a:r>
              <a:rPr dirty="0" sz="1100" spc="-20" b="1">
                <a:latin typeface="Garamond"/>
                <a:cs typeface="Garamond"/>
              </a:rPr>
              <a:t>,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B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b="1">
                <a:latin typeface="Garamond"/>
                <a:cs typeface="Garamond"/>
              </a:rPr>
              <a:t>lan</a:t>
            </a:r>
            <a:r>
              <a:rPr dirty="0" sz="1100" spc="15" b="1">
                <a:latin typeface="Garamond"/>
                <a:cs typeface="Garamond"/>
              </a:rPr>
              <a:t>c</a:t>
            </a:r>
            <a:r>
              <a:rPr dirty="0" sz="1100" spc="5" b="1">
                <a:latin typeface="Garamond"/>
                <a:cs typeface="Garamond"/>
              </a:rPr>
              <a:t>e</a:t>
            </a:r>
            <a:r>
              <a:rPr dirty="0" sz="1100" spc="-7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S</a:t>
            </a:r>
            <a:r>
              <a:rPr dirty="0" sz="1100" b="1">
                <a:latin typeface="Garamond"/>
                <a:cs typeface="Garamond"/>
              </a:rPr>
              <a:t>h</a:t>
            </a:r>
            <a:r>
              <a:rPr dirty="0" sz="1100" spc="-15" b="1">
                <a:latin typeface="Garamond"/>
                <a:cs typeface="Garamond"/>
              </a:rPr>
              <a:t>e</a:t>
            </a:r>
            <a:r>
              <a:rPr dirty="0" sz="1100" spc="20" b="1">
                <a:latin typeface="Garamond"/>
                <a:cs typeface="Garamond"/>
              </a:rPr>
              <a:t>e</a:t>
            </a:r>
            <a:r>
              <a:rPr dirty="0" sz="1100" b="1">
                <a:latin typeface="Garamond"/>
                <a:cs typeface="Garamond"/>
              </a:rPr>
              <a:t>t  </a:t>
            </a:r>
            <a:r>
              <a:rPr dirty="0" sz="1100" b="1">
                <a:latin typeface="Garamond"/>
                <a:cs typeface="Garamond"/>
              </a:rPr>
              <a:t>As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December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20" b="1">
                <a:latin typeface="Garamond"/>
                <a:cs typeface="Garamond"/>
              </a:rPr>
              <a:t>31</a:t>
            </a:r>
            <a:endParaRPr sz="1100">
              <a:latin typeface="Garamond"/>
              <a:cs typeface="Garamond"/>
            </a:endParaRPr>
          </a:p>
          <a:p>
            <a:pPr algn="ctr" marL="8255">
              <a:lnSpc>
                <a:spcPts val="1190"/>
              </a:lnSpc>
            </a:pPr>
            <a:r>
              <a:rPr dirty="0" sz="1100" spc="5" b="1">
                <a:latin typeface="Garamond"/>
                <a:cs typeface="Garamond"/>
              </a:rPr>
              <a:t>($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in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millions)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022094" y="1737943"/>
          <a:ext cx="3975735" cy="5426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6820"/>
                <a:gridCol w="961390"/>
                <a:gridCol w="516254"/>
              </a:tblGrid>
              <a:tr h="27462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290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290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290">
                    <a:solidFill>
                      <a:srgbClr val="BEBEBE"/>
                    </a:solidFill>
                  </a:tcPr>
                </a:tc>
              </a:tr>
              <a:tr h="26847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Current </a:t>
                      </a:r>
                      <a:r>
                        <a:rPr dirty="0" u="sng" sz="11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Asset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Cash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$84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$98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165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44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393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422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44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Current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$642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$708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3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u="sng" sz="1100" spc="-6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44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Plant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Equipment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$2,731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$2,880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8029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$3,373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$3,588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31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Liabilities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655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20X1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655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20X2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655">
                    <a:solidFill>
                      <a:srgbClr val="BEBEBE"/>
                    </a:solidFill>
                  </a:tcPr>
                </a:tc>
              </a:tr>
              <a:tr h="26885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u="sng" sz="1100" spc="-4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31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$312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$344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44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Notes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196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44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Current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$543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Long-term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Debts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457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51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Stockholders’</a:t>
                      </a:r>
                      <a:r>
                        <a:rPr dirty="0" u="sng" sz="1100" spc="-1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Common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Paid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surplus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44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Retained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Earning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1,799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2,041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7444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Stockholders’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2,299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2,591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  <a:tr h="216884">
                <a:tc>
                  <a:txBody>
                    <a:bodyPr/>
                    <a:lstStyle/>
                    <a:p>
                      <a:pPr marL="68580">
                        <a:lnSpc>
                          <a:spcPts val="1295"/>
                        </a:lnSpc>
                        <a:spcBef>
                          <a:spcPts val="3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Liabilities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ts val="1295"/>
                        </a:lnSpc>
                        <a:spcBef>
                          <a:spcPts val="315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$3,373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95"/>
                        </a:lnSpc>
                        <a:spcBef>
                          <a:spcPts val="315"/>
                        </a:spcBef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$3,588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0005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148329" y="7195819"/>
            <a:ext cx="1680210" cy="50673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 marL="12065" marR="5080">
              <a:lnSpc>
                <a:spcPts val="1190"/>
              </a:lnSpc>
              <a:spcBef>
                <a:spcPts val="265"/>
              </a:spcBef>
            </a:pPr>
            <a:r>
              <a:rPr dirty="0" sz="1100" spc="5" b="1">
                <a:latin typeface="Garamond"/>
                <a:cs typeface="Garamond"/>
              </a:rPr>
              <a:t>A2Z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Inc.,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Income </a:t>
            </a:r>
            <a:r>
              <a:rPr dirty="0" sz="1100" spc="-20" b="1">
                <a:latin typeface="Garamond"/>
                <a:cs typeface="Garamond"/>
              </a:rPr>
              <a:t>Statement </a:t>
            </a:r>
            <a:r>
              <a:rPr dirty="0" sz="1100" spc="-26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For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Year</a:t>
            </a:r>
            <a:r>
              <a:rPr dirty="0" sz="1100" spc="-20" b="1">
                <a:latin typeface="Garamond"/>
                <a:cs typeface="Garamond"/>
              </a:rPr>
              <a:t> 20X2</a:t>
            </a:r>
            <a:endParaRPr sz="1100">
              <a:latin typeface="Garamond"/>
              <a:cs typeface="Garamond"/>
            </a:endParaRPr>
          </a:p>
          <a:p>
            <a:pPr algn="ctr" marL="37465">
              <a:lnSpc>
                <a:spcPts val="1240"/>
              </a:lnSpc>
            </a:pPr>
            <a:r>
              <a:rPr dirty="0" sz="1100" spc="-15" b="1">
                <a:latin typeface="Garamond"/>
                <a:cs typeface="Garamond"/>
              </a:rPr>
              <a:t>($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in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millions)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343404" y="7694702"/>
          <a:ext cx="3339465" cy="1806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9480"/>
                <a:gridCol w="1149984"/>
              </a:tblGrid>
              <a:tr h="171164">
                <a:tc>
                  <a:txBody>
                    <a:bodyPr/>
                    <a:lstStyle/>
                    <a:p>
                      <a:pPr marL="127000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Sales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1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$2,311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Goods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Sold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1,344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276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Earnings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before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$691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83845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7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Taxable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187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u="dbl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$363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92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Dividends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$121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176">
                <a:tc>
                  <a:txBody>
                    <a:bodyPr/>
                    <a:lstStyle/>
                    <a:p>
                      <a:pPr marL="127000">
                        <a:lnSpc>
                          <a:spcPts val="125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Retained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Earnings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12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$242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122618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Total</a:t>
            </a:r>
            <a:r>
              <a:rPr dirty="0" sz="1100" spc="-10" b="1">
                <a:latin typeface="Garamond"/>
                <a:cs typeface="Garamond"/>
              </a:rPr>
              <a:t> Asset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turnover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77080" y="1048638"/>
            <a:ext cx="30416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S</a:t>
            </a:r>
            <a:r>
              <a:rPr dirty="0" sz="1000" spc="10">
                <a:latin typeface="Cambria Math"/>
                <a:cs typeface="Cambria Math"/>
              </a:rPr>
              <a:t>al</a:t>
            </a:r>
            <a:r>
              <a:rPr dirty="0" sz="1000" spc="-25">
                <a:latin typeface="Cambria Math"/>
                <a:cs typeface="Cambria Math"/>
              </a:rPr>
              <a:t>e</a:t>
            </a:r>
            <a:r>
              <a:rPr dirty="0" sz="1000">
                <a:latin typeface="Cambria Math"/>
                <a:cs typeface="Cambria Math"/>
              </a:rPr>
              <a:t>s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97757" y="1239646"/>
            <a:ext cx="686435" cy="9525"/>
          </a:xfrm>
          <a:custGeom>
            <a:avLst/>
            <a:gdLst/>
            <a:ahLst/>
            <a:cxnLst/>
            <a:rect l="l" t="t" r="r" b="b"/>
            <a:pathLst>
              <a:path w="686435" h="9525">
                <a:moveTo>
                  <a:pt x="686104" y="0"/>
                </a:moveTo>
                <a:lnTo>
                  <a:pt x="0" y="0"/>
                </a:lnTo>
                <a:lnTo>
                  <a:pt x="0" y="9144"/>
                </a:lnTo>
                <a:lnTo>
                  <a:pt x="686104" y="9144"/>
                </a:lnTo>
                <a:lnTo>
                  <a:pt x="6861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08708" y="1140078"/>
            <a:ext cx="3017520" cy="5664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53135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5">
                <a:latin typeface="Garamond"/>
                <a:cs typeface="Garamond"/>
              </a:rPr>
              <a:t> turnover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Total</a:t>
            </a:r>
            <a:r>
              <a:rPr dirty="0" baseline="-38888" sz="1500" spc="7">
                <a:latin typeface="Cambria Math"/>
                <a:cs typeface="Cambria Math"/>
              </a:rPr>
              <a:t> </a:t>
            </a:r>
            <a:r>
              <a:rPr dirty="0" baseline="-38888" sz="1500" spc="-7">
                <a:latin typeface="Cambria Math"/>
                <a:cs typeface="Cambria Math"/>
              </a:rPr>
              <a:t>Assets</a:t>
            </a:r>
            <a:endParaRPr baseline="-38888" sz="15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595"/>
              </a:spcBef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85057" y="1675256"/>
            <a:ext cx="4095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$2</a:t>
            </a:r>
            <a:r>
              <a:rPr dirty="0" sz="1000" spc="5">
                <a:latin typeface="Cambria Math"/>
                <a:cs typeface="Cambria Math"/>
              </a:rPr>
              <a:t>,</a:t>
            </a:r>
            <a:r>
              <a:rPr dirty="0" sz="1000" spc="15">
                <a:latin typeface="Cambria Math"/>
                <a:cs typeface="Cambria Math"/>
              </a:rPr>
              <a:t>311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97757" y="1866264"/>
            <a:ext cx="411480" cy="9525"/>
          </a:xfrm>
          <a:custGeom>
            <a:avLst/>
            <a:gdLst/>
            <a:ahLst/>
            <a:cxnLst/>
            <a:rect l="l" t="t" r="r" b="b"/>
            <a:pathLst>
              <a:path w="411479" h="9525">
                <a:moveTo>
                  <a:pt x="411479" y="0"/>
                </a:moveTo>
                <a:lnTo>
                  <a:pt x="0" y="0"/>
                </a:lnTo>
                <a:lnTo>
                  <a:pt x="0" y="9144"/>
                </a:lnTo>
                <a:lnTo>
                  <a:pt x="411479" y="9144"/>
                </a:lnTo>
                <a:lnTo>
                  <a:pt x="4114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523744" y="1766696"/>
            <a:ext cx="254254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baseline="-38888" sz="1500" spc="15">
                <a:latin typeface="Cambria Math"/>
                <a:cs typeface="Cambria Math"/>
              </a:rPr>
              <a:t>$3,558</a:t>
            </a:r>
            <a:r>
              <a:rPr dirty="0" baseline="-38888" sz="1500" spc="89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0.64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6629" y="2169032"/>
            <a:ext cx="3862070" cy="840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words,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every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 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A2Z</a:t>
            </a:r>
            <a:r>
              <a:rPr dirty="0" sz="1100" spc="-5">
                <a:latin typeface="Garamond"/>
                <a:cs typeface="Garamond"/>
              </a:rPr>
              <a:t> generated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$0.64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Capital</a:t>
            </a:r>
            <a:r>
              <a:rPr dirty="0" sz="1100" spc="-10" b="1">
                <a:latin typeface="Garamond"/>
                <a:cs typeface="Garamond"/>
              </a:rPr>
              <a:t> Intensity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simply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reciprocal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49144" y="3225799"/>
            <a:ext cx="136271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Intensity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21633" y="3134360"/>
            <a:ext cx="6883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Total</a:t>
            </a:r>
            <a:r>
              <a:rPr dirty="0" sz="1000" spc="-40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Assets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7372" y="3330955"/>
            <a:ext cx="30416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S</a:t>
            </a:r>
            <a:r>
              <a:rPr dirty="0" sz="1000" spc="10">
                <a:latin typeface="Cambria Math"/>
                <a:cs typeface="Cambria Math"/>
              </a:rPr>
              <a:t>al</a:t>
            </a:r>
            <a:r>
              <a:rPr dirty="0" sz="1000" spc="-25">
                <a:latin typeface="Cambria Math"/>
                <a:cs typeface="Cambria Math"/>
              </a:rPr>
              <a:t>e</a:t>
            </a:r>
            <a:r>
              <a:rPr dirty="0" sz="1000">
                <a:latin typeface="Cambria Math"/>
                <a:cs typeface="Cambria Math"/>
              </a:rPr>
              <a:t>s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34333" y="3325367"/>
            <a:ext cx="659130" cy="9525"/>
          </a:xfrm>
          <a:custGeom>
            <a:avLst/>
            <a:gdLst/>
            <a:ahLst/>
            <a:cxnLst/>
            <a:rect l="l" t="t" r="r" b="b"/>
            <a:pathLst>
              <a:path w="659129" h="9525">
                <a:moveTo>
                  <a:pt x="658672" y="0"/>
                </a:moveTo>
                <a:lnTo>
                  <a:pt x="0" y="0"/>
                </a:lnTo>
                <a:lnTo>
                  <a:pt x="0" y="9144"/>
                </a:lnTo>
                <a:lnTo>
                  <a:pt x="658672" y="9144"/>
                </a:lnTo>
                <a:lnTo>
                  <a:pt x="6586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176629" y="3614419"/>
            <a:ext cx="5702935" cy="229997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469900" marR="762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interpreted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generate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$1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intensive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industries.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A2Z,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computed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1.56,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i.e.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$1.56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$1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Profitability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Measures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1016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other,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these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intended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efficiently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efficiently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manages</a:t>
            </a:r>
            <a:r>
              <a:rPr dirty="0" sz="1100">
                <a:latin typeface="Garamond"/>
                <a:cs typeface="Garamond"/>
              </a:rPr>
              <a:t> its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operations.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focus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group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bottom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line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1100" b="1">
                <a:latin typeface="Garamond"/>
                <a:cs typeface="Garamond"/>
              </a:rPr>
              <a:t>Profit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Margin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Every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company,</a:t>
            </a:r>
            <a:r>
              <a:rPr dirty="0" sz="1100" spc="-10">
                <a:latin typeface="Garamond"/>
                <a:cs typeface="Garamond"/>
              </a:rPr>
              <a:t> big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small,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pays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very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close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attention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profit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margin.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49144" y="6125717"/>
            <a:ext cx="121221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Profit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Margin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0503" y="6034277"/>
            <a:ext cx="6502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N</a:t>
            </a:r>
            <a:r>
              <a:rPr dirty="0" sz="1000" spc="5">
                <a:latin typeface="Cambria Math"/>
                <a:cs typeface="Cambria Math"/>
              </a:rPr>
              <a:t>e</a:t>
            </a:r>
            <a:r>
              <a:rPr dirty="0" sz="1000">
                <a:latin typeface="Cambria Math"/>
                <a:cs typeface="Cambria Math"/>
              </a:rPr>
              <a:t>t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I</a:t>
            </a:r>
            <a:r>
              <a:rPr dirty="0" sz="1000" spc="5">
                <a:latin typeface="Cambria Math"/>
                <a:cs typeface="Cambria Math"/>
              </a:rPr>
              <a:t>n</a:t>
            </a:r>
            <a:r>
              <a:rPr dirty="0" sz="1000" spc="-15">
                <a:latin typeface="Cambria Math"/>
                <a:cs typeface="Cambria Math"/>
              </a:rPr>
              <a:t>c</a:t>
            </a:r>
            <a:r>
              <a:rPr dirty="0" sz="1000">
                <a:latin typeface="Cambria Math"/>
                <a:cs typeface="Cambria Math"/>
              </a:rPr>
              <a:t>o</a:t>
            </a:r>
            <a:r>
              <a:rPr dirty="0" sz="1000" spc="-10">
                <a:latin typeface="Cambria Math"/>
                <a:cs typeface="Cambria Math"/>
              </a:rPr>
              <a:t>m</a:t>
            </a:r>
            <a:r>
              <a:rPr dirty="0" sz="1000">
                <a:latin typeface="Cambria Math"/>
                <a:cs typeface="Cambria Math"/>
              </a:rPr>
              <a:t>e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58209" y="6230873"/>
            <a:ext cx="30416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S</a:t>
            </a:r>
            <a:r>
              <a:rPr dirty="0" sz="1000" spc="10">
                <a:latin typeface="Cambria Math"/>
                <a:cs typeface="Cambria Math"/>
              </a:rPr>
              <a:t>al</a:t>
            </a:r>
            <a:r>
              <a:rPr dirty="0" sz="1000" spc="-25">
                <a:latin typeface="Cambria Math"/>
                <a:cs typeface="Cambria Math"/>
              </a:rPr>
              <a:t>e</a:t>
            </a:r>
            <a:r>
              <a:rPr dirty="0" sz="1000">
                <a:latin typeface="Cambria Math"/>
                <a:cs typeface="Cambria Math"/>
              </a:rPr>
              <a:t>s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83203" y="6225285"/>
            <a:ext cx="622935" cy="9525"/>
          </a:xfrm>
          <a:custGeom>
            <a:avLst/>
            <a:gdLst/>
            <a:ahLst/>
            <a:cxnLst/>
            <a:rect l="l" t="t" r="r" b="b"/>
            <a:pathLst>
              <a:path w="622935" h="9525">
                <a:moveTo>
                  <a:pt x="622401" y="0"/>
                </a:moveTo>
                <a:lnTo>
                  <a:pt x="0" y="0"/>
                </a:lnTo>
                <a:lnTo>
                  <a:pt x="0" y="9144"/>
                </a:lnTo>
                <a:lnTo>
                  <a:pt x="622401" y="9144"/>
                </a:lnTo>
                <a:lnTo>
                  <a:pt x="622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634108" y="6496049"/>
            <a:ext cx="110426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20795" y="6665467"/>
            <a:ext cx="33655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10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363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783203" y="6856475"/>
            <a:ext cx="412115" cy="9525"/>
          </a:xfrm>
          <a:custGeom>
            <a:avLst/>
            <a:gdLst/>
            <a:ahLst/>
            <a:cxnLst/>
            <a:rect l="l" t="t" r="r" b="b"/>
            <a:pathLst>
              <a:path w="412114" h="9525">
                <a:moveTo>
                  <a:pt x="411784" y="0"/>
                </a:moveTo>
                <a:lnTo>
                  <a:pt x="0" y="0"/>
                </a:lnTo>
                <a:lnTo>
                  <a:pt x="0" y="9144"/>
                </a:lnTo>
                <a:lnTo>
                  <a:pt x="411784" y="9144"/>
                </a:lnTo>
                <a:lnTo>
                  <a:pt x="411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523744" y="6756907"/>
            <a:ext cx="225107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Profit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Margin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baseline="-38888" sz="1500" spc="15">
                <a:latin typeface="Cambria Math"/>
                <a:cs typeface="Cambria Math"/>
              </a:rPr>
              <a:t>$2,311</a:t>
            </a:r>
            <a:r>
              <a:rPr dirty="0" baseline="-38888" sz="1500" spc="8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15.7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%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6629" y="7163816"/>
            <a:ext cx="5704840" cy="182880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469900" marR="5080" indent="-228600">
              <a:lnSpc>
                <a:spcPts val="1230"/>
              </a:lnSpc>
              <a:spcBef>
                <a:spcPts val="229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sense,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generates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little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16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cents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profit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  <a:p>
            <a:pPr marL="469900" marR="10160" indent="-228600">
              <a:lnSpc>
                <a:spcPts val="1260"/>
              </a:lnSpc>
              <a:spcBef>
                <a:spcPts val="1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Things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being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relatively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high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profit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margin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obviously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desirable,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corresponding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expenses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vs.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Other</a:t>
            </a:r>
            <a:r>
              <a:rPr dirty="0" sz="1100">
                <a:latin typeface="Garamond"/>
                <a:cs typeface="Garamond"/>
              </a:rPr>
              <a:t> Things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always</a:t>
            </a:r>
            <a:r>
              <a:rPr dirty="0" sz="1100">
                <a:latin typeface="Garamond"/>
                <a:cs typeface="Garamond"/>
              </a:rPr>
              <a:t> equal!</a:t>
            </a:r>
            <a:endParaRPr sz="1100">
              <a:latin typeface="Garamond"/>
              <a:cs typeface="Garamond"/>
            </a:endParaRPr>
          </a:p>
          <a:p>
            <a:pPr marL="469900" marR="10160" indent="-228600">
              <a:lnSpc>
                <a:spcPts val="1220"/>
              </a:lnSpc>
              <a:spcBef>
                <a:spcPts val="2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example,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lowering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usually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unit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but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normally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cause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profit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margin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shrink.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Profit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flow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down.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Return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on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(ROA)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measure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profit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88207" y="9112377"/>
            <a:ext cx="6502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N</a:t>
            </a:r>
            <a:r>
              <a:rPr dirty="0" sz="1000" spc="5">
                <a:latin typeface="Cambria Math"/>
                <a:cs typeface="Cambria Math"/>
              </a:rPr>
              <a:t>e</a:t>
            </a:r>
            <a:r>
              <a:rPr dirty="0" sz="1000">
                <a:latin typeface="Cambria Math"/>
                <a:cs typeface="Cambria Math"/>
              </a:rPr>
              <a:t>t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I</a:t>
            </a:r>
            <a:r>
              <a:rPr dirty="0" sz="1000" spc="5">
                <a:latin typeface="Cambria Math"/>
                <a:cs typeface="Cambria Math"/>
              </a:rPr>
              <a:t>n</a:t>
            </a:r>
            <a:r>
              <a:rPr dirty="0" sz="1000" spc="-15">
                <a:latin typeface="Cambria Math"/>
                <a:cs typeface="Cambria Math"/>
              </a:rPr>
              <a:t>c</a:t>
            </a:r>
            <a:r>
              <a:rPr dirty="0" sz="1000">
                <a:latin typeface="Cambria Math"/>
                <a:cs typeface="Cambria Math"/>
              </a:rPr>
              <a:t>o</a:t>
            </a:r>
            <a:r>
              <a:rPr dirty="0" sz="1000" spc="-10">
                <a:latin typeface="Cambria Math"/>
                <a:cs typeface="Cambria Math"/>
              </a:rPr>
              <a:t>m</a:t>
            </a:r>
            <a:r>
              <a:rPr dirty="0" sz="1000">
                <a:latin typeface="Cambria Math"/>
                <a:cs typeface="Cambria Math"/>
              </a:rPr>
              <a:t>e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23744" y="9203816"/>
            <a:ext cx="1859914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Total </a:t>
            </a:r>
            <a:r>
              <a:rPr dirty="0" baseline="-38888" sz="1500" spc="-7">
                <a:latin typeface="Cambria Math"/>
                <a:cs typeface="Cambria Math"/>
              </a:rPr>
              <a:t>Assets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655186" y="9303384"/>
            <a:ext cx="714375" cy="9525"/>
          </a:xfrm>
          <a:custGeom>
            <a:avLst/>
            <a:gdLst/>
            <a:ahLst/>
            <a:cxnLst/>
            <a:rect l="l" t="t" r="r" b="b"/>
            <a:pathLst>
              <a:path w="714375" h="9525">
                <a:moveTo>
                  <a:pt x="713841" y="0"/>
                </a:moveTo>
                <a:lnTo>
                  <a:pt x="0" y="0"/>
                </a:lnTo>
                <a:lnTo>
                  <a:pt x="0" y="9143"/>
                </a:lnTo>
                <a:lnTo>
                  <a:pt x="713841" y="9143"/>
                </a:lnTo>
                <a:lnTo>
                  <a:pt x="7138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34108" y="714501"/>
            <a:ext cx="54102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A2Z,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6495" y="879093"/>
            <a:ext cx="33655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15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363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55186" y="1070482"/>
            <a:ext cx="439420" cy="9525"/>
          </a:xfrm>
          <a:custGeom>
            <a:avLst/>
            <a:gdLst/>
            <a:ahLst/>
            <a:cxnLst/>
            <a:rect l="l" t="t" r="r" b="b"/>
            <a:pathLst>
              <a:path w="439420" h="9525">
                <a:moveTo>
                  <a:pt x="439216" y="0"/>
                </a:moveTo>
                <a:lnTo>
                  <a:pt x="0" y="0"/>
                </a:lnTo>
                <a:lnTo>
                  <a:pt x="0" y="9144"/>
                </a:lnTo>
                <a:lnTo>
                  <a:pt x="439216" y="9144"/>
                </a:lnTo>
                <a:lnTo>
                  <a:pt x="4392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23744" y="970914"/>
            <a:ext cx="221932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baseline="-38888" sz="1500" spc="30">
                <a:latin typeface="Cambria Math"/>
                <a:cs typeface="Cambria Math"/>
              </a:rPr>
              <a:t>$3,588 </a:t>
            </a:r>
            <a:r>
              <a:rPr dirty="0" baseline="-38888" sz="1500" spc="44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10.12%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6629" y="1204086"/>
            <a:ext cx="5708015" cy="8636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Return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on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(ROE)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fared during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benefiting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shareholders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true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bottom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line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performance.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01922" y="2187320"/>
            <a:ext cx="6502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N</a:t>
            </a:r>
            <a:r>
              <a:rPr dirty="0" sz="1000" spc="5">
                <a:latin typeface="Cambria Math"/>
                <a:cs typeface="Cambria Math"/>
              </a:rPr>
              <a:t>e</a:t>
            </a:r>
            <a:r>
              <a:rPr dirty="0" sz="1000">
                <a:latin typeface="Cambria Math"/>
                <a:cs typeface="Cambria Math"/>
              </a:rPr>
              <a:t>t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I</a:t>
            </a:r>
            <a:r>
              <a:rPr dirty="0" sz="1000" spc="5">
                <a:latin typeface="Cambria Math"/>
                <a:cs typeface="Cambria Math"/>
              </a:rPr>
              <a:t>n</a:t>
            </a:r>
            <a:r>
              <a:rPr dirty="0" sz="1000" spc="-15">
                <a:latin typeface="Cambria Math"/>
                <a:cs typeface="Cambria Math"/>
              </a:rPr>
              <a:t>c</a:t>
            </a:r>
            <a:r>
              <a:rPr dirty="0" sz="1000">
                <a:latin typeface="Cambria Math"/>
                <a:cs typeface="Cambria Math"/>
              </a:rPr>
              <a:t>o</a:t>
            </a:r>
            <a:r>
              <a:rPr dirty="0" sz="1000" spc="-10">
                <a:latin typeface="Cambria Math"/>
                <a:cs typeface="Cambria Math"/>
              </a:rPr>
              <a:t>m</a:t>
            </a:r>
            <a:r>
              <a:rPr dirty="0" sz="1000">
                <a:latin typeface="Cambria Math"/>
                <a:cs typeface="Cambria Math"/>
              </a:rPr>
              <a:t>e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23744" y="2278760"/>
            <a:ext cx="187388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Total </a:t>
            </a:r>
            <a:r>
              <a:rPr dirty="0" baseline="-38888" sz="1500" spc="-15">
                <a:latin typeface="Cambria Math"/>
                <a:cs typeface="Cambria Math"/>
              </a:rPr>
              <a:t>Equity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64330" y="2378328"/>
            <a:ext cx="723265" cy="9525"/>
          </a:xfrm>
          <a:custGeom>
            <a:avLst/>
            <a:gdLst/>
            <a:ahLst/>
            <a:cxnLst/>
            <a:rect l="l" t="t" r="r" b="b"/>
            <a:pathLst>
              <a:path w="723264" h="9525">
                <a:moveTo>
                  <a:pt x="722985" y="0"/>
                </a:moveTo>
                <a:lnTo>
                  <a:pt x="0" y="0"/>
                </a:lnTo>
                <a:lnTo>
                  <a:pt x="0" y="9144"/>
                </a:lnTo>
                <a:lnTo>
                  <a:pt x="722985" y="9144"/>
                </a:lnTo>
                <a:lnTo>
                  <a:pt x="7229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634108" y="2676905"/>
            <a:ext cx="54102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A2Z,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20210" y="2841498"/>
            <a:ext cx="33655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15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363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68903" y="3032505"/>
            <a:ext cx="439420" cy="9525"/>
          </a:xfrm>
          <a:custGeom>
            <a:avLst/>
            <a:gdLst/>
            <a:ahLst/>
            <a:cxnLst/>
            <a:rect l="l" t="t" r="r" b="b"/>
            <a:pathLst>
              <a:path w="439420" h="9525">
                <a:moveTo>
                  <a:pt x="439216" y="0"/>
                </a:moveTo>
                <a:lnTo>
                  <a:pt x="0" y="0"/>
                </a:lnTo>
                <a:lnTo>
                  <a:pt x="0" y="9143"/>
                </a:lnTo>
                <a:lnTo>
                  <a:pt x="439216" y="9143"/>
                </a:lnTo>
                <a:lnTo>
                  <a:pt x="4392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523744" y="2932937"/>
            <a:ext cx="20364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baseline="-38888" sz="1500" spc="7">
                <a:latin typeface="Cambria Math"/>
                <a:cs typeface="Cambria Math"/>
              </a:rPr>
              <a:t>$2,591</a:t>
            </a:r>
            <a:r>
              <a:rPr dirty="0" baseline="-38888" sz="1500" spc="120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14%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76629" y="3321811"/>
            <a:ext cx="5704840" cy="379539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126364">
              <a:lnSpc>
                <a:spcPts val="1220"/>
              </a:lnSpc>
              <a:spcBef>
                <a:spcPts val="240"/>
              </a:spcBef>
            </a:pPr>
            <a:r>
              <a:rPr dirty="0" sz="1100">
                <a:latin typeface="Garamond"/>
                <a:cs typeface="Garamond"/>
              </a:rPr>
              <a:t>Therefore,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A2Z </a:t>
            </a:r>
            <a:r>
              <a:rPr dirty="0" sz="1100" spc="-5">
                <a:latin typeface="Garamond"/>
                <a:cs typeface="Garamond"/>
              </a:rPr>
              <a:t>generated 14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cents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profit.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correct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only.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ROA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ROE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ROA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 are </a:t>
            </a:r>
            <a:r>
              <a:rPr dirty="0" sz="1100" spc="5">
                <a:latin typeface="Garamond"/>
                <a:cs typeface="Garamond"/>
              </a:rPr>
              <a:t>most </a:t>
            </a:r>
            <a:r>
              <a:rPr dirty="0" sz="1100">
                <a:latin typeface="Garamond"/>
                <a:cs typeface="Garamond"/>
              </a:rPr>
              <a:t>widely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commonly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cited numbers,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 should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kept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why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sometimes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Worth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100" spc="-5" b="1">
                <a:latin typeface="Garamond"/>
                <a:cs typeface="Garamond"/>
              </a:rPr>
              <a:t>Market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Measures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aramond"/>
              <a:cs typeface="Garamond"/>
            </a:endParaRPr>
          </a:p>
          <a:p>
            <a:pPr marL="469900" marR="8890" indent="-228600">
              <a:lnSpc>
                <a:spcPts val="122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group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based,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necessarily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contained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statements,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like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share.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directly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publicly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traded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companies.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Earnings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Share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Garamond"/>
                <a:cs typeface="Garamond"/>
              </a:rPr>
              <a:t>Assuming,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A2Zhas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33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outstanding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Stock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$88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241300">
              <a:lnSpc>
                <a:spcPct val="100000"/>
              </a:lnSpc>
              <a:spcBef>
                <a:spcPts val="1160"/>
              </a:spcBef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Earnings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(EPS)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252470" y="7437373"/>
            <a:ext cx="1144270" cy="9525"/>
          </a:xfrm>
          <a:custGeom>
            <a:avLst/>
            <a:gdLst/>
            <a:ahLst/>
            <a:cxnLst/>
            <a:rect l="l" t="t" r="r" b="b"/>
            <a:pathLst>
              <a:path w="1144270" h="9525">
                <a:moveTo>
                  <a:pt x="1143914" y="0"/>
                </a:moveTo>
                <a:lnTo>
                  <a:pt x="0" y="0"/>
                </a:lnTo>
                <a:lnTo>
                  <a:pt x="0" y="9144"/>
                </a:lnTo>
                <a:lnTo>
                  <a:pt x="1143914" y="9144"/>
                </a:lnTo>
                <a:lnTo>
                  <a:pt x="11439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429505" y="7337805"/>
            <a:ext cx="1314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Cambria Math"/>
                <a:cs typeface="Cambria Math"/>
              </a:rPr>
              <a:t>=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00754" y="7246111"/>
            <a:ext cx="13976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73785" algn="l"/>
              </a:tabLst>
            </a:pPr>
            <a:r>
              <a:rPr dirty="0" sz="1000" spc="5">
                <a:latin typeface="Cambria Math"/>
                <a:cs typeface="Cambria Math"/>
              </a:rPr>
              <a:t>N</a:t>
            </a:r>
            <a:r>
              <a:rPr dirty="0" sz="1000" spc="5">
                <a:latin typeface="Cambria Math"/>
                <a:cs typeface="Cambria Math"/>
              </a:rPr>
              <a:t>e</a:t>
            </a:r>
            <a:r>
              <a:rPr dirty="0" sz="1000">
                <a:latin typeface="Cambria Math"/>
                <a:cs typeface="Cambria Math"/>
              </a:rPr>
              <a:t>t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I</a:t>
            </a:r>
            <a:r>
              <a:rPr dirty="0" sz="1000" spc="5">
                <a:latin typeface="Cambria Math"/>
                <a:cs typeface="Cambria Math"/>
              </a:rPr>
              <a:t>n</a:t>
            </a:r>
            <a:r>
              <a:rPr dirty="0" sz="1000" spc="-15">
                <a:latin typeface="Cambria Math"/>
                <a:cs typeface="Cambria Math"/>
              </a:rPr>
              <a:t>c</a:t>
            </a:r>
            <a:r>
              <a:rPr dirty="0" sz="1000">
                <a:latin typeface="Cambria Math"/>
                <a:cs typeface="Cambria Math"/>
              </a:rPr>
              <a:t>o</a:t>
            </a:r>
            <a:r>
              <a:rPr dirty="0" sz="1000" spc="-10">
                <a:latin typeface="Cambria Math"/>
                <a:cs typeface="Cambria Math"/>
              </a:rPr>
              <a:t>m</a:t>
            </a:r>
            <a:r>
              <a:rPr dirty="0" sz="1000">
                <a:latin typeface="Cambria Math"/>
                <a:cs typeface="Cambria Math"/>
              </a:rPr>
              <a:t>e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15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363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4794" y="7437373"/>
            <a:ext cx="311785" cy="9525"/>
          </a:xfrm>
          <a:custGeom>
            <a:avLst/>
            <a:gdLst/>
            <a:ahLst/>
            <a:cxnLst/>
            <a:rect l="l" t="t" r="r" b="b"/>
            <a:pathLst>
              <a:path w="311785" h="9525">
                <a:moveTo>
                  <a:pt x="311200" y="0"/>
                </a:moveTo>
                <a:lnTo>
                  <a:pt x="0" y="0"/>
                </a:lnTo>
                <a:lnTo>
                  <a:pt x="0" y="9144"/>
                </a:lnTo>
                <a:lnTo>
                  <a:pt x="311200" y="9144"/>
                </a:lnTo>
                <a:lnTo>
                  <a:pt x="311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51229" y="7429245"/>
            <a:ext cx="3676650" cy="5067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53135">
              <a:lnSpc>
                <a:spcPct val="100000"/>
              </a:lnSpc>
              <a:spcBef>
                <a:spcPts val="114"/>
              </a:spcBef>
              <a:tabLst>
                <a:tab pos="3491865" algn="l"/>
              </a:tabLst>
            </a:pPr>
            <a:r>
              <a:rPr dirty="0" baseline="35353" sz="1650">
                <a:latin typeface="Garamond"/>
                <a:cs typeface="Garamond"/>
              </a:rPr>
              <a:t>Earning</a:t>
            </a:r>
            <a:r>
              <a:rPr dirty="0" baseline="35353" sz="1650" spc="-30">
                <a:latin typeface="Garamond"/>
                <a:cs typeface="Garamond"/>
              </a:rPr>
              <a:t> </a:t>
            </a:r>
            <a:r>
              <a:rPr dirty="0" baseline="35353" sz="1650">
                <a:latin typeface="Garamond"/>
                <a:cs typeface="Garamond"/>
              </a:rPr>
              <a:t>Per</a:t>
            </a:r>
            <a:r>
              <a:rPr dirty="0" baseline="35353" sz="1650" spc="15">
                <a:latin typeface="Garamond"/>
                <a:cs typeface="Garamond"/>
              </a:rPr>
              <a:t> </a:t>
            </a:r>
            <a:r>
              <a:rPr dirty="0" baseline="35353" sz="1650" spc="-15">
                <a:latin typeface="Garamond"/>
                <a:cs typeface="Garamond"/>
              </a:rPr>
              <a:t>Share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345">
                <a:latin typeface="Garamond"/>
                <a:cs typeface="Garamond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Shares </a:t>
            </a:r>
            <a:r>
              <a:rPr dirty="0" sz="1000" spc="-5">
                <a:latin typeface="Cambria Math"/>
                <a:cs typeface="Cambria Math"/>
              </a:rPr>
              <a:t>Outstanding	</a:t>
            </a:r>
            <a:r>
              <a:rPr dirty="0" sz="1000" spc="15">
                <a:latin typeface="Cambria Math"/>
                <a:cs typeface="Cambria Math"/>
              </a:rPr>
              <a:t>33</a:t>
            </a:r>
            <a:endParaRPr sz="1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125"/>
              </a:spcBef>
            </a:pPr>
            <a:r>
              <a:rPr dirty="0" sz="1100" spc="-5" b="1">
                <a:latin typeface="Garamond"/>
                <a:cs typeface="Garamond"/>
              </a:rPr>
              <a:t>Price-Earning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14391" y="7337805"/>
            <a:ext cx="39179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Cambria Math"/>
                <a:cs typeface="Cambria Math"/>
              </a:rPr>
              <a:t>=</a:t>
            </a:r>
            <a:r>
              <a:rPr dirty="0" sz="1100" spc="-65">
                <a:latin typeface="Cambria Math"/>
                <a:cs typeface="Cambria Math"/>
              </a:rPr>
              <a:t> </a:t>
            </a:r>
            <a:r>
              <a:rPr dirty="0" sz="1100" spc="5">
                <a:latin typeface="Cambria Math"/>
                <a:cs typeface="Cambria Math"/>
              </a:rPr>
              <a:t>$11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76629" y="8055990"/>
            <a:ext cx="21634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Price-earnings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 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defined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35348" y="8376030"/>
            <a:ext cx="96075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60">
                <a:latin typeface="Cambria Math"/>
                <a:cs typeface="Cambria Math"/>
              </a:rPr>
              <a:t>Price</a:t>
            </a:r>
            <a:r>
              <a:rPr dirty="0" sz="1000" spc="-55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Per</a:t>
            </a:r>
            <a:r>
              <a:rPr dirty="0" sz="1000" spc="-10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Share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23744" y="8467470"/>
            <a:ext cx="24936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Price-Earning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baseline="-38888" sz="1500" spc="97">
                <a:latin typeface="Cambria Math"/>
                <a:cs typeface="Cambria Math"/>
              </a:rPr>
              <a:t>Earnings</a:t>
            </a:r>
            <a:r>
              <a:rPr dirty="0" baseline="-38888" sz="1500" spc="15">
                <a:latin typeface="Cambria Math"/>
                <a:cs typeface="Cambria Math"/>
              </a:rPr>
              <a:t> </a:t>
            </a:r>
            <a:r>
              <a:rPr dirty="0" baseline="-38888" sz="1500" spc="82">
                <a:latin typeface="Cambria Math"/>
                <a:cs typeface="Cambria Math"/>
              </a:rPr>
              <a:t>per</a:t>
            </a:r>
            <a:r>
              <a:rPr dirty="0" baseline="-38888" sz="1500" spc="-37">
                <a:latin typeface="Cambria Math"/>
                <a:cs typeface="Cambria Math"/>
              </a:rPr>
              <a:t> </a:t>
            </a:r>
            <a:r>
              <a:rPr dirty="0" baseline="-38888" sz="1500" spc="89">
                <a:latin typeface="Cambria Math"/>
                <a:cs typeface="Cambria Math"/>
              </a:rPr>
              <a:t>share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96919" y="8567039"/>
            <a:ext cx="1235710" cy="9525"/>
          </a:xfrm>
          <a:custGeom>
            <a:avLst/>
            <a:gdLst/>
            <a:ahLst/>
            <a:cxnLst/>
            <a:rect l="l" t="t" r="r" b="b"/>
            <a:pathLst>
              <a:path w="1235710" h="9525">
                <a:moveTo>
                  <a:pt x="1235354" y="0"/>
                </a:moveTo>
                <a:lnTo>
                  <a:pt x="0" y="0"/>
                </a:lnTo>
                <a:lnTo>
                  <a:pt x="0" y="9143"/>
                </a:lnTo>
                <a:lnTo>
                  <a:pt x="1235354" y="9143"/>
                </a:lnTo>
                <a:lnTo>
                  <a:pt x="12353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634108" y="8710040"/>
            <a:ext cx="54102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A2Z,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25621" y="8874632"/>
            <a:ext cx="26797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40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88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796919" y="9065640"/>
            <a:ext cx="325120" cy="9525"/>
          </a:xfrm>
          <a:custGeom>
            <a:avLst/>
            <a:gdLst/>
            <a:ahLst/>
            <a:cxnLst/>
            <a:rect l="l" t="t" r="r" b="b"/>
            <a:pathLst>
              <a:path w="325120" h="9525">
                <a:moveTo>
                  <a:pt x="324916" y="0"/>
                </a:moveTo>
                <a:lnTo>
                  <a:pt x="0" y="0"/>
                </a:lnTo>
                <a:lnTo>
                  <a:pt x="0" y="9144"/>
                </a:lnTo>
                <a:lnTo>
                  <a:pt x="324916" y="9144"/>
                </a:lnTo>
                <a:lnTo>
                  <a:pt x="3249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523744" y="8966072"/>
            <a:ext cx="219456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Price-Earning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$</a:t>
            </a:r>
            <a:r>
              <a:rPr dirty="0" baseline="-38888" sz="1500" spc="-15">
                <a:latin typeface="Cambria Math"/>
                <a:cs typeface="Cambria Math"/>
              </a:rPr>
              <a:t> </a:t>
            </a:r>
            <a:r>
              <a:rPr dirty="0" baseline="-38888" sz="1500" spc="30">
                <a:latin typeface="Cambria Math"/>
                <a:cs typeface="Cambria Math"/>
              </a:rPr>
              <a:t>11 </a:t>
            </a:r>
            <a:r>
              <a:rPr dirty="0" baseline="-38888" sz="1500" spc="5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42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405508" y="9363861"/>
            <a:ext cx="426910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A2Z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eight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earnings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carries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8.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71722" y="2364612"/>
            <a:ext cx="1601470" cy="9525"/>
          </a:xfrm>
          <a:custGeom>
            <a:avLst/>
            <a:gdLst/>
            <a:ahLst/>
            <a:cxnLst/>
            <a:rect l="l" t="t" r="r" b="b"/>
            <a:pathLst>
              <a:path w="1601470" h="9525">
                <a:moveTo>
                  <a:pt x="1601089" y="0"/>
                </a:moveTo>
                <a:lnTo>
                  <a:pt x="0" y="0"/>
                </a:lnTo>
                <a:lnTo>
                  <a:pt x="0" y="9143"/>
                </a:lnTo>
                <a:lnTo>
                  <a:pt x="1601089" y="9143"/>
                </a:lnTo>
                <a:lnTo>
                  <a:pt x="16010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1229" y="431038"/>
            <a:ext cx="5761355" cy="2272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5481955" algn="l"/>
              </a:tabLst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95300" marR="41910" indent="-228600">
              <a:lnSpc>
                <a:spcPts val="1260"/>
              </a:lnSpc>
              <a:spcBef>
                <a:spcPts val="106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much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willing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pay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current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earnings,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higher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often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significant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prospects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10">
                <a:latin typeface="Garamond"/>
                <a:cs typeface="Garamond"/>
              </a:rPr>
              <a:t>future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growth.</a:t>
            </a:r>
            <a:endParaRPr sz="1100">
              <a:latin typeface="Garamond"/>
              <a:cs typeface="Garamond"/>
            </a:endParaRPr>
          </a:p>
          <a:p>
            <a:pPr marL="495300" marR="30480" indent="-228600">
              <a:lnSpc>
                <a:spcPts val="1260"/>
              </a:lnSpc>
              <a:spcBef>
                <a:spcPts val="11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had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almost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no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earnings,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probably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quite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large;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careful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interpretation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required.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Book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share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Garamond"/>
              <a:cs typeface="Garamond"/>
            </a:endParaRPr>
          </a:p>
          <a:p>
            <a:pPr algn="ctr" marL="276225">
              <a:lnSpc>
                <a:spcPct val="100000"/>
              </a:lnSpc>
            </a:pPr>
            <a:r>
              <a:rPr dirty="0" sz="1000" spc="55">
                <a:latin typeface="Cambria Math"/>
                <a:cs typeface="Cambria Math"/>
              </a:rPr>
              <a:t>Total</a:t>
            </a:r>
            <a:r>
              <a:rPr dirty="0" sz="1000" spc="-40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equity</a:t>
            </a:r>
            <a:endParaRPr sz="1000">
              <a:latin typeface="Cambria Math"/>
              <a:cs typeface="Cambria Math"/>
            </a:endParaRPr>
          </a:p>
          <a:p>
            <a:pPr marL="1410335">
              <a:lnSpc>
                <a:spcPts val="1255"/>
              </a:lnSpc>
              <a:spcBef>
                <a:spcPts val="250"/>
              </a:spcBef>
            </a:pPr>
            <a:r>
              <a:rPr dirty="0" baseline="35353" sz="1650">
                <a:latin typeface="Garamond"/>
                <a:cs typeface="Garamond"/>
              </a:rPr>
              <a:t>Book</a:t>
            </a:r>
            <a:r>
              <a:rPr dirty="0" baseline="35353" sz="1650" spc="30">
                <a:latin typeface="Garamond"/>
                <a:cs typeface="Garamond"/>
              </a:rPr>
              <a:t> </a:t>
            </a:r>
            <a:r>
              <a:rPr dirty="0" baseline="35353" sz="1650" spc="-7">
                <a:latin typeface="Garamond"/>
                <a:cs typeface="Garamond"/>
              </a:rPr>
              <a:t>Value</a:t>
            </a:r>
            <a:r>
              <a:rPr dirty="0" baseline="35353" sz="1650" spc="-37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419">
                <a:latin typeface="Garamond"/>
                <a:cs typeface="Garamond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No.of</a:t>
            </a:r>
            <a:r>
              <a:rPr dirty="0" sz="1000" spc="-40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shares</a:t>
            </a:r>
            <a:r>
              <a:rPr dirty="0" sz="1000" spc="5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outstanding</a:t>
            </a:r>
            <a:endParaRPr sz="1000">
              <a:latin typeface="Cambria Math"/>
              <a:cs typeface="Cambria Math"/>
            </a:endParaRPr>
          </a:p>
          <a:p>
            <a:pPr marL="495300">
              <a:lnSpc>
                <a:spcPts val="1255"/>
              </a:lnSpc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A2Z,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9144" y="2768345"/>
            <a:ext cx="7962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9878" y="2676905"/>
            <a:ext cx="43815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35">
                <a:latin typeface="Cambria Math"/>
                <a:cs typeface="Cambria Math"/>
              </a:rPr>
              <a:t> </a:t>
            </a:r>
            <a:r>
              <a:rPr dirty="0" sz="1000" spc="10">
                <a:latin typeface="Cambria Math"/>
                <a:cs typeface="Cambria Math"/>
              </a:rPr>
              <a:t>2,591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68751" y="2873501"/>
            <a:ext cx="17208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33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62578" y="2867913"/>
            <a:ext cx="407034" cy="9525"/>
          </a:xfrm>
          <a:custGeom>
            <a:avLst/>
            <a:gdLst/>
            <a:ahLst/>
            <a:cxnLst/>
            <a:rect l="l" t="t" r="r" b="b"/>
            <a:pathLst>
              <a:path w="407035" h="9525">
                <a:moveTo>
                  <a:pt x="406908" y="0"/>
                </a:moveTo>
                <a:lnTo>
                  <a:pt x="0" y="0"/>
                </a:lnTo>
                <a:lnTo>
                  <a:pt x="0" y="9144"/>
                </a:lnTo>
                <a:lnTo>
                  <a:pt x="406908" y="9144"/>
                </a:lnTo>
                <a:lnTo>
                  <a:pt x="4069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830192" y="2768345"/>
            <a:ext cx="44386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$78.5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6629" y="3138932"/>
            <a:ext cx="4267200" cy="8223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number,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reflects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historical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Market-to-Book</a:t>
            </a:r>
            <a:r>
              <a:rPr dirty="0" sz="1100" spc="-6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defined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49144" y="4017009"/>
            <a:ext cx="125857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Mark-to-Book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6222" y="3925570"/>
            <a:ext cx="14319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Market</a:t>
            </a:r>
            <a:r>
              <a:rPr dirty="0" sz="1000" spc="10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value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65">
                <a:latin typeface="Cambria Math"/>
                <a:cs typeface="Cambria Math"/>
              </a:rPr>
              <a:t>per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share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80484" y="4122165"/>
            <a:ext cx="130365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60">
                <a:latin typeface="Cambria Math"/>
                <a:cs typeface="Cambria Math"/>
              </a:rPr>
              <a:t>Book</a:t>
            </a:r>
            <a:r>
              <a:rPr dirty="0" sz="1000" spc="-35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value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65">
                <a:latin typeface="Cambria Math"/>
                <a:cs typeface="Cambria Math"/>
              </a:rPr>
              <a:t>per</a:t>
            </a:r>
            <a:r>
              <a:rPr dirty="0" sz="1000" spc="-30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share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28922" y="4116577"/>
            <a:ext cx="1409065" cy="9525"/>
          </a:xfrm>
          <a:custGeom>
            <a:avLst/>
            <a:gdLst/>
            <a:ahLst/>
            <a:cxnLst/>
            <a:rect l="l" t="t" r="r" b="b"/>
            <a:pathLst>
              <a:path w="1409064" h="9525">
                <a:moveTo>
                  <a:pt x="1409064" y="0"/>
                </a:moveTo>
                <a:lnTo>
                  <a:pt x="0" y="0"/>
                </a:lnTo>
                <a:lnTo>
                  <a:pt x="0" y="9144"/>
                </a:lnTo>
                <a:lnTo>
                  <a:pt x="1409064" y="9144"/>
                </a:lnTo>
                <a:lnTo>
                  <a:pt x="14090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634108" y="4259325"/>
            <a:ext cx="54102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A2Z,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66769" y="4423917"/>
            <a:ext cx="2635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$</a:t>
            </a:r>
            <a:r>
              <a:rPr dirty="0" sz="1000" spc="-15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88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28922" y="4615306"/>
            <a:ext cx="339090" cy="9525"/>
          </a:xfrm>
          <a:custGeom>
            <a:avLst/>
            <a:gdLst/>
            <a:ahLst/>
            <a:cxnLst/>
            <a:rect l="l" t="t" r="r" b="b"/>
            <a:pathLst>
              <a:path w="339089" h="9525">
                <a:moveTo>
                  <a:pt x="338632" y="0"/>
                </a:moveTo>
                <a:lnTo>
                  <a:pt x="0" y="0"/>
                </a:lnTo>
                <a:lnTo>
                  <a:pt x="0" y="9144"/>
                </a:lnTo>
                <a:lnTo>
                  <a:pt x="338632" y="9144"/>
                </a:lnTo>
                <a:lnTo>
                  <a:pt x="3386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523744" y="4515738"/>
            <a:ext cx="24009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Mark-to-Book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baseline="-38888" sz="1500" spc="15">
                <a:latin typeface="Cambria Math"/>
                <a:cs typeface="Cambria Math"/>
              </a:rPr>
              <a:t>$78.5</a:t>
            </a:r>
            <a:r>
              <a:rPr dirty="0" baseline="-38888" sz="1500" spc="7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1.12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57272" y="7057643"/>
            <a:ext cx="805815" cy="9525"/>
          </a:xfrm>
          <a:custGeom>
            <a:avLst/>
            <a:gdLst/>
            <a:ahLst/>
            <a:cxnLst/>
            <a:rect l="l" t="t" r="r" b="b"/>
            <a:pathLst>
              <a:path w="805814" h="9525">
                <a:moveTo>
                  <a:pt x="805281" y="0"/>
                </a:moveTo>
                <a:lnTo>
                  <a:pt x="0" y="0"/>
                </a:lnTo>
                <a:lnTo>
                  <a:pt x="0" y="9144"/>
                </a:lnTo>
                <a:lnTo>
                  <a:pt x="805281" y="9144"/>
                </a:lnTo>
                <a:lnTo>
                  <a:pt x="8052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57272" y="7857997"/>
            <a:ext cx="805815" cy="9525"/>
          </a:xfrm>
          <a:custGeom>
            <a:avLst/>
            <a:gdLst/>
            <a:ahLst/>
            <a:cxnLst/>
            <a:rect l="l" t="t" r="r" b="b"/>
            <a:pathLst>
              <a:path w="805814" h="9525">
                <a:moveTo>
                  <a:pt x="805281" y="0"/>
                </a:moveTo>
                <a:lnTo>
                  <a:pt x="0" y="0"/>
                </a:lnTo>
                <a:lnTo>
                  <a:pt x="0" y="9144"/>
                </a:lnTo>
                <a:lnTo>
                  <a:pt x="805281" y="9144"/>
                </a:lnTo>
                <a:lnTo>
                  <a:pt x="8052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559175" y="7857997"/>
            <a:ext cx="805815" cy="9525"/>
          </a:xfrm>
          <a:custGeom>
            <a:avLst/>
            <a:gdLst/>
            <a:ahLst/>
            <a:cxnLst/>
            <a:rect l="l" t="t" r="r" b="b"/>
            <a:pathLst>
              <a:path w="805814" h="9525">
                <a:moveTo>
                  <a:pt x="805281" y="0"/>
                </a:moveTo>
                <a:lnTo>
                  <a:pt x="0" y="0"/>
                </a:lnTo>
                <a:lnTo>
                  <a:pt x="0" y="9144"/>
                </a:lnTo>
                <a:lnTo>
                  <a:pt x="805281" y="9144"/>
                </a:lnTo>
                <a:lnTo>
                  <a:pt x="8052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25829" y="4918074"/>
            <a:ext cx="5808980" cy="3127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20700" indent="-22923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market-to-Book</a:t>
            </a:r>
            <a:r>
              <a:rPr dirty="0" sz="1100" spc="-5">
                <a:latin typeface="Garamond"/>
                <a:cs typeface="Garamond"/>
              </a:rPr>
              <a:t> ratio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their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costs.</a:t>
            </a:r>
            <a:endParaRPr sz="1100">
              <a:latin typeface="Garamond"/>
              <a:cs typeface="Garamond"/>
            </a:endParaRPr>
          </a:p>
          <a:p>
            <a:pPr marL="520700" marR="6096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could </a:t>
            </a:r>
            <a:r>
              <a:rPr dirty="0" sz="1100">
                <a:latin typeface="Garamond"/>
                <a:cs typeface="Garamond"/>
              </a:rPr>
              <a:t>mean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successful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overall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creating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stockholders.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635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Du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Pont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Identity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20700" marR="57150" indent="-228600">
              <a:lnSpc>
                <a:spcPts val="1260"/>
              </a:lnSpc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difference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two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profitability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measures,</a:t>
            </a:r>
            <a:r>
              <a:rPr dirty="0" sz="1100">
                <a:latin typeface="Garamond"/>
                <a:cs typeface="Garamond"/>
              </a:rPr>
              <a:t> ROA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ROE,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use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debt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leverage.</a:t>
            </a:r>
            <a:endParaRPr sz="1100">
              <a:latin typeface="Garamond"/>
              <a:cs typeface="Garamond"/>
            </a:endParaRPr>
          </a:p>
          <a:p>
            <a:pPr marL="520700" marR="558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relationship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illustrated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decomposing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ROE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into</a:t>
            </a:r>
            <a:r>
              <a:rPr dirty="0" sz="1100" spc="2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component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Garamond"/>
              <a:cs typeface="Garamond"/>
            </a:endParaRPr>
          </a:p>
          <a:p>
            <a:pPr marL="63500">
              <a:lnSpc>
                <a:spcPts val="1285"/>
              </a:lnSpc>
            </a:pPr>
            <a:r>
              <a:rPr dirty="0" sz="1100">
                <a:latin typeface="Garamond"/>
                <a:cs typeface="Garamond"/>
              </a:rPr>
              <a:t>Recall,</a:t>
            </a:r>
            <a:endParaRPr sz="1100">
              <a:latin typeface="Garamond"/>
              <a:cs typeface="Garamond"/>
            </a:endParaRPr>
          </a:p>
          <a:p>
            <a:pPr marL="1485900">
              <a:lnSpc>
                <a:spcPts val="1165"/>
              </a:lnSpc>
            </a:pPr>
            <a:r>
              <a:rPr dirty="0" sz="1000" spc="70">
                <a:latin typeface="Cambria Math"/>
                <a:cs typeface="Cambria Math"/>
              </a:rPr>
              <a:t>N</a:t>
            </a:r>
            <a:r>
              <a:rPr dirty="0" sz="1000" spc="45">
                <a:latin typeface="Cambria Math"/>
                <a:cs typeface="Cambria Math"/>
              </a:rPr>
              <a:t>e</a:t>
            </a:r>
            <a:r>
              <a:rPr dirty="0" sz="1000" spc="55">
                <a:latin typeface="Cambria Math"/>
                <a:cs typeface="Cambria Math"/>
              </a:rPr>
              <a:t>t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30">
                <a:latin typeface="Cambria Math"/>
                <a:cs typeface="Cambria Math"/>
              </a:rPr>
              <a:t>I</a:t>
            </a:r>
            <a:r>
              <a:rPr dirty="0" sz="1000" spc="85">
                <a:latin typeface="Cambria Math"/>
                <a:cs typeface="Cambria Math"/>
              </a:rPr>
              <a:t>n</a:t>
            </a:r>
            <a:r>
              <a:rPr dirty="0" sz="1000" spc="60">
                <a:latin typeface="Cambria Math"/>
                <a:cs typeface="Cambria Math"/>
              </a:rPr>
              <a:t>c</a:t>
            </a:r>
            <a:r>
              <a:rPr dirty="0" sz="1000" spc="75">
                <a:latin typeface="Cambria Math"/>
                <a:cs typeface="Cambria Math"/>
              </a:rPr>
              <a:t>o</a:t>
            </a:r>
            <a:r>
              <a:rPr dirty="0" sz="1000" spc="80">
                <a:latin typeface="Cambria Math"/>
                <a:cs typeface="Cambria Math"/>
              </a:rPr>
              <a:t>me</a:t>
            </a:r>
            <a:endParaRPr sz="1000">
              <a:latin typeface="Cambria Math"/>
              <a:cs typeface="Cambria Math"/>
            </a:endParaRPr>
          </a:p>
          <a:p>
            <a:pPr marL="978535">
              <a:lnSpc>
                <a:spcPct val="100000"/>
              </a:lnSpc>
              <a:spcBef>
                <a:spcPts val="245"/>
              </a:spcBef>
            </a:pPr>
            <a:r>
              <a:rPr dirty="0" baseline="35353" sz="1650">
                <a:latin typeface="Garamond"/>
                <a:cs typeface="Garamond"/>
              </a:rPr>
              <a:t>ROE</a:t>
            </a:r>
            <a:r>
              <a:rPr dirty="0" baseline="35353" sz="1650" spc="-37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262">
                <a:latin typeface="Garamond"/>
                <a:cs typeface="Garamond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Total</a:t>
            </a:r>
            <a:r>
              <a:rPr dirty="0" sz="1000" spc="-15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Equity</a:t>
            </a:r>
            <a:endParaRPr sz="1000">
              <a:latin typeface="Cambria Math"/>
              <a:cs typeface="Cambria Math"/>
            </a:endParaRPr>
          </a:p>
          <a:p>
            <a:pPr marL="978535">
              <a:lnSpc>
                <a:spcPct val="100000"/>
              </a:lnSpc>
              <a:spcBef>
                <a:spcPts val="1095"/>
              </a:spcBef>
            </a:pPr>
            <a:r>
              <a:rPr dirty="0" sz="1100">
                <a:latin typeface="Garamond"/>
                <a:cs typeface="Garamond"/>
              </a:rPr>
              <a:t>Multiplying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5">
                <a:latin typeface="Garamond"/>
                <a:cs typeface="Garamond"/>
              </a:rPr>
              <a:t>(without </a:t>
            </a:r>
            <a:r>
              <a:rPr dirty="0" sz="1100">
                <a:latin typeface="Garamond"/>
                <a:cs typeface="Garamond"/>
              </a:rPr>
              <a:t>changing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anything)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aramond"/>
              <a:cs typeface="Garamond"/>
            </a:endParaRPr>
          </a:p>
          <a:p>
            <a:pPr marL="1485900">
              <a:lnSpc>
                <a:spcPct val="100000"/>
              </a:lnSpc>
              <a:tabLst>
                <a:tab pos="2487930" algn="l"/>
                <a:tab pos="3471545" algn="l"/>
              </a:tabLst>
            </a:pPr>
            <a:r>
              <a:rPr dirty="0" sz="1000" spc="55">
                <a:latin typeface="Cambria Math"/>
                <a:cs typeface="Cambria Math"/>
              </a:rPr>
              <a:t>Net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70">
                <a:latin typeface="Cambria Math"/>
                <a:cs typeface="Cambria Math"/>
              </a:rPr>
              <a:t>Income	</a:t>
            </a:r>
            <a:r>
              <a:rPr dirty="0" sz="1000" spc="55">
                <a:latin typeface="Cambria Math"/>
                <a:cs typeface="Cambria Math"/>
              </a:rPr>
              <a:t>Net</a:t>
            </a:r>
            <a:r>
              <a:rPr dirty="0" sz="1000">
                <a:latin typeface="Cambria Math"/>
                <a:cs typeface="Cambria Math"/>
              </a:rPr>
              <a:t> </a:t>
            </a:r>
            <a:r>
              <a:rPr dirty="0" sz="1000" spc="70">
                <a:latin typeface="Cambria Math"/>
                <a:cs typeface="Cambria Math"/>
              </a:rPr>
              <a:t>Income	</a:t>
            </a:r>
            <a:r>
              <a:rPr dirty="0" sz="1000" spc="30">
                <a:latin typeface="Cambria Math"/>
                <a:cs typeface="Cambria Math"/>
              </a:rPr>
              <a:t>𝐴𝑠𝑠𝑒𝑡𝑠</a:t>
            </a:r>
            <a:endParaRPr sz="1000">
              <a:latin typeface="Cambria Math"/>
              <a:cs typeface="Cambria Math"/>
            </a:endParaRPr>
          </a:p>
          <a:p>
            <a:pPr marL="978535">
              <a:lnSpc>
                <a:spcPct val="100000"/>
              </a:lnSpc>
              <a:spcBef>
                <a:spcPts val="250"/>
              </a:spcBef>
            </a:pPr>
            <a:r>
              <a:rPr dirty="0" baseline="35353" sz="1650">
                <a:latin typeface="Garamond"/>
                <a:cs typeface="Garamond"/>
              </a:rPr>
              <a:t>ROE</a:t>
            </a:r>
            <a:r>
              <a:rPr dirty="0" baseline="35353" sz="1650" spc="-15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307">
                <a:latin typeface="Garamond"/>
                <a:cs typeface="Garamond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Total</a:t>
            </a:r>
            <a:r>
              <a:rPr dirty="0" sz="1000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Equity </a:t>
            </a:r>
            <a:r>
              <a:rPr dirty="0" sz="1000" spc="254">
                <a:latin typeface="Cambria Math"/>
                <a:cs typeface="Cambria Math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307">
                <a:latin typeface="Garamond"/>
                <a:cs typeface="Garamond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Total</a:t>
            </a:r>
            <a:r>
              <a:rPr dirty="0" sz="1000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Equity </a:t>
            </a:r>
            <a:r>
              <a:rPr dirty="0" sz="1000" spc="290">
                <a:latin typeface="Cambria Math"/>
                <a:cs typeface="Cambria Math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×</a:t>
            </a:r>
            <a:r>
              <a:rPr dirty="0" baseline="35353" sz="1650" spc="352">
                <a:latin typeface="Garamond"/>
                <a:cs typeface="Garamond"/>
              </a:rPr>
              <a:t> </a:t>
            </a:r>
            <a:r>
              <a:rPr dirty="0" sz="1000" spc="30">
                <a:latin typeface="Cambria Math"/>
                <a:cs typeface="Cambria Math"/>
              </a:rPr>
              <a:t>𝐴𝑠𝑠𝑒𝑡𝑠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97653" y="7857997"/>
            <a:ext cx="398145" cy="9525"/>
          </a:xfrm>
          <a:custGeom>
            <a:avLst/>
            <a:gdLst/>
            <a:ahLst/>
            <a:cxnLst/>
            <a:rect l="l" t="t" r="r" b="b"/>
            <a:pathLst>
              <a:path w="398145" h="9525">
                <a:moveTo>
                  <a:pt x="398068" y="0"/>
                </a:moveTo>
                <a:lnTo>
                  <a:pt x="0" y="0"/>
                </a:lnTo>
                <a:lnTo>
                  <a:pt x="0" y="9144"/>
                </a:lnTo>
                <a:lnTo>
                  <a:pt x="398068" y="9144"/>
                </a:lnTo>
                <a:lnTo>
                  <a:pt x="3980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091689" y="8248015"/>
            <a:ext cx="445134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71572" y="8347582"/>
            <a:ext cx="695960" cy="9525"/>
          </a:xfrm>
          <a:custGeom>
            <a:avLst/>
            <a:gdLst/>
            <a:ahLst/>
            <a:cxnLst/>
            <a:rect l="l" t="t" r="r" b="b"/>
            <a:pathLst>
              <a:path w="695960" h="9525">
                <a:moveTo>
                  <a:pt x="695553" y="0"/>
                </a:moveTo>
                <a:lnTo>
                  <a:pt x="0" y="0"/>
                </a:lnTo>
                <a:lnTo>
                  <a:pt x="0" y="9144"/>
                </a:lnTo>
                <a:lnTo>
                  <a:pt x="695553" y="9144"/>
                </a:lnTo>
                <a:lnTo>
                  <a:pt x="6955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2633472" y="8130145"/>
            <a:ext cx="1807845" cy="40513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88595" marR="43180" indent="-151130">
              <a:lnSpc>
                <a:spcPct val="120700"/>
              </a:lnSpc>
              <a:spcBef>
                <a:spcPts val="65"/>
              </a:spcBef>
              <a:tabLst>
                <a:tab pos="802005" algn="l"/>
                <a:tab pos="1163320" algn="l"/>
              </a:tabLst>
            </a:pPr>
            <a:r>
              <a:rPr dirty="0" sz="1000" spc="55">
                <a:latin typeface="Cambria Math"/>
                <a:cs typeface="Cambria Math"/>
              </a:rPr>
              <a:t>Net</a:t>
            </a:r>
            <a:r>
              <a:rPr dirty="0" sz="1000" spc="15">
                <a:latin typeface="Cambria Math"/>
                <a:cs typeface="Cambria Math"/>
              </a:rPr>
              <a:t> </a:t>
            </a:r>
            <a:r>
              <a:rPr dirty="0" sz="1000" spc="70">
                <a:latin typeface="Cambria Math"/>
                <a:cs typeface="Cambria Math"/>
              </a:rPr>
              <a:t>Income		</a:t>
            </a:r>
            <a:r>
              <a:rPr dirty="0" sz="1000" spc="30">
                <a:latin typeface="Cambria Math"/>
                <a:cs typeface="Cambria Math"/>
              </a:rPr>
              <a:t>𝐴𝑠𝑠𝑒𝑡𝑠 </a:t>
            </a:r>
            <a:r>
              <a:rPr dirty="0" sz="1000" spc="35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Assets	</a:t>
            </a:r>
            <a:r>
              <a:rPr dirty="0" baseline="35353" sz="1650" spc="15">
                <a:latin typeface="Garamond"/>
                <a:cs typeface="Garamond"/>
              </a:rPr>
              <a:t>×</a:t>
            </a:r>
            <a:r>
              <a:rPr dirty="0" baseline="35353" sz="1650" spc="345">
                <a:latin typeface="Garamond"/>
                <a:cs typeface="Garamond"/>
              </a:rPr>
              <a:t> </a:t>
            </a:r>
            <a:r>
              <a:rPr dirty="0" sz="1000" spc="35">
                <a:latin typeface="Cambria Math"/>
                <a:cs typeface="Cambria Math"/>
              </a:rPr>
              <a:t>𝑇𝑜𝑡𝑎𝑙</a:t>
            </a:r>
            <a:r>
              <a:rPr dirty="0" sz="1000" spc="45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𝐸𝑞𝑢i𝑡𝑦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600322" y="8347582"/>
            <a:ext cx="791845" cy="9525"/>
          </a:xfrm>
          <a:custGeom>
            <a:avLst/>
            <a:gdLst/>
            <a:ahLst/>
            <a:cxnLst/>
            <a:rect l="l" t="t" r="r" b="b"/>
            <a:pathLst>
              <a:path w="791845" h="9525">
                <a:moveTo>
                  <a:pt x="791565" y="0"/>
                </a:moveTo>
                <a:lnTo>
                  <a:pt x="0" y="0"/>
                </a:lnTo>
                <a:lnTo>
                  <a:pt x="0" y="9144"/>
                </a:lnTo>
                <a:lnTo>
                  <a:pt x="791565" y="9144"/>
                </a:lnTo>
                <a:lnTo>
                  <a:pt x="7915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176629" y="8645778"/>
            <a:ext cx="5043170" cy="6667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expressed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ratios;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ROA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multiplier.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927735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ROA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Multiplier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ROA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Debt-Equity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35166" y="714501"/>
            <a:ext cx="78994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11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57272" y="2387472"/>
            <a:ext cx="805815" cy="9525"/>
          </a:xfrm>
          <a:custGeom>
            <a:avLst/>
            <a:gdLst/>
            <a:ahLst/>
            <a:cxnLst/>
            <a:rect l="l" t="t" r="r" b="b"/>
            <a:pathLst>
              <a:path w="805814" h="9525">
                <a:moveTo>
                  <a:pt x="805281" y="0"/>
                </a:moveTo>
                <a:lnTo>
                  <a:pt x="0" y="0"/>
                </a:lnTo>
                <a:lnTo>
                  <a:pt x="0" y="9144"/>
                </a:lnTo>
                <a:lnTo>
                  <a:pt x="805281" y="9144"/>
                </a:lnTo>
                <a:lnTo>
                  <a:pt x="8052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57272" y="3192779"/>
            <a:ext cx="805815" cy="9525"/>
          </a:xfrm>
          <a:custGeom>
            <a:avLst/>
            <a:gdLst/>
            <a:ahLst/>
            <a:cxnLst/>
            <a:rect l="l" t="t" r="r" b="b"/>
            <a:pathLst>
              <a:path w="805814" h="9525">
                <a:moveTo>
                  <a:pt x="805281" y="0"/>
                </a:moveTo>
                <a:lnTo>
                  <a:pt x="0" y="0"/>
                </a:lnTo>
                <a:lnTo>
                  <a:pt x="0" y="9144"/>
                </a:lnTo>
                <a:lnTo>
                  <a:pt x="805281" y="9144"/>
                </a:lnTo>
                <a:lnTo>
                  <a:pt x="8052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59175" y="3192779"/>
            <a:ext cx="805815" cy="9525"/>
          </a:xfrm>
          <a:custGeom>
            <a:avLst/>
            <a:gdLst/>
            <a:ahLst/>
            <a:cxnLst/>
            <a:rect l="l" t="t" r="r" b="b"/>
            <a:pathLst>
              <a:path w="805814" h="9525">
                <a:moveTo>
                  <a:pt x="805281" y="0"/>
                </a:moveTo>
                <a:lnTo>
                  <a:pt x="0" y="0"/>
                </a:lnTo>
                <a:lnTo>
                  <a:pt x="0" y="9144"/>
                </a:lnTo>
                <a:lnTo>
                  <a:pt x="805281" y="9144"/>
                </a:lnTo>
                <a:lnTo>
                  <a:pt x="8052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54708" y="883665"/>
            <a:ext cx="5580380" cy="24968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264795">
              <a:lnSpc>
                <a:spcPct val="100000"/>
              </a:lnSpc>
              <a:spcBef>
                <a:spcPts val="135"/>
              </a:spcBef>
            </a:pPr>
            <a:r>
              <a:rPr dirty="0" sz="1150" spc="35" b="1">
                <a:latin typeface="Garamond"/>
                <a:cs typeface="Garamond"/>
              </a:rPr>
              <a:t>THE</a:t>
            </a:r>
            <a:r>
              <a:rPr dirty="0" sz="1150" spc="-2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DU-PONT</a:t>
            </a:r>
            <a:r>
              <a:rPr dirty="0" sz="1150" spc="35" b="1">
                <a:latin typeface="Garamond"/>
                <a:cs typeface="Garamond"/>
              </a:rPr>
              <a:t> </a:t>
            </a:r>
            <a:r>
              <a:rPr dirty="0" sz="1150" spc="20" b="1">
                <a:latin typeface="Garamond"/>
                <a:cs typeface="Garamond"/>
              </a:rPr>
              <a:t>IDENTITY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291465" marR="57785" indent="-228600">
              <a:lnSpc>
                <a:spcPts val="1260"/>
              </a:lnSpc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difference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two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profitability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measures,</a:t>
            </a:r>
            <a:r>
              <a:rPr dirty="0" sz="1100">
                <a:latin typeface="Garamond"/>
                <a:cs typeface="Garamond"/>
              </a:rPr>
              <a:t> ROA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ROE,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use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debt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leverage.</a:t>
            </a:r>
            <a:endParaRPr sz="1100">
              <a:latin typeface="Garamond"/>
              <a:cs typeface="Garamond"/>
            </a:endParaRPr>
          </a:p>
          <a:p>
            <a:pPr marL="291465" marR="5588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relationship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illustrated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decomposing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ROE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into</a:t>
            </a:r>
            <a:r>
              <a:rPr dirty="0" sz="1100" spc="2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component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Garamond"/>
              <a:cs typeface="Garamond"/>
            </a:endParaRPr>
          </a:p>
          <a:p>
            <a:pPr marL="63500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Recall,</a:t>
            </a:r>
            <a:endParaRPr sz="1100">
              <a:latin typeface="Garamond"/>
              <a:cs typeface="Garamond"/>
            </a:endParaRPr>
          </a:p>
          <a:p>
            <a:pPr marL="1257300">
              <a:lnSpc>
                <a:spcPts val="1150"/>
              </a:lnSpc>
            </a:pPr>
            <a:r>
              <a:rPr dirty="0" sz="1000" spc="70">
                <a:latin typeface="Cambria Math"/>
                <a:cs typeface="Cambria Math"/>
              </a:rPr>
              <a:t>N</a:t>
            </a:r>
            <a:r>
              <a:rPr dirty="0" sz="1000" spc="45">
                <a:latin typeface="Cambria Math"/>
                <a:cs typeface="Cambria Math"/>
              </a:rPr>
              <a:t>e</a:t>
            </a:r>
            <a:r>
              <a:rPr dirty="0" sz="1000" spc="55">
                <a:latin typeface="Cambria Math"/>
                <a:cs typeface="Cambria Math"/>
              </a:rPr>
              <a:t>t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30">
                <a:latin typeface="Cambria Math"/>
                <a:cs typeface="Cambria Math"/>
              </a:rPr>
              <a:t>I</a:t>
            </a:r>
            <a:r>
              <a:rPr dirty="0" sz="1000" spc="85">
                <a:latin typeface="Cambria Math"/>
                <a:cs typeface="Cambria Math"/>
              </a:rPr>
              <a:t>n</a:t>
            </a:r>
            <a:r>
              <a:rPr dirty="0" sz="1000" spc="60">
                <a:latin typeface="Cambria Math"/>
                <a:cs typeface="Cambria Math"/>
              </a:rPr>
              <a:t>c</a:t>
            </a:r>
            <a:r>
              <a:rPr dirty="0" sz="1000" spc="75">
                <a:latin typeface="Cambria Math"/>
                <a:cs typeface="Cambria Math"/>
              </a:rPr>
              <a:t>o</a:t>
            </a:r>
            <a:r>
              <a:rPr dirty="0" sz="1000" spc="80">
                <a:latin typeface="Cambria Math"/>
                <a:cs typeface="Cambria Math"/>
              </a:rPr>
              <a:t>me</a:t>
            </a:r>
            <a:endParaRPr sz="1000">
              <a:latin typeface="Cambria Math"/>
              <a:cs typeface="Cambria Math"/>
            </a:endParaRPr>
          </a:p>
          <a:p>
            <a:pPr marL="749300">
              <a:lnSpc>
                <a:spcPct val="100000"/>
              </a:lnSpc>
              <a:spcBef>
                <a:spcPts val="250"/>
              </a:spcBef>
            </a:pPr>
            <a:r>
              <a:rPr dirty="0" baseline="35353" sz="1650">
                <a:latin typeface="Garamond"/>
                <a:cs typeface="Garamond"/>
              </a:rPr>
              <a:t>ROE</a:t>
            </a:r>
            <a:r>
              <a:rPr dirty="0" baseline="35353" sz="1650" spc="-37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262">
                <a:latin typeface="Garamond"/>
                <a:cs typeface="Garamond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Total</a:t>
            </a:r>
            <a:r>
              <a:rPr dirty="0" sz="1000" spc="-15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Equity</a:t>
            </a:r>
            <a:endParaRPr sz="1000">
              <a:latin typeface="Cambria Math"/>
              <a:cs typeface="Cambria Math"/>
            </a:endParaRPr>
          </a:p>
          <a:p>
            <a:pPr marL="749300">
              <a:lnSpc>
                <a:spcPct val="100000"/>
              </a:lnSpc>
              <a:spcBef>
                <a:spcPts val="1095"/>
              </a:spcBef>
            </a:pPr>
            <a:r>
              <a:rPr dirty="0" sz="1100">
                <a:latin typeface="Garamond"/>
                <a:cs typeface="Garamond"/>
              </a:rPr>
              <a:t>Multiplying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5">
                <a:latin typeface="Garamond"/>
                <a:cs typeface="Garamond"/>
              </a:rPr>
              <a:t>(without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changing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anything)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Garamond"/>
              <a:cs typeface="Garamond"/>
            </a:endParaRPr>
          </a:p>
          <a:p>
            <a:pPr marL="1257300">
              <a:lnSpc>
                <a:spcPct val="100000"/>
              </a:lnSpc>
              <a:tabLst>
                <a:tab pos="2258695" algn="l"/>
                <a:tab pos="3242310" algn="l"/>
              </a:tabLst>
            </a:pPr>
            <a:r>
              <a:rPr dirty="0" sz="1000" spc="55">
                <a:latin typeface="Cambria Math"/>
                <a:cs typeface="Cambria Math"/>
              </a:rPr>
              <a:t>Net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70">
                <a:latin typeface="Cambria Math"/>
                <a:cs typeface="Cambria Math"/>
              </a:rPr>
              <a:t>Income	</a:t>
            </a:r>
            <a:r>
              <a:rPr dirty="0" sz="1000" spc="55">
                <a:latin typeface="Cambria Math"/>
                <a:cs typeface="Cambria Math"/>
              </a:rPr>
              <a:t>Net</a:t>
            </a:r>
            <a:r>
              <a:rPr dirty="0" sz="1000">
                <a:latin typeface="Cambria Math"/>
                <a:cs typeface="Cambria Math"/>
              </a:rPr>
              <a:t> </a:t>
            </a:r>
            <a:r>
              <a:rPr dirty="0" sz="1000" spc="70">
                <a:latin typeface="Cambria Math"/>
                <a:cs typeface="Cambria Math"/>
              </a:rPr>
              <a:t>Income	</a:t>
            </a:r>
            <a:r>
              <a:rPr dirty="0" sz="1000" spc="30">
                <a:latin typeface="Cambria Math"/>
                <a:cs typeface="Cambria Math"/>
              </a:rPr>
              <a:t>𝐴𝑠𝑠𝑒𝑡𝑠</a:t>
            </a:r>
            <a:endParaRPr sz="1000">
              <a:latin typeface="Cambria Math"/>
              <a:cs typeface="Cambria Math"/>
            </a:endParaRPr>
          </a:p>
          <a:p>
            <a:pPr marL="749300">
              <a:lnSpc>
                <a:spcPct val="100000"/>
              </a:lnSpc>
              <a:spcBef>
                <a:spcPts val="250"/>
              </a:spcBef>
            </a:pPr>
            <a:r>
              <a:rPr dirty="0" baseline="35353" sz="1650">
                <a:latin typeface="Garamond"/>
                <a:cs typeface="Garamond"/>
              </a:rPr>
              <a:t>ROE</a:t>
            </a:r>
            <a:r>
              <a:rPr dirty="0" baseline="35353" sz="1650" spc="-15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307">
                <a:latin typeface="Garamond"/>
                <a:cs typeface="Garamond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Total</a:t>
            </a:r>
            <a:r>
              <a:rPr dirty="0" sz="1000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Equity </a:t>
            </a:r>
            <a:r>
              <a:rPr dirty="0" sz="1000" spc="254">
                <a:latin typeface="Cambria Math"/>
                <a:cs typeface="Cambria Math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307">
                <a:latin typeface="Garamond"/>
                <a:cs typeface="Garamond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Total</a:t>
            </a:r>
            <a:r>
              <a:rPr dirty="0" sz="1000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Equity </a:t>
            </a:r>
            <a:r>
              <a:rPr dirty="0" sz="1000" spc="290">
                <a:latin typeface="Cambria Math"/>
                <a:cs typeface="Cambria Math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×</a:t>
            </a:r>
            <a:r>
              <a:rPr dirty="0" baseline="35353" sz="1650" spc="352">
                <a:latin typeface="Garamond"/>
                <a:cs typeface="Garamond"/>
              </a:rPr>
              <a:t> </a:t>
            </a:r>
            <a:r>
              <a:rPr dirty="0" sz="1000" spc="30">
                <a:latin typeface="Cambria Math"/>
                <a:cs typeface="Cambria Math"/>
              </a:rPr>
              <a:t>𝐴𝑠𝑠𝑒𝑡𝑠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97653" y="3192779"/>
            <a:ext cx="398145" cy="9525"/>
          </a:xfrm>
          <a:custGeom>
            <a:avLst/>
            <a:gdLst/>
            <a:ahLst/>
            <a:cxnLst/>
            <a:rect l="l" t="t" r="r" b="b"/>
            <a:pathLst>
              <a:path w="398145" h="9525">
                <a:moveTo>
                  <a:pt x="398068" y="0"/>
                </a:moveTo>
                <a:lnTo>
                  <a:pt x="0" y="0"/>
                </a:lnTo>
                <a:lnTo>
                  <a:pt x="0" y="9144"/>
                </a:lnTo>
                <a:lnTo>
                  <a:pt x="398068" y="9144"/>
                </a:lnTo>
                <a:lnTo>
                  <a:pt x="3980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091689" y="3582415"/>
            <a:ext cx="445134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671572" y="3681983"/>
            <a:ext cx="695960" cy="9525"/>
          </a:xfrm>
          <a:custGeom>
            <a:avLst/>
            <a:gdLst/>
            <a:ahLst/>
            <a:cxnLst/>
            <a:rect l="l" t="t" r="r" b="b"/>
            <a:pathLst>
              <a:path w="695960" h="9525">
                <a:moveTo>
                  <a:pt x="695553" y="0"/>
                </a:moveTo>
                <a:lnTo>
                  <a:pt x="0" y="0"/>
                </a:lnTo>
                <a:lnTo>
                  <a:pt x="0" y="9144"/>
                </a:lnTo>
                <a:lnTo>
                  <a:pt x="695553" y="9144"/>
                </a:lnTo>
                <a:lnTo>
                  <a:pt x="6955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00322" y="3681983"/>
            <a:ext cx="791845" cy="9525"/>
          </a:xfrm>
          <a:custGeom>
            <a:avLst/>
            <a:gdLst/>
            <a:ahLst/>
            <a:cxnLst/>
            <a:rect l="l" t="t" r="r" b="b"/>
            <a:pathLst>
              <a:path w="791845" h="9525">
                <a:moveTo>
                  <a:pt x="791565" y="0"/>
                </a:moveTo>
                <a:lnTo>
                  <a:pt x="0" y="0"/>
                </a:lnTo>
                <a:lnTo>
                  <a:pt x="0" y="9144"/>
                </a:lnTo>
                <a:lnTo>
                  <a:pt x="791565" y="9144"/>
                </a:lnTo>
                <a:lnTo>
                  <a:pt x="7915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091689" y="4067301"/>
            <a:ext cx="445134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662427" y="4166869"/>
            <a:ext cx="695960" cy="9525"/>
          </a:xfrm>
          <a:custGeom>
            <a:avLst/>
            <a:gdLst/>
            <a:ahLst/>
            <a:cxnLst/>
            <a:rect l="l" t="t" r="r" b="b"/>
            <a:pathLst>
              <a:path w="695960" h="9525">
                <a:moveTo>
                  <a:pt x="695553" y="0"/>
                </a:moveTo>
                <a:lnTo>
                  <a:pt x="0" y="0"/>
                </a:lnTo>
                <a:lnTo>
                  <a:pt x="0" y="9144"/>
                </a:lnTo>
                <a:lnTo>
                  <a:pt x="695553" y="9144"/>
                </a:lnTo>
                <a:lnTo>
                  <a:pt x="6955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608072" y="3464545"/>
            <a:ext cx="1858645" cy="890269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213995" marR="68580" indent="-151130">
              <a:lnSpc>
                <a:spcPct val="120700"/>
              </a:lnSpc>
              <a:spcBef>
                <a:spcPts val="65"/>
              </a:spcBef>
              <a:tabLst>
                <a:tab pos="827405" algn="l"/>
                <a:tab pos="1188720" algn="l"/>
              </a:tabLst>
            </a:pPr>
            <a:r>
              <a:rPr dirty="0" sz="1000" spc="55">
                <a:latin typeface="Cambria Math"/>
                <a:cs typeface="Cambria Math"/>
              </a:rPr>
              <a:t>Net</a:t>
            </a:r>
            <a:r>
              <a:rPr dirty="0" sz="1000" spc="15">
                <a:latin typeface="Cambria Math"/>
                <a:cs typeface="Cambria Math"/>
              </a:rPr>
              <a:t> </a:t>
            </a:r>
            <a:r>
              <a:rPr dirty="0" sz="1000" spc="70">
                <a:latin typeface="Cambria Math"/>
                <a:cs typeface="Cambria Math"/>
              </a:rPr>
              <a:t>Income		</a:t>
            </a:r>
            <a:r>
              <a:rPr dirty="0" sz="1000" spc="30">
                <a:latin typeface="Cambria Math"/>
                <a:cs typeface="Cambria Math"/>
              </a:rPr>
              <a:t>𝐴𝑠𝑠𝑒𝑡𝑠 </a:t>
            </a:r>
            <a:r>
              <a:rPr dirty="0" sz="1000" spc="35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Assets	</a:t>
            </a:r>
            <a:r>
              <a:rPr dirty="0" baseline="35353" sz="1650" spc="15">
                <a:latin typeface="Garamond"/>
                <a:cs typeface="Garamond"/>
              </a:rPr>
              <a:t>×</a:t>
            </a:r>
            <a:r>
              <a:rPr dirty="0" baseline="35353" sz="1650" spc="337">
                <a:latin typeface="Garamond"/>
                <a:cs typeface="Garamond"/>
              </a:rPr>
              <a:t> </a:t>
            </a:r>
            <a:r>
              <a:rPr dirty="0" sz="1000" spc="35">
                <a:latin typeface="Cambria Math"/>
                <a:cs typeface="Cambria Math"/>
              </a:rPr>
              <a:t>𝑇𝑜𝑡𝑎𝑙</a:t>
            </a:r>
            <a:r>
              <a:rPr dirty="0" sz="1000" spc="50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𝐸𝑞𝑢i𝑡𝑦</a:t>
            </a:r>
            <a:endParaRPr sz="1000">
              <a:latin typeface="Cambria Math"/>
              <a:cs typeface="Cambria Math"/>
            </a:endParaRPr>
          </a:p>
          <a:p>
            <a:pPr marL="205104" marR="81915" indent="-151130">
              <a:lnSpc>
                <a:spcPct val="120700"/>
              </a:lnSpc>
              <a:spcBef>
                <a:spcPts val="805"/>
              </a:spcBef>
              <a:tabLst>
                <a:tab pos="817880" algn="l"/>
                <a:tab pos="1174750" algn="l"/>
              </a:tabLst>
            </a:pPr>
            <a:r>
              <a:rPr dirty="0" sz="1000" spc="55">
                <a:latin typeface="Cambria Math"/>
                <a:cs typeface="Cambria Math"/>
              </a:rPr>
              <a:t>Net</a:t>
            </a:r>
            <a:r>
              <a:rPr dirty="0" sz="1000" spc="15">
                <a:latin typeface="Cambria Math"/>
                <a:cs typeface="Cambria Math"/>
              </a:rPr>
              <a:t> </a:t>
            </a:r>
            <a:r>
              <a:rPr dirty="0" sz="1000" spc="70">
                <a:latin typeface="Cambria Math"/>
                <a:cs typeface="Cambria Math"/>
              </a:rPr>
              <a:t>Income		</a:t>
            </a:r>
            <a:r>
              <a:rPr dirty="0" sz="1000" spc="30">
                <a:latin typeface="Cambria Math"/>
                <a:cs typeface="Cambria Math"/>
              </a:rPr>
              <a:t>𝐴𝑠𝑠𝑒𝑡𝑠 </a:t>
            </a:r>
            <a:r>
              <a:rPr dirty="0" sz="1000" spc="35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Assets	</a:t>
            </a:r>
            <a:r>
              <a:rPr dirty="0" baseline="35353" sz="1650" spc="15">
                <a:latin typeface="Garamond"/>
                <a:cs typeface="Garamond"/>
              </a:rPr>
              <a:t>×</a:t>
            </a:r>
            <a:r>
              <a:rPr dirty="0" baseline="35353" sz="1650" spc="292">
                <a:latin typeface="Garamond"/>
                <a:cs typeface="Garamond"/>
              </a:rPr>
              <a:t> </a:t>
            </a:r>
            <a:r>
              <a:rPr dirty="0" sz="1000" spc="35">
                <a:latin typeface="Cambria Math"/>
                <a:cs typeface="Cambria Math"/>
              </a:rPr>
              <a:t>𝑇𝑜𝑡𝑎𝑙</a:t>
            </a:r>
            <a:r>
              <a:rPr dirty="0" sz="1000" spc="45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𝐸𝑞𝑢i𝑡𝑦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86607" y="4166869"/>
            <a:ext cx="791845" cy="9525"/>
          </a:xfrm>
          <a:custGeom>
            <a:avLst/>
            <a:gdLst/>
            <a:ahLst/>
            <a:cxnLst/>
            <a:rect l="l" t="t" r="r" b="b"/>
            <a:pathLst>
              <a:path w="791845" h="9525">
                <a:moveTo>
                  <a:pt x="791565" y="0"/>
                </a:moveTo>
                <a:lnTo>
                  <a:pt x="0" y="0"/>
                </a:lnTo>
                <a:lnTo>
                  <a:pt x="0" y="9144"/>
                </a:lnTo>
                <a:lnTo>
                  <a:pt x="791565" y="9144"/>
                </a:lnTo>
                <a:lnTo>
                  <a:pt x="7915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176629" y="4460874"/>
            <a:ext cx="5012690" cy="23412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expressed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ratios;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ROA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multiplier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927735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ROA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Multiplier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ROA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Debt-Equity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Looking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back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A2Z: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Debt-Equity</a:t>
            </a:r>
            <a:r>
              <a:rPr dirty="0" sz="1100" spc="-5">
                <a:latin typeface="Garamond"/>
                <a:cs typeface="Garamond"/>
              </a:rPr>
              <a:t> Ratio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0.39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ROA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10.12%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while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previously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14%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Now,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decomposition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method: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ct val="100000"/>
              </a:lnSpc>
              <a:spcBef>
                <a:spcPts val="1160"/>
              </a:spcBef>
            </a:pP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10.12%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1.39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14%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further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decompose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multiplying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top</a:t>
            </a:r>
            <a:r>
              <a:rPr dirty="0" sz="1100" spc="-15">
                <a:latin typeface="Garamond"/>
                <a:cs typeface="Garamond"/>
              </a:rPr>
              <a:t> 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bottom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57272" y="7117079"/>
            <a:ext cx="274955" cy="9525"/>
          </a:xfrm>
          <a:custGeom>
            <a:avLst/>
            <a:gdLst/>
            <a:ahLst/>
            <a:cxnLst/>
            <a:rect l="l" t="t" r="r" b="b"/>
            <a:pathLst>
              <a:path w="274955" h="9525">
                <a:moveTo>
                  <a:pt x="274624" y="0"/>
                </a:moveTo>
                <a:lnTo>
                  <a:pt x="0" y="0"/>
                </a:lnTo>
                <a:lnTo>
                  <a:pt x="0" y="9144"/>
                </a:lnTo>
                <a:lnTo>
                  <a:pt x="274624" y="9144"/>
                </a:lnTo>
                <a:lnTo>
                  <a:pt x="2746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28442" y="7117079"/>
            <a:ext cx="622300" cy="9525"/>
          </a:xfrm>
          <a:custGeom>
            <a:avLst/>
            <a:gdLst/>
            <a:ahLst/>
            <a:cxnLst/>
            <a:rect l="l" t="t" r="r" b="b"/>
            <a:pathLst>
              <a:path w="622300" h="9525">
                <a:moveTo>
                  <a:pt x="622096" y="0"/>
                </a:moveTo>
                <a:lnTo>
                  <a:pt x="0" y="0"/>
                </a:lnTo>
                <a:lnTo>
                  <a:pt x="0" y="9144"/>
                </a:lnTo>
                <a:lnTo>
                  <a:pt x="622096" y="9144"/>
                </a:lnTo>
                <a:lnTo>
                  <a:pt x="622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544572" y="6926071"/>
            <a:ext cx="1786889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83234" algn="l"/>
                <a:tab pos="1426210" algn="l"/>
              </a:tabLst>
            </a:pPr>
            <a:r>
              <a:rPr dirty="0" sz="1000">
                <a:latin typeface="Cambria Math"/>
                <a:cs typeface="Cambria Math"/>
              </a:rPr>
              <a:t>S</a:t>
            </a:r>
            <a:r>
              <a:rPr dirty="0" sz="1000" spc="10">
                <a:latin typeface="Cambria Math"/>
                <a:cs typeface="Cambria Math"/>
              </a:rPr>
              <a:t>al</a:t>
            </a:r>
            <a:r>
              <a:rPr dirty="0" sz="1000" spc="-25">
                <a:latin typeface="Cambria Math"/>
                <a:cs typeface="Cambria Math"/>
              </a:rPr>
              <a:t>e</a:t>
            </a:r>
            <a:r>
              <a:rPr dirty="0" sz="1000">
                <a:latin typeface="Cambria Math"/>
                <a:cs typeface="Cambria Math"/>
              </a:rPr>
              <a:t>s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sz="1000" spc="5">
                <a:latin typeface="Cambria Math"/>
                <a:cs typeface="Cambria Math"/>
              </a:rPr>
              <a:t>N</a:t>
            </a:r>
            <a:r>
              <a:rPr dirty="0" sz="1000" spc="5">
                <a:latin typeface="Cambria Math"/>
                <a:cs typeface="Cambria Math"/>
              </a:rPr>
              <a:t>e</a:t>
            </a:r>
            <a:r>
              <a:rPr dirty="0" sz="1000">
                <a:latin typeface="Cambria Math"/>
                <a:cs typeface="Cambria Math"/>
              </a:rPr>
              <a:t>t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I</a:t>
            </a:r>
            <a:r>
              <a:rPr dirty="0" sz="1000" spc="5">
                <a:latin typeface="Cambria Math"/>
                <a:cs typeface="Cambria Math"/>
              </a:rPr>
              <a:t>n</a:t>
            </a:r>
            <a:r>
              <a:rPr dirty="0" sz="1000" spc="-15">
                <a:latin typeface="Cambria Math"/>
                <a:cs typeface="Cambria Math"/>
              </a:rPr>
              <a:t>c</a:t>
            </a:r>
            <a:r>
              <a:rPr dirty="0" sz="1000">
                <a:latin typeface="Cambria Math"/>
                <a:cs typeface="Cambria Math"/>
              </a:rPr>
              <a:t>o</a:t>
            </a:r>
            <a:r>
              <a:rPr dirty="0" sz="1000" spc="-10">
                <a:latin typeface="Cambria Math"/>
                <a:cs typeface="Cambria Math"/>
              </a:rPr>
              <a:t>m</a:t>
            </a:r>
            <a:r>
              <a:rPr dirty="0" sz="1000">
                <a:latin typeface="Cambria Math"/>
                <a:cs typeface="Cambria Math"/>
              </a:rPr>
              <a:t>e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sz="1000" spc="-15">
                <a:latin typeface="Cambria Math"/>
                <a:cs typeface="Cambria Math"/>
              </a:rPr>
              <a:t>A</a:t>
            </a:r>
            <a:r>
              <a:rPr dirty="0" sz="1000">
                <a:latin typeface="Cambria Math"/>
                <a:cs typeface="Cambria Math"/>
              </a:rPr>
              <a:t>ss</a:t>
            </a:r>
            <a:r>
              <a:rPr dirty="0" sz="1000" spc="5">
                <a:latin typeface="Cambria Math"/>
                <a:cs typeface="Cambria Math"/>
              </a:rPr>
              <a:t>e</a:t>
            </a:r>
            <a:r>
              <a:rPr dirty="0" sz="1000" spc="-20">
                <a:latin typeface="Cambria Math"/>
                <a:cs typeface="Cambria Math"/>
              </a:rPr>
              <a:t>t</a:t>
            </a:r>
            <a:r>
              <a:rPr dirty="0" sz="1000">
                <a:latin typeface="Cambria Math"/>
                <a:cs typeface="Cambria Math"/>
              </a:rPr>
              <a:t>s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27501" y="7108952"/>
            <a:ext cx="13931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559435" algn="l"/>
              </a:tabLst>
            </a:pPr>
            <a:r>
              <a:rPr dirty="0" sz="1000" spc="-5">
                <a:latin typeface="Cambria Math"/>
                <a:cs typeface="Cambria Math"/>
              </a:rPr>
              <a:t>Assets	</a:t>
            </a:r>
            <a:r>
              <a:rPr dirty="0" baseline="35353" sz="1650" spc="15">
                <a:latin typeface="Garamond"/>
                <a:cs typeface="Garamond"/>
              </a:rPr>
              <a:t>×</a:t>
            </a:r>
            <a:r>
              <a:rPr dirty="0" baseline="35353" sz="1650" spc="-52">
                <a:latin typeface="Garamond"/>
                <a:cs typeface="Garamond"/>
              </a:rPr>
              <a:t> </a:t>
            </a:r>
            <a:r>
              <a:rPr dirty="0" sz="1000">
                <a:latin typeface="Cambria Math"/>
                <a:cs typeface="Cambria Math"/>
              </a:rPr>
              <a:t>Total</a:t>
            </a:r>
            <a:r>
              <a:rPr dirty="0" sz="1000" spc="-10">
                <a:latin typeface="Cambria Math"/>
                <a:cs typeface="Cambria Math"/>
              </a:rPr>
              <a:t> Equity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815207" y="7117079"/>
            <a:ext cx="663575" cy="9525"/>
          </a:xfrm>
          <a:custGeom>
            <a:avLst/>
            <a:gdLst/>
            <a:ahLst/>
            <a:cxnLst/>
            <a:rect l="l" t="t" r="r" b="b"/>
            <a:pathLst>
              <a:path w="663575" h="9525">
                <a:moveTo>
                  <a:pt x="663549" y="0"/>
                </a:moveTo>
                <a:lnTo>
                  <a:pt x="0" y="0"/>
                </a:lnTo>
                <a:lnTo>
                  <a:pt x="0" y="9144"/>
                </a:lnTo>
                <a:lnTo>
                  <a:pt x="663549" y="9144"/>
                </a:lnTo>
                <a:lnTo>
                  <a:pt x="663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151229" y="7017511"/>
            <a:ext cx="1882139" cy="5937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531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Sales</a:t>
            </a:r>
            <a:r>
              <a:rPr dirty="0" baseline="-38888" sz="1500" spc="67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Rearranging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bit,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91689" y="7817865"/>
            <a:ext cx="4445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O</a:t>
            </a:r>
            <a:r>
              <a:rPr dirty="0" sz="1100" spc="10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557272" y="7917433"/>
            <a:ext cx="713740" cy="9525"/>
          </a:xfrm>
          <a:custGeom>
            <a:avLst/>
            <a:gdLst/>
            <a:ahLst/>
            <a:cxnLst/>
            <a:rect l="l" t="t" r="r" b="b"/>
            <a:pathLst>
              <a:path w="713739" h="9525">
                <a:moveTo>
                  <a:pt x="713536" y="0"/>
                </a:moveTo>
                <a:lnTo>
                  <a:pt x="0" y="0"/>
                </a:lnTo>
                <a:lnTo>
                  <a:pt x="0" y="9144"/>
                </a:lnTo>
                <a:lnTo>
                  <a:pt x="713536" y="9144"/>
                </a:lnTo>
                <a:lnTo>
                  <a:pt x="7135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467734" y="7917433"/>
            <a:ext cx="398145" cy="9525"/>
          </a:xfrm>
          <a:custGeom>
            <a:avLst/>
            <a:gdLst/>
            <a:ahLst/>
            <a:cxnLst/>
            <a:rect l="l" t="t" r="r" b="b"/>
            <a:pathLst>
              <a:path w="398145" h="9525">
                <a:moveTo>
                  <a:pt x="398068" y="0"/>
                </a:moveTo>
                <a:lnTo>
                  <a:pt x="0" y="0"/>
                </a:lnTo>
                <a:lnTo>
                  <a:pt x="0" y="9144"/>
                </a:lnTo>
                <a:lnTo>
                  <a:pt x="398068" y="9144"/>
                </a:lnTo>
                <a:lnTo>
                  <a:pt x="3980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519172" y="7699996"/>
            <a:ext cx="2352040" cy="40513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15"/>
              </a:spcBef>
              <a:tabLst>
                <a:tab pos="980440" algn="l"/>
                <a:tab pos="1707514" algn="l"/>
              </a:tabLst>
            </a:pPr>
            <a:r>
              <a:rPr dirty="0" sz="1000" spc="35">
                <a:latin typeface="Cambria Math"/>
                <a:cs typeface="Cambria Math"/>
              </a:rPr>
              <a:t>𝑁𝑒𝑡</a:t>
            </a:r>
            <a:r>
              <a:rPr dirty="0" sz="1000" spc="30">
                <a:latin typeface="Cambria Math"/>
                <a:cs typeface="Cambria Math"/>
              </a:rPr>
              <a:t> </a:t>
            </a:r>
            <a:r>
              <a:rPr dirty="0" sz="1000" spc="50">
                <a:latin typeface="Cambria Math"/>
                <a:cs typeface="Cambria Math"/>
              </a:rPr>
              <a:t>𝐼𝑛𝑐𝑜𝑚𝑒	</a:t>
            </a:r>
            <a:r>
              <a:rPr dirty="0" sz="1000" spc="30">
                <a:latin typeface="Cambria Math"/>
                <a:cs typeface="Cambria Math"/>
              </a:rPr>
              <a:t>𝑆𝑎𝑙𝑒𝑠	</a:t>
            </a:r>
            <a:r>
              <a:rPr dirty="0" sz="1000" spc="35">
                <a:latin typeface="Cambria Math"/>
                <a:cs typeface="Cambria Math"/>
              </a:rPr>
              <a:t>𝐴𝑠𝑠𝑒𝑡𝑠</a:t>
            </a:r>
            <a:endParaRPr sz="1000">
              <a:latin typeface="Cambria Math"/>
              <a:cs typeface="Cambria Math"/>
            </a:endParaRPr>
          </a:p>
          <a:p>
            <a:pPr marL="229870">
              <a:lnSpc>
                <a:spcPct val="100000"/>
              </a:lnSpc>
              <a:spcBef>
                <a:spcPts val="250"/>
              </a:spcBef>
              <a:tabLst>
                <a:tab pos="820419" algn="l"/>
              </a:tabLst>
            </a:pPr>
            <a:r>
              <a:rPr dirty="0" sz="1000" spc="30">
                <a:latin typeface="Cambria Math"/>
                <a:cs typeface="Cambria Math"/>
              </a:rPr>
              <a:t>𝑆𝑎𝑙𝑒𝑠	</a:t>
            </a:r>
            <a:r>
              <a:rPr dirty="0" baseline="35353" sz="1650" spc="15">
                <a:latin typeface="Garamond"/>
                <a:cs typeface="Garamond"/>
              </a:rPr>
              <a:t>×</a:t>
            </a:r>
            <a:r>
              <a:rPr dirty="0" baseline="35353" sz="1650" spc="-37">
                <a:latin typeface="Garamond"/>
                <a:cs typeface="Garamond"/>
              </a:rPr>
              <a:t> </a:t>
            </a:r>
            <a:r>
              <a:rPr dirty="0" sz="1000" spc="35">
                <a:latin typeface="Cambria Math"/>
                <a:cs typeface="Cambria Math"/>
              </a:rPr>
              <a:t>𝐴𝑠𝑠𝑒𝑡𝑠</a:t>
            </a:r>
            <a:r>
              <a:rPr dirty="0" sz="1000" spc="40">
                <a:latin typeface="Cambria Math"/>
                <a:cs typeface="Cambria Math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×</a:t>
            </a:r>
            <a:r>
              <a:rPr dirty="0" baseline="35353" sz="1650" spc="-37">
                <a:latin typeface="Garamond"/>
                <a:cs typeface="Garamond"/>
              </a:rPr>
              <a:t> </a:t>
            </a:r>
            <a:r>
              <a:rPr dirty="0" sz="1000" spc="35">
                <a:latin typeface="Cambria Math"/>
                <a:cs typeface="Cambria Math"/>
              </a:rPr>
              <a:t>𝑇𝑜𝑡𝑎𝑙</a:t>
            </a:r>
            <a:r>
              <a:rPr dirty="0" sz="1000" spc="65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𝐸𝑞𝑢i𝑡𝑦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030345" y="7917433"/>
            <a:ext cx="791845" cy="9525"/>
          </a:xfrm>
          <a:custGeom>
            <a:avLst/>
            <a:gdLst/>
            <a:ahLst/>
            <a:cxnLst/>
            <a:rect l="l" t="t" r="r" b="b"/>
            <a:pathLst>
              <a:path w="791845" h="9525">
                <a:moveTo>
                  <a:pt x="791260" y="0"/>
                </a:moveTo>
                <a:lnTo>
                  <a:pt x="0" y="0"/>
                </a:lnTo>
                <a:lnTo>
                  <a:pt x="0" y="9144"/>
                </a:lnTo>
                <a:lnTo>
                  <a:pt x="791260" y="9144"/>
                </a:lnTo>
                <a:lnTo>
                  <a:pt x="7912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176629" y="8842628"/>
            <a:ext cx="5668010" cy="6667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23189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ROE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=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Profit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Margin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×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Total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Assets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Turnover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×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Equity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Multiplier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12700" marR="5080">
              <a:lnSpc>
                <a:spcPts val="1220"/>
              </a:lnSpc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last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Expression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Du</a:t>
            </a:r>
            <a:r>
              <a:rPr dirty="0" sz="1100" spc="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Pont</a:t>
            </a:r>
            <a:r>
              <a:rPr dirty="0" sz="1100" spc="7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Identity</a:t>
            </a:r>
            <a:r>
              <a:rPr dirty="0" sz="1100" spc="65" b="1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Du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popularized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use.</a:t>
            </a:r>
            <a:endParaRPr sz="1100">
              <a:latin typeface="Garamond"/>
              <a:cs typeface="Garamond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586989" y="8115426"/>
            <a:ext cx="1184275" cy="615950"/>
            <a:chOff x="2586989" y="8115426"/>
            <a:chExt cx="1184275" cy="615950"/>
          </a:xfrm>
        </p:grpSpPr>
        <p:sp>
          <p:nvSpPr>
            <p:cNvPr id="33" name="object 33"/>
            <p:cNvSpPr/>
            <p:nvPr/>
          </p:nvSpPr>
          <p:spPr>
            <a:xfrm>
              <a:off x="2834639" y="8121776"/>
              <a:ext cx="701040" cy="311150"/>
            </a:xfrm>
            <a:custGeom>
              <a:avLst/>
              <a:gdLst/>
              <a:ahLst/>
              <a:cxnLst/>
              <a:rect l="l" t="t" r="r" b="b"/>
              <a:pathLst>
                <a:path w="701039" h="311150">
                  <a:moveTo>
                    <a:pt x="701039" y="0"/>
                  </a:moveTo>
                  <a:lnTo>
                    <a:pt x="699009" y="60580"/>
                  </a:lnTo>
                  <a:lnTo>
                    <a:pt x="693467" y="110029"/>
                  </a:lnTo>
                  <a:lnTo>
                    <a:pt x="685234" y="143357"/>
                  </a:lnTo>
                  <a:lnTo>
                    <a:pt x="675132" y="155574"/>
                  </a:lnTo>
                  <a:lnTo>
                    <a:pt x="367030" y="155574"/>
                  </a:lnTo>
                  <a:lnTo>
                    <a:pt x="356907" y="167810"/>
                  </a:lnTo>
                  <a:lnTo>
                    <a:pt x="348630" y="201167"/>
                  </a:lnTo>
                  <a:lnTo>
                    <a:pt x="343044" y="250622"/>
                  </a:lnTo>
                  <a:lnTo>
                    <a:pt x="340995" y="311149"/>
                  </a:lnTo>
                  <a:lnTo>
                    <a:pt x="338964" y="250622"/>
                  </a:lnTo>
                  <a:lnTo>
                    <a:pt x="333422" y="201167"/>
                  </a:lnTo>
                  <a:lnTo>
                    <a:pt x="325189" y="167810"/>
                  </a:lnTo>
                  <a:lnTo>
                    <a:pt x="315087" y="155574"/>
                  </a:lnTo>
                  <a:lnTo>
                    <a:pt x="25908" y="155574"/>
                  </a:lnTo>
                  <a:lnTo>
                    <a:pt x="15805" y="143357"/>
                  </a:lnTo>
                  <a:lnTo>
                    <a:pt x="7572" y="110029"/>
                  </a:lnTo>
                  <a:lnTo>
                    <a:pt x="2030" y="6058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586989" y="8384793"/>
              <a:ext cx="1184275" cy="346075"/>
            </a:xfrm>
            <a:custGeom>
              <a:avLst/>
              <a:gdLst/>
              <a:ahLst/>
              <a:cxnLst/>
              <a:rect l="l" t="t" r="r" b="b"/>
              <a:pathLst>
                <a:path w="1184275" h="346075">
                  <a:moveTo>
                    <a:pt x="1184275" y="0"/>
                  </a:moveTo>
                  <a:lnTo>
                    <a:pt x="0" y="0"/>
                  </a:lnTo>
                  <a:lnTo>
                    <a:pt x="0" y="346074"/>
                  </a:lnTo>
                  <a:lnTo>
                    <a:pt x="1184275" y="346074"/>
                  </a:lnTo>
                  <a:lnTo>
                    <a:pt x="11842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2586989" y="8384793"/>
            <a:ext cx="1184275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42544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334"/>
              </a:spcBef>
            </a:pPr>
            <a:r>
              <a:rPr dirty="0" sz="1100" spc="-5">
                <a:latin typeface="Calibri"/>
                <a:cs typeface="Calibri"/>
              </a:rPr>
              <a:t>Return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Assets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68645" cy="36537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27735">
              <a:lnSpc>
                <a:spcPts val="127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15.7%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0.64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1.39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14%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Du </a:t>
            </a:r>
            <a:r>
              <a:rPr dirty="0" sz="1100" spc="-5">
                <a:latin typeface="Garamond"/>
                <a:cs typeface="Garamond"/>
              </a:rPr>
              <a:t>Pont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identity </a:t>
            </a:r>
            <a:r>
              <a:rPr dirty="0" sz="1100">
                <a:latin typeface="Garamond"/>
                <a:cs typeface="Garamond"/>
              </a:rPr>
              <a:t>tells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affected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things: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efficiency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measured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profit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margin)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Asset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efficiency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measured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turnover)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Leverage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multiplier)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100">
                <a:latin typeface="Garamond"/>
                <a:cs typeface="Garamond"/>
              </a:rPr>
              <a:t>Considering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Du</a:t>
            </a:r>
            <a:r>
              <a:rPr dirty="0" sz="1100" spc="-5">
                <a:latin typeface="Garamond"/>
                <a:cs typeface="Garamond"/>
              </a:rPr>
              <a:t> Pont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identity,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appears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could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its</a:t>
            </a:r>
            <a:r>
              <a:rPr dirty="0" sz="1100">
                <a:latin typeface="Garamond"/>
                <a:cs typeface="Garamond"/>
              </a:rPr>
              <a:t> ROE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will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happen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ROA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exceeds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decomposition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convenient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way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systematically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approaching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statements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analysis.</a:t>
            </a:r>
            <a:endParaRPr sz="1100">
              <a:latin typeface="Garamond"/>
              <a:cs typeface="Garamond"/>
            </a:endParaRPr>
          </a:p>
          <a:p>
            <a:pPr marL="469900" marR="825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unsatisfactory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measure,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Du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Pont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identity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tells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where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start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looking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reasons.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Dividend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Payout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earlier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pieces.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piece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Leftover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retained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earnings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A2Z’s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$363,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$121 </a:t>
            </a:r>
            <a:r>
              <a:rPr dirty="0" sz="1100" spc="10">
                <a:latin typeface="Garamond"/>
                <a:cs typeface="Garamond"/>
              </a:rPr>
              <a:t>was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dividends.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percentage: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9144" y="4552314"/>
            <a:ext cx="13798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Payout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=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44492" y="4497451"/>
            <a:ext cx="9874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40">
                <a:latin typeface="Cambria Math"/>
                <a:cs typeface="Cambria Math"/>
              </a:rPr>
              <a:t>𝐶𝑎𝑠ℎ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50">
                <a:latin typeface="Cambria Math"/>
                <a:cs typeface="Cambria Math"/>
              </a:rPr>
              <a:t>𝐷i𝑣i𝑑𝑒𝑛𝑑𝑠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72509" y="4694046"/>
            <a:ext cx="73152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Net</a:t>
            </a:r>
            <a:r>
              <a:rPr dirty="0" sz="1000" spc="-30">
                <a:latin typeface="Cambria Math"/>
                <a:cs typeface="Cambria Math"/>
              </a:rPr>
              <a:t> </a:t>
            </a:r>
            <a:r>
              <a:rPr dirty="0" sz="1000" spc="70">
                <a:latin typeface="Cambria Math"/>
                <a:cs typeface="Cambria Math"/>
              </a:rPr>
              <a:t>Income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57192" y="4688458"/>
            <a:ext cx="956310" cy="9525"/>
          </a:xfrm>
          <a:custGeom>
            <a:avLst/>
            <a:gdLst/>
            <a:ahLst/>
            <a:cxnLst/>
            <a:rect l="l" t="t" r="r" b="b"/>
            <a:pathLst>
              <a:path w="956310" h="9525">
                <a:moveTo>
                  <a:pt x="956157" y="0"/>
                </a:moveTo>
                <a:lnTo>
                  <a:pt x="0" y="0"/>
                </a:lnTo>
                <a:lnTo>
                  <a:pt x="0" y="9144"/>
                </a:lnTo>
                <a:lnTo>
                  <a:pt x="956157" y="9144"/>
                </a:lnTo>
                <a:lnTo>
                  <a:pt x="9561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921633" y="5164963"/>
            <a:ext cx="3098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36</a:t>
            </a:r>
            <a:r>
              <a:rPr dirty="0" sz="1000" spc="25">
                <a:latin typeface="Cambria Math"/>
                <a:cs typeface="Cambria Math"/>
              </a:rPr>
              <a:t>3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34333" y="5159374"/>
            <a:ext cx="283845" cy="9525"/>
          </a:xfrm>
          <a:custGeom>
            <a:avLst/>
            <a:gdLst/>
            <a:ahLst/>
            <a:cxnLst/>
            <a:rect l="l" t="t" r="r" b="b"/>
            <a:pathLst>
              <a:path w="283845" h="9525">
                <a:moveTo>
                  <a:pt x="283463" y="0"/>
                </a:moveTo>
                <a:lnTo>
                  <a:pt x="0" y="0"/>
                </a:lnTo>
                <a:lnTo>
                  <a:pt x="0" y="9144"/>
                </a:lnTo>
                <a:lnTo>
                  <a:pt x="283463" y="9144"/>
                </a:lnTo>
                <a:lnTo>
                  <a:pt x="2834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498085" y="5174106"/>
            <a:ext cx="8382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15">
                <a:latin typeface="Cambria Math"/>
                <a:cs typeface="Cambria Math"/>
              </a:rPr>
              <a:t>3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10785" y="5168518"/>
            <a:ext cx="59690" cy="9525"/>
          </a:xfrm>
          <a:custGeom>
            <a:avLst/>
            <a:gdLst/>
            <a:ahLst/>
            <a:cxnLst/>
            <a:rect l="l" t="t" r="r" b="b"/>
            <a:pathLst>
              <a:path w="59689" h="9525">
                <a:moveTo>
                  <a:pt x="59436" y="0"/>
                </a:moveTo>
                <a:lnTo>
                  <a:pt x="0" y="0"/>
                </a:lnTo>
                <a:lnTo>
                  <a:pt x="0" y="9144"/>
                </a:lnTo>
                <a:lnTo>
                  <a:pt x="59436" y="9144"/>
                </a:lnTo>
                <a:lnTo>
                  <a:pt x="594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523744" y="4968366"/>
            <a:ext cx="2238375" cy="2870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10335">
              <a:lnSpc>
                <a:spcPts val="965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$121</a:t>
            </a:r>
            <a:endParaRPr sz="1000">
              <a:latin typeface="Cambria Math"/>
              <a:cs typeface="Cambria Math"/>
            </a:endParaRPr>
          </a:p>
          <a:p>
            <a:pPr marL="38100">
              <a:lnSpc>
                <a:spcPts val="1085"/>
              </a:lnSpc>
              <a:tabLst>
                <a:tab pos="1730375" algn="l"/>
              </a:tabLst>
            </a:pP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5">
                <a:latin typeface="Garamond"/>
                <a:cs typeface="Garamond"/>
              </a:rPr>
              <a:t> Payout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	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33</a:t>
            </a:r>
            <a:r>
              <a:rPr dirty="0" baseline="45138" sz="1200" spc="-7">
                <a:latin typeface="Cambria Math"/>
                <a:cs typeface="Cambria Math"/>
              </a:rPr>
              <a:t>1</a:t>
            </a:r>
            <a:r>
              <a:rPr dirty="0" baseline="45138" sz="1200" spc="13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%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6629" y="5439536"/>
            <a:ext cx="5600700" cy="511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Retention</a:t>
            </a:r>
            <a:r>
              <a:rPr dirty="0" sz="1100" spc="-6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Anything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A2Z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does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 must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retained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retention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9144" y="6125717"/>
            <a:ext cx="9956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Garamond"/>
                <a:cs typeface="Garamond"/>
              </a:rPr>
              <a:t>Retention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=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05910" y="6070853"/>
            <a:ext cx="115316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Retained</a:t>
            </a:r>
            <a:r>
              <a:rPr dirty="0" sz="1000" spc="-30">
                <a:latin typeface="Cambria Math"/>
                <a:cs typeface="Cambria Math"/>
              </a:rPr>
              <a:t> </a:t>
            </a:r>
            <a:r>
              <a:rPr dirty="0" sz="1000" spc="65">
                <a:latin typeface="Cambria Math"/>
                <a:cs typeface="Cambria Math"/>
              </a:rPr>
              <a:t>Earnings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16222" y="6267450"/>
            <a:ext cx="7270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Net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65">
                <a:latin typeface="Cambria Math"/>
                <a:cs typeface="Cambria Math"/>
              </a:rPr>
              <a:t>Income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18610" y="6261861"/>
            <a:ext cx="1120775" cy="9525"/>
          </a:xfrm>
          <a:custGeom>
            <a:avLst/>
            <a:gdLst/>
            <a:ahLst/>
            <a:cxnLst/>
            <a:rect l="l" t="t" r="r" b="b"/>
            <a:pathLst>
              <a:path w="1120775" h="9525">
                <a:moveTo>
                  <a:pt x="1120749" y="0"/>
                </a:moveTo>
                <a:lnTo>
                  <a:pt x="0" y="0"/>
                </a:lnTo>
                <a:lnTo>
                  <a:pt x="0" y="9144"/>
                </a:lnTo>
                <a:lnTo>
                  <a:pt x="1120749" y="9144"/>
                </a:lnTo>
                <a:lnTo>
                  <a:pt x="11207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537330" y="6743191"/>
            <a:ext cx="3098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36</a:t>
            </a:r>
            <a:r>
              <a:rPr dirty="0" sz="1000" spc="25">
                <a:latin typeface="Cambria Math"/>
                <a:cs typeface="Cambria Math"/>
              </a:rPr>
              <a:t>3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550030" y="6737603"/>
            <a:ext cx="283845" cy="9525"/>
          </a:xfrm>
          <a:custGeom>
            <a:avLst/>
            <a:gdLst/>
            <a:ahLst/>
            <a:cxnLst/>
            <a:rect l="l" t="t" r="r" b="b"/>
            <a:pathLst>
              <a:path w="283845" h="9525">
                <a:moveTo>
                  <a:pt x="283463" y="0"/>
                </a:moveTo>
                <a:lnTo>
                  <a:pt x="0" y="0"/>
                </a:lnTo>
                <a:lnTo>
                  <a:pt x="0" y="9144"/>
                </a:lnTo>
                <a:lnTo>
                  <a:pt x="283463" y="9144"/>
                </a:lnTo>
                <a:lnTo>
                  <a:pt x="2834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145660" y="6752335"/>
            <a:ext cx="8382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15">
                <a:latin typeface="Cambria Math"/>
                <a:cs typeface="Cambria Math"/>
              </a:rPr>
              <a:t>3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158360" y="6746747"/>
            <a:ext cx="59690" cy="9525"/>
          </a:xfrm>
          <a:custGeom>
            <a:avLst/>
            <a:gdLst/>
            <a:ahLst/>
            <a:cxnLst/>
            <a:rect l="l" t="t" r="r" b="b"/>
            <a:pathLst>
              <a:path w="59689" h="9525">
                <a:moveTo>
                  <a:pt x="59436" y="0"/>
                </a:moveTo>
                <a:lnTo>
                  <a:pt x="0" y="0"/>
                </a:lnTo>
                <a:lnTo>
                  <a:pt x="0" y="9143"/>
                </a:lnTo>
                <a:lnTo>
                  <a:pt x="59436" y="9143"/>
                </a:lnTo>
                <a:lnTo>
                  <a:pt x="594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2523744" y="6546341"/>
            <a:ext cx="188595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26160">
              <a:lnSpc>
                <a:spcPts val="965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$242</a:t>
            </a:r>
            <a:endParaRPr sz="1000">
              <a:latin typeface="Cambria Math"/>
              <a:cs typeface="Cambria Math"/>
            </a:endParaRPr>
          </a:p>
          <a:p>
            <a:pPr marL="38100">
              <a:lnSpc>
                <a:spcPts val="1085"/>
              </a:lnSpc>
              <a:tabLst>
                <a:tab pos="1377950" algn="l"/>
              </a:tabLst>
            </a:pPr>
            <a:r>
              <a:rPr dirty="0" sz="1100">
                <a:latin typeface="Garamond"/>
                <a:cs typeface="Garamond"/>
              </a:rPr>
              <a:t>Retention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 </a:t>
            </a:r>
            <a:r>
              <a:rPr dirty="0" sz="1100" spc="10">
                <a:latin typeface="Garamond"/>
                <a:cs typeface="Garamond"/>
              </a:rPr>
              <a:t>=	=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66</a:t>
            </a:r>
            <a:r>
              <a:rPr dirty="0" baseline="45138" sz="1200" spc="-7">
                <a:latin typeface="Cambria Math"/>
                <a:cs typeface="Cambria Math"/>
              </a:rPr>
              <a:t>2</a:t>
            </a:r>
            <a:r>
              <a:rPr dirty="0" baseline="45138" sz="1200" spc="13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%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45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176629" y="7035800"/>
            <a:ext cx="5669915" cy="25971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retains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two-thirds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income.</a:t>
            </a:r>
            <a:endParaRPr sz="1100">
              <a:latin typeface="Garamond"/>
              <a:cs typeface="Garamond"/>
            </a:endParaRPr>
          </a:p>
          <a:p>
            <a:pPr marL="469900" marR="952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retention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also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known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plowback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plowed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back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Payout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Retention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Garamond"/>
              <a:cs typeface="Garamond"/>
            </a:endParaRPr>
          </a:p>
          <a:p>
            <a:pPr marL="12700" marR="97155">
              <a:lnSpc>
                <a:spcPts val="1260"/>
              </a:lnSpc>
              <a:tabLst>
                <a:tab pos="355600" algn="l"/>
              </a:tabLst>
            </a:pPr>
            <a:r>
              <a:rPr dirty="0" sz="1100" spc="5">
                <a:latin typeface="Garamond"/>
                <a:cs typeface="Garamond"/>
              </a:rPr>
              <a:t>Q:	</a:t>
            </a:r>
            <a:r>
              <a:rPr dirty="0" sz="1100" spc="10">
                <a:latin typeface="Garamond"/>
                <a:cs typeface="Garamond"/>
              </a:rPr>
              <a:t>LMN </a:t>
            </a:r>
            <a:r>
              <a:rPr dirty="0" sz="1100" spc="-5">
                <a:latin typeface="Garamond"/>
                <a:cs typeface="Garamond"/>
              </a:rPr>
              <a:t>Corporation </a:t>
            </a:r>
            <a:r>
              <a:rPr dirty="0" sz="1100" spc="10">
                <a:latin typeface="Garamond"/>
                <a:cs typeface="Garamond"/>
              </a:rPr>
              <a:t>pays </a:t>
            </a:r>
            <a:r>
              <a:rPr dirty="0" sz="1100" spc="5">
                <a:latin typeface="Garamond"/>
                <a:cs typeface="Garamond"/>
              </a:rPr>
              <a:t>out </a:t>
            </a:r>
            <a:r>
              <a:rPr dirty="0" sz="1100" spc="-5">
                <a:latin typeface="Garamond"/>
                <a:cs typeface="Garamond"/>
              </a:rPr>
              <a:t>40%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net income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5">
                <a:latin typeface="Garamond"/>
                <a:cs typeface="Garamond"/>
              </a:rPr>
              <a:t>form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dividends. What </a:t>
            </a:r>
            <a:r>
              <a:rPr dirty="0" sz="1100">
                <a:latin typeface="Garamond"/>
                <a:cs typeface="Garamond"/>
              </a:rPr>
              <a:t>is its </a:t>
            </a:r>
            <a:r>
              <a:rPr dirty="0" sz="1100" spc="-5">
                <a:latin typeface="Garamond"/>
                <a:cs typeface="Garamond"/>
              </a:rPr>
              <a:t>retention ratio?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A:	If </a:t>
            </a:r>
            <a:r>
              <a:rPr dirty="0" sz="1100" spc="-5">
                <a:latin typeface="Garamond"/>
                <a:cs typeface="Garamond"/>
              </a:rPr>
              <a:t>payout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40%,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retention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is: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40%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60%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Garamond"/>
              <a:cs typeface="Garamond"/>
            </a:endParaRPr>
          </a:p>
          <a:p>
            <a:pPr marL="12700" marR="1198245">
              <a:lnSpc>
                <a:spcPts val="1220"/>
              </a:lnSpc>
              <a:tabLst>
                <a:tab pos="355600" algn="l"/>
              </a:tabLst>
            </a:pPr>
            <a:r>
              <a:rPr dirty="0" sz="1100" spc="5">
                <a:latin typeface="Garamond"/>
                <a:cs typeface="Garamond"/>
              </a:rPr>
              <a:t>Q:	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LMN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$800,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receive?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A:	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$800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40%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$320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Internal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Sustainable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Growth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Equity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frequently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calculate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numbers,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>
                <a:latin typeface="Garamond"/>
                <a:cs typeface="Garamond"/>
              </a:rPr>
              <a:t> ability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29356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9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Investors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others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frequently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>
                <a:latin typeface="Garamond"/>
                <a:cs typeface="Garamond"/>
              </a:rPr>
              <a:t>knowing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rapidly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grow.</a:t>
            </a:r>
            <a:endParaRPr sz="1100">
              <a:latin typeface="Garamond"/>
              <a:cs typeface="Garamond"/>
            </a:endParaRPr>
          </a:p>
          <a:p>
            <a:pPr marL="469900" marR="20955" indent="-228600">
              <a:lnSpc>
                <a:spcPts val="1220"/>
              </a:lnSpc>
              <a:spcBef>
                <a:spcPts val="2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recognize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have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well,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least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run.</a:t>
            </a:r>
            <a:endParaRPr sz="1100">
              <a:latin typeface="Garamond"/>
              <a:cs typeface="Garamond"/>
            </a:endParaRPr>
          </a:p>
          <a:p>
            <a:pPr marL="469900" marR="26034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Further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grow,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somehow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obtain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purchases.</a:t>
            </a:r>
            <a:endParaRPr sz="1100">
              <a:latin typeface="Garamond"/>
              <a:cs typeface="Garamond"/>
            </a:endParaRPr>
          </a:p>
          <a:p>
            <a:pPr marL="469900" marR="2984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financed.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so,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ability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depends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policies.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broad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sources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financing:</a:t>
            </a:r>
            <a:endParaRPr sz="1100">
              <a:latin typeface="Garamond"/>
              <a:cs typeface="Garamond"/>
            </a:endParaRPr>
          </a:p>
          <a:p>
            <a:pPr lvl="1" marL="699135" marR="26034" indent="-229235">
              <a:lnSpc>
                <a:spcPts val="1220"/>
              </a:lnSpc>
              <a:spcBef>
                <a:spcPts val="90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Internal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simply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refers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subsequently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plows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back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External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refers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funds </a:t>
            </a:r>
            <a:r>
              <a:rPr dirty="0" sz="1100" spc="-10">
                <a:latin typeface="Garamond"/>
                <a:cs typeface="Garamond"/>
              </a:rPr>
              <a:t>raised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either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100" b="1">
                <a:latin typeface="Garamond"/>
                <a:cs typeface="Garamond"/>
              </a:rPr>
              <a:t>Internal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Growth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Garamond"/>
              <a:cs typeface="Garamond"/>
            </a:endParaRPr>
          </a:p>
          <a:p>
            <a:pPr marL="12700" marR="24765">
              <a:lnSpc>
                <a:spcPts val="1230"/>
              </a:lnSpc>
              <a:spcBef>
                <a:spcPts val="5"/>
              </a:spcBef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internal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won’t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won’t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stock.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Internal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represents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rapidly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022216" y="3490975"/>
            <a:ext cx="5041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65">
                <a:latin typeface="Cambria Math"/>
                <a:cs typeface="Cambria Math"/>
              </a:rPr>
              <a:t>𝑅0𝐴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×</a:t>
            </a:r>
            <a:r>
              <a:rPr dirty="0" sz="1000" spc="-40">
                <a:latin typeface="Cambria Math"/>
                <a:cs typeface="Cambria Math"/>
              </a:rPr>
              <a:t> </a:t>
            </a:r>
            <a:r>
              <a:rPr dirty="0" sz="1000" spc="10">
                <a:latin typeface="Cambria Math"/>
                <a:cs typeface="Cambria Math"/>
              </a:rPr>
              <a:t>b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3744" y="3582415"/>
            <a:ext cx="21424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Internal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baseline="-38888" sz="1500" spc="37">
                <a:latin typeface="Cambria Math"/>
                <a:cs typeface="Cambria Math"/>
              </a:rPr>
              <a:t>1−(𝑅0𝐴×b)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29760" y="3681983"/>
            <a:ext cx="690880" cy="9525"/>
          </a:xfrm>
          <a:custGeom>
            <a:avLst/>
            <a:gdLst/>
            <a:ahLst/>
            <a:cxnLst/>
            <a:rect l="l" t="t" r="r" b="b"/>
            <a:pathLst>
              <a:path w="690879" h="9525">
                <a:moveTo>
                  <a:pt x="690676" y="0"/>
                </a:moveTo>
                <a:lnTo>
                  <a:pt x="0" y="0"/>
                </a:lnTo>
                <a:lnTo>
                  <a:pt x="0" y="9144"/>
                </a:lnTo>
                <a:lnTo>
                  <a:pt x="690676" y="9144"/>
                </a:lnTo>
                <a:lnTo>
                  <a:pt x="6906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634108" y="3986484"/>
            <a:ext cx="3990975" cy="5232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8105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ROA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50" spc="-80" i="1">
                <a:latin typeface="Georgia"/>
                <a:cs typeface="Georgia"/>
              </a:rPr>
              <a:t>b</a:t>
            </a:r>
            <a:r>
              <a:rPr dirty="0" sz="1150" spc="310" i="1">
                <a:latin typeface="Georgia"/>
                <a:cs typeface="Georgia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retention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A2Z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9144" y="4799202"/>
            <a:ext cx="132715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Internal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37965" y="4680330"/>
            <a:ext cx="6762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0.1012</a:t>
            </a:r>
            <a:r>
              <a:rPr dirty="0" sz="1000" spc="-35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×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u="sng" baseline="41666" sz="1200" spc="37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</a:t>
            </a:r>
            <a:endParaRPr baseline="41666" sz="12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03241" y="4771770"/>
            <a:ext cx="167640" cy="2514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90"/>
              </a:spcBef>
            </a:pPr>
            <a:r>
              <a:rPr dirty="0" sz="800" spc="25">
                <a:latin typeface="Cambria Math"/>
                <a:cs typeface="Cambria Math"/>
              </a:rPr>
              <a:t>3</a:t>
            </a:r>
            <a:endParaRPr sz="800">
              <a:latin typeface="Cambria Math"/>
              <a:cs typeface="Cambria Math"/>
            </a:endParaRPr>
          </a:p>
          <a:p>
            <a:pPr marL="94615">
              <a:lnSpc>
                <a:spcPts val="894"/>
              </a:lnSpc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91660" y="4922646"/>
            <a:ext cx="9671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20">
                <a:latin typeface="Cambria Math"/>
                <a:cs typeface="Cambria Math"/>
              </a:rPr>
              <a:t>1−(0.1012</a:t>
            </a:r>
            <a:r>
              <a:rPr dirty="0" sz="1000" spc="-35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×</a:t>
            </a:r>
            <a:r>
              <a:rPr dirty="0" sz="1000" spc="-30">
                <a:latin typeface="Cambria Math"/>
                <a:cs typeface="Cambria Math"/>
              </a:rPr>
              <a:t> </a:t>
            </a:r>
            <a:r>
              <a:rPr dirty="0" baseline="-34722" sz="1200" spc="75">
                <a:latin typeface="Cambria Math"/>
                <a:cs typeface="Cambria Math"/>
              </a:rPr>
              <a:t>3</a:t>
            </a:r>
            <a:r>
              <a:rPr dirty="0" sz="1000" spc="50">
                <a:latin typeface="Cambria Math"/>
                <a:cs typeface="Cambria Math"/>
              </a:rPr>
              <a:t>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29760" y="4898770"/>
            <a:ext cx="892175" cy="9525"/>
          </a:xfrm>
          <a:custGeom>
            <a:avLst/>
            <a:gdLst/>
            <a:ahLst/>
            <a:cxnLst/>
            <a:rect l="l" t="t" r="r" b="b"/>
            <a:pathLst>
              <a:path w="892175" h="9525">
                <a:moveTo>
                  <a:pt x="891844" y="0"/>
                </a:moveTo>
                <a:lnTo>
                  <a:pt x="0" y="0"/>
                </a:lnTo>
                <a:lnTo>
                  <a:pt x="0" y="9144"/>
                </a:lnTo>
                <a:lnTo>
                  <a:pt x="891844" y="9144"/>
                </a:lnTo>
                <a:lnTo>
                  <a:pt x="8918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76629" y="5256656"/>
            <a:ext cx="5666105" cy="2144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3849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Internal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7.23%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Sustainable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Growth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5080" indent="-228600">
              <a:lnSpc>
                <a:spcPts val="122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relies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internal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through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decline,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remain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(or </a:t>
            </a:r>
            <a:r>
              <a:rPr dirty="0" sz="1100" spc="-10">
                <a:latin typeface="Garamond"/>
                <a:cs typeface="Garamond"/>
              </a:rPr>
              <a:t>even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off).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Frequently,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particular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multiplier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view</a:t>
            </a:r>
            <a:r>
              <a:rPr dirty="0" sz="1100" spc="-10">
                <a:latin typeface="Garamond"/>
                <a:cs typeface="Garamond"/>
              </a:rPr>
              <a:t> 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optimal.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consider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rapidly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if: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wishes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maintain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particular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ratio;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it is</a:t>
            </a:r>
            <a:r>
              <a:rPr dirty="0" sz="1100" spc="-5">
                <a:latin typeface="Garamond"/>
                <a:cs typeface="Garamond"/>
              </a:rPr>
              <a:t> unwilling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Garamond"/>
              <a:cs typeface="Garamond"/>
            </a:endParaRPr>
          </a:p>
          <a:p>
            <a:pPr marL="12700" marR="5080">
              <a:lnSpc>
                <a:spcPts val="126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these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assumptions,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maximum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achieved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Sustainable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68521" y="7520685"/>
            <a:ext cx="5041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60">
                <a:latin typeface="Cambria Math"/>
                <a:cs typeface="Cambria Math"/>
              </a:rPr>
              <a:t>𝑅0𝐸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×</a:t>
            </a:r>
            <a:r>
              <a:rPr dirty="0" sz="1000" spc="-35">
                <a:latin typeface="Cambria Math"/>
                <a:cs typeface="Cambria Math"/>
              </a:rPr>
              <a:t> </a:t>
            </a:r>
            <a:r>
              <a:rPr dirty="0" sz="1000" spc="10">
                <a:latin typeface="Cambria Math"/>
                <a:cs typeface="Cambria Math"/>
              </a:rPr>
              <a:t>b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23744" y="7612126"/>
            <a:ext cx="228409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Sustainable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Growth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Rate=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baseline="-38888" sz="1500" spc="37">
                <a:latin typeface="Cambria Math"/>
                <a:cs typeface="Cambria Math"/>
              </a:rPr>
              <a:t>1−(𝑅0𝐸×b)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76065" y="7711694"/>
            <a:ext cx="690880" cy="9525"/>
          </a:xfrm>
          <a:custGeom>
            <a:avLst/>
            <a:gdLst/>
            <a:ahLst/>
            <a:cxnLst/>
            <a:rect l="l" t="t" r="r" b="b"/>
            <a:pathLst>
              <a:path w="690879" h="9525">
                <a:moveTo>
                  <a:pt x="690676" y="0"/>
                </a:moveTo>
                <a:lnTo>
                  <a:pt x="0" y="0"/>
                </a:lnTo>
                <a:lnTo>
                  <a:pt x="0" y="9143"/>
                </a:lnTo>
                <a:lnTo>
                  <a:pt x="690676" y="9143"/>
                </a:lnTo>
                <a:lnTo>
                  <a:pt x="6906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549144" y="8174863"/>
            <a:ext cx="150622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Sustainable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16272" y="8055990"/>
            <a:ext cx="5295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20">
                <a:latin typeface="Cambria Math"/>
                <a:cs typeface="Cambria Math"/>
              </a:rPr>
              <a:t>0.14</a:t>
            </a:r>
            <a:r>
              <a:rPr dirty="0" sz="1000" spc="-45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×</a:t>
            </a:r>
            <a:r>
              <a:rPr dirty="0" sz="1000" spc="-35">
                <a:latin typeface="Cambria Math"/>
                <a:cs typeface="Cambria Math"/>
              </a:rPr>
              <a:t> </a:t>
            </a:r>
            <a:r>
              <a:rPr dirty="0" u="sng" baseline="41666" sz="1200" spc="37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</a:t>
            </a:r>
            <a:endParaRPr baseline="41666" sz="12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35246" y="8147430"/>
            <a:ext cx="172085" cy="2514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90"/>
              </a:spcBef>
            </a:pPr>
            <a:r>
              <a:rPr dirty="0" sz="800" spc="25">
                <a:latin typeface="Cambria Math"/>
                <a:cs typeface="Cambria Math"/>
              </a:rPr>
              <a:t>3</a:t>
            </a:r>
            <a:endParaRPr sz="800">
              <a:latin typeface="Cambria Math"/>
              <a:cs typeface="Cambria Math"/>
            </a:endParaRPr>
          </a:p>
          <a:p>
            <a:pPr marL="99060">
              <a:lnSpc>
                <a:spcPts val="894"/>
              </a:lnSpc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69969" y="8298306"/>
            <a:ext cx="8255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25">
                <a:latin typeface="Cambria Math"/>
                <a:cs typeface="Cambria Math"/>
              </a:rPr>
              <a:t>1−(0.14</a:t>
            </a:r>
            <a:r>
              <a:rPr dirty="0" sz="1000" spc="-40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×</a:t>
            </a:r>
            <a:r>
              <a:rPr dirty="0" sz="1000" spc="-30">
                <a:latin typeface="Cambria Math"/>
                <a:cs typeface="Cambria Math"/>
              </a:rPr>
              <a:t> </a:t>
            </a:r>
            <a:r>
              <a:rPr dirty="0" baseline="-34722" sz="1200" spc="75">
                <a:latin typeface="Cambria Math"/>
                <a:cs typeface="Cambria Math"/>
              </a:rPr>
              <a:t>3</a:t>
            </a:r>
            <a:r>
              <a:rPr dirty="0" sz="1000" spc="50">
                <a:latin typeface="Cambria Math"/>
                <a:cs typeface="Cambria Math"/>
              </a:rPr>
              <a:t>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08069" y="8274430"/>
            <a:ext cx="746125" cy="9525"/>
          </a:xfrm>
          <a:custGeom>
            <a:avLst/>
            <a:gdLst/>
            <a:ahLst/>
            <a:cxnLst/>
            <a:rect l="l" t="t" r="r" b="b"/>
            <a:pathLst>
              <a:path w="746125" h="9525">
                <a:moveTo>
                  <a:pt x="745540" y="0"/>
                </a:moveTo>
                <a:lnTo>
                  <a:pt x="0" y="0"/>
                </a:lnTo>
                <a:lnTo>
                  <a:pt x="0" y="9144"/>
                </a:lnTo>
                <a:lnTo>
                  <a:pt x="745540" y="9144"/>
                </a:lnTo>
                <a:lnTo>
                  <a:pt x="7455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76629" y="8636634"/>
            <a:ext cx="5668645" cy="8223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384935">
              <a:lnSpc>
                <a:spcPts val="1275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Sustainable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Growth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10.29%</a:t>
            </a:r>
            <a:endParaRPr sz="1100">
              <a:latin typeface="Garamond"/>
              <a:cs typeface="Garamond"/>
            </a:endParaRPr>
          </a:p>
          <a:p>
            <a:pPr marL="12700" marR="11430">
              <a:lnSpc>
                <a:spcPts val="1220"/>
              </a:lnSpc>
              <a:spcBef>
                <a:spcPts val="75"/>
              </a:spcBef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reason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Sustainable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(10.29%)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internal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rate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(7.23%)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that,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borrow </a:t>
            </a:r>
            <a:r>
              <a:rPr dirty="0" sz="1100">
                <a:latin typeface="Garamond"/>
                <a:cs typeface="Garamond"/>
              </a:rPr>
              <a:t>additional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maintain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constant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ratio.</a:t>
            </a:r>
            <a:endParaRPr sz="1100">
              <a:latin typeface="Garamond"/>
              <a:cs typeface="Garamond"/>
            </a:endParaRPr>
          </a:p>
          <a:p>
            <a:pPr marL="12700" marR="5080">
              <a:lnSpc>
                <a:spcPts val="1220"/>
              </a:lnSpc>
              <a:spcBef>
                <a:spcPts val="45"/>
              </a:spcBef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extra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source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internally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generated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funds,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so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A2Z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74360" cy="81870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Determinants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6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Growth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Using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Du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identity,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saw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 </a:t>
            </a:r>
            <a:r>
              <a:rPr dirty="0" sz="1100" spc="-5">
                <a:latin typeface="Garamond"/>
                <a:cs typeface="Garamond"/>
              </a:rPr>
              <a:t>decomposed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various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</a:t>
            </a:r>
            <a:endParaRPr sz="1100">
              <a:latin typeface="Garamond"/>
              <a:cs typeface="Garamond"/>
            </a:endParaRPr>
          </a:p>
          <a:p>
            <a:pPr marL="469900" marR="1524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appears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prominently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determination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Sustainable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factors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determining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determinants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growth.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 </a:t>
            </a:r>
            <a:r>
              <a:rPr dirty="0" sz="1100" spc="-10">
                <a:latin typeface="Garamond"/>
                <a:cs typeface="Garamond"/>
              </a:rPr>
              <a:t>that: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Profit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Margin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5">
                <a:latin typeface="Garamond"/>
                <a:cs typeface="Garamond"/>
              </a:rPr>
              <a:t> x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Multiplier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Anything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 </a:t>
            </a:r>
            <a:r>
              <a:rPr dirty="0" sz="1100" spc="10">
                <a:latin typeface="Garamond"/>
                <a:cs typeface="Garamond"/>
              </a:rPr>
              <a:t>will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Sustainable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retention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effect.</a:t>
            </a:r>
            <a:endParaRPr sz="1100">
              <a:latin typeface="Garamond"/>
              <a:cs typeface="Garamond"/>
            </a:endParaRPr>
          </a:p>
          <a:p>
            <a:pPr marL="469900" marR="1333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putting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together,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ability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sustain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explicitly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four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factors: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6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Profit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Margin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Turnover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Policy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20">
                <a:latin typeface="Garamond"/>
                <a:cs typeface="Garamond"/>
              </a:rPr>
              <a:t>v</a:t>
            </a:r>
            <a:r>
              <a:rPr dirty="0" sz="1100" spc="-40">
                <a:latin typeface="Garamond"/>
                <a:cs typeface="Garamond"/>
              </a:rPr>
              <a:t>i</a:t>
            </a:r>
            <a:r>
              <a:rPr dirty="0" sz="1100" spc="20">
                <a:latin typeface="Garamond"/>
                <a:cs typeface="Garamond"/>
              </a:rPr>
              <a:t>d</a:t>
            </a:r>
            <a:r>
              <a:rPr dirty="0" sz="1100" spc="-30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P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5">
                <a:latin typeface="Garamond"/>
                <a:cs typeface="Garamond"/>
              </a:rPr>
              <a:t>li</a:t>
            </a:r>
            <a:r>
              <a:rPr dirty="0" sz="1100" spc="5">
                <a:latin typeface="Garamond"/>
                <a:cs typeface="Garamond"/>
              </a:rPr>
              <a:t>cy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Garamond"/>
              <a:cs typeface="Garamond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Profit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margin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Garamond"/>
              <a:cs typeface="Garamond"/>
            </a:endParaRPr>
          </a:p>
          <a:p>
            <a:pPr marL="469900" marR="13335">
              <a:lnSpc>
                <a:spcPts val="1260"/>
              </a:lnSpc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profit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margin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ability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generate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funds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internally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thereby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5">
                <a:latin typeface="Garamond"/>
                <a:cs typeface="Garamond"/>
              </a:rPr>
              <a:t> sustainable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growth.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Garamond"/>
              <a:cs typeface="Garamond"/>
            </a:endParaRPr>
          </a:p>
          <a:p>
            <a:pPr marL="4699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Total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Assets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Turnover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Garamond"/>
              <a:cs typeface="Garamond"/>
            </a:endParaRPr>
          </a:p>
          <a:p>
            <a:pPr algn="just" marL="469900" marR="9525">
              <a:lnSpc>
                <a:spcPct val="94100"/>
              </a:lnSpc>
            </a:pPr>
            <a:r>
              <a:rPr dirty="0" sz="1100" spc="5">
                <a:latin typeface="Garamond"/>
                <a:cs typeface="Garamond"/>
              </a:rPr>
              <a:t>An </a:t>
            </a:r>
            <a:r>
              <a:rPr dirty="0" sz="1100" spc="-5">
                <a:latin typeface="Garamond"/>
                <a:cs typeface="Garamond"/>
              </a:rPr>
              <a:t>increase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>
                <a:latin typeface="Garamond"/>
                <a:cs typeface="Garamond"/>
              </a:rPr>
              <a:t>firm’s total assets turnover </a:t>
            </a:r>
            <a:r>
              <a:rPr dirty="0" sz="1100" spc="-5">
                <a:latin typeface="Garamond"/>
                <a:cs typeface="Garamond"/>
              </a:rPr>
              <a:t>increases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sales grow </a:t>
            </a:r>
            <a:r>
              <a:rPr dirty="0" sz="1100">
                <a:latin typeface="Garamond"/>
                <a:cs typeface="Garamond"/>
              </a:rPr>
              <a:t>and thereby </a:t>
            </a:r>
            <a:r>
              <a:rPr dirty="0" sz="1100" spc="-5">
                <a:latin typeface="Garamond"/>
                <a:cs typeface="Garamond"/>
              </a:rPr>
              <a:t>increase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sustainable growth </a:t>
            </a:r>
            <a:r>
              <a:rPr dirty="0" sz="1100" spc="-15">
                <a:latin typeface="Garamond"/>
                <a:cs typeface="Garamond"/>
              </a:rPr>
              <a:t>rate. </a:t>
            </a:r>
            <a:r>
              <a:rPr dirty="0" sz="1100" spc="-5">
                <a:latin typeface="Garamond"/>
                <a:cs typeface="Garamond"/>
              </a:rPr>
              <a:t>Increasing </a:t>
            </a:r>
            <a:r>
              <a:rPr dirty="0" sz="1100" spc="-10">
                <a:latin typeface="Garamond"/>
                <a:cs typeface="Garamond"/>
              </a:rPr>
              <a:t>total </a:t>
            </a:r>
            <a:r>
              <a:rPr dirty="0" sz="1100">
                <a:latin typeface="Garamond"/>
                <a:cs typeface="Garamond"/>
              </a:rPr>
              <a:t>assets turnover is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same </a:t>
            </a:r>
            <a:r>
              <a:rPr dirty="0" sz="1100" spc="-10">
                <a:latin typeface="Garamond"/>
                <a:cs typeface="Garamond"/>
              </a:rPr>
              <a:t>thing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decreasing capital </a:t>
            </a:r>
            <a:r>
              <a:rPr dirty="0" sz="1100">
                <a:latin typeface="Garamond"/>
                <a:cs typeface="Garamond"/>
              </a:rPr>
              <a:t> intensity.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Financial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Policy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algn="just" marL="469900" marR="6985">
              <a:lnSpc>
                <a:spcPts val="1220"/>
              </a:lnSpc>
            </a:pPr>
            <a:r>
              <a:rPr dirty="0" sz="1100" spc="5">
                <a:latin typeface="Garamond"/>
                <a:cs typeface="Garamond"/>
              </a:rPr>
              <a:t>An </a:t>
            </a:r>
            <a:r>
              <a:rPr dirty="0" sz="1100" spc="-5">
                <a:latin typeface="Garamond"/>
                <a:cs typeface="Garamond"/>
              </a:rPr>
              <a:t>increase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debt-equity </a:t>
            </a:r>
            <a:r>
              <a:rPr dirty="0" sz="1100" spc="-5">
                <a:latin typeface="Garamond"/>
                <a:cs typeface="Garamond"/>
              </a:rPr>
              <a:t>ratio </a:t>
            </a:r>
            <a:r>
              <a:rPr dirty="0" sz="1100">
                <a:latin typeface="Garamond"/>
                <a:cs typeface="Garamond"/>
              </a:rPr>
              <a:t>increases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firm’s </a:t>
            </a:r>
            <a:r>
              <a:rPr dirty="0" sz="1100">
                <a:latin typeface="Garamond"/>
                <a:cs typeface="Garamond"/>
              </a:rPr>
              <a:t>financial </a:t>
            </a:r>
            <a:r>
              <a:rPr dirty="0" sz="1100" spc="-5">
                <a:latin typeface="Garamond"/>
                <a:cs typeface="Garamond"/>
              </a:rPr>
              <a:t>leverage. Since this </a:t>
            </a:r>
            <a:r>
              <a:rPr dirty="0" sz="1100" spc="5">
                <a:latin typeface="Garamond"/>
                <a:cs typeface="Garamond"/>
              </a:rPr>
              <a:t>makes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available,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sustainable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Garamond"/>
              <a:cs typeface="Garamond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Dividend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Policy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Garamond"/>
              <a:cs typeface="Garamond"/>
            </a:endParaRPr>
          </a:p>
          <a:p>
            <a:pPr algn="just" marL="469900" marR="5715">
              <a:lnSpc>
                <a:spcPct val="94100"/>
              </a:lnSpc>
              <a:spcBef>
                <a:spcPts val="5"/>
              </a:spcBef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decrease in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percentage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 spc="5">
                <a:latin typeface="Garamond"/>
                <a:cs typeface="Garamond"/>
              </a:rPr>
              <a:t>net </a:t>
            </a:r>
            <a:r>
              <a:rPr dirty="0" sz="1100" spc="-5">
                <a:latin typeface="Garamond"/>
                <a:cs typeface="Garamond"/>
              </a:rPr>
              <a:t>income </a:t>
            </a:r>
            <a:r>
              <a:rPr dirty="0" sz="1100">
                <a:latin typeface="Garamond"/>
                <a:cs typeface="Garamond"/>
              </a:rPr>
              <a:t>paid </a:t>
            </a:r>
            <a:r>
              <a:rPr dirty="0" sz="1100" spc="5">
                <a:latin typeface="Garamond"/>
                <a:cs typeface="Garamond"/>
              </a:rPr>
              <a:t>out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>
                <a:latin typeface="Garamond"/>
                <a:cs typeface="Garamond"/>
              </a:rPr>
              <a:t>dividends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>
                <a:latin typeface="Garamond"/>
                <a:cs typeface="Garamond"/>
              </a:rPr>
              <a:t>increase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retention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ratio.</a:t>
            </a:r>
            <a:r>
              <a:rPr dirty="0" sz="1100" spc="5">
                <a:latin typeface="Garamond"/>
                <a:cs typeface="Garamond"/>
              </a:rPr>
              <a:t> 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internally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generated</a:t>
            </a:r>
            <a:r>
              <a:rPr dirty="0" sz="1100">
                <a:latin typeface="Garamond"/>
                <a:cs typeface="Garamond"/>
              </a:rPr>
              <a:t> equity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thus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internal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sustainable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growth.</a:t>
            </a:r>
            <a:endParaRPr sz="1100">
              <a:latin typeface="Garamond"/>
              <a:cs typeface="Garamond"/>
            </a:endParaRPr>
          </a:p>
          <a:p>
            <a:pPr algn="just" marL="699135" marR="12065" indent="-229235">
              <a:lnSpc>
                <a:spcPts val="1220"/>
              </a:lnSpc>
              <a:spcBef>
                <a:spcPts val="209"/>
              </a:spcBef>
              <a:buFont typeface="Symbol"/>
              <a:buChar char=""/>
              <a:tabLst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sustainable </a:t>
            </a:r>
            <a:r>
              <a:rPr dirty="0" sz="1100">
                <a:latin typeface="Garamond"/>
                <a:cs typeface="Garamond"/>
              </a:rPr>
              <a:t>growth </a:t>
            </a:r>
            <a:r>
              <a:rPr dirty="0" sz="1100" spc="-5">
                <a:latin typeface="Garamond"/>
                <a:cs typeface="Garamond"/>
              </a:rPr>
              <a:t>rate illustrates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explicit relationship between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 </a:t>
            </a:r>
            <a:r>
              <a:rPr dirty="0" sz="1100" spc="5">
                <a:latin typeface="Garamond"/>
                <a:cs typeface="Garamond"/>
              </a:rPr>
              <a:t>four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major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areas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concern: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19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efficiency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measured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profit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margin)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2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-5">
                <a:latin typeface="Garamond"/>
                <a:cs typeface="Garamond"/>
              </a:rPr>
              <a:t>Asset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efficiency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measured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turnover)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measured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debt-equity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ratio)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9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measured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retention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ratio)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ct val="100000"/>
              </a:lnSpc>
              <a:spcBef>
                <a:spcPts val="1160"/>
              </a:spcBef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sustainable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must:</a:t>
            </a:r>
            <a:endParaRPr sz="1100">
              <a:latin typeface="Garamond"/>
              <a:cs typeface="Garamond"/>
            </a:endParaRPr>
          </a:p>
          <a:p>
            <a:pPr marL="699135" indent="-229870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profit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margins,</a:t>
            </a:r>
            <a:endParaRPr sz="1100">
              <a:latin typeface="Garamond"/>
              <a:cs typeface="Garamond"/>
            </a:endParaRPr>
          </a:p>
          <a:p>
            <a:pPr marL="699135" indent="-229870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turnover,</a:t>
            </a:r>
            <a:endParaRPr sz="1100">
              <a:latin typeface="Garamond"/>
              <a:cs typeface="Garamond"/>
            </a:endParaRPr>
          </a:p>
          <a:p>
            <a:pPr marL="699135" indent="-22987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leverage,</a:t>
            </a:r>
            <a:endParaRPr sz="1100">
              <a:latin typeface="Garamond"/>
              <a:cs typeface="Garamond"/>
            </a:endParaRPr>
          </a:p>
          <a:p>
            <a:pPr marL="699135" indent="-22987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earnings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retention,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endParaRPr sz="1100">
              <a:latin typeface="Garamond"/>
              <a:cs typeface="Garamond"/>
            </a:endParaRPr>
          </a:p>
          <a:p>
            <a:pPr marL="699135" indent="-22987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Sell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68645" cy="86760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4867275">
              <a:lnSpc>
                <a:spcPts val="1355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15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12</a:t>
            </a:r>
            <a:endParaRPr sz="1150">
              <a:latin typeface="Garamond"/>
              <a:cs typeface="Garamond"/>
            </a:endParaRPr>
          </a:p>
          <a:p>
            <a:pPr algn="ctr" marL="23495">
              <a:lnSpc>
                <a:spcPts val="1355"/>
              </a:lnSpc>
            </a:pPr>
            <a:r>
              <a:rPr dirty="0" sz="1150" spc="20" b="1">
                <a:latin typeface="Garamond"/>
                <a:cs typeface="Garamond"/>
              </a:rPr>
              <a:t>USING</a:t>
            </a:r>
            <a:r>
              <a:rPr dirty="0" sz="1150" spc="25" b="1">
                <a:latin typeface="Garamond"/>
                <a:cs typeface="Garamond"/>
              </a:rPr>
              <a:t> FINANCIAL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STATEMENTS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INFORMATION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look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practical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aspects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analysis.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6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Reasons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Benchmarking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7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Problems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arising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process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10" b="1">
                <a:latin typeface="Garamond"/>
                <a:cs typeface="Garamond"/>
              </a:rPr>
              <a:t>Why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Evaluate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Financial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2032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Primary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reason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looking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don’t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can’t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such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instead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data.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conflict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data,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data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100" spc="10" b="1">
                <a:latin typeface="Garamond"/>
                <a:cs typeface="Garamond"/>
              </a:rPr>
              <a:t>Why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Evaluate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Financial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Garamond"/>
              <a:cs typeface="Garamond"/>
            </a:endParaRPr>
          </a:p>
          <a:p>
            <a:pPr marL="469900" marR="119380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Financial </a:t>
            </a:r>
            <a:r>
              <a:rPr dirty="0" sz="1100" spc="-5">
                <a:latin typeface="Garamond"/>
                <a:cs typeface="Garamond"/>
              </a:rPr>
              <a:t>statements analysis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10">
                <a:latin typeface="Garamond"/>
                <a:cs typeface="Garamond"/>
              </a:rPr>
              <a:t>an </a:t>
            </a:r>
            <a:r>
              <a:rPr dirty="0" sz="1100" spc="-5">
                <a:latin typeface="Garamond"/>
                <a:cs typeface="Garamond"/>
              </a:rPr>
              <a:t>application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management </a:t>
            </a:r>
            <a:r>
              <a:rPr dirty="0" sz="1100" spc="10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exception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5">
                <a:latin typeface="Garamond"/>
                <a:cs typeface="Garamond"/>
              </a:rPr>
              <a:t>boils </a:t>
            </a:r>
            <a:r>
              <a:rPr dirty="0" sz="1100" spc="5">
                <a:latin typeface="Garamond"/>
                <a:cs typeface="Garamond"/>
              </a:rPr>
              <a:t>down 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comparing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representative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considerably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studied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further.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Internal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Uses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Performance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Evaluation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Profit </a:t>
            </a:r>
            <a:r>
              <a:rPr dirty="0" sz="1100" spc="-5">
                <a:latin typeface="Garamond"/>
                <a:cs typeface="Garamond"/>
              </a:rPr>
              <a:t>margin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Comparing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performance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divisions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Planning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 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future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Historical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used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projections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Checking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realism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assumptions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projections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External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Uses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Customers: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evaluate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new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customer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Large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eye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sustainability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Suppliers: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Evaluate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supplier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Suppliers 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concerned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creditworthiness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100" b="1">
                <a:latin typeface="Garamond"/>
                <a:cs typeface="Garamond"/>
              </a:rPr>
              <a:t>External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Uses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Competitors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Potential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strength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competitors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new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launched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Acquisition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Identification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potential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targets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Choosing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Benchmark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Benchmarking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establish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standard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follow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comparison.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Some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methods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benchmarking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are: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Time-Trend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Peer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Group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8529" y="714501"/>
            <a:ext cx="5641340" cy="8785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Time-Trend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08000" indent="-229235">
              <a:lnSpc>
                <a:spcPts val="1270"/>
              </a:lnSpc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-5">
                <a:latin typeface="Garamond"/>
                <a:cs typeface="Garamond"/>
              </a:rPr>
              <a:t>Based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historical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data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 lvl="1" marL="737235" marR="108585" indent="-229235">
              <a:lnSpc>
                <a:spcPts val="1260"/>
              </a:lnSpc>
              <a:spcBef>
                <a:spcPts val="45"/>
              </a:spcBef>
              <a:buFont typeface="Courier New"/>
              <a:buChar char="o"/>
              <a:tabLst>
                <a:tab pos="736600" algn="l"/>
                <a:tab pos="737870" algn="l"/>
              </a:tabLst>
            </a:pPr>
            <a:r>
              <a:rPr dirty="0" sz="1100" spc="5">
                <a:latin typeface="Garamond"/>
                <a:cs typeface="Garamond"/>
              </a:rPr>
              <a:t>If the </a:t>
            </a:r>
            <a:r>
              <a:rPr dirty="0" sz="1100" spc="-5">
                <a:latin typeface="Garamond"/>
                <a:cs typeface="Garamond"/>
              </a:rPr>
              <a:t>current ratio </a:t>
            </a:r>
            <a:r>
              <a:rPr dirty="0" sz="1100" spc="5">
                <a:latin typeface="Garamond"/>
                <a:cs typeface="Garamond"/>
              </a:rPr>
              <a:t>of a </a:t>
            </a:r>
            <a:r>
              <a:rPr dirty="0" sz="1100">
                <a:latin typeface="Garamond"/>
                <a:cs typeface="Garamond"/>
              </a:rPr>
              <a:t>firm is 2.4 </a:t>
            </a:r>
            <a:r>
              <a:rPr dirty="0" sz="1100" spc="-10">
                <a:latin typeface="Garamond"/>
                <a:cs typeface="Garamond"/>
              </a:rPr>
              <a:t>for the </a:t>
            </a:r>
            <a:r>
              <a:rPr dirty="0" sz="1100" spc="-5">
                <a:latin typeface="Garamond"/>
                <a:cs typeface="Garamond"/>
              </a:rPr>
              <a:t>recent </a:t>
            </a:r>
            <a:r>
              <a:rPr dirty="0" sz="1100">
                <a:latin typeface="Garamond"/>
                <a:cs typeface="Garamond"/>
              </a:rPr>
              <a:t>financial </a:t>
            </a:r>
            <a:r>
              <a:rPr dirty="0" sz="1100" spc="-10">
                <a:latin typeface="Garamond"/>
                <a:cs typeface="Garamond"/>
              </a:rPr>
              <a:t>statements, </a:t>
            </a:r>
            <a:r>
              <a:rPr dirty="0" sz="1100" spc="10">
                <a:latin typeface="Garamond"/>
                <a:cs typeface="Garamond"/>
              </a:rPr>
              <a:t>we may </a:t>
            </a:r>
            <a:r>
              <a:rPr dirty="0" sz="1100" spc="-10">
                <a:latin typeface="Garamond"/>
                <a:cs typeface="Garamond"/>
              </a:rPr>
              <a:t>compare </a:t>
            </a:r>
            <a:r>
              <a:rPr dirty="0" sz="1100">
                <a:latin typeface="Garamond"/>
                <a:cs typeface="Garamond"/>
              </a:rPr>
              <a:t>it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last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lvl="1" marL="737235" indent="-229870">
              <a:lnSpc>
                <a:spcPts val="1180"/>
              </a:lnSpc>
              <a:buFont typeface="Courier New"/>
              <a:buChar char="o"/>
              <a:tabLst>
                <a:tab pos="736600" algn="l"/>
                <a:tab pos="737870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find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ratio has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declined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because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endParaRPr sz="1100">
              <a:latin typeface="Garamond"/>
              <a:cs typeface="Garamond"/>
            </a:endParaRPr>
          </a:p>
          <a:p>
            <a:pPr lvl="2" marL="965835" indent="-229235">
              <a:lnSpc>
                <a:spcPts val="1280"/>
              </a:lnSpc>
              <a:buFont typeface="Wingdings"/>
              <a:buChar char=""/>
              <a:tabLst>
                <a:tab pos="965200" algn="l"/>
                <a:tab pos="966469" algn="l"/>
              </a:tabLst>
            </a:pP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efficient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usage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lvl="2" marL="965835" indent="-229235">
              <a:lnSpc>
                <a:spcPts val="1290"/>
              </a:lnSpc>
              <a:buFont typeface="Wingdings"/>
              <a:buChar char=""/>
              <a:tabLst>
                <a:tab pos="965200" algn="l"/>
                <a:tab pos="966469" algn="l"/>
              </a:tabLst>
            </a:pPr>
            <a:r>
              <a:rPr dirty="0" sz="1100">
                <a:latin typeface="Garamond"/>
                <a:cs typeface="Garamond"/>
              </a:rPr>
              <a:t>Change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nature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 lvl="2" marL="965835" indent="-22923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965200" algn="l"/>
                <a:tab pos="966469" algn="l"/>
              </a:tabLst>
            </a:pPr>
            <a:r>
              <a:rPr dirty="0" sz="1100" spc="20">
                <a:latin typeface="Times New Roman"/>
                <a:cs typeface="Times New Roman"/>
              </a:rPr>
              <a:t>C</a:t>
            </a:r>
            <a:r>
              <a:rPr dirty="0" sz="1100" spc="-15">
                <a:latin typeface="Times New Roman"/>
                <a:cs typeface="Times New Roman"/>
              </a:rPr>
              <a:t>h</a:t>
            </a:r>
            <a:r>
              <a:rPr dirty="0" sz="1100" spc="1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ng</a:t>
            </a:r>
            <a:r>
              <a:rPr dirty="0" sz="1100" spc="5">
                <a:latin typeface="Times New Roman"/>
                <a:cs typeface="Times New Roman"/>
              </a:rPr>
              <a:t>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n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Times New Roman"/>
                <a:cs typeface="Times New Roman"/>
              </a:rPr>
              <a:t>bu</a:t>
            </a:r>
            <a:r>
              <a:rPr dirty="0" sz="1100" spc="-35">
                <a:latin typeface="Times New Roman"/>
                <a:cs typeface="Times New Roman"/>
              </a:rPr>
              <a:t>s</a:t>
            </a:r>
            <a:r>
              <a:rPr dirty="0" sz="1100" spc="1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n</a:t>
            </a:r>
            <a:r>
              <a:rPr dirty="0" sz="1100" spc="10">
                <a:latin typeface="Times New Roman"/>
                <a:cs typeface="Times New Roman"/>
              </a:rPr>
              <a:t>e</a:t>
            </a:r>
            <a:r>
              <a:rPr dirty="0" sz="1100" spc="5">
                <a:latin typeface="Times New Roman"/>
                <a:cs typeface="Times New Roman"/>
              </a:rPr>
              <a:t>ss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Times New Roman"/>
                <a:cs typeface="Times New Roman"/>
              </a:rPr>
              <a:t>p</a:t>
            </a:r>
            <a:r>
              <a:rPr dirty="0" sz="1100" spc="-10">
                <a:latin typeface="Times New Roman"/>
                <a:cs typeface="Times New Roman"/>
              </a:rPr>
              <a:t>r</a:t>
            </a:r>
            <a:r>
              <a:rPr dirty="0" sz="1100" spc="10">
                <a:latin typeface="Times New Roman"/>
                <a:cs typeface="Times New Roman"/>
              </a:rPr>
              <a:t>ac</a:t>
            </a:r>
            <a:r>
              <a:rPr dirty="0" sz="1100" spc="15">
                <a:latin typeface="Times New Roman"/>
                <a:cs typeface="Times New Roman"/>
              </a:rPr>
              <a:t>t</a:t>
            </a:r>
            <a:r>
              <a:rPr dirty="0" sz="1100" spc="10">
                <a:latin typeface="Times New Roman"/>
                <a:cs typeface="Times New Roman"/>
              </a:rPr>
              <a:t>i</a:t>
            </a:r>
            <a:r>
              <a:rPr dirty="0" sz="1100" spc="10">
                <a:latin typeface="Times New Roman"/>
                <a:cs typeface="Times New Roman"/>
              </a:rPr>
              <a:t>c</a:t>
            </a:r>
            <a:r>
              <a:rPr dirty="0" sz="1100" spc="10">
                <a:latin typeface="Times New Roman"/>
                <a:cs typeface="Times New Roman"/>
              </a:rPr>
              <a:t>e</a:t>
            </a:r>
            <a:r>
              <a:rPr dirty="0" sz="1100" spc="5">
                <a:latin typeface="Times New Roman"/>
                <a:cs typeface="Times New Roman"/>
              </a:rPr>
              <a:t>s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 spc="-15">
                <a:latin typeface="Times New Roman"/>
                <a:cs typeface="Times New Roman"/>
              </a:rPr>
              <a:t>o</a:t>
            </a:r>
            <a:r>
              <a:rPr dirty="0" sz="1100" spc="5">
                <a:latin typeface="Times New Roman"/>
                <a:cs typeface="Times New Roman"/>
              </a:rPr>
              <a:t>f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t</a:t>
            </a:r>
            <a:r>
              <a:rPr dirty="0" sz="1100" spc="-15">
                <a:latin typeface="Times New Roman"/>
                <a:cs typeface="Times New Roman"/>
              </a:rPr>
              <a:t>h</a:t>
            </a:r>
            <a:r>
              <a:rPr dirty="0" sz="1100" spc="5">
                <a:latin typeface="Times New Roman"/>
                <a:cs typeface="Times New Roman"/>
              </a:rPr>
              <a:t>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</a:t>
            </a:r>
            <a:r>
              <a:rPr dirty="0" sz="1100" spc="10">
                <a:latin typeface="Times New Roman"/>
                <a:cs typeface="Times New Roman"/>
              </a:rPr>
              <a:t>i</a:t>
            </a:r>
            <a:r>
              <a:rPr dirty="0" sz="1100" spc="-10">
                <a:latin typeface="Times New Roman"/>
                <a:cs typeface="Times New Roman"/>
              </a:rPr>
              <a:t>r</a:t>
            </a:r>
            <a:r>
              <a:rPr dirty="0" sz="1100" spc="10">
                <a:latin typeface="Times New Roman"/>
                <a:cs typeface="Times New Roman"/>
              </a:rPr>
              <a:t>m</a:t>
            </a:r>
            <a:endParaRPr sz="11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090"/>
              </a:spcBef>
            </a:pPr>
            <a:r>
              <a:rPr dirty="0" sz="1100" spc="5" b="1">
                <a:latin typeface="Garamond"/>
                <a:cs typeface="Garamond"/>
              </a:rPr>
              <a:t>Peer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Group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Identifying</a:t>
            </a:r>
            <a:r>
              <a:rPr dirty="0" sz="1100" spc="-10">
                <a:latin typeface="Garamond"/>
                <a:cs typeface="Garamond"/>
              </a:rPr>
              <a:t> the</a:t>
            </a:r>
            <a:r>
              <a:rPr dirty="0" sz="1100" spc="-5">
                <a:latin typeface="Garamond"/>
                <a:cs typeface="Garamond"/>
              </a:rPr>
              <a:t> firms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competing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markets,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-5">
                <a:latin typeface="Garamond"/>
                <a:cs typeface="Garamond"/>
              </a:rPr>
              <a:t> similar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assets,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Operate in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ways</a:t>
            </a:r>
            <a:endParaRPr sz="11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  <a:spcBef>
                <a:spcPts val="1165"/>
              </a:spcBef>
            </a:pPr>
            <a:r>
              <a:rPr dirty="0" sz="1100">
                <a:latin typeface="Garamond"/>
                <a:cs typeface="Garamond"/>
              </a:rPr>
              <a:t>Benchmarking: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averages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group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top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among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group</a:t>
            </a:r>
            <a:endParaRPr sz="11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  <a:spcBef>
                <a:spcPts val="1160"/>
              </a:spcBef>
            </a:pPr>
            <a:r>
              <a:rPr dirty="0" sz="1100" b="1">
                <a:latin typeface="Garamond"/>
                <a:cs typeface="Garamond"/>
              </a:rPr>
              <a:t>Problems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with</a:t>
            </a:r>
            <a:r>
              <a:rPr dirty="0" sz="1100" spc="-5" b="1">
                <a:latin typeface="Garamond"/>
                <a:cs typeface="Garamond"/>
              </a:rPr>
              <a:t> Financial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Statements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250">
              <a:latin typeface="Garamond"/>
              <a:cs typeface="Garamond"/>
            </a:endParaRPr>
          </a:p>
          <a:p>
            <a:pPr marL="508000" marR="104775" indent="-228600">
              <a:lnSpc>
                <a:spcPts val="1260"/>
              </a:lnSpc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underlying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theory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help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identify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look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guide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establishing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benchmark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ts val="1290"/>
              </a:lnSpc>
              <a:spcBef>
                <a:spcPts val="1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Very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little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help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 lvl="1" marL="737235" indent="-229870">
              <a:lnSpc>
                <a:spcPts val="1240"/>
              </a:lnSpc>
              <a:buFont typeface="Courier New"/>
              <a:buChar char="o"/>
              <a:tabLst>
                <a:tab pos="736600" algn="l"/>
                <a:tab pos="737870" algn="l"/>
              </a:tabLst>
            </a:pP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matter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most?</a:t>
            </a:r>
            <a:endParaRPr sz="1100">
              <a:latin typeface="Garamond"/>
              <a:cs typeface="Garamond"/>
            </a:endParaRPr>
          </a:p>
          <a:p>
            <a:pPr lvl="1" marL="737235" indent="-229870">
              <a:lnSpc>
                <a:spcPts val="1270"/>
              </a:lnSpc>
              <a:buFont typeface="Courier New"/>
              <a:buChar char="o"/>
              <a:tabLst>
                <a:tab pos="736600" algn="l"/>
                <a:tab pos="737870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high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low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might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be?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-5">
                <a:latin typeface="Garamond"/>
                <a:cs typeface="Garamond"/>
              </a:rPr>
              <a:t>Firms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many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diversified</a:t>
            </a:r>
            <a:r>
              <a:rPr dirty="0" sz="1100" spc="-5">
                <a:latin typeface="Garamond"/>
                <a:cs typeface="Garamond"/>
              </a:rPr>
              <a:t> businesses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Different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standards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procedures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world</a:t>
            </a:r>
            <a:endParaRPr sz="11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Time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Value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Money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508000" marR="151765" indent="-228600">
              <a:lnSpc>
                <a:spcPts val="1260"/>
              </a:lnSpc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It </a:t>
            </a:r>
            <a:r>
              <a:rPr dirty="0" sz="1100">
                <a:latin typeface="Garamond"/>
                <a:cs typeface="Garamond"/>
              </a:rPr>
              <a:t>refers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fact that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dollar in </a:t>
            </a:r>
            <a:r>
              <a:rPr dirty="0" sz="1100" spc="-5">
                <a:latin typeface="Garamond"/>
                <a:cs typeface="Garamond"/>
              </a:rPr>
              <a:t>hand today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worth </a:t>
            </a:r>
            <a:r>
              <a:rPr dirty="0" sz="1100" spc="-5">
                <a:latin typeface="Garamond"/>
                <a:cs typeface="Garamond"/>
              </a:rPr>
              <a:t>more </a:t>
            </a:r>
            <a:r>
              <a:rPr dirty="0" sz="1100" spc="-10">
                <a:latin typeface="Garamond"/>
                <a:cs typeface="Garamond"/>
              </a:rPr>
              <a:t>than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dollar </a:t>
            </a:r>
            <a:r>
              <a:rPr dirty="0" sz="1100" spc="-5">
                <a:latin typeface="Garamond"/>
                <a:cs typeface="Garamond"/>
              </a:rPr>
              <a:t>promised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5">
                <a:latin typeface="Garamond"/>
                <a:cs typeface="Garamond"/>
              </a:rPr>
              <a:t>some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future.</a:t>
            </a:r>
            <a:endParaRPr sz="1100">
              <a:latin typeface="Garamond"/>
              <a:cs typeface="Garamond"/>
            </a:endParaRPr>
          </a:p>
          <a:p>
            <a:pPr marL="508000" marR="17780" indent="-228600">
              <a:lnSpc>
                <a:spcPts val="1230"/>
              </a:lnSpc>
              <a:spcBef>
                <a:spcPts val="170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trade-off between money today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5">
                <a:latin typeface="Garamond"/>
                <a:cs typeface="Garamond"/>
              </a:rPr>
              <a:t>money later </a:t>
            </a:r>
            <a:r>
              <a:rPr dirty="0" sz="1100">
                <a:latin typeface="Garamond"/>
                <a:cs typeface="Garamond"/>
              </a:rPr>
              <a:t>depends </a:t>
            </a:r>
            <a:r>
              <a:rPr dirty="0" sz="1100" spc="5">
                <a:latin typeface="Garamond"/>
                <a:cs typeface="Garamond"/>
              </a:rPr>
              <a:t>on, </a:t>
            </a:r>
            <a:r>
              <a:rPr dirty="0" sz="1100" spc="-5">
                <a:latin typeface="Garamond"/>
                <a:cs typeface="Garamond"/>
              </a:rPr>
              <a:t>among </a:t>
            </a:r>
            <a:r>
              <a:rPr dirty="0" sz="1100" spc="5">
                <a:latin typeface="Garamond"/>
                <a:cs typeface="Garamond"/>
              </a:rPr>
              <a:t>other </a:t>
            </a:r>
            <a:r>
              <a:rPr dirty="0" sz="1100" spc="-5">
                <a:latin typeface="Garamond"/>
                <a:cs typeface="Garamond"/>
              </a:rPr>
              <a:t>things,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rate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income.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Simple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Interest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vs.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Compound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Interest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Garamond"/>
              <a:cs typeface="Garamond"/>
            </a:endParaRPr>
          </a:p>
          <a:p>
            <a:pPr marL="50800" marR="63500">
              <a:lnSpc>
                <a:spcPts val="1230"/>
              </a:lnSpc>
            </a:pPr>
            <a:r>
              <a:rPr dirty="0" sz="1100" spc="5">
                <a:latin typeface="Garamond"/>
                <a:cs typeface="Garamond"/>
              </a:rPr>
              <a:t>Its most </a:t>
            </a:r>
            <a:r>
              <a:rPr dirty="0" sz="1100" spc="-5">
                <a:latin typeface="Garamond"/>
                <a:cs typeface="Garamond"/>
              </a:rPr>
              <a:t>basic form, interest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calculated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>
                <a:latin typeface="Garamond"/>
                <a:cs typeface="Garamond"/>
              </a:rPr>
              <a:t>multiplying </a:t>
            </a:r>
            <a:r>
              <a:rPr dirty="0" sz="1100" spc="-5">
                <a:latin typeface="Garamond"/>
                <a:cs typeface="Garamond"/>
              </a:rPr>
              <a:t>principal (amount invested) </a:t>
            </a:r>
            <a:r>
              <a:rPr dirty="0" sz="1100" spc="-10">
                <a:latin typeface="Garamond"/>
                <a:cs typeface="Garamond"/>
              </a:rPr>
              <a:t>by </a:t>
            </a:r>
            <a:r>
              <a:rPr dirty="0" sz="1100">
                <a:latin typeface="Garamond"/>
                <a:cs typeface="Garamond"/>
              </a:rPr>
              <a:t>rate </a:t>
            </a:r>
            <a:r>
              <a:rPr dirty="0" sz="1100" spc="-15">
                <a:latin typeface="Garamond"/>
                <a:cs typeface="Garamond"/>
              </a:rPr>
              <a:t>(%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multiplied</a:t>
            </a:r>
            <a:r>
              <a:rPr dirty="0" sz="1100" spc="5">
                <a:latin typeface="Garamond"/>
                <a:cs typeface="Garamond"/>
              </a:rPr>
              <a:t> 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(number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calculated).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>
                <a:latin typeface="Garamond"/>
                <a:cs typeface="Garamond"/>
              </a:rPr>
              <a:t> simple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Garamond"/>
              <a:cs typeface="Garamond"/>
            </a:endParaRPr>
          </a:p>
          <a:p>
            <a:pPr marL="2566670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I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</a:t>
            </a:r>
            <a:endParaRPr sz="1100">
              <a:latin typeface="Garamond"/>
              <a:cs typeface="Garamond"/>
            </a:endParaRPr>
          </a:p>
          <a:p>
            <a:pPr marL="508000">
              <a:lnSpc>
                <a:spcPts val="1245"/>
              </a:lnSpc>
            </a:pPr>
            <a:r>
              <a:rPr dirty="0" sz="1100">
                <a:latin typeface="Garamond"/>
                <a:cs typeface="Garamond"/>
              </a:rPr>
              <a:t>Where</a:t>
            </a:r>
            <a:endParaRPr sz="1100">
              <a:latin typeface="Garamond"/>
              <a:cs typeface="Garamond"/>
            </a:endParaRPr>
          </a:p>
          <a:p>
            <a:pPr marL="508000" marR="3863975">
              <a:lnSpc>
                <a:spcPts val="1220"/>
              </a:lnSpc>
              <a:spcBef>
                <a:spcPts val="95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=&gt;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principal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=&gt;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 marL="508000" marR="3763645">
              <a:lnSpc>
                <a:spcPts val="1220"/>
              </a:lnSpc>
              <a:spcBef>
                <a:spcPts val="45"/>
              </a:spcBef>
            </a:pPr>
            <a:r>
              <a:rPr dirty="0" sz="1100">
                <a:latin typeface="Garamond"/>
                <a:cs typeface="Garamond"/>
              </a:rPr>
              <a:t>t </a:t>
            </a:r>
            <a:r>
              <a:rPr dirty="0" sz="1100" spc="-5">
                <a:latin typeface="Garamond"/>
                <a:cs typeface="Garamond"/>
              </a:rPr>
              <a:t>=&gt; time </a:t>
            </a:r>
            <a:r>
              <a:rPr dirty="0" sz="1100">
                <a:latin typeface="Garamond"/>
                <a:cs typeface="Garamond"/>
              </a:rPr>
              <a:t>periods </a:t>
            </a:r>
            <a:r>
              <a:rPr dirty="0" sz="1100" spc="-5">
                <a:latin typeface="Garamond"/>
                <a:cs typeface="Garamond"/>
              </a:rPr>
              <a:t>(years)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=&gt;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simple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Garamond"/>
              <a:cs typeface="Garamond"/>
            </a:endParaRPr>
          </a:p>
          <a:p>
            <a:pPr marL="50800" marR="73025">
              <a:lnSpc>
                <a:spcPts val="1220"/>
              </a:lnSpc>
            </a:pPr>
            <a:r>
              <a:rPr dirty="0" sz="1100">
                <a:latin typeface="Garamond"/>
                <a:cs typeface="Garamond"/>
              </a:rPr>
              <a:t>However,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left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accumulate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5">
                <a:latin typeface="Garamond"/>
                <a:cs typeface="Garamond"/>
              </a:rPr>
              <a:t> (usually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year),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practice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 after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earned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credited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given </a:t>
            </a:r>
            <a:r>
              <a:rPr dirty="0" sz="1100" spc="-5">
                <a:latin typeface="Garamond"/>
                <a:cs typeface="Garamond"/>
              </a:rPr>
              <a:t>period,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 </a:t>
            </a:r>
            <a:r>
              <a:rPr dirty="0" sz="1100">
                <a:latin typeface="Garamond"/>
                <a:cs typeface="Garamond"/>
              </a:rPr>
              <a:t> sum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principal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now</a:t>
            </a:r>
            <a:r>
              <a:rPr dirty="0" sz="1100" spc="-5">
                <a:latin typeface="Garamond"/>
                <a:cs typeface="Garamond"/>
              </a:rPr>
              <a:t> earn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5">
                <a:latin typeface="Garamond"/>
                <a:cs typeface="Garamond"/>
              </a:rPr>
              <a:t>next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etc.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compound interest.</a:t>
            </a:r>
            <a:endParaRPr sz="1100">
              <a:latin typeface="Garamond"/>
              <a:cs typeface="Garamond"/>
            </a:endParaRPr>
          </a:p>
          <a:p>
            <a:pPr marL="2639695">
              <a:lnSpc>
                <a:spcPts val="1245"/>
              </a:lnSpc>
            </a:pPr>
            <a:r>
              <a:rPr dirty="0" sz="1100" spc="5">
                <a:latin typeface="Garamond"/>
                <a:cs typeface="Garamond"/>
              </a:rPr>
              <a:t>I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</a:t>
            </a:r>
            <a:r>
              <a:rPr dirty="0" baseline="21367" sz="975">
                <a:latin typeface="Garamond"/>
                <a:cs typeface="Garamond"/>
              </a:rPr>
              <a:t>t</a:t>
            </a:r>
            <a:endParaRPr baseline="21367" sz="975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8529" y="714501"/>
            <a:ext cx="5765165" cy="4834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Future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508000" marR="118110" indent="-228600">
              <a:lnSpc>
                <a:spcPts val="1220"/>
              </a:lnSpc>
              <a:spcBef>
                <a:spcPts val="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It </a:t>
            </a:r>
            <a:r>
              <a:rPr dirty="0" sz="1100">
                <a:latin typeface="Garamond"/>
                <a:cs typeface="Garamond"/>
              </a:rPr>
              <a:t>refers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amount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money </a:t>
            </a:r>
            <a:r>
              <a:rPr dirty="0" sz="1100" spc="-10">
                <a:latin typeface="Garamond"/>
                <a:cs typeface="Garamond"/>
              </a:rPr>
              <a:t>an </a:t>
            </a:r>
            <a:r>
              <a:rPr dirty="0" sz="1100" spc="-5">
                <a:latin typeface="Garamond"/>
                <a:cs typeface="Garamond"/>
              </a:rPr>
              <a:t>investment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5">
                <a:latin typeface="Garamond"/>
                <a:cs typeface="Garamond"/>
              </a:rPr>
              <a:t>grow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over </a:t>
            </a:r>
            <a:r>
              <a:rPr dirty="0" sz="1100" spc="-5">
                <a:latin typeface="Garamond"/>
                <a:cs typeface="Garamond"/>
              </a:rPr>
              <a:t>some </a:t>
            </a:r>
            <a:r>
              <a:rPr dirty="0" sz="1100">
                <a:latin typeface="Garamond"/>
                <a:cs typeface="Garamond"/>
              </a:rPr>
              <a:t>period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time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some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60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Alternatively,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future.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ts val="1275"/>
              </a:lnSpc>
              <a:spcBef>
                <a:spcPts val="8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Simple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 marL="2680970">
              <a:lnSpc>
                <a:spcPts val="1275"/>
              </a:lnSpc>
            </a:pPr>
            <a:r>
              <a:rPr dirty="0" sz="1100" spc="5">
                <a:latin typeface="Garamond"/>
                <a:cs typeface="Garamond"/>
              </a:rPr>
              <a:t>I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508000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deposit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year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years' </a:t>
            </a:r>
            <a:r>
              <a:rPr dirty="0" sz="1100">
                <a:latin typeface="Garamond"/>
                <a:cs typeface="Garamond"/>
              </a:rPr>
              <a:t>simple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interest:</a:t>
            </a:r>
            <a:endParaRPr sz="1100">
              <a:latin typeface="Garamond"/>
              <a:cs typeface="Garamond"/>
            </a:endParaRPr>
          </a:p>
          <a:p>
            <a:pPr marL="508000">
              <a:lnSpc>
                <a:spcPts val="1245"/>
              </a:lnSpc>
            </a:pPr>
            <a:r>
              <a:rPr dirty="0" sz="1100" spc="5">
                <a:latin typeface="Garamond"/>
                <a:cs typeface="Garamond"/>
              </a:rPr>
              <a:t>I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.08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240</a:t>
            </a:r>
            <a:endParaRPr sz="1100">
              <a:latin typeface="Garamond"/>
              <a:cs typeface="Garamond"/>
            </a:endParaRPr>
          </a:p>
          <a:p>
            <a:pPr marL="508000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deposit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simple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three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$240 interest.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508000" marR="43180" indent="-228600">
              <a:lnSpc>
                <a:spcPts val="1220"/>
              </a:lnSpc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future</a:t>
            </a:r>
            <a:r>
              <a:rPr dirty="0" sz="1100" spc="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 </a:t>
            </a:r>
            <a:r>
              <a:rPr dirty="0" sz="1100" b="1">
                <a:latin typeface="Garamond"/>
                <a:cs typeface="Garamond"/>
              </a:rPr>
              <a:t>(FV)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simple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calculation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derived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original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principal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back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earned.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Garamond"/>
              <a:cs typeface="Garamond"/>
            </a:endParaRPr>
          </a:p>
          <a:p>
            <a:pPr marL="965835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$1,000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$240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$1,240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algn="r" marR="395605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Expressed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formula: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965835">
              <a:lnSpc>
                <a:spcPts val="1270"/>
              </a:lnSpc>
            </a:pPr>
            <a:r>
              <a:rPr dirty="0" sz="1100" spc="-5">
                <a:latin typeface="Garamond"/>
                <a:cs typeface="Garamond"/>
              </a:rPr>
              <a:t>FV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P(1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rt)</a:t>
            </a:r>
            <a:endParaRPr sz="1100">
              <a:latin typeface="Garamond"/>
              <a:cs typeface="Garamond"/>
            </a:endParaRPr>
          </a:p>
          <a:p>
            <a:pPr marL="965835">
              <a:lnSpc>
                <a:spcPts val="1225"/>
              </a:lnSpc>
            </a:pPr>
            <a:r>
              <a:rPr dirty="0" sz="1100" spc="-5">
                <a:latin typeface="Garamond"/>
                <a:cs typeface="Garamond"/>
              </a:rPr>
              <a:t>FV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1000+(1000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.08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1,240</a:t>
            </a:r>
            <a:endParaRPr sz="1100">
              <a:latin typeface="Garamond"/>
              <a:cs typeface="Garamond"/>
            </a:endParaRPr>
          </a:p>
          <a:p>
            <a:pPr marL="965835" marR="1497330">
              <a:lnSpc>
                <a:spcPts val="1260"/>
              </a:lnSpc>
              <a:spcBef>
                <a:spcPts val="45"/>
              </a:spcBef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one-period</a:t>
            </a:r>
            <a:r>
              <a:rPr dirty="0" sz="1100" spc="-5">
                <a:latin typeface="Garamond"/>
                <a:cs typeface="Garamond"/>
              </a:rPr>
              <a:t> case,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formula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written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as: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</a:t>
            </a:r>
            <a:r>
              <a:rPr dirty="0" baseline="-8547" sz="975" spc="7">
                <a:latin typeface="Garamond"/>
                <a:cs typeface="Garamond"/>
              </a:rPr>
              <a:t>0</a:t>
            </a:r>
            <a:r>
              <a:rPr dirty="0" sz="1100" spc="5">
                <a:latin typeface="Garamond"/>
                <a:cs typeface="Garamond"/>
              </a:rPr>
              <a:t>×(1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r)</a:t>
            </a:r>
            <a:endParaRPr sz="1100">
              <a:latin typeface="Garamond"/>
              <a:cs typeface="Garamond"/>
            </a:endParaRPr>
          </a:p>
          <a:p>
            <a:pPr marL="965835">
              <a:lnSpc>
                <a:spcPts val="1190"/>
              </a:lnSpc>
            </a:pP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C</a:t>
            </a:r>
            <a:r>
              <a:rPr dirty="0" baseline="-8547" sz="975" spc="22">
                <a:latin typeface="Garamond"/>
                <a:cs typeface="Garamond"/>
              </a:rPr>
              <a:t>0</a:t>
            </a:r>
            <a:r>
              <a:rPr dirty="0" baseline="-8547" sz="975" spc="202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(time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‘r’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appropriate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algn="r" marR="393065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Future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for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Lump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Sum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Garamond"/>
              <a:cs typeface="Garamond"/>
            </a:endParaRPr>
          </a:p>
          <a:p>
            <a:pPr marL="508000" marR="281940">
              <a:lnSpc>
                <a:spcPts val="1230"/>
              </a:lnSpc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 spc="-5">
                <a:latin typeface="Garamond"/>
                <a:cs typeface="Garamond"/>
              </a:rPr>
              <a:t>$100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invested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10% interest rate,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future value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this $100 </a:t>
            </a:r>
            <a:r>
              <a:rPr dirty="0" sz="1100">
                <a:latin typeface="Garamond"/>
                <a:cs typeface="Garamond"/>
              </a:rPr>
              <a:t>in each </a:t>
            </a:r>
            <a:r>
              <a:rPr dirty="0" sz="1100" spc="-5">
                <a:latin typeface="Garamond"/>
                <a:cs typeface="Garamond"/>
              </a:rPr>
              <a:t>proceeding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be:</a:t>
            </a:r>
            <a:endParaRPr sz="1100">
              <a:latin typeface="Garamond"/>
              <a:cs typeface="Garamond"/>
            </a:endParaRPr>
          </a:p>
          <a:p>
            <a:pPr marL="737235">
              <a:lnSpc>
                <a:spcPts val="1195"/>
              </a:lnSpc>
              <a:tabLst>
                <a:tab pos="965200" algn="l"/>
                <a:tab pos="1423035" algn="l"/>
              </a:tabLst>
            </a:pPr>
            <a:r>
              <a:rPr dirty="0" sz="1100" spc="10">
                <a:latin typeface="Garamond"/>
                <a:cs typeface="Garamond"/>
              </a:rPr>
              <a:t>1.	</a:t>
            </a:r>
            <a:r>
              <a:rPr dirty="0" sz="1100" spc="5">
                <a:latin typeface="Garamond"/>
                <a:cs typeface="Garamond"/>
              </a:rPr>
              <a:t>$110	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.10)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50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63089" y="5668136"/>
            <a:ext cx="5168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40665" algn="l"/>
              </a:tabLst>
            </a:pPr>
            <a:r>
              <a:rPr dirty="0" sz="1100" spc="20">
                <a:latin typeface="Garamond"/>
                <a:cs typeface="Garamond"/>
              </a:rPr>
              <a:t>2</a:t>
            </a:r>
            <a:r>
              <a:rPr dirty="0" sz="1100">
                <a:latin typeface="Garamond"/>
                <a:cs typeface="Garamond"/>
              </a:rPr>
              <a:t>.</a:t>
            </a:r>
            <a:r>
              <a:rPr dirty="0" sz="1100">
                <a:latin typeface="Garamond"/>
                <a:cs typeface="Garamond"/>
              </a:rPr>
              <a:t>	</a:t>
            </a: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-15">
                <a:latin typeface="Garamond"/>
                <a:cs typeface="Garamond"/>
              </a:rPr>
              <a:t>1</a:t>
            </a:r>
            <a:r>
              <a:rPr dirty="0" sz="1100" spc="20">
                <a:latin typeface="Garamond"/>
                <a:cs typeface="Garamond"/>
              </a:rPr>
              <a:t>2</a:t>
            </a:r>
            <a:r>
              <a:rPr dirty="0" sz="1100" spc="5">
                <a:latin typeface="Garamond"/>
                <a:cs typeface="Garamond"/>
              </a:rPr>
              <a:t>1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23744" y="5668136"/>
            <a:ext cx="2212340" cy="351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ts val="127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$110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.10)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1.10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1.10</a:t>
            </a:r>
            <a:endParaRPr sz="1100">
              <a:latin typeface="Garamond"/>
              <a:cs typeface="Garamond"/>
            </a:endParaRPr>
          </a:p>
          <a:p>
            <a:pPr marL="38100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5">
                <a:latin typeface="Garamond"/>
                <a:cs typeface="Garamond"/>
              </a:rPr>
              <a:t> (1.10)</a:t>
            </a:r>
            <a:r>
              <a:rPr dirty="0" baseline="21367" sz="975" spc="-7">
                <a:latin typeface="Garamond"/>
                <a:cs typeface="Garamond"/>
              </a:rPr>
              <a:t>2</a:t>
            </a:r>
            <a:endParaRPr baseline="21367" sz="975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8529" y="6139433"/>
            <a:ext cx="5786755" cy="20847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737235">
              <a:lnSpc>
                <a:spcPts val="1290"/>
              </a:lnSpc>
              <a:spcBef>
                <a:spcPts val="114"/>
              </a:spcBef>
              <a:tabLst>
                <a:tab pos="965200" algn="l"/>
              </a:tabLst>
            </a:pPr>
            <a:r>
              <a:rPr dirty="0" sz="1100" spc="10">
                <a:latin typeface="Garamond"/>
                <a:cs typeface="Garamond"/>
              </a:rPr>
              <a:t>3.	</a:t>
            </a:r>
            <a:r>
              <a:rPr dirty="0" sz="1100">
                <a:latin typeface="Garamond"/>
                <a:cs typeface="Garamond"/>
              </a:rPr>
              <a:t>$133.10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$121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.10)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1.10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1.10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.10</a:t>
            </a:r>
            <a:endParaRPr sz="1100">
              <a:latin typeface="Garamond"/>
              <a:cs typeface="Garamond"/>
            </a:endParaRPr>
          </a:p>
          <a:p>
            <a:pPr marL="14230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(1.10)</a:t>
            </a:r>
            <a:r>
              <a:rPr dirty="0" baseline="21367" sz="975" spc="-7">
                <a:latin typeface="Garamond"/>
                <a:cs typeface="Garamond"/>
              </a:rPr>
              <a:t>3</a:t>
            </a:r>
            <a:endParaRPr baseline="21367" sz="975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Multi-period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Case: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Future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965835" marR="1680210" indent="-457834">
              <a:lnSpc>
                <a:spcPts val="1220"/>
              </a:lnSpc>
            </a:pPr>
            <a:r>
              <a:rPr dirty="0" sz="1100">
                <a:latin typeface="Garamond"/>
                <a:cs typeface="Garamond"/>
              </a:rPr>
              <a:t>Generalizing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future value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an </a:t>
            </a:r>
            <a:r>
              <a:rPr dirty="0" sz="1100" spc="-5">
                <a:latin typeface="Garamond"/>
                <a:cs typeface="Garamond"/>
              </a:rPr>
              <a:t>investment </a:t>
            </a:r>
            <a:r>
              <a:rPr dirty="0" sz="1100">
                <a:latin typeface="Garamond"/>
                <a:cs typeface="Garamond"/>
              </a:rPr>
              <a:t>over many periods: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</a:t>
            </a:r>
            <a:r>
              <a:rPr dirty="0" baseline="-8547" sz="975" spc="7">
                <a:latin typeface="Garamond"/>
                <a:cs typeface="Garamond"/>
              </a:rPr>
              <a:t>0</a:t>
            </a:r>
            <a:r>
              <a:rPr dirty="0" sz="1100" spc="5">
                <a:latin typeface="Garamond"/>
                <a:cs typeface="Garamond"/>
              </a:rPr>
              <a:t>×(1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r)t</a:t>
            </a:r>
            <a:endParaRPr sz="1100">
              <a:latin typeface="Garamond"/>
              <a:cs typeface="Garamond"/>
            </a:endParaRPr>
          </a:p>
          <a:p>
            <a:pPr marL="508000">
              <a:lnSpc>
                <a:spcPts val="1195"/>
              </a:lnSpc>
            </a:pPr>
            <a:r>
              <a:rPr dirty="0" sz="1100">
                <a:latin typeface="Garamond"/>
                <a:cs typeface="Garamond"/>
              </a:rPr>
              <a:t>Where,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C</a:t>
            </a:r>
            <a:r>
              <a:rPr dirty="0" baseline="-8547" sz="975" spc="22">
                <a:latin typeface="Garamond"/>
                <a:cs typeface="Garamond"/>
              </a:rPr>
              <a:t>0</a:t>
            </a:r>
            <a:r>
              <a:rPr dirty="0" baseline="-8547" sz="975" spc="187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0,</a:t>
            </a:r>
            <a:endParaRPr sz="1100">
              <a:latin typeface="Garamond"/>
              <a:cs typeface="Garamond"/>
            </a:endParaRPr>
          </a:p>
          <a:p>
            <a:pPr marL="965835">
              <a:lnSpc>
                <a:spcPts val="1245"/>
              </a:lnSpc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appropriate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marL="965835">
              <a:lnSpc>
                <a:spcPts val="1240"/>
              </a:lnSpc>
            </a:pP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invested.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expression</a:t>
            </a:r>
            <a:r>
              <a:rPr dirty="0" sz="1100" spc="-15">
                <a:latin typeface="Garamond"/>
                <a:cs typeface="Garamond"/>
              </a:rPr>
              <a:t> (1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r)</a:t>
            </a:r>
            <a:r>
              <a:rPr dirty="0" baseline="21367" sz="975" spc="22">
                <a:latin typeface="Garamond"/>
                <a:cs typeface="Garamond"/>
              </a:rPr>
              <a:t>t</a:t>
            </a:r>
            <a:r>
              <a:rPr dirty="0" baseline="21367" sz="975" spc="157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endParaRPr sz="1100">
              <a:latin typeface="Garamond"/>
              <a:cs typeface="Garamond"/>
            </a:endParaRPr>
          </a:p>
          <a:p>
            <a:pPr marL="965835">
              <a:lnSpc>
                <a:spcPts val="1270"/>
              </a:lnSpc>
            </a:pPr>
            <a:r>
              <a:rPr dirty="0" sz="1100" i="1">
                <a:latin typeface="Garamond"/>
                <a:cs typeface="Garamond"/>
              </a:rPr>
              <a:t>future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value</a:t>
            </a:r>
            <a:r>
              <a:rPr dirty="0" sz="1100" spc="-5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interest</a:t>
            </a:r>
            <a:r>
              <a:rPr dirty="0" sz="1100" spc="-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factor</a:t>
            </a:r>
            <a:r>
              <a:rPr dirty="0" sz="1100">
                <a:latin typeface="Garamond"/>
                <a:cs typeface="Garamond"/>
              </a:rPr>
              <a:t>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Multi-period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Case: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Future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953514" y="8219566"/>
          <a:ext cx="4117340" cy="1134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440"/>
                <a:gridCol w="1332865"/>
                <a:gridCol w="1131570"/>
                <a:gridCol w="1167129"/>
              </a:tblGrid>
              <a:tr h="196596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Beginning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Amount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Earned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Ending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Amount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177">
                <a:tc>
                  <a:txBody>
                    <a:bodyPr/>
                    <a:lstStyle/>
                    <a:p>
                      <a:pPr algn="ctr" marL="3810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$110.00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 marL="508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110.00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121.00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algn="ctr" marL="508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121.00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12.10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133.10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L="508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133.10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13.31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146.41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algn="ctr" marL="508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146.41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27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14.64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161.05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221482" y="9318142"/>
            <a:ext cx="125857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55040" algn="l"/>
              </a:tabLst>
            </a:pPr>
            <a:r>
              <a:rPr dirty="0" sz="1100" spc="-5" b="1">
                <a:latin typeface="Garamond"/>
                <a:cs typeface="Garamond"/>
              </a:rPr>
              <a:t>T</a:t>
            </a:r>
            <a:r>
              <a:rPr dirty="0" sz="1100" spc="-40" b="1">
                <a:latin typeface="Garamond"/>
                <a:cs typeface="Garamond"/>
              </a:rPr>
              <a:t>o</a:t>
            </a:r>
            <a:r>
              <a:rPr dirty="0" sz="1100" spc="15" b="1">
                <a:latin typeface="Garamond"/>
                <a:cs typeface="Garamond"/>
              </a:rPr>
              <a:t>t</a:t>
            </a:r>
            <a:r>
              <a:rPr dirty="0" sz="1100" spc="5" b="1">
                <a:latin typeface="Garamond"/>
                <a:cs typeface="Garamond"/>
              </a:rPr>
              <a:t>al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45" b="1">
                <a:latin typeface="Garamond"/>
                <a:cs typeface="Garamond"/>
              </a:rPr>
              <a:t>I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-25" b="1">
                <a:latin typeface="Garamond"/>
                <a:cs typeface="Garamond"/>
              </a:rPr>
              <a:t>t</a:t>
            </a:r>
            <a:r>
              <a:rPr dirty="0" sz="1100" spc="20" b="1">
                <a:latin typeface="Garamond"/>
                <a:cs typeface="Garamond"/>
              </a:rPr>
              <a:t>e</a:t>
            </a:r>
            <a:r>
              <a:rPr dirty="0" sz="1100" spc="-20" b="1">
                <a:latin typeface="Garamond"/>
                <a:cs typeface="Garamond"/>
              </a:rPr>
              <a:t>r</a:t>
            </a:r>
            <a:r>
              <a:rPr dirty="0" sz="1100" spc="20" b="1">
                <a:latin typeface="Garamond"/>
                <a:cs typeface="Garamond"/>
              </a:rPr>
              <a:t>e</a:t>
            </a:r>
            <a:r>
              <a:rPr dirty="0" sz="1100" spc="-30" b="1">
                <a:latin typeface="Garamond"/>
                <a:cs typeface="Garamond"/>
              </a:rPr>
              <a:t>s</a:t>
            </a:r>
            <a:r>
              <a:rPr dirty="0" sz="1100" spc="5" b="1">
                <a:latin typeface="Garamond"/>
                <a:cs typeface="Garamond"/>
              </a:rPr>
              <a:t>t</a:t>
            </a:r>
            <a:r>
              <a:rPr dirty="0" sz="1100" b="1">
                <a:latin typeface="Garamond"/>
                <a:cs typeface="Garamond"/>
              </a:rPr>
              <a:t>	</a:t>
            </a:r>
            <a:r>
              <a:rPr dirty="0" u="dbl" sz="1100" spc="2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6</a:t>
            </a:r>
            <a:r>
              <a:rPr dirty="0" u="dbl" sz="1100" spc="-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1</a:t>
            </a:r>
            <a:r>
              <a:rPr dirty="0" u="dbl" sz="1100" spc="-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.</a:t>
            </a:r>
            <a:r>
              <a:rPr dirty="0" u="dbl" sz="1100" spc="-2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0</a:t>
            </a:r>
            <a:r>
              <a:rPr dirty="0" u="dbl" sz="1100" spc="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5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221297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Multi-period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Case: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Future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3774694"/>
            <a:ext cx="150114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Future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Projections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6629" y="6550914"/>
            <a:ext cx="194945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Future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Compounding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4666" y="953754"/>
            <a:ext cx="4224540" cy="266772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6281" y="4148701"/>
            <a:ext cx="4009301" cy="225927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31337" y="6920069"/>
            <a:ext cx="3991412" cy="252460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869949"/>
            <a:ext cx="222377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Future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Interest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Factors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(FVIF)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52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246122" y="1221358"/>
          <a:ext cx="3536315" cy="131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4105"/>
                <a:gridCol w="656590"/>
                <a:gridCol w="589914"/>
                <a:gridCol w="589914"/>
                <a:gridCol w="591185"/>
              </a:tblGrid>
              <a:tr h="190749">
                <a:tc rowSpan="2">
                  <a:txBody>
                    <a:bodyPr/>
                    <a:lstStyle/>
                    <a:p>
                      <a:pPr marL="361315" marR="173990" indent="-109855">
                        <a:lnSpc>
                          <a:spcPts val="1260"/>
                        </a:lnSpc>
                        <a:spcBef>
                          <a:spcPts val="18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Number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periods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286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Rates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</a:tr>
              <a:tr h="18872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286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0">
                        <a:lnSpc>
                          <a:spcPts val="1275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10%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15%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20%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304">
                <a:tc>
                  <a:txBody>
                    <a:bodyPr/>
                    <a:lstStyle/>
                    <a:p>
                      <a:pPr algn="r" marR="47117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667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1.0500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1.1000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1.1500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1.2000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r" marR="4711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666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1.1025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1.2100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1.3225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1.4400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r" marR="4711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666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1.1576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1.3310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1.5209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1.7280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r" marR="4711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666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1.2155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1.4641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1.7490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2.0736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679">
                <a:tc>
                  <a:txBody>
                    <a:bodyPr/>
                    <a:lstStyle/>
                    <a:p>
                      <a:pPr algn="r" marR="4711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66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1.2763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1.6105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2.0114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2.4883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26022" y="714501"/>
            <a:ext cx="80073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13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32429" y="5978016"/>
            <a:ext cx="398145" cy="9525"/>
          </a:xfrm>
          <a:custGeom>
            <a:avLst/>
            <a:gdLst/>
            <a:ahLst/>
            <a:cxnLst/>
            <a:rect l="l" t="t" r="r" b="b"/>
            <a:pathLst>
              <a:path w="398145" h="9525">
                <a:moveTo>
                  <a:pt x="398068" y="0"/>
                </a:moveTo>
                <a:lnTo>
                  <a:pt x="0" y="0"/>
                </a:lnTo>
                <a:lnTo>
                  <a:pt x="0" y="9144"/>
                </a:lnTo>
                <a:lnTo>
                  <a:pt x="398068" y="9144"/>
                </a:lnTo>
                <a:lnTo>
                  <a:pt x="3980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32429" y="6792467"/>
            <a:ext cx="398145" cy="9525"/>
          </a:xfrm>
          <a:custGeom>
            <a:avLst/>
            <a:gdLst/>
            <a:ahLst/>
            <a:cxnLst/>
            <a:rect l="l" t="t" r="r" b="b"/>
            <a:pathLst>
              <a:path w="398145" h="9525">
                <a:moveTo>
                  <a:pt x="398068" y="0"/>
                </a:moveTo>
                <a:lnTo>
                  <a:pt x="0" y="0"/>
                </a:lnTo>
                <a:lnTo>
                  <a:pt x="0" y="9144"/>
                </a:lnTo>
                <a:lnTo>
                  <a:pt x="398068" y="9144"/>
                </a:lnTo>
                <a:lnTo>
                  <a:pt x="3980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75029" y="883665"/>
            <a:ext cx="5912485" cy="783018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2540">
              <a:lnSpc>
                <a:spcPct val="100000"/>
              </a:lnSpc>
              <a:spcBef>
                <a:spcPts val="135"/>
              </a:spcBef>
            </a:pPr>
            <a:r>
              <a:rPr dirty="0" sz="1150" spc="25" b="1">
                <a:latin typeface="Garamond"/>
                <a:cs typeface="Garamond"/>
              </a:rPr>
              <a:t>FUTURE</a:t>
            </a:r>
            <a:r>
              <a:rPr dirty="0" sz="1150" spc="-45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VALUE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Usually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simple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institutions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571500" marR="11239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expressed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(normal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practice),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(t)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fraction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571500" marR="1066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$10,000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8%,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90-day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certificate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deposit,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proceeds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5">
                <a:latin typeface="Garamond"/>
                <a:cs typeface="Garamond"/>
              </a:rPr>
              <a:t>be:</a:t>
            </a: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-5">
                <a:latin typeface="Garamond"/>
                <a:cs typeface="Garamond"/>
              </a:rPr>
              <a:t>FV</a:t>
            </a:r>
            <a:r>
              <a:rPr dirty="0" sz="1100" spc="10">
                <a:latin typeface="Garamond"/>
                <a:cs typeface="Garamond"/>
              </a:rPr>
              <a:t> 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(10,000)+(10,000x.08x90/365)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$10,197.26</a:t>
            </a:r>
            <a:endParaRPr sz="1100">
              <a:latin typeface="Garamond"/>
              <a:cs typeface="Garamond"/>
            </a:endParaRPr>
          </a:p>
          <a:p>
            <a:pPr marL="342900">
              <a:lnSpc>
                <a:spcPts val="1270"/>
              </a:lnSpc>
              <a:spcBef>
                <a:spcPts val="1205"/>
              </a:spcBef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were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$10,000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5-percent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endParaRPr sz="1100">
              <a:latin typeface="Garamond"/>
              <a:cs typeface="Garamond"/>
            </a:endParaRPr>
          </a:p>
          <a:p>
            <a:pPr marL="342900">
              <a:lnSpc>
                <a:spcPts val="1225"/>
              </a:lnSpc>
            </a:pPr>
            <a:r>
              <a:rPr dirty="0" sz="1100">
                <a:latin typeface="Garamond"/>
                <a:cs typeface="Garamond"/>
              </a:rPr>
              <a:t>$10,500</a:t>
            </a:r>
            <a:endParaRPr sz="1100">
              <a:latin typeface="Garamond"/>
              <a:cs typeface="Garamond"/>
            </a:endParaRPr>
          </a:p>
          <a:p>
            <a:pPr marL="571500">
              <a:lnSpc>
                <a:spcPts val="1240"/>
              </a:lnSpc>
              <a:tabLst>
                <a:tab pos="1028700" algn="l"/>
              </a:tabLst>
            </a:pPr>
            <a:r>
              <a:rPr dirty="0" sz="1100" spc="5">
                <a:latin typeface="Garamond"/>
                <a:cs typeface="Garamond"/>
              </a:rPr>
              <a:t>$500	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($10,000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.05)</a:t>
            </a:r>
            <a:endParaRPr sz="1100">
              <a:latin typeface="Garamond"/>
              <a:cs typeface="Garamond"/>
            </a:endParaRPr>
          </a:p>
          <a:p>
            <a:pPr marL="571500">
              <a:lnSpc>
                <a:spcPts val="1245"/>
              </a:lnSpc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$10,000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principal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repayment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($10,000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×1)</a:t>
            </a:r>
            <a:endParaRPr sz="1100">
              <a:latin typeface="Garamond"/>
              <a:cs typeface="Garamond"/>
            </a:endParaRPr>
          </a:p>
          <a:p>
            <a:pPr marL="571500">
              <a:lnSpc>
                <a:spcPts val="1275"/>
              </a:lnSpc>
            </a:pPr>
            <a:r>
              <a:rPr dirty="0" sz="1100">
                <a:latin typeface="Garamond"/>
                <a:cs typeface="Garamond"/>
              </a:rPr>
              <a:t>$10,500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due.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5715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$10,500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$10,000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(1.05)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marL="5715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$10,000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worth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$10,500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given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00">
              <a:latin typeface="Garamond"/>
              <a:cs typeface="Garamond"/>
            </a:endParaRPr>
          </a:p>
          <a:p>
            <a:pPr marL="1143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algn="just" marL="5715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refers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future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discounted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appropriate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 algn="just" marL="571500" marR="14541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In </a:t>
            </a:r>
            <a:r>
              <a:rPr dirty="0" sz="1100">
                <a:latin typeface="Garamond"/>
                <a:cs typeface="Garamond"/>
              </a:rPr>
              <a:t>other words,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amount </a:t>
            </a:r>
            <a:r>
              <a:rPr dirty="0" sz="1100" spc="10">
                <a:latin typeface="Garamond"/>
                <a:cs typeface="Garamond"/>
              </a:rPr>
              <a:t>one </a:t>
            </a:r>
            <a:r>
              <a:rPr dirty="0" sz="1100">
                <a:latin typeface="Garamond"/>
                <a:cs typeface="Garamond"/>
              </a:rPr>
              <a:t>would </a:t>
            </a:r>
            <a:r>
              <a:rPr dirty="0" sz="1100" spc="-5">
                <a:latin typeface="Garamond"/>
                <a:cs typeface="Garamond"/>
              </a:rPr>
              <a:t>need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invest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some </a:t>
            </a:r>
            <a:r>
              <a:rPr dirty="0" sz="1100">
                <a:latin typeface="Garamond"/>
                <a:cs typeface="Garamond"/>
              </a:rPr>
              <a:t>pre-determined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 </a:t>
            </a:r>
            <a:r>
              <a:rPr dirty="0" sz="1100">
                <a:latin typeface="Garamond"/>
                <a:cs typeface="Garamond"/>
              </a:rPr>
              <a:t> 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desired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desired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money.</a:t>
            </a:r>
            <a:endParaRPr sz="1100">
              <a:latin typeface="Garamond"/>
              <a:cs typeface="Garamond"/>
            </a:endParaRPr>
          </a:p>
          <a:p>
            <a:pPr algn="just" marL="571500" marR="146685" indent="-228600">
              <a:lnSpc>
                <a:spcPct val="94100"/>
              </a:lnSpc>
              <a:spcBef>
                <a:spcPts val="95"/>
              </a:spcBef>
              <a:buFont typeface="Symbol"/>
              <a:buChar char=""/>
              <a:tabLst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Often, </a:t>
            </a:r>
            <a:r>
              <a:rPr dirty="0" sz="1100">
                <a:latin typeface="Garamond"/>
                <a:cs typeface="Garamond"/>
              </a:rPr>
              <a:t>if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bank </a:t>
            </a:r>
            <a:r>
              <a:rPr dirty="0" sz="1100" spc="5">
                <a:latin typeface="Garamond"/>
                <a:cs typeface="Garamond"/>
              </a:rPr>
              <a:t>or other </a:t>
            </a:r>
            <a:r>
              <a:rPr dirty="0" sz="1100" spc="-5">
                <a:latin typeface="Garamond"/>
                <a:cs typeface="Garamond"/>
              </a:rPr>
              <a:t>financial institution </a:t>
            </a:r>
            <a:r>
              <a:rPr dirty="0" sz="1100">
                <a:latin typeface="Garamond"/>
                <a:cs typeface="Garamond"/>
              </a:rPr>
              <a:t>loans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sum </a:t>
            </a:r>
            <a:r>
              <a:rPr dirty="0" sz="1100" spc="-10">
                <a:latin typeface="Garamond"/>
                <a:cs typeface="Garamond"/>
              </a:rPr>
              <a:t>for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short term,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lender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5">
                <a:latin typeface="Garamond"/>
                <a:cs typeface="Garamond"/>
              </a:rPr>
              <a:t>prefer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calculate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interest </a:t>
            </a:r>
            <a:r>
              <a:rPr dirty="0" sz="1100">
                <a:latin typeface="Garamond"/>
                <a:cs typeface="Garamond"/>
              </a:rPr>
              <a:t>up </a:t>
            </a:r>
            <a:r>
              <a:rPr dirty="0" sz="1100" spc="-5">
                <a:latin typeface="Garamond"/>
                <a:cs typeface="Garamond"/>
              </a:rPr>
              <a:t>front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10">
                <a:latin typeface="Garamond"/>
                <a:cs typeface="Garamond"/>
              </a:rPr>
              <a:t>loan </a:t>
            </a:r>
            <a:r>
              <a:rPr dirty="0" sz="1100" spc="5">
                <a:latin typeface="Garamond"/>
                <a:cs typeface="Garamond"/>
              </a:rPr>
              <a:t>out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 i="1">
                <a:latin typeface="Garamond"/>
                <a:cs typeface="Garamond"/>
              </a:rPr>
              <a:t>discounted </a:t>
            </a:r>
            <a:r>
              <a:rPr dirty="0" sz="1100" spc="-5">
                <a:latin typeface="Garamond"/>
                <a:cs typeface="Garamond"/>
              </a:rPr>
              <a:t>principal,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principal </a:t>
            </a:r>
            <a:r>
              <a:rPr dirty="0" sz="1100" spc="-10">
                <a:latin typeface="Garamond"/>
                <a:cs typeface="Garamond"/>
              </a:rPr>
              <a:t>minus </a:t>
            </a:r>
            <a:r>
              <a:rPr dirty="0" sz="1100">
                <a:latin typeface="Garamond"/>
                <a:cs typeface="Garamond"/>
              </a:rPr>
              <a:t>interest 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earned.</a:t>
            </a:r>
            <a:endParaRPr sz="1100">
              <a:latin typeface="Garamond"/>
              <a:cs typeface="Garamond"/>
            </a:endParaRPr>
          </a:p>
          <a:p>
            <a:pPr algn="just" marL="571500" marR="14351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interest </a:t>
            </a:r>
            <a:r>
              <a:rPr dirty="0" sz="1100" spc="5">
                <a:latin typeface="Garamond"/>
                <a:cs typeface="Garamond"/>
              </a:rPr>
              <a:t>to be </a:t>
            </a:r>
            <a:r>
              <a:rPr dirty="0" sz="1100" spc="-10">
                <a:latin typeface="Garamond"/>
                <a:cs typeface="Garamond"/>
              </a:rPr>
              <a:t>paid </a:t>
            </a:r>
            <a:r>
              <a:rPr dirty="0" sz="1100">
                <a:latin typeface="Garamond"/>
                <a:cs typeface="Garamond"/>
              </a:rPr>
              <a:t>up </a:t>
            </a:r>
            <a:r>
              <a:rPr dirty="0" sz="1100" spc="-5">
                <a:latin typeface="Garamond"/>
                <a:cs typeface="Garamond"/>
              </a:rPr>
              <a:t>front </a:t>
            </a:r>
            <a:r>
              <a:rPr dirty="0" sz="1100" spc="-10">
                <a:latin typeface="Garamond"/>
                <a:cs typeface="Garamond"/>
              </a:rPr>
              <a:t>on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loan </a:t>
            </a:r>
            <a:r>
              <a:rPr dirty="0" sz="1100">
                <a:latin typeface="Garamond"/>
                <a:cs typeface="Garamond"/>
              </a:rPr>
              <a:t>is called </a:t>
            </a:r>
            <a:r>
              <a:rPr dirty="0" sz="1100" i="1">
                <a:latin typeface="Garamond"/>
                <a:cs typeface="Garamond"/>
              </a:rPr>
              <a:t>discount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discounted </a:t>
            </a:r>
            <a:r>
              <a:rPr dirty="0" sz="1100">
                <a:latin typeface="Garamond"/>
                <a:cs typeface="Garamond"/>
              </a:rPr>
              <a:t>principal, </a:t>
            </a:r>
            <a:r>
              <a:rPr dirty="0" sz="1100" spc="5">
                <a:latin typeface="Garamond"/>
                <a:cs typeface="Garamond"/>
              </a:rPr>
              <a:t>or the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loaned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present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value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(PV)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971675">
              <a:lnSpc>
                <a:spcPct val="100000"/>
              </a:lnSpc>
            </a:pPr>
            <a:r>
              <a:rPr dirty="0" sz="1000" spc="30">
                <a:latin typeface="Cambria Math"/>
                <a:cs typeface="Cambria Math"/>
              </a:rPr>
              <a:t>𝐹𝑉</a:t>
            </a:r>
            <a:endParaRPr sz="1000">
              <a:latin typeface="Cambria Math"/>
              <a:cs typeface="Cambria Math"/>
            </a:endParaRPr>
          </a:p>
          <a:p>
            <a:pPr marL="1486535">
              <a:lnSpc>
                <a:spcPct val="100000"/>
              </a:lnSpc>
              <a:spcBef>
                <a:spcPts val="254"/>
              </a:spcBef>
            </a:pPr>
            <a:r>
              <a:rPr dirty="0" baseline="35353" sz="1650" spc="-7">
                <a:latin typeface="Garamond"/>
                <a:cs typeface="Garamond"/>
              </a:rPr>
              <a:t>PV</a:t>
            </a:r>
            <a:r>
              <a:rPr dirty="0" baseline="35353" sz="1650" spc="-15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315">
                <a:latin typeface="Garamond"/>
                <a:cs typeface="Garamond"/>
              </a:rPr>
              <a:t> </a:t>
            </a:r>
            <a:r>
              <a:rPr dirty="0" baseline="2777" sz="1500" spc="30">
                <a:latin typeface="Cambria Math"/>
                <a:cs typeface="Cambria Math"/>
              </a:rPr>
              <a:t>(</a:t>
            </a:r>
            <a:r>
              <a:rPr dirty="0" sz="1000" spc="20">
                <a:latin typeface="Cambria Math"/>
                <a:cs typeface="Cambria Math"/>
              </a:rPr>
              <a:t>1+𝑟𝑡</a:t>
            </a:r>
            <a:r>
              <a:rPr dirty="0" baseline="2777" sz="1500" spc="30">
                <a:latin typeface="Cambria Math"/>
                <a:cs typeface="Cambria Math"/>
              </a:rPr>
              <a:t>)</a:t>
            </a:r>
            <a:endParaRPr baseline="2777" sz="1500">
              <a:latin typeface="Cambria Math"/>
              <a:cs typeface="Cambria Math"/>
            </a:endParaRPr>
          </a:p>
          <a:p>
            <a:pPr algn="just" marL="571500" indent="-229235">
              <a:lnSpc>
                <a:spcPct val="100000"/>
              </a:lnSpc>
              <a:spcBef>
                <a:spcPts val="1200"/>
              </a:spcBef>
              <a:buFont typeface="Symbol"/>
              <a:buChar char=""/>
              <a:tabLst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Repeating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basic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formula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(simple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interest):</a:t>
            </a:r>
            <a:endParaRPr sz="1100">
              <a:latin typeface="Garamond"/>
              <a:cs typeface="Garamond"/>
            </a:endParaRPr>
          </a:p>
          <a:p>
            <a:pPr marL="1971675">
              <a:lnSpc>
                <a:spcPct val="100000"/>
              </a:lnSpc>
              <a:spcBef>
                <a:spcPts val="1120"/>
              </a:spcBef>
            </a:pPr>
            <a:r>
              <a:rPr dirty="0" sz="1000" spc="30">
                <a:latin typeface="Cambria Math"/>
                <a:cs typeface="Cambria Math"/>
              </a:rPr>
              <a:t>𝐹𝑉</a:t>
            </a:r>
            <a:endParaRPr sz="1000">
              <a:latin typeface="Cambria Math"/>
              <a:cs typeface="Cambria Math"/>
            </a:endParaRPr>
          </a:p>
          <a:p>
            <a:pPr marL="1486535">
              <a:lnSpc>
                <a:spcPct val="100000"/>
              </a:lnSpc>
              <a:spcBef>
                <a:spcPts val="250"/>
              </a:spcBef>
            </a:pPr>
            <a:r>
              <a:rPr dirty="0" baseline="35353" sz="1650" spc="-7">
                <a:latin typeface="Garamond"/>
                <a:cs typeface="Garamond"/>
              </a:rPr>
              <a:t>PV</a:t>
            </a:r>
            <a:r>
              <a:rPr dirty="0" baseline="35353" sz="1650" spc="-15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315">
                <a:latin typeface="Garamond"/>
                <a:cs typeface="Garamond"/>
              </a:rPr>
              <a:t> </a:t>
            </a:r>
            <a:r>
              <a:rPr dirty="0" baseline="2777" sz="1500" spc="30">
                <a:latin typeface="Cambria Math"/>
                <a:cs typeface="Cambria Math"/>
              </a:rPr>
              <a:t>(</a:t>
            </a:r>
            <a:r>
              <a:rPr dirty="0" sz="1000" spc="20">
                <a:latin typeface="Cambria Math"/>
                <a:cs typeface="Cambria Math"/>
              </a:rPr>
              <a:t>1+𝑟𝑡</a:t>
            </a:r>
            <a:r>
              <a:rPr dirty="0" baseline="2777" sz="1500" spc="30">
                <a:latin typeface="Cambria Math"/>
                <a:cs typeface="Cambria Math"/>
              </a:rPr>
              <a:t>)</a:t>
            </a:r>
            <a:endParaRPr baseline="2777" sz="1500">
              <a:latin typeface="Cambria Math"/>
              <a:cs typeface="Cambria Math"/>
            </a:endParaRPr>
          </a:p>
          <a:p>
            <a:pPr marL="571500" marR="796925" indent="-571500">
              <a:lnSpc>
                <a:spcPts val="2520"/>
              </a:lnSpc>
              <a:spcBef>
                <a:spcPts val="280"/>
              </a:spcBef>
              <a:buFont typeface="Symbol"/>
              <a:buChar char=""/>
              <a:tabLst>
                <a:tab pos="571500" algn="l"/>
                <a:tab pos="572135" algn="l"/>
                <a:tab pos="1943735" algn="l"/>
              </a:tabLst>
            </a:pPr>
            <a:r>
              <a:rPr dirty="0" sz="1100">
                <a:latin typeface="Garamond"/>
                <a:cs typeface="Garamond"/>
              </a:rPr>
              <a:t>Example: </a:t>
            </a: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bank loans </a:t>
            </a:r>
            <a:r>
              <a:rPr dirty="0" sz="1100" spc="5">
                <a:latin typeface="Garamond"/>
                <a:cs typeface="Garamond"/>
              </a:rPr>
              <a:t>out </a:t>
            </a:r>
            <a:r>
              <a:rPr dirty="0" sz="1100" spc="-5">
                <a:latin typeface="Garamond"/>
                <a:cs typeface="Garamond"/>
              </a:rPr>
              <a:t>$10,000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90 </a:t>
            </a:r>
            <a:r>
              <a:rPr dirty="0" sz="1100">
                <a:latin typeface="Garamond"/>
                <a:cs typeface="Garamond"/>
              </a:rPr>
              <a:t>days </a:t>
            </a:r>
            <a:r>
              <a:rPr dirty="0" sz="1100" spc="-10">
                <a:latin typeface="Garamond"/>
                <a:cs typeface="Garamond"/>
              </a:rPr>
              <a:t>at </a:t>
            </a:r>
            <a:r>
              <a:rPr dirty="0" sz="1100" spc="15">
                <a:latin typeface="Garamond"/>
                <a:cs typeface="Garamond"/>
              </a:rPr>
              <a:t>8% </a:t>
            </a:r>
            <a:r>
              <a:rPr dirty="0" sz="1100" spc="-5">
                <a:latin typeface="Garamond"/>
                <a:cs typeface="Garamond"/>
              </a:rPr>
              <a:t>simple interest,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PV is: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PV	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[1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(.08)(90/365)]</a:t>
            </a:r>
            <a:endParaRPr sz="1100">
              <a:latin typeface="Garamond"/>
              <a:cs typeface="Garamond"/>
            </a:endParaRPr>
          </a:p>
          <a:p>
            <a:pPr marL="1943735">
              <a:lnSpc>
                <a:spcPts val="894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10000/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1.019726</a:t>
            </a:r>
            <a:endParaRPr sz="1100">
              <a:latin typeface="Garamond"/>
              <a:cs typeface="Garamond"/>
            </a:endParaRPr>
          </a:p>
          <a:p>
            <a:pPr marL="1943735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$9,806.56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1143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Garamond"/>
              <a:cs typeface="Garamond"/>
            </a:endParaRPr>
          </a:p>
          <a:p>
            <a:pPr marL="114300" marR="149225">
              <a:lnSpc>
                <a:spcPts val="1260"/>
              </a:lnSpc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need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$400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textbooks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next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7%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much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5">
                <a:latin typeface="Garamond"/>
                <a:cs typeface="Garamond"/>
              </a:rPr>
              <a:t>put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up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today?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Now, </a:t>
            </a:r>
            <a:r>
              <a:rPr dirty="0" sz="1100" spc="-5">
                <a:latin typeface="Garamond"/>
                <a:cs typeface="Garamond"/>
              </a:rPr>
              <a:t>-----------</a:t>
            </a:r>
            <a:r>
              <a:rPr dirty="0" sz="1100">
                <a:latin typeface="Garamond"/>
                <a:cs typeface="Garamond"/>
              </a:rPr>
              <a:t> 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1.07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$400.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Solving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present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96183" y="8842628"/>
            <a:ext cx="3098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40</a:t>
            </a:r>
            <a:r>
              <a:rPr dirty="0" sz="1000" spc="25">
                <a:latin typeface="Cambria Math"/>
                <a:cs typeface="Cambria Math"/>
              </a:rPr>
              <a:t>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76878" y="9033636"/>
            <a:ext cx="352425" cy="9525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352044" y="0"/>
                </a:moveTo>
                <a:lnTo>
                  <a:pt x="0" y="0"/>
                </a:lnTo>
                <a:lnTo>
                  <a:pt x="0" y="9144"/>
                </a:lnTo>
                <a:lnTo>
                  <a:pt x="352044" y="9144"/>
                </a:lnTo>
                <a:lnTo>
                  <a:pt x="3520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523744" y="8934068"/>
            <a:ext cx="1999614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Present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baseline="-38888" sz="1500" spc="15">
                <a:latin typeface="Cambria Math"/>
                <a:cs typeface="Cambria Math"/>
              </a:rPr>
              <a:t>(1.07) </a:t>
            </a:r>
            <a:r>
              <a:rPr dirty="0" baseline="-38888" sz="1500" spc="17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$373.83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568896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76629" y="714501"/>
            <a:ext cx="5490210" cy="65976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just" marL="12700" marR="5080">
              <a:lnSpc>
                <a:spcPct val="94200"/>
              </a:lnSpc>
              <a:spcBef>
                <a:spcPts val="190"/>
              </a:spcBef>
            </a:pPr>
            <a:r>
              <a:rPr dirty="0" sz="1100" spc="5">
                <a:latin typeface="Garamond"/>
                <a:cs typeface="Garamond"/>
              </a:rPr>
              <a:t>So </a:t>
            </a:r>
            <a:r>
              <a:rPr dirty="0" sz="1100" spc="-5">
                <a:latin typeface="Garamond"/>
                <a:cs typeface="Garamond"/>
              </a:rPr>
              <a:t>investing $373.83 (present </a:t>
            </a:r>
            <a:r>
              <a:rPr dirty="0" sz="1100">
                <a:latin typeface="Garamond"/>
                <a:cs typeface="Garamond"/>
              </a:rPr>
              <a:t>value)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5">
                <a:latin typeface="Garamond"/>
                <a:cs typeface="Garamond"/>
              </a:rPr>
              <a:t>7 </a:t>
            </a:r>
            <a:r>
              <a:rPr dirty="0" sz="1100" spc="10">
                <a:latin typeface="Garamond"/>
                <a:cs typeface="Garamond"/>
              </a:rPr>
              <a:t>%will </a:t>
            </a:r>
            <a:r>
              <a:rPr dirty="0" sz="1100" spc="-5">
                <a:latin typeface="Garamond"/>
                <a:cs typeface="Garamond"/>
              </a:rPr>
              <a:t>result </a:t>
            </a:r>
            <a:r>
              <a:rPr dirty="0" sz="1100">
                <a:latin typeface="Garamond"/>
                <a:cs typeface="Garamond"/>
              </a:rPr>
              <a:t>in having </a:t>
            </a:r>
            <a:r>
              <a:rPr dirty="0" sz="1100" spc="-5">
                <a:latin typeface="Garamond"/>
                <a:cs typeface="Garamond"/>
              </a:rPr>
              <a:t>$400 (future </a:t>
            </a:r>
            <a:r>
              <a:rPr dirty="0" sz="1100">
                <a:latin typeface="Garamond"/>
                <a:cs typeface="Garamond"/>
              </a:rPr>
              <a:t>value)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5">
                <a:latin typeface="Garamond"/>
                <a:cs typeface="Garamond"/>
              </a:rPr>
              <a:t>one year. </a:t>
            </a:r>
            <a:r>
              <a:rPr dirty="0" sz="1100" spc="5">
                <a:latin typeface="Garamond"/>
                <a:cs typeface="Garamond"/>
              </a:rPr>
              <a:t>If you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were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5">
                <a:latin typeface="Garamond"/>
                <a:cs typeface="Garamond"/>
              </a:rPr>
              <a:t>promised $10,000 </a:t>
            </a:r>
            <a:r>
              <a:rPr dirty="0" sz="1100" spc="5">
                <a:latin typeface="Garamond"/>
                <a:cs typeface="Garamond"/>
              </a:rPr>
              <a:t>due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10">
                <a:latin typeface="Garamond"/>
                <a:cs typeface="Garamond"/>
              </a:rPr>
              <a:t>one </a:t>
            </a:r>
            <a:r>
              <a:rPr dirty="0" sz="1100">
                <a:latin typeface="Garamond"/>
                <a:cs typeface="Garamond"/>
              </a:rPr>
              <a:t>year when </a:t>
            </a:r>
            <a:r>
              <a:rPr dirty="0" sz="1100" spc="-5">
                <a:latin typeface="Garamond"/>
                <a:cs typeface="Garamond"/>
              </a:rPr>
              <a:t>interest rates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>
                <a:latin typeface="Garamond"/>
                <a:cs typeface="Garamond"/>
              </a:rPr>
              <a:t>5-percent, </a:t>
            </a:r>
            <a:r>
              <a:rPr dirty="0" sz="1100" spc="5">
                <a:latin typeface="Garamond"/>
                <a:cs typeface="Garamond"/>
              </a:rPr>
              <a:t>your </a:t>
            </a:r>
            <a:r>
              <a:rPr dirty="0" sz="1100">
                <a:latin typeface="Garamond"/>
                <a:cs typeface="Garamond"/>
              </a:rPr>
              <a:t>investment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worth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$9,523.81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today’s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dollars.</a:t>
            </a:r>
            <a:endParaRPr sz="1100">
              <a:latin typeface="Garamond"/>
              <a:cs typeface="Garamond"/>
            </a:endParaRPr>
          </a:p>
          <a:p>
            <a:pPr algn="ctr" marR="891540">
              <a:lnSpc>
                <a:spcPts val="1170"/>
              </a:lnSpc>
            </a:pPr>
            <a:r>
              <a:rPr dirty="0" sz="1000" spc="10">
                <a:latin typeface="Cambria Math"/>
                <a:cs typeface="Cambria Math"/>
              </a:rPr>
              <a:t>$10,000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3744" y="1286382"/>
            <a:ext cx="116332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$9,523.81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baseline="-38888" sz="1500" spc="15">
                <a:latin typeface="Cambria Math"/>
                <a:cs typeface="Cambria Math"/>
              </a:rPr>
              <a:t>(1.05)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43326" y="1385950"/>
            <a:ext cx="457834" cy="9525"/>
          </a:xfrm>
          <a:custGeom>
            <a:avLst/>
            <a:gdLst/>
            <a:ahLst/>
            <a:cxnLst/>
            <a:rect l="l" t="t" r="r" b="b"/>
            <a:pathLst>
              <a:path w="457835" h="9525">
                <a:moveTo>
                  <a:pt x="457504" y="0"/>
                </a:moveTo>
                <a:lnTo>
                  <a:pt x="0" y="0"/>
                </a:lnTo>
                <a:lnTo>
                  <a:pt x="0" y="9144"/>
                </a:lnTo>
                <a:lnTo>
                  <a:pt x="457504" y="9144"/>
                </a:lnTo>
                <a:lnTo>
                  <a:pt x="4575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76629" y="1679828"/>
            <a:ext cx="5668645" cy="117919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1220"/>
              </a:lnSpc>
              <a:spcBef>
                <a:spcPts val="240"/>
              </a:spcBef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would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aside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to,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promised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payment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(PV)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$10,000.Note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-------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</a:t>
            </a:r>
            <a:r>
              <a:rPr dirty="0" sz="1100" spc="10">
                <a:latin typeface="Garamond"/>
                <a:cs typeface="Garamond"/>
              </a:rPr>
              <a:t> =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40"/>
              </a:lnSpc>
            </a:pPr>
            <a:r>
              <a:rPr dirty="0" sz="1100">
                <a:latin typeface="Garamond"/>
                <a:cs typeface="Garamond"/>
              </a:rPr>
              <a:t>$9,523.81×(1.05)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one-period</a:t>
            </a:r>
            <a:r>
              <a:rPr dirty="0" sz="1100" spc="-5">
                <a:latin typeface="Garamond"/>
                <a:cs typeface="Garamond"/>
              </a:rPr>
              <a:t> case,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formula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written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appropriate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23744" y="2978657"/>
            <a:ext cx="598170" cy="287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0480">
              <a:lnSpc>
                <a:spcPts val="965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𝐶</a:t>
            </a:r>
            <a:r>
              <a:rPr dirty="0" baseline="-13888" sz="1200">
                <a:latin typeface="Cambria Math"/>
                <a:cs typeface="Cambria Math"/>
              </a:rPr>
              <a:t>1</a:t>
            </a:r>
            <a:endParaRPr baseline="-13888" sz="1200">
              <a:latin typeface="Cambria Math"/>
              <a:cs typeface="Cambria Math"/>
            </a:endParaRPr>
          </a:p>
          <a:p>
            <a:pPr marL="38100">
              <a:lnSpc>
                <a:spcPts val="1085"/>
              </a:lnSpc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87726" y="3175507"/>
            <a:ext cx="25781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-30">
                <a:latin typeface="Cambria Math"/>
                <a:cs typeface="Cambria Math"/>
              </a:rPr>
              <a:t>+</a:t>
            </a:r>
            <a:r>
              <a:rPr dirty="0" sz="1000" spc="120">
                <a:latin typeface="Cambria Math"/>
                <a:cs typeface="Cambria Math"/>
              </a:rPr>
              <a:t>𝑟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00426" y="3169665"/>
            <a:ext cx="238125" cy="9525"/>
          </a:xfrm>
          <a:custGeom>
            <a:avLst/>
            <a:gdLst/>
            <a:ahLst/>
            <a:cxnLst/>
            <a:rect l="l" t="t" r="r" b="b"/>
            <a:pathLst>
              <a:path w="238125" h="9525">
                <a:moveTo>
                  <a:pt x="237744" y="0"/>
                </a:moveTo>
                <a:lnTo>
                  <a:pt x="0" y="0"/>
                </a:lnTo>
                <a:lnTo>
                  <a:pt x="0" y="9144"/>
                </a:lnTo>
                <a:lnTo>
                  <a:pt x="237744" y="9144"/>
                </a:lnTo>
                <a:lnTo>
                  <a:pt x="2377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76629" y="3436111"/>
            <a:ext cx="5662295" cy="7080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for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Multiple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Periods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30"/>
              </a:lnSpc>
              <a:spcBef>
                <a:spcPts val="20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Calculating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quite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nature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General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formula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calculating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99205" y="4259326"/>
            <a:ext cx="9969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25">
                <a:latin typeface="Cambria Math"/>
                <a:cs typeface="Cambria Math"/>
              </a:rPr>
              <a:t>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23744" y="4350765"/>
            <a:ext cx="105727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PV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baseline="-38888" sz="1500" spc="30">
                <a:latin typeface="Cambria Math"/>
                <a:cs typeface="Cambria Math"/>
              </a:rPr>
              <a:t>(1+𝑟)</a:t>
            </a:r>
            <a:r>
              <a:rPr dirty="0" baseline="-31250" sz="1200" spc="30">
                <a:latin typeface="Cambria Math"/>
                <a:cs typeface="Cambria Math"/>
              </a:rPr>
              <a:t>𝑡</a:t>
            </a:r>
            <a:endParaRPr baseline="-31250" sz="12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51885" y="4450333"/>
            <a:ext cx="398145" cy="9525"/>
          </a:xfrm>
          <a:custGeom>
            <a:avLst/>
            <a:gdLst/>
            <a:ahLst/>
            <a:cxnLst/>
            <a:rect l="l" t="t" r="r" b="b"/>
            <a:pathLst>
              <a:path w="398145" h="9525">
                <a:moveTo>
                  <a:pt x="398068" y="0"/>
                </a:moveTo>
                <a:lnTo>
                  <a:pt x="0" y="0"/>
                </a:lnTo>
                <a:lnTo>
                  <a:pt x="0" y="9144"/>
                </a:lnTo>
                <a:lnTo>
                  <a:pt x="398068" y="9144"/>
                </a:lnTo>
                <a:lnTo>
                  <a:pt x="3980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51229" y="4759533"/>
            <a:ext cx="5758180" cy="114998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495300" marR="68580" indent="-228600">
              <a:lnSpc>
                <a:spcPts val="1260"/>
              </a:lnSpc>
              <a:spcBef>
                <a:spcPts val="26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/(1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r)</a:t>
            </a:r>
            <a:r>
              <a:rPr dirty="0" baseline="21367" sz="975">
                <a:latin typeface="Garamond"/>
                <a:cs typeface="Garamond"/>
              </a:rPr>
              <a:t>t</a:t>
            </a:r>
            <a:r>
              <a:rPr dirty="0" baseline="21367" sz="975" spc="20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discount</a:t>
            </a:r>
            <a:r>
              <a:rPr dirty="0" sz="1150" spc="10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factor</a:t>
            </a:r>
            <a:r>
              <a:rPr dirty="0" sz="1150" spc="20" b="1" i="1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present </a:t>
            </a:r>
            <a:r>
              <a:rPr dirty="0" sz="1150" spc="-27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value interest </a:t>
            </a:r>
            <a:r>
              <a:rPr dirty="0" sz="1150" spc="-20" b="1" i="1">
                <a:latin typeface="Garamond"/>
                <a:cs typeface="Garamond"/>
              </a:rPr>
              <a:t>factor</a:t>
            </a:r>
            <a:r>
              <a:rPr dirty="0" sz="1150" spc="-25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(PVIF</a:t>
            </a:r>
            <a:r>
              <a:rPr dirty="0" sz="1150" spc="-40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r,t)</a:t>
            </a:r>
            <a:endParaRPr sz="1150">
              <a:latin typeface="Garamond"/>
              <a:cs typeface="Garamond"/>
            </a:endParaRPr>
          </a:p>
          <a:p>
            <a:pPr marL="38100">
              <a:lnSpc>
                <a:spcPts val="1270"/>
              </a:lnSpc>
              <a:spcBef>
                <a:spcPts val="1135"/>
              </a:spcBef>
            </a:pPr>
            <a:r>
              <a:rPr dirty="0" sz="1100">
                <a:latin typeface="Garamond"/>
                <a:cs typeface="Garamond"/>
              </a:rPr>
              <a:t>Calculating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flow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determine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worth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commonly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endParaRPr sz="1100">
              <a:latin typeface="Garamond"/>
              <a:cs typeface="Garamond"/>
            </a:endParaRPr>
          </a:p>
          <a:p>
            <a:pPr marL="38100">
              <a:lnSpc>
                <a:spcPts val="1270"/>
              </a:lnSpc>
            </a:pPr>
            <a:r>
              <a:rPr dirty="0" sz="1100" b="1">
                <a:latin typeface="Garamond"/>
                <a:cs typeface="Garamond"/>
              </a:rPr>
              <a:t>discounted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cash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flow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(DCF)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valuation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algn="ctr" marR="26034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Interest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Factors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(PVIF)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54</a:t>
            </a: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250694" y="5904864"/>
          <a:ext cx="3522979" cy="131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/>
                <a:gridCol w="735330"/>
                <a:gridCol w="589914"/>
                <a:gridCol w="589914"/>
                <a:gridCol w="591185"/>
              </a:tblGrid>
              <a:tr h="191130">
                <a:tc rowSpan="2">
                  <a:txBody>
                    <a:bodyPr/>
                    <a:lstStyle/>
                    <a:p>
                      <a:pPr marL="407034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Years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9398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Rate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Interest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</a:tr>
              <a:tr h="18872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398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9225">
                        <a:lnSpc>
                          <a:spcPts val="1275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10%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15%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20%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177">
                <a:tc>
                  <a:txBody>
                    <a:bodyPr/>
                    <a:lstStyle/>
                    <a:p>
                      <a:pPr algn="r" marR="38735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541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0.9524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0.9091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0.8696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0.8333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r" marR="3873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454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0.9070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0.8264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0.7561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0.6944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r" marR="3873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454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0.8638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0.7513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0.6575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0.5787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r" marR="3873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454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0.8227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0.6830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0.5718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0.4823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algn="r" marR="3873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54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0.7835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0.6209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0.4972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0.4019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1176629" y="7346950"/>
            <a:ext cx="5662295" cy="8820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for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Multiple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Do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want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millionaire?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problem!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old,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30"/>
              </a:lnSpc>
              <a:spcBef>
                <a:spcPts val="20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accumulate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$1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reach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age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65?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5508" y="8348598"/>
            <a:ext cx="1892935" cy="511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114"/>
              </a:spcBef>
            </a:pPr>
            <a:r>
              <a:rPr dirty="0" sz="1100" spc="-10">
                <a:latin typeface="Garamond"/>
                <a:cs typeface="Garamond"/>
              </a:rPr>
              <a:t>First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define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variables:</a:t>
            </a:r>
            <a:endParaRPr sz="1100">
              <a:latin typeface="Garamond"/>
              <a:cs typeface="Garamond"/>
            </a:endParaRPr>
          </a:p>
          <a:p>
            <a:pPr marL="698500">
              <a:lnSpc>
                <a:spcPts val="1240"/>
              </a:lnSpc>
            </a:pPr>
            <a:r>
              <a:rPr dirty="0" sz="1100" spc="-5">
                <a:latin typeface="Garamond"/>
                <a:cs typeface="Garamond"/>
              </a:rPr>
              <a:t>FV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endParaRPr sz="1100">
              <a:latin typeface="Garamond"/>
              <a:cs typeface="Garamond"/>
            </a:endParaRPr>
          </a:p>
          <a:p>
            <a:pPr marL="698500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t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65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21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44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21633" y="8508618"/>
            <a:ext cx="811530" cy="35115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1220"/>
              </a:lnSpc>
              <a:spcBef>
                <a:spcPts val="240"/>
              </a:spcBef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 </a:t>
            </a:r>
            <a:r>
              <a:rPr dirty="0" sz="1100">
                <a:latin typeface="Garamond"/>
                <a:cs typeface="Garamond"/>
              </a:rPr>
              <a:t>percent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?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76629" y="8979789"/>
            <a:ext cx="3738879" cy="6667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Set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up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00">
              <a:latin typeface="Garamond"/>
              <a:cs typeface="Garamond"/>
            </a:endParaRPr>
          </a:p>
          <a:p>
            <a:pPr marL="927735">
              <a:lnSpc>
                <a:spcPts val="1290"/>
              </a:lnSpc>
              <a:spcBef>
                <a:spcPts val="5"/>
              </a:spcBef>
            </a:pPr>
            <a:r>
              <a:rPr dirty="0" sz="1100" spc="5">
                <a:latin typeface="Garamond"/>
                <a:cs typeface="Garamond"/>
              </a:rPr>
              <a:t>$1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(1.10)44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ts val="1290"/>
              </a:lnSpc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million/(1.10)44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$15,091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9505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12700" marR="21590">
              <a:lnSpc>
                <a:spcPts val="1220"/>
              </a:lnSpc>
              <a:spcBef>
                <a:spcPts val="955"/>
              </a:spcBef>
            </a:pPr>
            <a:r>
              <a:rPr dirty="0" sz="1100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course,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we’ve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ignored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complications,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tuned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right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figure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where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$15,000!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 </a:t>
            </a:r>
            <a:r>
              <a:rPr dirty="0" sz="1100" spc="10" b="1">
                <a:latin typeface="Garamond"/>
                <a:cs typeface="Garamond"/>
              </a:rPr>
              <a:t>$1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for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Different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Periods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and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Rates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76629" y="4927218"/>
            <a:ext cx="5670550" cy="6667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Garamond"/>
              <a:cs typeface="Garamond"/>
            </a:endParaRPr>
          </a:p>
          <a:p>
            <a:pPr marL="12700" marR="5080">
              <a:lnSpc>
                <a:spcPts val="1260"/>
              </a:lnSpc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investor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aside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order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$20,000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five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15%?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3129" y="7392669"/>
            <a:ext cx="5791835" cy="21031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vs.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Future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33400" indent="-229235">
              <a:lnSpc>
                <a:spcPts val="1290"/>
              </a:lnSpc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factor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reciprocal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future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factor.</a:t>
            </a:r>
            <a:endParaRPr sz="1100">
              <a:latin typeface="Garamond"/>
              <a:cs typeface="Garamond"/>
            </a:endParaRPr>
          </a:p>
          <a:p>
            <a:pPr lvl="1" marL="991235" indent="-229235">
              <a:lnSpc>
                <a:spcPts val="1245"/>
              </a:lnSpc>
              <a:buFont typeface="Courier New"/>
              <a:buChar char="o"/>
              <a:tabLst>
                <a:tab pos="990600" algn="l"/>
                <a:tab pos="991869" algn="l"/>
              </a:tabLst>
            </a:pPr>
            <a:r>
              <a:rPr dirty="0" sz="1100" spc="-5">
                <a:latin typeface="Garamond"/>
                <a:cs typeface="Garamond"/>
              </a:rPr>
              <a:t>Future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factor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5">
                <a:latin typeface="Garamond"/>
                <a:cs typeface="Garamond"/>
              </a:rPr>
              <a:t>r)</a:t>
            </a:r>
            <a:r>
              <a:rPr dirty="0" baseline="21367" sz="975" spc="7">
                <a:latin typeface="Garamond"/>
                <a:cs typeface="Garamond"/>
              </a:rPr>
              <a:t>t</a:t>
            </a:r>
            <a:endParaRPr baseline="21367" sz="975">
              <a:latin typeface="Garamond"/>
              <a:cs typeface="Garamond"/>
            </a:endParaRPr>
          </a:p>
          <a:p>
            <a:pPr lvl="1" marL="991235" indent="-229235">
              <a:lnSpc>
                <a:spcPts val="1275"/>
              </a:lnSpc>
              <a:buFont typeface="Courier New"/>
              <a:buChar char="o"/>
              <a:tabLst>
                <a:tab pos="990600" algn="l"/>
                <a:tab pos="991869" algn="l"/>
              </a:tabLst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factor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1/(1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5">
                <a:latin typeface="Garamond"/>
                <a:cs typeface="Garamond"/>
              </a:rPr>
              <a:t>r)</a:t>
            </a:r>
            <a:r>
              <a:rPr dirty="0" baseline="21367" sz="975" spc="7">
                <a:latin typeface="Garamond"/>
                <a:cs typeface="Garamond"/>
              </a:rPr>
              <a:t>t</a:t>
            </a:r>
            <a:endParaRPr baseline="21367" sz="975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76200" marR="68580">
              <a:lnSpc>
                <a:spcPts val="1220"/>
              </a:lnSpc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FV</a:t>
            </a:r>
            <a:r>
              <a:rPr dirty="0" baseline="-8547" sz="975">
                <a:latin typeface="Garamond"/>
                <a:cs typeface="Garamond"/>
              </a:rPr>
              <a:t>t</a:t>
            </a:r>
            <a:r>
              <a:rPr dirty="0" baseline="-8547" sz="975" spc="89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stand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relationship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between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Garamond"/>
              <a:cs typeface="Garamond"/>
            </a:endParaRPr>
          </a:p>
          <a:p>
            <a:pPr marL="991235">
              <a:lnSpc>
                <a:spcPts val="1270"/>
              </a:lnSpc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>
                <a:latin typeface="Garamond"/>
                <a:cs typeface="Garamond"/>
              </a:rPr>
              <a:t>r)</a:t>
            </a:r>
            <a:r>
              <a:rPr dirty="0" baseline="21367" sz="975">
                <a:latin typeface="Garamond"/>
                <a:cs typeface="Garamond"/>
              </a:rPr>
              <a:t>t</a:t>
            </a:r>
            <a:r>
              <a:rPr dirty="0" baseline="21367" sz="975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FVt</a:t>
            </a:r>
            <a:endParaRPr sz="1100">
              <a:latin typeface="Garamond"/>
              <a:cs typeface="Garamond"/>
            </a:endParaRPr>
          </a:p>
          <a:p>
            <a:pPr marL="991235">
              <a:lnSpc>
                <a:spcPts val="1270"/>
              </a:lnSpc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FV</a:t>
            </a:r>
            <a:r>
              <a:rPr dirty="0" baseline="-8547" sz="975" spc="-15">
                <a:latin typeface="Garamond"/>
                <a:cs typeface="Garamond"/>
              </a:rPr>
              <a:t>t</a:t>
            </a:r>
            <a:r>
              <a:rPr dirty="0" baseline="-8547" sz="975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r)</a:t>
            </a:r>
            <a:r>
              <a:rPr dirty="0" baseline="21367" sz="975">
                <a:latin typeface="Garamond"/>
                <a:cs typeface="Garamond"/>
              </a:rPr>
              <a:t>t</a:t>
            </a:r>
            <a:r>
              <a:rPr dirty="0" baseline="21367" sz="975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FV</a:t>
            </a:r>
            <a:r>
              <a:rPr dirty="0" baseline="-8547" sz="975" spc="-15">
                <a:latin typeface="Garamond"/>
                <a:cs typeface="Garamond"/>
              </a:rPr>
              <a:t>t</a:t>
            </a:r>
            <a:r>
              <a:rPr dirty="0" baseline="-8547" sz="975" spc="202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[1/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r)</a:t>
            </a:r>
            <a:r>
              <a:rPr dirty="0" baseline="21367" sz="975" spc="7">
                <a:latin typeface="Garamond"/>
                <a:cs typeface="Garamond"/>
              </a:rPr>
              <a:t>t</a:t>
            </a:r>
            <a:r>
              <a:rPr dirty="0" sz="1100" spc="5">
                <a:latin typeface="Garamond"/>
                <a:cs typeface="Garamond"/>
              </a:rPr>
              <a:t>]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762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known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basic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equation.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7018" y="1551961"/>
            <a:ext cx="4458520" cy="32249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0261" y="5754538"/>
            <a:ext cx="4829846" cy="147680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26022" y="714501"/>
            <a:ext cx="80073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14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56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13129" y="883665"/>
            <a:ext cx="5832475" cy="8507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33655">
              <a:lnSpc>
                <a:spcPct val="100000"/>
              </a:lnSpc>
              <a:spcBef>
                <a:spcPts val="135"/>
              </a:spcBef>
            </a:pPr>
            <a:r>
              <a:rPr dirty="0" sz="1150" spc="25" b="1">
                <a:latin typeface="Garamond"/>
                <a:cs typeface="Garamond"/>
              </a:rPr>
              <a:t>EVALUATING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INVESTMENTS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Garamond"/>
              <a:cs typeface="Garamond"/>
            </a:endParaRPr>
          </a:p>
          <a:p>
            <a:pPr marL="533400" marR="106680" indent="-228600">
              <a:lnSpc>
                <a:spcPts val="1260"/>
              </a:lnSpc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considering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purchase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$335,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which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for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$400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three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years.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factor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10%,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good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investment?</a:t>
            </a:r>
            <a:endParaRPr sz="1100">
              <a:latin typeface="Garamond"/>
              <a:cs typeface="Garamond"/>
            </a:endParaRPr>
          </a:p>
          <a:p>
            <a:pPr marL="5334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$335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elsewhere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10%,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to:</a:t>
            </a:r>
            <a:endParaRPr sz="1100">
              <a:latin typeface="Garamond"/>
              <a:cs typeface="Garamond"/>
            </a:endParaRPr>
          </a:p>
          <a:p>
            <a:pPr marL="1448435">
              <a:lnSpc>
                <a:spcPts val="1270"/>
              </a:lnSpc>
              <a:spcBef>
                <a:spcPts val="1170"/>
              </a:spcBef>
              <a:tabLst>
                <a:tab pos="2363470" algn="l"/>
              </a:tabLst>
            </a:pPr>
            <a:r>
              <a:rPr dirty="0" sz="1100" spc="5">
                <a:latin typeface="Garamond"/>
                <a:cs typeface="Garamond"/>
              </a:rPr>
              <a:t>$335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r)</a:t>
            </a:r>
            <a:r>
              <a:rPr dirty="0" baseline="21367" sz="975">
                <a:latin typeface="Garamond"/>
                <a:cs typeface="Garamond"/>
              </a:rPr>
              <a:t>t	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$335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1.1</a:t>
            </a:r>
            <a:r>
              <a:rPr dirty="0" baseline="21367" sz="975" spc="7">
                <a:latin typeface="Garamond"/>
                <a:cs typeface="Garamond"/>
              </a:rPr>
              <a:t>3</a:t>
            </a:r>
            <a:endParaRPr baseline="21367" sz="975">
              <a:latin typeface="Garamond"/>
              <a:cs typeface="Garamond"/>
            </a:endParaRPr>
          </a:p>
          <a:p>
            <a:pPr marL="2363470">
              <a:lnSpc>
                <a:spcPts val="122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$335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1.331</a:t>
            </a:r>
            <a:endParaRPr sz="1100">
              <a:latin typeface="Garamond"/>
              <a:cs typeface="Garamond"/>
            </a:endParaRPr>
          </a:p>
          <a:p>
            <a:pPr marL="2363470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$445.89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33400" marR="111760" indent="-228600">
              <a:lnSpc>
                <a:spcPts val="1260"/>
              </a:lnSpc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purchase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only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$400,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good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alternatives</a:t>
            </a:r>
            <a:endParaRPr sz="1100">
              <a:latin typeface="Garamond"/>
              <a:cs typeface="Garamond"/>
            </a:endParaRPr>
          </a:p>
          <a:p>
            <a:pPr marL="5334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>
                <a:latin typeface="Garamond"/>
                <a:cs typeface="Garamond"/>
              </a:rPr>
              <a:t>Another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looking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$400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three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10%:</a:t>
            </a:r>
            <a:endParaRPr sz="1100">
              <a:latin typeface="Garamond"/>
              <a:cs typeface="Garamond"/>
            </a:endParaRPr>
          </a:p>
          <a:p>
            <a:pPr marL="1448435">
              <a:lnSpc>
                <a:spcPts val="1290"/>
              </a:lnSpc>
              <a:spcBef>
                <a:spcPts val="1170"/>
              </a:spcBef>
            </a:pPr>
            <a:r>
              <a:rPr dirty="0" sz="1100" spc="5">
                <a:latin typeface="Garamond"/>
                <a:cs typeface="Garamond"/>
              </a:rPr>
              <a:t>$400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[1/(1+r)</a:t>
            </a:r>
            <a:r>
              <a:rPr dirty="0" baseline="21367" sz="975">
                <a:latin typeface="Garamond"/>
                <a:cs typeface="Garamond"/>
              </a:rPr>
              <a:t>t</a:t>
            </a:r>
            <a:r>
              <a:rPr dirty="0" sz="1100">
                <a:latin typeface="Garamond"/>
                <a:cs typeface="Garamond"/>
              </a:rPr>
              <a:t>]</a:t>
            </a:r>
            <a:endParaRPr sz="1100">
              <a:latin typeface="Garamond"/>
              <a:cs typeface="Garamond"/>
            </a:endParaRPr>
          </a:p>
          <a:p>
            <a:pPr marL="1448435">
              <a:lnSpc>
                <a:spcPts val="124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$400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1.1</a:t>
            </a:r>
            <a:r>
              <a:rPr dirty="0" baseline="21367" sz="975" spc="7">
                <a:latin typeface="Garamond"/>
                <a:cs typeface="Garamond"/>
              </a:rPr>
              <a:t>3</a:t>
            </a:r>
            <a:endParaRPr baseline="21367" sz="975">
              <a:latin typeface="Garamond"/>
              <a:cs typeface="Garamond"/>
            </a:endParaRPr>
          </a:p>
          <a:p>
            <a:pPr marL="1448435">
              <a:lnSpc>
                <a:spcPts val="124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$400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1.331</a:t>
            </a:r>
            <a:endParaRPr sz="1100">
              <a:latin typeface="Garamond"/>
              <a:cs typeface="Garamond"/>
            </a:endParaRPr>
          </a:p>
          <a:p>
            <a:pPr marL="14484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$300.53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00">
              <a:latin typeface="Garamond"/>
              <a:cs typeface="Garamond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tells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$335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marL="762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What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20" b="1">
                <a:latin typeface="Garamond"/>
                <a:cs typeface="Garamond"/>
              </a:rPr>
              <a:t>Is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Enough?</a:t>
            </a:r>
            <a:endParaRPr sz="1100">
              <a:latin typeface="Garamond"/>
              <a:cs typeface="Garamond"/>
            </a:endParaRPr>
          </a:p>
          <a:p>
            <a:pPr marL="533400" marR="101600" indent="-228600">
              <a:lnSpc>
                <a:spcPts val="1260"/>
              </a:lnSpc>
              <a:spcBef>
                <a:spcPts val="145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>
                <a:latin typeface="Garamond"/>
                <a:cs typeface="Garamond"/>
              </a:rPr>
              <a:t>Assume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college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education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$50,000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child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enters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college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12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marL="533400">
              <a:lnSpc>
                <a:spcPts val="123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Parents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today.</a:t>
            </a:r>
            <a:endParaRPr sz="1100">
              <a:latin typeface="Garamond"/>
              <a:cs typeface="Garamond"/>
            </a:endParaRPr>
          </a:p>
          <a:p>
            <a:pPr marL="533400" marR="104139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your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cover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child’s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education?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algn="just" marL="1448435">
              <a:lnSpc>
                <a:spcPts val="1290"/>
              </a:lnSpc>
            </a:pPr>
            <a:r>
              <a:rPr dirty="0" sz="1100" spc="-5">
                <a:latin typeface="Garamond"/>
                <a:cs typeface="Garamond"/>
              </a:rPr>
              <a:t>FV</a:t>
            </a:r>
            <a:r>
              <a:rPr dirty="0" sz="1100" spc="360">
                <a:latin typeface="Garamond"/>
                <a:cs typeface="Garamond"/>
              </a:rPr>
              <a:t>  </a:t>
            </a:r>
            <a:r>
              <a:rPr dirty="0" sz="1100" spc="3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r)</a:t>
            </a:r>
            <a:r>
              <a:rPr dirty="0" baseline="21367" sz="975">
                <a:latin typeface="Garamond"/>
                <a:cs typeface="Garamond"/>
              </a:rPr>
              <a:t>t</a:t>
            </a:r>
            <a:endParaRPr baseline="21367" sz="975">
              <a:latin typeface="Garamond"/>
              <a:cs typeface="Garamond"/>
            </a:endParaRPr>
          </a:p>
          <a:p>
            <a:pPr algn="just" marL="1448435" marR="2874010">
              <a:lnSpc>
                <a:spcPct val="94200"/>
              </a:lnSpc>
              <a:spcBef>
                <a:spcPts val="45"/>
              </a:spcBef>
            </a:pPr>
            <a:r>
              <a:rPr dirty="0" sz="1100">
                <a:latin typeface="Garamond"/>
                <a:cs typeface="Garamond"/>
              </a:rPr>
              <a:t>$50,000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$5,000 </a:t>
            </a:r>
            <a:r>
              <a:rPr dirty="0" sz="1100" spc="5">
                <a:latin typeface="Garamond"/>
                <a:cs typeface="Garamond"/>
              </a:rPr>
              <a:t>x </a:t>
            </a:r>
            <a:r>
              <a:rPr dirty="0" sz="1100" spc="-5">
                <a:latin typeface="Garamond"/>
                <a:cs typeface="Garamond"/>
              </a:rPr>
              <a:t>(1+ </a:t>
            </a:r>
            <a:r>
              <a:rPr dirty="0" sz="1100" spc="5">
                <a:latin typeface="Garamond"/>
                <a:cs typeface="Garamond"/>
              </a:rPr>
              <a:t>r)</a:t>
            </a:r>
            <a:r>
              <a:rPr dirty="0" baseline="21367" sz="975" spc="7">
                <a:latin typeface="Garamond"/>
                <a:cs typeface="Garamond"/>
              </a:rPr>
              <a:t>12 </a:t>
            </a:r>
            <a:r>
              <a:rPr dirty="0" baseline="21367" sz="975" spc="-2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(1+ </a:t>
            </a:r>
            <a:r>
              <a:rPr dirty="0" sz="1100" spc="5">
                <a:latin typeface="Garamond"/>
                <a:cs typeface="Garamond"/>
              </a:rPr>
              <a:t>r)</a:t>
            </a:r>
            <a:r>
              <a:rPr dirty="0" baseline="21367" sz="975" spc="7">
                <a:latin typeface="Garamond"/>
                <a:cs typeface="Garamond"/>
              </a:rPr>
              <a:t>12</a:t>
            </a:r>
            <a:r>
              <a:rPr dirty="0" baseline="21367" sz="975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$50,000 </a:t>
            </a:r>
            <a:r>
              <a:rPr dirty="0" sz="1100" spc="5">
                <a:latin typeface="Garamond"/>
                <a:cs typeface="Garamond"/>
              </a:rPr>
              <a:t>/ </a:t>
            </a:r>
            <a:r>
              <a:rPr dirty="0" sz="1100" spc="-5">
                <a:latin typeface="Garamond"/>
                <a:cs typeface="Garamond"/>
              </a:rPr>
              <a:t>$5,000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(1+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r)</a:t>
            </a:r>
            <a:r>
              <a:rPr dirty="0" baseline="21367" sz="975" spc="7">
                <a:latin typeface="Garamond"/>
                <a:cs typeface="Garamond"/>
              </a:rPr>
              <a:t>12</a:t>
            </a:r>
            <a:r>
              <a:rPr dirty="0" baseline="21367" sz="975" spc="9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10</a:t>
            </a:r>
            <a:endParaRPr sz="1100">
              <a:latin typeface="Garamond"/>
              <a:cs typeface="Garamond"/>
            </a:endParaRPr>
          </a:p>
          <a:p>
            <a:pPr marL="1448435">
              <a:lnSpc>
                <a:spcPts val="1175"/>
              </a:lnSpc>
            </a:pPr>
            <a:r>
              <a:rPr dirty="0" sz="1100">
                <a:latin typeface="Garamond"/>
                <a:cs typeface="Garamond"/>
              </a:rPr>
              <a:t>(</a:t>
            </a:r>
            <a:r>
              <a:rPr dirty="0" sz="1100" spc="15">
                <a:latin typeface="Garamond"/>
                <a:cs typeface="Garamond"/>
              </a:rPr>
              <a:t>1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baseline="21367" sz="975" spc="22">
                <a:latin typeface="Garamond"/>
                <a:cs typeface="Garamond"/>
              </a:rPr>
              <a:t>1</a:t>
            </a:r>
            <a:r>
              <a:rPr dirty="0" baseline="21367" sz="975" spc="44">
                <a:latin typeface="Garamond"/>
                <a:cs typeface="Garamond"/>
              </a:rPr>
              <a:t>/</a:t>
            </a:r>
            <a:r>
              <a:rPr dirty="0" baseline="21367" sz="975" spc="22">
                <a:latin typeface="Garamond"/>
                <a:cs typeface="Garamond"/>
              </a:rPr>
              <a:t>12</a:t>
            </a:r>
            <a:r>
              <a:rPr dirty="0" baseline="21367" sz="975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40">
                <a:latin typeface="Garamond"/>
                <a:cs typeface="Garamond"/>
              </a:rPr>
              <a:t>(</a:t>
            </a:r>
            <a:r>
              <a:rPr dirty="0" sz="1100" spc="20">
                <a:latin typeface="Garamond"/>
                <a:cs typeface="Garamond"/>
              </a:rPr>
              <a:t>10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90">
                <a:latin typeface="Garamond"/>
                <a:cs typeface="Garamond"/>
              </a:rPr>
              <a:t> </a:t>
            </a:r>
            <a:r>
              <a:rPr dirty="0" baseline="21367" sz="975" spc="-30">
                <a:latin typeface="Garamond"/>
                <a:cs typeface="Garamond"/>
              </a:rPr>
              <a:t>1</a:t>
            </a:r>
            <a:r>
              <a:rPr dirty="0" baseline="21367" sz="975" spc="44">
                <a:latin typeface="Garamond"/>
                <a:cs typeface="Garamond"/>
              </a:rPr>
              <a:t>/</a:t>
            </a:r>
            <a:r>
              <a:rPr dirty="0" baseline="21367" sz="975" spc="22">
                <a:latin typeface="Garamond"/>
                <a:cs typeface="Garamond"/>
              </a:rPr>
              <a:t>12</a:t>
            </a:r>
            <a:endParaRPr baseline="21367" sz="975">
              <a:latin typeface="Garamond"/>
              <a:cs typeface="Garamond"/>
            </a:endParaRPr>
          </a:p>
          <a:p>
            <a:pPr marL="1448435">
              <a:lnSpc>
                <a:spcPts val="1240"/>
              </a:lnSpc>
            </a:pP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1.2115</a:t>
            </a:r>
            <a:endParaRPr sz="1100">
              <a:latin typeface="Garamond"/>
              <a:cs typeface="Garamond"/>
            </a:endParaRPr>
          </a:p>
          <a:p>
            <a:pPr marL="1448435">
              <a:lnSpc>
                <a:spcPts val="1240"/>
              </a:lnSpc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1.2115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endParaRPr sz="1100">
              <a:latin typeface="Garamond"/>
              <a:cs typeface="Garamond"/>
            </a:endParaRPr>
          </a:p>
          <a:p>
            <a:pPr marL="1448435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.2115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algn="just" marL="762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Franklin: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A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Case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Study</a:t>
            </a:r>
            <a:endParaRPr sz="1100">
              <a:latin typeface="Garamond"/>
              <a:cs typeface="Garamond"/>
            </a:endParaRPr>
          </a:p>
          <a:p>
            <a:pPr algn="just" marL="533400" marR="100330" indent="-228600">
              <a:lnSpc>
                <a:spcPct val="94200"/>
              </a:lnSpc>
              <a:spcBef>
                <a:spcPts val="125"/>
              </a:spcBef>
              <a:buFont typeface="Symbol"/>
              <a:buChar char=""/>
              <a:tabLst>
                <a:tab pos="534035" algn="l"/>
              </a:tabLst>
            </a:pPr>
            <a:r>
              <a:rPr dirty="0" sz="1100">
                <a:latin typeface="Garamond"/>
                <a:cs typeface="Garamond"/>
              </a:rPr>
              <a:t>Benjamin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Franklin</a:t>
            </a:r>
            <a:r>
              <a:rPr dirty="0" sz="1100">
                <a:latin typeface="Garamond"/>
                <a:cs typeface="Garamond"/>
              </a:rPr>
              <a:t> died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-5">
                <a:latin typeface="Garamond"/>
                <a:cs typeface="Garamond"/>
              </a:rPr>
              <a:t>April</a:t>
            </a:r>
            <a:r>
              <a:rPr dirty="0" sz="1100">
                <a:latin typeface="Garamond"/>
                <a:cs typeface="Garamond"/>
              </a:rPr>
              <a:t> 17,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1790.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his </a:t>
            </a:r>
            <a:r>
              <a:rPr dirty="0" sz="1100">
                <a:latin typeface="Garamond"/>
                <a:cs typeface="Garamond"/>
              </a:rPr>
              <a:t>will,</a:t>
            </a:r>
            <a:r>
              <a:rPr dirty="0" sz="1100" spc="5">
                <a:latin typeface="Garamond"/>
                <a:cs typeface="Garamond"/>
              </a:rPr>
              <a:t> he </a:t>
            </a:r>
            <a:r>
              <a:rPr dirty="0" sz="1100">
                <a:latin typeface="Garamond"/>
                <a:cs typeface="Garamond"/>
              </a:rPr>
              <a:t>gave 1,000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pounds</a:t>
            </a:r>
            <a:r>
              <a:rPr dirty="0" sz="1100">
                <a:latin typeface="Garamond"/>
                <a:cs typeface="Garamond"/>
              </a:rPr>
              <a:t> sterling</a:t>
            </a:r>
            <a:r>
              <a:rPr dirty="0" sz="1100" spc="5">
                <a:latin typeface="Garamond"/>
                <a:cs typeface="Garamond"/>
              </a:rPr>
              <a:t> to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Massachusetts and </a:t>
            </a:r>
            <a:r>
              <a:rPr dirty="0" sz="1100" spc="5">
                <a:latin typeface="Garamond"/>
                <a:cs typeface="Garamond"/>
              </a:rPr>
              <a:t>the city of </a:t>
            </a:r>
            <a:r>
              <a:rPr dirty="0" sz="1100" spc="-5">
                <a:latin typeface="Garamond"/>
                <a:cs typeface="Garamond"/>
              </a:rPr>
              <a:t>Boston. </a:t>
            </a:r>
            <a:r>
              <a:rPr dirty="0" sz="1100" spc="10">
                <a:latin typeface="Garamond"/>
                <a:cs typeface="Garamond"/>
              </a:rPr>
              <a:t>He </a:t>
            </a:r>
            <a:r>
              <a:rPr dirty="0" sz="1100" spc="-5">
                <a:latin typeface="Garamond"/>
                <a:cs typeface="Garamond"/>
              </a:rPr>
              <a:t>gave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like </a:t>
            </a:r>
            <a:r>
              <a:rPr dirty="0" sz="1100">
                <a:latin typeface="Garamond"/>
                <a:cs typeface="Garamond"/>
              </a:rPr>
              <a:t>amount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Pennsylvania </a:t>
            </a:r>
            <a:r>
              <a:rPr dirty="0" sz="1100" spc="-15">
                <a:latin typeface="Garamond"/>
                <a:cs typeface="Garamond"/>
              </a:rPr>
              <a:t>and </a:t>
            </a:r>
            <a:r>
              <a:rPr dirty="0" sz="1100" spc="5">
                <a:latin typeface="Garamond"/>
                <a:cs typeface="Garamond"/>
              </a:rPr>
              <a:t>the city of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Philadelphia.</a:t>
            </a:r>
            <a:endParaRPr sz="1100">
              <a:latin typeface="Garamond"/>
              <a:cs typeface="Garamond"/>
            </a:endParaRPr>
          </a:p>
          <a:p>
            <a:pPr algn="just" marL="533400" marR="105410" indent="-228600">
              <a:lnSpc>
                <a:spcPts val="1220"/>
              </a:lnSpc>
              <a:spcBef>
                <a:spcPts val="210"/>
              </a:spcBef>
              <a:buFont typeface="Symbol"/>
              <a:buChar char=""/>
              <a:tabLst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money </a:t>
            </a:r>
            <a:r>
              <a:rPr dirty="0" sz="1100" spc="10">
                <a:latin typeface="Garamond"/>
                <a:cs typeface="Garamond"/>
              </a:rPr>
              <a:t>was </a:t>
            </a:r>
            <a:r>
              <a:rPr dirty="0" sz="1100">
                <a:latin typeface="Garamond"/>
                <a:cs typeface="Garamond"/>
              </a:rPr>
              <a:t>paid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Franklin </a:t>
            </a:r>
            <a:r>
              <a:rPr dirty="0" sz="1100">
                <a:latin typeface="Garamond"/>
                <a:cs typeface="Garamond"/>
              </a:rPr>
              <a:t>when </a:t>
            </a:r>
            <a:r>
              <a:rPr dirty="0" sz="1100" spc="-10">
                <a:latin typeface="Garamond"/>
                <a:cs typeface="Garamond"/>
              </a:rPr>
              <a:t>he </a:t>
            </a:r>
            <a:r>
              <a:rPr dirty="0" sz="1100" spc="-5">
                <a:latin typeface="Garamond"/>
                <a:cs typeface="Garamond"/>
              </a:rPr>
              <a:t>held </a:t>
            </a:r>
            <a:r>
              <a:rPr dirty="0" sz="1100">
                <a:latin typeface="Garamond"/>
                <a:cs typeface="Garamond"/>
              </a:rPr>
              <a:t>political office, </a:t>
            </a:r>
            <a:r>
              <a:rPr dirty="0" sz="1100" spc="5">
                <a:latin typeface="Garamond"/>
                <a:cs typeface="Garamond"/>
              </a:rPr>
              <a:t>but he </a:t>
            </a:r>
            <a:r>
              <a:rPr dirty="0" sz="1100" spc="-5">
                <a:latin typeface="Garamond"/>
                <a:cs typeface="Garamond"/>
              </a:rPr>
              <a:t>believed that </a:t>
            </a:r>
            <a:r>
              <a:rPr dirty="0" sz="1100">
                <a:latin typeface="Garamond"/>
                <a:cs typeface="Garamond"/>
              </a:rPr>
              <a:t>politicians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should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service.</a:t>
            </a:r>
            <a:endParaRPr sz="1100">
              <a:latin typeface="Garamond"/>
              <a:cs typeface="Garamond"/>
            </a:endParaRPr>
          </a:p>
          <a:p>
            <a:pPr algn="just" marL="533400" marR="101600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534035" algn="l"/>
              </a:tabLst>
            </a:pPr>
            <a:r>
              <a:rPr dirty="0" sz="1100">
                <a:latin typeface="Garamond"/>
                <a:cs typeface="Garamond"/>
              </a:rPr>
              <a:t>Franklin </a:t>
            </a:r>
            <a:r>
              <a:rPr dirty="0" sz="1100" spc="-5">
                <a:latin typeface="Garamond"/>
                <a:cs typeface="Garamond"/>
              </a:rPr>
              <a:t>originally specified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money </a:t>
            </a:r>
            <a:r>
              <a:rPr dirty="0" sz="1100" spc="-10">
                <a:latin typeface="Garamond"/>
                <a:cs typeface="Garamond"/>
              </a:rPr>
              <a:t>should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>
                <a:latin typeface="Garamond"/>
                <a:cs typeface="Garamond"/>
              </a:rPr>
              <a:t>paid </a:t>
            </a:r>
            <a:r>
              <a:rPr dirty="0" sz="1100" spc="5">
                <a:latin typeface="Garamond"/>
                <a:cs typeface="Garamond"/>
              </a:rPr>
              <a:t>out 100 </a:t>
            </a:r>
            <a:r>
              <a:rPr dirty="0" sz="1100" spc="-5">
                <a:latin typeface="Garamond"/>
                <a:cs typeface="Garamond"/>
              </a:rPr>
              <a:t>years </a:t>
            </a:r>
            <a:r>
              <a:rPr dirty="0" sz="1100" spc="5">
                <a:latin typeface="Garamond"/>
                <a:cs typeface="Garamond"/>
              </a:rPr>
              <a:t>after  </a:t>
            </a:r>
            <a:r>
              <a:rPr dirty="0" sz="1100" spc="-10">
                <a:latin typeface="Garamond"/>
                <a:cs typeface="Garamond"/>
              </a:rPr>
              <a:t>his </a:t>
            </a:r>
            <a:r>
              <a:rPr dirty="0" sz="1100">
                <a:latin typeface="Garamond"/>
                <a:cs typeface="Garamond"/>
              </a:rPr>
              <a:t>death and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young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people.</a:t>
            </a:r>
            <a:endParaRPr sz="1100">
              <a:latin typeface="Garamond"/>
              <a:cs typeface="Garamond"/>
            </a:endParaRPr>
          </a:p>
          <a:p>
            <a:pPr algn="just" marL="5334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534035" algn="l"/>
              </a:tabLst>
            </a:pPr>
            <a:r>
              <a:rPr dirty="0" sz="1100">
                <a:latin typeface="Garamond"/>
                <a:cs typeface="Garamond"/>
              </a:rPr>
              <a:t>Later,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however,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legal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wrangling,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agreed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paid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out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200</a:t>
            </a:r>
            <a:endParaRPr sz="1100">
              <a:latin typeface="Garamond"/>
              <a:cs typeface="Garamond"/>
            </a:endParaRPr>
          </a:p>
          <a:p>
            <a:pPr algn="just" marL="5334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years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Franklin’s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death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1990.</a:t>
            </a:r>
            <a:endParaRPr sz="1100">
              <a:latin typeface="Garamond"/>
              <a:cs typeface="Garamond"/>
            </a:endParaRPr>
          </a:p>
          <a:p>
            <a:pPr algn="just" marL="533400" marR="97155" indent="-228600">
              <a:lnSpc>
                <a:spcPct val="94200"/>
              </a:lnSpc>
              <a:spcBef>
                <a:spcPts val="160"/>
              </a:spcBef>
              <a:buFont typeface="Symbol"/>
              <a:buChar char=""/>
              <a:tabLst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that time,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Pennsylvania </a:t>
            </a:r>
            <a:r>
              <a:rPr dirty="0" sz="1100">
                <a:latin typeface="Garamond"/>
                <a:cs typeface="Garamond"/>
              </a:rPr>
              <a:t>bequest had grown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about </a:t>
            </a:r>
            <a:r>
              <a:rPr dirty="0" sz="1100" spc="-15">
                <a:latin typeface="Garamond"/>
                <a:cs typeface="Garamond"/>
              </a:rPr>
              <a:t>$2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million;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5">
                <a:latin typeface="Garamond"/>
                <a:cs typeface="Garamond"/>
              </a:rPr>
              <a:t>Massachusetts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bequest had grown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$4.5 million. </a:t>
            </a:r>
            <a:r>
              <a:rPr dirty="0" sz="1100" spc="-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money was used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fund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Franklin </a:t>
            </a:r>
            <a:r>
              <a:rPr dirty="0" sz="1100" spc="-5">
                <a:latin typeface="Garamond"/>
                <a:cs typeface="Garamond"/>
              </a:rPr>
              <a:t>Institutes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 Boston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5">
                <a:latin typeface="Garamond"/>
                <a:cs typeface="Garamond"/>
              </a:rPr>
              <a:t>Philadelphia.</a:t>
            </a:r>
            <a:endParaRPr sz="1100">
              <a:latin typeface="Garamond"/>
              <a:cs typeface="Garamond"/>
            </a:endParaRPr>
          </a:p>
          <a:p>
            <a:pPr algn="just" marL="533400" marR="107314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534035" algn="l"/>
              </a:tabLst>
            </a:pPr>
            <a:r>
              <a:rPr dirty="0" sz="1100">
                <a:latin typeface="Garamond"/>
                <a:cs typeface="Garamond"/>
              </a:rPr>
              <a:t>Assuming </a:t>
            </a:r>
            <a:r>
              <a:rPr dirty="0" sz="1100" spc="-5">
                <a:latin typeface="Garamond"/>
                <a:cs typeface="Garamond"/>
              </a:rPr>
              <a:t>that 1,000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pounds </a:t>
            </a:r>
            <a:r>
              <a:rPr dirty="0" sz="1100">
                <a:latin typeface="Garamond"/>
                <a:cs typeface="Garamond"/>
              </a:rPr>
              <a:t>sterling was </a:t>
            </a:r>
            <a:r>
              <a:rPr dirty="0" sz="1100" spc="-5">
                <a:latin typeface="Garamond"/>
                <a:cs typeface="Garamond"/>
              </a:rPr>
              <a:t>equivalent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1,000</a:t>
            </a:r>
            <a:r>
              <a:rPr dirty="0" sz="1100">
                <a:latin typeface="Garamond"/>
                <a:cs typeface="Garamond"/>
              </a:rPr>
              <a:t> dollars, </a:t>
            </a:r>
            <a:r>
              <a:rPr dirty="0" sz="1100" spc="-5">
                <a:latin typeface="Garamond"/>
                <a:cs typeface="Garamond"/>
              </a:rPr>
              <a:t>what </a:t>
            </a:r>
            <a:r>
              <a:rPr dirty="0" sz="1100">
                <a:latin typeface="Garamond"/>
                <a:cs typeface="Garamond"/>
              </a:rPr>
              <a:t>rate </a:t>
            </a:r>
            <a:r>
              <a:rPr dirty="0" sz="1100" spc="-5">
                <a:latin typeface="Garamond"/>
                <a:cs typeface="Garamond"/>
              </a:rPr>
              <a:t>did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two </a:t>
            </a:r>
            <a:r>
              <a:rPr dirty="0" sz="1100">
                <a:latin typeface="Garamond"/>
                <a:cs typeface="Garamond"/>
              </a:rPr>
              <a:t> states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earn?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(Note: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didn’t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become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official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U.S.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currency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until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1792.)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13129" y="431038"/>
            <a:ext cx="5815965" cy="30638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35"/>
              </a:spcBef>
              <a:tabLst>
                <a:tab pos="5520055" algn="l"/>
              </a:tabLst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533400" marR="92710" indent="-228600">
              <a:lnSpc>
                <a:spcPts val="1260"/>
              </a:lnSpc>
              <a:spcBef>
                <a:spcPts val="1065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>
                <a:latin typeface="Garamond"/>
                <a:cs typeface="Garamond"/>
              </a:rPr>
              <a:t>For Pennsylvania,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$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$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1,000.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200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years</a:t>
            </a:r>
            <a:r>
              <a:rPr dirty="0" sz="1100" spc="-5">
                <a:latin typeface="Garamond"/>
                <a:cs typeface="Garamond"/>
              </a:rPr>
              <a:t> involved,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need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solve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2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Garamond"/>
              <a:cs typeface="Garamond"/>
            </a:endParaRPr>
          </a:p>
          <a:p>
            <a:pPr marL="1448435" marR="2639060">
              <a:lnSpc>
                <a:spcPts val="1220"/>
              </a:lnSpc>
            </a:pPr>
            <a:r>
              <a:rPr dirty="0" sz="1100" spc="5">
                <a:latin typeface="Garamond"/>
                <a:cs typeface="Garamond"/>
              </a:rPr>
              <a:t>$ </a:t>
            </a:r>
            <a:r>
              <a:rPr dirty="0" sz="1100" spc="-5">
                <a:latin typeface="Garamond"/>
                <a:cs typeface="Garamond"/>
              </a:rPr>
              <a:t>1,000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5">
                <a:latin typeface="Garamond"/>
                <a:cs typeface="Garamond"/>
              </a:rPr>
              <a:t>$ 2 </a:t>
            </a:r>
            <a:r>
              <a:rPr dirty="0" sz="1100" spc="-5">
                <a:latin typeface="Garamond"/>
                <a:cs typeface="Garamond"/>
              </a:rPr>
              <a:t>million /(1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5">
                <a:latin typeface="Garamond"/>
                <a:cs typeface="Garamond"/>
              </a:rPr>
              <a:t>r)</a:t>
            </a:r>
            <a:r>
              <a:rPr dirty="0" baseline="21367" sz="975" spc="7">
                <a:latin typeface="Garamond"/>
                <a:cs typeface="Garamond"/>
              </a:rPr>
              <a:t>200 </a:t>
            </a:r>
            <a:r>
              <a:rPr dirty="0" baseline="21367" sz="975" spc="-2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)</a:t>
            </a:r>
            <a:r>
              <a:rPr dirty="0" baseline="21367" sz="975" spc="7">
                <a:latin typeface="Garamond"/>
                <a:cs typeface="Garamond"/>
              </a:rPr>
              <a:t>200</a:t>
            </a:r>
            <a:r>
              <a:rPr dirty="0" baseline="21367" sz="975" spc="-3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2,000.00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200">
              <a:latin typeface="Garamond"/>
              <a:cs typeface="Garamond"/>
            </a:endParaRPr>
          </a:p>
          <a:p>
            <a:pPr marL="76200" marR="347980">
              <a:lnSpc>
                <a:spcPts val="1300"/>
              </a:lnSpc>
            </a:pPr>
            <a:r>
              <a:rPr dirty="0" sz="1100">
                <a:latin typeface="Garamond"/>
                <a:cs typeface="Garamond"/>
              </a:rPr>
              <a:t>Solving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50" spc="20" i="1">
                <a:latin typeface="Georgia"/>
                <a:cs typeface="Georgia"/>
              </a:rPr>
              <a:t>r</a:t>
            </a:r>
            <a:r>
              <a:rPr dirty="0" sz="1100" spc="20">
                <a:latin typeface="Garamond"/>
                <a:cs typeface="Garamond"/>
              </a:rPr>
              <a:t>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Pennsylvania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grew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3.87%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Massachusetts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better;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check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was </a:t>
            </a:r>
            <a:r>
              <a:rPr dirty="0" sz="1100" spc="-5">
                <a:latin typeface="Garamond"/>
                <a:cs typeface="Garamond"/>
              </a:rPr>
              <a:t>4.3%.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Small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differences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up!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50">
              <a:latin typeface="Garamond"/>
              <a:cs typeface="Garamond"/>
            </a:endParaRPr>
          </a:p>
          <a:p>
            <a:pPr marL="762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Finding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the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Number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deposit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$5,000 today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10%,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Garamond"/>
              <a:cs typeface="Garamond"/>
            </a:endParaRPr>
          </a:p>
          <a:p>
            <a:pPr marL="1448435">
              <a:lnSpc>
                <a:spcPct val="100000"/>
              </a:lnSpc>
            </a:pPr>
            <a:r>
              <a:rPr dirty="0" sz="1100" spc="-5">
                <a:latin typeface="Garamond"/>
                <a:cs typeface="Garamond"/>
              </a:rPr>
              <a:t>FV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C</a:t>
            </a:r>
            <a:r>
              <a:rPr dirty="0" baseline="-8547" sz="975" spc="30">
                <a:latin typeface="Garamond"/>
                <a:cs typeface="Garamond"/>
              </a:rPr>
              <a:t>0</a:t>
            </a:r>
            <a:r>
              <a:rPr dirty="0" baseline="-8547" sz="975" spc="12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Cambria Math"/>
                <a:cs typeface="Cambria Math"/>
              </a:rPr>
              <a:t>(1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10">
                <a:latin typeface="Cambria Math"/>
                <a:cs typeface="Cambria Math"/>
              </a:rPr>
              <a:t>+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15">
                <a:latin typeface="Cambria Math"/>
                <a:cs typeface="Cambria Math"/>
              </a:rPr>
              <a:t>𝑟)</a:t>
            </a:r>
            <a:r>
              <a:rPr dirty="0" baseline="27777" sz="1200" spc="22">
                <a:latin typeface="Cambria Math"/>
                <a:cs typeface="Cambria Math"/>
              </a:rPr>
              <a:t>𝑡</a:t>
            </a:r>
            <a:endParaRPr baseline="27777" sz="1200">
              <a:latin typeface="Cambria Math"/>
              <a:cs typeface="Cambria Math"/>
            </a:endParaRPr>
          </a:p>
          <a:p>
            <a:pPr marL="1448435">
              <a:lnSpc>
                <a:spcPct val="100000"/>
              </a:lnSpc>
              <a:spcBef>
                <a:spcPts val="1240"/>
              </a:spcBef>
            </a:pPr>
            <a:r>
              <a:rPr dirty="0" sz="1100">
                <a:latin typeface="Garamond"/>
                <a:cs typeface="Garamond"/>
              </a:rPr>
              <a:t>$10,000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Cambria Math"/>
                <a:cs typeface="Cambria Math"/>
              </a:rPr>
              <a:t>(1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10">
                <a:latin typeface="Cambria Math"/>
                <a:cs typeface="Cambria Math"/>
              </a:rPr>
              <a:t>+</a:t>
            </a:r>
            <a:r>
              <a:rPr dirty="0" sz="1100">
                <a:latin typeface="Cambria Math"/>
                <a:cs typeface="Cambria Math"/>
              </a:rPr>
              <a:t> 0.10)</a:t>
            </a:r>
            <a:r>
              <a:rPr dirty="0" baseline="27777" sz="1200">
                <a:latin typeface="Cambria Math"/>
                <a:cs typeface="Cambria Math"/>
              </a:rPr>
              <a:t>𝑡</a:t>
            </a:r>
            <a:endParaRPr baseline="27777" sz="12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85720" y="3820413"/>
            <a:ext cx="410209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0">
                <a:latin typeface="Cambria Math"/>
                <a:cs typeface="Cambria Math"/>
              </a:rPr>
              <a:t>$50,00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61844" y="3814571"/>
            <a:ext cx="457834" cy="9525"/>
          </a:xfrm>
          <a:custGeom>
            <a:avLst/>
            <a:gdLst/>
            <a:ahLst/>
            <a:cxnLst/>
            <a:rect l="l" t="t" r="r" b="b"/>
            <a:pathLst>
              <a:path w="457835" h="9525">
                <a:moveTo>
                  <a:pt x="457504" y="0"/>
                </a:moveTo>
                <a:lnTo>
                  <a:pt x="0" y="0"/>
                </a:lnTo>
                <a:lnTo>
                  <a:pt x="0" y="9144"/>
                </a:lnTo>
                <a:lnTo>
                  <a:pt x="457504" y="9144"/>
                </a:lnTo>
                <a:lnTo>
                  <a:pt x="4575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23744" y="3623563"/>
            <a:ext cx="1365250" cy="2870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965"/>
              </a:lnSpc>
              <a:spcBef>
                <a:spcPts val="105"/>
              </a:spcBef>
            </a:pPr>
            <a:r>
              <a:rPr dirty="0" sz="1000" spc="10">
                <a:latin typeface="Cambria Math"/>
                <a:cs typeface="Cambria Math"/>
              </a:rPr>
              <a:t>$10,000</a:t>
            </a:r>
            <a:endParaRPr sz="1000">
              <a:latin typeface="Cambria Math"/>
              <a:cs typeface="Cambria Math"/>
            </a:endParaRPr>
          </a:p>
          <a:p>
            <a:pPr marL="532130">
              <a:lnSpc>
                <a:spcPts val="108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Cambria Math"/>
                <a:cs typeface="Cambria Math"/>
              </a:rPr>
              <a:t>(1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10">
                <a:latin typeface="Cambria Math"/>
                <a:cs typeface="Cambria Math"/>
              </a:rPr>
              <a:t>+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0.10)</a:t>
            </a:r>
            <a:r>
              <a:rPr dirty="0" baseline="27777" sz="1200">
                <a:latin typeface="Cambria Math"/>
                <a:cs typeface="Cambria Math"/>
              </a:rPr>
              <a:t>𝑡</a:t>
            </a:r>
            <a:endParaRPr baseline="27777" sz="1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23744" y="4117593"/>
            <a:ext cx="957580" cy="5251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Cambria Math"/>
                <a:cs typeface="Cambria Math"/>
              </a:rPr>
              <a:t>(1.10)</a:t>
            </a:r>
            <a:r>
              <a:rPr dirty="0" baseline="27777" sz="1200" spc="7">
                <a:latin typeface="Cambria Math"/>
                <a:cs typeface="Cambria Math"/>
              </a:rPr>
              <a:t>𝑡</a:t>
            </a:r>
            <a:r>
              <a:rPr dirty="0" baseline="27777" sz="1200" spc="179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</a:pPr>
            <a:r>
              <a:rPr dirty="0" sz="1100" spc="5">
                <a:latin typeface="Cambria Math"/>
                <a:cs typeface="Cambria Math"/>
              </a:rPr>
              <a:t>𝑙𝑛(1.10)</a:t>
            </a:r>
            <a:r>
              <a:rPr dirty="0" baseline="27777" sz="1200" spc="7">
                <a:latin typeface="Cambria Math"/>
                <a:cs typeface="Cambria Math"/>
              </a:rPr>
              <a:t>𝑡</a:t>
            </a:r>
            <a:r>
              <a:rPr dirty="0" baseline="27777" sz="1200" spc="187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ln</a:t>
            </a:r>
            <a:r>
              <a:rPr dirty="0" sz="1100">
                <a:latin typeface="Garamond"/>
                <a:cs typeface="Garamond"/>
              </a:rPr>
              <a:t>2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9144" y="4854066"/>
            <a:ext cx="2159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Cambria Math"/>
                <a:cs typeface="Cambria Math"/>
              </a:rPr>
              <a:t>𝑡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15157" y="4762626"/>
            <a:ext cx="2413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60">
                <a:latin typeface="Cambria Math"/>
                <a:cs typeface="Cambria Math"/>
              </a:rPr>
              <a:t>ln</a:t>
            </a:r>
            <a:r>
              <a:rPr dirty="0" sz="1000" spc="-65">
                <a:latin typeface="Cambria Math"/>
                <a:cs typeface="Cambria Math"/>
              </a:rPr>
              <a:t> </a:t>
            </a:r>
            <a:r>
              <a:rPr dirty="0" sz="1000" spc="25">
                <a:latin typeface="Cambria Math"/>
                <a:cs typeface="Cambria Math"/>
              </a:rPr>
              <a:t>2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82316" y="4959222"/>
            <a:ext cx="508634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20">
                <a:latin typeface="Cambria Math"/>
                <a:cs typeface="Cambria Math"/>
              </a:rPr>
              <a:t>𝑙𝑛(1.10)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95016" y="4953634"/>
            <a:ext cx="480695" cy="9525"/>
          </a:xfrm>
          <a:custGeom>
            <a:avLst/>
            <a:gdLst/>
            <a:ahLst/>
            <a:cxnLst/>
            <a:rect l="l" t="t" r="r" b="b"/>
            <a:pathLst>
              <a:path w="480695" h="9525">
                <a:moveTo>
                  <a:pt x="480364" y="0"/>
                </a:moveTo>
                <a:lnTo>
                  <a:pt x="0" y="0"/>
                </a:lnTo>
                <a:lnTo>
                  <a:pt x="0" y="9144"/>
                </a:lnTo>
                <a:lnTo>
                  <a:pt x="480364" y="9144"/>
                </a:lnTo>
                <a:lnTo>
                  <a:pt x="4803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785872" y="5443092"/>
            <a:ext cx="389255" cy="9525"/>
          </a:xfrm>
          <a:custGeom>
            <a:avLst/>
            <a:gdLst/>
            <a:ahLst/>
            <a:cxnLst/>
            <a:rect l="l" t="t" r="r" b="b"/>
            <a:pathLst>
              <a:path w="389255" h="9525">
                <a:moveTo>
                  <a:pt x="388924" y="0"/>
                </a:moveTo>
                <a:lnTo>
                  <a:pt x="0" y="0"/>
                </a:lnTo>
                <a:lnTo>
                  <a:pt x="0" y="9144"/>
                </a:lnTo>
                <a:lnTo>
                  <a:pt x="388924" y="9144"/>
                </a:lnTo>
                <a:lnTo>
                  <a:pt x="3889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00429" y="5193824"/>
            <a:ext cx="5764530" cy="414655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461135">
              <a:lnSpc>
                <a:spcPct val="100000"/>
              </a:lnSpc>
              <a:spcBef>
                <a:spcPts val="465"/>
              </a:spcBef>
            </a:pPr>
            <a:r>
              <a:rPr dirty="0" baseline="-42929" sz="1650" spc="7">
                <a:latin typeface="Cambria Math"/>
                <a:cs typeface="Cambria Math"/>
              </a:rPr>
              <a:t>𝑡</a:t>
            </a:r>
            <a:r>
              <a:rPr dirty="0" baseline="-42929" sz="1650" spc="44">
                <a:latin typeface="Cambria Math"/>
                <a:cs typeface="Cambria Math"/>
              </a:rPr>
              <a:t> </a:t>
            </a:r>
            <a:r>
              <a:rPr dirty="0" baseline="-42929" sz="1650" spc="15">
                <a:latin typeface="Garamond"/>
                <a:cs typeface="Garamond"/>
              </a:rPr>
              <a:t>=</a:t>
            </a:r>
            <a:r>
              <a:rPr dirty="0" baseline="-42929" sz="1650" spc="-75">
                <a:latin typeface="Garamond"/>
                <a:cs typeface="Garamond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0.6931</a:t>
            </a:r>
            <a:endParaRPr sz="1000">
              <a:latin typeface="Cambria Math"/>
              <a:cs typeface="Cambria Math"/>
            </a:endParaRPr>
          </a:p>
          <a:p>
            <a:pPr marL="1685289">
              <a:lnSpc>
                <a:spcPct val="100000"/>
              </a:lnSpc>
              <a:spcBef>
                <a:spcPts val="330"/>
              </a:spcBef>
            </a:pPr>
            <a:r>
              <a:rPr dirty="0" sz="1000" spc="15">
                <a:latin typeface="Cambria Math"/>
                <a:cs typeface="Cambria Math"/>
              </a:rPr>
              <a:t>0.0953</a:t>
            </a:r>
            <a:endParaRPr sz="1000">
              <a:latin typeface="Cambria Math"/>
              <a:cs typeface="Cambria Math"/>
            </a:endParaRPr>
          </a:p>
          <a:p>
            <a:pPr marL="1461135">
              <a:lnSpc>
                <a:spcPct val="100000"/>
              </a:lnSpc>
              <a:spcBef>
                <a:spcPts val="1000"/>
              </a:spcBef>
            </a:pPr>
            <a:r>
              <a:rPr dirty="0" sz="1100" spc="5">
                <a:latin typeface="Cambria Math"/>
                <a:cs typeface="Cambria Math"/>
              </a:rPr>
              <a:t>𝑡</a:t>
            </a:r>
            <a:r>
              <a:rPr dirty="0" sz="1100" spc="4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7.27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 marL="88900">
              <a:lnSpc>
                <a:spcPct val="100000"/>
              </a:lnSpc>
              <a:spcBef>
                <a:spcPts val="1135"/>
              </a:spcBef>
            </a:pPr>
            <a:r>
              <a:rPr dirty="0" sz="1100" b="1">
                <a:latin typeface="Garamond"/>
                <a:cs typeface="Garamond"/>
              </a:rPr>
              <a:t>Finding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the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Number</a:t>
            </a:r>
            <a:r>
              <a:rPr dirty="0" sz="1100" spc="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Periods: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Rule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15" b="1">
                <a:latin typeface="Garamond"/>
                <a:cs typeface="Garamond"/>
              </a:rPr>
              <a:t>72</a:t>
            </a:r>
            <a:endParaRPr sz="1100">
              <a:latin typeface="Garamond"/>
              <a:cs typeface="Garamond"/>
            </a:endParaRPr>
          </a:p>
          <a:p>
            <a:pPr marL="546100" marR="81280" indent="-546100">
              <a:lnSpc>
                <a:spcPct val="188300"/>
              </a:lnSpc>
              <a:spcBef>
                <a:spcPts val="140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reasonable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double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given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approximately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72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r%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Continuing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example,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10%,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so:</a:t>
            </a:r>
            <a:endParaRPr sz="1100">
              <a:latin typeface="Garamond"/>
              <a:cs typeface="Garamond"/>
            </a:endParaRPr>
          </a:p>
          <a:p>
            <a:pPr marL="1461135">
              <a:lnSpc>
                <a:spcPct val="100000"/>
              </a:lnSpc>
              <a:spcBef>
                <a:spcPts val="1165"/>
              </a:spcBef>
            </a:pPr>
            <a:r>
              <a:rPr dirty="0" sz="1100">
                <a:latin typeface="Garamond"/>
                <a:cs typeface="Garamond"/>
              </a:rPr>
              <a:t>t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72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7.2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fairly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applicable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5%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range.</a:t>
            </a:r>
            <a:endParaRPr sz="1100">
              <a:latin typeface="Garamond"/>
              <a:cs typeface="Garamond"/>
            </a:endParaRPr>
          </a:p>
          <a:p>
            <a:pPr marL="889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Finding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the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Number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Periods: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An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Example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46100" marR="26034" indent="-228600">
              <a:lnSpc>
                <a:spcPts val="126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been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saving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up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purchase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asset.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$10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million.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$2.3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million.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ts val="1290"/>
              </a:lnSpc>
              <a:spcBef>
                <a:spcPts val="20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wait,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45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5%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money?,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70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16%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money?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At </a:t>
            </a:r>
            <a:r>
              <a:rPr dirty="0" sz="1100">
                <a:latin typeface="Garamond"/>
                <a:cs typeface="Garamond"/>
              </a:rPr>
              <a:t>5%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wait</a:t>
            </a:r>
            <a:r>
              <a:rPr dirty="0" sz="1100" spc="5">
                <a:latin typeface="Garamond"/>
                <a:cs typeface="Garamond"/>
              </a:rPr>
              <a:t> 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00429" y="714501"/>
            <a:ext cx="5770880" cy="772922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461135" marR="3309620">
              <a:lnSpc>
                <a:spcPts val="1220"/>
              </a:lnSpc>
              <a:spcBef>
                <a:spcPts val="240"/>
              </a:spcBef>
            </a:pPr>
            <a:r>
              <a:rPr dirty="0" sz="1100">
                <a:latin typeface="Garamond"/>
                <a:cs typeface="Garamond"/>
              </a:rPr>
              <a:t>$2.3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$10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1.05t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1.05t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4.35</a:t>
            </a:r>
            <a:endParaRPr sz="1100">
              <a:latin typeface="Garamond"/>
              <a:cs typeface="Garamond"/>
            </a:endParaRPr>
          </a:p>
          <a:p>
            <a:pPr marL="1461135">
              <a:lnSpc>
                <a:spcPts val="1245"/>
              </a:lnSpc>
            </a:pP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At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16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%,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make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10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400">
              <a:latin typeface="Garamond"/>
              <a:cs typeface="Garamond"/>
            </a:endParaRPr>
          </a:p>
          <a:p>
            <a:pPr marL="88900">
              <a:lnSpc>
                <a:spcPct val="100000"/>
              </a:lnSpc>
              <a:spcBef>
                <a:spcPts val="850"/>
              </a:spcBef>
            </a:pPr>
            <a:r>
              <a:rPr dirty="0" sz="1100" spc="-5" b="1">
                <a:latin typeface="Garamond"/>
                <a:cs typeface="Garamond"/>
              </a:rPr>
              <a:t>Summarizing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Time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Calculations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lvl="1" marL="673735" indent="-128270">
              <a:lnSpc>
                <a:spcPct val="100000"/>
              </a:lnSpc>
              <a:spcBef>
                <a:spcPts val="5"/>
              </a:spcBef>
              <a:buAutoNum type="romanUcPeriod"/>
              <a:tabLst>
                <a:tab pos="674370" algn="l"/>
              </a:tabLst>
            </a:pPr>
            <a:r>
              <a:rPr dirty="0" sz="1100" b="1">
                <a:latin typeface="Garamond"/>
                <a:cs typeface="Garamond"/>
              </a:rPr>
              <a:t>Symbols: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Garamond"/>
              <a:buAutoNum type="romanUcPeriod"/>
            </a:pPr>
            <a:endParaRPr sz="1050">
              <a:latin typeface="Garamond"/>
              <a:cs typeface="Garamond"/>
            </a:endParaRPr>
          </a:p>
          <a:p>
            <a:pPr marL="1003935" marR="1276350">
              <a:lnSpc>
                <a:spcPts val="1260"/>
              </a:lnSpc>
              <a:tabLst>
                <a:tab pos="1461135" algn="l"/>
              </a:tabLst>
            </a:pPr>
            <a:r>
              <a:rPr dirty="0" sz="1100" spc="-5">
                <a:latin typeface="Garamond"/>
                <a:cs typeface="Garamond"/>
              </a:rPr>
              <a:t>PV	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Present </a:t>
            </a:r>
            <a:r>
              <a:rPr dirty="0" sz="1100">
                <a:latin typeface="Garamond"/>
                <a:cs typeface="Garamond"/>
              </a:rPr>
              <a:t>value, </a:t>
            </a:r>
            <a:r>
              <a:rPr dirty="0" sz="1100" spc="5">
                <a:latin typeface="Garamond"/>
                <a:cs typeface="Garamond"/>
              </a:rPr>
              <a:t>what </a:t>
            </a:r>
            <a:r>
              <a:rPr dirty="0" sz="1100" spc="-10">
                <a:latin typeface="Garamond"/>
                <a:cs typeface="Garamond"/>
              </a:rPr>
              <a:t>future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>
                <a:latin typeface="Garamond"/>
                <a:cs typeface="Garamond"/>
              </a:rPr>
              <a:t>flows are </a:t>
            </a:r>
            <a:r>
              <a:rPr dirty="0" sz="1100" spc="5">
                <a:latin typeface="Garamond"/>
                <a:cs typeface="Garamond"/>
              </a:rPr>
              <a:t>worth </a:t>
            </a:r>
            <a:r>
              <a:rPr dirty="0" sz="1100" spc="-5">
                <a:latin typeface="Garamond"/>
                <a:cs typeface="Garamond"/>
              </a:rPr>
              <a:t>today </a:t>
            </a:r>
            <a:r>
              <a:rPr dirty="0" sz="1100" spc="-2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FVt	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Future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endParaRPr sz="1100">
              <a:latin typeface="Garamond"/>
              <a:cs typeface="Garamond"/>
            </a:endParaRPr>
          </a:p>
          <a:p>
            <a:pPr marL="1003935">
              <a:lnSpc>
                <a:spcPts val="1160"/>
              </a:lnSpc>
              <a:tabLst>
                <a:tab pos="1461135" algn="l"/>
              </a:tabLst>
            </a:pPr>
            <a:r>
              <a:rPr dirty="0" sz="1100" spc="5">
                <a:latin typeface="Garamond"/>
                <a:cs typeface="Garamond"/>
              </a:rPr>
              <a:t>r	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period</a:t>
            </a:r>
            <a:endParaRPr sz="1100">
              <a:latin typeface="Garamond"/>
              <a:cs typeface="Garamond"/>
            </a:endParaRPr>
          </a:p>
          <a:p>
            <a:pPr marL="1003935">
              <a:lnSpc>
                <a:spcPts val="1245"/>
              </a:lnSpc>
              <a:tabLst>
                <a:tab pos="1461135" algn="l"/>
              </a:tabLst>
            </a:pPr>
            <a:r>
              <a:rPr dirty="0" sz="1100">
                <a:latin typeface="Garamond"/>
                <a:cs typeface="Garamond"/>
              </a:rPr>
              <a:t>t	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number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endParaRPr sz="1100">
              <a:latin typeface="Garamond"/>
              <a:cs typeface="Garamond"/>
            </a:endParaRPr>
          </a:p>
          <a:p>
            <a:pPr marL="1003935">
              <a:lnSpc>
                <a:spcPts val="1275"/>
              </a:lnSpc>
              <a:tabLst>
                <a:tab pos="1461135" algn="l"/>
              </a:tabLst>
            </a:pPr>
            <a:r>
              <a:rPr dirty="0" sz="1100" spc="10">
                <a:latin typeface="Garamond"/>
                <a:cs typeface="Garamond"/>
              </a:rPr>
              <a:t>C	=</a:t>
            </a:r>
            <a:r>
              <a:rPr dirty="0" sz="1100" spc="-5">
                <a:latin typeface="Garamond"/>
                <a:cs typeface="Garamond"/>
              </a:rPr>
              <a:t> cash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lvl="1" marL="728980" indent="-183515">
              <a:lnSpc>
                <a:spcPct val="100000"/>
              </a:lnSpc>
              <a:buAutoNum type="romanUcPeriod" startAt="2"/>
              <a:tabLst>
                <a:tab pos="729615" algn="l"/>
              </a:tabLst>
            </a:pPr>
            <a:r>
              <a:rPr dirty="0" sz="1100" b="1">
                <a:latin typeface="Garamond"/>
                <a:cs typeface="Garamond"/>
              </a:rPr>
              <a:t>Future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C </a:t>
            </a:r>
            <a:r>
              <a:rPr dirty="0" sz="1100" spc="-10" b="1">
                <a:latin typeface="Garamond"/>
                <a:cs typeface="Garamond"/>
              </a:rPr>
              <a:t>dollars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invested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at </a:t>
            </a:r>
            <a:r>
              <a:rPr dirty="0" sz="1100" spc="5" b="1">
                <a:latin typeface="Garamond"/>
                <a:cs typeface="Garamond"/>
              </a:rPr>
              <a:t>r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percent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period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for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t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periods: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buFont typeface="Garamond"/>
              <a:buAutoNum type="romanUcPeriod" startAt="2"/>
            </a:pPr>
            <a:endParaRPr sz="1000">
              <a:latin typeface="Garamond"/>
              <a:cs typeface="Garamond"/>
            </a:endParaRPr>
          </a:p>
          <a:p>
            <a:pPr marL="1003935">
              <a:lnSpc>
                <a:spcPts val="1290"/>
              </a:lnSpc>
            </a:pPr>
            <a:r>
              <a:rPr dirty="0" sz="1100" spc="-5">
                <a:latin typeface="Garamond"/>
                <a:cs typeface="Garamond"/>
              </a:rPr>
              <a:t>FV</a:t>
            </a:r>
            <a:r>
              <a:rPr dirty="0" sz="650" spc="-5">
                <a:latin typeface="Garamond"/>
                <a:cs typeface="Garamond"/>
              </a:rPr>
              <a:t>t</a:t>
            </a:r>
            <a:r>
              <a:rPr dirty="0" sz="6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r)</a:t>
            </a:r>
            <a:r>
              <a:rPr dirty="0" baseline="21367" sz="975">
                <a:latin typeface="Garamond"/>
                <a:cs typeface="Garamond"/>
              </a:rPr>
              <a:t>t</a:t>
            </a:r>
            <a:endParaRPr baseline="21367" sz="975">
              <a:latin typeface="Garamond"/>
              <a:cs typeface="Garamond"/>
            </a:endParaRPr>
          </a:p>
          <a:p>
            <a:pPr marL="1003935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r)</a:t>
            </a:r>
            <a:r>
              <a:rPr dirty="0" baseline="21367" sz="975" spc="-15">
                <a:latin typeface="Garamond"/>
                <a:cs typeface="Garamond"/>
              </a:rPr>
              <a:t>t</a:t>
            </a:r>
            <a:r>
              <a:rPr dirty="0" baseline="21367" sz="975" spc="37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future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value</a:t>
            </a:r>
            <a:r>
              <a:rPr dirty="0" sz="1100" spc="-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factor</a:t>
            </a:r>
            <a:r>
              <a:rPr dirty="0" sz="1100">
                <a:latin typeface="Garamond"/>
                <a:cs typeface="Garamond"/>
              </a:rPr>
              <a:t>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lvl="1" marL="783590" indent="-238125">
              <a:lnSpc>
                <a:spcPct val="100000"/>
              </a:lnSpc>
              <a:buAutoNum type="romanUcPeriod" startAt="3"/>
              <a:tabLst>
                <a:tab pos="784225" algn="l"/>
              </a:tabLst>
            </a:pP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value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C to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be</a:t>
            </a:r>
            <a:r>
              <a:rPr dirty="0" sz="1100" spc="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received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in</a:t>
            </a:r>
            <a:r>
              <a:rPr dirty="0" sz="1100" spc="5" b="1">
                <a:latin typeface="Garamond"/>
                <a:cs typeface="Garamond"/>
              </a:rPr>
              <a:t> t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periods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at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percent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period: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Garamond"/>
              <a:buAutoNum type="romanUcPeriod" startAt="3"/>
            </a:pPr>
            <a:endParaRPr sz="1000">
              <a:latin typeface="Garamond"/>
              <a:cs typeface="Garamond"/>
            </a:endParaRPr>
          </a:p>
          <a:p>
            <a:pPr marL="1003935">
              <a:lnSpc>
                <a:spcPts val="1290"/>
              </a:lnSpc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C/(1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r)</a:t>
            </a:r>
            <a:r>
              <a:rPr dirty="0" baseline="21367" sz="975" spc="7">
                <a:latin typeface="Garamond"/>
                <a:cs typeface="Garamond"/>
              </a:rPr>
              <a:t>t</a:t>
            </a:r>
            <a:endParaRPr baseline="21367" sz="975">
              <a:latin typeface="Garamond"/>
              <a:cs typeface="Garamond"/>
            </a:endParaRPr>
          </a:p>
          <a:p>
            <a:pPr marL="1003935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1/(1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r)</a:t>
            </a:r>
            <a:r>
              <a:rPr dirty="0" baseline="21367" sz="975">
                <a:latin typeface="Garamond"/>
                <a:cs typeface="Garamond"/>
              </a:rPr>
              <a:t>t</a:t>
            </a:r>
            <a:r>
              <a:rPr dirty="0" baseline="21367" sz="975" spc="-7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present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value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factor</a:t>
            </a:r>
            <a:r>
              <a:rPr dirty="0" sz="1100">
                <a:latin typeface="Garamond"/>
                <a:cs typeface="Garamond"/>
              </a:rPr>
              <a:t>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Garamond"/>
              <a:cs typeface="Garamond"/>
            </a:endParaRPr>
          </a:p>
          <a:p>
            <a:pPr lvl="1" marL="546100" marR="43180">
              <a:lnSpc>
                <a:spcPts val="1260"/>
              </a:lnSpc>
              <a:buAutoNum type="romanUcPeriod" startAt="4"/>
              <a:tabLst>
                <a:tab pos="770255" algn="l"/>
              </a:tabLst>
            </a:pPr>
            <a:r>
              <a:rPr dirty="0" sz="1100" spc="-15" b="1">
                <a:latin typeface="Garamond"/>
                <a:cs typeface="Garamond"/>
              </a:rPr>
              <a:t>The</a:t>
            </a:r>
            <a:r>
              <a:rPr dirty="0" sz="1100" spc="3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basic</a:t>
            </a:r>
            <a:r>
              <a:rPr dirty="0" sz="1100" spc="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present value</a:t>
            </a:r>
            <a:r>
              <a:rPr dirty="0" sz="1100" b="1">
                <a:latin typeface="Garamond"/>
                <a:cs typeface="Garamond"/>
              </a:rPr>
              <a:t> equation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giving </a:t>
            </a:r>
            <a:r>
              <a:rPr dirty="0" sz="1100" spc="5" b="1">
                <a:latin typeface="Garamond"/>
                <a:cs typeface="Garamond"/>
              </a:rPr>
              <a:t>the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relationship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between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present and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future </a:t>
            </a:r>
            <a:r>
              <a:rPr dirty="0" sz="1100" spc="-26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value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Garamond"/>
              <a:buAutoNum type="romanUcPeriod" startAt="4"/>
            </a:pPr>
            <a:endParaRPr sz="1000">
              <a:latin typeface="Garamond"/>
              <a:cs typeface="Garamond"/>
            </a:endParaRPr>
          </a:p>
          <a:p>
            <a:pPr marL="1003935">
              <a:lnSpc>
                <a:spcPct val="100000"/>
              </a:lnSpc>
            </a:pPr>
            <a:r>
              <a:rPr dirty="0" sz="1100" spc="-5">
                <a:latin typeface="Garamond"/>
                <a:cs typeface="Garamond"/>
              </a:rPr>
              <a:t>PV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FV</a:t>
            </a:r>
            <a:r>
              <a:rPr dirty="0" baseline="21367" sz="975" spc="-7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/(1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r)</a:t>
            </a:r>
            <a:r>
              <a:rPr dirty="0" baseline="21367" sz="975">
                <a:latin typeface="Garamond"/>
                <a:cs typeface="Garamond"/>
              </a:rPr>
              <a:t>t</a:t>
            </a:r>
            <a:endParaRPr baseline="21367" sz="975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Garamond"/>
              <a:cs typeface="Garamond"/>
            </a:endParaRPr>
          </a:p>
          <a:p>
            <a:pPr marL="889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Valuation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Multiple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 Flows</a:t>
            </a:r>
            <a:endParaRPr sz="1100">
              <a:latin typeface="Garamond"/>
              <a:cs typeface="Garamond"/>
            </a:endParaRPr>
          </a:p>
          <a:p>
            <a:pPr marL="546100" marR="28575" indent="-228600">
              <a:lnSpc>
                <a:spcPts val="1260"/>
              </a:lnSpc>
              <a:spcBef>
                <a:spcPts val="14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restricted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 </a:t>
            </a:r>
            <a:r>
              <a:rPr dirty="0" sz="1100">
                <a:latin typeface="Garamond"/>
                <a:cs typeface="Garamond"/>
              </a:rPr>
              <a:t>attention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either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lump-sum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single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flows.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onwards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focus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flows.</a:t>
            </a:r>
            <a:endParaRPr sz="1100">
              <a:latin typeface="Garamond"/>
              <a:cs typeface="Garamond"/>
            </a:endParaRPr>
          </a:p>
          <a:p>
            <a:pPr marL="889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Future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with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Multiple </a:t>
            </a:r>
            <a:r>
              <a:rPr dirty="0" sz="1100" spc="-5" b="1">
                <a:latin typeface="Garamond"/>
                <a:cs typeface="Garamond"/>
              </a:rPr>
              <a:t>Cash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46100" marR="33020" indent="-228600">
              <a:lnSpc>
                <a:spcPts val="126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deposit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deposit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another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much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ts val="129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$108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plus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second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deposit,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endParaRPr sz="1100">
              <a:latin typeface="Garamond"/>
              <a:cs typeface="Garamond"/>
            </a:endParaRPr>
          </a:p>
          <a:p>
            <a:pPr marL="546100">
              <a:lnSpc>
                <a:spcPts val="1260"/>
              </a:lnSpc>
            </a:pPr>
            <a:r>
              <a:rPr dirty="0" sz="1100">
                <a:latin typeface="Garamond"/>
                <a:cs typeface="Garamond"/>
              </a:rPr>
              <a:t>$208.</a:t>
            </a:r>
            <a:endParaRPr sz="1100">
              <a:latin typeface="Garamond"/>
              <a:cs typeface="Garamond"/>
            </a:endParaRPr>
          </a:p>
          <a:p>
            <a:pPr marL="546100">
              <a:lnSpc>
                <a:spcPts val="1240"/>
              </a:lnSpc>
            </a:pP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depositing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8%,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003935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$208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1.08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$224.64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5">
                <a:latin typeface="Garamond"/>
                <a:cs typeface="Garamond"/>
              </a:rPr>
              <a:t> 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better </a:t>
            </a:r>
            <a:r>
              <a:rPr dirty="0" sz="1100" spc="-5">
                <a:latin typeface="Garamond"/>
                <a:cs typeface="Garamond"/>
              </a:rPr>
              <a:t>explained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line.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51229" y="3084067"/>
            <a:ext cx="5717540" cy="182880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8100" marR="30480">
              <a:lnSpc>
                <a:spcPts val="1220"/>
              </a:lnSpc>
              <a:spcBef>
                <a:spcPts val="240"/>
              </a:spcBef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alternate</a:t>
            </a:r>
            <a:r>
              <a:rPr dirty="0" sz="1100">
                <a:latin typeface="Garamond"/>
                <a:cs typeface="Garamond"/>
              </a:rPr>
              <a:t> way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  </a:t>
            </a:r>
            <a:r>
              <a:rPr dirty="0" sz="1100" spc="-5">
                <a:latin typeface="Garamond"/>
                <a:cs typeface="Garamond"/>
              </a:rPr>
              <a:t>flow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separately.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ts val="127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future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$100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8%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410335">
              <a:lnSpc>
                <a:spcPts val="1270"/>
              </a:lnSpc>
            </a:pPr>
            <a:r>
              <a:rPr dirty="0" sz="1100" spc="-5">
                <a:latin typeface="Garamond"/>
                <a:cs typeface="Garamond"/>
              </a:rPr>
              <a:t>FV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1.08</a:t>
            </a:r>
            <a:r>
              <a:rPr dirty="0" baseline="21367" sz="975" spc="7">
                <a:latin typeface="Garamond"/>
                <a:cs typeface="Garamond"/>
              </a:rPr>
              <a:t>2</a:t>
            </a:r>
            <a:r>
              <a:rPr dirty="0" baseline="21367" sz="975" spc="1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$100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1.1664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$116.64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deposited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thus:</a:t>
            </a:r>
            <a:endParaRPr sz="1100">
              <a:latin typeface="Garamond"/>
              <a:cs typeface="Garamond"/>
            </a:endParaRPr>
          </a:p>
          <a:p>
            <a:pPr marL="1410335">
              <a:lnSpc>
                <a:spcPts val="1290"/>
              </a:lnSpc>
            </a:pPr>
            <a:r>
              <a:rPr dirty="0" sz="1100" spc="-5">
                <a:latin typeface="Garamond"/>
                <a:cs typeface="Garamond"/>
              </a:rPr>
              <a:t>FV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1.08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$108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Adding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value:</a:t>
            </a:r>
            <a:endParaRPr sz="1100">
              <a:latin typeface="Garamond"/>
              <a:cs typeface="Garamond"/>
            </a:endParaRPr>
          </a:p>
          <a:p>
            <a:pPr marL="1410335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$116.64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$108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$224.64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</a:pPr>
            <a:r>
              <a:rPr dirty="0" sz="1100" spc="-5">
                <a:latin typeface="Garamond"/>
                <a:cs typeface="Garamond"/>
              </a:rPr>
              <a:t>Future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compounding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forward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0">
                <a:latin typeface="Garamond"/>
                <a:cs typeface="Garamond"/>
              </a:rPr>
              <a:t> 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6148577"/>
            <a:ext cx="3621404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Future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5">
                <a:latin typeface="Garamond"/>
                <a:cs typeface="Garamond"/>
              </a:rPr>
              <a:t> by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compounding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-5">
                <a:latin typeface="Garamond"/>
                <a:cs typeface="Garamond"/>
              </a:rPr>
              <a:t> 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 separately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6629" y="8526906"/>
            <a:ext cx="5662930" cy="10604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with </a:t>
            </a:r>
            <a:r>
              <a:rPr dirty="0" sz="1100" spc="-5" b="1">
                <a:latin typeface="Garamond"/>
                <a:cs typeface="Garamond"/>
              </a:rPr>
              <a:t>Multiple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 Flows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had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going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year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next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five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assumed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6%.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by: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Discounting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-10">
                <a:latin typeface="Garamond"/>
                <a:cs typeface="Garamond"/>
              </a:rPr>
              <a:t>separately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Discounting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back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273" y="783014"/>
            <a:ext cx="4810085" cy="213355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8533" y="5090678"/>
            <a:ext cx="5199935" cy="8205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6435" y="6618611"/>
            <a:ext cx="4843261" cy="175204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869949"/>
            <a:ext cx="353377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each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separately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3518407"/>
            <a:ext cx="35433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back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0">
                <a:latin typeface="Garamond"/>
                <a:cs typeface="Garamond"/>
              </a:rPr>
              <a:t> 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5829" y="5288660"/>
            <a:ext cx="5770245" cy="3795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How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much</a:t>
            </a:r>
            <a:r>
              <a:rPr dirty="0" sz="1100" spc="-10" b="1">
                <a:latin typeface="Garamond"/>
                <a:cs typeface="Garamond"/>
              </a:rPr>
              <a:t> is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it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worth?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520700" marR="55880" indent="-228600">
              <a:lnSpc>
                <a:spcPts val="1220"/>
              </a:lnSpc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pay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$200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next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year,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$600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3rd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$800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4th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5207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earn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12%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very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one?</a:t>
            </a:r>
            <a:endParaRPr sz="1100">
              <a:latin typeface="Garamond"/>
              <a:cs typeface="Garamond"/>
            </a:endParaRPr>
          </a:p>
          <a:p>
            <a:pPr marL="5207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>
                <a:latin typeface="Garamond"/>
                <a:cs typeface="Garamond"/>
              </a:rPr>
              <a:t>Calculating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12%:</a:t>
            </a:r>
            <a:endParaRPr sz="1100">
              <a:latin typeface="Garamond"/>
              <a:cs typeface="Garamond"/>
            </a:endParaRPr>
          </a:p>
          <a:p>
            <a:pPr marL="1435735">
              <a:lnSpc>
                <a:spcPts val="1275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$200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1/1.12</a:t>
            </a:r>
            <a:r>
              <a:rPr dirty="0" baseline="21367" sz="975" spc="7">
                <a:latin typeface="Garamond"/>
                <a:cs typeface="Garamond"/>
              </a:rPr>
              <a:t>1</a:t>
            </a:r>
            <a:r>
              <a:rPr dirty="0" baseline="21367" sz="975" spc="12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$200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1.1200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$178.57</a:t>
            </a:r>
            <a:endParaRPr sz="1100">
              <a:latin typeface="Garamond"/>
              <a:cs typeface="Garamond"/>
            </a:endParaRPr>
          </a:p>
          <a:p>
            <a:pPr marL="1435735">
              <a:lnSpc>
                <a:spcPts val="1225"/>
              </a:lnSpc>
            </a:pPr>
            <a:r>
              <a:rPr dirty="0" sz="1100" spc="5">
                <a:latin typeface="Garamond"/>
                <a:cs typeface="Garamond"/>
              </a:rPr>
              <a:t>$400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1/1.12</a:t>
            </a:r>
            <a:r>
              <a:rPr dirty="0" baseline="21367" sz="975" spc="7">
                <a:latin typeface="Garamond"/>
                <a:cs typeface="Garamond"/>
              </a:rPr>
              <a:t>2</a:t>
            </a:r>
            <a:r>
              <a:rPr dirty="0" baseline="21367" sz="975" spc="12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$400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1.2544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318.88</a:t>
            </a:r>
            <a:endParaRPr sz="1100">
              <a:latin typeface="Garamond"/>
              <a:cs typeface="Garamond"/>
            </a:endParaRPr>
          </a:p>
          <a:p>
            <a:pPr marL="1435735">
              <a:lnSpc>
                <a:spcPts val="1240"/>
              </a:lnSpc>
            </a:pPr>
            <a:r>
              <a:rPr dirty="0" sz="1100" spc="5">
                <a:latin typeface="Garamond"/>
                <a:cs typeface="Garamond"/>
              </a:rPr>
              <a:t>$600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1/1.12</a:t>
            </a:r>
            <a:r>
              <a:rPr dirty="0" baseline="21367" sz="975" spc="7">
                <a:latin typeface="Garamond"/>
                <a:cs typeface="Garamond"/>
              </a:rPr>
              <a:t>3</a:t>
            </a:r>
            <a:r>
              <a:rPr dirty="0" baseline="21367" sz="975" spc="12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$600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1.4049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427.07</a:t>
            </a:r>
            <a:endParaRPr sz="1100">
              <a:latin typeface="Garamond"/>
              <a:cs typeface="Garamond"/>
            </a:endParaRPr>
          </a:p>
          <a:p>
            <a:pPr marL="1435735">
              <a:lnSpc>
                <a:spcPts val="1240"/>
              </a:lnSpc>
            </a:pPr>
            <a:r>
              <a:rPr dirty="0" sz="1100" spc="5">
                <a:latin typeface="Garamond"/>
                <a:cs typeface="Garamond"/>
              </a:rPr>
              <a:t>$800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1/1.12</a:t>
            </a:r>
            <a:r>
              <a:rPr dirty="0" baseline="21367" sz="975" spc="7">
                <a:latin typeface="Garamond"/>
                <a:cs typeface="Garamond"/>
              </a:rPr>
              <a:t>4</a:t>
            </a:r>
            <a:r>
              <a:rPr dirty="0" baseline="21367" sz="975" spc="12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$800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1.5735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508.41</a:t>
            </a:r>
            <a:endParaRPr sz="1100">
              <a:latin typeface="Garamond"/>
              <a:cs typeface="Garamond"/>
            </a:endParaRPr>
          </a:p>
          <a:p>
            <a:pPr marL="1892935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Value=$1,432.93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20700" indent="-229235">
              <a:lnSpc>
                <a:spcPts val="1290"/>
              </a:lnSpc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12%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duplicate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investment’s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endParaRPr sz="1100">
              <a:latin typeface="Garamond"/>
              <a:cs typeface="Garamond"/>
            </a:endParaRPr>
          </a:p>
          <a:p>
            <a:pPr marL="520700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$1,432.93.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willing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pay.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635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Annuities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and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Perpetuities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20700" marR="56515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frequently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encounter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situations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5">
                <a:latin typeface="Garamond"/>
                <a:cs typeface="Garamond"/>
              </a:rPr>
              <a:t> 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same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amount.</a:t>
            </a:r>
            <a:endParaRPr sz="1100">
              <a:latin typeface="Garamond"/>
              <a:cs typeface="Garamond"/>
            </a:endParaRPr>
          </a:p>
          <a:p>
            <a:pPr marL="5207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>
                <a:latin typeface="Garamond"/>
                <a:cs typeface="Garamond"/>
              </a:rPr>
              <a:t>Series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installments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loan-repayment</a:t>
            </a:r>
            <a:endParaRPr sz="1100">
              <a:latin typeface="Garamond"/>
              <a:cs typeface="Garamond"/>
            </a:endParaRPr>
          </a:p>
          <a:p>
            <a:pPr marL="520700" marR="58419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series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constant,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occur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each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some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called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ordinary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Annuity</a:t>
            </a:r>
            <a:r>
              <a:rPr dirty="0" sz="1100" spc="-5">
                <a:latin typeface="Garamond"/>
                <a:cs typeface="Garamond"/>
              </a:rPr>
              <a:t>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8373" y="1230245"/>
            <a:ext cx="5231742" cy="199009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4919" y="3916298"/>
            <a:ext cx="5086350" cy="120967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551805" cy="703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for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Annuity </a:t>
            </a:r>
            <a:r>
              <a:rPr dirty="0" sz="1100" b="1">
                <a:latin typeface="Garamond"/>
                <a:cs typeface="Garamond"/>
              </a:rPr>
              <a:t>cash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calculation,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variation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equation.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C</a:t>
            </a:r>
            <a:r>
              <a:rPr dirty="0" sz="1100" spc="265" i="1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9144" y="1638680"/>
            <a:ext cx="56832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5">
                <a:latin typeface="Garamond"/>
                <a:cs typeface="Garamond"/>
              </a:rPr>
              <a:t>P</a:t>
            </a:r>
            <a:r>
              <a:rPr dirty="0" sz="1100" spc="10">
                <a:latin typeface="Garamond"/>
                <a:cs typeface="Garamond"/>
              </a:rPr>
              <a:t>V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11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1189" y="1546986"/>
            <a:ext cx="205613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{1−</a:t>
            </a:r>
            <a:r>
              <a:rPr dirty="0" sz="1000" spc="-20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Present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value</a:t>
            </a:r>
            <a:r>
              <a:rPr dirty="0" sz="1000" spc="-20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interest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50">
                <a:latin typeface="Cambria Math"/>
                <a:cs typeface="Cambria Math"/>
              </a:rPr>
              <a:t>factor}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0233" y="1743836"/>
            <a:ext cx="933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20">
                <a:latin typeface="Cambria Math"/>
                <a:cs typeface="Cambria Math"/>
              </a:rPr>
              <a:t>𝑟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83889" y="1737994"/>
            <a:ext cx="2031364" cy="9525"/>
          </a:xfrm>
          <a:custGeom>
            <a:avLst/>
            <a:gdLst/>
            <a:ahLst/>
            <a:cxnLst/>
            <a:rect l="l" t="t" r="r" b="b"/>
            <a:pathLst>
              <a:path w="2031364" h="9525">
                <a:moveTo>
                  <a:pt x="2031238" y="0"/>
                </a:moveTo>
                <a:lnTo>
                  <a:pt x="0" y="0"/>
                </a:lnTo>
                <a:lnTo>
                  <a:pt x="0" y="9144"/>
                </a:lnTo>
                <a:lnTo>
                  <a:pt x="2031238" y="9144"/>
                </a:lnTo>
                <a:lnTo>
                  <a:pt x="20312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171189" y="2086736"/>
            <a:ext cx="24257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{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-15">
                <a:latin typeface="Cambria Math"/>
                <a:cs typeface="Cambria Math"/>
              </a:rPr>
              <a:t>−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23744" y="2146172"/>
            <a:ext cx="13208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902335" algn="l"/>
              </a:tabLst>
            </a:pPr>
            <a:r>
              <a:rPr dirty="0" baseline="-35353" sz="1650" spc="-7">
                <a:latin typeface="Garamond"/>
                <a:cs typeface="Garamond"/>
              </a:rPr>
              <a:t>PV</a:t>
            </a:r>
            <a:r>
              <a:rPr dirty="0" baseline="-35353" sz="1650" spc="15">
                <a:latin typeface="Garamond"/>
                <a:cs typeface="Garamond"/>
              </a:rPr>
              <a:t> =</a:t>
            </a:r>
            <a:r>
              <a:rPr dirty="0" baseline="-35353" sz="1650" spc="-22">
                <a:latin typeface="Garamond"/>
                <a:cs typeface="Garamond"/>
              </a:rPr>
              <a:t> </a:t>
            </a:r>
            <a:r>
              <a:rPr dirty="0" baseline="-35353" sz="1650" spc="15">
                <a:latin typeface="Garamond"/>
                <a:cs typeface="Garamond"/>
              </a:rPr>
              <a:t>C</a:t>
            </a:r>
            <a:r>
              <a:rPr dirty="0" baseline="-35353" sz="1650" spc="-165">
                <a:latin typeface="Garamond"/>
                <a:cs typeface="Garamond"/>
              </a:rPr>
              <a:t> </a:t>
            </a:r>
            <a:r>
              <a:rPr dirty="0" baseline="-35353" sz="1650" spc="15">
                <a:latin typeface="Garamond"/>
                <a:cs typeface="Garamond"/>
              </a:rPr>
              <a:t>×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80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(1+r)</a:t>
            </a:r>
            <a:r>
              <a:rPr dirty="0" u="sng" sz="800" spc="8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26586" y="2186304"/>
            <a:ext cx="329565" cy="9525"/>
          </a:xfrm>
          <a:custGeom>
            <a:avLst/>
            <a:gdLst/>
            <a:ahLst/>
            <a:cxnLst/>
            <a:rect l="l" t="t" r="r" b="b"/>
            <a:pathLst>
              <a:path w="329564" h="9525">
                <a:moveTo>
                  <a:pt x="329184" y="0"/>
                </a:moveTo>
                <a:lnTo>
                  <a:pt x="0" y="0"/>
                </a:lnTo>
                <a:lnTo>
                  <a:pt x="0" y="9144"/>
                </a:lnTo>
                <a:lnTo>
                  <a:pt x="329184" y="9144"/>
                </a:lnTo>
                <a:lnTo>
                  <a:pt x="329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521075" y="2041017"/>
            <a:ext cx="322580" cy="224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670"/>
              </a:lnSpc>
              <a:spcBef>
                <a:spcPts val="90"/>
              </a:spcBef>
            </a:pPr>
            <a:r>
              <a:rPr dirty="0" sz="800" spc="25">
                <a:latin typeface="Cambria Math"/>
                <a:cs typeface="Cambria Math"/>
              </a:rPr>
              <a:t>1</a:t>
            </a:r>
            <a:endParaRPr sz="800">
              <a:latin typeface="Cambria Math"/>
              <a:cs typeface="Cambria Math"/>
            </a:endParaRPr>
          </a:p>
          <a:p>
            <a:pPr marL="184150">
              <a:lnSpc>
                <a:spcPts val="910"/>
              </a:lnSpc>
            </a:pPr>
            <a:r>
              <a:rPr dirty="0" baseline="-20833" sz="1200" spc="60">
                <a:latin typeface="Cambria Math"/>
                <a:cs typeface="Cambria Math"/>
              </a:rPr>
              <a:t>𝑡</a:t>
            </a:r>
            <a:r>
              <a:rPr dirty="0" sz="1000" spc="40">
                <a:latin typeface="Cambria Math"/>
                <a:cs typeface="Cambria Math"/>
              </a:rPr>
              <a:t>}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61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34108" y="2338577"/>
            <a:ext cx="4918075" cy="12934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193165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𝑟</a:t>
            </a:r>
            <a:endParaRPr sz="1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200">
              <a:latin typeface="Cambria Math"/>
              <a:cs typeface="Cambria Math"/>
            </a:endParaRPr>
          </a:p>
          <a:p>
            <a:pPr marL="12700">
              <a:lnSpc>
                <a:spcPts val="1290"/>
              </a:lnSpc>
              <a:spcBef>
                <a:spcPts val="1075"/>
              </a:spcBef>
            </a:pPr>
            <a:r>
              <a:rPr dirty="0" sz="1100">
                <a:latin typeface="Garamond"/>
                <a:cs typeface="Garamond"/>
              </a:rPr>
              <a:t>Where,</a:t>
            </a:r>
            <a:endParaRPr sz="1100">
              <a:latin typeface="Garamond"/>
              <a:cs typeface="Garamond"/>
            </a:endParaRPr>
          </a:p>
          <a:p>
            <a:pPr marL="12700" marR="3110865">
              <a:lnSpc>
                <a:spcPts val="1230"/>
              </a:lnSpc>
              <a:spcBef>
                <a:spcPts val="85"/>
              </a:spcBef>
            </a:pP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Periodic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165"/>
              </a:lnSpc>
            </a:pP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parenthesis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factor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(PVIFAr,t).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26022" y="714501"/>
            <a:ext cx="80073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15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883665"/>
            <a:ext cx="5668010" cy="2052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ANNUITIES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frequently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encounter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situations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5">
                <a:latin typeface="Garamond"/>
                <a:cs typeface="Garamond"/>
              </a:rPr>
              <a:t> 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same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Series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installments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loan-repayment</a:t>
            </a:r>
            <a:endParaRPr sz="1100">
              <a:latin typeface="Garamond"/>
              <a:cs typeface="Garamond"/>
            </a:endParaRPr>
          </a:p>
          <a:p>
            <a:pPr marL="469900" marR="6985" indent="-228600">
              <a:lnSpc>
                <a:spcPts val="1260"/>
              </a:lnSpc>
              <a:spcBef>
                <a:spcPts val="1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series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constant,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occur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each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some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called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ordinary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Annuity</a:t>
            </a:r>
            <a:r>
              <a:rPr dirty="0" sz="1100" spc="-5">
                <a:latin typeface="Garamond"/>
                <a:cs typeface="Garamond"/>
              </a:rPr>
              <a:t>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for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Annuity </a:t>
            </a:r>
            <a:r>
              <a:rPr dirty="0" sz="1100" b="1">
                <a:latin typeface="Garamond"/>
                <a:cs typeface="Garamond"/>
              </a:rPr>
              <a:t>cash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-5">
                <a:latin typeface="Garamond"/>
                <a:cs typeface="Garamond"/>
              </a:rPr>
              <a:t> calculation,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variation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equation.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C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10">
                <a:latin typeface="Garamond"/>
                <a:cs typeface="Garamond"/>
              </a:rPr>
              <a:t>period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9144" y="3152647"/>
            <a:ext cx="56832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5">
                <a:latin typeface="Garamond"/>
                <a:cs typeface="Garamond"/>
              </a:rPr>
              <a:t>P</a:t>
            </a:r>
            <a:r>
              <a:rPr dirty="0" sz="1100" spc="10">
                <a:latin typeface="Garamond"/>
                <a:cs typeface="Garamond"/>
              </a:rPr>
              <a:t>V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11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7473" y="3061207"/>
            <a:ext cx="20605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{1−</a:t>
            </a:r>
            <a:r>
              <a:rPr dirty="0" sz="1000" spc="15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Present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value</a:t>
            </a:r>
            <a:r>
              <a:rPr dirty="0" sz="1000" spc="-20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interest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50">
                <a:latin typeface="Cambria Math"/>
                <a:cs typeface="Cambria Math"/>
              </a:rPr>
              <a:t>factor}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36516" y="3257803"/>
            <a:ext cx="933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20">
                <a:latin typeface="Cambria Math"/>
                <a:cs typeface="Cambria Math"/>
              </a:rPr>
              <a:t>𝑟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70173" y="3252215"/>
            <a:ext cx="2031364" cy="9525"/>
          </a:xfrm>
          <a:custGeom>
            <a:avLst/>
            <a:gdLst/>
            <a:ahLst/>
            <a:cxnLst/>
            <a:rect l="l" t="t" r="r" b="b"/>
            <a:pathLst>
              <a:path w="2031364" h="9525">
                <a:moveTo>
                  <a:pt x="2031238" y="0"/>
                </a:moveTo>
                <a:lnTo>
                  <a:pt x="0" y="0"/>
                </a:lnTo>
                <a:lnTo>
                  <a:pt x="0" y="9144"/>
                </a:lnTo>
                <a:lnTo>
                  <a:pt x="2031238" y="9144"/>
                </a:lnTo>
                <a:lnTo>
                  <a:pt x="20312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171189" y="3445255"/>
            <a:ext cx="24257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{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-15">
                <a:latin typeface="Cambria Math"/>
                <a:cs typeface="Cambria Math"/>
              </a:rPr>
              <a:t>−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23744" y="3504691"/>
            <a:ext cx="13208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902335" algn="l"/>
              </a:tabLst>
            </a:pPr>
            <a:r>
              <a:rPr dirty="0" baseline="-35353" sz="1650" spc="-7">
                <a:latin typeface="Garamond"/>
                <a:cs typeface="Garamond"/>
              </a:rPr>
              <a:t>PV</a:t>
            </a:r>
            <a:r>
              <a:rPr dirty="0" baseline="-35353" sz="1650" spc="15">
                <a:latin typeface="Garamond"/>
                <a:cs typeface="Garamond"/>
              </a:rPr>
              <a:t> =</a:t>
            </a:r>
            <a:r>
              <a:rPr dirty="0" baseline="-35353" sz="1650" spc="-22">
                <a:latin typeface="Garamond"/>
                <a:cs typeface="Garamond"/>
              </a:rPr>
              <a:t> </a:t>
            </a:r>
            <a:r>
              <a:rPr dirty="0" baseline="-35353" sz="1650" spc="15">
                <a:latin typeface="Garamond"/>
                <a:cs typeface="Garamond"/>
              </a:rPr>
              <a:t>C</a:t>
            </a:r>
            <a:r>
              <a:rPr dirty="0" baseline="-35353" sz="1650" spc="-165">
                <a:latin typeface="Garamond"/>
                <a:cs typeface="Garamond"/>
              </a:rPr>
              <a:t> </a:t>
            </a:r>
            <a:r>
              <a:rPr dirty="0" baseline="-35353" sz="1650" spc="15">
                <a:latin typeface="Garamond"/>
                <a:cs typeface="Garamond"/>
              </a:rPr>
              <a:t>×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80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(1+r)</a:t>
            </a:r>
            <a:r>
              <a:rPr dirty="0" u="sng" sz="800" spc="8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26586" y="3544823"/>
            <a:ext cx="329565" cy="9525"/>
          </a:xfrm>
          <a:custGeom>
            <a:avLst/>
            <a:gdLst/>
            <a:ahLst/>
            <a:cxnLst/>
            <a:rect l="l" t="t" r="r" b="b"/>
            <a:pathLst>
              <a:path w="329564" h="9525">
                <a:moveTo>
                  <a:pt x="329184" y="0"/>
                </a:moveTo>
                <a:lnTo>
                  <a:pt x="0" y="0"/>
                </a:lnTo>
                <a:lnTo>
                  <a:pt x="0" y="9144"/>
                </a:lnTo>
                <a:lnTo>
                  <a:pt x="329184" y="9144"/>
                </a:lnTo>
                <a:lnTo>
                  <a:pt x="329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521075" y="3399535"/>
            <a:ext cx="322580" cy="224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670"/>
              </a:lnSpc>
              <a:spcBef>
                <a:spcPts val="90"/>
              </a:spcBef>
            </a:pPr>
            <a:r>
              <a:rPr dirty="0" sz="800" spc="25">
                <a:latin typeface="Cambria Math"/>
                <a:cs typeface="Cambria Math"/>
              </a:rPr>
              <a:t>1</a:t>
            </a:r>
            <a:endParaRPr sz="800">
              <a:latin typeface="Cambria Math"/>
              <a:cs typeface="Cambria Math"/>
            </a:endParaRPr>
          </a:p>
          <a:p>
            <a:pPr marL="184150">
              <a:lnSpc>
                <a:spcPts val="910"/>
              </a:lnSpc>
            </a:pPr>
            <a:r>
              <a:rPr dirty="0" baseline="-20833" sz="1200" spc="60">
                <a:latin typeface="Cambria Math"/>
                <a:cs typeface="Cambria Math"/>
              </a:rPr>
              <a:t>𝑡</a:t>
            </a:r>
            <a:r>
              <a:rPr dirty="0" sz="1000" spc="40">
                <a:latin typeface="Cambria Math"/>
                <a:cs typeface="Cambria Math"/>
              </a:rPr>
              <a:t>}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5890" y="3696715"/>
            <a:ext cx="933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20">
                <a:latin typeface="Cambria Math"/>
                <a:cs typeface="Cambria Math"/>
              </a:rPr>
              <a:t>𝑟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34108" y="3966717"/>
            <a:ext cx="41846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0">
                <a:latin typeface="Garamond"/>
                <a:cs typeface="Garamond"/>
              </a:rPr>
              <a:t>W</a:t>
            </a:r>
            <a:r>
              <a:rPr dirty="0" sz="1100" spc="10">
                <a:latin typeface="Garamond"/>
                <a:cs typeface="Garamond"/>
              </a:rPr>
              <a:t>h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10">
                <a:latin typeface="Garamond"/>
                <a:cs typeface="Garamond"/>
              </a:rPr>
              <a:t>e</a:t>
            </a:r>
            <a:r>
              <a:rPr dirty="0" sz="1100">
                <a:latin typeface="Garamond"/>
                <a:cs typeface="Garamond"/>
              </a:rPr>
              <a:t>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49144" y="3966717"/>
            <a:ext cx="3931920" cy="66675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2123440">
              <a:lnSpc>
                <a:spcPts val="1220"/>
              </a:lnSpc>
              <a:spcBef>
                <a:spcPts val="240"/>
              </a:spcBef>
            </a:pP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Periodic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190"/>
              </a:lnSpc>
            </a:pP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parenthesis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present</a:t>
            </a:r>
            <a:r>
              <a:rPr dirty="0" sz="1100" spc="-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value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interest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factor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of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an</a:t>
            </a:r>
            <a:r>
              <a:rPr dirty="0" sz="1100" spc="-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annuity</a:t>
            </a:r>
            <a:r>
              <a:rPr dirty="0" sz="1100">
                <a:latin typeface="Garamond"/>
                <a:cs typeface="Garamond"/>
              </a:rPr>
              <a:t>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76629" y="4753482"/>
            <a:ext cx="313626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Interest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Factor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 </a:t>
            </a:r>
            <a:r>
              <a:rPr dirty="0" sz="1100" spc="5" b="1">
                <a:latin typeface="Garamond"/>
                <a:cs typeface="Garamond"/>
              </a:rPr>
              <a:t>an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Annuity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(PVIFA)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227833" y="5104510"/>
          <a:ext cx="3573145" cy="131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840"/>
                <a:gridCol w="735329"/>
                <a:gridCol w="589915"/>
                <a:gridCol w="589914"/>
                <a:gridCol w="636904"/>
              </a:tblGrid>
              <a:tr h="186304">
                <a:tc rowSpan="2"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Years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8890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56210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Rate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Interest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</a:tr>
              <a:tr h="19342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890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9225">
                        <a:lnSpc>
                          <a:spcPts val="1275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10%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15%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20%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177">
                <a:tc>
                  <a:txBody>
                    <a:bodyPr/>
                    <a:lstStyle/>
                    <a:p>
                      <a:pPr algn="r" marR="393065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541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0.9524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0.9091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0.8696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0.8333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r" marR="38735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454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1.8594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1.7255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1.6257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1.5278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r" marR="38735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454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2.7232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2.4869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2.2832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2.1065`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r" marR="38735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454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3.5460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3.1699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2.8550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2.5887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algn="r" marR="38735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54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4.3259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3.7908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3.3522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2.9906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1176629" y="6541769"/>
            <a:ext cx="5661025" cy="6896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How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much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can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you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afford?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looking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budget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$632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new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bank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offering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48</a:t>
            </a:r>
            <a:r>
              <a:rPr dirty="0" sz="1100">
                <a:latin typeface="Garamond"/>
                <a:cs typeface="Garamond"/>
              </a:rPr>
              <a:t> months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month.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should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borrow?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91689" y="7447533"/>
            <a:ext cx="66421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5">
                <a:latin typeface="Garamond"/>
                <a:cs typeface="Garamond"/>
              </a:rPr>
              <a:t>P</a:t>
            </a:r>
            <a:r>
              <a:rPr dirty="0" sz="1100" spc="5">
                <a:latin typeface="Garamond"/>
                <a:cs typeface="Garamond"/>
              </a:rPr>
              <a:t>V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11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96032" y="7356093"/>
            <a:ext cx="272859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{1−</a:t>
            </a:r>
            <a:r>
              <a:rPr dirty="0" sz="1000" spc="-20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Present</a:t>
            </a:r>
            <a:r>
              <a:rPr dirty="0" sz="1000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value</a:t>
            </a:r>
            <a:r>
              <a:rPr dirty="0" sz="1000" spc="15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interest</a:t>
            </a:r>
            <a:r>
              <a:rPr dirty="0" sz="1000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factor</a:t>
            </a:r>
            <a:r>
              <a:rPr dirty="0" sz="1000" spc="-10">
                <a:latin typeface="Cambria Math"/>
                <a:cs typeface="Cambria Math"/>
              </a:rPr>
              <a:t> </a:t>
            </a:r>
            <a:r>
              <a:rPr dirty="0" sz="1000" spc="65">
                <a:latin typeface="Cambria Math"/>
                <a:cs typeface="Cambria Math"/>
              </a:rPr>
              <a:t>of</a:t>
            </a:r>
            <a:r>
              <a:rPr dirty="0" sz="1000">
                <a:latin typeface="Cambria Math"/>
                <a:cs typeface="Cambria Math"/>
              </a:rPr>
              <a:t> </a:t>
            </a:r>
            <a:r>
              <a:rPr dirty="0" sz="1000" spc="50">
                <a:latin typeface="Cambria Math"/>
                <a:cs typeface="Cambria Math"/>
              </a:rPr>
              <a:t>Annuity}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09084" y="7552690"/>
            <a:ext cx="933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20">
                <a:latin typeface="Cambria Math"/>
                <a:cs typeface="Cambria Math"/>
              </a:rPr>
              <a:t>𝑟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08732" y="7547102"/>
            <a:ext cx="2699385" cy="9525"/>
          </a:xfrm>
          <a:custGeom>
            <a:avLst/>
            <a:gdLst/>
            <a:ahLst/>
            <a:cxnLst/>
            <a:rect l="l" t="t" r="r" b="b"/>
            <a:pathLst>
              <a:path w="2699385" h="9525">
                <a:moveTo>
                  <a:pt x="2699258" y="0"/>
                </a:moveTo>
                <a:lnTo>
                  <a:pt x="0" y="0"/>
                </a:lnTo>
                <a:lnTo>
                  <a:pt x="0" y="9143"/>
                </a:lnTo>
                <a:lnTo>
                  <a:pt x="2699258" y="9143"/>
                </a:lnTo>
                <a:lnTo>
                  <a:pt x="26992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091689" y="7913877"/>
            <a:ext cx="83375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5">
                <a:latin typeface="Garamond"/>
                <a:cs typeface="Garamond"/>
              </a:rPr>
              <a:t>P</a:t>
            </a:r>
            <a:r>
              <a:rPr dirty="0" sz="1100" spc="5">
                <a:latin typeface="Garamond"/>
                <a:cs typeface="Garamond"/>
              </a:rPr>
              <a:t>V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30">
                <a:latin typeface="Garamond"/>
                <a:cs typeface="Garamond"/>
              </a:rPr>
              <a:t>$</a:t>
            </a:r>
            <a:r>
              <a:rPr dirty="0" sz="1100" spc="20">
                <a:latin typeface="Garamond"/>
                <a:cs typeface="Garamond"/>
              </a:rPr>
              <a:t>6</a:t>
            </a:r>
            <a:r>
              <a:rPr dirty="0" sz="1100" spc="-15">
                <a:latin typeface="Garamond"/>
                <a:cs typeface="Garamond"/>
              </a:rPr>
              <a:t>3</a:t>
            </a:r>
            <a:r>
              <a:rPr dirty="0" sz="1100" spc="5">
                <a:latin typeface="Garamond"/>
                <a:cs typeface="Garamond"/>
              </a:rPr>
              <a:t>2</a:t>
            </a:r>
            <a:r>
              <a:rPr dirty="0" sz="1100" spc="-1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65450" y="7822438"/>
            <a:ext cx="7156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{1−</a:t>
            </a:r>
            <a:r>
              <a:rPr dirty="0" sz="1000" spc="-40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0.6203}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184905" y="8019415"/>
            <a:ext cx="2724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0</a:t>
            </a:r>
            <a:r>
              <a:rPr dirty="0" sz="1000" spc="5">
                <a:latin typeface="Cambria Math"/>
                <a:cs typeface="Cambria Math"/>
              </a:rPr>
              <a:t>.</a:t>
            </a:r>
            <a:r>
              <a:rPr dirty="0" sz="1000" spc="15">
                <a:latin typeface="Cambria Math"/>
                <a:cs typeface="Cambria Math"/>
              </a:rPr>
              <a:t>01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978150" y="8013444"/>
            <a:ext cx="686435" cy="9525"/>
          </a:xfrm>
          <a:custGeom>
            <a:avLst/>
            <a:gdLst/>
            <a:ahLst/>
            <a:cxnLst/>
            <a:rect l="l" t="t" r="r" b="b"/>
            <a:pathLst>
              <a:path w="686435" h="9525">
                <a:moveTo>
                  <a:pt x="686104" y="0"/>
                </a:moveTo>
                <a:lnTo>
                  <a:pt x="0" y="0"/>
                </a:lnTo>
                <a:lnTo>
                  <a:pt x="0" y="9144"/>
                </a:lnTo>
                <a:lnTo>
                  <a:pt x="686104" y="9144"/>
                </a:lnTo>
                <a:lnTo>
                  <a:pt x="6861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405508" y="8289163"/>
            <a:ext cx="2774315" cy="10877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698500">
              <a:lnSpc>
                <a:spcPct val="100000"/>
              </a:lnSpc>
              <a:spcBef>
                <a:spcPts val="114"/>
              </a:spcBef>
            </a:pPr>
            <a:r>
              <a:rPr dirty="0" sz="1100" spc="-15">
                <a:latin typeface="Garamond"/>
                <a:cs typeface="Garamond"/>
              </a:rPr>
              <a:t>P</a:t>
            </a:r>
            <a:r>
              <a:rPr dirty="0" sz="1100" spc="5">
                <a:latin typeface="Garamond"/>
                <a:cs typeface="Garamond"/>
              </a:rPr>
              <a:t>V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30">
                <a:latin typeface="Garamond"/>
                <a:cs typeface="Garamond"/>
              </a:rPr>
              <a:t>$</a:t>
            </a:r>
            <a:r>
              <a:rPr dirty="0" sz="1100" spc="20">
                <a:latin typeface="Garamond"/>
                <a:cs typeface="Garamond"/>
              </a:rPr>
              <a:t>6</a:t>
            </a:r>
            <a:r>
              <a:rPr dirty="0" sz="1100" spc="-15">
                <a:latin typeface="Garamond"/>
                <a:cs typeface="Garamond"/>
              </a:rPr>
              <a:t>3</a:t>
            </a:r>
            <a:r>
              <a:rPr dirty="0" sz="1100" spc="5">
                <a:latin typeface="Garamond"/>
                <a:cs typeface="Garamond"/>
              </a:rPr>
              <a:t>2</a:t>
            </a:r>
            <a:r>
              <a:rPr dirty="0" sz="1100" spc="-1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3</a:t>
            </a:r>
            <a:r>
              <a:rPr dirty="0" sz="1100" spc="20">
                <a:latin typeface="Garamond"/>
                <a:cs typeface="Garamond"/>
              </a:rPr>
              <a:t>7</a:t>
            </a:r>
            <a:r>
              <a:rPr dirty="0" sz="1100" spc="-30">
                <a:latin typeface="Garamond"/>
                <a:cs typeface="Garamond"/>
              </a:rPr>
              <a:t>.</a:t>
            </a:r>
            <a:r>
              <a:rPr dirty="0" sz="1100" spc="20">
                <a:latin typeface="Garamond"/>
                <a:cs typeface="Garamond"/>
              </a:rPr>
              <a:t>9</a:t>
            </a:r>
            <a:r>
              <a:rPr dirty="0" sz="1100" spc="-15">
                <a:latin typeface="Garamond"/>
                <a:cs typeface="Garamond"/>
              </a:rPr>
              <a:t>74</a:t>
            </a:r>
            <a:r>
              <a:rPr dirty="0" sz="1100" spc="5">
                <a:latin typeface="Garamond"/>
                <a:cs typeface="Garamond"/>
              </a:rPr>
              <a:t>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50">
              <a:latin typeface="Garamond"/>
              <a:cs typeface="Garamond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PVA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24,000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$632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37.9740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24,000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Therefore,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afford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borrow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$24,000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68645" cy="11791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Finding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the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Payment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Garamond"/>
              <a:cs typeface="Garamond"/>
            </a:endParaRPr>
          </a:p>
          <a:p>
            <a:pPr algn="just" marL="469900" marR="7620" indent="-228600">
              <a:lnSpc>
                <a:spcPct val="94100"/>
              </a:lnSpc>
              <a:spcBef>
                <a:spcPts val="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 you want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 a </a:t>
            </a:r>
            <a:r>
              <a:rPr dirty="0" sz="1100" spc="-5">
                <a:latin typeface="Garamond"/>
                <a:cs typeface="Garamond"/>
              </a:rPr>
              <a:t>new car costing $23,000. </a:t>
            </a:r>
            <a:r>
              <a:rPr dirty="0" sz="1100" spc="-10">
                <a:latin typeface="Garamond"/>
                <a:cs typeface="Garamond"/>
              </a:rPr>
              <a:t>With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10% </a:t>
            </a:r>
            <a:r>
              <a:rPr dirty="0" sz="1100" spc="5">
                <a:latin typeface="Garamond"/>
                <a:cs typeface="Garamond"/>
              </a:rPr>
              <a:t>down </a:t>
            </a:r>
            <a:r>
              <a:rPr dirty="0" sz="1100">
                <a:latin typeface="Garamond"/>
                <a:cs typeface="Garamond"/>
              </a:rPr>
              <a:t>payment,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>
                <a:latin typeface="Garamond"/>
                <a:cs typeface="Garamond"/>
              </a:rPr>
              <a:t>loan </a:t>
            </a:r>
            <a:r>
              <a:rPr dirty="0" sz="1100" spc="5">
                <a:latin typeface="Garamond"/>
                <a:cs typeface="Garamond"/>
              </a:rPr>
              <a:t> you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rest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>
                <a:latin typeface="Garamond"/>
                <a:cs typeface="Garamond"/>
              </a:rPr>
              <a:t>9%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>
                <a:latin typeface="Garamond"/>
                <a:cs typeface="Garamond"/>
              </a:rPr>
              <a:t>year (.75%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5">
                <a:latin typeface="Garamond"/>
                <a:cs typeface="Garamond"/>
              </a:rPr>
              <a:t>month) </a:t>
            </a:r>
            <a:r>
              <a:rPr dirty="0" sz="1100" spc="-10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60 months. </a:t>
            </a:r>
            <a:r>
              <a:rPr dirty="0" sz="1100">
                <a:latin typeface="Garamond"/>
                <a:cs typeface="Garamond"/>
              </a:rPr>
              <a:t>How </a:t>
            </a:r>
            <a:r>
              <a:rPr dirty="0" sz="1100" spc="-5">
                <a:latin typeface="Garamond"/>
                <a:cs typeface="Garamond"/>
              </a:rPr>
              <a:t>much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10">
                <a:latin typeface="Garamond"/>
                <a:cs typeface="Garamond"/>
              </a:rPr>
              <a:t>each </a:t>
            </a:r>
            <a:r>
              <a:rPr dirty="0" sz="1100" spc="-5">
                <a:latin typeface="Garamond"/>
                <a:cs typeface="Garamond"/>
              </a:rPr>
              <a:t>monthly </a:t>
            </a:r>
            <a:r>
              <a:rPr dirty="0" sz="1100">
                <a:latin typeface="Garamond"/>
                <a:cs typeface="Garamond"/>
              </a:rPr>
              <a:t> payment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be?</a:t>
            </a:r>
            <a:endParaRPr sz="1100">
              <a:latin typeface="Garamond"/>
              <a:cs typeface="Garamond"/>
            </a:endParaRPr>
          </a:p>
          <a:p>
            <a:pPr algn="just" marL="469900" marR="508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You will </a:t>
            </a:r>
            <a:r>
              <a:rPr dirty="0" sz="1100" spc="-5">
                <a:latin typeface="Garamond"/>
                <a:cs typeface="Garamond"/>
              </a:rPr>
              <a:t>borrow 0.90 </a:t>
            </a:r>
            <a:r>
              <a:rPr dirty="0" sz="1100" spc="5">
                <a:latin typeface="Garamond"/>
                <a:cs typeface="Garamond"/>
              </a:rPr>
              <a:t>x </a:t>
            </a:r>
            <a:r>
              <a:rPr dirty="0" sz="1100" spc="-5">
                <a:latin typeface="Garamond"/>
                <a:cs typeface="Garamond"/>
              </a:rPr>
              <a:t>$23,000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$20,700. </a:t>
            </a: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amount </a:t>
            </a:r>
            <a:r>
              <a:rPr dirty="0" sz="1100" spc="-5">
                <a:latin typeface="Garamond"/>
                <a:cs typeface="Garamond"/>
              </a:rPr>
              <a:t>today, so </a:t>
            </a:r>
            <a:r>
              <a:rPr dirty="0" sz="1100">
                <a:latin typeface="Garamond"/>
                <a:cs typeface="Garamond"/>
              </a:rPr>
              <a:t>it’s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PV.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rate is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0.09/12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0.0075,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60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5429" y="2095880"/>
            <a:ext cx="24257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{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-15">
                <a:latin typeface="Cambria Math"/>
                <a:cs typeface="Cambria Math"/>
              </a:rPr>
              <a:t>−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6289" y="2155316"/>
            <a:ext cx="141224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993775" algn="l"/>
              </a:tabLst>
            </a:pPr>
            <a:r>
              <a:rPr dirty="0" baseline="-35353" sz="1650">
                <a:latin typeface="Garamond"/>
                <a:cs typeface="Garamond"/>
              </a:rPr>
              <a:t>PVA</a:t>
            </a:r>
            <a:r>
              <a:rPr dirty="0" baseline="-35353" sz="1650" spc="15">
                <a:latin typeface="Garamond"/>
                <a:cs typeface="Garamond"/>
              </a:rPr>
              <a:t> =</a:t>
            </a:r>
            <a:r>
              <a:rPr dirty="0" baseline="-35353" sz="1650" spc="-22">
                <a:latin typeface="Garamond"/>
                <a:cs typeface="Garamond"/>
              </a:rPr>
              <a:t> </a:t>
            </a:r>
            <a:r>
              <a:rPr dirty="0" baseline="-35353" sz="1650" spc="15">
                <a:latin typeface="Garamond"/>
                <a:cs typeface="Garamond"/>
              </a:rPr>
              <a:t>C</a:t>
            </a:r>
            <a:r>
              <a:rPr dirty="0" baseline="-35353" sz="1650" spc="-172">
                <a:latin typeface="Garamond"/>
                <a:cs typeface="Garamond"/>
              </a:rPr>
              <a:t> </a:t>
            </a:r>
            <a:r>
              <a:rPr dirty="0" baseline="-35353" sz="1650" spc="15">
                <a:latin typeface="Garamond"/>
                <a:cs typeface="Garamond"/>
              </a:rPr>
              <a:t>×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80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(1+r)</a:t>
            </a:r>
            <a:r>
              <a:rPr dirty="0" u="sng" sz="800" spc="8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60445" y="2195448"/>
            <a:ext cx="329565" cy="9525"/>
          </a:xfrm>
          <a:custGeom>
            <a:avLst/>
            <a:gdLst/>
            <a:ahLst/>
            <a:cxnLst/>
            <a:rect l="l" t="t" r="r" b="b"/>
            <a:pathLst>
              <a:path w="329564" h="9525">
                <a:moveTo>
                  <a:pt x="329488" y="0"/>
                </a:moveTo>
                <a:lnTo>
                  <a:pt x="0" y="0"/>
                </a:lnTo>
                <a:lnTo>
                  <a:pt x="0" y="9144"/>
                </a:lnTo>
                <a:lnTo>
                  <a:pt x="329488" y="9144"/>
                </a:lnTo>
                <a:lnTo>
                  <a:pt x="329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154933" y="2050160"/>
            <a:ext cx="327660" cy="224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670"/>
              </a:lnSpc>
              <a:spcBef>
                <a:spcPts val="90"/>
              </a:spcBef>
            </a:pPr>
            <a:r>
              <a:rPr dirty="0" sz="800" spc="25">
                <a:latin typeface="Cambria Math"/>
                <a:cs typeface="Cambria Math"/>
              </a:rPr>
              <a:t>1</a:t>
            </a:r>
            <a:endParaRPr sz="800">
              <a:latin typeface="Cambria Math"/>
              <a:cs typeface="Cambria Math"/>
            </a:endParaRPr>
          </a:p>
          <a:p>
            <a:pPr marL="184785">
              <a:lnSpc>
                <a:spcPts val="910"/>
              </a:lnSpc>
            </a:pPr>
            <a:r>
              <a:rPr dirty="0" baseline="-20833" sz="1200" spc="82">
                <a:latin typeface="Cambria Math"/>
                <a:cs typeface="Cambria Math"/>
              </a:rPr>
              <a:t>𝑡</a:t>
            </a:r>
            <a:r>
              <a:rPr dirty="0" sz="1000" spc="55">
                <a:latin typeface="Cambria Math"/>
                <a:cs typeface="Cambria Math"/>
              </a:rPr>
              <a:t>}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733" y="2347722"/>
            <a:ext cx="247015" cy="339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29845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𝑟</a:t>
            </a:r>
            <a:endParaRPr sz="1000">
              <a:latin typeface="Cambria Math"/>
              <a:cs typeface="Cambria Math"/>
            </a:endParaRPr>
          </a:p>
          <a:p>
            <a:pPr algn="r" marR="5080">
              <a:lnSpc>
                <a:spcPct val="100000"/>
              </a:lnSpc>
              <a:spcBef>
                <a:spcPts val="60"/>
              </a:spcBef>
            </a:pPr>
            <a:r>
              <a:rPr dirty="0" sz="1000" spc="40">
                <a:latin typeface="Cambria Math"/>
                <a:cs typeface="Cambria Math"/>
              </a:rPr>
              <a:t>{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-15">
                <a:latin typeface="Cambria Math"/>
                <a:cs typeface="Cambria Math"/>
              </a:rPr>
              <a:t>−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91689" y="2654045"/>
            <a:ext cx="81534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-15">
                <a:latin typeface="Garamond"/>
                <a:cs typeface="Garamond"/>
              </a:rPr>
              <a:t>2</a:t>
            </a:r>
            <a:r>
              <a:rPr dirty="0" sz="1100" spc="20">
                <a:latin typeface="Garamond"/>
                <a:cs typeface="Garamond"/>
              </a:rPr>
              <a:t>0</a:t>
            </a:r>
            <a:r>
              <a:rPr dirty="0" sz="1100" spc="-30">
                <a:latin typeface="Garamond"/>
                <a:cs typeface="Garamond"/>
              </a:rPr>
              <a:t>,</a:t>
            </a:r>
            <a:r>
              <a:rPr dirty="0" sz="1100" spc="20">
                <a:latin typeface="Garamond"/>
                <a:cs typeface="Garamond"/>
              </a:rPr>
              <a:t>7</a:t>
            </a:r>
            <a:r>
              <a:rPr dirty="0" sz="1100" spc="-15">
                <a:latin typeface="Garamond"/>
                <a:cs typeface="Garamond"/>
              </a:rPr>
              <a:t>0</a:t>
            </a:r>
            <a:r>
              <a:rPr dirty="0" sz="1100" spc="5">
                <a:latin typeface="Garamond"/>
                <a:cs typeface="Garamond"/>
              </a:rPr>
              <a:t>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00754" y="2462021"/>
            <a:ext cx="8572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25">
                <a:latin typeface="Cambria Math"/>
                <a:cs typeface="Cambria Math"/>
              </a:rPr>
              <a:t>1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98622" y="2603754"/>
            <a:ext cx="56642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latin typeface="Cambria Math"/>
                <a:cs typeface="Cambria Math"/>
              </a:rPr>
              <a:t>(</a:t>
            </a:r>
            <a:r>
              <a:rPr dirty="0" sz="800" spc="20">
                <a:latin typeface="Cambria Math"/>
                <a:cs typeface="Cambria Math"/>
              </a:rPr>
              <a:t>1</a:t>
            </a:r>
            <a:r>
              <a:rPr dirty="0" sz="800" spc="10">
                <a:latin typeface="Cambria Math"/>
                <a:cs typeface="Cambria Math"/>
              </a:rPr>
              <a:t>+</a:t>
            </a:r>
            <a:r>
              <a:rPr dirty="0" sz="800" spc="20">
                <a:latin typeface="Cambria Math"/>
                <a:cs typeface="Cambria Math"/>
              </a:rPr>
              <a:t>0</a:t>
            </a:r>
            <a:r>
              <a:rPr dirty="0" sz="800" spc="10">
                <a:latin typeface="Cambria Math"/>
                <a:cs typeface="Cambria Math"/>
              </a:rPr>
              <a:t>.</a:t>
            </a:r>
            <a:r>
              <a:rPr dirty="0" sz="800" spc="20">
                <a:latin typeface="Cambria Math"/>
                <a:cs typeface="Cambria Math"/>
              </a:rPr>
              <a:t>0075</a:t>
            </a:r>
            <a:r>
              <a:rPr dirty="0" sz="800" spc="-5">
                <a:latin typeface="Cambria Math"/>
                <a:cs typeface="Cambria Math"/>
              </a:rPr>
              <a:t>)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11322" y="2607309"/>
            <a:ext cx="668655" cy="9525"/>
          </a:xfrm>
          <a:custGeom>
            <a:avLst/>
            <a:gdLst/>
            <a:ahLst/>
            <a:cxnLst/>
            <a:rect l="l" t="t" r="r" b="b"/>
            <a:pathLst>
              <a:path w="668654" h="9525">
                <a:moveTo>
                  <a:pt x="668121" y="0"/>
                </a:moveTo>
                <a:lnTo>
                  <a:pt x="0" y="0"/>
                </a:lnTo>
                <a:lnTo>
                  <a:pt x="0" y="9144"/>
                </a:lnTo>
                <a:lnTo>
                  <a:pt x="668121" y="9144"/>
                </a:lnTo>
                <a:lnTo>
                  <a:pt x="6681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717671" y="2544317"/>
            <a:ext cx="2546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800" spc="40">
                <a:latin typeface="Cambria Math"/>
                <a:cs typeface="Cambria Math"/>
              </a:rPr>
              <a:t>60</a:t>
            </a:r>
            <a:r>
              <a:rPr dirty="0" baseline="16666" sz="1500" spc="60">
                <a:latin typeface="Cambria Math"/>
                <a:cs typeface="Cambria Math"/>
              </a:rPr>
              <a:t>}</a:t>
            </a:r>
            <a:endParaRPr baseline="16666" sz="15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39770" y="2759201"/>
            <a:ext cx="4191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20">
                <a:latin typeface="Cambria Math"/>
                <a:cs typeface="Cambria Math"/>
              </a:rPr>
              <a:t>0</a:t>
            </a:r>
            <a:r>
              <a:rPr dirty="0" sz="1000" spc="5">
                <a:latin typeface="Cambria Math"/>
                <a:cs typeface="Cambria Math"/>
              </a:rPr>
              <a:t>.</a:t>
            </a:r>
            <a:r>
              <a:rPr dirty="0" sz="1000" spc="15">
                <a:latin typeface="Cambria Math"/>
                <a:cs typeface="Cambria Math"/>
              </a:rPr>
              <a:t>0075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64433" y="2753613"/>
            <a:ext cx="970280" cy="9525"/>
          </a:xfrm>
          <a:custGeom>
            <a:avLst/>
            <a:gdLst/>
            <a:ahLst/>
            <a:cxnLst/>
            <a:rect l="l" t="t" r="r" b="b"/>
            <a:pathLst>
              <a:path w="970279" h="9525">
                <a:moveTo>
                  <a:pt x="969873" y="0"/>
                </a:moveTo>
                <a:lnTo>
                  <a:pt x="0" y="0"/>
                </a:lnTo>
                <a:lnTo>
                  <a:pt x="0" y="9144"/>
                </a:lnTo>
                <a:lnTo>
                  <a:pt x="969873" y="9144"/>
                </a:lnTo>
                <a:lnTo>
                  <a:pt x="969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56104" y="3544823"/>
            <a:ext cx="466725" cy="9525"/>
          </a:xfrm>
          <a:custGeom>
            <a:avLst/>
            <a:gdLst/>
            <a:ahLst/>
            <a:cxnLst/>
            <a:rect l="l" t="t" r="r" b="b"/>
            <a:pathLst>
              <a:path w="466725" h="9525">
                <a:moveTo>
                  <a:pt x="466648" y="0"/>
                </a:moveTo>
                <a:lnTo>
                  <a:pt x="0" y="0"/>
                </a:lnTo>
                <a:lnTo>
                  <a:pt x="0" y="9144"/>
                </a:lnTo>
                <a:lnTo>
                  <a:pt x="466648" y="9144"/>
                </a:lnTo>
                <a:lnTo>
                  <a:pt x="4666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75029" y="3024377"/>
            <a:ext cx="5850255" cy="63385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029335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-15">
                <a:latin typeface="Garamond"/>
                <a:cs typeface="Garamond"/>
              </a:rPr>
              <a:t>2</a:t>
            </a:r>
            <a:r>
              <a:rPr dirty="0" sz="1100" spc="20">
                <a:latin typeface="Garamond"/>
                <a:cs typeface="Garamond"/>
              </a:rPr>
              <a:t>0</a:t>
            </a:r>
            <a:r>
              <a:rPr dirty="0" sz="1100" spc="-30">
                <a:latin typeface="Garamond"/>
                <a:cs typeface="Garamond"/>
              </a:rPr>
              <a:t>,</a:t>
            </a:r>
            <a:r>
              <a:rPr dirty="0" sz="1100" spc="20">
                <a:latin typeface="Garamond"/>
                <a:cs typeface="Garamond"/>
              </a:rPr>
              <a:t>7</a:t>
            </a:r>
            <a:r>
              <a:rPr dirty="0" sz="1100" spc="-15">
                <a:latin typeface="Garamond"/>
                <a:cs typeface="Garamond"/>
              </a:rPr>
              <a:t>0</a:t>
            </a:r>
            <a:r>
              <a:rPr dirty="0" sz="1100" spc="5">
                <a:latin typeface="Garamond"/>
                <a:cs typeface="Garamond"/>
              </a:rPr>
              <a:t>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4</a:t>
            </a:r>
            <a:r>
              <a:rPr dirty="0" sz="1100" spc="-15">
                <a:latin typeface="Garamond"/>
                <a:cs typeface="Garamond"/>
              </a:rPr>
              <a:t>8</a:t>
            </a:r>
            <a:r>
              <a:rPr dirty="0" sz="1100" spc="5">
                <a:latin typeface="Garamond"/>
                <a:cs typeface="Garamond"/>
              </a:rPr>
              <a:t>.</a:t>
            </a:r>
            <a:r>
              <a:rPr dirty="0" sz="1100" spc="-15">
                <a:latin typeface="Garamond"/>
                <a:cs typeface="Garamond"/>
              </a:rPr>
              <a:t>173</a:t>
            </a:r>
            <a:r>
              <a:rPr dirty="0" sz="1100" spc="5">
                <a:latin typeface="Garamond"/>
                <a:cs typeface="Garamond"/>
              </a:rPr>
              <a:t>7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Garamond"/>
              <a:cs typeface="Garamond"/>
            </a:endParaRPr>
          </a:p>
          <a:p>
            <a:pPr marL="1285240">
              <a:lnSpc>
                <a:spcPct val="100000"/>
              </a:lnSpc>
              <a:spcBef>
                <a:spcPts val="5"/>
              </a:spcBef>
            </a:pPr>
            <a:r>
              <a:rPr dirty="0" sz="1000" spc="10">
                <a:latin typeface="Cambria Math"/>
                <a:cs typeface="Cambria Math"/>
              </a:rPr>
              <a:t>$20,700</a:t>
            </a:r>
            <a:endParaRPr sz="1000">
              <a:latin typeface="Cambria Math"/>
              <a:cs typeface="Cambria Math"/>
            </a:endParaRPr>
          </a:p>
          <a:p>
            <a:pPr marL="1029335">
              <a:lnSpc>
                <a:spcPct val="100000"/>
              </a:lnSpc>
              <a:spcBef>
                <a:spcPts val="245"/>
              </a:spcBef>
            </a:pPr>
            <a:r>
              <a:rPr dirty="0" baseline="35353" sz="1650" spc="15">
                <a:latin typeface="Garamond"/>
                <a:cs typeface="Garamond"/>
              </a:rPr>
              <a:t>C</a:t>
            </a:r>
            <a:r>
              <a:rPr dirty="0" baseline="35353" sz="1650" spc="-82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-82">
                <a:latin typeface="Garamond"/>
                <a:cs typeface="Garamond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48.1737</a:t>
            </a:r>
            <a:endParaRPr sz="1000">
              <a:latin typeface="Cambria Math"/>
              <a:cs typeface="Cambria Math"/>
            </a:endParaRPr>
          </a:p>
          <a:p>
            <a:pPr marL="1029335">
              <a:lnSpc>
                <a:spcPct val="100000"/>
              </a:lnSpc>
              <a:spcBef>
                <a:spcPts val="845"/>
              </a:spcBef>
            </a:pP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$429.70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month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Garamond"/>
              <a:cs typeface="Garamond"/>
            </a:endParaRPr>
          </a:p>
          <a:p>
            <a:pPr marL="1143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Finding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the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number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payments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71500" marR="93980" indent="-228600">
              <a:lnSpc>
                <a:spcPts val="1260"/>
              </a:lnSpc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repay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Mr.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X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afford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pay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month.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rate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1.5%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5">
                <a:latin typeface="Garamond"/>
                <a:cs typeface="Garamond"/>
              </a:rPr>
              <a:t> month.</a:t>
            </a: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loan?</a:t>
            </a: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Here,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$1,000,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1.5%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5">
                <a:latin typeface="Garamond"/>
                <a:cs typeface="Garamond"/>
              </a:rPr>
              <a:t> month</a:t>
            </a:r>
            <a:endParaRPr sz="1100">
              <a:latin typeface="Garamond"/>
              <a:cs typeface="Garamond"/>
            </a:endParaRPr>
          </a:p>
          <a:p>
            <a:pPr marL="1486535" marR="2637790">
              <a:lnSpc>
                <a:spcPct val="93600"/>
              </a:lnSpc>
              <a:spcBef>
                <a:spcPts val="1250"/>
              </a:spcBef>
            </a:pPr>
            <a:r>
              <a:rPr dirty="0" sz="1100">
                <a:latin typeface="Garamond"/>
                <a:cs typeface="Garamond"/>
              </a:rPr>
              <a:t>$1000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PVF)/0.015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($1,000/20) </a:t>
            </a:r>
            <a:r>
              <a:rPr dirty="0" sz="1100" spc="5">
                <a:latin typeface="Garamond"/>
                <a:cs typeface="Garamond"/>
              </a:rPr>
              <a:t>x </a:t>
            </a:r>
            <a:r>
              <a:rPr dirty="0" sz="1100">
                <a:latin typeface="Garamond"/>
                <a:cs typeface="Garamond"/>
              </a:rPr>
              <a:t>0.015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5">
                <a:latin typeface="Garamond"/>
                <a:cs typeface="Garamond"/>
              </a:rPr>
              <a:t>1 – </a:t>
            </a:r>
            <a:r>
              <a:rPr dirty="0" sz="1100" spc="-5">
                <a:latin typeface="Garamond"/>
                <a:cs typeface="Garamond"/>
              </a:rPr>
              <a:t>PVF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PVF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0.25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1/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10">
                <a:latin typeface="Garamond"/>
                <a:cs typeface="Garamond"/>
              </a:rPr>
              <a:t> +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r)t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1.015t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1/0.25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2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quadruple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money?</a:t>
            </a:r>
            <a:endParaRPr sz="1100">
              <a:latin typeface="Garamond"/>
              <a:cs typeface="Garamond"/>
            </a:endParaRPr>
          </a:p>
          <a:p>
            <a:pPr marL="1486535">
              <a:lnSpc>
                <a:spcPts val="1290"/>
              </a:lnSpc>
              <a:spcBef>
                <a:spcPts val="1200"/>
              </a:spcBef>
            </a:pPr>
            <a:r>
              <a:rPr dirty="0" sz="1100" spc="5">
                <a:latin typeface="Garamond"/>
                <a:cs typeface="Garamond"/>
              </a:rPr>
              <a:t>1.015</a:t>
            </a:r>
            <a:r>
              <a:rPr dirty="0" baseline="21367" sz="975" spc="7">
                <a:latin typeface="Garamond"/>
                <a:cs typeface="Garamond"/>
              </a:rPr>
              <a:t>x</a:t>
            </a:r>
            <a:r>
              <a:rPr dirty="0" baseline="21367" sz="975" spc="1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5">
                <a:latin typeface="Wingdings"/>
                <a:cs typeface="Wingdings"/>
              </a:rPr>
              <a:t>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Garamond"/>
                <a:cs typeface="Garamond"/>
              </a:rPr>
              <a:t>93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7.75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 marL="1486535" marR="3487420">
              <a:lnSpc>
                <a:spcPts val="1220"/>
              </a:lnSpc>
              <a:spcBef>
                <a:spcPts val="95"/>
              </a:spcBef>
            </a:pPr>
            <a:r>
              <a:rPr dirty="0" sz="1100" spc="-5" i="1">
                <a:latin typeface="Garamond"/>
                <a:cs typeface="Garamond"/>
              </a:rPr>
              <a:t>C</a:t>
            </a:r>
            <a:r>
              <a:rPr dirty="0" sz="1100" spc="15" i="1">
                <a:latin typeface="Garamond"/>
                <a:cs typeface="Garamond"/>
              </a:rPr>
              <a:t>a</a:t>
            </a:r>
            <a:r>
              <a:rPr dirty="0" sz="1100" spc="5" i="1">
                <a:latin typeface="Garamond"/>
                <a:cs typeface="Garamond"/>
              </a:rPr>
              <a:t>l</a:t>
            </a:r>
            <a:r>
              <a:rPr dirty="0" sz="1100" spc="-15" i="1">
                <a:latin typeface="Garamond"/>
                <a:cs typeface="Garamond"/>
              </a:rPr>
              <a:t>c</a:t>
            </a:r>
            <a:r>
              <a:rPr dirty="0" sz="1100" spc="-5" i="1">
                <a:latin typeface="Garamond"/>
                <a:cs typeface="Garamond"/>
              </a:rPr>
              <a:t>u</a:t>
            </a:r>
            <a:r>
              <a:rPr dirty="0" sz="1100" spc="5" i="1">
                <a:latin typeface="Garamond"/>
                <a:cs typeface="Garamond"/>
              </a:rPr>
              <a:t>l</a:t>
            </a:r>
            <a:r>
              <a:rPr dirty="0" sz="1100" spc="-20" i="1">
                <a:latin typeface="Garamond"/>
                <a:cs typeface="Garamond"/>
              </a:rPr>
              <a:t>a</a:t>
            </a:r>
            <a:r>
              <a:rPr dirty="0" sz="1100" spc="5" i="1">
                <a:latin typeface="Garamond"/>
                <a:cs typeface="Garamond"/>
              </a:rPr>
              <a:t>t</a:t>
            </a:r>
            <a:r>
              <a:rPr dirty="0" sz="1100" spc="-5" i="1">
                <a:latin typeface="Garamond"/>
                <a:cs typeface="Garamond"/>
              </a:rPr>
              <a:t>i</a:t>
            </a:r>
            <a:r>
              <a:rPr dirty="0" sz="1100" spc="5" i="1">
                <a:latin typeface="Garamond"/>
                <a:cs typeface="Garamond"/>
              </a:rPr>
              <a:t>on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spc="15" i="1">
                <a:latin typeface="Garamond"/>
                <a:cs typeface="Garamond"/>
              </a:rPr>
              <a:t>d</a:t>
            </a:r>
            <a:r>
              <a:rPr dirty="0" sz="1100" i="1">
                <a:latin typeface="Garamond"/>
                <a:cs typeface="Garamond"/>
              </a:rPr>
              <a:t>e</a:t>
            </a:r>
            <a:r>
              <a:rPr dirty="0" sz="1100" spc="-30" i="1">
                <a:latin typeface="Garamond"/>
                <a:cs typeface="Garamond"/>
              </a:rPr>
              <a:t>t</a:t>
            </a:r>
            <a:r>
              <a:rPr dirty="0" sz="1100" spc="15" i="1">
                <a:latin typeface="Garamond"/>
                <a:cs typeface="Garamond"/>
              </a:rPr>
              <a:t>a</a:t>
            </a:r>
            <a:r>
              <a:rPr dirty="0" sz="1100" spc="-5" i="1">
                <a:latin typeface="Garamond"/>
                <a:cs typeface="Garamond"/>
              </a:rPr>
              <a:t>i</a:t>
            </a:r>
            <a:r>
              <a:rPr dirty="0" sz="1100" spc="5" i="1">
                <a:latin typeface="Garamond"/>
                <a:cs typeface="Garamond"/>
              </a:rPr>
              <a:t>l</a:t>
            </a:r>
            <a:r>
              <a:rPr dirty="0" sz="1100" i="1">
                <a:latin typeface="Garamond"/>
                <a:cs typeface="Garamond"/>
              </a:rPr>
              <a:t>s </a:t>
            </a:r>
            <a:r>
              <a:rPr dirty="0" sz="110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1.015</a:t>
            </a:r>
            <a:r>
              <a:rPr dirty="0" baseline="21367" sz="975" spc="7" i="1">
                <a:latin typeface="Garamond"/>
                <a:cs typeface="Garamond"/>
              </a:rPr>
              <a:t>x</a:t>
            </a:r>
            <a:r>
              <a:rPr dirty="0" baseline="21367" sz="975" spc="15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=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4</a:t>
            </a:r>
            <a:endParaRPr sz="1100">
              <a:latin typeface="Garamond"/>
              <a:cs typeface="Garamond"/>
            </a:endParaRPr>
          </a:p>
          <a:p>
            <a:pPr marL="1486535">
              <a:lnSpc>
                <a:spcPts val="1175"/>
              </a:lnSpc>
            </a:pPr>
            <a:r>
              <a:rPr dirty="0" sz="1100" i="1">
                <a:latin typeface="Garamond"/>
                <a:cs typeface="Garamond"/>
              </a:rPr>
              <a:t>Taking</a:t>
            </a:r>
            <a:r>
              <a:rPr dirty="0" sz="1100" spc="-4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log</a:t>
            </a:r>
            <a:r>
              <a:rPr dirty="0" sz="1100" spc="-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on</a:t>
            </a:r>
            <a:r>
              <a:rPr dirty="0" sz="1100" spc="-4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both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sides</a:t>
            </a:r>
            <a:endParaRPr sz="1100">
              <a:latin typeface="Garamond"/>
              <a:cs typeface="Garamond"/>
            </a:endParaRPr>
          </a:p>
          <a:p>
            <a:pPr marL="1486535" marR="3407410">
              <a:lnSpc>
                <a:spcPts val="1220"/>
              </a:lnSpc>
              <a:spcBef>
                <a:spcPts val="95"/>
              </a:spcBef>
            </a:pPr>
            <a:r>
              <a:rPr dirty="0" sz="1100" i="1">
                <a:latin typeface="Garamond"/>
                <a:cs typeface="Garamond"/>
              </a:rPr>
              <a:t>log1.015</a:t>
            </a:r>
            <a:r>
              <a:rPr dirty="0" baseline="21367" sz="975" i="1">
                <a:latin typeface="Garamond"/>
                <a:cs typeface="Garamond"/>
              </a:rPr>
              <a:t>x</a:t>
            </a:r>
            <a:r>
              <a:rPr dirty="0" baseline="21367" sz="975" spc="292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=</a:t>
            </a:r>
            <a:r>
              <a:rPr dirty="0" sz="1100" spc="7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log</a:t>
            </a:r>
            <a:r>
              <a:rPr dirty="0" sz="1100" spc="6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4 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x</a:t>
            </a:r>
            <a:r>
              <a:rPr dirty="0" sz="1100" spc="10" i="1">
                <a:latin typeface="Garamond"/>
                <a:cs typeface="Garamond"/>
              </a:rPr>
              <a:t> </a:t>
            </a:r>
            <a:r>
              <a:rPr dirty="0" sz="1100" spc="-10" i="1">
                <a:latin typeface="Garamond"/>
                <a:cs typeface="Garamond"/>
              </a:rPr>
              <a:t>log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1.015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=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log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4</a:t>
            </a:r>
            <a:endParaRPr sz="1100">
              <a:latin typeface="Garamond"/>
              <a:cs typeface="Garamond"/>
            </a:endParaRPr>
          </a:p>
          <a:p>
            <a:pPr marL="1486535" marR="3206750">
              <a:lnSpc>
                <a:spcPts val="1220"/>
              </a:lnSpc>
              <a:spcBef>
                <a:spcPts val="45"/>
              </a:spcBef>
            </a:pPr>
            <a:r>
              <a:rPr dirty="0" sz="1100" spc="5" i="1">
                <a:latin typeface="Garamond"/>
                <a:cs typeface="Garamond"/>
              </a:rPr>
              <a:t>x</a:t>
            </a:r>
            <a:r>
              <a:rPr dirty="0" sz="1100" spc="35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=</a:t>
            </a:r>
            <a:r>
              <a:rPr dirty="0" sz="1100" spc="65" i="1">
                <a:latin typeface="Garamond"/>
                <a:cs typeface="Garamond"/>
              </a:rPr>
              <a:t> </a:t>
            </a:r>
            <a:r>
              <a:rPr dirty="0" sz="1100" spc="-10" i="1">
                <a:latin typeface="Garamond"/>
                <a:cs typeface="Garamond"/>
              </a:rPr>
              <a:t>log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4</a:t>
            </a:r>
            <a:r>
              <a:rPr dirty="0" sz="1100" spc="4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/</a:t>
            </a:r>
            <a:r>
              <a:rPr dirty="0" sz="1100" spc="3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log</a:t>
            </a:r>
            <a:r>
              <a:rPr dirty="0" sz="1100" spc="2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1.015 </a:t>
            </a:r>
            <a:r>
              <a:rPr dirty="0" sz="1100" spc="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x</a:t>
            </a:r>
            <a:r>
              <a:rPr dirty="0" sz="1100" spc="-3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=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0.60206/0.00647</a:t>
            </a:r>
            <a:endParaRPr sz="1100">
              <a:latin typeface="Garamond"/>
              <a:cs typeface="Garamond"/>
            </a:endParaRPr>
          </a:p>
          <a:p>
            <a:pPr marL="1486535">
              <a:lnSpc>
                <a:spcPts val="1175"/>
              </a:lnSpc>
            </a:pPr>
            <a:r>
              <a:rPr dirty="0" sz="1100" spc="5" i="1">
                <a:latin typeface="Garamond"/>
                <a:cs typeface="Garamond"/>
              </a:rPr>
              <a:t>x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=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spc="15" i="1">
                <a:latin typeface="Garamond"/>
                <a:cs typeface="Garamond"/>
              </a:rPr>
              <a:t>93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months</a:t>
            </a:r>
            <a:r>
              <a:rPr dirty="0" sz="110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or</a:t>
            </a:r>
            <a:r>
              <a:rPr dirty="0" sz="1100" spc="-4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7.75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 marL="114300">
              <a:lnSpc>
                <a:spcPts val="1290"/>
              </a:lnSpc>
            </a:pPr>
            <a:r>
              <a:rPr dirty="0" sz="1100" b="1">
                <a:latin typeface="Garamond"/>
                <a:cs typeface="Garamond"/>
              </a:rPr>
              <a:t>Finding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the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571500" marR="86360" indent="-228600">
              <a:lnSpc>
                <a:spcPts val="1260"/>
              </a:lnSpc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insurance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offers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$6,710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front.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applicable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10-year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annuity?</a:t>
            </a: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ts val="1275"/>
              </a:lnSpc>
              <a:spcBef>
                <a:spcPts val="5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Here,</a:t>
            </a:r>
            <a:endParaRPr sz="1100">
              <a:latin typeface="Garamond"/>
              <a:cs typeface="Garamond"/>
            </a:endParaRPr>
          </a:p>
          <a:p>
            <a:pPr marL="1029335">
              <a:lnSpc>
                <a:spcPts val="1275"/>
              </a:lnSpc>
            </a:pP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$6,710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1486535" marR="2616200">
              <a:lnSpc>
                <a:spcPts val="1220"/>
              </a:lnSpc>
            </a:pPr>
            <a:r>
              <a:rPr dirty="0" sz="1100">
                <a:latin typeface="Garamond"/>
                <a:cs typeface="Garamond"/>
              </a:rPr>
              <a:t>$6,710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$1,000 </a:t>
            </a:r>
            <a:r>
              <a:rPr dirty="0" sz="1100" spc="5">
                <a:latin typeface="Garamond"/>
                <a:cs typeface="Garamond"/>
              </a:rPr>
              <a:t>x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5">
                <a:latin typeface="Garamond"/>
                <a:cs typeface="Garamond"/>
              </a:rPr>
              <a:t>– </a:t>
            </a:r>
            <a:r>
              <a:rPr dirty="0" sz="1100" spc="-5">
                <a:latin typeface="Garamond"/>
                <a:cs typeface="Garamond"/>
              </a:rPr>
              <a:t>PVF) </a:t>
            </a:r>
            <a:r>
              <a:rPr dirty="0" sz="1100" spc="5">
                <a:latin typeface="Garamond"/>
                <a:cs typeface="Garamond"/>
              </a:rPr>
              <a:t>/ 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6.71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{1-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[1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/(1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r)10]}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95059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 marR="32384">
              <a:lnSpc>
                <a:spcPts val="1220"/>
              </a:lnSpc>
              <a:spcBef>
                <a:spcPts val="955"/>
              </a:spcBef>
            </a:pPr>
            <a:r>
              <a:rPr dirty="0" sz="1100">
                <a:latin typeface="Garamond"/>
                <a:cs typeface="Garamond"/>
              </a:rPr>
              <a:t>Looking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PVIFA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table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6.7101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8%.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insurance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8%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Annuity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Future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091689" y="1597278"/>
            <a:ext cx="66421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5">
                <a:latin typeface="Garamond"/>
                <a:cs typeface="Garamond"/>
              </a:rPr>
              <a:t>F</a:t>
            </a:r>
            <a:r>
              <a:rPr dirty="0" sz="1100" spc="5">
                <a:latin typeface="Garamond"/>
                <a:cs typeface="Garamond"/>
              </a:rPr>
              <a:t>V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11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96032" y="1505838"/>
            <a:ext cx="26422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0">
                <a:latin typeface="Cambria Math"/>
                <a:cs typeface="Cambria Math"/>
              </a:rPr>
              <a:t>{Future</a:t>
            </a:r>
            <a:r>
              <a:rPr dirty="0" sz="1000" spc="-20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value</a:t>
            </a:r>
            <a:r>
              <a:rPr dirty="0" sz="1000" spc="15">
                <a:latin typeface="Cambria Math"/>
                <a:cs typeface="Cambria Math"/>
              </a:rPr>
              <a:t> </a:t>
            </a:r>
            <a:r>
              <a:rPr dirty="0" sz="1000" spc="55">
                <a:latin typeface="Cambria Math"/>
                <a:cs typeface="Cambria Math"/>
              </a:rPr>
              <a:t>interest</a:t>
            </a:r>
            <a:r>
              <a:rPr dirty="0" sz="1000">
                <a:latin typeface="Cambria Math"/>
                <a:cs typeface="Cambria Math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factor</a:t>
            </a:r>
            <a:r>
              <a:rPr dirty="0" sz="1000" spc="-10">
                <a:latin typeface="Cambria Math"/>
                <a:cs typeface="Cambria Math"/>
              </a:rPr>
              <a:t> </a:t>
            </a:r>
            <a:r>
              <a:rPr dirty="0" sz="1000" spc="65">
                <a:latin typeface="Cambria Math"/>
                <a:cs typeface="Cambria Math"/>
              </a:rPr>
              <a:t>of</a:t>
            </a:r>
            <a:r>
              <a:rPr dirty="0" sz="1000" spc="-5">
                <a:latin typeface="Cambria Math"/>
                <a:cs typeface="Cambria Math"/>
              </a:rPr>
              <a:t> </a:t>
            </a:r>
            <a:r>
              <a:rPr dirty="0" sz="1000" spc="40">
                <a:latin typeface="Cambria Math"/>
                <a:cs typeface="Cambria Math"/>
              </a:rPr>
              <a:t>Annuity−1}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3365" y="1702688"/>
            <a:ext cx="933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20">
                <a:latin typeface="Cambria Math"/>
                <a:cs typeface="Cambria Math"/>
              </a:rPr>
              <a:t>𝑟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08732" y="1696846"/>
            <a:ext cx="2612390" cy="9525"/>
          </a:xfrm>
          <a:custGeom>
            <a:avLst/>
            <a:gdLst/>
            <a:ahLst/>
            <a:cxnLst/>
            <a:rect l="l" t="t" r="r" b="b"/>
            <a:pathLst>
              <a:path w="2612390" h="9525">
                <a:moveTo>
                  <a:pt x="2612390" y="0"/>
                </a:moveTo>
                <a:lnTo>
                  <a:pt x="0" y="0"/>
                </a:lnTo>
                <a:lnTo>
                  <a:pt x="0" y="9144"/>
                </a:lnTo>
                <a:lnTo>
                  <a:pt x="2612390" y="9144"/>
                </a:lnTo>
                <a:lnTo>
                  <a:pt x="26123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91689" y="2050160"/>
            <a:ext cx="720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5">
                <a:latin typeface="Garamond"/>
                <a:cs typeface="Garamond"/>
              </a:rPr>
              <a:t>F</a:t>
            </a:r>
            <a:r>
              <a:rPr dirty="0" sz="1100" spc="5">
                <a:latin typeface="Garamond"/>
                <a:cs typeface="Garamond"/>
              </a:rPr>
              <a:t>V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C</a:t>
            </a:r>
            <a:r>
              <a:rPr dirty="0" sz="1400" spc="-130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×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44038" y="1995297"/>
            <a:ext cx="7391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{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1+𝑟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4305" sz="1200" spc="22">
                <a:latin typeface="Cambria Math"/>
                <a:cs typeface="Cambria Math"/>
              </a:rPr>
              <a:t>𝑡</a:t>
            </a:r>
            <a:r>
              <a:rPr dirty="0" sz="1000" spc="15">
                <a:latin typeface="Cambria Math"/>
                <a:cs typeface="Cambria Math"/>
              </a:rPr>
              <a:t>−1}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62045" y="2191892"/>
            <a:ext cx="933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20">
                <a:latin typeface="Cambria Math"/>
                <a:cs typeface="Cambria Math"/>
              </a:rPr>
              <a:t>𝑟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82138" y="2186304"/>
            <a:ext cx="659130" cy="9525"/>
          </a:xfrm>
          <a:custGeom>
            <a:avLst/>
            <a:gdLst/>
            <a:ahLst/>
            <a:cxnLst/>
            <a:rect l="l" t="t" r="r" b="b"/>
            <a:pathLst>
              <a:path w="659129" h="9525">
                <a:moveTo>
                  <a:pt x="658672" y="0"/>
                </a:moveTo>
                <a:lnTo>
                  <a:pt x="0" y="0"/>
                </a:lnTo>
                <a:lnTo>
                  <a:pt x="0" y="9144"/>
                </a:lnTo>
                <a:lnTo>
                  <a:pt x="658672" y="9144"/>
                </a:lnTo>
                <a:lnTo>
                  <a:pt x="6586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87729" y="2457449"/>
            <a:ext cx="5845810" cy="6096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Future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for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Annuities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58800" indent="-229235">
              <a:lnSpc>
                <a:spcPts val="1270"/>
              </a:lnSpc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>
                <a:latin typeface="Garamond"/>
                <a:cs typeface="Garamond"/>
              </a:rPr>
              <a:t>Previously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determined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21-year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old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accumulate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million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age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65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investing</a:t>
            </a:r>
            <a:endParaRPr sz="1100">
              <a:latin typeface="Garamond"/>
              <a:cs typeface="Garamond"/>
            </a:endParaRPr>
          </a:p>
          <a:p>
            <a:pPr marL="558800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$15,091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letting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r>
              <a:rPr dirty="0" sz="1100">
                <a:latin typeface="Garamond"/>
                <a:cs typeface="Garamond"/>
              </a:rPr>
              <a:t> compounded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annually)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44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marL="558800" marR="939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>
                <a:latin typeface="Garamond"/>
                <a:cs typeface="Garamond"/>
              </a:rPr>
              <a:t>Now,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rather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plunking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down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$15,091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chunk,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suppose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rather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invest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smaller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annually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accumulate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million.</a:t>
            </a:r>
            <a:endParaRPr sz="1100">
              <a:latin typeface="Garamond"/>
              <a:cs typeface="Garamond"/>
            </a:endParaRPr>
          </a:p>
          <a:p>
            <a:pPr marL="558800" marR="9461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deposit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made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deposits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continue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through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age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65,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how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be?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Set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FV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problem:</a:t>
            </a:r>
            <a:endParaRPr sz="1100">
              <a:latin typeface="Garamond"/>
              <a:cs typeface="Garamond"/>
            </a:endParaRPr>
          </a:p>
          <a:p>
            <a:pPr marL="1473835" marR="2291080">
              <a:lnSpc>
                <a:spcPts val="1260"/>
              </a:lnSpc>
              <a:spcBef>
                <a:spcPts val="1255"/>
              </a:spcBef>
            </a:pPr>
            <a:r>
              <a:rPr dirty="0" sz="1100" spc="-5">
                <a:latin typeface="Garamond"/>
                <a:cs typeface="Garamond"/>
              </a:rPr>
              <a:t>$1,000,000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[(1.10)</a:t>
            </a:r>
            <a:r>
              <a:rPr dirty="0" baseline="21367" sz="975">
                <a:latin typeface="Garamond"/>
                <a:cs typeface="Garamond"/>
              </a:rPr>
              <a:t>44</a:t>
            </a:r>
            <a:r>
              <a:rPr dirty="0" baseline="21367" sz="975" spc="217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 </a:t>
            </a:r>
            <a:r>
              <a:rPr dirty="0" sz="1100" spc="10">
                <a:latin typeface="Garamond"/>
                <a:cs typeface="Garamond"/>
              </a:rPr>
              <a:t>1]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0.10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$1,000,000/652.6408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$1,532.24</a:t>
            </a:r>
            <a:endParaRPr sz="1100">
              <a:latin typeface="Garamond"/>
              <a:cs typeface="Garamond"/>
            </a:endParaRPr>
          </a:p>
          <a:p>
            <a:pPr marL="1473835">
              <a:lnSpc>
                <a:spcPts val="1190"/>
              </a:lnSpc>
            </a:pPr>
            <a:r>
              <a:rPr dirty="0" sz="1100">
                <a:latin typeface="Garamond"/>
                <a:cs typeface="Garamond"/>
              </a:rPr>
              <a:t>Becoming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millionaire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easier!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algn="just" marL="558800" marR="90170" indent="-228600">
              <a:lnSpc>
                <a:spcPts val="1220"/>
              </a:lnSpc>
              <a:spcBef>
                <a:spcPts val="5"/>
              </a:spcBef>
              <a:buFont typeface="Symbol"/>
              <a:buChar char=""/>
              <a:tabLst>
                <a:tab pos="559435" algn="l"/>
              </a:tabLst>
            </a:pPr>
            <a:r>
              <a:rPr dirty="0" sz="1100">
                <a:latin typeface="Garamond"/>
                <a:cs typeface="Garamond"/>
              </a:rPr>
              <a:t>Unfortunately, </a:t>
            </a:r>
            <a:r>
              <a:rPr dirty="0" sz="1100" spc="5">
                <a:latin typeface="Garamond"/>
                <a:cs typeface="Garamond"/>
              </a:rPr>
              <a:t>most </a:t>
            </a:r>
            <a:r>
              <a:rPr dirty="0" sz="1100" spc="-5">
                <a:latin typeface="Garamond"/>
                <a:cs typeface="Garamond"/>
              </a:rPr>
              <a:t>people </a:t>
            </a:r>
            <a:r>
              <a:rPr dirty="0" sz="1100" spc="5">
                <a:latin typeface="Garamond"/>
                <a:cs typeface="Garamond"/>
              </a:rPr>
              <a:t>don’t </a:t>
            </a:r>
            <a:r>
              <a:rPr dirty="0" sz="1100" spc="-10">
                <a:latin typeface="Garamond"/>
                <a:cs typeface="Garamond"/>
              </a:rPr>
              <a:t>start </a:t>
            </a:r>
            <a:r>
              <a:rPr dirty="0" sz="1100" spc="-5">
                <a:latin typeface="Garamond"/>
                <a:cs typeface="Garamond"/>
              </a:rPr>
              <a:t>saving </a:t>
            </a:r>
            <a:r>
              <a:rPr dirty="0" sz="1100" spc="-10">
                <a:latin typeface="Garamond"/>
                <a:cs typeface="Garamond"/>
              </a:rPr>
              <a:t>for </a:t>
            </a:r>
            <a:r>
              <a:rPr dirty="0" sz="1100">
                <a:latin typeface="Garamond"/>
                <a:cs typeface="Garamond"/>
              </a:rPr>
              <a:t>retirement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>
                <a:latin typeface="Garamond"/>
                <a:cs typeface="Garamond"/>
              </a:rPr>
              <a:t>early in </a:t>
            </a:r>
            <a:r>
              <a:rPr dirty="0" sz="1100" spc="-10">
                <a:latin typeface="Garamond"/>
                <a:cs typeface="Garamond"/>
              </a:rPr>
              <a:t>life. </a:t>
            </a:r>
            <a:r>
              <a:rPr dirty="0" sz="1100">
                <a:latin typeface="Garamond"/>
                <a:cs typeface="Garamond"/>
              </a:rPr>
              <a:t>(Many </a:t>
            </a:r>
            <a:r>
              <a:rPr dirty="0" sz="1100" spc="5">
                <a:latin typeface="Garamond"/>
                <a:cs typeface="Garamond"/>
              </a:rPr>
              <a:t>don’t start </a:t>
            </a:r>
            <a:r>
              <a:rPr dirty="0" sz="1100" spc="10">
                <a:latin typeface="Garamond"/>
                <a:cs typeface="Garamond"/>
              </a:rPr>
              <a:t> 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all!)</a:t>
            </a:r>
            <a:endParaRPr sz="1100">
              <a:latin typeface="Garamond"/>
              <a:cs typeface="Garamond"/>
            </a:endParaRPr>
          </a:p>
          <a:p>
            <a:pPr algn="just" marL="558800" marR="97155" indent="-228600">
              <a:lnSpc>
                <a:spcPct val="94200"/>
              </a:lnSpc>
              <a:spcBef>
                <a:spcPts val="140"/>
              </a:spcBef>
              <a:buFont typeface="Symbol"/>
              <a:buChar char=""/>
              <a:tabLst>
                <a:tab pos="559435" algn="l"/>
              </a:tabLst>
            </a:pPr>
            <a:r>
              <a:rPr dirty="0" sz="1100">
                <a:latin typeface="Garamond"/>
                <a:cs typeface="Garamond"/>
              </a:rPr>
              <a:t>Suppose </a:t>
            </a:r>
            <a:r>
              <a:rPr dirty="0" sz="1100" spc="5">
                <a:latin typeface="Garamond"/>
                <a:cs typeface="Garamond"/>
              </a:rPr>
              <a:t>a 40-year </a:t>
            </a:r>
            <a:r>
              <a:rPr dirty="0" sz="1100" spc="-10">
                <a:latin typeface="Garamond"/>
                <a:cs typeface="Garamond"/>
              </a:rPr>
              <a:t>old </a:t>
            </a:r>
            <a:r>
              <a:rPr dirty="0" sz="1100" spc="-5">
                <a:latin typeface="Garamond"/>
                <a:cs typeface="Garamond"/>
              </a:rPr>
              <a:t>person </a:t>
            </a:r>
            <a:r>
              <a:rPr dirty="0" sz="1100">
                <a:latin typeface="Garamond"/>
                <a:cs typeface="Garamond"/>
              </a:rPr>
              <a:t>has decided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it’s </a:t>
            </a:r>
            <a:r>
              <a:rPr dirty="0" sz="1100" spc="-5">
                <a:latin typeface="Garamond"/>
                <a:cs typeface="Garamond"/>
              </a:rPr>
              <a:t>time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 </a:t>
            </a:r>
            <a:r>
              <a:rPr dirty="0" sz="1100">
                <a:latin typeface="Garamond"/>
                <a:cs typeface="Garamond"/>
              </a:rPr>
              <a:t>serious about </a:t>
            </a:r>
            <a:r>
              <a:rPr dirty="0" sz="1100" spc="-5">
                <a:latin typeface="Garamond"/>
                <a:cs typeface="Garamond"/>
              </a:rPr>
              <a:t>saving. Assuming that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he wishes to </a:t>
            </a:r>
            <a:r>
              <a:rPr dirty="0" sz="1100" spc="-5">
                <a:latin typeface="Garamond"/>
                <a:cs typeface="Garamond"/>
              </a:rPr>
              <a:t>accumulate </a:t>
            </a:r>
            <a:r>
              <a:rPr dirty="0" sz="1100" spc="5">
                <a:latin typeface="Garamond"/>
                <a:cs typeface="Garamond"/>
              </a:rPr>
              <a:t>$1 </a:t>
            </a:r>
            <a:r>
              <a:rPr dirty="0" sz="1100" spc="-5">
                <a:latin typeface="Garamond"/>
                <a:cs typeface="Garamond"/>
              </a:rPr>
              <a:t>million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age </a:t>
            </a:r>
            <a:r>
              <a:rPr dirty="0" sz="1100">
                <a:latin typeface="Garamond"/>
                <a:cs typeface="Garamond"/>
              </a:rPr>
              <a:t>65, </a:t>
            </a:r>
            <a:r>
              <a:rPr dirty="0" sz="1100" spc="5">
                <a:latin typeface="Garamond"/>
                <a:cs typeface="Garamond"/>
              </a:rPr>
              <a:t>he </a:t>
            </a:r>
            <a:r>
              <a:rPr dirty="0" sz="1100">
                <a:latin typeface="Garamond"/>
                <a:cs typeface="Garamond"/>
              </a:rPr>
              <a:t>can </a:t>
            </a:r>
            <a:r>
              <a:rPr dirty="0" sz="1100" spc="-5">
                <a:latin typeface="Garamond"/>
                <a:cs typeface="Garamond"/>
              </a:rPr>
              <a:t>earn 10% compounded annually,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begin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making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annual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deposits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deposit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be?</a:t>
            </a:r>
            <a:endParaRPr sz="1100">
              <a:latin typeface="Garamond"/>
              <a:cs typeface="Garamond"/>
            </a:endParaRPr>
          </a:p>
          <a:p>
            <a:pPr algn="just" marL="5588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Set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FV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problem: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1473835" marR="3442335">
              <a:lnSpc>
                <a:spcPts val="126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t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65 </a:t>
            </a:r>
            <a:r>
              <a:rPr dirty="0" sz="1100" spc="5">
                <a:latin typeface="Garamond"/>
                <a:cs typeface="Garamond"/>
              </a:rPr>
              <a:t>- </a:t>
            </a:r>
            <a:r>
              <a:rPr dirty="0" sz="1100" spc="15">
                <a:latin typeface="Garamond"/>
                <a:cs typeface="Garamond"/>
              </a:rPr>
              <a:t>40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25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FV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$1,000,000</a:t>
            </a:r>
            <a:endParaRPr sz="1100">
              <a:latin typeface="Garamond"/>
              <a:cs typeface="Garamond"/>
            </a:endParaRPr>
          </a:p>
          <a:p>
            <a:pPr marL="1016635">
              <a:lnSpc>
                <a:spcPts val="1160"/>
              </a:lnSpc>
            </a:pPr>
            <a:r>
              <a:rPr dirty="0" sz="1100">
                <a:latin typeface="Garamond"/>
                <a:cs typeface="Garamond"/>
              </a:rPr>
              <a:t>Then:</a:t>
            </a:r>
            <a:endParaRPr sz="1100">
              <a:latin typeface="Garamond"/>
              <a:cs typeface="Garamond"/>
            </a:endParaRPr>
          </a:p>
          <a:p>
            <a:pPr marL="1473835" marR="2291080">
              <a:lnSpc>
                <a:spcPts val="1220"/>
              </a:lnSpc>
              <a:spcBef>
                <a:spcPts val="90"/>
              </a:spcBef>
            </a:pPr>
            <a:r>
              <a:rPr dirty="0" sz="1100" spc="-5">
                <a:latin typeface="Garamond"/>
                <a:cs typeface="Garamond"/>
              </a:rPr>
              <a:t>$1,000,000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[(1.10)</a:t>
            </a:r>
            <a:r>
              <a:rPr dirty="0" sz="650" spc="-10">
                <a:latin typeface="Garamond"/>
                <a:cs typeface="Garamond"/>
              </a:rPr>
              <a:t>25</a:t>
            </a:r>
            <a:r>
              <a:rPr dirty="0" sz="65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1]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0.10 </a:t>
            </a:r>
            <a:r>
              <a:rPr dirty="0" sz="1100" spc="10">
                <a:latin typeface="Garamond"/>
                <a:cs typeface="Garamond"/>
              </a:rPr>
              <a:t> C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$1,000,000/98.3471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$10,168.07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Garamond"/>
              <a:cs typeface="Garamond"/>
            </a:endParaRPr>
          </a:p>
          <a:p>
            <a:pPr algn="just" marL="558800" indent="-229235">
              <a:lnSpc>
                <a:spcPct val="100000"/>
              </a:lnSpc>
              <a:buFont typeface="Symbol"/>
              <a:buChar char=""/>
              <a:tabLst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Moral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story: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Putting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saving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retirement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difficult!</a:t>
            </a:r>
            <a:endParaRPr sz="1100">
              <a:latin typeface="Garamond"/>
              <a:cs typeface="Garamond"/>
            </a:endParaRPr>
          </a:p>
          <a:p>
            <a:pPr marL="1016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Annuities</a:t>
            </a:r>
            <a:r>
              <a:rPr dirty="0" sz="1100" spc="-10" b="1">
                <a:latin typeface="Garamond"/>
                <a:cs typeface="Garamond"/>
              </a:rPr>
              <a:t> Due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558800" marR="99060" indent="-228600">
              <a:lnSpc>
                <a:spcPts val="1220"/>
              </a:lnSpc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far,</a:t>
            </a:r>
            <a:r>
              <a:rPr dirty="0" sz="1100" spc="-5">
                <a:latin typeface="Garamond"/>
                <a:cs typeface="Garamond"/>
              </a:rPr>
              <a:t> we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 discussed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 </a:t>
            </a:r>
            <a:r>
              <a:rPr dirty="0" sz="1100">
                <a:latin typeface="Garamond"/>
                <a:cs typeface="Garamond"/>
              </a:rPr>
              <a:t>ordinary </a:t>
            </a:r>
            <a:r>
              <a:rPr dirty="0" sz="1100" spc="-5">
                <a:latin typeface="Garamond"/>
                <a:cs typeface="Garamond"/>
              </a:rPr>
              <a:t>annuities, </a:t>
            </a: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5">
                <a:latin typeface="Garamond"/>
                <a:cs typeface="Garamond"/>
              </a:rPr>
              <a:t>occur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15">
                <a:latin typeface="Garamond"/>
                <a:cs typeface="Garamond"/>
              </a:rPr>
              <a:t>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each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e.g.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repayments</a:t>
            </a:r>
            <a:endParaRPr sz="1100">
              <a:latin typeface="Garamond"/>
              <a:cs typeface="Garamond"/>
            </a:endParaRPr>
          </a:p>
          <a:p>
            <a:pPr marL="558800" marR="93980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>
                <a:latin typeface="Garamond"/>
                <a:cs typeface="Garamond"/>
              </a:rPr>
              <a:t>However,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lease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lease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usually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immediately,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second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beginning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second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so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on.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Annuity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-5">
                <a:latin typeface="Garamond"/>
                <a:cs typeface="Garamond"/>
              </a:rPr>
              <a:t>occur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beginning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each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period.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line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each,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like: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6239" y="8749878"/>
            <a:ext cx="5236267" cy="55540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879627"/>
            <a:ext cx="4656455" cy="87693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four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-5">
                <a:latin typeface="Garamond"/>
                <a:cs typeface="Garamond"/>
              </a:rPr>
              <a:t>$400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ordinary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$1,267.95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Adding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extra </a:t>
            </a:r>
            <a:r>
              <a:rPr dirty="0" sz="1100">
                <a:latin typeface="Garamond"/>
                <a:cs typeface="Garamond"/>
              </a:rPr>
              <a:t>$400,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$1,667.95,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due.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relationship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ordinary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just:</a:t>
            </a:r>
            <a:endParaRPr sz="1100">
              <a:latin typeface="Garamond"/>
              <a:cs typeface="Garamond"/>
            </a:endParaRPr>
          </a:p>
          <a:p>
            <a:pPr marL="1165225">
              <a:lnSpc>
                <a:spcPct val="100000"/>
              </a:lnSpc>
              <a:spcBef>
                <a:spcPts val="1160"/>
              </a:spcBef>
            </a:pP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Ordinary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26022" y="714501"/>
            <a:ext cx="80073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16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5829" y="883665"/>
            <a:ext cx="5808345" cy="43948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33655">
              <a:lnSpc>
                <a:spcPct val="100000"/>
              </a:lnSpc>
              <a:spcBef>
                <a:spcPts val="135"/>
              </a:spcBef>
            </a:pPr>
            <a:r>
              <a:rPr dirty="0" sz="1150" spc="25" b="1">
                <a:latin typeface="Garamond"/>
                <a:cs typeface="Garamond"/>
              </a:rPr>
              <a:t>PREPETUITIES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Garamond"/>
              <a:cs typeface="Garamond"/>
            </a:endParaRPr>
          </a:p>
          <a:p>
            <a:pPr marL="520700" indent="-229235">
              <a:lnSpc>
                <a:spcPct val="100000"/>
              </a:lnSpc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perpetuity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5207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>
                <a:latin typeface="Garamond"/>
                <a:cs typeface="Garamond"/>
              </a:rPr>
              <a:t>Perpetuity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PV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endParaRPr sz="1100">
              <a:latin typeface="Garamond"/>
              <a:cs typeface="Garamond"/>
            </a:endParaRPr>
          </a:p>
          <a:p>
            <a:pPr marL="520700" marR="939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expect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each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next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years.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Our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opportunity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6%.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</a:t>
            </a:r>
            <a:r>
              <a:rPr dirty="0" sz="1100" spc="-15">
                <a:latin typeface="Garamond"/>
                <a:cs typeface="Garamond"/>
              </a:rPr>
              <a:t>set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flows?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50">
              <a:latin typeface="Garamond"/>
              <a:cs typeface="Garamond"/>
            </a:endParaRPr>
          </a:p>
          <a:p>
            <a:pPr marL="1892935" marR="2001520">
              <a:lnSpc>
                <a:spcPts val="1260"/>
              </a:lnSpc>
            </a:pPr>
            <a:r>
              <a:rPr dirty="0" sz="1100" spc="-5">
                <a:latin typeface="Garamond"/>
                <a:cs typeface="Garamond"/>
              </a:rPr>
              <a:t>PV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$1000 </a:t>
            </a:r>
            <a:r>
              <a:rPr dirty="0" sz="1100" spc="5">
                <a:latin typeface="Garamond"/>
                <a:cs typeface="Garamond"/>
              </a:rPr>
              <a:t>x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5">
                <a:latin typeface="Garamond"/>
                <a:cs typeface="Garamond"/>
              </a:rPr>
              <a:t>- </a:t>
            </a:r>
            <a:r>
              <a:rPr dirty="0" sz="1100" spc="-5">
                <a:latin typeface="Garamond"/>
                <a:cs typeface="Garamond"/>
              </a:rPr>
              <a:t>[1/1.06</a:t>
            </a:r>
            <a:r>
              <a:rPr dirty="0" baseline="21367" sz="975" spc="-7">
                <a:latin typeface="Garamond"/>
                <a:cs typeface="Garamond"/>
              </a:rPr>
              <a:t>5</a:t>
            </a:r>
            <a:r>
              <a:rPr dirty="0" sz="1100" spc="-5">
                <a:latin typeface="Garamond"/>
                <a:cs typeface="Garamond"/>
              </a:rPr>
              <a:t>]) </a:t>
            </a:r>
            <a:r>
              <a:rPr dirty="0" sz="1100" spc="5">
                <a:latin typeface="Garamond"/>
                <a:cs typeface="Garamond"/>
              </a:rPr>
              <a:t>/ 0.06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4.212364</a:t>
            </a:r>
            <a:endParaRPr sz="1100">
              <a:latin typeface="Garamond"/>
              <a:cs typeface="Garamond"/>
            </a:endParaRPr>
          </a:p>
          <a:p>
            <a:pPr marL="1892935">
              <a:lnSpc>
                <a:spcPts val="1195"/>
              </a:lnSpc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$4212.364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20700" marR="88265" indent="-228600">
              <a:lnSpc>
                <a:spcPts val="1260"/>
              </a:lnSpc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suppose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year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forever,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making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perpetuity.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case,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easy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892935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C/r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$1000/.06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$16,666.67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marL="635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Summary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0" b="1">
                <a:latin typeface="Garamond"/>
                <a:cs typeface="Garamond"/>
              </a:rPr>
              <a:t> Annuity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Perpetuity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lvl="1" marL="648335" indent="-128270">
              <a:lnSpc>
                <a:spcPct val="100000"/>
              </a:lnSpc>
              <a:spcBef>
                <a:spcPts val="5"/>
              </a:spcBef>
              <a:buAutoNum type="romanUcPeriod"/>
              <a:tabLst>
                <a:tab pos="648970" algn="l"/>
              </a:tabLst>
            </a:pPr>
            <a:r>
              <a:rPr dirty="0" sz="1100" b="1">
                <a:latin typeface="Garamond"/>
                <a:cs typeface="Garamond"/>
              </a:rPr>
              <a:t>Symbols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Garamond"/>
              <a:buAutoNum type="romanUcPeriod"/>
            </a:pPr>
            <a:endParaRPr sz="1100">
              <a:latin typeface="Garamond"/>
              <a:cs typeface="Garamond"/>
            </a:endParaRPr>
          </a:p>
          <a:p>
            <a:pPr marL="978535" marR="1609725">
              <a:lnSpc>
                <a:spcPct val="93700"/>
              </a:lnSpc>
              <a:spcBef>
                <a:spcPts val="5"/>
              </a:spcBef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value,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bring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FV</a:t>
            </a:r>
            <a:r>
              <a:rPr dirty="0" sz="650" spc="-5">
                <a:latin typeface="Garamond"/>
                <a:cs typeface="Garamond"/>
              </a:rPr>
              <a:t>t</a:t>
            </a:r>
            <a:r>
              <a:rPr dirty="0" sz="65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Future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worth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endParaRPr sz="1100">
              <a:latin typeface="Garamond"/>
              <a:cs typeface="Garamond"/>
            </a:endParaRPr>
          </a:p>
          <a:p>
            <a:pPr marL="978535">
              <a:lnSpc>
                <a:spcPts val="1225"/>
              </a:lnSpc>
            </a:pP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lvl="1" marL="703580" indent="-183515">
              <a:lnSpc>
                <a:spcPct val="100000"/>
              </a:lnSpc>
              <a:buAutoNum type="romanUcPeriod" startAt="2"/>
              <a:tabLst>
                <a:tab pos="704215" algn="l"/>
              </a:tabLst>
            </a:pPr>
            <a:r>
              <a:rPr dirty="0" sz="1100" spc="10" b="1">
                <a:latin typeface="Garamond"/>
                <a:cs typeface="Garamond"/>
              </a:rPr>
              <a:t>FV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C </a:t>
            </a:r>
            <a:r>
              <a:rPr dirty="0" sz="1100" spc="-15" b="1">
                <a:latin typeface="Garamond"/>
                <a:cs typeface="Garamond"/>
              </a:rPr>
              <a:t>per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for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t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periods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at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percent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</a:t>
            </a:r>
            <a:r>
              <a:rPr dirty="0" sz="1100" spc="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91689" y="5517260"/>
            <a:ext cx="66421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5">
                <a:latin typeface="Garamond"/>
                <a:cs typeface="Garamond"/>
              </a:rPr>
              <a:t>F</a:t>
            </a:r>
            <a:r>
              <a:rPr dirty="0" sz="1100" spc="5">
                <a:latin typeface="Garamond"/>
                <a:cs typeface="Garamond"/>
              </a:rPr>
              <a:t>V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11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70632" y="5425820"/>
            <a:ext cx="7391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{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1+𝑟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4305" sz="1200" spc="22">
                <a:latin typeface="Cambria Math"/>
                <a:cs typeface="Cambria Math"/>
              </a:rPr>
              <a:t>𝑡</a:t>
            </a:r>
            <a:r>
              <a:rPr dirty="0" sz="1000" spc="15">
                <a:latin typeface="Cambria Math"/>
                <a:cs typeface="Cambria Math"/>
              </a:rPr>
              <a:t>−1}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88894" y="5622416"/>
            <a:ext cx="933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20">
                <a:latin typeface="Cambria Math"/>
                <a:cs typeface="Cambria Math"/>
              </a:rPr>
              <a:t>𝑟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08732" y="5616829"/>
            <a:ext cx="659130" cy="9525"/>
          </a:xfrm>
          <a:custGeom>
            <a:avLst/>
            <a:gdLst/>
            <a:ahLst/>
            <a:cxnLst/>
            <a:rect l="l" t="t" r="r" b="b"/>
            <a:pathLst>
              <a:path w="659129" h="9525">
                <a:moveTo>
                  <a:pt x="658977" y="0"/>
                </a:moveTo>
                <a:lnTo>
                  <a:pt x="0" y="0"/>
                </a:lnTo>
                <a:lnTo>
                  <a:pt x="0" y="9143"/>
                </a:lnTo>
                <a:lnTo>
                  <a:pt x="658977" y="9143"/>
                </a:lnTo>
                <a:lnTo>
                  <a:pt x="6589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34108" y="5883401"/>
            <a:ext cx="349186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III.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PV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C </a:t>
            </a:r>
            <a:r>
              <a:rPr dirty="0" sz="1100" spc="-15" b="1">
                <a:latin typeface="Garamond"/>
                <a:cs typeface="Garamond"/>
              </a:rPr>
              <a:t>per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for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t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periods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at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percent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42005" y="6281165"/>
            <a:ext cx="24257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{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-15">
                <a:latin typeface="Cambria Math"/>
                <a:cs typeface="Cambria Math"/>
              </a:rPr>
              <a:t>−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6289" y="6304025"/>
            <a:ext cx="14490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030605" algn="l"/>
              </a:tabLst>
            </a:pPr>
            <a:r>
              <a:rPr dirty="0" baseline="-35353" sz="1650">
                <a:latin typeface="Garamond"/>
                <a:cs typeface="Garamond"/>
              </a:rPr>
              <a:t>PVA</a:t>
            </a:r>
            <a:r>
              <a:rPr dirty="0" baseline="-35353" sz="1650" spc="15">
                <a:latin typeface="Garamond"/>
                <a:cs typeface="Garamond"/>
              </a:rPr>
              <a:t> =</a:t>
            </a:r>
            <a:r>
              <a:rPr dirty="0" baseline="-35353" sz="1650" spc="-22">
                <a:latin typeface="Garamond"/>
                <a:cs typeface="Garamond"/>
              </a:rPr>
              <a:t> </a:t>
            </a:r>
            <a:r>
              <a:rPr dirty="0" baseline="-35353" sz="1650" spc="15">
                <a:latin typeface="Garamond"/>
                <a:cs typeface="Garamond"/>
              </a:rPr>
              <a:t>C</a:t>
            </a:r>
            <a:r>
              <a:rPr dirty="0" baseline="-35353" sz="1650" spc="-172">
                <a:latin typeface="Garamond"/>
                <a:cs typeface="Garamond"/>
              </a:rPr>
              <a:t> </a:t>
            </a:r>
            <a:r>
              <a:rPr dirty="0" baseline="-27777" sz="2100">
                <a:latin typeface="Garamond"/>
                <a:cs typeface="Garamond"/>
              </a:rPr>
              <a:t>×</a:t>
            </a:r>
            <a:r>
              <a:rPr dirty="0" u="sng" sz="14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80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(1+r)</a:t>
            </a:r>
            <a:r>
              <a:rPr dirty="0" u="sng" sz="800" spc="8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97022" y="6380733"/>
            <a:ext cx="329565" cy="9525"/>
          </a:xfrm>
          <a:custGeom>
            <a:avLst/>
            <a:gdLst/>
            <a:ahLst/>
            <a:cxnLst/>
            <a:rect l="l" t="t" r="r" b="b"/>
            <a:pathLst>
              <a:path w="329564" h="9525">
                <a:moveTo>
                  <a:pt x="329488" y="0"/>
                </a:moveTo>
                <a:lnTo>
                  <a:pt x="0" y="0"/>
                </a:lnTo>
                <a:lnTo>
                  <a:pt x="0" y="9144"/>
                </a:lnTo>
                <a:lnTo>
                  <a:pt x="329488" y="9144"/>
                </a:lnTo>
                <a:lnTo>
                  <a:pt x="3294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191510" y="6235445"/>
            <a:ext cx="323215" cy="224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670"/>
              </a:lnSpc>
              <a:spcBef>
                <a:spcPts val="90"/>
              </a:spcBef>
            </a:pPr>
            <a:r>
              <a:rPr dirty="0" sz="800" spc="25">
                <a:latin typeface="Cambria Math"/>
                <a:cs typeface="Cambria Math"/>
              </a:rPr>
              <a:t>1</a:t>
            </a:r>
            <a:endParaRPr sz="800">
              <a:latin typeface="Cambria Math"/>
              <a:cs typeface="Cambria Math"/>
            </a:endParaRPr>
          </a:p>
          <a:p>
            <a:pPr marL="184785">
              <a:lnSpc>
                <a:spcPts val="910"/>
              </a:lnSpc>
            </a:pPr>
            <a:r>
              <a:rPr dirty="0" baseline="-20833" sz="1200" spc="60">
                <a:latin typeface="Cambria Math"/>
                <a:cs typeface="Cambria Math"/>
              </a:rPr>
              <a:t>𝑡</a:t>
            </a:r>
            <a:r>
              <a:rPr dirty="0" sz="1000" spc="40">
                <a:latin typeface="Cambria Math"/>
                <a:cs typeface="Cambria Math"/>
              </a:rPr>
              <a:t>}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66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63929" y="6532626"/>
            <a:ext cx="5744210" cy="2981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737995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𝑟</a:t>
            </a:r>
            <a:endParaRPr sz="1000">
              <a:latin typeface="Cambria Math"/>
              <a:cs typeface="Cambria Math"/>
            </a:endParaRPr>
          </a:p>
          <a:p>
            <a:pPr marL="482600">
              <a:lnSpc>
                <a:spcPct val="100000"/>
              </a:lnSpc>
              <a:spcBef>
                <a:spcPts val="900"/>
              </a:spcBef>
            </a:pPr>
            <a:r>
              <a:rPr dirty="0" sz="1100" spc="5" b="1">
                <a:latin typeface="Garamond"/>
                <a:cs typeface="Garamond"/>
              </a:rPr>
              <a:t>IV.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PV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perpetuity</a:t>
            </a:r>
            <a:r>
              <a:rPr dirty="0" sz="1100" spc="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C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00">
              <a:latin typeface="Garamond"/>
              <a:cs typeface="Garamond"/>
            </a:endParaRPr>
          </a:p>
          <a:p>
            <a:pPr marL="940435">
              <a:lnSpc>
                <a:spcPct val="100000"/>
              </a:lnSpc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Garamond"/>
              <a:cs typeface="Garamond"/>
            </a:endParaRPr>
          </a:p>
          <a:p>
            <a:pPr marL="254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Effective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Annual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82600" marR="68580" indent="-228600">
              <a:lnSpc>
                <a:spcPts val="1260"/>
              </a:lnSpc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quoted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  </a:t>
            </a:r>
            <a:r>
              <a:rPr dirty="0" sz="1100" spc="-5">
                <a:latin typeface="Garamond"/>
                <a:cs typeface="Garamond"/>
              </a:rPr>
              <a:t>compounded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semiannually,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means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actually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pays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months.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Is</a:t>
            </a:r>
            <a:r>
              <a:rPr dirty="0" sz="1100">
                <a:latin typeface="Garamond"/>
                <a:cs typeface="Garamond"/>
              </a:rPr>
              <a:t> 5%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six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months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same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year?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$1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1.10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$1.10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$1 x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1.05</a:t>
            </a:r>
            <a:r>
              <a:rPr dirty="0" baseline="21367" sz="975" spc="7">
                <a:latin typeface="Garamond"/>
                <a:cs typeface="Garamond"/>
              </a:rPr>
              <a:t>2</a:t>
            </a:r>
            <a:r>
              <a:rPr dirty="0" baseline="21367" sz="975" spc="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$1.1025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-5">
                <a:latin typeface="Garamond"/>
                <a:cs typeface="Garamond"/>
              </a:rPr>
              <a:t> compounded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semiannually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equivalent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10.25% </a:t>
            </a:r>
            <a:r>
              <a:rPr dirty="0" sz="1100" spc="-5">
                <a:latin typeface="Garamond"/>
                <a:cs typeface="Garamond"/>
              </a:rPr>
              <a:t>compounded annually.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10.25%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-5">
                <a:latin typeface="Garamond"/>
                <a:cs typeface="Garamond"/>
              </a:rPr>
              <a:t> effective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(EAR)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banks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offer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savings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account:</a:t>
            </a:r>
            <a:endParaRPr sz="1100">
              <a:latin typeface="Garamond"/>
              <a:cs typeface="Garamond"/>
            </a:endParaRPr>
          </a:p>
          <a:p>
            <a:pPr lvl="1" marL="711835" indent="-229870">
              <a:lnSpc>
                <a:spcPts val="1240"/>
              </a:lnSpc>
              <a:buFont typeface="Courier New"/>
              <a:buChar char="o"/>
              <a:tabLst>
                <a:tab pos="711200" algn="l"/>
                <a:tab pos="712470" algn="l"/>
              </a:tabLst>
            </a:pPr>
            <a:r>
              <a:rPr dirty="0" sz="1100">
                <a:latin typeface="Garamond"/>
                <a:cs typeface="Garamond"/>
              </a:rPr>
              <a:t>Bank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A: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15%,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compounded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daily</a:t>
            </a:r>
            <a:endParaRPr sz="1100">
              <a:latin typeface="Garamond"/>
              <a:cs typeface="Garamond"/>
            </a:endParaRPr>
          </a:p>
          <a:p>
            <a:pPr lvl="1" marL="711835" indent="-229870">
              <a:lnSpc>
                <a:spcPts val="1270"/>
              </a:lnSpc>
              <a:buFont typeface="Courier New"/>
              <a:buChar char="o"/>
              <a:tabLst>
                <a:tab pos="711200" algn="l"/>
                <a:tab pos="712470" algn="l"/>
              </a:tabLst>
            </a:pPr>
            <a:r>
              <a:rPr dirty="0" sz="1100">
                <a:latin typeface="Garamond"/>
                <a:cs typeface="Garamond"/>
              </a:rPr>
              <a:t>Bank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B: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15.5%,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compounded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quarterly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62329" y="431038"/>
            <a:ext cx="5917565" cy="692848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135"/>
              </a:spcBef>
              <a:tabLst>
                <a:tab pos="5570855" algn="l"/>
              </a:tabLst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584200">
              <a:lnSpc>
                <a:spcPct val="100000"/>
              </a:lnSpc>
              <a:spcBef>
                <a:spcPts val="830"/>
              </a:spcBef>
              <a:tabLst>
                <a:tab pos="8128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>
                <a:latin typeface="Garamond"/>
                <a:cs typeface="Garamond"/>
              </a:rPr>
              <a:t>Bank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C: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16%,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compounded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annually</a:t>
            </a:r>
            <a:endParaRPr sz="1100">
              <a:latin typeface="Garamond"/>
              <a:cs typeface="Garamond"/>
            </a:endParaRPr>
          </a:p>
          <a:p>
            <a:pPr marL="5842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opt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for:</a:t>
            </a:r>
            <a:endParaRPr sz="1100">
              <a:latin typeface="Garamond"/>
              <a:cs typeface="Garamond"/>
            </a:endParaRPr>
          </a:p>
          <a:p>
            <a:pPr marL="584200" marR="140970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Bank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offering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16%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per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since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there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compounding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during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effective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 marL="584200" marR="14351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Bank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0.155/4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0.03875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3.875%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quarter.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$1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to: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1499235" marR="3094990">
              <a:lnSpc>
                <a:spcPts val="1220"/>
              </a:lnSpc>
            </a:pPr>
            <a:r>
              <a:rPr dirty="0" sz="1100" spc="5">
                <a:latin typeface="Garamond"/>
                <a:cs typeface="Garamond"/>
              </a:rPr>
              <a:t>$1 x </a:t>
            </a:r>
            <a:r>
              <a:rPr dirty="0" sz="1100">
                <a:latin typeface="Garamond"/>
                <a:cs typeface="Garamond"/>
              </a:rPr>
              <a:t>1.03875</a:t>
            </a:r>
            <a:r>
              <a:rPr dirty="0" baseline="21367" sz="975">
                <a:latin typeface="Garamond"/>
                <a:cs typeface="Garamond"/>
              </a:rPr>
              <a:t>4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>
                <a:latin typeface="Garamond"/>
                <a:cs typeface="Garamond"/>
              </a:rPr>
              <a:t>$1.1642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So, </a:t>
            </a:r>
            <a:r>
              <a:rPr dirty="0" sz="1100" spc="-10">
                <a:latin typeface="Garamond"/>
                <a:cs typeface="Garamond"/>
              </a:rPr>
              <a:t>EAR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16.42%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150">
              <a:latin typeface="Garamond"/>
              <a:cs typeface="Garamond"/>
            </a:endParaRPr>
          </a:p>
          <a:p>
            <a:pPr marL="584200" indent="-229235">
              <a:lnSpc>
                <a:spcPct val="100000"/>
              </a:lnSpc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saving,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good.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worse</a:t>
            </a:r>
            <a:endParaRPr sz="1100">
              <a:latin typeface="Garamond"/>
              <a:cs typeface="Garamond"/>
            </a:endParaRPr>
          </a:p>
          <a:p>
            <a:pPr marL="584200" marR="138430" indent="-228600">
              <a:lnSpc>
                <a:spcPts val="1220"/>
              </a:lnSpc>
              <a:spcBef>
                <a:spcPts val="204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Bank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compounding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daily,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daily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actually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0.15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365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0.000411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0.0411%.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365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to: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1499235" marR="2962910">
              <a:lnSpc>
                <a:spcPts val="1230"/>
              </a:lnSpc>
            </a:pPr>
            <a:r>
              <a:rPr dirty="0" sz="1100" spc="5">
                <a:latin typeface="Garamond"/>
                <a:cs typeface="Garamond"/>
              </a:rPr>
              <a:t>$1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1.000411</a:t>
            </a:r>
            <a:r>
              <a:rPr dirty="0" baseline="21367" sz="975">
                <a:latin typeface="Garamond"/>
                <a:cs typeface="Garamond"/>
              </a:rPr>
              <a:t>365</a:t>
            </a:r>
            <a:r>
              <a:rPr dirty="0" baseline="21367" sz="975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$1.1618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So, </a:t>
            </a:r>
            <a:r>
              <a:rPr dirty="0" sz="1100" spc="-10">
                <a:latin typeface="Garamond"/>
                <a:cs typeface="Garamond"/>
              </a:rPr>
              <a:t>EAR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16.18%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Garamond"/>
              <a:cs typeface="Garamond"/>
            </a:endParaRPr>
          </a:p>
          <a:p>
            <a:pPr marL="584200" marR="142240" indent="-228600">
              <a:lnSpc>
                <a:spcPts val="1260"/>
              </a:lnSpc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good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Bank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B’s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16.42%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saver,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good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Bank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C’s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16%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borrower</a:t>
            </a:r>
            <a:endParaRPr sz="1100">
              <a:latin typeface="Garamond"/>
              <a:cs typeface="Garamond"/>
            </a:endParaRPr>
          </a:p>
          <a:p>
            <a:pPr marL="584200" indent="-229235">
              <a:lnSpc>
                <a:spcPts val="1290"/>
              </a:lnSpc>
              <a:spcBef>
                <a:spcPts val="20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 spc="10">
                <a:latin typeface="Garamond"/>
                <a:cs typeface="Garamond"/>
              </a:rPr>
              <a:t>Two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Lessons:</a:t>
            </a:r>
            <a:endParaRPr sz="1100">
              <a:latin typeface="Garamond"/>
              <a:cs typeface="Garamond"/>
            </a:endParaRPr>
          </a:p>
          <a:p>
            <a:pPr lvl="1" marL="813435" indent="-229870">
              <a:lnSpc>
                <a:spcPts val="1240"/>
              </a:lnSpc>
              <a:buFont typeface="Courier New"/>
              <a:buChar char="o"/>
              <a:tabLst>
                <a:tab pos="812800" algn="l"/>
                <a:tab pos="8140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quoted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necessarily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 lvl="1" marL="813435" marR="133350" indent="-229235">
              <a:lnSpc>
                <a:spcPts val="1260"/>
              </a:lnSpc>
              <a:spcBef>
                <a:spcPts val="40"/>
              </a:spcBef>
              <a:buFont typeface="Courier New"/>
              <a:buChar char="o"/>
              <a:tabLst>
                <a:tab pos="812800" algn="l"/>
                <a:tab pos="814069" algn="l"/>
              </a:tabLst>
            </a:pPr>
            <a:r>
              <a:rPr dirty="0" sz="1100">
                <a:latin typeface="Garamond"/>
                <a:cs typeface="Garamond"/>
              </a:rPr>
              <a:t>Compounding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during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lead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significant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quoted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rate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effective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 marL="584200" indent="-229235">
              <a:lnSpc>
                <a:spcPts val="1290"/>
              </a:lnSpc>
              <a:spcBef>
                <a:spcPts val="20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EAR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computed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three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steps</a:t>
            </a:r>
            <a:endParaRPr sz="1100">
              <a:latin typeface="Garamond"/>
              <a:cs typeface="Garamond"/>
            </a:endParaRPr>
          </a:p>
          <a:p>
            <a:pPr lvl="1" marL="813435" indent="-229870">
              <a:lnSpc>
                <a:spcPts val="1240"/>
              </a:lnSpc>
              <a:buFont typeface="Courier New"/>
              <a:buChar char="o"/>
              <a:tabLst>
                <a:tab pos="812800" algn="l"/>
                <a:tab pos="814069" algn="l"/>
              </a:tabLst>
            </a:pPr>
            <a:r>
              <a:rPr dirty="0" sz="1100">
                <a:latin typeface="Garamond"/>
                <a:cs typeface="Garamond"/>
              </a:rPr>
              <a:t>Divide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quoted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compounded</a:t>
            </a:r>
            <a:endParaRPr sz="1100">
              <a:latin typeface="Garamond"/>
              <a:cs typeface="Garamond"/>
            </a:endParaRPr>
          </a:p>
          <a:p>
            <a:pPr lvl="1" marL="813435" indent="-229870">
              <a:lnSpc>
                <a:spcPts val="1240"/>
              </a:lnSpc>
              <a:buFont typeface="Courier New"/>
              <a:buChar char="o"/>
              <a:tabLst>
                <a:tab pos="812800" algn="l"/>
                <a:tab pos="814069" algn="l"/>
              </a:tabLst>
            </a:pPr>
            <a:r>
              <a:rPr dirty="0" sz="1100">
                <a:latin typeface="Garamond"/>
                <a:cs typeface="Garamond"/>
              </a:rPr>
              <a:t>Add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raise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power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compounded.</a:t>
            </a:r>
            <a:endParaRPr sz="1100">
              <a:latin typeface="Garamond"/>
              <a:cs typeface="Garamond"/>
            </a:endParaRPr>
          </a:p>
          <a:p>
            <a:pPr lvl="1" marL="813435" indent="-229870">
              <a:lnSpc>
                <a:spcPts val="1290"/>
              </a:lnSpc>
              <a:buFont typeface="Courier New"/>
              <a:buChar char="o"/>
              <a:tabLst>
                <a:tab pos="812800" algn="l"/>
                <a:tab pos="814069" algn="l"/>
              </a:tabLst>
            </a:pPr>
            <a:r>
              <a:rPr dirty="0" sz="1100">
                <a:latin typeface="Garamond"/>
                <a:cs typeface="Garamond"/>
              </a:rPr>
              <a:t>Subtract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endParaRPr sz="1100">
              <a:latin typeface="Garamond"/>
              <a:cs typeface="Garamond"/>
            </a:endParaRPr>
          </a:p>
          <a:p>
            <a:pPr marL="584200">
              <a:lnSpc>
                <a:spcPts val="1290"/>
              </a:lnSpc>
              <a:spcBef>
                <a:spcPts val="1130"/>
              </a:spcBef>
            </a:pPr>
            <a:r>
              <a:rPr dirty="0" sz="1100" spc="5">
                <a:latin typeface="Garamond"/>
                <a:cs typeface="Garamond"/>
              </a:rPr>
              <a:t>So,</a:t>
            </a:r>
            <a:endParaRPr sz="1100">
              <a:latin typeface="Garamond"/>
              <a:cs typeface="Garamond"/>
            </a:endParaRPr>
          </a:p>
          <a:p>
            <a:pPr marL="1499235">
              <a:lnSpc>
                <a:spcPts val="1240"/>
              </a:lnSpc>
            </a:pPr>
            <a:r>
              <a:rPr dirty="0" sz="1100">
                <a:latin typeface="Garamond"/>
                <a:cs typeface="Garamond"/>
              </a:rPr>
              <a:t>EAR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Quoted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m)</a:t>
            </a:r>
            <a:r>
              <a:rPr dirty="0" baseline="21367" sz="975" spc="22">
                <a:latin typeface="Garamond"/>
                <a:cs typeface="Garamond"/>
              </a:rPr>
              <a:t>m</a:t>
            </a:r>
            <a:r>
              <a:rPr dirty="0" baseline="21367" sz="975" spc="142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endParaRPr sz="1100">
              <a:latin typeface="Garamond"/>
              <a:cs typeface="Garamond"/>
            </a:endParaRPr>
          </a:p>
          <a:p>
            <a:pPr marL="1499235">
              <a:lnSpc>
                <a:spcPts val="1270"/>
              </a:lnSpc>
            </a:pPr>
            <a:r>
              <a:rPr dirty="0" sz="1100" i="1">
                <a:latin typeface="Garamond"/>
                <a:cs typeface="Garamond"/>
              </a:rPr>
              <a:t>Where</a:t>
            </a:r>
            <a:r>
              <a:rPr dirty="0" sz="1100" spc="5" i="1">
                <a:latin typeface="Garamond"/>
                <a:cs typeface="Garamond"/>
              </a:rPr>
              <a:t> </a:t>
            </a:r>
            <a:r>
              <a:rPr dirty="0" sz="1100" spc="10" i="1">
                <a:latin typeface="Garamond"/>
                <a:cs typeface="Garamond"/>
              </a:rPr>
              <a:t>m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is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the </a:t>
            </a:r>
            <a:r>
              <a:rPr dirty="0" sz="1100" spc="-5" i="1">
                <a:latin typeface="Garamond"/>
                <a:cs typeface="Garamond"/>
              </a:rPr>
              <a:t>number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of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times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the</a:t>
            </a:r>
            <a:r>
              <a:rPr dirty="0" sz="1100" spc="-3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interest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is</a:t>
            </a:r>
            <a:r>
              <a:rPr dirty="0" sz="1100" spc="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compounded</a:t>
            </a:r>
            <a:endParaRPr sz="1100">
              <a:latin typeface="Garamond"/>
              <a:cs typeface="Garamond"/>
            </a:endParaRPr>
          </a:p>
          <a:p>
            <a:pPr marL="1499235" marR="2062480">
              <a:lnSpc>
                <a:spcPct val="188200"/>
              </a:lnSpc>
              <a:spcBef>
                <a:spcPts val="5"/>
              </a:spcBef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10">
                <a:latin typeface="Garamond"/>
                <a:cs typeface="Garamond"/>
              </a:rPr>
              <a:t>EAR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12% </a:t>
            </a:r>
            <a:r>
              <a:rPr dirty="0" sz="1100">
                <a:latin typeface="Garamond"/>
                <a:cs typeface="Garamond"/>
              </a:rPr>
              <a:t>compounded </a:t>
            </a:r>
            <a:r>
              <a:rPr dirty="0" sz="1100" spc="-5">
                <a:latin typeface="Garamond"/>
                <a:cs typeface="Garamond"/>
              </a:rPr>
              <a:t>monthly is: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Quoted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m)</a:t>
            </a:r>
            <a:r>
              <a:rPr dirty="0" baseline="21367" sz="975" spc="22">
                <a:latin typeface="Garamond"/>
                <a:cs typeface="Garamond"/>
              </a:rPr>
              <a:t>m</a:t>
            </a:r>
            <a:r>
              <a:rPr dirty="0" baseline="21367" sz="975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endParaRPr sz="1100">
              <a:latin typeface="Garamond"/>
              <a:cs typeface="Garamond"/>
            </a:endParaRPr>
          </a:p>
          <a:p>
            <a:pPr marL="1499235" marR="2943860">
              <a:lnSpc>
                <a:spcPts val="1220"/>
              </a:lnSpc>
              <a:spcBef>
                <a:spcPts val="25"/>
              </a:spcBef>
            </a:pPr>
            <a:r>
              <a:rPr dirty="0" sz="1100">
                <a:latin typeface="Garamond"/>
                <a:cs typeface="Garamond"/>
              </a:rPr>
              <a:t>EAR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5">
                <a:latin typeface="Garamond"/>
                <a:cs typeface="Garamond"/>
              </a:rPr>
              <a:t>(1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>
                <a:latin typeface="Garamond"/>
                <a:cs typeface="Garamond"/>
              </a:rPr>
              <a:t>0.12/12)</a:t>
            </a:r>
            <a:r>
              <a:rPr dirty="0" baseline="21367" sz="975">
                <a:latin typeface="Garamond"/>
                <a:cs typeface="Garamond"/>
              </a:rPr>
              <a:t>12 </a:t>
            </a:r>
            <a:r>
              <a:rPr dirty="0" sz="1100" spc="5">
                <a:latin typeface="Garamond"/>
                <a:cs typeface="Garamond"/>
              </a:rPr>
              <a:t>– 1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(1.01)</a:t>
            </a:r>
            <a:r>
              <a:rPr dirty="0" baseline="21367" sz="975" spc="7">
                <a:latin typeface="Garamond"/>
                <a:cs typeface="Garamond"/>
              </a:rPr>
              <a:t>12</a:t>
            </a:r>
            <a:r>
              <a:rPr dirty="0" baseline="21367" sz="975" spc="127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endParaRPr sz="1100">
              <a:latin typeface="Garamond"/>
              <a:cs typeface="Garamond"/>
            </a:endParaRPr>
          </a:p>
          <a:p>
            <a:pPr marL="1499235">
              <a:lnSpc>
                <a:spcPts val="1195"/>
              </a:lnSpc>
            </a:pPr>
            <a:r>
              <a:rPr dirty="0" sz="1100">
                <a:latin typeface="Garamond"/>
                <a:cs typeface="Garamond"/>
              </a:rPr>
              <a:t>EAR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1.12685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endParaRPr sz="1100">
              <a:latin typeface="Garamond"/>
              <a:cs typeface="Garamond"/>
            </a:endParaRPr>
          </a:p>
          <a:p>
            <a:pPr marL="1499235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EAR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12.6825%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Effective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Annual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Rate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with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changed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number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compounding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218689" y="7515097"/>
          <a:ext cx="3591560" cy="1633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8865"/>
                <a:gridCol w="1409699"/>
                <a:gridCol w="1089025"/>
              </a:tblGrid>
              <a:tr h="324612">
                <a:tc>
                  <a:txBody>
                    <a:bodyPr/>
                    <a:lstStyle/>
                    <a:p>
                      <a:pPr marL="342900" marR="102870" indent="-238125">
                        <a:lnSpc>
                          <a:spcPts val="1220"/>
                        </a:lnSpc>
                        <a:spcBef>
                          <a:spcPts val="1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Co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un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g 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period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0489" marR="147955" indent="241935">
                        <a:lnSpc>
                          <a:spcPts val="122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Number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times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compounded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186690" indent="100330">
                        <a:lnSpc>
                          <a:spcPts val="1220"/>
                        </a:lnSpc>
                        <a:spcBef>
                          <a:spcPts val="1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Effective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nnu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9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10.000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Quarter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10.38129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R="190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Month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3683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10.47131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R="254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Week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3683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10.50648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 marR="127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Daily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3873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365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10.51558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Hour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8,760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10.51703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algn="ctr" marR="63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Minute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93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525,600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10.51709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67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05508" y="9286137"/>
            <a:ext cx="444055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bank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12% </a:t>
            </a:r>
            <a:r>
              <a:rPr dirty="0" sz="1100" spc="-5">
                <a:latin typeface="Garamond"/>
                <a:cs typeface="Garamond"/>
              </a:rPr>
              <a:t>compounded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quarterly.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11529" y="431038"/>
            <a:ext cx="6019165" cy="86804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135"/>
              </a:spcBef>
              <a:tabLst>
                <a:tab pos="5621655" algn="l"/>
              </a:tabLst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635000" indent="-229235">
              <a:lnSpc>
                <a:spcPct val="100000"/>
              </a:lnSpc>
              <a:spcBef>
                <a:spcPts val="975"/>
              </a:spcBef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 spc="5">
                <a:latin typeface="Garamond"/>
                <a:cs typeface="Garamond"/>
              </a:rPr>
              <a:t>How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much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year?</a:t>
            </a:r>
            <a:endParaRPr sz="1100">
              <a:latin typeface="Garamond"/>
              <a:cs typeface="Garamond"/>
            </a:endParaRPr>
          </a:p>
          <a:p>
            <a:pPr marL="6350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EAR?</a:t>
            </a:r>
            <a:endParaRPr sz="1100">
              <a:latin typeface="Garamond"/>
              <a:cs typeface="Garamond"/>
            </a:endParaRPr>
          </a:p>
          <a:p>
            <a:pPr marL="6350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 spc="5">
                <a:latin typeface="Garamond"/>
                <a:cs typeface="Garamond"/>
              </a:rPr>
              <a:t>How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much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years?</a:t>
            </a:r>
            <a:endParaRPr sz="1100">
              <a:latin typeface="Garamond"/>
              <a:cs typeface="Garamond"/>
            </a:endParaRPr>
          </a:p>
          <a:p>
            <a:pPr marL="635000" marR="18478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12%/4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quarter;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 </a:t>
            </a:r>
            <a:r>
              <a:rPr dirty="0" sz="1100" spc="5">
                <a:latin typeface="Garamond"/>
                <a:cs typeface="Garamond"/>
              </a:rPr>
              <a:t>for 4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5">
                <a:latin typeface="Garamond"/>
                <a:cs typeface="Garamond"/>
              </a:rPr>
              <a:t> period,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future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2007235" marR="2418715">
              <a:lnSpc>
                <a:spcPts val="1220"/>
              </a:lnSpc>
            </a:pPr>
            <a:r>
              <a:rPr dirty="0" sz="1100" spc="-5">
                <a:latin typeface="Garamond"/>
                <a:cs typeface="Garamond"/>
              </a:rPr>
              <a:t>FV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1.03</a:t>
            </a:r>
            <a:r>
              <a:rPr dirty="0" baseline="21367" sz="975" spc="7">
                <a:latin typeface="Garamond"/>
                <a:cs typeface="Garamond"/>
              </a:rPr>
              <a:t>4</a:t>
            </a:r>
            <a:r>
              <a:rPr dirty="0" baseline="21367" sz="975" spc="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$112.55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EAR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12.55%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635000" indent="-229235">
              <a:lnSpc>
                <a:spcPct val="100000"/>
              </a:lnSpc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calculate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ways</a:t>
            </a:r>
            <a:endParaRPr sz="1100">
              <a:latin typeface="Garamond"/>
              <a:cs typeface="Garamond"/>
            </a:endParaRPr>
          </a:p>
          <a:p>
            <a:pPr marL="635000" indent="-229235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>
                <a:latin typeface="Garamond"/>
                <a:cs typeface="Garamond"/>
              </a:rPr>
              <a:t>Recognize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eight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quarters:</a:t>
            </a:r>
            <a:endParaRPr sz="1100">
              <a:latin typeface="Garamond"/>
              <a:cs typeface="Garamond"/>
            </a:endParaRPr>
          </a:p>
          <a:p>
            <a:pPr marL="2007235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$100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1.03</a:t>
            </a:r>
            <a:r>
              <a:rPr dirty="0" baseline="21367" sz="975" spc="15">
                <a:latin typeface="Garamond"/>
                <a:cs typeface="Garamond"/>
              </a:rPr>
              <a:t>8</a:t>
            </a:r>
            <a:r>
              <a:rPr dirty="0" baseline="21367" sz="975" spc="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$126.68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635000" indent="-229235">
              <a:lnSpc>
                <a:spcPct val="100000"/>
              </a:lnSpc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>
                <a:latin typeface="Garamond"/>
                <a:cs typeface="Garamond"/>
              </a:rPr>
              <a:t>Using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EAR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years:</a:t>
            </a:r>
            <a:endParaRPr sz="1100">
              <a:latin typeface="Garamond"/>
              <a:cs typeface="Garamond"/>
            </a:endParaRPr>
          </a:p>
          <a:p>
            <a:pPr marL="2007235">
              <a:lnSpc>
                <a:spcPct val="100000"/>
              </a:lnSpc>
              <a:spcBef>
                <a:spcPts val="1200"/>
              </a:spcBef>
            </a:pPr>
            <a:r>
              <a:rPr dirty="0" sz="1100" spc="5">
                <a:latin typeface="Garamond"/>
                <a:cs typeface="Garamond"/>
              </a:rPr>
              <a:t>$100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1.1255</a:t>
            </a:r>
            <a:r>
              <a:rPr dirty="0" baseline="21367" sz="975" spc="7">
                <a:latin typeface="Garamond"/>
                <a:cs typeface="Garamond"/>
              </a:rPr>
              <a:t>2</a:t>
            </a:r>
            <a:r>
              <a:rPr dirty="0" baseline="21367" sz="975" spc="-4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$126.68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635000" marR="260985" indent="-228600">
              <a:lnSpc>
                <a:spcPts val="1260"/>
              </a:lnSpc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>
                <a:latin typeface="Garamond"/>
                <a:cs typeface="Garamond"/>
              </a:rPr>
              <a:t>Anytime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5">
                <a:latin typeface="Garamond"/>
                <a:cs typeface="Garamond"/>
              </a:rPr>
              <a:t>do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present </a:t>
            </a:r>
            <a:r>
              <a:rPr dirty="0" sz="1100">
                <a:latin typeface="Garamond"/>
                <a:cs typeface="Garamond"/>
              </a:rPr>
              <a:t>value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future value </a:t>
            </a:r>
            <a:r>
              <a:rPr dirty="0" sz="1100" spc="-5">
                <a:latin typeface="Garamond"/>
                <a:cs typeface="Garamond"/>
              </a:rPr>
              <a:t>calculation,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rate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5">
                <a:latin typeface="Garamond"/>
                <a:cs typeface="Garamond"/>
              </a:rPr>
              <a:t>use </a:t>
            </a:r>
            <a:r>
              <a:rPr dirty="0" sz="1100">
                <a:latin typeface="Garamond"/>
                <a:cs typeface="Garamond"/>
              </a:rPr>
              <a:t>must </a:t>
            </a:r>
            <a:r>
              <a:rPr dirty="0" sz="1100" spc="-10">
                <a:latin typeface="Garamond"/>
                <a:cs typeface="Garamond"/>
              </a:rPr>
              <a:t>be </a:t>
            </a:r>
            <a:r>
              <a:rPr dirty="0" sz="1100" spc="10">
                <a:latin typeface="Garamond"/>
                <a:cs typeface="Garamond"/>
              </a:rPr>
              <a:t>an </a:t>
            </a:r>
            <a:r>
              <a:rPr dirty="0" sz="1100">
                <a:latin typeface="Garamond"/>
                <a:cs typeface="Garamond"/>
              </a:rPr>
              <a:t>actual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effective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778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Annual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Percentage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635000" marR="298450" indent="-228600">
              <a:lnSpc>
                <a:spcPts val="1220"/>
              </a:lnSpc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>
                <a:latin typeface="Garamond"/>
                <a:cs typeface="Garamond"/>
              </a:rPr>
              <a:t>Annual percentage </a:t>
            </a:r>
            <a:r>
              <a:rPr dirty="0" sz="1100" spc="-5">
                <a:latin typeface="Garamond"/>
                <a:cs typeface="Garamond"/>
              </a:rPr>
              <a:t>rate </a:t>
            </a:r>
            <a:r>
              <a:rPr dirty="0" sz="1100" spc="-10">
                <a:latin typeface="Garamond"/>
                <a:cs typeface="Garamond"/>
              </a:rPr>
              <a:t>(APR)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interest rate charged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>
                <a:latin typeface="Garamond"/>
                <a:cs typeface="Garamond"/>
              </a:rPr>
              <a:t>period multiplied </a:t>
            </a:r>
            <a:r>
              <a:rPr dirty="0" sz="1100" spc="5">
                <a:latin typeface="Garamond"/>
                <a:cs typeface="Garamond"/>
              </a:rPr>
              <a:t>by the </a:t>
            </a:r>
            <a:r>
              <a:rPr dirty="0" sz="1100">
                <a:latin typeface="Garamond"/>
                <a:cs typeface="Garamond"/>
              </a:rPr>
              <a:t>number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periods</a:t>
            </a:r>
            <a:r>
              <a:rPr dirty="0" sz="1100" spc="5">
                <a:latin typeface="Garamond"/>
                <a:cs typeface="Garamond"/>
              </a:rPr>
              <a:t> per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635000" marR="323850" indent="-228600">
              <a:lnSpc>
                <a:spcPts val="1220"/>
              </a:lnSpc>
              <a:spcBef>
                <a:spcPts val="190"/>
              </a:spcBef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 spc="5">
                <a:latin typeface="Garamond"/>
                <a:cs typeface="Garamond"/>
              </a:rPr>
              <a:t>Laws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5">
                <a:latin typeface="Garamond"/>
                <a:cs typeface="Garamond"/>
              </a:rPr>
              <a:t>some </a:t>
            </a:r>
            <a:r>
              <a:rPr dirty="0" sz="1100">
                <a:latin typeface="Garamond"/>
                <a:cs typeface="Garamond"/>
              </a:rPr>
              <a:t>countries </a:t>
            </a:r>
            <a:r>
              <a:rPr dirty="0" sz="1100" spc="-5">
                <a:latin typeface="Garamond"/>
                <a:cs typeface="Garamond"/>
              </a:rPr>
              <a:t>require that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lenders disclose </a:t>
            </a:r>
            <a:r>
              <a:rPr dirty="0" sz="1100" spc="10">
                <a:latin typeface="Garamond"/>
                <a:cs typeface="Garamond"/>
              </a:rPr>
              <a:t>an </a:t>
            </a:r>
            <a:r>
              <a:rPr dirty="0" sz="1100">
                <a:latin typeface="Garamond"/>
                <a:cs typeface="Garamond"/>
              </a:rPr>
              <a:t>APR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-5">
                <a:latin typeface="Garamond"/>
                <a:cs typeface="Garamond"/>
              </a:rPr>
              <a:t>virtually </a:t>
            </a:r>
            <a:r>
              <a:rPr dirty="0" sz="1100" spc="5">
                <a:latin typeface="Garamond"/>
                <a:cs typeface="Garamond"/>
              </a:rPr>
              <a:t>all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consumer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loans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prominent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un-ambiguous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way.</a:t>
            </a:r>
            <a:endParaRPr sz="1100">
              <a:latin typeface="Garamond"/>
              <a:cs typeface="Garamond"/>
            </a:endParaRPr>
          </a:p>
          <a:p>
            <a:pPr marL="635000" marR="469900" indent="-228600">
              <a:lnSpc>
                <a:spcPts val="1260"/>
              </a:lnSpc>
              <a:spcBef>
                <a:spcPts val="160"/>
              </a:spcBef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typical credit </a:t>
            </a:r>
            <a:r>
              <a:rPr dirty="0" sz="1100" spc="-5">
                <a:latin typeface="Garamond"/>
                <a:cs typeface="Garamond"/>
              </a:rPr>
              <a:t>card </a:t>
            </a:r>
            <a:r>
              <a:rPr dirty="0" sz="1100">
                <a:latin typeface="Garamond"/>
                <a:cs typeface="Garamond"/>
              </a:rPr>
              <a:t>agreement </a:t>
            </a:r>
            <a:r>
              <a:rPr dirty="0" sz="1100" spc="-5">
                <a:latin typeface="Garamond"/>
                <a:cs typeface="Garamond"/>
              </a:rPr>
              <a:t>quotes </a:t>
            </a:r>
            <a:r>
              <a:rPr dirty="0" sz="1100" spc="10">
                <a:latin typeface="Garamond"/>
                <a:cs typeface="Garamond"/>
              </a:rPr>
              <a:t>an </a:t>
            </a:r>
            <a:r>
              <a:rPr dirty="0" sz="1100" spc="-5">
                <a:latin typeface="Garamond"/>
                <a:cs typeface="Garamond"/>
              </a:rPr>
              <a:t>interest rate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18% APR. Monthly payments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required.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card </a:t>
            </a:r>
            <a:r>
              <a:rPr dirty="0" sz="1100" spc="5">
                <a:latin typeface="Garamond"/>
                <a:cs typeface="Garamond"/>
              </a:rPr>
              <a:t>?</a:t>
            </a:r>
            <a:endParaRPr sz="1100">
              <a:latin typeface="Garamond"/>
              <a:cs typeface="Garamond"/>
            </a:endParaRPr>
          </a:p>
          <a:p>
            <a:pPr marL="6350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>
                <a:latin typeface="Garamond"/>
                <a:cs typeface="Garamond"/>
              </a:rPr>
              <a:t>APR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18%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monthly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0.18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12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0.015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1.5%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month.</a:t>
            </a:r>
            <a:endParaRPr sz="1100">
              <a:latin typeface="Garamond"/>
              <a:cs typeface="Garamond"/>
            </a:endParaRPr>
          </a:p>
          <a:p>
            <a:pPr marL="635000" indent="-229235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endParaRPr sz="1100">
              <a:latin typeface="Garamond"/>
              <a:cs typeface="Garamond"/>
            </a:endParaRPr>
          </a:p>
          <a:p>
            <a:pPr marL="2007235" marR="2414270">
              <a:lnSpc>
                <a:spcPts val="1230"/>
              </a:lnSpc>
              <a:spcBef>
                <a:spcPts val="85"/>
              </a:spcBef>
            </a:pPr>
            <a:r>
              <a:rPr dirty="0" sz="1100">
                <a:latin typeface="Garamond"/>
                <a:cs typeface="Garamond"/>
              </a:rPr>
              <a:t>EAR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5">
                <a:latin typeface="Garamond"/>
                <a:cs typeface="Garamond"/>
              </a:rPr>
              <a:t>(1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5">
                <a:latin typeface="Garamond"/>
                <a:cs typeface="Garamond"/>
              </a:rPr>
              <a:t>0.18/12)</a:t>
            </a:r>
            <a:r>
              <a:rPr dirty="0" baseline="21367" sz="975" spc="7">
                <a:latin typeface="Garamond"/>
                <a:cs typeface="Garamond"/>
              </a:rPr>
              <a:t>12 </a:t>
            </a:r>
            <a:r>
              <a:rPr dirty="0" sz="1100" spc="5">
                <a:latin typeface="Garamond"/>
                <a:cs typeface="Garamond"/>
              </a:rPr>
              <a:t>– 1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10.15</a:t>
            </a:r>
            <a:r>
              <a:rPr dirty="0" baseline="21367" sz="975">
                <a:latin typeface="Garamond"/>
                <a:cs typeface="Garamond"/>
              </a:rPr>
              <a:t>12</a:t>
            </a:r>
            <a:r>
              <a:rPr dirty="0" baseline="21367" sz="975" spc="17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19.56%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Garamond"/>
              <a:cs typeface="Garamond"/>
            </a:endParaRPr>
          </a:p>
          <a:p>
            <a:pPr marL="1778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Loans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635000" marR="266065" indent="-228600">
              <a:lnSpc>
                <a:spcPts val="1260"/>
              </a:lnSpc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>
                <a:latin typeface="Garamond"/>
                <a:cs typeface="Garamond"/>
              </a:rPr>
              <a:t>Whenever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lender </a:t>
            </a:r>
            <a:r>
              <a:rPr dirty="0" sz="1100">
                <a:latin typeface="Garamond"/>
                <a:cs typeface="Garamond"/>
              </a:rPr>
              <a:t>extends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loan, some provision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10">
                <a:latin typeface="Garamond"/>
                <a:cs typeface="Garamond"/>
              </a:rPr>
              <a:t>be </a:t>
            </a:r>
            <a:r>
              <a:rPr dirty="0" sz="1100" spc="5">
                <a:latin typeface="Garamond"/>
                <a:cs typeface="Garamond"/>
              </a:rPr>
              <a:t>made for </a:t>
            </a:r>
            <a:r>
              <a:rPr dirty="0" sz="1100" spc="-5">
                <a:latin typeface="Garamond"/>
                <a:cs typeface="Garamond"/>
              </a:rPr>
              <a:t>repayment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principal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amount.</a:t>
            </a:r>
            <a:endParaRPr sz="1100">
              <a:latin typeface="Garamond"/>
              <a:cs typeface="Garamond"/>
            </a:endParaRPr>
          </a:p>
          <a:p>
            <a:pPr marL="635000" indent="-229235">
              <a:lnSpc>
                <a:spcPts val="1270"/>
              </a:lnSpc>
              <a:spcBef>
                <a:spcPts val="50"/>
              </a:spcBef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 spc="5">
                <a:latin typeface="Garamond"/>
                <a:cs typeface="Garamond"/>
              </a:rPr>
              <a:t>Here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discuss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repayment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principle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patterns.</a:t>
            </a:r>
            <a:endParaRPr sz="1100">
              <a:latin typeface="Garamond"/>
              <a:cs typeface="Garamond"/>
            </a:endParaRPr>
          </a:p>
          <a:p>
            <a:pPr lvl="1" marL="864235" indent="-229870">
              <a:lnSpc>
                <a:spcPts val="1245"/>
              </a:lnSpc>
              <a:buFont typeface="Courier New"/>
              <a:buChar char="o"/>
              <a:tabLst>
                <a:tab pos="863600" algn="l"/>
                <a:tab pos="864869" algn="l"/>
              </a:tabLst>
            </a:pPr>
            <a:r>
              <a:rPr dirty="0" sz="1100" spc="-5">
                <a:latin typeface="Garamond"/>
                <a:cs typeface="Garamond"/>
              </a:rPr>
              <a:t>Pure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Loans</a:t>
            </a:r>
            <a:endParaRPr sz="1100">
              <a:latin typeface="Garamond"/>
              <a:cs typeface="Garamond"/>
            </a:endParaRPr>
          </a:p>
          <a:p>
            <a:pPr lvl="1" marL="864235" indent="-229870">
              <a:lnSpc>
                <a:spcPts val="1245"/>
              </a:lnSpc>
              <a:buFont typeface="Courier New"/>
              <a:buChar char="o"/>
              <a:tabLst>
                <a:tab pos="863600" algn="l"/>
                <a:tab pos="864869" algn="l"/>
              </a:tabLst>
            </a:pPr>
            <a:r>
              <a:rPr dirty="0" sz="1100" spc="-5">
                <a:latin typeface="Garamond"/>
                <a:cs typeface="Garamond"/>
              </a:rPr>
              <a:t>Interest-only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Loans</a:t>
            </a:r>
            <a:endParaRPr sz="1100">
              <a:latin typeface="Garamond"/>
              <a:cs typeface="Garamond"/>
            </a:endParaRPr>
          </a:p>
          <a:p>
            <a:pPr lvl="1" marL="864235" indent="-229870">
              <a:lnSpc>
                <a:spcPts val="1270"/>
              </a:lnSpc>
              <a:buFont typeface="Courier New"/>
              <a:buChar char="o"/>
              <a:tabLst>
                <a:tab pos="863600" algn="l"/>
                <a:tab pos="864869" algn="l"/>
              </a:tabLst>
            </a:pPr>
            <a:r>
              <a:rPr dirty="0" sz="1100">
                <a:latin typeface="Garamond"/>
                <a:cs typeface="Garamond"/>
              </a:rPr>
              <a:t>Amortized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Loans</a:t>
            </a:r>
            <a:endParaRPr sz="1100">
              <a:latin typeface="Garamond"/>
              <a:cs typeface="Garamond"/>
            </a:endParaRPr>
          </a:p>
          <a:p>
            <a:pPr marL="4064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Pure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Discount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Loans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6350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repays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single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lump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future.</a:t>
            </a:r>
            <a:endParaRPr sz="1100">
              <a:latin typeface="Garamond"/>
              <a:cs typeface="Garamond"/>
            </a:endParaRPr>
          </a:p>
          <a:p>
            <a:pPr marL="635000" marR="30988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635000" algn="l"/>
                <a:tab pos="635635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borrower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repay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$25,000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years.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Given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12%,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lender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should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lend?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Garamond"/>
              <a:cs typeface="Garamond"/>
            </a:endParaRPr>
          </a:p>
          <a:p>
            <a:pPr marL="2007235" marR="2288540">
              <a:lnSpc>
                <a:spcPts val="1220"/>
              </a:lnSpc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$25,000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1.12</a:t>
            </a:r>
            <a:r>
              <a:rPr dirty="0" baseline="21367" sz="975" spc="7">
                <a:latin typeface="Garamond"/>
                <a:cs typeface="Garamond"/>
              </a:rPr>
              <a:t>5 </a:t>
            </a:r>
            <a:r>
              <a:rPr dirty="0" baseline="21367" sz="975" spc="-2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$14,186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44515" cy="32835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Interest-Only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Loans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5715" indent="-228600">
              <a:lnSpc>
                <a:spcPts val="122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Calls for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borrower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pay </a:t>
            </a:r>
            <a:r>
              <a:rPr dirty="0" sz="1100" spc="-5">
                <a:latin typeface="Garamond"/>
                <a:cs typeface="Garamond"/>
              </a:rPr>
              <a:t>interest </a:t>
            </a:r>
            <a:r>
              <a:rPr dirty="0" sz="1100">
                <a:latin typeface="Garamond"/>
                <a:cs typeface="Garamond"/>
              </a:rPr>
              <a:t>each period </a:t>
            </a:r>
            <a:r>
              <a:rPr dirty="0" sz="1100" spc="-15">
                <a:latin typeface="Garamond"/>
                <a:cs typeface="Garamond"/>
              </a:rPr>
              <a:t>and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repay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entire principal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some </a:t>
            </a:r>
            <a:r>
              <a:rPr dirty="0" sz="1100" spc="5">
                <a:latin typeface="Garamond"/>
                <a:cs typeface="Garamond"/>
              </a:rPr>
              <a:t>time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future.</a:t>
            </a:r>
            <a:endParaRPr sz="1100">
              <a:latin typeface="Garamond"/>
              <a:cs typeface="Garamond"/>
            </a:endParaRPr>
          </a:p>
          <a:p>
            <a:pPr marL="469900" marR="45085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3-year,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10%,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interest-only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0.10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end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second </a:t>
            </a:r>
            <a:r>
              <a:rPr dirty="0" sz="1100" spc="-5">
                <a:latin typeface="Garamond"/>
                <a:cs typeface="Garamond"/>
              </a:rPr>
              <a:t>years,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third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plus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2413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Amortized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Loans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Amortized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borrower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repay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parts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2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process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paying </a:t>
            </a:r>
            <a:r>
              <a:rPr dirty="0" sz="1100" spc="-10">
                <a:latin typeface="Garamond"/>
                <a:cs typeface="Garamond"/>
              </a:rPr>
              <a:t>off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loan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>
                <a:latin typeface="Garamond"/>
                <a:cs typeface="Garamond"/>
              </a:rPr>
              <a:t>making </a:t>
            </a:r>
            <a:r>
              <a:rPr dirty="0" sz="1100" spc="-5">
                <a:latin typeface="Garamond"/>
                <a:cs typeface="Garamond"/>
              </a:rPr>
              <a:t>regular principal </a:t>
            </a:r>
            <a:r>
              <a:rPr dirty="0" sz="1100">
                <a:latin typeface="Garamond"/>
                <a:cs typeface="Garamond"/>
              </a:rPr>
              <a:t>deductions is called </a:t>
            </a:r>
            <a:r>
              <a:rPr dirty="0" sz="1100" spc="-5">
                <a:latin typeface="Garamond"/>
                <a:cs typeface="Garamond"/>
              </a:rPr>
              <a:t>amortizing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loan.</a:t>
            </a:r>
            <a:r>
              <a:rPr dirty="0" sz="1100" spc="10">
                <a:latin typeface="Garamond"/>
                <a:cs typeface="Garamond"/>
              </a:rPr>
              <a:t> A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amortized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ways:</a:t>
            </a:r>
            <a:endParaRPr sz="1100">
              <a:latin typeface="Garamond"/>
              <a:cs typeface="Garamond"/>
            </a:endParaRPr>
          </a:p>
          <a:p>
            <a:pPr lvl="1" marL="927735" marR="248285" indent="-228600">
              <a:lnSpc>
                <a:spcPts val="1220"/>
              </a:lnSpc>
              <a:spcBef>
                <a:spcPts val="45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Borrower pays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interest </a:t>
            </a:r>
            <a:r>
              <a:rPr dirty="0" sz="1100">
                <a:latin typeface="Garamond"/>
                <a:cs typeface="Garamond"/>
              </a:rPr>
              <a:t>each period plus </a:t>
            </a:r>
            <a:r>
              <a:rPr dirty="0" sz="1100" spc="-5">
                <a:latin typeface="Garamond"/>
                <a:cs typeface="Garamond"/>
              </a:rPr>
              <a:t>some fixed </a:t>
            </a:r>
            <a:r>
              <a:rPr dirty="0" sz="1100">
                <a:latin typeface="Garamond"/>
                <a:cs typeface="Garamond"/>
              </a:rPr>
              <a:t>amount, </a:t>
            </a:r>
            <a:r>
              <a:rPr dirty="0" sz="1100" spc="-5">
                <a:latin typeface="Garamond"/>
                <a:cs typeface="Garamond"/>
              </a:rPr>
              <a:t>e.g. </a:t>
            </a:r>
            <a:r>
              <a:rPr dirty="0" sz="1100">
                <a:latin typeface="Garamond"/>
                <a:cs typeface="Garamond"/>
              </a:rPr>
              <a:t>medium-term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</a:t>
            </a:r>
            <a:r>
              <a:rPr dirty="0" sz="1100" spc="-5">
                <a:latin typeface="Garamond"/>
                <a:cs typeface="Garamond"/>
              </a:rPr>
              <a:t> loans.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0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Borrower </a:t>
            </a:r>
            <a:r>
              <a:rPr dirty="0" sz="1100" spc="-5">
                <a:latin typeface="Garamond"/>
                <a:cs typeface="Garamond"/>
              </a:rPr>
              <a:t>makes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single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car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loans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mortgages.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Amortization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Schedule</a:t>
            </a:r>
            <a:r>
              <a:rPr dirty="0" sz="1100" spc="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-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Fixed</a:t>
            </a:r>
            <a:r>
              <a:rPr dirty="0" sz="1100" spc="-5" b="1">
                <a:latin typeface="Garamond"/>
                <a:cs typeface="Garamond"/>
              </a:rPr>
              <a:t> Principal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$5000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9%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69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20749" y="4153153"/>
          <a:ext cx="5782945" cy="1396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725"/>
                <a:gridCol w="1123950"/>
                <a:gridCol w="1043939"/>
                <a:gridCol w="945514"/>
                <a:gridCol w="1137920"/>
                <a:gridCol w="935354"/>
              </a:tblGrid>
              <a:tr h="315467">
                <a:tc>
                  <a:txBody>
                    <a:bodyPr/>
                    <a:lstStyle/>
                    <a:p>
                      <a:pPr algn="ctr" marR="7112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6515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ts val="111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Beginning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274955">
                        <a:lnSpc>
                          <a:spcPts val="127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Balance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Payment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6515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Paid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6515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890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Principal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Paid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6515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111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Ending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94945">
                        <a:lnSpc>
                          <a:spcPts val="127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Balance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7223">
                <a:tc>
                  <a:txBody>
                    <a:bodyPr/>
                    <a:lstStyle/>
                    <a:p>
                      <a:pPr algn="ctr" marR="7175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1,450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206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450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9715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731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4,000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ctr" marR="70485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1,360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901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98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algn="ctr" marR="70485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1,270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901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98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algn="ctr" marR="70485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1,180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901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98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algn="ctr" marR="70485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1,090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2065">
                        <a:lnSpc>
                          <a:spcPts val="1275"/>
                        </a:lnSpc>
                      </a:pPr>
                      <a:r>
                        <a:rPr dirty="0" u="sng" sz="1100" spc="2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90170">
                        <a:lnSpc>
                          <a:spcPts val="127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98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1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18820">
                        <a:lnSpc>
                          <a:spcPts val="125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u="dbl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dbl" sz="1100" spc="-2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6,350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5875">
                        <a:lnSpc>
                          <a:spcPts val="1250"/>
                        </a:lnSpc>
                      </a:pPr>
                      <a:r>
                        <a:rPr dirty="0" u="dbl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dbl" sz="1100" spc="-2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1,350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97155">
                        <a:lnSpc>
                          <a:spcPts val="1250"/>
                        </a:lnSpc>
                      </a:pPr>
                      <a:r>
                        <a:rPr dirty="0" u="dbl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dbl" sz="1100" spc="-2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51229" y="5700140"/>
            <a:ext cx="5619115" cy="19615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Amortization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Schedule</a:t>
            </a:r>
            <a:r>
              <a:rPr dirty="0" sz="1100" spc="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-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Fixed</a:t>
            </a:r>
            <a:r>
              <a:rPr dirty="0" sz="1100" spc="-5" b="1">
                <a:latin typeface="Garamond"/>
                <a:cs typeface="Garamond"/>
              </a:rPr>
              <a:t> Payments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95300" marR="30480" indent="-228600">
              <a:lnSpc>
                <a:spcPts val="126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Again,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$5,000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9%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-5">
                <a:latin typeface="Garamond"/>
                <a:cs typeface="Garamond"/>
              </a:rPr>
              <a:t> years;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determine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payment.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loan’s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ordinary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annuity.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solving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payments:</a:t>
            </a:r>
            <a:endParaRPr sz="1100">
              <a:latin typeface="Garamond"/>
              <a:cs typeface="Garamond"/>
            </a:endParaRPr>
          </a:p>
          <a:p>
            <a:pPr marL="1867535">
              <a:lnSpc>
                <a:spcPts val="1270"/>
              </a:lnSpc>
              <a:spcBef>
                <a:spcPts val="1205"/>
              </a:spcBef>
            </a:pPr>
            <a:r>
              <a:rPr dirty="0" sz="1100">
                <a:latin typeface="Garamond"/>
                <a:cs typeface="Garamond"/>
              </a:rPr>
              <a:t>$5,000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1/0.09</a:t>
            </a:r>
            <a:r>
              <a:rPr dirty="0" baseline="21367" sz="975" spc="7">
                <a:latin typeface="Garamond"/>
                <a:cs typeface="Garamond"/>
              </a:rPr>
              <a:t>5</a:t>
            </a:r>
            <a:r>
              <a:rPr dirty="0" sz="1100" spc="5">
                <a:latin typeface="Garamond"/>
                <a:cs typeface="Garamond"/>
              </a:rPr>
              <a:t>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0.09</a:t>
            </a:r>
            <a:endParaRPr sz="1100">
              <a:latin typeface="Garamond"/>
              <a:cs typeface="Garamond"/>
            </a:endParaRPr>
          </a:p>
          <a:p>
            <a:pPr marL="1867535" marR="1989455">
              <a:lnSpc>
                <a:spcPts val="1220"/>
              </a:lnSpc>
              <a:spcBef>
                <a:spcPts val="75"/>
              </a:spcBef>
            </a:pPr>
            <a:r>
              <a:rPr dirty="0" sz="1100">
                <a:latin typeface="Garamond"/>
                <a:cs typeface="Garamond"/>
              </a:rPr>
              <a:t>$5,000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0.6499)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0.09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3.8897</a:t>
            </a:r>
            <a:endParaRPr sz="1100">
              <a:latin typeface="Garamond"/>
              <a:cs typeface="Garamond"/>
            </a:endParaRPr>
          </a:p>
          <a:p>
            <a:pPr marL="1867535">
              <a:lnSpc>
                <a:spcPts val="1240"/>
              </a:lnSpc>
            </a:pP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$1,285.46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Amortization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Schedule</a:t>
            </a:r>
            <a:r>
              <a:rPr dirty="0" sz="1100" spc="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-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Fixed</a:t>
            </a:r>
            <a:r>
              <a:rPr dirty="0" sz="1100" spc="-5" b="1">
                <a:latin typeface="Garamond"/>
                <a:cs typeface="Garamond"/>
              </a:rPr>
              <a:t> Payments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120749" y="7816850"/>
          <a:ext cx="5782945" cy="1400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294"/>
                <a:gridCol w="1064895"/>
                <a:gridCol w="1058545"/>
                <a:gridCol w="794384"/>
                <a:gridCol w="1119505"/>
                <a:gridCol w="911225"/>
              </a:tblGrid>
              <a:tr h="320268">
                <a:tc>
                  <a:txBody>
                    <a:bodyPr/>
                    <a:lstStyle/>
                    <a:p>
                      <a:pPr algn="ctr" marL="7620">
                        <a:lnSpc>
                          <a:spcPts val="112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Beginning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8255">
                        <a:lnSpc>
                          <a:spcPts val="129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2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Balance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6515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Payment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6515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12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Interest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Paid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09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Principal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Paid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6515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ts val="112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Ending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92405">
                        <a:lnSpc>
                          <a:spcPts val="129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Balance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7185">
                <a:tc>
                  <a:txBody>
                    <a:bodyPr/>
                    <a:lstStyle/>
                    <a:p>
                      <a:pPr algn="ctr" marL="6350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3909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1,285.46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450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835.46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4445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4,164.54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L="762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4,164.54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1,285.46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374.81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910.65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445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3,253.89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algn="ctr" marL="762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3,253.88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1,285.46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292.85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286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992.61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445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2,261.28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algn="ctr" marL="762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2,261.27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1,285.46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203.51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841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1,081.95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445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1,179.32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7">
                <a:tc>
                  <a:txBody>
                    <a:bodyPr/>
                    <a:lstStyle/>
                    <a:p>
                      <a:pPr algn="ctr" marL="762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1,179.32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ts val="1275"/>
                        </a:lnSpc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1,285.46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27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106.13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8415">
                        <a:lnSpc>
                          <a:spcPts val="1275"/>
                        </a:lnSpc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1,179.23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1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7545">
                        <a:lnSpc>
                          <a:spcPts val="125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1275">
                        <a:lnSpc>
                          <a:spcPts val="1250"/>
                        </a:lnSpc>
                      </a:pPr>
                      <a:r>
                        <a:rPr dirty="0" u="dbl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dbl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6,427.30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u="dbl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dbl" sz="1100" spc="-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1,427.30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8415">
                        <a:lnSpc>
                          <a:spcPts val="1250"/>
                        </a:lnSpc>
                      </a:pPr>
                      <a:r>
                        <a:rPr dirty="0" u="dbl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dbl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5000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26022" y="714501"/>
            <a:ext cx="80073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17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70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13129" y="883665"/>
            <a:ext cx="5799455" cy="87630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BONDS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Garamond"/>
              <a:cs typeface="Garamond"/>
            </a:endParaRPr>
          </a:p>
          <a:p>
            <a:pPr marL="533400" indent="-229235">
              <a:lnSpc>
                <a:spcPct val="100000"/>
              </a:lnSpc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evidence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issued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governmental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body.</a:t>
            </a:r>
            <a:endParaRPr sz="1100">
              <a:latin typeface="Garamond"/>
              <a:cs typeface="Garamond"/>
            </a:endParaRPr>
          </a:p>
          <a:p>
            <a:pPr marL="533400" marR="7874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(or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government)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wishes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public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basis,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does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issuing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selling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generally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 marL="533400" marR="7747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represents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loan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made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investors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issuer.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his/her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legal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claim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borrower.</a:t>
            </a:r>
            <a:endParaRPr sz="1100">
              <a:latin typeface="Garamond"/>
              <a:cs typeface="Garamond"/>
            </a:endParaRPr>
          </a:p>
          <a:p>
            <a:pPr marL="533400" indent="-229235">
              <a:lnSpc>
                <a:spcPts val="1290"/>
              </a:lnSpc>
              <a:spcBef>
                <a:spcPts val="15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issuer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promises </a:t>
            </a:r>
            <a:r>
              <a:rPr dirty="0" sz="1100" spc="-10">
                <a:latin typeface="Garamond"/>
                <a:cs typeface="Garamond"/>
              </a:rPr>
              <a:t>to: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60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 spc="5">
                <a:latin typeface="Garamond"/>
                <a:cs typeface="Garamond"/>
              </a:rPr>
              <a:t>Make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regular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 period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until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matures,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90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face/par/maturity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matures.</a:t>
            </a:r>
            <a:endParaRPr sz="1100">
              <a:latin typeface="Garamond"/>
              <a:cs typeface="Garamond"/>
            </a:endParaRPr>
          </a:p>
          <a:p>
            <a:pPr marL="533400" marR="7810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>
                <a:latin typeface="Garamond"/>
                <a:cs typeface="Garamond"/>
              </a:rPr>
              <a:t>Default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since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abovementioned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promises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contractual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obligations,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fails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keep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subject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legal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behalf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lenders</a:t>
            </a:r>
            <a:r>
              <a:rPr dirty="0" sz="1100">
                <a:latin typeface="Garamond"/>
                <a:cs typeface="Garamond"/>
              </a:rPr>
              <a:t> (bondholders).</a:t>
            </a:r>
            <a:endParaRPr sz="1100">
              <a:latin typeface="Garamond"/>
              <a:cs typeface="Garamond"/>
            </a:endParaRPr>
          </a:p>
          <a:p>
            <a:pPr marL="533400" indent="-229235">
              <a:lnSpc>
                <a:spcPts val="1290"/>
              </a:lnSpc>
              <a:spcBef>
                <a:spcPts val="20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Corporation: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45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 spc="5">
                <a:latin typeface="Garamond"/>
                <a:cs typeface="Garamond"/>
              </a:rPr>
              <a:t>Wants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borrow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12 </a:t>
            </a:r>
            <a:r>
              <a:rPr dirty="0" sz="1100" spc="10">
                <a:latin typeface="Garamond"/>
                <a:cs typeface="Garamond"/>
              </a:rPr>
              <a:t>%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40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 spc="-5">
                <a:latin typeface="Garamond"/>
                <a:cs typeface="Garamond"/>
              </a:rPr>
              <a:t>Will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0.12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$120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90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 spc="-5">
                <a:latin typeface="Garamond"/>
                <a:cs typeface="Garamond"/>
              </a:rPr>
              <a:t>Will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repay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 marL="533400" indent="-229235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45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 spc="5">
                <a:latin typeface="Garamond"/>
                <a:cs typeface="Garamond"/>
              </a:rPr>
              <a:t>$120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regular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coupons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25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>
                <a:latin typeface="Garamond"/>
                <a:cs typeface="Garamond"/>
              </a:rPr>
              <a:t>$1,000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40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>
                <a:latin typeface="Garamond"/>
                <a:cs typeface="Garamond"/>
              </a:rPr>
              <a:t>Annual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($120/$1000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12%)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90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 spc="15">
                <a:latin typeface="Garamond"/>
                <a:cs typeface="Garamond"/>
              </a:rPr>
              <a:t>30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endParaRPr sz="1100">
              <a:latin typeface="Garamond"/>
              <a:cs typeface="Garamond"/>
            </a:endParaRPr>
          </a:p>
          <a:p>
            <a:pPr marL="76200">
              <a:lnSpc>
                <a:spcPct val="100000"/>
              </a:lnSpc>
              <a:spcBef>
                <a:spcPts val="1170"/>
              </a:spcBef>
            </a:pPr>
            <a:r>
              <a:rPr dirty="0" sz="1100" spc="5" b="1">
                <a:latin typeface="Garamond"/>
                <a:cs typeface="Garamond"/>
              </a:rPr>
              <a:t>Bond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Values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Yields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Garamond"/>
              <a:cs typeface="Garamond"/>
            </a:endParaRPr>
          </a:p>
          <a:p>
            <a:pPr marL="533400" marR="68580" indent="-228600">
              <a:lnSpc>
                <a:spcPts val="1260"/>
              </a:lnSpc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may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fluctuate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place,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though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remain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same.</a:t>
            </a:r>
            <a:endParaRPr sz="1100">
              <a:latin typeface="Garamond"/>
              <a:cs typeface="Garamond"/>
            </a:endParaRPr>
          </a:p>
          <a:p>
            <a:pPr marL="533400" marR="7239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rise,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bond’s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remaining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decline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less</a:t>
            </a:r>
            <a:endParaRPr sz="1100">
              <a:latin typeface="Garamond"/>
              <a:cs typeface="Garamond"/>
            </a:endParaRPr>
          </a:p>
          <a:p>
            <a:pPr marL="533400" indent="-229235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 fall,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worth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more.</a:t>
            </a:r>
            <a:endParaRPr sz="1100">
              <a:latin typeface="Garamond"/>
              <a:cs typeface="Garamond"/>
            </a:endParaRPr>
          </a:p>
          <a:p>
            <a:pPr marL="533400" indent="-229235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determine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particular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point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5">
                <a:latin typeface="Garamond"/>
                <a:cs typeface="Garamond"/>
              </a:rPr>
              <a:t>know: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60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 spc="5">
                <a:latin typeface="Garamond"/>
                <a:cs typeface="Garamond"/>
              </a:rPr>
              <a:t>No.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 </a:t>
            </a:r>
            <a:r>
              <a:rPr dirty="0" sz="1100" spc="-10">
                <a:latin typeface="Garamond"/>
                <a:cs typeface="Garamond"/>
              </a:rPr>
              <a:t>remaining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maturity,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45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face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value,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25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coupon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70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similar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 marL="5334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Yield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Maturity</a:t>
            </a:r>
            <a:endParaRPr sz="1100">
              <a:latin typeface="Garamond"/>
              <a:cs typeface="Garamond"/>
            </a:endParaRPr>
          </a:p>
          <a:p>
            <a:pPr marL="533400" marR="73025" indent="-228600">
              <a:lnSpc>
                <a:spcPts val="1260"/>
              </a:lnSpc>
              <a:spcBef>
                <a:spcPts val="145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X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issues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annual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$80.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Similar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8%.</a:t>
            </a:r>
            <a:endParaRPr sz="1100">
              <a:latin typeface="Garamond"/>
              <a:cs typeface="Garamond"/>
            </a:endParaRPr>
          </a:p>
          <a:p>
            <a:pPr marL="533400" indent="-229235">
              <a:lnSpc>
                <a:spcPts val="1270"/>
              </a:lnSpc>
              <a:spcBef>
                <a:spcPts val="50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10">
                <a:latin typeface="Garamond"/>
                <a:cs typeface="Garamond"/>
              </a:rPr>
              <a:t>X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bond’s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components: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45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 spc="5" b="1">
                <a:latin typeface="Garamond"/>
                <a:cs typeface="Garamond"/>
              </a:rPr>
              <a:t>an</a:t>
            </a:r>
            <a:r>
              <a:rPr dirty="0" sz="1100" spc="-5" b="1">
                <a:latin typeface="Garamond"/>
                <a:cs typeface="Garamond"/>
              </a:rPr>
              <a:t> annuity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component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(coupons)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lvl="1" marL="762635" indent="-229870">
              <a:lnSpc>
                <a:spcPts val="1290"/>
              </a:lnSpc>
              <a:buFont typeface="Courier New"/>
              <a:buChar char="o"/>
              <a:tabLst>
                <a:tab pos="762000" algn="l"/>
                <a:tab pos="763270" algn="l"/>
              </a:tabLst>
            </a:pP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lump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sum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(face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paid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at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maturity)</a:t>
            </a:r>
            <a:endParaRPr sz="1100">
              <a:latin typeface="Garamond"/>
              <a:cs typeface="Garamond"/>
            </a:endParaRPr>
          </a:p>
          <a:p>
            <a:pPr marL="5334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  <a:p>
            <a:pPr marL="5334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15">
                <a:latin typeface="Garamond"/>
                <a:cs typeface="Garamond"/>
              </a:rPr>
              <a:t>10</a:t>
            </a:r>
            <a:r>
              <a:rPr dirty="0" sz="1100" spc="-5">
                <a:latin typeface="Garamond"/>
                <a:cs typeface="Garamond"/>
              </a:rPr>
              <a:t> years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448435">
              <a:lnSpc>
                <a:spcPct val="100000"/>
              </a:lnSpc>
              <a:spcBef>
                <a:spcPts val="1170"/>
              </a:spcBef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1.08</a:t>
            </a:r>
            <a:r>
              <a:rPr dirty="0" baseline="21367" sz="975" spc="7">
                <a:latin typeface="Garamond"/>
                <a:cs typeface="Garamond"/>
              </a:rPr>
              <a:t>10</a:t>
            </a:r>
            <a:r>
              <a:rPr dirty="0" baseline="21367" sz="975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2.1589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$463.19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33400" indent="-229235">
              <a:lnSpc>
                <a:spcPct val="100000"/>
              </a:lnSpc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annuity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80$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year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10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1448435" marR="2546985">
              <a:lnSpc>
                <a:spcPts val="1230"/>
              </a:lnSpc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$80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1/1.08</a:t>
            </a:r>
            <a:r>
              <a:rPr dirty="0" baseline="21367" sz="975">
                <a:latin typeface="Garamond"/>
                <a:cs typeface="Garamond"/>
              </a:rPr>
              <a:t>10</a:t>
            </a:r>
            <a:r>
              <a:rPr dirty="0" sz="1100">
                <a:latin typeface="Garamond"/>
                <a:cs typeface="Garamond"/>
              </a:rPr>
              <a:t>)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0.08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$80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6.7101</a:t>
            </a:r>
            <a:endParaRPr sz="1100">
              <a:latin typeface="Garamond"/>
              <a:cs typeface="Garamond"/>
            </a:endParaRPr>
          </a:p>
          <a:p>
            <a:pPr marL="1448435">
              <a:lnSpc>
                <a:spcPts val="1180"/>
              </a:lnSpc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$536.81</a:t>
            </a:r>
            <a:endParaRPr sz="1100">
              <a:latin typeface="Garamond"/>
              <a:cs typeface="Garamond"/>
            </a:endParaRPr>
          </a:p>
          <a:p>
            <a:pPr marL="76200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334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add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parts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3529965" cy="100076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384935" marR="5080">
              <a:lnSpc>
                <a:spcPts val="1220"/>
              </a:lnSpc>
              <a:spcBef>
                <a:spcPts val="240"/>
              </a:spcBef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$463.19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$536.81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</a:t>
            </a:r>
            <a:endParaRPr sz="1100">
              <a:latin typeface="Garamond"/>
              <a:cs typeface="Garamond"/>
            </a:endParaRPr>
          </a:p>
          <a:p>
            <a:pPr marL="12700" marR="46355" indent="228600">
              <a:lnSpc>
                <a:spcPct val="188200"/>
              </a:lnSpc>
              <a:spcBef>
                <a:spcPts val="12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 spc="-5">
                <a:latin typeface="Garamond"/>
                <a:cs typeface="Garamond"/>
              </a:rPr>
              <a:t>means that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bond sells </a:t>
            </a:r>
            <a:r>
              <a:rPr dirty="0" sz="1100" spc="-10">
                <a:latin typeface="Garamond"/>
                <a:cs typeface="Garamond"/>
              </a:rPr>
              <a:t>for </a:t>
            </a:r>
            <a:r>
              <a:rPr dirty="0" sz="1100">
                <a:latin typeface="Garamond"/>
                <a:cs typeface="Garamond"/>
              </a:rPr>
              <a:t>exactly its </a:t>
            </a:r>
            <a:r>
              <a:rPr dirty="0" sz="1100" spc="-5">
                <a:latin typeface="Garamond"/>
                <a:cs typeface="Garamond"/>
              </a:rPr>
              <a:t>face value.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Alternatively,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8529" y="3422395"/>
            <a:ext cx="5763895" cy="49161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0" indent="-22923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5">
                <a:latin typeface="Garamond"/>
                <a:cs typeface="Garamond"/>
              </a:rPr>
              <a:t> rate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-5">
                <a:latin typeface="Garamond"/>
                <a:cs typeface="Garamond"/>
              </a:rPr>
              <a:t> after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(9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maturity)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b="1">
                <a:latin typeface="Garamond"/>
                <a:cs typeface="Garamond"/>
              </a:rPr>
              <a:t>Now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present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$1,000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paid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in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nine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years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at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10%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1423035">
              <a:lnSpc>
                <a:spcPct val="100000"/>
              </a:lnSpc>
              <a:spcBef>
                <a:spcPts val="1165"/>
              </a:spcBef>
            </a:pPr>
            <a:r>
              <a:rPr dirty="0" sz="1100">
                <a:latin typeface="Garamond"/>
                <a:cs typeface="Garamond"/>
              </a:rPr>
              <a:t>$1,000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1.10</a:t>
            </a:r>
            <a:r>
              <a:rPr dirty="0" baseline="21367" sz="975" spc="7">
                <a:latin typeface="Garamond"/>
                <a:cs typeface="Garamond"/>
              </a:rPr>
              <a:t>9</a:t>
            </a:r>
            <a:r>
              <a:rPr dirty="0" baseline="21367" sz="975" spc="1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$1,000/2.3579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$424.10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b="1">
                <a:latin typeface="Garamond"/>
                <a:cs typeface="Garamond"/>
              </a:rPr>
              <a:t>And present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$80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annuity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for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9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years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at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10%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1423035">
              <a:lnSpc>
                <a:spcPct val="100000"/>
              </a:lnSpc>
              <a:spcBef>
                <a:spcPts val="1170"/>
              </a:spcBef>
            </a:pPr>
            <a:r>
              <a:rPr dirty="0" sz="1100">
                <a:latin typeface="Garamond"/>
                <a:cs typeface="Garamond"/>
              </a:rPr>
              <a:t>$80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1/1.10</a:t>
            </a:r>
            <a:r>
              <a:rPr dirty="0" baseline="21367" sz="975">
                <a:latin typeface="Garamond"/>
                <a:cs typeface="Garamond"/>
              </a:rPr>
              <a:t>9</a:t>
            </a:r>
            <a:r>
              <a:rPr dirty="0" sz="1100">
                <a:latin typeface="Garamond"/>
                <a:cs typeface="Garamond"/>
              </a:rPr>
              <a:t>)/0.10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$80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5.7590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$460.72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Adding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both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parts:</a:t>
            </a:r>
            <a:endParaRPr sz="1100">
              <a:latin typeface="Garamond"/>
              <a:cs typeface="Garamond"/>
            </a:endParaRPr>
          </a:p>
          <a:p>
            <a:pPr marL="1423035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$424.10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460.72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$884.82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Therefore,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$885</a:t>
            </a:r>
            <a:endParaRPr sz="1100">
              <a:latin typeface="Garamond"/>
              <a:cs typeface="Garamond"/>
            </a:endParaRPr>
          </a:p>
          <a:p>
            <a:pPr marL="508000" marR="55880" indent="-228600">
              <a:lnSpc>
                <a:spcPts val="1220"/>
              </a:lnSpc>
              <a:spcBef>
                <a:spcPts val="210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going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investors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willing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something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$1,000.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10">
                <a:latin typeface="Garamond"/>
                <a:cs typeface="Garamond"/>
              </a:rPr>
              <a:t>less</a:t>
            </a:r>
            <a:r>
              <a:rPr dirty="0" sz="1100">
                <a:latin typeface="Garamond"/>
                <a:cs typeface="Garamond"/>
              </a:rPr>
              <a:t> than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said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bond.</a:t>
            </a:r>
            <a:endParaRPr sz="1100">
              <a:latin typeface="Garamond"/>
              <a:cs typeface="Garamond"/>
            </a:endParaRPr>
          </a:p>
          <a:p>
            <a:pPr marL="508000" marR="6858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</a:t>
            </a:r>
            <a:r>
              <a:rPr dirty="0" sz="1100">
                <a:latin typeface="Garamond"/>
                <a:cs typeface="Garamond"/>
              </a:rPr>
              <a:t> who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purchased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kept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$80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year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$115</a:t>
            </a:r>
            <a:r>
              <a:rPr dirty="0" sz="1100" spc="-5">
                <a:latin typeface="Garamond"/>
                <a:cs typeface="Garamond"/>
              </a:rPr>
              <a:t> gain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maturity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well.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gain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compensates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lender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below-market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Garamond"/>
              <a:cs typeface="Garamond"/>
            </a:endParaRPr>
          </a:p>
          <a:p>
            <a:pPr algn="just" marL="50800" marR="64135">
              <a:lnSpc>
                <a:spcPct val="94100"/>
              </a:lnSpc>
            </a:pPr>
            <a:r>
              <a:rPr dirty="0" sz="1100">
                <a:latin typeface="Garamond"/>
                <a:cs typeface="Garamond"/>
              </a:rPr>
              <a:t>Another way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see </a:t>
            </a:r>
            <a:r>
              <a:rPr dirty="0" sz="1100" spc="10">
                <a:latin typeface="Garamond"/>
                <a:cs typeface="Garamond"/>
              </a:rPr>
              <a:t>why </a:t>
            </a:r>
            <a:r>
              <a:rPr dirty="0" sz="1100">
                <a:latin typeface="Garamond"/>
                <a:cs typeface="Garamond"/>
              </a:rPr>
              <a:t>bond is </a:t>
            </a:r>
            <a:r>
              <a:rPr dirty="0" sz="1100" spc="-5">
                <a:latin typeface="Garamond"/>
                <a:cs typeface="Garamond"/>
              </a:rPr>
              <a:t>discounted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$115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note that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15">
                <a:latin typeface="Garamond"/>
                <a:cs typeface="Garamond"/>
              </a:rPr>
              <a:t>$80 </a:t>
            </a:r>
            <a:r>
              <a:rPr dirty="0" sz="1100" spc="-5">
                <a:latin typeface="Garamond"/>
                <a:cs typeface="Garamond"/>
              </a:rPr>
              <a:t>coupon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10">
                <a:latin typeface="Garamond"/>
                <a:cs typeface="Garamond"/>
              </a:rPr>
              <a:t>$20 </a:t>
            </a:r>
            <a:r>
              <a:rPr dirty="0" sz="1100">
                <a:latin typeface="Garamond"/>
                <a:cs typeface="Garamond"/>
              </a:rPr>
              <a:t>below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coupon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newly </a:t>
            </a:r>
            <a:r>
              <a:rPr dirty="0" sz="1100" spc="-10">
                <a:latin typeface="Garamond"/>
                <a:cs typeface="Garamond"/>
              </a:rPr>
              <a:t>issued </a:t>
            </a:r>
            <a:r>
              <a:rPr dirty="0" sz="1100">
                <a:latin typeface="Garamond"/>
                <a:cs typeface="Garamond"/>
              </a:rPr>
              <a:t>par value </a:t>
            </a:r>
            <a:r>
              <a:rPr dirty="0" sz="1100" spc="-5">
                <a:latin typeface="Garamond"/>
                <a:cs typeface="Garamond"/>
              </a:rPr>
              <a:t>bond. </a:t>
            </a:r>
            <a:r>
              <a:rPr dirty="0" sz="1100" spc="-10">
                <a:latin typeface="Garamond"/>
                <a:cs typeface="Garamond"/>
              </a:rPr>
              <a:t>So the </a:t>
            </a:r>
            <a:r>
              <a:rPr dirty="0" sz="1100">
                <a:latin typeface="Garamond"/>
                <a:cs typeface="Garamond"/>
              </a:rPr>
              <a:t>investor who </a:t>
            </a:r>
            <a:r>
              <a:rPr dirty="0" sz="1100" spc="5">
                <a:latin typeface="Garamond"/>
                <a:cs typeface="Garamond"/>
              </a:rPr>
              <a:t>buys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5">
                <a:latin typeface="Garamond"/>
                <a:cs typeface="Garamond"/>
              </a:rPr>
              <a:t>keeps the </a:t>
            </a:r>
            <a:r>
              <a:rPr dirty="0" sz="1100">
                <a:latin typeface="Garamond"/>
                <a:cs typeface="Garamond"/>
              </a:rPr>
              <a:t>bond gives up </a:t>
            </a:r>
            <a:r>
              <a:rPr dirty="0" sz="1100" spc="-15">
                <a:latin typeface="Garamond"/>
                <a:cs typeface="Garamond"/>
              </a:rPr>
              <a:t>$20 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every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9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10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%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annuity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1423035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$20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1/1.10</a:t>
            </a:r>
            <a:r>
              <a:rPr dirty="0" baseline="21367" sz="975">
                <a:latin typeface="Garamond"/>
                <a:cs typeface="Garamond"/>
              </a:rPr>
              <a:t>9</a:t>
            </a:r>
            <a:r>
              <a:rPr dirty="0" sz="1100">
                <a:latin typeface="Garamond"/>
                <a:cs typeface="Garamond"/>
              </a:rPr>
              <a:t>)/0.10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5.7590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$115.18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100">
              <a:latin typeface="Garamond"/>
              <a:cs typeface="Garamond"/>
            </a:endParaRPr>
          </a:p>
          <a:p>
            <a:pPr algn="just" marL="50800" marR="59055">
              <a:lnSpc>
                <a:spcPct val="94200"/>
              </a:lnSpc>
            </a:pPr>
            <a:r>
              <a:rPr dirty="0" sz="1100" spc="-5">
                <a:latin typeface="Garamond"/>
                <a:cs typeface="Garamond"/>
              </a:rPr>
              <a:t>Just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rise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interest </a:t>
            </a:r>
            <a:r>
              <a:rPr dirty="0" sz="1100">
                <a:latin typeface="Garamond"/>
                <a:cs typeface="Garamond"/>
              </a:rPr>
              <a:t>rates </a:t>
            </a:r>
            <a:r>
              <a:rPr dirty="0" sz="1100" spc="-5">
                <a:latin typeface="Garamond"/>
                <a:cs typeface="Garamond"/>
              </a:rPr>
              <a:t>reflected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decline in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price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5">
                <a:latin typeface="Garamond"/>
                <a:cs typeface="Garamond"/>
              </a:rPr>
              <a:t>bond, a drop of </a:t>
            </a:r>
            <a:r>
              <a:rPr dirty="0" sz="1100">
                <a:latin typeface="Garamond"/>
                <a:cs typeface="Garamond"/>
              </a:rPr>
              <a:t>2% in </a:t>
            </a:r>
            <a:r>
              <a:rPr dirty="0" sz="1100" spc="-5">
                <a:latin typeface="Garamond"/>
                <a:cs typeface="Garamond"/>
              </a:rPr>
              <a:t>interest rates </a:t>
            </a:r>
            <a:r>
              <a:rPr dirty="0" sz="1100">
                <a:latin typeface="Garamond"/>
                <a:cs typeface="Garamond"/>
              </a:rPr>
              <a:t> would </a:t>
            </a:r>
            <a:r>
              <a:rPr dirty="0" sz="1100" spc="-5">
                <a:latin typeface="Garamond"/>
                <a:cs typeface="Garamond"/>
              </a:rPr>
              <a:t>result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10">
                <a:latin typeface="Garamond"/>
                <a:cs typeface="Garamond"/>
              </a:rPr>
              <a:t>bond </a:t>
            </a:r>
            <a:r>
              <a:rPr dirty="0" sz="1100">
                <a:latin typeface="Garamond"/>
                <a:cs typeface="Garamond"/>
              </a:rPr>
              <a:t>being </a:t>
            </a:r>
            <a:r>
              <a:rPr dirty="0" sz="1100" spc="-10">
                <a:latin typeface="Garamond"/>
                <a:cs typeface="Garamond"/>
              </a:rPr>
              <a:t>sold </a:t>
            </a:r>
            <a:r>
              <a:rPr dirty="0" sz="1100" spc="5">
                <a:latin typeface="Garamond"/>
                <a:cs typeface="Garamond"/>
              </a:rPr>
              <a:t>for more </a:t>
            </a:r>
            <a:r>
              <a:rPr dirty="0" sz="1100">
                <a:latin typeface="Garamond"/>
                <a:cs typeface="Garamond"/>
              </a:rPr>
              <a:t>than </a:t>
            </a:r>
            <a:r>
              <a:rPr dirty="0" sz="1100" spc="-5">
                <a:latin typeface="Garamond"/>
                <a:cs typeface="Garamond"/>
              </a:rPr>
              <a:t>$1000. Such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10">
                <a:latin typeface="Garamond"/>
                <a:cs typeface="Garamond"/>
              </a:rPr>
              <a:t>bond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said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sell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premium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premium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4860" y="2089975"/>
            <a:ext cx="5568424" cy="113534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26022" y="714501"/>
            <a:ext cx="80073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18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72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00429" y="883665"/>
            <a:ext cx="4041140" cy="85845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23012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VALUING</a:t>
            </a:r>
            <a:r>
              <a:rPr dirty="0" sz="1150" spc="10" b="1">
                <a:latin typeface="Garamond"/>
                <a:cs typeface="Garamond"/>
              </a:rPr>
              <a:t> </a:t>
            </a:r>
            <a:r>
              <a:rPr dirty="0" sz="1150" spc="20" b="1">
                <a:latin typeface="Garamond"/>
                <a:cs typeface="Garamond"/>
              </a:rPr>
              <a:t>A</a:t>
            </a:r>
            <a:r>
              <a:rPr dirty="0" sz="1150" spc="-5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BOND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Garamond"/>
              <a:cs typeface="Garamond"/>
            </a:endParaRPr>
          </a:p>
          <a:p>
            <a:pPr marL="546100" indent="-229235">
              <a:lnSpc>
                <a:spcPts val="129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Assume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information.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60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>
                <a:latin typeface="Garamond"/>
                <a:cs typeface="Garamond"/>
              </a:rPr>
              <a:t>BMN,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face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45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promised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annual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25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20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70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ourier New"/>
              <a:buChar char="o"/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90"/>
              </a:lnSpc>
              <a:spcBef>
                <a:spcPts val="1165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$1000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>
                <a:latin typeface="Garamond"/>
                <a:cs typeface="Garamond"/>
              </a:rPr>
              <a:t> [1/1.10</a:t>
            </a:r>
            <a:r>
              <a:rPr dirty="0" baseline="21367" sz="975">
                <a:latin typeface="Garamond"/>
                <a:cs typeface="Garamond"/>
              </a:rPr>
              <a:t>20</a:t>
            </a:r>
            <a:r>
              <a:rPr dirty="0" sz="1100">
                <a:latin typeface="Garamond"/>
                <a:cs typeface="Garamond"/>
              </a:rPr>
              <a:t>]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4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0.14864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$148.64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70"/>
              </a:lnSpc>
              <a:spcBef>
                <a:spcPts val="1160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[1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(1/1.10</a:t>
            </a:r>
            <a:r>
              <a:rPr dirty="0" baseline="21367" sz="975" spc="-7">
                <a:latin typeface="Garamond"/>
                <a:cs typeface="Garamond"/>
              </a:rPr>
              <a:t>20</a:t>
            </a:r>
            <a:r>
              <a:rPr dirty="0" sz="1100" spc="-5">
                <a:latin typeface="Garamond"/>
                <a:cs typeface="Garamond"/>
              </a:rPr>
              <a:t>)]/0.10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4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$100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8.5136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$851.36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ts val="129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each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$148.64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851.36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Valuing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Bond: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A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Discount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Bond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ts val="1270"/>
              </a:lnSpc>
              <a:spcBef>
                <a:spcPts val="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Assume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information.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45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>
                <a:latin typeface="Garamond"/>
                <a:cs typeface="Garamond"/>
              </a:rPr>
              <a:t>BMN,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face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45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promised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annual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25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20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70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12%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ourier New"/>
              <a:buChar char="o"/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90"/>
              </a:lnSpc>
              <a:spcBef>
                <a:spcPts val="1165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$1000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>
                <a:latin typeface="Garamond"/>
                <a:cs typeface="Garamond"/>
              </a:rPr>
              <a:t> [1/1.12</a:t>
            </a:r>
            <a:r>
              <a:rPr dirty="0" baseline="21367" sz="975">
                <a:latin typeface="Garamond"/>
                <a:cs typeface="Garamond"/>
              </a:rPr>
              <a:t>20</a:t>
            </a:r>
            <a:r>
              <a:rPr dirty="0" sz="1100">
                <a:latin typeface="Garamond"/>
                <a:cs typeface="Garamond"/>
              </a:rPr>
              <a:t>]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4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0.10366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$103.66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75"/>
              </a:lnSpc>
              <a:spcBef>
                <a:spcPts val="1165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[1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(1/1.12</a:t>
            </a:r>
            <a:r>
              <a:rPr dirty="0" baseline="21367" sz="975" spc="-7">
                <a:latin typeface="Garamond"/>
                <a:cs typeface="Garamond"/>
              </a:rPr>
              <a:t>20</a:t>
            </a:r>
            <a:r>
              <a:rPr dirty="0" sz="1100" spc="-5">
                <a:latin typeface="Garamond"/>
                <a:cs typeface="Garamond"/>
              </a:rPr>
              <a:t>)]/0.12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4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$100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7.4694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$746.94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ts val="129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each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$103.66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746.94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$850.60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Valuing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Bond: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A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Premium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Bond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ts val="1275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Assume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following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information.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45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>
                <a:latin typeface="Garamond"/>
                <a:cs typeface="Garamond"/>
              </a:rPr>
              <a:t>BMN,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face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40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promised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annual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40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20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 lvl="1" marL="1003935" indent="-229235">
              <a:lnSpc>
                <a:spcPts val="1290"/>
              </a:lnSpc>
              <a:buFont typeface="Courier New"/>
              <a:buChar char="o"/>
              <a:tabLst>
                <a:tab pos="1003300" algn="l"/>
                <a:tab pos="10045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76629" y="431038"/>
            <a:ext cx="2131695" cy="4978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9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3929" y="1048638"/>
            <a:ext cx="3562985" cy="22815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854835">
              <a:lnSpc>
                <a:spcPts val="127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$1000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>
                <a:latin typeface="Garamond"/>
                <a:cs typeface="Garamond"/>
              </a:rPr>
              <a:t> [1/1.08</a:t>
            </a:r>
            <a:r>
              <a:rPr dirty="0" baseline="21367" sz="975">
                <a:latin typeface="Garamond"/>
                <a:cs typeface="Garamond"/>
              </a:rPr>
              <a:t>20</a:t>
            </a:r>
            <a:r>
              <a:rPr dirty="0" sz="1100">
                <a:latin typeface="Garamond"/>
                <a:cs typeface="Garamond"/>
              </a:rPr>
              <a:t>]</a:t>
            </a:r>
            <a:endParaRPr sz="1100">
              <a:latin typeface="Garamond"/>
              <a:cs typeface="Garamond"/>
            </a:endParaRPr>
          </a:p>
          <a:p>
            <a:pPr marL="1854835">
              <a:lnSpc>
                <a:spcPts val="124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0.21455</a:t>
            </a:r>
            <a:endParaRPr sz="1100">
              <a:latin typeface="Garamond"/>
              <a:cs typeface="Garamond"/>
            </a:endParaRPr>
          </a:p>
          <a:p>
            <a:pPr marL="18548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$214.55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endParaRPr sz="1100">
              <a:latin typeface="Garamond"/>
              <a:cs typeface="Garamond"/>
            </a:endParaRPr>
          </a:p>
          <a:p>
            <a:pPr marL="1854835">
              <a:lnSpc>
                <a:spcPts val="1270"/>
              </a:lnSpc>
              <a:spcBef>
                <a:spcPts val="1165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[1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(1/1.08</a:t>
            </a:r>
            <a:r>
              <a:rPr dirty="0" baseline="21367" sz="975" spc="-7">
                <a:latin typeface="Garamond"/>
                <a:cs typeface="Garamond"/>
              </a:rPr>
              <a:t>20</a:t>
            </a:r>
            <a:r>
              <a:rPr dirty="0" sz="1100" spc="-5">
                <a:latin typeface="Garamond"/>
                <a:cs typeface="Garamond"/>
              </a:rPr>
              <a:t>)]/0.08</a:t>
            </a:r>
            <a:endParaRPr sz="1100">
              <a:latin typeface="Garamond"/>
              <a:cs typeface="Garamond"/>
            </a:endParaRPr>
          </a:p>
          <a:p>
            <a:pPr marL="1854835">
              <a:lnSpc>
                <a:spcPts val="122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$100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9.8181</a:t>
            </a:r>
            <a:endParaRPr sz="1100">
              <a:latin typeface="Garamond"/>
              <a:cs typeface="Garamond"/>
            </a:endParaRPr>
          </a:p>
          <a:p>
            <a:pPr marL="1854835">
              <a:lnSpc>
                <a:spcPts val="127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$981.81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82600" indent="-229235">
              <a:lnSpc>
                <a:spcPts val="1290"/>
              </a:lnSpc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each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$214.55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981.81</a:t>
            </a:r>
            <a:endParaRPr sz="1100">
              <a:latin typeface="Garamond"/>
              <a:cs typeface="Garamond"/>
            </a:endParaRPr>
          </a:p>
          <a:p>
            <a:pPr marL="18548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$1,196.36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254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Bond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Price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Sensitivity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to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YTM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6157721"/>
            <a:ext cx="5182870" cy="15360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Valuing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Garamond"/>
                <a:cs typeface="Garamond"/>
              </a:rPr>
              <a:t>Based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 </a:t>
            </a:r>
            <a:r>
              <a:rPr dirty="0" sz="1100" spc="-5">
                <a:latin typeface="Garamond"/>
                <a:cs typeface="Garamond"/>
              </a:rPr>
              <a:t>examples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write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general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expression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F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t periods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Its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8771" y="7891017"/>
            <a:ext cx="24257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{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-15">
                <a:latin typeface="Cambria Math"/>
                <a:cs typeface="Cambria Math"/>
              </a:rPr>
              <a:t>−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84040" y="7990585"/>
            <a:ext cx="329565" cy="9525"/>
          </a:xfrm>
          <a:custGeom>
            <a:avLst/>
            <a:gdLst/>
            <a:ahLst/>
            <a:cxnLst/>
            <a:rect l="l" t="t" r="r" b="b"/>
            <a:pathLst>
              <a:path w="329564" h="9525">
                <a:moveTo>
                  <a:pt x="329184" y="0"/>
                </a:moveTo>
                <a:lnTo>
                  <a:pt x="0" y="0"/>
                </a:lnTo>
                <a:lnTo>
                  <a:pt x="0" y="9144"/>
                </a:lnTo>
                <a:lnTo>
                  <a:pt x="329184" y="9144"/>
                </a:lnTo>
                <a:lnTo>
                  <a:pt x="329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978528" y="7845297"/>
            <a:ext cx="327025" cy="224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670"/>
              </a:lnSpc>
              <a:spcBef>
                <a:spcPts val="90"/>
              </a:spcBef>
            </a:pPr>
            <a:r>
              <a:rPr dirty="0" sz="800" spc="25">
                <a:latin typeface="Cambria Math"/>
                <a:cs typeface="Cambria Math"/>
              </a:rPr>
              <a:t>1</a:t>
            </a:r>
            <a:endParaRPr sz="800">
              <a:latin typeface="Cambria Math"/>
              <a:cs typeface="Cambria Math"/>
            </a:endParaRPr>
          </a:p>
          <a:p>
            <a:pPr marL="184150">
              <a:lnSpc>
                <a:spcPts val="910"/>
              </a:lnSpc>
            </a:pPr>
            <a:r>
              <a:rPr dirty="0" baseline="-20833" sz="1200" spc="82">
                <a:latin typeface="Cambria Math"/>
                <a:cs typeface="Cambria Math"/>
              </a:rPr>
              <a:t>𝑡</a:t>
            </a:r>
            <a:r>
              <a:rPr dirty="0" sz="1000" spc="55">
                <a:latin typeface="Cambria Math"/>
                <a:cs typeface="Cambria Math"/>
              </a:rPr>
              <a:t>}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03345" y="8142858"/>
            <a:ext cx="933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20">
                <a:latin typeface="Cambria Math"/>
                <a:cs typeface="Cambria Math"/>
              </a:rPr>
              <a:t>𝑟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23744" y="8037702"/>
            <a:ext cx="1945639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360170" algn="l"/>
              </a:tabLst>
            </a:pP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11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u="sng" baseline="35353" sz="165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baseline="48611" sz="1200" spc="44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(1+r)   </a:t>
            </a:r>
            <a:r>
              <a:rPr dirty="0" baseline="48611" sz="1200" spc="44">
                <a:latin typeface="Cambria Math"/>
                <a:cs typeface="Cambria Math"/>
              </a:rPr>
              <a:t>  </a:t>
            </a:r>
            <a:r>
              <a:rPr dirty="0" baseline="48611" sz="1200" spc="23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03241" y="7945881"/>
            <a:ext cx="1060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30">
                <a:latin typeface="Cambria Math"/>
                <a:cs typeface="Cambria Math"/>
              </a:rPr>
              <a:t>𝐹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22394" y="8142858"/>
            <a:ext cx="4667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20">
                <a:latin typeface="Cambria Math"/>
                <a:cs typeface="Cambria Math"/>
              </a:rPr>
              <a:t>(1+𝑟)</a:t>
            </a:r>
            <a:r>
              <a:rPr dirty="0" baseline="20833" sz="1200" spc="30">
                <a:latin typeface="Cambria Math"/>
                <a:cs typeface="Cambria Math"/>
              </a:rPr>
              <a:t>𝑡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60494" y="8136965"/>
            <a:ext cx="398145" cy="9525"/>
          </a:xfrm>
          <a:custGeom>
            <a:avLst/>
            <a:gdLst/>
            <a:ahLst/>
            <a:cxnLst/>
            <a:rect l="l" t="t" r="r" b="b"/>
            <a:pathLst>
              <a:path w="398145" h="9525">
                <a:moveTo>
                  <a:pt x="398068" y="0"/>
                </a:moveTo>
                <a:lnTo>
                  <a:pt x="0" y="0"/>
                </a:lnTo>
                <a:lnTo>
                  <a:pt x="0" y="9449"/>
                </a:lnTo>
                <a:lnTo>
                  <a:pt x="398068" y="9449"/>
                </a:lnTo>
                <a:lnTo>
                  <a:pt x="3980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77542" y="8617330"/>
            <a:ext cx="320675" cy="9525"/>
          </a:xfrm>
          <a:custGeom>
            <a:avLst/>
            <a:gdLst/>
            <a:ahLst/>
            <a:cxnLst/>
            <a:rect l="l" t="t" r="r" b="b"/>
            <a:pathLst>
              <a:path w="320675" h="9525">
                <a:moveTo>
                  <a:pt x="320344" y="0"/>
                </a:moveTo>
                <a:lnTo>
                  <a:pt x="0" y="0"/>
                </a:lnTo>
                <a:lnTo>
                  <a:pt x="0" y="9144"/>
                </a:lnTo>
                <a:lnTo>
                  <a:pt x="320344" y="9144"/>
                </a:lnTo>
                <a:lnTo>
                  <a:pt x="3203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63929" y="8205103"/>
            <a:ext cx="1451610" cy="49212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705"/>
              </a:spcBef>
            </a:pPr>
            <a:r>
              <a:rPr dirty="0" sz="1100">
                <a:latin typeface="Garamond"/>
                <a:cs typeface="Garamond"/>
              </a:rPr>
              <a:t>Where,</a:t>
            </a:r>
            <a:endParaRPr sz="1100">
              <a:latin typeface="Garamond"/>
              <a:cs typeface="Garamond"/>
            </a:endParaRPr>
          </a:p>
          <a:p>
            <a:pPr marL="770890">
              <a:lnSpc>
                <a:spcPct val="100000"/>
              </a:lnSpc>
              <a:spcBef>
                <a:spcPts val="545"/>
              </a:spcBef>
              <a:tabLst>
                <a:tab pos="1141730" algn="l"/>
              </a:tabLst>
            </a:pPr>
            <a:r>
              <a:rPr dirty="0" sz="1000">
                <a:latin typeface="Cambria Math"/>
                <a:cs typeface="Cambria Math"/>
              </a:rPr>
              <a:t>{1−	</a:t>
            </a:r>
            <a:r>
              <a:rPr dirty="0" baseline="41666" sz="1200" spc="37">
                <a:latin typeface="Cambria Math"/>
                <a:cs typeface="Cambria Math"/>
              </a:rPr>
              <a:t>1 </a:t>
            </a:r>
            <a:r>
              <a:rPr dirty="0" baseline="41666" sz="1200" spc="60">
                <a:latin typeface="Cambria Math"/>
                <a:cs typeface="Cambria Math"/>
              </a:rPr>
              <a:t> </a:t>
            </a:r>
            <a:r>
              <a:rPr dirty="0" baseline="-20833" sz="1200" spc="89">
                <a:latin typeface="Cambria Math"/>
                <a:cs typeface="Cambria Math"/>
              </a:rPr>
              <a:t>t</a:t>
            </a:r>
            <a:r>
              <a:rPr dirty="0" sz="1000" spc="60">
                <a:latin typeface="Cambria Math"/>
                <a:cs typeface="Cambria Math"/>
              </a:rPr>
              <a:t>}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80108" y="8664066"/>
            <a:ext cx="3199765" cy="4978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66065" algn="l"/>
                <a:tab pos="266700" algn="l"/>
                <a:tab pos="796925" algn="l"/>
              </a:tabLst>
            </a:pP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u="sng" baseline="35353" sz="165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baseline="48611" sz="1200" spc="22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(1+r)   </a:t>
            </a:r>
            <a:r>
              <a:rPr dirty="0" baseline="48611" sz="1200" spc="22">
                <a:latin typeface="Cambria Math"/>
                <a:cs typeface="Cambria Math"/>
              </a:rPr>
              <a:t> </a:t>
            </a:r>
            <a:r>
              <a:rPr dirty="0" baseline="48611" sz="1200" spc="209">
                <a:latin typeface="Cambria Math"/>
                <a:cs typeface="Cambria Math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  <a:spcBef>
                <a:spcPts val="1055"/>
              </a:spcBef>
            </a:pPr>
            <a:r>
              <a:rPr dirty="0" sz="1100" spc="5">
                <a:latin typeface="Symbol"/>
                <a:cs typeface="Symbol"/>
              </a:rPr>
              <a:t>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85366" y="8874632"/>
            <a:ext cx="1016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F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8708" y="9071228"/>
            <a:ext cx="4540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20">
                <a:latin typeface="Cambria Math"/>
                <a:cs typeface="Cambria Math"/>
              </a:rPr>
              <a:t>(1+r)</a:t>
            </a:r>
            <a:r>
              <a:rPr dirty="0" baseline="20833" sz="1200" spc="30">
                <a:latin typeface="Cambria Math"/>
                <a:cs typeface="Cambria Math"/>
              </a:rPr>
              <a:t>t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46808" y="9065640"/>
            <a:ext cx="380365" cy="9525"/>
          </a:xfrm>
          <a:custGeom>
            <a:avLst/>
            <a:gdLst/>
            <a:ahLst/>
            <a:cxnLst/>
            <a:rect l="l" t="t" r="r" b="b"/>
            <a:pathLst>
              <a:path w="380364" h="9525">
                <a:moveTo>
                  <a:pt x="379780" y="0"/>
                </a:moveTo>
                <a:lnTo>
                  <a:pt x="0" y="0"/>
                </a:lnTo>
                <a:lnTo>
                  <a:pt x="0" y="9144"/>
                </a:lnTo>
                <a:lnTo>
                  <a:pt x="379780" y="9144"/>
                </a:lnTo>
                <a:lnTo>
                  <a:pt x="3797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050542" y="8730659"/>
            <a:ext cx="1968500" cy="43116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409"/>
              </a:spcBef>
            </a:pPr>
            <a:r>
              <a:rPr dirty="0" sz="1000" spc="60">
                <a:latin typeface="Cambria Math"/>
                <a:cs typeface="Cambria Math"/>
              </a:rPr>
              <a:t>r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amount?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550" y="3504159"/>
            <a:ext cx="4574998" cy="2487655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87729" y="714501"/>
            <a:ext cx="5844540" cy="78479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Semiannual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Coupons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558800" marR="93980" indent="-228600">
              <a:lnSpc>
                <a:spcPts val="1220"/>
              </a:lnSpc>
              <a:spcBef>
                <a:spcPts val="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yields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quoted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like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APRs,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quoted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multiplied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 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558800" marR="93980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made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semiannually,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half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coupon,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referred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semiannual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coupon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endParaRPr sz="1100">
              <a:latin typeface="Garamond"/>
              <a:cs typeface="Garamond"/>
            </a:endParaRPr>
          </a:p>
          <a:p>
            <a:pPr marL="558800" marR="9842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ordinary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coupon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14%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$140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but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two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installments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$70.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Yield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maturity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16%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16%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quoted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period.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 </a:t>
            </a:r>
            <a:r>
              <a:rPr dirty="0" sz="1100" spc="-10">
                <a:latin typeface="Garamond"/>
                <a:cs typeface="Garamond"/>
              </a:rPr>
              <a:t>seven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bond’s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price?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effective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bond?</a:t>
            </a:r>
            <a:endParaRPr sz="1100">
              <a:latin typeface="Garamond"/>
              <a:cs typeface="Garamond"/>
            </a:endParaRPr>
          </a:p>
          <a:p>
            <a:pPr marL="558800" marR="9525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10">
                <a:latin typeface="Garamond"/>
                <a:cs typeface="Garamond"/>
              </a:rPr>
              <a:t> 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because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coupon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7%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5">
                <a:latin typeface="Garamond"/>
                <a:cs typeface="Garamond"/>
              </a:rPr>
              <a:t>six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months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requires</a:t>
            </a:r>
            <a:r>
              <a:rPr dirty="0" sz="1100">
                <a:latin typeface="Garamond"/>
                <a:cs typeface="Garamond"/>
              </a:rPr>
              <a:t> 8%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months.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 marL="1931035">
              <a:lnSpc>
                <a:spcPts val="1270"/>
              </a:lnSpc>
              <a:spcBef>
                <a:spcPts val="1165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/1.08</a:t>
            </a:r>
            <a:r>
              <a:rPr dirty="0" baseline="21367" sz="975" spc="15">
                <a:latin typeface="Garamond"/>
                <a:cs typeface="Garamond"/>
              </a:rPr>
              <a:t>14</a:t>
            </a:r>
            <a:endParaRPr baseline="21367" sz="975">
              <a:latin typeface="Garamond"/>
              <a:cs typeface="Garamond"/>
            </a:endParaRPr>
          </a:p>
          <a:p>
            <a:pPr marL="1931035">
              <a:lnSpc>
                <a:spcPts val="122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$1000/2.9372</a:t>
            </a:r>
            <a:endParaRPr sz="1100">
              <a:latin typeface="Garamond"/>
              <a:cs typeface="Garamond"/>
            </a:endParaRPr>
          </a:p>
          <a:p>
            <a:pPr marL="1931035">
              <a:lnSpc>
                <a:spcPts val="127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$340.46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58800" indent="-229235">
              <a:lnSpc>
                <a:spcPts val="1290"/>
              </a:lnSpc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14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$70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1931035">
              <a:lnSpc>
                <a:spcPts val="124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$70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[1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(1/1.08</a:t>
            </a:r>
            <a:r>
              <a:rPr dirty="0" baseline="21367" sz="975" spc="7">
                <a:latin typeface="Garamond"/>
                <a:cs typeface="Garamond"/>
              </a:rPr>
              <a:t>14</a:t>
            </a:r>
            <a:r>
              <a:rPr dirty="0" sz="1100" spc="5">
                <a:latin typeface="Garamond"/>
                <a:cs typeface="Garamond"/>
              </a:rPr>
              <a:t>)]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/0.08</a:t>
            </a:r>
            <a:endParaRPr sz="1100">
              <a:latin typeface="Garamond"/>
              <a:cs typeface="Garamond"/>
            </a:endParaRPr>
          </a:p>
          <a:p>
            <a:pPr marL="1931035">
              <a:lnSpc>
                <a:spcPts val="124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$70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8.2442</a:t>
            </a:r>
            <a:endParaRPr sz="1100">
              <a:latin typeface="Garamond"/>
              <a:cs typeface="Garamond"/>
            </a:endParaRPr>
          </a:p>
          <a:p>
            <a:pPr marL="19310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$577.10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tells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should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for:</a:t>
            </a:r>
            <a:endParaRPr sz="1100">
              <a:latin typeface="Garamond"/>
              <a:cs typeface="Garamond"/>
            </a:endParaRPr>
          </a:p>
          <a:p>
            <a:pPr marL="1931035">
              <a:lnSpc>
                <a:spcPts val="1270"/>
              </a:lnSpc>
              <a:spcBef>
                <a:spcPts val="1200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$340.46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577.10</a:t>
            </a:r>
            <a:endParaRPr sz="1100">
              <a:latin typeface="Garamond"/>
              <a:cs typeface="Garamond"/>
            </a:endParaRPr>
          </a:p>
          <a:p>
            <a:pPr marL="1931035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$917.56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58800" marR="91440" indent="-228600">
              <a:lnSpc>
                <a:spcPts val="1260"/>
              </a:lnSpc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effective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annual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note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six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months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equivalent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to:</a:t>
            </a:r>
            <a:endParaRPr sz="1100">
              <a:latin typeface="Garamond"/>
              <a:cs typeface="Garamond"/>
            </a:endParaRPr>
          </a:p>
          <a:p>
            <a:pPr marL="1931035">
              <a:lnSpc>
                <a:spcPts val="1145"/>
              </a:lnSpc>
            </a:pPr>
            <a:r>
              <a:rPr dirty="0" sz="1100">
                <a:latin typeface="Garamond"/>
                <a:cs typeface="Garamond"/>
              </a:rPr>
              <a:t>EAR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0.08)</a:t>
            </a:r>
            <a:r>
              <a:rPr dirty="0" baseline="21367" sz="975" spc="7">
                <a:latin typeface="Garamond"/>
                <a:cs typeface="Garamond"/>
              </a:rPr>
              <a:t>2</a:t>
            </a:r>
            <a:r>
              <a:rPr dirty="0" baseline="21367" sz="975" spc="127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endParaRPr sz="1100">
              <a:latin typeface="Garamond"/>
              <a:cs typeface="Garamond"/>
            </a:endParaRPr>
          </a:p>
          <a:p>
            <a:pPr marL="1931035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EAR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16.64%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016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Interest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Rate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arises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>
                <a:latin typeface="Garamond"/>
                <a:cs typeface="Garamond"/>
              </a:rPr>
              <a:t> owners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fluctuating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rate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sensitive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sensitivity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-10">
                <a:latin typeface="Garamond"/>
                <a:cs typeface="Garamond"/>
              </a:rPr>
              <a:t> on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>
                <a:latin typeface="Garamond"/>
                <a:cs typeface="Garamond"/>
              </a:rPr>
              <a:t>Coupon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looking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kept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5">
                <a:latin typeface="Garamond"/>
                <a:cs typeface="Garamond"/>
              </a:rPr>
              <a:t>mind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>
                <a:latin typeface="Garamond"/>
                <a:cs typeface="Garamond"/>
              </a:rPr>
              <a:t>All other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things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maturity,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grater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>
                <a:latin typeface="Garamond"/>
                <a:cs typeface="Garamond"/>
              </a:rPr>
              <a:t>All other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things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 marL="5588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58800" algn="l"/>
                <a:tab pos="559435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illustrate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characteristics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graphically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11010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Interest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Rate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11551" y="1065910"/>
          <a:ext cx="3001010" cy="992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030"/>
                <a:gridCol w="986790"/>
                <a:gridCol w="998855"/>
              </a:tblGrid>
              <a:tr h="169163">
                <a:tc rowSpan="2"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Rate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048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84505">
                        <a:lnSpc>
                          <a:spcPts val="119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Time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Maturity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916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7048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304165">
                        <a:lnSpc>
                          <a:spcPts val="123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1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dirty="0" sz="1100" spc="15" b="1">
                          <a:latin typeface="Garamond"/>
                          <a:cs typeface="Garamond"/>
                        </a:rPr>
                        <a:t>30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Years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3317">
                <a:tc>
                  <a:txBody>
                    <a:bodyPr/>
                    <a:lstStyle/>
                    <a:p>
                      <a:pPr algn="ctr" marR="1270">
                        <a:lnSpc>
                          <a:spcPts val="1185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40665">
                        <a:lnSpc>
                          <a:spcPts val="118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$1047.62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18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$1768.62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ctr">
                        <a:lnSpc>
                          <a:spcPts val="112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272415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7860"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304165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956.52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671.70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8152"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4165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916.67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502.11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2178176"/>
            <a:ext cx="11010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Interest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Rate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5508" y="5768720"/>
            <a:ext cx="5440680" cy="371792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0665" marR="508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slope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line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connecting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steeper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30-year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1-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endParaRPr sz="1100">
              <a:latin typeface="Garamond"/>
              <a:cs typeface="Garamond"/>
            </a:endParaRPr>
          </a:p>
          <a:p>
            <a:pPr marL="240665" marR="1143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steepness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tells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relatively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small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lead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substantial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comparison,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relatively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sensitive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</a:t>
            </a:r>
            <a:endParaRPr sz="1100">
              <a:latin typeface="Garamond"/>
              <a:cs typeface="Garamond"/>
            </a:endParaRPr>
          </a:p>
          <a:p>
            <a:pPr marL="240665" marR="1079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reason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longer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sensitivity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large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proportion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amount.</a:t>
            </a:r>
            <a:endParaRPr sz="1100">
              <a:latin typeface="Garamond"/>
              <a:cs typeface="Garamond"/>
            </a:endParaRPr>
          </a:p>
          <a:p>
            <a:pPr marL="240665" marR="762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not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affected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small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received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endParaRPr sz="1100">
              <a:latin typeface="Garamond"/>
              <a:cs typeface="Garamond"/>
            </a:endParaRPr>
          </a:p>
          <a:p>
            <a:pPr marL="240665" marR="1270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While,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</a:t>
            </a:r>
            <a:r>
              <a:rPr dirty="0" sz="1100" spc="5">
                <a:latin typeface="Garamond"/>
                <a:cs typeface="Garamond"/>
              </a:rPr>
              <a:t> 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small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compounded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will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significant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decreasing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 marL="240665" marR="762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10-year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1-year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obviously,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10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 marL="240665" marR="12065" indent="-228600">
              <a:lnSpc>
                <a:spcPts val="1260"/>
              </a:lnSpc>
              <a:spcBef>
                <a:spcPts val="1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somewhat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greater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fairly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small.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coupons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 algn="just" marL="240665" marR="5080" indent="-228600">
              <a:lnSpc>
                <a:spcPct val="94200"/>
              </a:lnSpc>
              <a:spcBef>
                <a:spcPts val="160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 two </a:t>
            </a:r>
            <a:r>
              <a:rPr dirty="0" sz="1100" spc="-5">
                <a:latin typeface="Garamond"/>
                <a:cs typeface="Garamond"/>
              </a:rPr>
              <a:t>bonds </a:t>
            </a:r>
            <a:r>
              <a:rPr dirty="0" sz="1100" spc="5">
                <a:latin typeface="Garamond"/>
                <a:cs typeface="Garamond"/>
              </a:rPr>
              <a:t>with </a:t>
            </a:r>
            <a:r>
              <a:rPr dirty="0" sz="1100">
                <a:latin typeface="Garamond"/>
                <a:cs typeface="Garamond"/>
              </a:rPr>
              <a:t>different </a:t>
            </a:r>
            <a:r>
              <a:rPr dirty="0" sz="1100" spc="-5">
                <a:latin typeface="Garamond"/>
                <a:cs typeface="Garamond"/>
              </a:rPr>
              <a:t>coupon </a:t>
            </a:r>
            <a:r>
              <a:rPr dirty="0" sz="1100">
                <a:latin typeface="Garamond"/>
                <a:cs typeface="Garamond"/>
              </a:rPr>
              <a:t>rates </a:t>
            </a:r>
            <a:r>
              <a:rPr dirty="0" sz="1100" spc="-5">
                <a:latin typeface="Garamond"/>
                <a:cs typeface="Garamond"/>
              </a:rPr>
              <a:t>have same maturity,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value </a:t>
            </a:r>
            <a:r>
              <a:rPr dirty="0" sz="1100" spc="5">
                <a:latin typeface="Garamond"/>
                <a:cs typeface="Garamond"/>
              </a:rPr>
              <a:t>of the </a:t>
            </a:r>
            <a:r>
              <a:rPr dirty="0" sz="1100" spc="-5">
                <a:latin typeface="Garamond"/>
                <a:cs typeface="Garamond"/>
              </a:rPr>
              <a:t>one </a:t>
            </a:r>
            <a:r>
              <a:rPr dirty="0" sz="1100" spc="5">
                <a:latin typeface="Garamond"/>
                <a:cs typeface="Garamond"/>
              </a:rPr>
              <a:t>with the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lower </a:t>
            </a:r>
            <a:r>
              <a:rPr dirty="0" sz="1100" spc="-5">
                <a:latin typeface="Garamond"/>
                <a:cs typeface="Garamond"/>
              </a:rPr>
              <a:t>coupon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proportionately </a:t>
            </a:r>
            <a:r>
              <a:rPr dirty="0" sz="1100" spc="5">
                <a:latin typeface="Garamond"/>
                <a:cs typeface="Garamond"/>
              </a:rPr>
              <a:t>more </a:t>
            </a:r>
            <a:r>
              <a:rPr dirty="0" sz="1100">
                <a:latin typeface="Garamond"/>
                <a:cs typeface="Garamond"/>
              </a:rPr>
              <a:t>dependent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face </a:t>
            </a:r>
            <a:r>
              <a:rPr dirty="0" sz="1100" spc="-5">
                <a:latin typeface="Garamond"/>
                <a:cs typeface="Garamond"/>
              </a:rPr>
              <a:t>amount </a:t>
            </a:r>
            <a:r>
              <a:rPr dirty="0" sz="1100" spc="5">
                <a:latin typeface="Garamond"/>
                <a:cs typeface="Garamond"/>
              </a:rPr>
              <a:t>to be </a:t>
            </a:r>
            <a:r>
              <a:rPr dirty="0" sz="1100">
                <a:latin typeface="Garamond"/>
                <a:cs typeface="Garamond"/>
              </a:rPr>
              <a:t>received. </a:t>
            </a:r>
            <a:r>
              <a:rPr dirty="0" sz="1100" spc="5">
                <a:latin typeface="Garamond"/>
                <a:cs typeface="Garamond"/>
              </a:rPr>
              <a:t>So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fluctuate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</a:t>
            </a:r>
            <a:endParaRPr sz="1100">
              <a:latin typeface="Garamond"/>
              <a:cs typeface="Garamond"/>
            </a:endParaRPr>
          </a:p>
          <a:p>
            <a:pPr algn="just" marL="240665" marR="5715" indent="-228600">
              <a:lnSpc>
                <a:spcPts val="1220"/>
              </a:lnSpc>
              <a:spcBef>
                <a:spcPts val="204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In </a:t>
            </a:r>
            <a:r>
              <a:rPr dirty="0" sz="1100">
                <a:latin typeface="Garamond"/>
                <a:cs typeface="Garamond"/>
              </a:rPr>
              <a:t>other words, bond </a:t>
            </a:r>
            <a:r>
              <a:rPr dirty="0" sz="1100" spc="5">
                <a:latin typeface="Garamond"/>
                <a:cs typeface="Garamond"/>
              </a:rPr>
              <a:t>with </a:t>
            </a:r>
            <a:r>
              <a:rPr dirty="0" sz="1100">
                <a:latin typeface="Garamond"/>
                <a:cs typeface="Garamond"/>
              </a:rPr>
              <a:t>higher </a:t>
            </a:r>
            <a:r>
              <a:rPr dirty="0" sz="1100" spc="-5">
                <a:latin typeface="Garamond"/>
                <a:cs typeface="Garamond"/>
              </a:rPr>
              <a:t>coupon </a:t>
            </a:r>
            <a:r>
              <a:rPr dirty="0" sz="1100" spc="10">
                <a:latin typeface="Garamond"/>
                <a:cs typeface="Garamond"/>
              </a:rPr>
              <a:t>has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larger cash flow early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5">
                <a:latin typeface="Garamond"/>
                <a:cs typeface="Garamond"/>
              </a:rPr>
              <a:t>life, so </a:t>
            </a:r>
            <a:r>
              <a:rPr dirty="0" sz="1100" spc="-10">
                <a:latin typeface="Garamond"/>
                <a:cs typeface="Garamond"/>
              </a:rPr>
              <a:t>its </a:t>
            </a:r>
            <a:r>
              <a:rPr dirty="0" sz="1100">
                <a:latin typeface="Garamond"/>
                <a:cs typeface="Garamond"/>
              </a:rPr>
              <a:t>value is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 </a:t>
            </a:r>
            <a:r>
              <a:rPr dirty="0" sz="1100" spc="-5">
                <a:latin typeface="Garamond"/>
                <a:cs typeface="Garamond"/>
              </a:rPr>
              <a:t>sensitive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8760" y="2528823"/>
            <a:ext cx="5000370" cy="293928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26022" y="714501"/>
            <a:ext cx="80073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19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76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2329" y="883665"/>
            <a:ext cx="5901690" cy="86988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5715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BOND</a:t>
            </a:r>
            <a:r>
              <a:rPr dirty="0" sz="1150" spc="30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PRICING</a:t>
            </a:r>
            <a:r>
              <a:rPr dirty="0" sz="1150" spc="-1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THEOREMS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1270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about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always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true:</a:t>
            </a:r>
            <a:endParaRPr sz="1100">
              <a:latin typeface="Garamond"/>
              <a:cs typeface="Garamond"/>
            </a:endParaRPr>
          </a:p>
          <a:p>
            <a:pPr marL="5842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opposite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directions.</a:t>
            </a:r>
            <a:endParaRPr sz="1100">
              <a:latin typeface="Garamond"/>
              <a:cs typeface="Garamond"/>
            </a:endParaRPr>
          </a:p>
          <a:p>
            <a:pPr marL="584200" marR="125095" indent="-228600">
              <a:lnSpc>
                <a:spcPts val="1230"/>
              </a:lnSpc>
              <a:spcBef>
                <a:spcPts val="200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bond’s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(greater than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equal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 than)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(greater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equal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 </a:t>
            </a:r>
            <a:r>
              <a:rPr dirty="0" sz="1100" spc="-5">
                <a:latin typeface="Garamond"/>
                <a:cs typeface="Garamond"/>
              </a:rPr>
              <a:t>than)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par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 marL="584200" marR="119380" indent="-228600">
              <a:lnSpc>
                <a:spcPts val="1220"/>
              </a:lnSpc>
              <a:spcBef>
                <a:spcPts val="175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identical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longer-term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shorter-term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given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rates.</a:t>
            </a:r>
            <a:endParaRPr sz="1100">
              <a:latin typeface="Garamond"/>
              <a:cs typeface="Garamond"/>
            </a:endParaRPr>
          </a:p>
          <a:p>
            <a:pPr marL="584200" marR="121920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identical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coupon,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lower-coupon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will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higher-coupon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given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270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Finding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the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Yield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to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Maturity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Garamond"/>
              <a:cs typeface="Garamond"/>
            </a:endParaRPr>
          </a:p>
          <a:p>
            <a:pPr marL="584200" marR="130175" indent="-228600">
              <a:lnSpc>
                <a:spcPts val="1260"/>
              </a:lnSpc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seen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written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sum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annuity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lump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sum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components.</a:t>
            </a:r>
            <a:endParaRPr sz="1100">
              <a:latin typeface="Garamond"/>
              <a:cs typeface="Garamond"/>
            </a:endParaRPr>
          </a:p>
          <a:p>
            <a:pPr marL="584200" marR="122555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Knowing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$80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6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499235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$955.14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$80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[1</a:t>
            </a:r>
            <a:r>
              <a:rPr dirty="0" sz="1100" spc="5">
                <a:latin typeface="Garamond"/>
                <a:cs typeface="Garamond"/>
              </a:rPr>
              <a:t> 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1/(1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r)</a:t>
            </a:r>
            <a:r>
              <a:rPr dirty="0" baseline="21367" sz="975">
                <a:latin typeface="Garamond"/>
                <a:cs typeface="Garamond"/>
              </a:rPr>
              <a:t>6</a:t>
            </a:r>
            <a:r>
              <a:rPr dirty="0" sz="1100">
                <a:latin typeface="Garamond"/>
                <a:cs typeface="Garamond"/>
              </a:rPr>
              <a:t>]/r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r)</a:t>
            </a:r>
            <a:r>
              <a:rPr dirty="0" baseline="21367" sz="975" spc="7">
                <a:latin typeface="Garamond"/>
                <a:cs typeface="Garamond"/>
              </a:rPr>
              <a:t>6</a:t>
            </a:r>
            <a:endParaRPr baseline="21367" sz="975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584200" indent="-229235">
              <a:lnSpc>
                <a:spcPct val="100000"/>
              </a:lnSpc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 is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unknown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endParaRPr sz="1100">
              <a:latin typeface="Garamond"/>
              <a:cs typeface="Garamond"/>
            </a:endParaRPr>
          </a:p>
          <a:p>
            <a:pPr marL="584200" marR="123189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solve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above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equation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trial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error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method,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cannot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explicitly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endParaRPr sz="1100">
              <a:latin typeface="Garamond"/>
              <a:cs typeface="Garamond"/>
            </a:endParaRPr>
          </a:p>
          <a:p>
            <a:pPr marL="5842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speed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up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error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process</a:t>
            </a:r>
            <a:r>
              <a:rPr dirty="0" sz="1100" spc="5">
                <a:latin typeface="Garamond"/>
                <a:cs typeface="Garamond"/>
              </a:rPr>
              <a:t> by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knowledge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yields</a:t>
            </a:r>
            <a:endParaRPr sz="1100">
              <a:latin typeface="Garamond"/>
              <a:cs typeface="Garamond"/>
            </a:endParaRPr>
          </a:p>
          <a:p>
            <a:pPr marL="5842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selling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discount,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 than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8%.</a:t>
            </a:r>
            <a:endParaRPr sz="1100">
              <a:latin typeface="Garamond"/>
              <a:cs typeface="Garamond"/>
            </a:endParaRPr>
          </a:p>
          <a:p>
            <a:pPr marL="584200" marR="120014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compute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10%,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$912.89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Rather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-10">
                <a:latin typeface="Garamond"/>
                <a:cs typeface="Garamond"/>
              </a:rPr>
              <a:t> 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endParaRPr sz="1100">
              <a:latin typeface="Garamond"/>
              <a:cs typeface="Garamond"/>
            </a:endParaRPr>
          </a:p>
          <a:p>
            <a:pPr marL="5842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Computing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9%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reveals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is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maturity.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Garamond"/>
                <a:cs typeface="Garamond"/>
              </a:rPr>
              <a:t>Summary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Bond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Valuation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lvl="1" marL="711835" indent="-128270">
              <a:lnSpc>
                <a:spcPct val="100000"/>
              </a:lnSpc>
              <a:buAutoNum type="romanUcPeriod"/>
              <a:tabLst>
                <a:tab pos="712470" algn="l"/>
              </a:tabLst>
            </a:pPr>
            <a:r>
              <a:rPr dirty="0" sz="1100" b="1">
                <a:latin typeface="Garamond"/>
                <a:cs typeface="Garamond"/>
              </a:rPr>
              <a:t>Finding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bond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Garamond"/>
              <a:buAutoNum type="romanUcPeriod"/>
            </a:pPr>
            <a:endParaRPr sz="1100">
              <a:latin typeface="Garamond"/>
              <a:cs typeface="Garamond"/>
            </a:endParaRPr>
          </a:p>
          <a:p>
            <a:pPr marL="1499235" marR="1778635">
              <a:lnSpc>
                <a:spcPts val="1220"/>
              </a:lnSpc>
            </a:pP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25">
                <a:latin typeface="Garamond"/>
                <a:cs typeface="Garamond"/>
              </a:rPr>
              <a:t>[1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1/(1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r)t]/r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F/(1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r)t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Where: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promised coupon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endParaRPr sz="1100">
              <a:latin typeface="Garamond"/>
              <a:cs typeface="Garamond"/>
            </a:endParaRPr>
          </a:p>
          <a:p>
            <a:pPr marL="1499235">
              <a:lnSpc>
                <a:spcPts val="1195"/>
              </a:lnSpc>
            </a:pP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promised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 marL="1499235" marR="1911350">
              <a:lnSpc>
                <a:spcPts val="1220"/>
              </a:lnSpc>
              <a:spcBef>
                <a:spcPts val="75"/>
              </a:spcBef>
            </a:pPr>
            <a:r>
              <a:rPr dirty="0" sz="1100">
                <a:latin typeface="Garamond"/>
                <a:cs typeface="Garamond"/>
              </a:rPr>
              <a:t>t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>
                <a:latin typeface="Garamond"/>
                <a:cs typeface="Garamond"/>
              </a:rPr>
              <a:t>number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periods </a:t>
            </a:r>
            <a:r>
              <a:rPr dirty="0" sz="1100" spc="-5">
                <a:latin typeface="Garamond"/>
                <a:cs typeface="Garamond"/>
              </a:rPr>
              <a:t>until </a:t>
            </a:r>
            <a:r>
              <a:rPr dirty="0" sz="1100" spc="-10">
                <a:latin typeface="Garamond"/>
                <a:cs typeface="Garamond"/>
              </a:rPr>
              <a:t>the bond </a:t>
            </a:r>
            <a:r>
              <a:rPr dirty="0" sz="1100" spc="-5">
                <a:latin typeface="Garamond"/>
                <a:cs typeface="Garamond"/>
              </a:rPr>
              <a:t>matures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market’s required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YTM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Garamond"/>
              <a:cs typeface="Garamond"/>
            </a:endParaRPr>
          </a:p>
          <a:p>
            <a:pPr lvl="1" marL="767080" indent="-183515">
              <a:lnSpc>
                <a:spcPct val="100000"/>
              </a:lnSpc>
              <a:spcBef>
                <a:spcPts val="5"/>
              </a:spcBef>
              <a:buAutoNum type="romanUcPeriod" startAt="2"/>
              <a:tabLst>
                <a:tab pos="767715" algn="l"/>
              </a:tabLst>
            </a:pPr>
            <a:r>
              <a:rPr dirty="0" sz="1100" b="1">
                <a:latin typeface="Garamond"/>
                <a:cs typeface="Garamond"/>
              </a:rPr>
              <a:t>Finding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yield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15" b="1">
                <a:latin typeface="Garamond"/>
                <a:cs typeface="Garamond"/>
              </a:rPr>
              <a:t>on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bond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Garamond"/>
              <a:buAutoNum type="romanUcPeriod" startAt="2"/>
            </a:pPr>
            <a:endParaRPr sz="1100">
              <a:latin typeface="Garamond"/>
              <a:cs typeface="Garamond"/>
            </a:endParaRPr>
          </a:p>
          <a:p>
            <a:pPr algn="just" marL="584200" marR="117475">
              <a:lnSpc>
                <a:spcPct val="93700"/>
              </a:lnSpc>
            </a:pPr>
            <a:r>
              <a:rPr dirty="0" sz="1100">
                <a:latin typeface="Garamond"/>
                <a:cs typeface="Garamond"/>
              </a:rPr>
              <a:t>Given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bond value, </a:t>
            </a:r>
            <a:r>
              <a:rPr dirty="0" sz="1100" spc="-5">
                <a:latin typeface="Garamond"/>
                <a:cs typeface="Garamond"/>
              </a:rPr>
              <a:t>coupon, time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maturity,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5">
                <a:latin typeface="Garamond"/>
                <a:cs typeface="Garamond"/>
              </a:rPr>
              <a:t>face </a:t>
            </a:r>
            <a:r>
              <a:rPr dirty="0" sz="1100">
                <a:latin typeface="Garamond"/>
                <a:cs typeface="Garamond"/>
              </a:rPr>
              <a:t>value, it is possible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find </a:t>
            </a:r>
            <a:r>
              <a:rPr dirty="0" sz="1100" spc="-2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implicit </a:t>
            </a:r>
            <a:r>
              <a:rPr dirty="0" sz="1100">
                <a:latin typeface="Garamond"/>
                <a:cs typeface="Garamond"/>
              </a:rPr>
              <a:t> discount </a:t>
            </a:r>
            <a:r>
              <a:rPr dirty="0" sz="1100" spc="-5">
                <a:latin typeface="Garamond"/>
                <a:cs typeface="Garamond"/>
              </a:rPr>
              <a:t>rate,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yield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maturity,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>
                <a:latin typeface="Garamond"/>
                <a:cs typeface="Garamond"/>
              </a:rPr>
              <a:t>trial and error only.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15">
                <a:latin typeface="Garamond"/>
                <a:cs typeface="Garamond"/>
              </a:rPr>
              <a:t>do </a:t>
            </a:r>
            <a:r>
              <a:rPr dirty="0" sz="1100">
                <a:latin typeface="Garamond"/>
                <a:cs typeface="Garamond"/>
              </a:rPr>
              <a:t>this, </a:t>
            </a:r>
            <a:r>
              <a:rPr dirty="0" sz="1100" spc="-15">
                <a:latin typeface="Garamond"/>
                <a:cs typeface="Garamond"/>
              </a:rPr>
              <a:t>try </a:t>
            </a:r>
            <a:r>
              <a:rPr dirty="0" sz="1100" spc="-5">
                <a:latin typeface="Garamond"/>
                <a:cs typeface="Garamond"/>
              </a:rPr>
              <a:t>different </a:t>
            </a:r>
            <a:r>
              <a:rPr dirty="0" sz="1100">
                <a:latin typeface="Garamond"/>
                <a:cs typeface="Garamond"/>
              </a:rPr>
              <a:t>discount </a:t>
            </a:r>
            <a:r>
              <a:rPr dirty="0" sz="1100" spc="-5">
                <a:latin typeface="Garamond"/>
                <a:cs typeface="Garamond"/>
              </a:rPr>
              <a:t>rates </a:t>
            </a:r>
            <a:r>
              <a:rPr dirty="0" sz="1100">
                <a:latin typeface="Garamond"/>
                <a:cs typeface="Garamond"/>
              </a:rPr>
              <a:t> until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calculated </a:t>
            </a:r>
            <a:r>
              <a:rPr dirty="0" sz="1100" spc="-10">
                <a:latin typeface="Garamond"/>
                <a:cs typeface="Garamond"/>
              </a:rPr>
              <a:t>bond </a:t>
            </a:r>
            <a:r>
              <a:rPr dirty="0" sz="1100">
                <a:latin typeface="Garamond"/>
                <a:cs typeface="Garamond"/>
              </a:rPr>
              <a:t>value equals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given bond value. </a:t>
            </a:r>
            <a:r>
              <a:rPr dirty="0" sz="1100" spc="-5">
                <a:latin typeface="Garamond"/>
                <a:cs typeface="Garamond"/>
              </a:rPr>
              <a:t>Remember that </a:t>
            </a:r>
            <a:r>
              <a:rPr dirty="0" sz="1100">
                <a:latin typeface="Garamond"/>
                <a:cs typeface="Garamond"/>
              </a:rPr>
              <a:t>increasing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rate </a:t>
            </a:r>
            <a:r>
              <a:rPr dirty="0" sz="1100">
                <a:latin typeface="Garamond"/>
                <a:cs typeface="Garamond"/>
              </a:rPr>
              <a:t> decreases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Debt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vs.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584200" indent="-229235">
              <a:lnSpc>
                <a:spcPts val="1290"/>
              </a:lnSpc>
              <a:spcBef>
                <a:spcPts val="5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issued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classified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roughly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a:</a:t>
            </a:r>
            <a:endParaRPr sz="1100">
              <a:latin typeface="Garamond"/>
              <a:cs typeface="Garamond"/>
            </a:endParaRPr>
          </a:p>
          <a:p>
            <a:pPr marL="813435" indent="-229870">
              <a:lnSpc>
                <a:spcPts val="1260"/>
              </a:lnSpc>
              <a:buFont typeface="Courier New"/>
              <a:buChar char="o"/>
              <a:tabLst>
                <a:tab pos="812800" algn="l"/>
                <a:tab pos="814069" algn="l"/>
              </a:tabLst>
            </a:pP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endParaRPr sz="1100">
              <a:latin typeface="Garamond"/>
              <a:cs typeface="Garamond"/>
            </a:endParaRPr>
          </a:p>
          <a:p>
            <a:pPr marL="813435" indent="-229870">
              <a:lnSpc>
                <a:spcPts val="1290"/>
              </a:lnSpc>
              <a:buFont typeface="Courier New"/>
              <a:buChar char="o"/>
              <a:tabLst>
                <a:tab pos="812800" algn="l"/>
                <a:tab pos="814069" algn="l"/>
              </a:tabLst>
            </a:pPr>
            <a:r>
              <a:rPr dirty="0" sz="1100" spc="5">
                <a:latin typeface="Garamond"/>
                <a:cs typeface="Garamond"/>
              </a:rPr>
              <a:t>Debt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endParaRPr sz="1100">
              <a:latin typeface="Garamond"/>
              <a:cs typeface="Garamond"/>
            </a:endParaRPr>
          </a:p>
          <a:p>
            <a:pPr marL="584200" indent="-229235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584200" algn="l"/>
                <a:tab pos="584835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promise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endParaRPr sz="1100">
              <a:latin typeface="Garamond"/>
              <a:cs typeface="Garamond"/>
            </a:endParaRPr>
          </a:p>
          <a:p>
            <a:pPr marL="584200">
              <a:lnSpc>
                <a:spcPts val="1290"/>
              </a:lnSpc>
              <a:tabLst>
                <a:tab pos="8128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 spc="5">
                <a:latin typeface="Garamond"/>
                <a:cs typeface="Garamond"/>
              </a:rPr>
              <a:t>Make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regular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scheduled</a:t>
            </a:r>
            <a:r>
              <a:rPr dirty="0" sz="1100">
                <a:latin typeface="Garamond"/>
                <a:cs typeface="Garamond"/>
              </a:rPr>
              <a:t> 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payments,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4687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algn="just" marL="469900">
              <a:lnSpc>
                <a:spcPct val="100000"/>
              </a:lnSpc>
              <a:spcBef>
                <a:spcPts val="830"/>
              </a:spcBef>
            </a:pPr>
            <a:r>
              <a:rPr dirty="0" sz="1100" spc="5">
                <a:latin typeface="Courier New"/>
                <a:cs typeface="Courier New"/>
              </a:rPr>
              <a:t>o</a:t>
            </a:r>
            <a:r>
              <a:rPr dirty="0" sz="1100" spc="475">
                <a:latin typeface="Courier New"/>
                <a:cs typeface="Courier New"/>
              </a:rPr>
              <a:t> </a:t>
            </a:r>
            <a:r>
              <a:rPr dirty="0" sz="1100" spc="5">
                <a:latin typeface="Garamond"/>
                <a:cs typeface="Garamond"/>
              </a:rPr>
              <a:t>Repay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original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(principal)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differences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equity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following:</a:t>
            </a:r>
            <a:endParaRPr sz="1100">
              <a:latin typeface="Garamond"/>
              <a:cs typeface="Garamond"/>
            </a:endParaRPr>
          </a:p>
          <a:p>
            <a:pPr algn="just" lvl="1" marL="699135" marR="25400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Debt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10">
                <a:latin typeface="Garamond"/>
                <a:cs typeface="Garamond"/>
              </a:rPr>
              <a:t>not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-5">
                <a:latin typeface="Garamond"/>
                <a:cs typeface="Garamond"/>
              </a:rPr>
              <a:t> ownership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the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firm.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Creditors generally </a:t>
            </a:r>
            <a:r>
              <a:rPr dirty="0" sz="1100" spc="15">
                <a:latin typeface="Garamond"/>
                <a:cs typeface="Garamond"/>
              </a:rPr>
              <a:t>do </a:t>
            </a:r>
            <a:r>
              <a:rPr dirty="0" sz="1100" spc="10">
                <a:latin typeface="Garamond"/>
                <a:cs typeface="Garamond"/>
              </a:rPr>
              <a:t>not </a:t>
            </a:r>
            <a:r>
              <a:rPr dirty="0" sz="1100" spc="5">
                <a:latin typeface="Garamond"/>
                <a:cs typeface="Garamond"/>
              </a:rPr>
              <a:t>have </a:t>
            </a:r>
            <a:r>
              <a:rPr dirty="0" sz="1100">
                <a:latin typeface="Garamond"/>
                <a:cs typeface="Garamond"/>
              </a:rPr>
              <a:t>voting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power.</a:t>
            </a:r>
            <a:endParaRPr sz="1100">
              <a:latin typeface="Garamond"/>
              <a:cs typeface="Garamond"/>
            </a:endParaRPr>
          </a:p>
          <a:p>
            <a:pPr algn="just" lvl="1" marL="699135" marR="25400" indent="-229235">
              <a:lnSpc>
                <a:spcPts val="1220"/>
              </a:lnSpc>
              <a:spcBef>
                <a:spcPts val="45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Corporation’s payment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interest </a:t>
            </a:r>
            <a:r>
              <a:rPr dirty="0" sz="1100" spc="10">
                <a:latin typeface="Garamond"/>
                <a:cs typeface="Garamond"/>
              </a:rPr>
              <a:t>on debt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considered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cost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doing </a:t>
            </a:r>
            <a:r>
              <a:rPr dirty="0" sz="1100" spc="-5">
                <a:latin typeface="Garamond"/>
                <a:cs typeface="Garamond"/>
              </a:rPr>
              <a:t>business </a:t>
            </a:r>
            <a:r>
              <a:rPr dirty="0" sz="1100">
                <a:latin typeface="Garamond"/>
                <a:cs typeface="Garamond"/>
              </a:rPr>
              <a:t>and is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fully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deductible.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While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tax-deductible.</a:t>
            </a:r>
            <a:endParaRPr sz="1100">
              <a:latin typeface="Garamond"/>
              <a:cs typeface="Garamond"/>
            </a:endParaRPr>
          </a:p>
          <a:p>
            <a:pPr algn="just" lvl="1" marL="699135" marR="25400" indent="-229235">
              <a:lnSpc>
                <a:spcPts val="1220"/>
              </a:lnSpc>
              <a:spcBef>
                <a:spcPts val="45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Unpaid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firm.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paid,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creditors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legally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claim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firm, </a:t>
            </a:r>
            <a:r>
              <a:rPr dirty="0" sz="1100" spc="-5">
                <a:latin typeface="Garamond"/>
                <a:cs typeface="Garamond"/>
              </a:rPr>
              <a:t>resulting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5">
                <a:latin typeface="Garamond"/>
                <a:cs typeface="Garamond"/>
              </a:rPr>
              <a:t>bankruptcy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financial </a:t>
            </a:r>
            <a:r>
              <a:rPr dirty="0" sz="1100" spc="-10">
                <a:latin typeface="Garamond"/>
                <a:cs typeface="Garamond"/>
              </a:rPr>
              <a:t>failure. </a:t>
            </a: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 spc="-5">
                <a:latin typeface="Garamond"/>
                <a:cs typeface="Garamond"/>
              </a:rPr>
              <a:t>possibility </a:t>
            </a:r>
            <a:r>
              <a:rPr dirty="0" sz="1100" spc="10">
                <a:latin typeface="Garamond"/>
                <a:cs typeface="Garamond"/>
              </a:rPr>
              <a:t>does not </a:t>
            </a:r>
            <a:r>
              <a:rPr dirty="0" sz="1100">
                <a:latin typeface="Garamond"/>
                <a:cs typeface="Garamond"/>
              </a:rPr>
              <a:t>arise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issued.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Courier New"/>
              <a:buChar char="o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5" b="1">
                <a:latin typeface="Garamond"/>
                <a:cs typeface="Garamond"/>
              </a:rPr>
              <a:t>Long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Term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Debt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3302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Long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promises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made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principal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when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unpaid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features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distinguish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another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Maturity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length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remains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outstanding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unpaid </a:t>
            </a:r>
            <a:r>
              <a:rPr dirty="0" sz="1100">
                <a:latin typeface="Garamond"/>
                <a:cs typeface="Garamond"/>
              </a:rPr>
              <a:t>balance.</a:t>
            </a:r>
            <a:endParaRPr sz="1100">
              <a:latin typeface="Garamond"/>
              <a:cs typeface="Garamond"/>
            </a:endParaRPr>
          </a:p>
          <a:p>
            <a:pPr lvl="1" marL="699135" marR="27305" indent="-229235">
              <a:lnSpc>
                <a:spcPts val="1220"/>
              </a:lnSpc>
              <a:spcBef>
                <a:spcPts val="80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Short-term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(having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less)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sometimes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referred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unfunded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Debt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typically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notes,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debentures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 marL="469900" marR="3492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Strictly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speaking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secured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refers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kinds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secure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unsecured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15">
                <a:latin typeface="Garamond"/>
                <a:cs typeface="Garamond"/>
              </a:rPr>
              <a:t>P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10">
                <a:latin typeface="Garamond"/>
                <a:cs typeface="Garamond"/>
              </a:rPr>
              <a:t>b</a:t>
            </a:r>
            <a:r>
              <a:rPr dirty="0" sz="1100" spc="-5">
                <a:latin typeface="Garamond"/>
                <a:cs typeface="Garamond"/>
              </a:rPr>
              <a:t>li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15">
                <a:latin typeface="Garamond"/>
                <a:cs typeface="Garamond"/>
              </a:rPr>
              <a:t>-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10">
                <a:latin typeface="Garamond"/>
                <a:cs typeface="Garamond"/>
              </a:rPr>
              <a:t>ss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b</a:t>
            </a:r>
            <a:r>
              <a:rPr dirty="0" sz="1100" spc="-25">
                <a:latin typeface="Garamond"/>
                <a:cs typeface="Garamond"/>
              </a:rPr>
              <a:t>o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20">
                <a:latin typeface="Garamond"/>
                <a:cs typeface="Garamond"/>
              </a:rPr>
              <a:t>d</a:t>
            </a:r>
            <a:r>
              <a:rPr dirty="0" sz="1100" spc="5">
                <a:latin typeface="Garamond"/>
                <a:cs typeface="Garamond"/>
              </a:rPr>
              <a:t>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offered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general public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Privately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placed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placed</a:t>
            </a:r>
            <a:r>
              <a:rPr dirty="0" sz="1100" spc="-5">
                <a:latin typeface="Garamond"/>
                <a:cs typeface="Garamond"/>
              </a:rPr>
              <a:t> 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private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lender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general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public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Features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Super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Stores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Bond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62481" y="5273674"/>
          <a:ext cx="5503545" cy="3920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4110"/>
                <a:gridCol w="1079500"/>
                <a:gridCol w="3275965"/>
              </a:tblGrid>
              <a:tr h="260858">
                <a:tc>
                  <a:txBody>
                    <a:bodyPr/>
                    <a:lstStyle/>
                    <a:p>
                      <a:pPr marL="68580">
                        <a:lnSpc>
                          <a:spcPts val="119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Term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352425">
                        <a:lnSpc>
                          <a:spcPts val="119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Explanation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213609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Amount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of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Issue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$125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Million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company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will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issue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$125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million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worth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bonds.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393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Date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Issue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048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28</a:t>
                      </a:r>
                      <a:r>
                        <a:rPr dirty="0" baseline="21367" sz="975" spc="15">
                          <a:latin typeface="Garamond"/>
                          <a:cs typeface="Garamond"/>
                        </a:rPr>
                        <a:t>th</a:t>
                      </a:r>
                      <a:r>
                        <a:rPr dirty="0" baseline="21367" sz="975" spc="1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Feb.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1986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048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bonds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were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sold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on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28</a:t>
                      </a:r>
                      <a:r>
                        <a:rPr dirty="0" baseline="21367" sz="975" spc="15">
                          <a:latin typeface="Garamond"/>
                          <a:cs typeface="Garamond"/>
                        </a:rPr>
                        <a:t>th</a:t>
                      </a:r>
                      <a:r>
                        <a:rPr dirty="0" baseline="21367" sz="975" spc="19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Feb.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1986.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048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5393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Maturity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1</a:t>
                      </a:r>
                      <a:r>
                        <a:rPr dirty="0" baseline="21367" sz="975" spc="15">
                          <a:latin typeface="Garamond"/>
                          <a:cs typeface="Garamond"/>
                        </a:rPr>
                        <a:t>st</a:t>
                      </a:r>
                      <a:r>
                        <a:rPr dirty="0" baseline="21367" sz="975" spc="1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April.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2016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principal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will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paid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30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years.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857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Face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Value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048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048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denomination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bonds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is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$1,000.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048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62727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Annual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Coupon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02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9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.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 marL="132715" marR="163830">
                        <a:lnSpc>
                          <a:spcPts val="1230"/>
                        </a:lnSpc>
                        <a:spcBef>
                          <a:spcPts val="29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Each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bondholder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will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receive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$92.50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per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bond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per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year </a:t>
                      </a:r>
                      <a:r>
                        <a:rPr dirty="0" sz="1100" spc="-2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(9.25%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face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value).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746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Offer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Price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11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offer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price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will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100%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$1,000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face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value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32715">
                        <a:lnSpc>
                          <a:spcPts val="12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per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bond.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15722"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Coupon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Payment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117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1</a:t>
                      </a:r>
                      <a:r>
                        <a:rPr dirty="0" baseline="21367" sz="975" spc="15">
                          <a:latin typeface="Garamond"/>
                          <a:cs typeface="Garamond"/>
                        </a:rPr>
                        <a:t>st</a:t>
                      </a:r>
                      <a:r>
                        <a:rPr dirty="0" baseline="21367" sz="975" spc="1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Mar,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1</a:t>
                      </a:r>
                      <a:r>
                        <a:rPr dirty="0" baseline="21367" sz="975" spc="22">
                          <a:latin typeface="Garamond"/>
                          <a:cs typeface="Garamond"/>
                        </a:rPr>
                        <a:t>st</a:t>
                      </a:r>
                      <a:r>
                        <a:rPr dirty="0" baseline="21367" sz="975" spc="14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Sep.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Coupons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$92.50/2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$46.25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will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dates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paid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32715">
                        <a:lnSpc>
                          <a:spcPts val="12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these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dates.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2168"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Security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11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None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1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bonds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are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debentures.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6047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Sinking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Fund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6034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Annual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6034"/>
                </a:tc>
                <a:tc>
                  <a:txBody>
                    <a:bodyPr/>
                    <a:lstStyle/>
                    <a:p>
                      <a:pPr marL="132715" marR="125730">
                        <a:lnSpc>
                          <a:spcPts val="1260"/>
                        </a:lnSpc>
                        <a:spcBef>
                          <a:spcPts val="2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firm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will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make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annual payments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toward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the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sinking </a:t>
                      </a:r>
                      <a:r>
                        <a:rPr dirty="0" sz="1100" spc="-2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fund.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Beginning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on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1</a:t>
                      </a:r>
                      <a:r>
                        <a:rPr dirty="0" baseline="21367" sz="975" spc="15">
                          <a:latin typeface="Garamond"/>
                          <a:cs typeface="Garamond"/>
                        </a:rPr>
                        <a:t>st</a:t>
                      </a:r>
                      <a:r>
                        <a:rPr dirty="0" baseline="21367" sz="975" spc="157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April,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1997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730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15563"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Call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Provision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117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Not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Callable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bonds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have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deferred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call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feature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before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28</a:t>
                      </a:r>
                      <a:r>
                        <a:rPr dirty="0" baseline="21367" sz="975" spc="22">
                          <a:latin typeface="Garamond"/>
                          <a:cs typeface="Garamond"/>
                        </a:rPr>
                        <a:t>th</a:t>
                      </a:r>
                      <a:r>
                        <a:rPr dirty="0" baseline="21367" sz="975" spc="1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Feb.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32715">
                        <a:lnSpc>
                          <a:spcPts val="12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1993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71106"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Call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Price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11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106.48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Initially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After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28</a:t>
                      </a:r>
                      <a:r>
                        <a:rPr dirty="0" baseline="21367" sz="975" spc="15">
                          <a:latin typeface="Garamond"/>
                          <a:cs typeface="Garamond"/>
                        </a:rPr>
                        <a:t>th</a:t>
                      </a:r>
                      <a:r>
                        <a:rPr dirty="0" baseline="21367" sz="975" spc="209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Feb.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1993,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company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declining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100</a:t>
                      </a:r>
                      <a:r>
                        <a:rPr dirty="0" sz="1100" spc="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32715">
                        <a:lnSpc>
                          <a:spcPts val="124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buyback</a:t>
                      </a:r>
                      <a:r>
                        <a:rPr dirty="0" sz="1100" spc="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bonds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for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$1,064.80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per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bond,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declining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32715">
                        <a:lnSpc>
                          <a:spcPts val="12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$1,000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on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28</a:t>
                      </a:r>
                      <a:r>
                        <a:rPr dirty="0" baseline="21367" sz="975" spc="15">
                          <a:latin typeface="Garamond"/>
                          <a:cs typeface="Garamond"/>
                        </a:rPr>
                        <a:t>th</a:t>
                      </a:r>
                      <a:r>
                        <a:rPr dirty="0" baseline="21367" sz="975" spc="20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Feb.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2005.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26950"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Rating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11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A2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This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is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higher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rating.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bonds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have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low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probability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32715">
                        <a:lnSpc>
                          <a:spcPts val="127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default.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12307" y="714501"/>
            <a:ext cx="8166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20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78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629" y="883665"/>
            <a:ext cx="5674360" cy="8296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35"/>
              </a:spcBef>
            </a:pPr>
            <a:r>
              <a:rPr dirty="0" sz="1150" spc="35" b="1">
                <a:latin typeface="Garamond"/>
                <a:cs typeface="Garamond"/>
              </a:rPr>
              <a:t>THE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BOND</a:t>
            </a:r>
            <a:r>
              <a:rPr dirty="0" sz="1150" spc="-5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INDENTURE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13335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indenture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contract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bondholders.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Usually,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trustee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(perhaps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bank)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hired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issuer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protect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bondholders’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trust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Make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indenture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obeyed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Manage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sinking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fund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Represent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bondholders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default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indenture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includes: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basic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bonds </a:t>
            </a:r>
            <a:r>
              <a:rPr dirty="0" sz="1100" spc="-10">
                <a:latin typeface="Garamond"/>
                <a:cs typeface="Garamond"/>
              </a:rPr>
              <a:t>issued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description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repayment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arrangements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call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provisions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Details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protective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covenants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100" b="1">
                <a:latin typeface="Garamond"/>
                <a:cs typeface="Garamond"/>
              </a:rPr>
              <a:t>Terms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-5" b="1">
                <a:latin typeface="Garamond"/>
                <a:cs typeface="Garamond"/>
              </a:rPr>
              <a:t> Bond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Corporate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usually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principal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certificate.</a:t>
            </a:r>
            <a:endParaRPr sz="1100">
              <a:latin typeface="Garamond"/>
              <a:cs typeface="Garamond"/>
            </a:endParaRPr>
          </a:p>
          <a:p>
            <a:pPr marL="469900" marR="14604" indent="-228600">
              <a:lnSpc>
                <a:spcPts val="122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par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(initial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value)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almost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always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terms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interchangeably.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usually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registered</a:t>
            </a:r>
            <a:r>
              <a:rPr dirty="0" sz="1100">
                <a:latin typeface="Garamond"/>
                <a:cs typeface="Garamond"/>
              </a:rPr>
              <a:t> form.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keeps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register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recording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ownership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each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any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thereof.</a:t>
            </a:r>
            <a:endParaRPr sz="1100">
              <a:latin typeface="Garamond"/>
              <a:cs typeface="Garamond"/>
            </a:endParaRPr>
          </a:p>
          <a:p>
            <a:pPr algn="just" marL="469900" marR="1270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company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>
                <a:latin typeface="Garamond"/>
                <a:cs typeface="Garamond"/>
              </a:rPr>
              <a:t>pay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interest </a:t>
            </a:r>
            <a:r>
              <a:rPr dirty="0" sz="1100">
                <a:latin typeface="Garamond"/>
                <a:cs typeface="Garamond"/>
              </a:rPr>
              <a:t>and principal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cheque mailed </a:t>
            </a:r>
            <a:r>
              <a:rPr dirty="0" sz="1100">
                <a:latin typeface="Garamond"/>
                <a:cs typeface="Garamond"/>
              </a:rPr>
              <a:t>directly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address </a:t>
            </a:r>
            <a:r>
              <a:rPr dirty="0" sz="1100" spc="5">
                <a:latin typeface="Garamond"/>
                <a:cs typeface="Garamond"/>
              </a:rPr>
              <a:t>of the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record.</a:t>
            </a:r>
            <a:endParaRPr sz="1100">
              <a:latin typeface="Garamond"/>
              <a:cs typeface="Garamond"/>
            </a:endParaRPr>
          </a:p>
          <a:p>
            <a:pPr algn="just" marL="469900" marR="1079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b="1">
                <a:latin typeface="Garamond"/>
                <a:cs typeface="Garamond"/>
              </a:rPr>
              <a:t>registered </a:t>
            </a:r>
            <a:r>
              <a:rPr dirty="0" sz="1100" spc="-10" b="1">
                <a:latin typeface="Garamond"/>
                <a:cs typeface="Garamond"/>
              </a:rPr>
              <a:t>and </a:t>
            </a:r>
            <a:r>
              <a:rPr dirty="0" sz="1100" spc="-5" b="1">
                <a:latin typeface="Garamond"/>
                <a:cs typeface="Garamond"/>
              </a:rPr>
              <a:t>have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attached </a:t>
            </a:r>
            <a:r>
              <a:rPr dirty="0" sz="1100" b="1">
                <a:latin typeface="Garamond"/>
                <a:cs typeface="Garamond"/>
              </a:rPr>
              <a:t>coupons</a:t>
            </a:r>
            <a:r>
              <a:rPr dirty="0" sz="1100">
                <a:latin typeface="Garamond"/>
                <a:cs typeface="Garamond"/>
              </a:rPr>
              <a:t>.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obtain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 </a:t>
            </a:r>
            <a:r>
              <a:rPr dirty="0" sz="1100">
                <a:latin typeface="Garamond"/>
                <a:cs typeface="Garamond"/>
              </a:rPr>
              <a:t>payment, 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must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separate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certificate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registrar</a:t>
            </a:r>
            <a:endParaRPr sz="1100">
              <a:latin typeface="Garamond"/>
              <a:cs typeface="Garamond"/>
            </a:endParaRPr>
          </a:p>
          <a:p>
            <a:pPr algn="just" marL="469900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Alternatively,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bond </a:t>
            </a:r>
            <a:r>
              <a:rPr dirty="0" sz="1100" spc="-5">
                <a:latin typeface="Garamond"/>
                <a:cs typeface="Garamond"/>
              </a:rPr>
              <a:t>could </a:t>
            </a:r>
            <a:r>
              <a:rPr dirty="0" sz="1100" spc="-10">
                <a:latin typeface="Garamond"/>
                <a:cs typeface="Garamond"/>
              </a:rPr>
              <a:t>be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10" b="1">
                <a:latin typeface="Garamond"/>
                <a:cs typeface="Garamond"/>
              </a:rPr>
              <a:t>bearer </a:t>
            </a:r>
            <a:r>
              <a:rPr dirty="0" sz="1100" spc="-5" b="1">
                <a:latin typeface="Garamond"/>
                <a:cs typeface="Garamond"/>
              </a:rPr>
              <a:t>form</a:t>
            </a:r>
            <a:r>
              <a:rPr dirty="0" sz="1100" spc="-5">
                <a:latin typeface="Garamond"/>
                <a:cs typeface="Garamond"/>
              </a:rPr>
              <a:t>,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>
                <a:latin typeface="Garamond"/>
                <a:cs typeface="Garamond"/>
              </a:rPr>
              <a:t>which </a:t>
            </a:r>
            <a:r>
              <a:rPr dirty="0" sz="1100" spc="-5">
                <a:latin typeface="Garamond"/>
                <a:cs typeface="Garamond"/>
              </a:rPr>
              <a:t>case,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certificate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evidence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ownership and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company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>
                <a:latin typeface="Garamond"/>
                <a:cs typeface="Garamond"/>
              </a:rPr>
              <a:t>pay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bearer. Ownership is </a:t>
            </a:r>
            <a:r>
              <a:rPr dirty="0" sz="1100" spc="-5">
                <a:latin typeface="Garamond"/>
                <a:cs typeface="Garamond"/>
              </a:rPr>
              <a:t>not recorded,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holder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certificate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detaches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coupons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payments.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Bearer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difficult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recover</a:t>
            </a:r>
            <a:r>
              <a:rPr dirty="0" sz="1100">
                <a:latin typeface="Garamond"/>
                <a:cs typeface="Garamond"/>
              </a:rPr>
              <a:t> if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stolen.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record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ownership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cannot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notify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bondholders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events.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Security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Debt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classified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collateral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mortgages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used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protect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bondholders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Collateral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means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(bonds,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stocks)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pledged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security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  <a:p>
            <a:pPr marL="469900" marR="14604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Mortgage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secured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mortgage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property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borrower,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involving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usually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estate.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Debenture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unsecured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specific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pledge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property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made</a:t>
            </a:r>
            <a:endParaRPr sz="1100">
              <a:latin typeface="Garamond"/>
              <a:cs typeface="Garamond"/>
            </a:endParaRPr>
          </a:p>
          <a:p>
            <a:pPr marL="469900" marR="1206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note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such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instruments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10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issued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Seniority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algn="just" marL="469900" marR="8890" indent="-228600">
              <a:lnSpc>
                <a:spcPts val="126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Seniority indicates </a:t>
            </a:r>
            <a:r>
              <a:rPr dirty="0" sz="1100" spc="-5">
                <a:latin typeface="Garamond"/>
                <a:cs typeface="Garamond"/>
              </a:rPr>
              <a:t>preference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 position over </a:t>
            </a:r>
            <a:r>
              <a:rPr dirty="0" sz="1100" spc="-5">
                <a:latin typeface="Garamond"/>
                <a:cs typeface="Garamond"/>
              </a:rPr>
              <a:t>lenders, </a:t>
            </a:r>
            <a:r>
              <a:rPr dirty="0" sz="1100">
                <a:latin typeface="Garamond"/>
                <a:cs typeface="Garamond"/>
              </a:rPr>
              <a:t>and debts are </a:t>
            </a:r>
            <a:r>
              <a:rPr dirty="0" sz="1100" spc="-5">
                <a:latin typeface="Garamond"/>
                <a:cs typeface="Garamond"/>
              </a:rPr>
              <a:t>sometimes labeled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senior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junior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indicate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seniority.</a:t>
            </a:r>
            <a:endParaRPr sz="1100">
              <a:latin typeface="Garamond"/>
              <a:cs typeface="Garamond"/>
            </a:endParaRPr>
          </a:p>
          <a:p>
            <a:pPr algn="just" marL="469900" marR="1079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event</a:t>
            </a:r>
            <a:r>
              <a:rPr dirty="0" sz="1100" spc="5">
                <a:latin typeface="Garamond"/>
                <a:cs typeface="Garamond"/>
              </a:rPr>
              <a:t> of </a:t>
            </a:r>
            <a:r>
              <a:rPr dirty="0" sz="1100">
                <a:latin typeface="Garamond"/>
                <a:cs typeface="Garamond"/>
              </a:rPr>
              <a:t>default,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holders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subordinated </a:t>
            </a:r>
            <a:r>
              <a:rPr dirty="0" sz="1100" spc="10">
                <a:latin typeface="Garamond"/>
                <a:cs typeface="Garamond"/>
              </a:rPr>
              <a:t>debt </a:t>
            </a:r>
            <a:r>
              <a:rPr dirty="0" sz="1100" spc="-10">
                <a:latin typeface="Garamond"/>
                <a:cs typeface="Garamond"/>
              </a:rPr>
              <a:t>must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give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preference </a:t>
            </a:r>
            <a:r>
              <a:rPr dirty="0" sz="1100" spc="5">
                <a:latin typeface="Garamond"/>
                <a:cs typeface="Garamond"/>
              </a:rPr>
              <a:t>to  other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specified</a:t>
            </a:r>
            <a:r>
              <a:rPr dirty="0" sz="1100" spc="-5">
                <a:latin typeface="Garamond"/>
                <a:cs typeface="Garamond"/>
              </a:rPr>
              <a:t> creditors.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However,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subordinated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73090" cy="88499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Repayment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algn="just" marL="469900" marR="10795" indent="-228600">
              <a:lnSpc>
                <a:spcPts val="1220"/>
              </a:lnSpc>
              <a:spcBef>
                <a:spcPts val="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Bonds </a:t>
            </a:r>
            <a:r>
              <a:rPr dirty="0" sz="1100" spc="-5">
                <a:latin typeface="Garamond"/>
                <a:cs typeface="Garamond"/>
              </a:rPr>
              <a:t>can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10">
                <a:latin typeface="Garamond"/>
                <a:cs typeface="Garamond"/>
              </a:rPr>
              <a:t>repaid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>
                <a:latin typeface="Garamond"/>
                <a:cs typeface="Garamond"/>
              </a:rPr>
              <a:t>maturity </a:t>
            </a:r>
            <a:r>
              <a:rPr dirty="0" sz="1100" spc="5">
                <a:latin typeface="Garamond"/>
                <a:cs typeface="Garamond"/>
              </a:rPr>
              <a:t>or they </a:t>
            </a:r>
            <a:r>
              <a:rPr dirty="0" sz="1100">
                <a:latin typeface="Garamond"/>
                <a:cs typeface="Garamond"/>
              </a:rPr>
              <a:t>may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5">
                <a:latin typeface="Garamond"/>
                <a:cs typeface="Garamond"/>
              </a:rPr>
              <a:t>repaid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5">
                <a:latin typeface="Garamond"/>
                <a:cs typeface="Garamond"/>
              </a:rPr>
              <a:t>part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5">
                <a:latin typeface="Garamond"/>
                <a:cs typeface="Garamond"/>
              </a:rPr>
              <a:t>entirety </a:t>
            </a:r>
            <a:r>
              <a:rPr dirty="0" sz="1100">
                <a:latin typeface="Garamond"/>
                <a:cs typeface="Garamond"/>
              </a:rPr>
              <a:t>before maturity.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Earlier repayment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handled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through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sinking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fund.</a:t>
            </a:r>
            <a:endParaRPr sz="1100">
              <a:latin typeface="Garamond"/>
              <a:cs typeface="Garamond"/>
            </a:endParaRPr>
          </a:p>
          <a:p>
            <a:pPr algn="just" marL="469900" marR="14604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sinking </a:t>
            </a:r>
            <a:r>
              <a:rPr dirty="0" sz="1100" spc="-5">
                <a:latin typeface="Garamond"/>
                <a:cs typeface="Garamond"/>
              </a:rPr>
              <a:t>fund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an </a:t>
            </a:r>
            <a:r>
              <a:rPr dirty="0" sz="1100" spc="-5">
                <a:latin typeface="Garamond"/>
                <a:cs typeface="Garamond"/>
              </a:rPr>
              <a:t>account managed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bond </a:t>
            </a:r>
            <a:r>
              <a:rPr dirty="0" sz="1100" spc="-10">
                <a:latin typeface="Garamond"/>
                <a:cs typeface="Garamond"/>
              </a:rPr>
              <a:t>trustee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purpose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repayment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bonds.</a:t>
            </a:r>
            <a:endParaRPr sz="1100">
              <a:latin typeface="Garamond"/>
              <a:cs typeface="Garamond"/>
            </a:endParaRPr>
          </a:p>
          <a:p>
            <a:pPr algn="just" marL="469900" marR="10160" indent="-228600">
              <a:lnSpc>
                <a:spcPct val="94100"/>
              </a:lnSpc>
              <a:spcBef>
                <a:spcPts val="9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company </a:t>
            </a:r>
            <a:r>
              <a:rPr dirty="0" sz="1100" spc="5">
                <a:latin typeface="Garamond"/>
                <a:cs typeface="Garamond"/>
              </a:rPr>
              <a:t>makes </a:t>
            </a:r>
            <a:r>
              <a:rPr dirty="0" sz="1100" spc="-5">
                <a:latin typeface="Garamond"/>
                <a:cs typeface="Garamond"/>
              </a:rPr>
              <a:t>annual </a:t>
            </a:r>
            <a:r>
              <a:rPr dirty="0" sz="1100">
                <a:latin typeface="Garamond"/>
                <a:cs typeface="Garamond"/>
              </a:rPr>
              <a:t>payment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trustee who uses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funds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retire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portion </a:t>
            </a:r>
            <a:r>
              <a:rPr dirty="0" sz="1100" spc="5">
                <a:latin typeface="Garamond"/>
                <a:cs typeface="Garamond"/>
              </a:rPr>
              <a:t>of the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either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buying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fraction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outstanding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Some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types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sinking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fund arrangements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are:</a:t>
            </a:r>
            <a:endParaRPr sz="1100">
              <a:latin typeface="Garamond"/>
              <a:cs typeface="Garamond"/>
            </a:endParaRPr>
          </a:p>
          <a:p>
            <a:pPr algn="just" lvl="1" marL="699135" indent="-229870">
              <a:lnSpc>
                <a:spcPts val="1260"/>
              </a:lnSpc>
              <a:buFont typeface="Courier New"/>
              <a:buChar char="o"/>
              <a:tabLst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Some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start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 </a:t>
            </a:r>
            <a:r>
              <a:rPr dirty="0" sz="1100" spc="-5">
                <a:latin typeface="Garamond"/>
                <a:cs typeface="Garamond"/>
              </a:rPr>
              <a:t>initial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issuance</a:t>
            </a:r>
            <a:endParaRPr sz="1100">
              <a:latin typeface="Garamond"/>
              <a:cs typeface="Garamond"/>
            </a:endParaRPr>
          </a:p>
          <a:p>
            <a:pPr algn="just" lvl="1" marL="699135" indent="-229870">
              <a:lnSpc>
                <a:spcPts val="1240"/>
              </a:lnSpc>
              <a:buFont typeface="Courier New"/>
              <a:buChar char="o"/>
              <a:tabLst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Some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funds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establish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equal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life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endParaRPr sz="1100">
              <a:latin typeface="Garamond"/>
              <a:cs typeface="Garamond"/>
            </a:endParaRPr>
          </a:p>
          <a:p>
            <a:pPr algn="just" lvl="1" marL="699135" marR="8255" indent="-229235">
              <a:lnSpc>
                <a:spcPts val="1220"/>
              </a:lnSpc>
              <a:spcBef>
                <a:spcPts val="75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Some </a:t>
            </a:r>
            <a:r>
              <a:rPr dirty="0" sz="1100" spc="-5">
                <a:latin typeface="Garamond"/>
                <a:cs typeface="Garamond"/>
              </a:rPr>
              <a:t>sinking</a:t>
            </a:r>
            <a:r>
              <a:rPr dirty="0" sz="1100">
                <a:latin typeface="Garamond"/>
                <a:cs typeface="Garamond"/>
              </a:rPr>
              <a:t> funds are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insufficient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redeem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entire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high-quality </a:t>
            </a:r>
            <a:r>
              <a:rPr dirty="0" sz="1100" spc="-5">
                <a:latin typeface="Garamond"/>
                <a:cs typeface="Garamond"/>
              </a:rPr>
              <a:t>bonds, </a:t>
            </a:r>
            <a:r>
              <a:rPr dirty="0" sz="1100">
                <a:latin typeface="Garamond"/>
                <a:cs typeface="Garamond"/>
              </a:rPr>
              <a:t> creating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possibility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“balloon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payment”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Courier New"/>
              <a:buChar char="o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Call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Provision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algn="just" marL="469900" marR="10795" indent="-228600">
              <a:lnSpc>
                <a:spcPts val="126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 spc="5">
                <a:latin typeface="Garamond"/>
                <a:cs typeface="Garamond"/>
              </a:rPr>
              <a:t>call </a:t>
            </a:r>
            <a:r>
              <a:rPr dirty="0" sz="1100" spc="-5">
                <a:latin typeface="Garamond"/>
                <a:cs typeface="Garamond"/>
              </a:rPr>
              <a:t>provision </a:t>
            </a:r>
            <a:r>
              <a:rPr dirty="0" sz="1100">
                <a:latin typeface="Garamond"/>
                <a:cs typeface="Garamond"/>
              </a:rPr>
              <a:t>allows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company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repurchase,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“call” </a:t>
            </a:r>
            <a:r>
              <a:rPr dirty="0" sz="1100" spc="5">
                <a:latin typeface="Garamond"/>
                <a:cs typeface="Garamond"/>
              </a:rPr>
              <a:t>part or all of </a:t>
            </a:r>
            <a:r>
              <a:rPr dirty="0" sz="1100" spc="-10">
                <a:latin typeface="Garamond"/>
                <a:cs typeface="Garamond"/>
              </a:rPr>
              <a:t>the bond </a:t>
            </a:r>
            <a:r>
              <a:rPr dirty="0" sz="1100" spc="-5">
                <a:latin typeface="Garamond"/>
                <a:cs typeface="Garamond"/>
              </a:rPr>
              <a:t>issue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prices</a:t>
            </a:r>
            <a:r>
              <a:rPr dirty="0" sz="1100">
                <a:latin typeface="Garamond"/>
                <a:cs typeface="Garamond"/>
              </a:rPr>
              <a:t> over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specific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period.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Generally,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stated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(par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value)</a:t>
            </a:r>
            <a:endParaRPr sz="1100">
              <a:latin typeface="Garamond"/>
              <a:cs typeface="Garamond"/>
            </a:endParaRPr>
          </a:p>
          <a:p>
            <a:pPr algn="just" marL="469900" marR="6350" indent="-228600">
              <a:lnSpc>
                <a:spcPct val="94100"/>
              </a:lnSpc>
              <a:spcBef>
                <a:spcPts val="16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difference between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call </a:t>
            </a:r>
            <a:r>
              <a:rPr dirty="0" sz="1100">
                <a:latin typeface="Garamond"/>
                <a:cs typeface="Garamond"/>
              </a:rPr>
              <a:t>price and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10">
                <a:latin typeface="Garamond"/>
                <a:cs typeface="Garamond"/>
              </a:rPr>
              <a:t>stated </a:t>
            </a:r>
            <a:r>
              <a:rPr dirty="0" sz="1100">
                <a:latin typeface="Garamond"/>
                <a:cs typeface="Garamond"/>
              </a:rPr>
              <a:t>value is </a:t>
            </a:r>
            <a:r>
              <a:rPr dirty="0" sz="1100" spc="5">
                <a:latin typeface="Garamond"/>
                <a:cs typeface="Garamond"/>
              </a:rPr>
              <a:t>the call </a:t>
            </a:r>
            <a:r>
              <a:rPr dirty="0" sz="1100">
                <a:latin typeface="Garamond"/>
                <a:cs typeface="Garamond"/>
              </a:rPr>
              <a:t>premium. </a:t>
            </a:r>
            <a:r>
              <a:rPr dirty="0" sz="1100" spc="-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amount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premium, </a:t>
            </a:r>
            <a:r>
              <a:rPr dirty="0" sz="1100" spc="-5">
                <a:latin typeface="Garamond"/>
                <a:cs typeface="Garamond"/>
              </a:rPr>
              <a:t>initially </a:t>
            </a:r>
            <a:r>
              <a:rPr dirty="0" sz="1100">
                <a:latin typeface="Garamond"/>
                <a:cs typeface="Garamond"/>
              </a:rPr>
              <a:t>set </a:t>
            </a:r>
            <a:r>
              <a:rPr dirty="0" sz="1100" spc="-5">
                <a:latin typeface="Garamond"/>
                <a:cs typeface="Garamond"/>
              </a:rPr>
              <a:t>equal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annual coupon payment, </a:t>
            </a:r>
            <a:r>
              <a:rPr dirty="0" sz="1100" spc="5">
                <a:latin typeface="Garamond"/>
                <a:cs typeface="Garamond"/>
              </a:rPr>
              <a:t>becomes </a:t>
            </a:r>
            <a:r>
              <a:rPr dirty="0" sz="1100" spc="-5">
                <a:latin typeface="Garamond"/>
                <a:cs typeface="Garamond"/>
              </a:rPr>
              <a:t>smaller </a:t>
            </a:r>
            <a:r>
              <a:rPr dirty="0" sz="1100">
                <a:latin typeface="Garamond"/>
                <a:cs typeface="Garamond"/>
              </a:rPr>
              <a:t>over </a:t>
            </a:r>
            <a:r>
              <a:rPr dirty="0" sz="1100" spc="5">
                <a:latin typeface="Garamond"/>
                <a:cs typeface="Garamond"/>
              </a:rPr>
              <a:t>time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declines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zero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moves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closer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maturity.</a:t>
            </a:r>
            <a:endParaRPr sz="1100">
              <a:latin typeface="Garamond"/>
              <a:cs typeface="Garamond"/>
            </a:endParaRPr>
          </a:p>
          <a:p>
            <a:pPr algn="just" marL="469900" marR="17145" indent="-228600">
              <a:lnSpc>
                <a:spcPts val="1260"/>
              </a:lnSpc>
              <a:spcBef>
                <a:spcPts val="14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Call </a:t>
            </a:r>
            <a:r>
              <a:rPr dirty="0" sz="1100" spc="-5">
                <a:latin typeface="Garamond"/>
                <a:cs typeface="Garamond"/>
              </a:rPr>
              <a:t>provisions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-5">
                <a:latin typeface="Garamond"/>
                <a:cs typeface="Garamond"/>
              </a:rPr>
              <a:t>not usually </a:t>
            </a:r>
            <a:r>
              <a:rPr dirty="0" sz="1100">
                <a:latin typeface="Garamond"/>
                <a:cs typeface="Garamond"/>
              </a:rPr>
              <a:t>operative </a:t>
            </a:r>
            <a:r>
              <a:rPr dirty="0" sz="1100" spc="-5">
                <a:latin typeface="Garamond"/>
                <a:cs typeface="Garamond"/>
              </a:rPr>
              <a:t>during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first part </a:t>
            </a:r>
            <a:r>
              <a:rPr dirty="0" sz="1100" spc="5">
                <a:latin typeface="Garamond"/>
                <a:cs typeface="Garamond"/>
              </a:rPr>
              <a:t>of a </a:t>
            </a:r>
            <a:r>
              <a:rPr dirty="0" sz="1100">
                <a:latin typeface="Garamond"/>
                <a:cs typeface="Garamond"/>
              </a:rPr>
              <a:t>bond’s life, making </a:t>
            </a:r>
            <a:r>
              <a:rPr dirty="0" sz="1100" spc="-20">
                <a:latin typeface="Garamond"/>
                <a:cs typeface="Garamond"/>
              </a:rPr>
              <a:t>it </a:t>
            </a:r>
            <a:r>
              <a:rPr dirty="0" sz="1100">
                <a:latin typeface="Garamond"/>
                <a:cs typeface="Garamond"/>
              </a:rPr>
              <a:t>less </a:t>
            </a:r>
            <a:r>
              <a:rPr dirty="0" sz="1100" spc="5">
                <a:latin typeface="Garamond"/>
                <a:cs typeface="Garamond"/>
              </a:rPr>
              <a:t>of a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worry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bondholders.</a:t>
            </a:r>
            <a:endParaRPr sz="1100">
              <a:latin typeface="Garamond"/>
              <a:cs typeface="Garamond"/>
            </a:endParaRPr>
          </a:p>
          <a:p>
            <a:pPr algn="just" marL="469900" marR="1143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 example,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company </a:t>
            </a:r>
            <a:r>
              <a:rPr dirty="0" sz="1100">
                <a:latin typeface="Garamond"/>
                <a:cs typeface="Garamond"/>
              </a:rPr>
              <a:t>may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5">
                <a:latin typeface="Garamond"/>
                <a:cs typeface="Garamond"/>
              </a:rPr>
              <a:t>prohibited from </a:t>
            </a:r>
            <a:r>
              <a:rPr dirty="0" sz="1100">
                <a:latin typeface="Garamond"/>
                <a:cs typeface="Garamond"/>
              </a:rPr>
              <a:t>calling its </a:t>
            </a:r>
            <a:r>
              <a:rPr dirty="0" sz="1100" spc="-5">
                <a:latin typeface="Garamond"/>
                <a:cs typeface="Garamond"/>
              </a:rPr>
              <a:t>bonds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first 10 </a:t>
            </a:r>
            <a:r>
              <a:rPr dirty="0" sz="1100" spc="-10">
                <a:latin typeface="Garamond"/>
                <a:cs typeface="Garamond"/>
              </a:rPr>
              <a:t>years, </a:t>
            </a:r>
            <a:r>
              <a:rPr dirty="0" sz="1100">
                <a:latin typeface="Garamond"/>
                <a:cs typeface="Garamond"/>
              </a:rPr>
              <a:t>making 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protective.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deferred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provisions.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Protective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Covenants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13970" indent="-228600">
              <a:lnSpc>
                <a:spcPts val="122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protective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covenant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part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indenture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loan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agreement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limits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certain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actions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might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during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loan.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7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covenants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classified </a:t>
            </a:r>
            <a:r>
              <a:rPr dirty="0" sz="1100" spc="5">
                <a:latin typeface="Garamond"/>
                <a:cs typeface="Garamond"/>
              </a:rPr>
              <a:t>into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types: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Negative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covenants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Positive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covenants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negative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covenant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limits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prohibits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actions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might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take.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example: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Limitation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according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formula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Restrict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pledging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lenders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Barring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merger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another</a:t>
            </a:r>
            <a:r>
              <a:rPr dirty="0" sz="1100">
                <a:latin typeface="Garamond"/>
                <a:cs typeface="Garamond"/>
              </a:rPr>
              <a:t> firm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Restricting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selling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5">
                <a:latin typeface="Garamond"/>
                <a:cs typeface="Garamond"/>
              </a:rPr>
              <a:t> leasing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Barring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issuance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positive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covenant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specifies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action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agrees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condition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abide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example: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must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maintain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specified </a:t>
            </a:r>
            <a:r>
              <a:rPr dirty="0" sz="1100">
                <a:latin typeface="Garamond"/>
                <a:cs typeface="Garamond"/>
              </a:rPr>
              <a:t>minimum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must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periodically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furnish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audited financial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lender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must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maintain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collateral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security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good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condition.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100" spc="5" b="1">
                <a:latin typeface="Garamond"/>
                <a:cs typeface="Garamond"/>
              </a:rPr>
              <a:t>Bond</a:t>
            </a:r>
            <a:r>
              <a:rPr dirty="0" sz="1100" spc="-7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Ratings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 ratings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assessment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creditworthiness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issuer.</a:t>
            </a:r>
            <a:endParaRPr sz="1100">
              <a:latin typeface="Garamond"/>
              <a:cs typeface="Garamond"/>
            </a:endParaRPr>
          </a:p>
          <a:p>
            <a:pPr marL="469900" marR="1524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definitions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creditworthiness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agencies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based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likely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default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protection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creditors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default.</a:t>
            </a:r>
            <a:endParaRPr sz="1100">
              <a:latin typeface="Garamond"/>
              <a:cs typeface="Garamond"/>
            </a:endParaRPr>
          </a:p>
          <a:p>
            <a:pPr marL="469900" marR="13335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ratings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concerned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only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possibility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default.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Since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address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quite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volatile.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888237"/>
            <a:ext cx="5440045" cy="49758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Long </a:t>
            </a:r>
            <a:r>
              <a:rPr dirty="0" sz="1100" spc="-5">
                <a:latin typeface="Garamond"/>
                <a:cs typeface="Garamond"/>
              </a:rPr>
              <a:t>Term</a:t>
            </a:r>
            <a:r>
              <a:rPr dirty="0" sz="1100">
                <a:latin typeface="Garamond"/>
                <a:cs typeface="Garamond"/>
              </a:rPr>
              <a:t> Ratings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PACRA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90"/>
              </a:lnSpc>
              <a:spcBef>
                <a:spcPts val="116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AAA: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quality.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‘AAA’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ratings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denote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AA: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Very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high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quality.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‘AA’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ratings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denote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very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expectation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A: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High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quality.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‘A’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ratings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denote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expectation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lvl="1" marL="469900" marR="5080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BBB: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Good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quality.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‘BBB’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ratings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indicate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buFont typeface="Courier New"/>
              <a:buChar char="o"/>
            </a:pPr>
            <a:endParaRPr sz="1250">
              <a:latin typeface="Garamond"/>
              <a:cs typeface="Garamond"/>
            </a:endParaRPr>
          </a:p>
          <a:p>
            <a:pPr marL="240665" marR="3491229" indent="-228600">
              <a:lnSpc>
                <a:spcPts val="123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Long </a:t>
            </a:r>
            <a:r>
              <a:rPr dirty="0" sz="1100" spc="-5">
                <a:latin typeface="Garamond"/>
                <a:cs typeface="Garamond"/>
              </a:rPr>
              <a:t>Term </a:t>
            </a:r>
            <a:r>
              <a:rPr dirty="0" sz="1100">
                <a:latin typeface="Garamond"/>
                <a:cs typeface="Garamond"/>
              </a:rPr>
              <a:t>Ratings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PACRA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Speculative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Grades: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lvl="1" marL="469900" indent="-229870">
              <a:lnSpc>
                <a:spcPts val="12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BB: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Speculative.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‘BB’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ratings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indicate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possibility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developing,</a:t>
            </a:r>
            <a:endParaRPr sz="1100">
              <a:latin typeface="Garamond"/>
              <a:cs typeface="Garamond"/>
            </a:endParaRPr>
          </a:p>
          <a:p>
            <a:pPr lvl="1" marL="469900" marR="12700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B: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speculative.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‘B’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ratings </a:t>
            </a:r>
            <a:r>
              <a:rPr dirty="0" sz="1100" spc="-5">
                <a:latin typeface="Garamond"/>
                <a:cs typeface="Garamond"/>
              </a:rPr>
              <a:t>indicate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significant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limited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margin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safety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remains.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0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CCC,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CC,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C: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default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Default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possibility.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Courier New"/>
              <a:buChar char="o"/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Short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Ratings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PACRA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90"/>
              </a:lnSpc>
              <a:spcBef>
                <a:spcPts val="116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A1+: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capacity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timely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repayment.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A1: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strong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capacity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timely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repayment.</a:t>
            </a:r>
            <a:endParaRPr sz="1100">
              <a:latin typeface="Garamond"/>
              <a:cs typeface="Garamond"/>
            </a:endParaRPr>
          </a:p>
          <a:p>
            <a:pPr lvl="1" marL="469900" marR="8890" indent="-229235">
              <a:lnSpc>
                <a:spcPts val="1220"/>
              </a:lnSpc>
              <a:spcBef>
                <a:spcPts val="7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A2: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satisfactory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capacity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timely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repayment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susceptible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adverse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economic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conditions.</a:t>
            </a:r>
            <a:endParaRPr sz="1100">
              <a:latin typeface="Garamond"/>
              <a:cs typeface="Garamond"/>
            </a:endParaRPr>
          </a:p>
          <a:p>
            <a:pPr lvl="1" marL="469900" marR="8890" indent="-229235">
              <a:lnSpc>
                <a:spcPts val="1230"/>
              </a:lnSpc>
              <a:spcBef>
                <a:spcPts val="3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A3: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adequate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capacity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timely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repayment.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susceptible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adverse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economic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conditions.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Courier New"/>
              <a:buChar char="o"/>
            </a:pP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Short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Ratings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PACRA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lvl="1" marL="469900" marR="8890" indent="-229235">
              <a:lnSpc>
                <a:spcPts val="122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B: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timely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repayment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susceptible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adverse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economic,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conditions.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1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C: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inadequate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capacity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ensure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repayment.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7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D: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high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default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default.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68010" cy="47428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4827270">
              <a:lnSpc>
                <a:spcPts val="1355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-5" b="1">
                <a:latin typeface="Garamond"/>
                <a:cs typeface="Garamond"/>
              </a:rPr>
              <a:t>21</a:t>
            </a:r>
            <a:endParaRPr sz="1150">
              <a:latin typeface="Garamond"/>
              <a:cs typeface="Garamond"/>
            </a:endParaRPr>
          </a:p>
          <a:p>
            <a:pPr algn="ctr">
              <a:lnSpc>
                <a:spcPts val="1355"/>
              </a:lnSpc>
            </a:pPr>
            <a:r>
              <a:rPr dirty="0" sz="1150" spc="25" b="1">
                <a:latin typeface="Garamond"/>
                <a:cs typeface="Garamond"/>
              </a:rPr>
              <a:t>DIFFERENT</a:t>
            </a:r>
            <a:r>
              <a:rPr dirty="0" sz="1150" spc="-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TYPES</a:t>
            </a:r>
            <a:r>
              <a:rPr dirty="0" sz="1150" spc="30" b="1">
                <a:latin typeface="Garamond"/>
                <a:cs typeface="Garamond"/>
              </a:rPr>
              <a:t> </a:t>
            </a:r>
            <a:r>
              <a:rPr dirty="0" sz="1150" spc="20" b="1">
                <a:latin typeface="Garamond"/>
                <a:cs typeface="Garamond"/>
              </a:rPr>
              <a:t>OF</a:t>
            </a:r>
            <a:r>
              <a:rPr dirty="0" sz="1150" spc="15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BONDS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Government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Zero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15">
                <a:latin typeface="Garamond"/>
                <a:cs typeface="Garamond"/>
              </a:rPr>
              <a:t>F</a:t>
            </a:r>
            <a:r>
              <a:rPr dirty="0" sz="1100" spc="-5">
                <a:latin typeface="Garamond"/>
                <a:cs typeface="Garamond"/>
              </a:rPr>
              <a:t>l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10">
                <a:latin typeface="Garamond"/>
                <a:cs typeface="Garamond"/>
              </a:rPr>
              <a:t>g</a:t>
            </a:r>
            <a:r>
              <a:rPr dirty="0" sz="1100" spc="15">
                <a:latin typeface="Garamond"/>
                <a:cs typeface="Garamond"/>
              </a:rPr>
              <a:t>-</a:t>
            </a:r>
            <a:r>
              <a:rPr dirty="0" sz="1100" spc="-40">
                <a:latin typeface="Garamond"/>
                <a:cs typeface="Garamond"/>
              </a:rPr>
              <a:t>R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20">
                <a:latin typeface="Garamond"/>
                <a:cs typeface="Garamond"/>
              </a:rPr>
              <a:t>d</a:t>
            </a:r>
            <a:r>
              <a:rPr dirty="0" sz="1100" spc="5">
                <a:latin typeface="Garamond"/>
                <a:cs typeface="Garamond"/>
              </a:rPr>
              <a:t>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Government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10160" indent="-228600">
              <a:lnSpc>
                <a:spcPts val="122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government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wishes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known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treasury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notes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(mostly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ordinary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bond)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public.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Govt.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treasury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default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exempted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100" spc="5" b="1">
                <a:latin typeface="Garamond"/>
                <a:cs typeface="Garamond"/>
              </a:rPr>
              <a:t>Zero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Coupon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6985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 zero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Initial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set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$497,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15%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paid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life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497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$503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purposes,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zero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coupon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deducts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though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paid.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break,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yields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yields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Garamond"/>
              <a:cs typeface="Garamond"/>
            </a:endParaRPr>
          </a:p>
          <a:p>
            <a:pPr marL="12700" marR="4149090">
              <a:lnSpc>
                <a:spcPts val="1230"/>
              </a:lnSpc>
            </a:pPr>
            <a:r>
              <a:rPr dirty="0" sz="1100" spc="-5" b="1">
                <a:latin typeface="Garamond"/>
                <a:cs typeface="Garamond"/>
              </a:rPr>
              <a:t>Different Types </a:t>
            </a:r>
            <a:r>
              <a:rPr dirty="0" sz="1100" b="1">
                <a:latin typeface="Garamond"/>
                <a:cs typeface="Garamond"/>
              </a:rPr>
              <a:t>of Bonds </a:t>
            </a:r>
            <a:r>
              <a:rPr dirty="0" sz="1100" spc="-26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Zero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Coupon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81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436497" y="5612256"/>
          <a:ext cx="5151120" cy="1400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8159"/>
                <a:gridCol w="1193165"/>
                <a:gridCol w="1017905"/>
                <a:gridCol w="1184909"/>
                <a:gridCol w="1236344"/>
              </a:tblGrid>
              <a:tr h="320039">
                <a:tc>
                  <a:txBody>
                    <a:bodyPr/>
                    <a:lstStyle/>
                    <a:p>
                      <a:pPr algn="r" marR="9588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6515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Beginning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Value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6515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Ending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Value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6515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Implicit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Interest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Expenses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Straight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Line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ts val="129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Expense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7414">
                <a:tc>
                  <a:txBody>
                    <a:bodyPr/>
                    <a:lstStyle/>
                    <a:p>
                      <a:pPr algn="ctr" marL="32384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$497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$572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$100.60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L="3238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572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658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86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algn="ctr" marL="3238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658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756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98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algn="ctr" marL="3238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756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870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114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algn="ctr" marL="3238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870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100.60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164">
                <a:tc>
                  <a:txBody>
                    <a:bodyPr/>
                    <a:lstStyle/>
                    <a:p>
                      <a:pPr algn="r" marR="121920">
                        <a:lnSpc>
                          <a:spcPts val="125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u="dbl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$503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u="dbl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$503.00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7159243"/>
            <a:ext cx="5674995" cy="23818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Floating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Rate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 </a:t>
            </a:r>
            <a:r>
              <a:rPr dirty="0" sz="1100" spc="-5">
                <a:latin typeface="Garamond"/>
                <a:cs typeface="Garamond"/>
              </a:rPr>
              <a:t>case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floating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-5">
                <a:latin typeface="Garamond"/>
                <a:cs typeface="Garamond"/>
              </a:rPr>
              <a:t> bonds,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coupon </a:t>
            </a:r>
            <a:r>
              <a:rPr dirty="0" sz="1100">
                <a:latin typeface="Garamond"/>
                <a:cs typeface="Garamond"/>
              </a:rPr>
              <a:t>payments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-5">
                <a:latin typeface="Garamond"/>
                <a:cs typeface="Garamond"/>
              </a:rPr>
              <a:t> adjustable </a:t>
            </a:r>
            <a:r>
              <a:rPr dirty="0" sz="1100" spc="5">
                <a:latin typeface="Garamond"/>
                <a:cs typeface="Garamond"/>
              </a:rPr>
              <a:t>with </a:t>
            </a:r>
            <a:r>
              <a:rPr dirty="0" sz="1100" spc="-5">
                <a:latin typeface="Garamond"/>
                <a:cs typeface="Garamond"/>
              </a:rPr>
              <a:t>respect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an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index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treasury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bills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 marL="469900" marR="1841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floating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adjustment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definition.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cases,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adjusts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majority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floating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features.</a:t>
            </a:r>
            <a:endParaRPr sz="1100">
              <a:latin typeface="Garamond"/>
              <a:cs typeface="Garamond"/>
            </a:endParaRPr>
          </a:p>
          <a:p>
            <a:pPr marL="469900" marR="1651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Holder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right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redeem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note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date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after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some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specified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called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put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provision.</a:t>
            </a:r>
            <a:endParaRPr sz="1100">
              <a:latin typeface="Garamond"/>
              <a:cs typeface="Garamond"/>
            </a:endParaRPr>
          </a:p>
          <a:p>
            <a:pPr marL="469900" marR="635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Coupon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ceiling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i.e.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subjected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minimum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maximum.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Thus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capped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upper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collar.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type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Inflation-linked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bond.</a:t>
            </a:r>
            <a:endParaRPr sz="1100">
              <a:latin typeface="Garamond"/>
              <a:cs typeface="Garamond"/>
            </a:endParaRPr>
          </a:p>
          <a:p>
            <a:pPr marL="469900" marR="1714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Such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adjusted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according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inflation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principal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adjusted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well).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69915" cy="88677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Other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types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10160" indent="-228600">
              <a:lnSpc>
                <a:spcPts val="122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 b="1">
                <a:latin typeface="Garamond"/>
                <a:cs typeface="Garamond"/>
              </a:rPr>
              <a:t>Income</a:t>
            </a:r>
            <a:r>
              <a:rPr dirty="0" sz="1100" spc="1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bonds</a:t>
            </a:r>
            <a:r>
              <a:rPr dirty="0" sz="1100" spc="135" b="1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sufficient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enough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support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such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Convertible bonds </a:t>
            </a:r>
            <a:r>
              <a:rPr dirty="0" sz="1100" spc="-5">
                <a:latin typeface="Garamond"/>
                <a:cs typeface="Garamond"/>
              </a:rPr>
              <a:t>can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10">
                <a:latin typeface="Garamond"/>
                <a:cs typeface="Garamond"/>
              </a:rPr>
              <a:t>swapped </a:t>
            </a:r>
            <a:r>
              <a:rPr dirty="0" sz="1100" spc="5">
                <a:latin typeface="Garamond"/>
                <a:cs typeface="Garamond"/>
              </a:rPr>
              <a:t>for a </a:t>
            </a:r>
            <a:r>
              <a:rPr dirty="0" sz="1100" spc="-5">
                <a:latin typeface="Garamond"/>
                <a:cs typeface="Garamond"/>
              </a:rPr>
              <a:t>fixed </a:t>
            </a:r>
            <a:r>
              <a:rPr dirty="0" sz="1100">
                <a:latin typeface="Garamond"/>
                <a:cs typeface="Garamond"/>
              </a:rPr>
              <a:t>number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shares </a:t>
            </a:r>
            <a:r>
              <a:rPr dirty="0" sz="1100" spc="-10">
                <a:latin typeface="Garamond"/>
                <a:cs typeface="Garamond"/>
              </a:rPr>
              <a:t>at </a:t>
            </a:r>
            <a:r>
              <a:rPr dirty="0" sz="1100">
                <a:latin typeface="Garamond"/>
                <a:cs typeface="Garamond"/>
              </a:rPr>
              <a:t>any </a:t>
            </a:r>
            <a:r>
              <a:rPr dirty="0" sz="1100" spc="5">
                <a:latin typeface="Garamond"/>
                <a:cs typeface="Garamond"/>
              </a:rPr>
              <a:t>time </a:t>
            </a:r>
            <a:r>
              <a:rPr dirty="0" sz="1100">
                <a:latin typeface="Garamond"/>
                <a:cs typeface="Garamond"/>
              </a:rPr>
              <a:t>before maturity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holder’s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option.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Put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bonds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holder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issuer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back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stated price.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Inflation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Interest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Real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versus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Nominal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Real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adjusted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inflation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Nominal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adjusted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inflation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inflation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5%</a:t>
            </a:r>
            <a:endParaRPr sz="1100">
              <a:latin typeface="Garamond"/>
              <a:cs typeface="Garamond"/>
            </a:endParaRPr>
          </a:p>
          <a:p>
            <a:pPr marL="469900" marR="12700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$100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today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$115.50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15.5%.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15.5%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does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inflation,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nominal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suppose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 </a:t>
            </a:r>
            <a:r>
              <a:rPr dirty="0" sz="1100" spc="-15">
                <a:latin typeface="Garamond"/>
                <a:cs typeface="Garamond"/>
              </a:rPr>
              <a:t>$5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piece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beginning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$100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5%,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pens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$5.25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pens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bought?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return?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$115.50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-5">
                <a:latin typeface="Garamond"/>
                <a:cs typeface="Garamond"/>
              </a:rPr>
              <a:t> $115.50/5.25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22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pens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5">
                <a:latin typeface="Garamond"/>
                <a:cs typeface="Garamond"/>
              </a:rPr>
              <a:t>up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20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pens,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so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endParaRPr sz="1100">
              <a:latin typeface="Garamond"/>
              <a:cs typeface="Garamond"/>
            </a:endParaRPr>
          </a:p>
          <a:p>
            <a:pPr marL="469900" marR="1143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With nominal return </a:t>
            </a:r>
            <a:r>
              <a:rPr dirty="0" sz="1100" spc="5">
                <a:latin typeface="Garamond"/>
                <a:cs typeface="Garamond"/>
              </a:rPr>
              <a:t>of 15.5%, our </a:t>
            </a:r>
            <a:r>
              <a:rPr dirty="0" sz="1100">
                <a:latin typeface="Garamond"/>
                <a:cs typeface="Garamond"/>
              </a:rPr>
              <a:t>buying power </a:t>
            </a:r>
            <a:r>
              <a:rPr dirty="0" sz="1100" spc="-5">
                <a:latin typeface="Garamond"/>
                <a:cs typeface="Garamond"/>
              </a:rPr>
              <a:t>goes </a:t>
            </a:r>
            <a:r>
              <a:rPr dirty="0" sz="1100">
                <a:latin typeface="Garamond"/>
                <a:cs typeface="Garamond"/>
              </a:rPr>
              <a:t>up </a:t>
            </a:r>
            <a:r>
              <a:rPr dirty="0" sz="1100" spc="5">
                <a:latin typeface="Garamond"/>
                <a:cs typeface="Garamond"/>
              </a:rPr>
              <a:t>by only </a:t>
            </a:r>
            <a:r>
              <a:rPr dirty="0" sz="1100">
                <a:latin typeface="Garamond"/>
                <a:cs typeface="Garamond"/>
              </a:rPr>
              <a:t>10%, </a:t>
            </a:r>
            <a:r>
              <a:rPr dirty="0" sz="1100" spc="-5">
                <a:latin typeface="Garamond"/>
                <a:cs typeface="Garamond"/>
              </a:rPr>
              <a:t>because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inflation. </a:t>
            </a:r>
            <a:r>
              <a:rPr dirty="0" sz="1100" spc="-10">
                <a:latin typeface="Garamond"/>
                <a:cs typeface="Garamond"/>
              </a:rPr>
              <a:t>So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real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10%.</a:t>
            </a:r>
            <a:endParaRPr sz="1100">
              <a:latin typeface="Garamond"/>
              <a:cs typeface="Garamond"/>
            </a:endParaRPr>
          </a:p>
          <a:p>
            <a:pPr marL="469900" marR="6350" indent="-228600">
              <a:lnSpc>
                <a:spcPts val="1260"/>
              </a:lnSpc>
              <a:spcBef>
                <a:spcPts val="1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Alternatively,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5%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inflation,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each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115.50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nominal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worth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5%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real </a:t>
            </a:r>
            <a:r>
              <a:rPr dirty="0" sz="1100" spc="-5">
                <a:latin typeface="Garamond"/>
                <a:cs typeface="Garamond"/>
              </a:rPr>
              <a:t>terms.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Real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5">
                <a:latin typeface="Garamond"/>
                <a:cs typeface="Garamond"/>
              </a:rPr>
              <a:t> our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$115.50/1.05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$110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giving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Real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versus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nominal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Your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nominal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Your </a:t>
            </a:r>
            <a:r>
              <a:rPr dirty="0" sz="1100" spc="5">
                <a:latin typeface="Garamond"/>
                <a:cs typeface="Garamond"/>
              </a:rPr>
              <a:t>real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percentage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stuff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-5" b="1">
                <a:latin typeface="Garamond"/>
                <a:cs typeface="Garamond"/>
              </a:rPr>
              <a:t> Fisher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Effect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relationship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real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nominal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returns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described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Fisher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Effect.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Let: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384935">
              <a:lnSpc>
                <a:spcPts val="1270"/>
              </a:lnSpc>
            </a:pPr>
            <a:r>
              <a:rPr dirty="0" sz="1100" spc="10" i="1">
                <a:latin typeface="Garamond"/>
                <a:cs typeface="Garamond"/>
              </a:rPr>
              <a:t>R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nominal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 marL="1384935">
              <a:lnSpc>
                <a:spcPts val="1240"/>
              </a:lnSpc>
            </a:pPr>
            <a:r>
              <a:rPr dirty="0" sz="1100" i="1">
                <a:latin typeface="Garamond"/>
                <a:cs typeface="Garamond"/>
              </a:rPr>
              <a:t>r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real</a:t>
            </a:r>
            <a:r>
              <a:rPr dirty="0" sz="1100" spc="-10">
                <a:latin typeface="Garamond"/>
                <a:cs typeface="Garamond"/>
              </a:rPr>
              <a:t> return</a:t>
            </a:r>
            <a:endParaRPr sz="1100">
              <a:latin typeface="Garamond"/>
              <a:cs typeface="Garamond"/>
            </a:endParaRPr>
          </a:p>
          <a:p>
            <a:pPr marL="1384935">
              <a:lnSpc>
                <a:spcPts val="1290"/>
              </a:lnSpc>
            </a:pPr>
            <a:r>
              <a:rPr dirty="0" sz="1100" spc="5" i="1">
                <a:latin typeface="Garamond"/>
                <a:cs typeface="Garamond"/>
              </a:rPr>
              <a:t>h</a:t>
            </a:r>
            <a:r>
              <a:rPr dirty="0" sz="1100" i="1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inflation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Garamond"/>
                <a:cs typeface="Garamond"/>
              </a:rPr>
              <a:t>According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Fisher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Effect: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384935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-5">
                <a:latin typeface="Garamond"/>
                <a:cs typeface="Garamond"/>
              </a:rPr>
              <a:t>r)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h)</a:t>
            </a:r>
            <a:endParaRPr sz="1100">
              <a:latin typeface="Garamond"/>
              <a:cs typeface="Garamond"/>
            </a:endParaRPr>
          </a:p>
          <a:p>
            <a:pPr marL="1384935" marR="947419" indent="-1372870">
              <a:lnSpc>
                <a:spcPts val="2490"/>
              </a:lnSpc>
              <a:spcBef>
                <a:spcPts val="270"/>
              </a:spcBef>
            </a:pPr>
            <a:r>
              <a:rPr dirty="0" sz="1100">
                <a:latin typeface="Garamond"/>
                <a:cs typeface="Garamond"/>
              </a:rPr>
              <a:t>From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example;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nominal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15.5%,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0.155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r)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0.05)</a:t>
            </a:r>
            <a:endParaRPr sz="1100">
              <a:latin typeface="Garamond"/>
              <a:cs typeface="Garamond"/>
            </a:endParaRPr>
          </a:p>
          <a:p>
            <a:pPr marL="1384935">
              <a:lnSpc>
                <a:spcPts val="894"/>
              </a:lnSpc>
            </a:pP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-5">
                <a:latin typeface="Garamond"/>
                <a:cs typeface="Garamond"/>
              </a:rPr>
              <a:t>r)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1.155/1.05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1.10</a:t>
            </a:r>
            <a:endParaRPr sz="1100">
              <a:latin typeface="Garamond"/>
              <a:cs typeface="Garamond"/>
            </a:endParaRPr>
          </a:p>
          <a:p>
            <a:pPr marL="1384935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Rearranging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fisher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effect,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384935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-5">
                <a:latin typeface="Garamond"/>
                <a:cs typeface="Garamond"/>
              </a:rPr>
              <a:t>r)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h)</a:t>
            </a:r>
            <a:endParaRPr sz="1100">
              <a:latin typeface="Garamond"/>
              <a:cs typeface="Garamond"/>
            </a:endParaRPr>
          </a:p>
          <a:p>
            <a:pPr marL="1384935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861338"/>
            <a:ext cx="5667375" cy="138430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100" spc="5">
                <a:latin typeface="Garamond"/>
                <a:cs typeface="Garamond"/>
              </a:rPr>
              <a:t>It </a:t>
            </a:r>
            <a:r>
              <a:rPr dirty="0" sz="1100">
                <a:latin typeface="Garamond"/>
                <a:cs typeface="Garamond"/>
              </a:rPr>
              <a:t>tells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nominal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-5">
                <a:latin typeface="Garamond"/>
                <a:cs typeface="Garamond"/>
              </a:rPr>
              <a:t> three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Real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Compensation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decrease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original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because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Compensation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decrease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earned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inflation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Dropping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third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(being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very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small),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nominal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gives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approximately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equal </a:t>
            </a:r>
            <a:r>
              <a:rPr dirty="0" sz="1100" spc="-10">
                <a:latin typeface="Garamond"/>
                <a:cs typeface="Garamond"/>
              </a:rPr>
              <a:t>to: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Garamond"/>
              <a:cs typeface="Garamond"/>
            </a:endParaRPr>
          </a:p>
          <a:p>
            <a:pPr marL="1384935">
              <a:lnSpc>
                <a:spcPct val="100000"/>
              </a:lnSpc>
            </a:pP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≈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73090" cy="71850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4815205">
              <a:lnSpc>
                <a:spcPts val="1355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22</a:t>
            </a:r>
            <a:endParaRPr sz="1150">
              <a:latin typeface="Garamond"/>
              <a:cs typeface="Garamond"/>
            </a:endParaRPr>
          </a:p>
          <a:p>
            <a:pPr algn="ctr" marR="3175">
              <a:lnSpc>
                <a:spcPts val="1355"/>
              </a:lnSpc>
            </a:pPr>
            <a:r>
              <a:rPr dirty="0" sz="1150" spc="25" b="1">
                <a:latin typeface="Garamond"/>
                <a:cs typeface="Garamond"/>
              </a:rPr>
              <a:t>TERM</a:t>
            </a:r>
            <a:r>
              <a:rPr dirty="0" sz="1150" spc="1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STRUCTURE</a:t>
            </a:r>
            <a:r>
              <a:rPr dirty="0" sz="1150" spc="10" b="1">
                <a:latin typeface="Garamond"/>
                <a:cs typeface="Garamond"/>
              </a:rPr>
              <a:t> </a:t>
            </a:r>
            <a:r>
              <a:rPr dirty="0" sz="1150" spc="20" b="1">
                <a:latin typeface="Garamond"/>
                <a:cs typeface="Garamond"/>
              </a:rPr>
              <a:t>OF </a:t>
            </a:r>
            <a:r>
              <a:rPr dirty="0" sz="1150" spc="25" b="1">
                <a:latin typeface="Garamond"/>
                <a:cs typeface="Garamond"/>
              </a:rPr>
              <a:t>INTEREST</a:t>
            </a:r>
            <a:r>
              <a:rPr dirty="0" sz="1150" spc="3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RATES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relationship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Tells 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nominal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default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free,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maturities</a:t>
            </a:r>
            <a:endParaRPr sz="1100">
              <a:latin typeface="Garamond"/>
              <a:cs typeface="Garamond"/>
            </a:endParaRPr>
          </a:p>
          <a:p>
            <a:pPr marL="469900" marR="698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pure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involve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default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single,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lump-sum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upward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sloping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versa.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Determinants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Term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Structure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Real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Interest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Expected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Inflation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5" b="1">
                <a:latin typeface="Garamond"/>
                <a:cs typeface="Garamond"/>
              </a:rPr>
              <a:t>Real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Interest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high,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vice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versa.</a:t>
            </a:r>
            <a:endParaRPr sz="1100">
              <a:latin typeface="Garamond"/>
              <a:cs typeface="Garamond"/>
            </a:endParaRPr>
          </a:p>
          <a:p>
            <a:pPr marL="469900" marR="825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Thus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real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really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determine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shape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rather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influences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overall level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Prospect </a:t>
            </a:r>
            <a:r>
              <a:rPr dirty="0" sz="1100" spc="-15" b="1">
                <a:latin typeface="Garamond"/>
                <a:cs typeface="Garamond"/>
              </a:rPr>
              <a:t>for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Future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inflation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very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strongly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influences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shape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structure.</a:t>
            </a:r>
            <a:endParaRPr sz="1100">
              <a:latin typeface="Garamond"/>
              <a:cs typeface="Garamond"/>
            </a:endParaRPr>
          </a:p>
          <a:p>
            <a:pPr marL="469900" marR="1143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various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eroded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inflation.</a:t>
            </a:r>
            <a:endParaRPr sz="1100">
              <a:latin typeface="Garamond"/>
              <a:cs typeface="Garamond"/>
            </a:endParaRPr>
          </a:p>
          <a:p>
            <a:pPr marL="469900" marR="8890" indent="-228600">
              <a:lnSpc>
                <a:spcPts val="122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demand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compensations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loss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Inflation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premium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(higher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rates)</a:t>
            </a:r>
            <a:endParaRPr sz="1100">
              <a:latin typeface="Garamond"/>
              <a:cs typeface="Garamond"/>
            </a:endParaRPr>
          </a:p>
          <a:p>
            <a:pPr marL="469900" marR="8255" indent="-228600">
              <a:lnSpc>
                <a:spcPts val="1260"/>
              </a:lnSpc>
              <a:spcBef>
                <a:spcPts val="16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Expectation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inflation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push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than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 </a:t>
            </a:r>
            <a:r>
              <a:rPr dirty="0" sz="1100" spc="-5">
                <a:latin typeface="Garamond"/>
                <a:cs typeface="Garamond"/>
              </a:rPr>
              <a:t>reflected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upward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Interest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Rate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9525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Long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resulting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short-term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bonds.</a:t>
            </a:r>
            <a:endParaRPr sz="1100">
              <a:latin typeface="Garamond"/>
              <a:cs typeface="Garamond"/>
            </a:endParaRPr>
          </a:p>
          <a:p>
            <a:pPr marL="469900" marR="762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Investors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recognize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demand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extra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compensation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bearing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it.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extra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compensation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premium.</a:t>
            </a:r>
            <a:endParaRPr sz="1100">
              <a:latin typeface="Garamond"/>
              <a:cs typeface="Garamond"/>
            </a:endParaRPr>
          </a:p>
          <a:p>
            <a:pPr marL="469900" marR="1016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longer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maturity,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greater is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-5">
                <a:latin typeface="Garamond"/>
                <a:cs typeface="Garamond"/>
              </a:rPr>
              <a:t> risk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interest</a:t>
            </a:r>
            <a:r>
              <a:rPr dirty="0" sz="1100">
                <a:latin typeface="Garamond"/>
                <a:cs typeface="Garamond"/>
              </a:rPr>
              <a:t> rate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premium.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premium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decreasing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line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Term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Structure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Interest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3728719"/>
            <a:ext cx="5539105" cy="9829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Bond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Yields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Yield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Curve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12700" marR="5080">
              <a:lnSpc>
                <a:spcPts val="1220"/>
              </a:lnSpc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yields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treasury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notes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maturities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same.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Plotting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treasury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yields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relative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gives 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treasury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 curve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curve.)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Bond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Yields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Yield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Curve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508" y="7758429"/>
            <a:ext cx="5440680" cy="187007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0665" marR="508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shape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curve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reflection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5">
                <a:latin typeface="Garamond"/>
                <a:cs typeface="Garamond"/>
              </a:rPr>
              <a:t> making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almost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thing.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only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>
                <a:latin typeface="Garamond"/>
                <a:cs typeface="Garamond"/>
              </a:rPr>
              <a:t> term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based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whereas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curve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based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yields.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70"/>
              </a:lnSpc>
              <a:spcBef>
                <a:spcPts val="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Treasury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notes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bonds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features: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are: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Default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free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Taxable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7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Highly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liquid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possibility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default.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Investors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demand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compensation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possible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default.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5">
                <a:latin typeface="Garamond"/>
                <a:cs typeface="Garamond"/>
              </a:rPr>
              <a:t> extra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premium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called </a:t>
            </a:r>
            <a:r>
              <a:rPr dirty="0" sz="1100">
                <a:latin typeface="Garamond"/>
                <a:cs typeface="Garamond"/>
              </a:rPr>
              <a:t>default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premium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3174" y="784210"/>
            <a:ext cx="4860397" cy="28124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4560" y="4864607"/>
            <a:ext cx="4619760" cy="272748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63929" y="431038"/>
            <a:ext cx="5739130" cy="5556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  <a:tabLst>
                <a:tab pos="5469255" algn="l"/>
              </a:tabLst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82600" marR="62865" indent="-228600">
              <a:lnSpc>
                <a:spcPts val="1260"/>
              </a:lnSpc>
              <a:spcBef>
                <a:spcPts val="106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government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free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most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lower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yield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taxable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bonds.</a:t>
            </a:r>
            <a:endParaRPr sz="1100">
              <a:latin typeface="Garamond"/>
              <a:cs typeface="Garamond"/>
            </a:endParaRPr>
          </a:p>
          <a:p>
            <a:pPr marL="482600" marR="64135" indent="-228600">
              <a:lnSpc>
                <a:spcPts val="1260"/>
              </a:lnSpc>
              <a:spcBef>
                <a:spcPts val="11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Investors demand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extra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taxable</a:t>
            </a:r>
            <a:r>
              <a:rPr dirty="0" sz="1100">
                <a:latin typeface="Garamond"/>
                <a:cs typeface="Garamond"/>
              </a:rPr>
              <a:t> bond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compensation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the </a:t>
            </a:r>
            <a:r>
              <a:rPr dirty="0" sz="1100" spc="-5">
                <a:latin typeface="Garamond"/>
                <a:cs typeface="Garamond"/>
              </a:rPr>
              <a:t>unfavorable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 </a:t>
            </a:r>
            <a:r>
              <a:rPr dirty="0" sz="1100" spc="-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treatment,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known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taxability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premium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varying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degrees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liquidity.</a:t>
            </a:r>
            <a:endParaRPr sz="1100">
              <a:latin typeface="Garamond"/>
              <a:cs typeface="Garamond"/>
            </a:endParaRPr>
          </a:p>
          <a:p>
            <a:pPr marL="482600" marR="5778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Due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large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issued,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much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good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5">
                <a:latin typeface="Garamond"/>
                <a:cs typeface="Garamond"/>
              </a:rPr>
              <a:t> want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quickly.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Investor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demand</a:t>
            </a:r>
            <a:r>
              <a:rPr dirty="0" sz="1100" spc="5">
                <a:latin typeface="Garamond"/>
                <a:cs typeface="Garamond"/>
              </a:rPr>
              <a:t> a</a:t>
            </a:r>
            <a:r>
              <a:rPr dirty="0" sz="1100" spc="-5">
                <a:latin typeface="Garamond"/>
                <a:cs typeface="Garamond"/>
              </a:rPr>
              <a:t> liquidity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premium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compensation</a:t>
            </a:r>
            <a:endParaRPr sz="1100">
              <a:latin typeface="Garamond"/>
              <a:cs typeface="Garamond"/>
            </a:endParaRPr>
          </a:p>
          <a:p>
            <a:pPr marL="25400">
              <a:lnSpc>
                <a:spcPct val="100000"/>
              </a:lnSpc>
              <a:spcBef>
                <a:spcPts val="1160"/>
              </a:spcBef>
            </a:pPr>
            <a:r>
              <a:rPr dirty="0" sz="1100" b="1">
                <a:latin typeface="Garamond"/>
                <a:cs typeface="Garamond"/>
              </a:rPr>
              <a:t>Common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Stock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Valuation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Garamond"/>
              <a:cs typeface="Garamond"/>
            </a:endParaRPr>
          </a:p>
          <a:p>
            <a:pPr marL="254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Valuation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common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difficult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to: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promised 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known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advanced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Life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forever,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easily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observed</a:t>
            </a:r>
            <a:endParaRPr sz="1100">
              <a:latin typeface="Garamond"/>
              <a:cs typeface="Garamond"/>
            </a:endParaRPr>
          </a:p>
          <a:p>
            <a:pPr marL="25400">
              <a:lnSpc>
                <a:spcPct val="100000"/>
              </a:lnSpc>
              <a:spcBef>
                <a:spcPts val="1165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Garamond"/>
              <a:cs typeface="Garamond"/>
            </a:endParaRPr>
          </a:p>
          <a:p>
            <a:pPr marL="25400" marR="140335">
              <a:lnSpc>
                <a:spcPts val="1230"/>
              </a:lnSpc>
            </a:pPr>
            <a:r>
              <a:rPr dirty="0" sz="1100">
                <a:latin typeface="Garamond"/>
                <a:cs typeface="Garamond"/>
              </a:rPr>
              <a:t>Suppose </a:t>
            </a:r>
            <a:r>
              <a:rPr dirty="0" sz="1100" spc="-5">
                <a:latin typeface="Garamond"/>
                <a:cs typeface="Garamond"/>
              </a:rPr>
              <a:t>you </a:t>
            </a:r>
            <a:r>
              <a:rPr dirty="0" sz="1100" spc="5">
                <a:latin typeface="Garamond"/>
                <a:cs typeface="Garamond"/>
              </a:rPr>
              <a:t>buy a </a:t>
            </a:r>
            <a:r>
              <a:rPr dirty="0" sz="1100" spc="-5">
                <a:latin typeface="Garamond"/>
                <a:cs typeface="Garamond"/>
              </a:rPr>
              <a:t>share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5">
                <a:latin typeface="Garamond"/>
                <a:cs typeface="Garamond"/>
              </a:rPr>
              <a:t>stock </a:t>
            </a:r>
            <a:r>
              <a:rPr dirty="0" sz="1100" spc="-10">
                <a:latin typeface="Garamond"/>
                <a:cs typeface="Garamond"/>
              </a:rPr>
              <a:t>today, </a:t>
            </a:r>
            <a:r>
              <a:rPr dirty="0" sz="1100" spc="5">
                <a:latin typeface="Garamond"/>
                <a:cs typeface="Garamond"/>
              </a:rPr>
              <a:t>with a </a:t>
            </a:r>
            <a:r>
              <a:rPr dirty="0" sz="1100">
                <a:latin typeface="Garamond"/>
                <a:cs typeface="Garamond"/>
              </a:rPr>
              <a:t>plan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sell it in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year, </a:t>
            </a:r>
            <a:r>
              <a:rPr dirty="0" sz="1100">
                <a:latin typeface="Garamond"/>
                <a:cs typeface="Garamond"/>
              </a:rPr>
              <a:t>hoping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5">
                <a:latin typeface="Garamond"/>
                <a:cs typeface="Garamond"/>
              </a:rPr>
              <a:t>worth will be </a:t>
            </a:r>
            <a:r>
              <a:rPr dirty="0" sz="1100">
                <a:latin typeface="Garamond"/>
                <a:cs typeface="Garamond"/>
              </a:rPr>
              <a:t>$70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along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share.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25%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you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stock?</a:t>
            </a:r>
            <a:endParaRPr sz="1100">
              <a:latin typeface="Garamond"/>
              <a:cs typeface="Garamond"/>
            </a:endParaRPr>
          </a:p>
          <a:p>
            <a:pPr marL="482600" marR="68580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Alternatively,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along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$70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ending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25%?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($10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$70)/1.25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$64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$64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assign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today.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Generalizing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valuation,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let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0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=&gt;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1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=&gt;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baseline="-8547" sz="975" spc="15">
                <a:latin typeface="Garamond"/>
                <a:cs typeface="Garamond"/>
              </a:rPr>
              <a:t>1</a:t>
            </a:r>
            <a:r>
              <a:rPr dirty="0" baseline="-8547" sz="975" spc="187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=&gt;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paid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69414" y="6112001"/>
            <a:ext cx="69850" cy="1301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1689" y="6043421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89123" y="5951982"/>
            <a:ext cx="5041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000" spc="2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(𝐷</a:t>
            </a:r>
            <a:r>
              <a:rPr dirty="0" sz="1000" spc="190">
                <a:latin typeface="Cambria Math"/>
                <a:cs typeface="Cambria Math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+𝑃</a:t>
            </a:r>
            <a:r>
              <a:rPr dirty="0" sz="1000" spc="265">
                <a:latin typeface="Cambria Math"/>
                <a:cs typeface="Cambria Math"/>
              </a:rPr>
              <a:t> </a:t>
            </a:r>
            <a:r>
              <a:rPr dirty="0" u="sng" sz="1000" spc="-6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8560" y="5990320"/>
            <a:ext cx="387350" cy="3378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20"/>
              </a:spcBef>
              <a:tabLst>
                <a:tab pos="314325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endParaRPr sz="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000" spc="10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-30">
                <a:latin typeface="Cambria Math"/>
                <a:cs typeface="Cambria Math"/>
              </a:rPr>
              <a:t>+</a:t>
            </a:r>
            <a:r>
              <a:rPr dirty="0" sz="1000" spc="55">
                <a:latin typeface="Cambria Math"/>
                <a:cs typeface="Cambria Math"/>
              </a:rPr>
              <a:t>𝑅</a:t>
            </a:r>
            <a:r>
              <a:rPr dirty="0" sz="1000">
                <a:latin typeface="Cambria Math"/>
                <a:cs typeface="Cambria Math"/>
              </a:rPr>
              <a:t>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5508" y="6464045"/>
            <a:ext cx="5432425" cy="7080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10">
                <a:latin typeface="Garamond"/>
                <a:cs typeface="Garamond"/>
              </a:rPr>
              <a:t> 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possible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know</a:t>
            </a:r>
            <a:r>
              <a:rPr dirty="0" sz="1100" spc="-10">
                <a:latin typeface="Garamond"/>
                <a:cs typeface="Garamond"/>
              </a:rPr>
              <a:t> P1,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making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problem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complicated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know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i.e.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P1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somehow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know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P2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D2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two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then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9414" y="7456677"/>
            <a:ext cx="6667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1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1689" y="7388097"/>
            <a:ext cx="2755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75407" y="7296657"/>
            <a:ext cx="5041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000" spc="2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(𝐷</a:t>
            </a:r>
            <a:r>
              <a:rPr dirty="0" sz="1000" spc="190">
                <a:latin typeface="Cambria Math"/>
                <a:cs typeface="Cambria Math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+𝑃</a:t>
            </a:r>
            <a:r>
              <a:rPr dirty="0" sz="1000" spc="265">
                <a:latin typeface="Cambria Math"/>
                <a:cs typeface="Cambria Math"/>
              </a:rPr>
              <a:t> </a:t>
            </a:r>
            <a:r>
              <a:rPr dirty="0" u="sng" sz="1000" spc="-6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34844" y="7334997"/>
            <a:ext cx="387350" cy="3378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220"/>
              </a:spcBef>
              <a:tabLst>
                <a:tab pos="314325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</a:t>
            </a:r>
            <a:endParaRPr sz="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000" spc="10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-30">
                <a:latin typeface="Cambria Math"/>
                <a:cs typeface="Cambria Math"/>
              </a:rPr>
              <a:t>+</a:t>
            </a:r>
            <a:r>
              <a:rPr dirty="0" sz="1000" spc="55">
                <a:latin typeface="Cambria Math"/>
                <a:cs typeface="Cambria Math"/>
              </a:rPr>
              <a:t>𝑅</a:t>
            </a:r>
            <a:r>
              <a:rPr dirty="0" sz="1000">
                <a:latin typeface="Cambria Math"/>
                <a:cs typeface="Cambria Math"/>
              </a:rPr>
              <a:t>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2808" y="7804150"/>
            <a:ext cx="5467350" cy="63690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53365" marR="1778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substituting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expression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P1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previous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expression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P0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equation:</a:t>
            </a:r>
            <a:endParaRPr sz="1100">
              <a:latin typeface="Garamond"/>
              <a:cs typeface="Garamond"/>
            </a:endParaRPr>
          </a:p>
          <a:p>
            <a:pPr marL="1009015">
              <a:lnSpc>
                <a:spcPct val="100000"/>
              </a:lnSpc>
              <a:spcBef>
                <a:spcPts val="985"/>
              </a:spcBef>
            </a:pPr>
            <a:r>
              <a:rPr dirty="0" baseline="-33333" sz="1500" spc="-7">
                <a:latin typeface="Cambria Math"/>
                <a:cs typeface="Cambria Math"/>
              </a:rPr>
              <a:t>𝐷</a:t>
            </a:r>
            <a:r>
              <a:rPr dirty="0" baseline="-55555" sz="1200" spc="-7">
                <a:latin typeface="Cambria Math"/>
                <a:cs typeface="Cambria Math"/>
              </a:rPr>
              <a:t>1</a:t>
            </a:r>
            <a:r>
              <a:rPr dirty="0" baseline="-33333" sz="1500" spc="-7">
                <a:latin typeface="Cambria Math"/>
                <a:cs typeface="Cambria Math"/>
              </a:rPr>
              <a:t>+</a:t>
            </a:r>
            <a:r>
              <a:rPr dirty="0" baseline="-33333" sz="1500" spc="-37">
                <a:latin typeface="Cambria Math"/>
                <a:cs typeface="Cambria Math"/>
              </a:rPr>
              <a:t> </a:t>
            </a:r>
            <a:r>
              <a:rPr dirty="0" u="sng" sz="80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(𝐷2+𝑃2)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6289" y="8476615"/>
            <a:ext cx="3308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o</a:t>
            </a:r>
            <a:r>
              <a:rPr dirty="0" baseline="-8547" sz="975" spc="12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27451" y="8426322"/>
            <a:ext cx="31940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latin typeface="Cambria Math"/>
                <a:cs typeface="Cambria Math"/>
              </a:rPr>
              <a:t>(</a:t>
            </a:r>
            <a:r>
              <a:rPr dirty="0" sz="800" spc="20">
                <a:latin typeface="Cambria Math"/>
                <a:cs typeface="Cambria Math"/>
              </a:rPr>
              <a:t>1</a:t>
            </a:r>
            <a:r>
              <a:rPr dirty="0" sz="800" spc="10">
                <a:latin typeface="Cambria Math"/>
                <a:cs typeface="Cambria Math"/>
              </a:rPr>
              <a:t>+</a:t>
            </a:r>
            <a:r>
              <a:rPr dirty="0" sz="800" spc="100">
                <a:latin typeface="Cambria Math"/>
                <a:cs typeface="Cambria Math"/>
              </a:rPr>
              <a:t>𝑅</a:t>
            </a:r>
            <a:r>
              <a:rPr dirty="0" sz="800" spc="-5">
                <a:latin typeface="Cambria Math"/>
                <a:cs typeface="Cambria Math"/>
              </a:rPr>
              <a:t>)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62860" y="8581770"/>
            <a:ext cx="3854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0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-30">
                <a:latin typeface="Cambria Math"/>
                <a:cs typeface="Cambria Math"/>
              </a:rPr>
              <a:t>+</a:t>
            </a:r>
            <a:r>
              <a:rPr dirty="0" sz="1000" spc="55">
                <a:latin typeface="Cambria Math"/>
                <a:cs typeface="Cambria Math"/>
              </a:rPr>
              <a:t>𝑅</a:t>
            </a:r>
            <a:r>
              <a:rPr dirty="0" sz="1000">
                <a:latin typeface="Cambria Math"/>
                <a:cs typeface="Cambria Math"/>
              </a:rPr>
              <a:t>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01823" y="8576182"/>
            <a:ext cx="704850" cy="9525"/>
          </a:xfrm>
          <a:custGeom>
            <a:avLst/>
            <a:gdLst/>
            <a:ahLst/>
            <a:cxnLst/>
            <a:rect l="l" t="t" r="r" b="b"/>
            <a:pathLst>
              <a:path w="704850" h="9525">
                <a:moveTo>
                  <a:pt x="704392" y="0"/>
                </a:moveTo>
                <a:lnTo>
                  <a:pt x="0" y="0"/>
                </a:lnTo>
                <a:lnTo>
                  <a:pt x="0" y="9144"/>
                </a:lnTo>
                <a:lnTo>
                  <a:pt x="704392" y="9144"/>
                </a:lnTo>
                <a:lnTo>
                  <a:pt x="704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169414" y="9034652"/>
            <a:ext cx="6985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86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91689" y="8966072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79979" y="8874632"/>
            <a:ext cx="2546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99435" y="8929496"/>
            <a:ext cx="23177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11170" y="8874632"/>
            <a:ext cx="2546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51150" y="8929496"/>
            <a:ext cx="7759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3890" algn="l"/>
              </a:tabLst>
            </a:pPr>
            <a:r>
              <a:rPr dirty="0" sz="1400">
                <a:latin typeface="Garamond"/>
                <a:cs typeface="Garamond"/>
              </a:rPr>
              <a:t>+</a:t>
            </a:r>
            <a:r>
              <a:rPr dirty="0" sz="1400">
                <a:latin typeface="Garamond"/>
                <a:cs typeface="Garamond"/>
              </a:rPr>
              <a:t>	</a:t>
            </a:r>
            <a:r>
              <a:rPr dirty="0" sz="1400">
                <a:latin typeface="Garamond"/>
                <a:cs typeface="Garamond"/>
              </a:rPr>
              <a:t>+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42486" y="8874632"/>
            <a:ext cx="2419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dirty="0" u="sng" sz="1000" spc="-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6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𝑃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30626" y="8929496"/>
            <a:ext cx="86296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  <a:tab pos="639445" algn="l"/>
                <a:tab pos="849630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54579" y="9071228"/>
            <a:ext cx="176022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68655" algn="l"/>
                <a:tab pos="1300480" algn="l"/>
              </a:tabLst>
            </a:pP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1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2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2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76629" y="9359289"/>
            <a:ext cx="245491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continue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substitution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periods: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169414" y="869949"/>
            <a:ext cx="6985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91689" y="801369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9979" y="709929"/>
            <a:ext cx="2546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99435" y="764793"/>
            <a:ext cx="23177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11170" y="709929"/>
            <a:ext cx="2546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51150" y="764793"/>
            <a:ext cx="14122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3890" algn="l"/>
                <a:tab pos="1265555" algn="l"/>
              </a:tabLst>
            </a:pPr>
            <a:r>
              <a:rPr dirty="0" sz="1400">
                <a:latin typeface="Garamond"/>
                <a:cs typeface="Garamond"/>
              </a:rPr>
              <a:t>+</a:t>
            </a:r>
            <a:r>
              <a:rPr dirty="0" sz="1400">
                <a:latin typeface="Garamond"/>
                <a:cs typeface="Garamond"/>
              </a:rPr>
              <a:t>	</a:t>
            </a:r>
            <a:r>
              <a:rPr dirty="0" sz="1400">
                <a:latin typeface="Garamond"/>
                <a:cs typeface="Garamond"/>
              </a:rPr>
              <a:t>+</a:t>
            </a:r>
            <a:r>
              <a:rPr dirty="0" sz="1400">
                <a:latin typeface="Garamond"/>
                <a:cs typeface="Garamond"/>
              </a:rPr>
              <a:t>	</a:t>
            </a:r>
            <a:r>
              <a:rPr dirty="0" sz="1400">
                <a:latin typeface="Cambria Math"/>
                <a:cs typeface="Cambria Math"/>
              </a:rPr>
              <a:t>+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2486" y="709929"/>
            <a:ext cx="8782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8335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dirty="0" u="sng" sz="1000" spc="-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6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𝑃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30626" y="764793"/>
            <a:ext cx="149860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  <a:tab pos="643890" algn="l"/>
                <a:tab pos="849630" algn="l"/>
                <a:tab pos="1275080" algn="l"/>
                <a:tab pos="1485265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54579" y="906525"/>
            <a:ext cx="239585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68655" algn="l"/>
                <a:tab pos="1300480" algn="l"/>
                <a:tab pos="1936114" algn="l"/>
              </a:tabLst>
            </a:pP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1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2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5508" y="1213230"/>
            <a:ext cx="5436870" cy="1023619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0665" marR="5715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Note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matter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what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essentially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zero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push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 </a:t>
            </a:r>
            <a:r>
              <a:rPr dirty="0" sz="1100" spc="5">
                <a:latin typeface="Garamond"/>
                <a:cs typeface="Garamond"/>
              </a:rPr>
              <a:t>far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enough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away.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written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beginning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extending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forever</a:t>
            </a:r>
            <a:endParaRPr sz="1100">
              <a:latin typeface="Garamond"/>
              <a:cs typeface="Garamond"/>
            </a:endParaRPr>
          </a:p>
          <a:p>
            <a:pPr marL="240665" marR="698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Alternatively,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today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equal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69414" y="2512313"/>
            <a:ext cx="6985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91689" y="2443733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99435" y="2407157"/>
            <a:ext cx="23177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79979" y="2352293"/>
            <a:ext cx="8858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3255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51150" y="2407157"/>
            <a:ext cx="14027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3890" algn="l"/>
                <a:tab pos="1270000" algn="l"/>
              </a:tabLst>
            </a:pPr>
            <a:r>
              <a:rPr dirty="0" sz="1400">
                <a:latin typeface="Garamond"/>
                <a:cs typeface="Garamond"/>
              </a:rPr>
              <a:t>+</a:t>
            </a:r>
            <a:r>
              <a:rPr dirty="0" sz="1400">
                <a:latin typeface="Garamond"/>
                <a:cs typeface="Garamond"/>
              </a:rPr>
              <a:t>	</a:t>
            </a:r>
            <a:r>
              <a:rPr dirty="0" sz="1400">
                <a:latin typeface="Garamond"/>
                <a:cs typeface="Garamond"/>
              </a:rPr>
              <a:t>+</a:t>
            </a:r>
            <a:r>
              <a:rPr dirty="0" sz="1400">
                <a:latin typeface="Garamond"/>
                <a:cs typeface="Garamond"/>
              </a:rPr>
              <a:t>	</a:t>
            </a:r>
            <a:r>
              <a:rPr dirty="0" sz="1400">
                <a:latin typeface="Garamond"/>
                <a:cs typeface="Garamond"/>
              </a:rPr>
              <a:t>+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42486" y="2352293"/>
            <a:ext cx="8813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38810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30626" y="2407157"/>
            <a:ext cx="148971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  <a:tab pos="643890" algn="l"/>
                <a:tab pos="849630" algn="l"/>
                <a:tab pos="1270635" algn="l"/>
                <a:tab pos="1476375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4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54579" y="2548889"/>
            <a:ext cx="238696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68655" algn="l"/>
                <a:tab pos="1300480" algn="l"/>
                <a:tab pos="1926589" algn="l"/>
              </a:tabLst>
            </a:pP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1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2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4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76629" y="2836925"/>
            <a:ext cx="5669280" cy="1019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Zero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Growth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Stocks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5080" indent="-228600">
              <a:lnSpc>
                <a:spcPts val="122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share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common stock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company </a:t>
            </a:r>
            <a:r>
              <a:rPr dirty="0" sz="1100" spc="5">
                <a:latin typeface="Garamond"/>
                <a:cs typeface="Garamond"/>
              </a:rPr>
              <a:t>with a </a:t>
            </a:r>
            <a:r>
              <a:rPr dirty="0" sz="1100" spc="-5">
                <a:latin typeface="Garamond"/>
                <a:cs typeface="Garamond"/>
              </a:rPr>
              <a:t>constant dividend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termed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10">
                <a:latin typeface="Garamond"/>
                <a:cs typeface="Garamond"/>
              </a:rPr>
              <a:t>zero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 </a:t>
            </a:r>
            <a:r>
              <a:rPr dirty="0" sz="1100" spc="-5">
                <a:latin typeface="Garamond"/>
                <a:cs typeface="Garamond"/>
              </a:rPr>
              <a:t>type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which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implies: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40"/>
              </a:lnSpc>
            </a:pPr>
            <a:r>
              <a:rPr dirty="0" sz="1100" spc="5">
                <a:latin typeface="Garamond"/>
                <a:cs typeface="Garamond"/>
              </a:rPr>
              <a:t>D1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D2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D3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constant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69414" y="4131309"/>
            <a:ext cx="6985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91689" y="4062729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99435" y="4026153"/>
            <a:ext cx="23177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79979" y="3971289"/>
            <a:ext cx="8858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3255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42486" y="3971289"/>
            <a:ext cx="8813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38810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30626" y="4026153"/>
            <a:ext cx="148971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  <a:tab pos="643890" algn="l"/>
                <a:tab pos="849630" algn="l"/>
                <a:tab pos="1270635" algn="l"/>
                <a:tab pos="1476375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4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54579" y="4167885"/>
            <a:ext cx="238696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68655" algn="l"/>
                <a:tab pos="1300480" algn="l"/>
                <a:tab pos="1926589" algn="l"/>
              </a:tabLst>
            </a:pP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1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2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4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51150" y="4026153"/>
            <a:ext cx="22726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3890" algn="l"/>
                <a:tab pos="1270000" algn="l"/>
                <a:tab pos="1901825" algn="l"/>
              </a:tabLst>
            </a:pPr>
            <a:r>
              <a:rPr dirty="0" sz="1400">
                <a:latin typeface="Garamond"/>
                <a:cs typeface="Garamond"/>
              </a:rPr>
              <a:t>+	+	+	-</a:t>
            </a:r>
            <a:r>
              <a:rPr dirty="0" sz="1400" spc="-30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-</a:t>
            </a:r>
            <a:r>
              <a:rPr dirty="0" sz="1400" spc="-25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-</a:t>
            </a:r>
            <a:r>
              <a:rPr dirty="0" sz="1400" spc="-30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-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05508" y="4474590"/>
            <a:ext cx="5434330" cy="52959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0665" marR="508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always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same,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>
                <a:latin typeface="Garamond"/>
                <a:cs typeface="Garamond"/>
              </a:rPr>
              <a:t> 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viewed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ordinary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perpetuity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cash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equal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‘D’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11983" y="5119242"/>
            <a:ext cx="1174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40"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66289" y="5210936"/>
            <a:ext cx="48577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o</a:t>
            </a:r>
            <a:r>
              <a:rPr dirty="0" baseline="-8547" sz="975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baseline="-38888" sz="1500" spc="37">
                <a:latin typeface="Cambria Math"/>
                <a:cs typeface="Cambria Math"/>
              </a:rPr>
              <a:t>𝑅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424683" y="5310504"/>
            <a:ext cx="96520" cy="9525"/>
          </a:xfrm>
          <a:custGeom>
            <a:avLst/>
            <a:gdLst/>
            <a:ahLst/>
            <a:cxnLst/>
            <a:rect l="l" t="t" r="r" b="b"/>
            <a:pathLst>
              <a:path w="96519" h="9525">
                <a:moveTo>
                  <a:pt x="96012" y="0"/>
                </a:moveTo>
                <a:lnTo>
                  <a:pt x="0" y="0"/>
                </a:lnTo>
                <a:lnTo>
                  <a:pt x="0" y="9144"/>
                </a:lnTo>
                <a:lnTo>
                  <a:pt x="96012" y="9144"/>
                </a:lnTo>
                <a:lnTo>
                  <a:pt x="960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405508" y="5581268"/>
            <a:ext cx="5444490" cy="13576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6985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10">
                <a:latin typeface="Garamond"/>
                <a:cs typeface="Garamond"/>
              </a:rPr>
              <a:t> 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CVP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policy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continue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indefinitely,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20%?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perpetuity,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698500">
              <a:lnSpc>
                <a:spcPct val="100000"/>
              </a:lnSpc>
              <a:spcBef>
                <a:spcPts val="1165"/>
              </a:spcBef>
            </a:pPr>
            <a:r>
              <a:rPr dirty="0" sz="1100" spc="-5">
                <a:latin typeface="Garamond"/>
                <a:cs typeface="Garamond"/>
              </a:rPr>
              <a:t>$10/0.20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$50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5">
                <a:latin typeface="Garamond"/>
                <a:cs typeface="Garamond"/>
              </a:rPr>
              <a:t> share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12307" y="714501"/>
            <a:ext cx="8166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23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508" y="883665"/>
            <a:ext cx="5440680" cy="1367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226695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ZERO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35" b="1">
                <a:latin typeface="Garamond"/>
                <a:cs typeface="Garamond"/>
              </a:rPr>
              <a:t>GROWTH</a:t>
            </a:r>
            <a:r>
              <a:rPr dirty="0" sz="1150" spc="-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STOCKS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constant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zero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type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which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implies: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6985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D1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D2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D3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constant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9414" y="2526029"/>
            <a:ext cx="6985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1689" y="2457449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99435" y="2420873"/>
            <a:ext cx="23177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79979" y="2366010"/>
            <a:ext cx="8858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3255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42486" y="2366010"/>
            <a:ext cx="8813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38810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30626" y="2420873"/>
            <a:ext cx="148971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  <a:tab pos="643890" algn="l"/>
                <a:tab pos="849630" algn="l"/>
                <a:tab pos="1270635" algn="l"/>
                <a:tab pos="1476375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4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54579" y="2562605"/>
            <a:ext cx="238696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68655" algn="l"/>
                <a:tab pos="1300480" algn="l"/>
                <a:tab pos="1926589" algn="l"/>
              </a:tabLst>
            </a:pP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1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2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4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51150" y="2420873"/>
            <a:ext cx="227266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3890" algn="l"/>
                <a:tab pos="1270000" algn="l"/>
                <a:tab pos="1901825" algn="l"/>
              </a:tabLst>
            </a:pPr>
            <a:r>
              <a:rPr dirty="0" sz="1400">
                <a:latin typeface="Garamond"/>
                <a:cs typeface="Garamond"/>
              </a:rPr>
              <a:t>+	+	+	-</a:t>
            </a:r>
            <a:r>
              <a:rPr dirty="0" sz="1400" spc="-30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-</a:t>
            </a:r>
            <a:r>
              <a:rPr dirty="0" sz="1400" spc="-25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-</a:t>
            </a:r>
            <a:r>
              <a:rPr dirty="0" sz="1400" spc="-30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-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5508" y="2868929"/>
            <a:ext cx="5441315" cy="52959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240665" marR="5080" indent="-228600">
              <a:lnSpc>
                <a:spcPts val="1220"/>
              </a:lnSpc>
              <a:spcBef>
                <a:spcPts val="24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always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same,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>
                <a:latin typeface="Garamond"/>
                <a:cs typeface="Garamond"/>
              </a:rPr>
              <a:t> 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viewed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ordinary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perpetuity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equal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‘D’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11983" y="3513835"/>
            <a:ext cx="1174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40"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66289" y="3605275"/>
            <a:ext cx="48577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o</a:t>
            </a:r>
            <a:r>
              <a:rPr dirty="0" baseline="-8547" sz="975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baseline="-38888" sz="1500" spc="37">
                <a:latin typeface="Cambria Math"/>
                <a:cs typeface="Cambria Math"/>
              </a:rPr>
              <a:t>𝑅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24683" y="3704843"/>
            <a:ext cx="96520" cy="9525"/>
          </a:xfrm>
          <a:custGeom>
            <a:avLst/>
            <a:gdLst/>
            <a:ahLst/>
            <a:cxnLst/>
            <a:rect l="l" t="t" r="r" b="b"/>
            <a:pathLst>
              <a:path w="96519" h="9525">
                <a:moveTo>
                  <a:pt x="96012" y="0"/>
                </a:moveTo>
                <a:lnTo>
                  <a:pt x="0" y="0"/>
                </a:lnTo>
                <a:lnTo>
                  <a:pt x="0" y="9144"/>
                </a:lnTo>
                <a:lnTo>
                  <a:pt x="96012" y="9144"/>
                </a:lnTo>
                <a:lnTo>
                  <a:pt x="960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100429" y="3975861"/>
            <a:ext cx="5824855" cy="56254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0039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10">
                <a:latin typeface="Garamond"/>
                <a:cs typeface="Garamond"/>
              </a:rPr>
              <a:t> 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10">
                <a:latin typeface="Garamond"/>
                <a:cs typeface="Garamond"/>
              </a:rPr>
              <a:t>CVP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546100" marR="81280" indent="-228600">
              <a:lnSpc>
                <a:spcPts val="1220"/>
              </a:lnSpc>
              <a:spcBef>
                <a:spcPts val="210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policy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continue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indefinitely,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20%?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perpetuity,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1003935">
              <a:lnSpc>
                <a:spcPct val="100000"/>
              </a:lnSpc>
              <a:spcBef>
                <a:spcPts val="1165"/>
              </a:spcBef>
            </a:pPr>
            <a:r>
              <a:rPr dirty="0" sz="1100" spc="-5">
                <a:latin typeface="Garamond"/>
                <a:cs typeface="Garamond"/>
              </a:rPr>
              <a:t>$10/0.20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$50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5">
                <a:latin typeface="Garamond"/>
                <a:cs typeface="Garamond"/>
              </a:rPr>
              <a:t> share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889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Constant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Growth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Stocks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Stocks,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grows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steady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g.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paid,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next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1003935">
              <a:lnSpc>
                <a:spcPct val="100000"/>
              </a:lnSpc>
              <a:spcBef>
                <a:spcPts val="1165"/>
              </a:spcBef>
            </a:pP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baseline="-8547" sz="975" spc="15">
                <a:latin typeface="Garamond"/>
                <a:cs typeface="Garamond"/>
              </a:rPr>
              <a:t>1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</a:t>
            </a:r>
            <a:r>
              <a:rPr dirty="0" baseline="-8547" sz="975" spc="22">
                <a:latin typeface="Garamond"/>
                <a:cs typeface="Garamond"/>
              </a:rPr>
              <a:t>0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5">
                <a:latin typeface="Garamond"/>
                <a:cs typeface="Garamond"/>
              </a:rPr>
              <a:t> g)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periods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:</a:t>
            </a:r>
            <a:endParaRPr sz="1100">
              <a:latin typeface="Garamond"/>
              <a:cs typeface="Garamond"/>
            </a:endParaRPr>
          </a:p>
          <a:p>
            <a:pPr marL="1003935">
              <a:lnSpc>
                <a:spcPts val="1270"/>
              </a:lnSpc>
              <a:spcBef>
                <a:spcPts val="1165"/>
              </a:spcBef>
            </a:pP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baseline="-8547" sz="975" spc="15">
                <a:latin typeface="Garamond"/>
                <a:cs typeface="Garamond"/>
              </a:rPr>
              <a:t>2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</a:t>
            </a:r>
            <a:r>
              <a:rPr dirty="0" baseline="-8547" sz="975" spc="22">
                <a:latin typeface="Garamond"/>
                <a:cs typeface="Garamond"/>
              </a:rPr>
              <a:t>1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5">
                <a:latin typeface="Garamond"/>
                <a:cs typeface="Garamond"/>
              </a:rPr>
              <a:t> g)</a:t>
            </a:r>
            <a:endParaRPr sz="1100">
              <a:latin typeface="Garamond"/>
              <a:cs typeface="Garamond"/>
            </a:endParaRPr>
          </a:p>
          <a:p>
            <a:pPr marL="1003935" marR="3258185">
              <a:lnSpc>
                <a:spcPts val="1260"/>
              </a:lnSpc>
              <a:spcBef>
                <a:spcPts val="45"/>
              </a:spcBef>
            </a:pP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baseline="-8547" sz="975" spc="15">
                <a:latin typeface="Garamond"/>
                <a:cs typeface="Garamond"/>
              </a:rPr>
              <a:t>2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5">
                <a:latin typeface="Garamond"/>
                <a:cs typeface="Garamond"/>
              </a:rPr>
              <a:t>[D</a:t>
            </a:r>
            <a:r>
              <a:rPr dirty="0" baseline="-8547" sz="975" spc="7">
                <a:latin typeface="Garamond"/>
                <a:cs typeface="Garamond"/>
              </a:rPr>
              <a:t>0 </a:t>
            </a:r>
            <a:r>
              <a:rPr dirty="0" sz="1100" spc="5">
                <a:latin typeface="Garamond"/>
                <a:cs typeface="Garamond"/>
              </a:rPr>
              <a:t>x (1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5">
                <a:latin typeface="Garamond"/>
                <a:cs typeface="Garamond"/>
              </a:rPr>
              <a:t>g)] x (1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5">
                <a:latin typeface="Garamond"/>
                <a:cs typeface="Garamond"/>
              </a:rPr>
              <a:t>g)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baseline="-8547" sz="975" spc="15">
                <a:latin typeface="Garamond"/>
                <a:cs typeface="Garamond"/>
              </a:rPr>
              <a:t>2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</a:t>
            </a:r>
            <a:r>
              <a:rPr dirty="0" baseline="-8547" sz="975" spc="22">
                <a:latin typeface="Garamond"/>
                <a:cs typeface="Garamond"/>
              </a:rPr>
              <a:t>0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g)</a:t>
            </a:r>
            <a:r>
              <a:rPr dirty="0" baseline="21367" sz="975" spc="15">
                <a:latin typeface="Garamond"/>
                <a:cs typeface="Garamond"/>
              </a:rPr>
              <a:t>2</a:t>
            </a:r>
            <a:endParaRPr baseline="21367" sz="975">
              <a:latin typeface="Garamond"/>
              <a:cs typeface="Garamond"/>
            </a:endParaRPr>
          </a:p>
          <a:p>
            <a:pPr marL="546100" marR="1390015" indent="-546100">
              <a:lnSpc>
                <a:spcPct val="188200"/>
              </a:lnSpc>
              <a:spcBef>
                <a:spcPts val="110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repeat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generalize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number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baseline="-8547" sz="975" spc="15">
                <a:latin typeface="Garamond"/>
                <a:cs typeface="Garamond"/>
              </a:rPr>
              <a:t>t</a:t>
            </a:r>
            <a:r>
              <a:rPr dirty="0" baseline="-8547" sz="975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</a:t>
            </a:r>
            <a:r>
              <a:rPr dirty="0" baseline="-8547" sz="975" spc="22">
                <a:latin typeface="Garamond"/>
                <a:cs typeface="Garamond"/>
              </a:rPr>
              <a:t>0</a:t>
            </a:r>
            <a:r>
              <a:rPr dirty="0" baseline="-8547" sz="975" spc="187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g)</a:t>
            </a:r>
            <a:r>
              <a:rPr dirty="0" baseline="21367" sz="975" spc="7">
                <a:latin typeface="Garamond"/>
                <a:cs typeface="Garamond"/>
              </a:rPr>
              <a:t>t</a:t>
            </a:r>
            <a:endParaRPr baseline="21367" sz="975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constant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forever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perpetuity</a:t>
            </a:r>
            <a:endParaRPr sz="1100">
              <a:latin typeface="Garamond"/>
              <a:cs typeface="Garamond"/>
            </a:endParaRPr>
          </a:p>
          <a:p>
            <a:pPr marL="546100" marR="8953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reason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constant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lies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fact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companies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aspect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explicit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goal.</a:t>
            </a:r>
            <a:endParaRPr sz="1100">
              <a:latin typeface="Garamond"/>
              <a:cs typeface="Garamond"/>
            </a:endParaRPr>
          </a:p>
          <a:p>
            <a:pPr marL="546100" marR="8953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$3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steady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-5">
                <a:latin typeface="Garamond"/>
                <a:cs typeface="Garamond"/>
              </a:rPr>
              <a:t>Based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-5">
                <a:latin typeface="Garamond"/>
                <a:cs typeface="Garamond"/>
              </a:rPr>
              <a:t> years?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10">
                <a:latin typeface="Garamond"/>
                <a:cs typeface="Garamond"/>
              </a:rPr>
              <a:t>future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1003935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$3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1.08</a:t>
            </a:r>
            <a:r>
              <a:rPr dirty="0" baseline="21367" sz="975" spc="7">
                <a:latin typeface="Garamond"/>
                <a:cs typeface="Garamond"/>
              </a:rPr>
              <a:t>5</a:t>
            </a:r>
            <a:r>
              <a:rPr dirty="0" baseline="21367" sz="975" spc="12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$3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1.4693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10">
                <a:latin typeface="Garamond"/>
                <a:cs typeface="Garamond"/>
              </a:rPr>
              <a:t>$4.41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63929" y="431038"/>
            <a:ext cx="5742940" cy="13252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  <a:tabLst>
                <a:tab pos="5469255" algn="l"/>
              </a:tabLst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>
              <a:latin typeface="Times New Roman"/>
              <a:cs typeface="Times New Roman"/>
            </a:endParaRPr>
          </a:p>
          <a:p>
            <a:pPr marL="482600" indent="-229235">
              <a:lnSpc>
                <a:spcPct val="100000"/>
              </a:lnSpc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therefore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$1.41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 marL="482600" marR="68580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steady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replaced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problem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forecasting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infinite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problem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single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 marL="482600" marR="6985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</a:t>
            </a:r>
            <a:r>
              <a:rPr dirty="0" baseline="-8547" sz="975" spc="22">
                <a:latin typeface="Garamond"/>
                <a:cs typeface="Garamond"/>
              </a:rPr>
              <a:t>0</a:t>
            </a:r>
            <a:r>
              <a:rPr dirty="0" baseline="-8547" sz="975" spc="202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paid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constant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 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written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22295" y="2031872"/>
            <a:ext cx="6985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4572" y="1963292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52317" y="1926717"/>
            <a:ext cx="23114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7804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2861" y="1871852"/>
            <a:ext cx="8858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3890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95369" y="1871852"/>
            <a:ext cx="8813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38810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83634" y="1926717"/>
            <a:ext cx="148971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  <a:tab pos="643255" algn="l"/>
                <a:tab pos="849630" algn="l"/>
                <a:tab pos="1270635" algn="l"/>
                <a:tab pos="1476375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4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7461" y="2068448"/>
            <a:ext cx="238696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69290" algn="l"/>
                <a:tab pos="1300480" algn="l"/>
                <a:tab pos="1927225" algn="l"/>
              </a:tabLst>
            </a:pP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1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2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4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03778" y="1926717"/>
            <a:ext cx="21723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3890" algn="l"/>
                <a:tab pos="1270635" algn="l"/>
                <a:tab pos="1901825" algn="l"/>
              </a:tabLst>
            </a:pPr>
            <a:r>
              <a:rPr dirty="0" sz="1400">
                <a:latin typeface="Garamond"/>
                <a:cs typeface="Garamond"/>
              </a:rPr>
              <a:t>+	+	+	-</a:t>
            </a:r>
            <a:r>
              <a:rPr dirty="0" sz="1400" spc="-45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-</a:t>
            </a:r>
            <a:r>
              <a:rPr dirty="0" sz="1400" spc="-35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-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53742" y="2603753"/>
            <a:ext cx="82740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35353" sz="1650" spc="7">
                <a:latin typeface="Garamond"/>
                <a:cs typeface="Garamond"/>
              </a:rPr>
              <a:t>P</a:t>
            </a:r>
            <a:r>
              <a:rPr dirty="0" baseline="51282" sz="975" spc="7">
                <a:latin typeface="Garamond"/>
                <a:cs typeface="Garamond"/>
              </a:rPr>
              <a:t>o</a:t>
            </a:r>
            <a:r>
              <a:rPr dirty="0" baseline="51282" sz="975" spc="157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397">
                <a:latin typeface="Garamond"/>
                <a:cs typeface="Garamond"/>
              </a:rPr>
              <a:t> 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1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93617" y="2611881"/>
            <a:ext cx="577215" cy="9525"/>
          </a:xfrm>
          <a:custGeom>
            <a:avLst/>
            <a:gdLst/>
            <a:ahLst/>
            <a:cxnLst/>
            <a:rect l="l" t="t" r="r" b="b"/>
            <a:pathLst>
              <a:path w="577214" h="9525">
                <a:moveTo>
                  <a:pt x="576681" y="0"/>
                </a:moveTo>
                <a:lnTo>
                  <a:pt x="0" y="0"/>
                </a:lnTo>
                <a:lnTo>
                  <a:pt x="0" y="9144"/>
                </a:lnTo>
                <a:lnTo>
                  <a:pt x="576681" y="9144"/>
                </a:lnTo>
                <a:lnTo>
                  <a:pt x="5766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76065" y="2611881"/>
            <a:ext cx="576580" cy="9525"/>
          </a:xfrm>
          <a:custGeom>
            <a:avLst/>
            <a:gdLst/>
            <a:ahLst/>
            <a:cxnLst/>
            <a:rect l="l" t="t" r="r" b="b"/>
            <a:pathLst>
              <a:path w="576579" h="9525">
                <a:moveTo>
                  <a:pt x="576376" y="0"/>
                </a:moveTo>
                <a:lnTo>
                  <a:pt x="0" y="0"/>
                </a:lnTo>
                <a:lnTo>
                  <a:pt x="0" y="9144"/>
                </a:lnTo>
                <a:lnTo>
                  <a:pt x="576376" y="9144"/>
                </a:lnTo>
                <a:lnTo>
                  <a:pt x="5763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516632" y="2420873"/>
            <a:ext cx="296037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  <a:tabLst>
                <a:tab pos="776605" algn="l"/>
                <a:tab pos="1558925" algn="l"/>
                <a:tab pos="2336800" algn="l"/>
              </a:tabLst>
            </a:pPr>
            <a:r>
              <a:rPr dirty="0" u="sng" sz="1000" spc="3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u="sng" baseline="-13888" sz="1200" spc="52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𝑜</a:t>
            </a:r>
            <a:r>
              <a:rPr dirty="0" u="sng" sz="1000" spc="3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(1+g)</a:t>
            </a:r>
            <a:r>
              <a:rPr dirty="0" sz="1000" spc="35">
                <a:latin typeface="Cambria Math"/>
                <a:cs typeface="Cambria Math"/>
              </a:rPr>
              <a:t>	</a:t>
            </a:r>
            <a:r>
              <a:rPr dirty="0" sz="1000" spc="30">
                <a:latin typeface="Cambria Math"/>
                <a:cs typeface="Cambria Math"/>
              </a:rPr>
              <a:t>𝐷</a:t>
            </a:r>
            <a:r>
              <a:rPr dirty="0" baseline="-13888" sz="1200" spc="44">
                <a:latin typeface="Cambria Math"/>
                <a:cs typeface="Cambria Math"/>
              </a:rPr>
              <a:t>𝑜</a:t>
            </a:r>
            <a:r>
              <a:rPr dirty="0" sz="1000" spc="30">
                <a:latin typeface="Cambria Math"/>
                <a:cs typeface="Cambria Math"/>
              </a:rPr>
              <a:t>(1+g)</a:t>
            </a:r>
            <a:r>
              <a:rPr dirty="0" baseline="24305" sz="1200" spc="44">
                <a:latin typeface="Cambria Math"/>
                <a:cs typeface="Cambria Math"/>
              </a:rPr>
              <a:t>2	</a:t>
            </a:r>
            <a:r>
              <a:rPr dirty="0" sz="1000" spc="35">
                <a:latin typeface="Cambria Math"/>
                <a:cs typeface="Cambria Math"/>
              </a:rPr>
              <a:t>𝐷</a:t>
            </a:r>
            <a:r>
              <a:rPr dirty="0" baseline="-13888" sz="1200" spc="52">
                <a:latin typeface="Cambria Math"/>
                <a:cs typeface="Cambria Math"/>
              </a:rPr>
              <a:t>𝑜</a:t>
            </a:r>
            <a:r>
              <a:rPr dirty="0" sz="1000" spc="35">
                <a:latin typeface="Cambria Math"/>
                <a:cs typeface="Cambria Math"/>
              </a:rPr>
              <a:t>(1+g)</a:t>
            </a:r>
            <a:r>
              <a:rPr dirty="0" baseline="24305" sz="1200" spc="52">
                <a:latin typeface="Cambria Math"/>
                <a:cs typeface="Cambria Math"/>
              </a:rPr>
              <a:t>3	</a:t>
            </a:r>
            <a:r>
              <a:rPr dirty="0" sz="1000" spc="35">
                <a:latin typeface="Cambria Math"/>
                <a:cs typeface="Cambria Math"/>
              </a:rPr>
              <a:t>𝐷</a:t>
            </a:r>
            <a:r>
              <a:rPr dirty="0" baseline="-13888" sz="1200" spc="52">
                <a:latin typeface="Cambria Math"/>
                <a:cs typeface="Cambria Math"/>
              </a:rPr>
              <a:t>𝑜</a:t>
            </a:r>
            <a:r>
              <a:rPr dirty="0" sz="1000" spc="35">
                <a:latin typeface="Cambria Math"/>
                <a:cs typeface="Cambria Math"/>
              </a:rPr>
              <a:t>(1+g)</a:t>
            </a:r>
            <a:r>
              <a:rPr dirty="0" baseline="24305" sz="1200" spc="52">
                <a:latin typeface="Cambria Math"/>
                <a:cs typeface="Cambria Math"/>
              </a:rPr>
              <a:t>4</a:t>
            </a:r>
            <a:endParaRPr baseline="24305" sz="12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03651" y="2617469"/>
            <a:ext cx="20955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  <a:tabLst>
                <a:tab pos="845185" algn="l"/>
                <a:tab pos="1623060" algn="l"/>
              </a:tabLst>
            </a:pP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2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4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53685" y="2611881"/>
            <a:ext cx="577215" cy="9525"/>
          </a:xfrm>
          <a:custGeom>
            <a:avLst/>
            <a:gdLst/>
            <a:ahLst/>
            <a:cxnLst/>
            <a:rect l="l" t="t" r="r" b="b"/>
            <a:pathLst>
              <a:path w="577214" h="9525">
                <a:moveTo>
                  <a:pt x="576681" y="0"/>
                </a:moveTo>
                <a:lnTo>
                  <a:pt x="0" y="0"/>
                </a:lnTo>
                <a:lnTo>
                  <a:pt x="0" y="9144"/>
                </a:lnTo>
                <a:lnTo>
                  <a:pt x="576681" y="9144"/>
                </a:lnTo>
                <a:lnTo>
                  <a:pt x="5766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120898" y="2475737"/>
            <a:ext cx="26250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5020" algn="l"/>
                <a:tab pos="1572260" algn="l"/>
                <a:tab pos="2354580" algn="l"/>
              </a:tabLst>
            </a:pPr>
            <a:r>
              <a:rPr dirty="0" sz="1400">
                <a:latin typeface="Garamond"/>
                <a:cs typeface="Garamond"/>
              </a:rPr>
              <a:t>+	+	+	-</a:t>
            </a:r>
            <a:r>
              <a:rPr dirty="0" sz="1400" spc="-45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-</a:t>
            </a:r>
            <a:r>
              <a:rPr dirty="0" sz="1400" spc="-40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-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6629" y="2905505"/>
            <a:ext cx="5434330" cy="35179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1230"/>
              </a:lnSpc>
              <a:spcBef>
                <a:spcPts val="229"/>
              </a:spcBef>
            </a:pPr>
            <a:r>
              <a:rPr dirty="0" sz="1100" spc="5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written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26867" y="3541267"/>
            <a:ext cx="6985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49144" y="3472687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91027" y="3436111"/>
            <a:ext cx="14478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Garamond"/>
                <a:cs typeface="Garamond"/>
              </a:rPr>
              <a:t>=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37433" y="3381248"/>
            <a:ext cx="8858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25805" algn="l"/>
              </a:tabLst>
            </a:pP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 spc="40">
                <a:latin typeface="Cambria Math"/>
                <a:cs typeface="Cambria Math"/>
              </a:rPr>
              <a:t> </a:t>
            </a:r>
            <a:r>
              <a:rPr dirty="0" sz="1000" spc="25">
                <a:latin typeface="Cambria Math"/>
                <a:cs typeface="Cambria Math"/>
              </a:rPr>
              <a:t> </a:t>
            </a:r>
            <a:r>
              <a:rPr dirty="0" u="sng" sz="1000" spc="1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</a:t>
            </a:r>
            <a:r>
              <a:rPr dirty="0" u="sng" sz="1000" spc="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u="sng" sz="1000" spc="-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+</a:t>
            </a:r>
            <a:r>
              <a:rPr dirty="0" u="sng" sz="1000" spc="18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g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)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7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88207" y="3436111"/>
            <a:ext cx="15367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u="sng" sz="800" spc="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19729" y="3419587"/>
            <a:ext cx="920115" cy="3378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u="sng" sz="800" spc="11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𝑜</a:t>
            </a:r>
            <a:endParaRPr sz="800">
              <a:latin typeface="Cambria Math"/>
              <a:cs typeface="Cambria Math"/>
            </a:endParaRPr>
          </a:p>
          <a:p>
            <a:pPr marL="48895">
              <a:lnSpc>
                <a:spcPct val="100000"/>
              </a:lnSpc>
              <a:spcBef>
                <a:spcPts val="175"/>
              </a:spcBef>
              <a:tabLst>
                <a:tab pos="643890" algn="l"/>
              </a:tabLst>
            </a:pPr>
            <a:r>
              <a:rPr dirty="0" sz="1000" spc="90">
                <a:latin typeface="Cambria Math"/>
                <a:cs typeface="Cambria Math"/>
              </a:rPr>
              <a:t>𝑅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 spc="170">
                <a:latin typeface="Cambria Math"/>
                <a:cs typeface="Cambria Math"/>
              </a:rPr>
              <a:t>g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sz="1000" spc="55">
                <a:latin typeface="Cambria Math"/>
                <a:cs typeface="Cambria Math"/>
              </a:rPr>
              <a:t>𝑅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 spc="170">
                <a:latin typeface="Cambria Math"/>
                <a:cs typeface="Cambria Math"/>
              </a:rPr>
              <a:t>g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80108" y="3888994"/>
            <a:ext cx="4507230" cy="3695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66065" algn="l"/>
                <a:tab pos="266700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commonly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known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model</a:t>
            </a:r>
            <a:endParaRPr sz="1100">
              <a:latin typeface="Garamond"/>
              <a:cs typeface="Garamond"/>
            </a:endParaRPr>
          </a:p>
          <a:p>
            <a:pPr marL="266700" indent="-228600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266065" algn="l"/>
                <a:tab pos="266700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</a:t>
            </a:r>
            <a:r>
              <a:rPr dirty="0" baseline="-8547" sz="975" spc="22">
                <a:latin typeface="Garamond"/>
                <a:cs typeface="Garamond"/>
              </a:rPr>
              <a:t>0</a:t>
            </a:r>
            <a:r>
              <a:rPr dirty="0" baseline="-8547" sz="975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$2.30,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13%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5%.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26867" y="4543170"/>
            <a:ext cx="69850" cy="1301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49144" y="4474590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37433" y="4382770"/>
            <a:ext cx="53594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0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 spc="180">
                <a:latin typeface="Cambria Math"/>
                <a:cs typeface="Cambria Math"/>
              </a:rPr>
              <a:t> </a:t>
            </a:r>
            <a:r>
              <a:rPr dirty="0" u="sng" sz="1000" spc="3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(1+g)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19729" y="4420809"/>
            <a:ext cx="329565" cy="33845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u="sng" sz="800" spc="11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𝑜</a:t>
            </a:r>
            <a:endParaRPr sz="800">
              <a:latin typeface="Cambria Math"/>
              <a:cs typeface="Cambria Math"/>
            </a:endParaRPr>
          </a:p>
          <a:p>
            <a:pPr marL="48895">
              <a:lnSpc>
                <a:spcPct val="100000"/>
              </a:lnSpc>
              <a:spcBef>
                <a:spcPts val="175"/>
              </a:spcBef>
            </a:pPr>
            <a:r>
              <a:rPr dirty="0" sz="1000" spc="90">
                <a:latin typeface="Cambria Math"/>
                <a:cs typeface="Cambria Math"/>
              </a:rPr>
              <a:t>𝑅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 spc="170">
                <a:latin typeface="Cambria Math"/>
                <a:cs typeface="Cambria Math"/>
              </a:rPr>
              <a:t>g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11044" y="4704193"/>
            <a:ext cx="1058545" cy="40513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38455">
              <a:lnSpc>
                <a:spcPct val="100000"/>
              </a:lnSpc>
              <a:spcBef>
                <a:spcPts val="315"/>
              </a:spcBef>
            </a:pPr>
            <a:r>
              <a:rPr dirty="0" sz="1000" spc="10">
                <a:latin typeface="Cambria Math"/>
                <a:cs typeface="Cambria Math"/>
              </a:rPr>
              <a:t>$2.30</a:t>
            </a:r>
            <a:r>
              <a:rPr dirty="0" sz="1000" spc="-40">
                <a:latin typeface="Cambria Math"/>
                <a:cs typeface="Cambria Math"/>
              </a:rPr>
              <a:t> </a:t>
            </a:r>
            <a:r>
              <a:rPr dirty="0" sz="1000" spc="10">
                <a:latin typeface="Cambria Math"/>
                <a:cs typeface="Cambria Math"/>
              </a:rPr>
              <a:t>(1.05)</a:t>
            </a:r>
            <a:endParaRPr sz="10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250"/>
              </a:spcBef>
            </a:pPr>
            <a:r>
              <a:rPr dirty="0" baseline="35353" sz="1650">
                <a:latin typeface="Garamond"/>
                <a:cs typeface="Garamond"/>
              </a:rPr>
              <a:t>P</a:t>
            </a:r>
            <a:r>
              <a:rPr dirty="0" baseline="51282" sz="975">
                <a:latin typeface="Garamond"/>
                <a:cs typeface="Garamond"/>
              </a:rPr>
              <a:t>o</a:t>
            </a:r>
            <a:r>
              <a:rPr dirty="0" baseline="51282" sz="975" spc="172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97">
                <a:latin typeface="Garamond"/>
                <a:cs typeface="Garamond"/>
              </a:rPr>
              <a:t> </a:t>
            </a:r>
            <a:r>
              <a:rPr dirty="0" sz="1000" spc="10">
                <a:latin typeface="Cambria Math"/>
                <a:cs typeface="Cambria Math"/>
              </a:rPr>
              <a:t>0.13−0.05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850133" y="4921630"/>
            <a:ext cx="690880" cy="9525"/>
          </a:xfrm>
          <a:custGeom>
            <a:avLst/>
            <a:gdLst/>
            <a:ahLst/>
            <a:cxnLst/>
            <a:rect l="l" t="t" r="r" b="b"/>
            <a:pathLst>
              <a:path w="690879" h="9525">
                <a:moveTo>
                  <a:pt x="690676" y="0"/>
                </a:moveTo>
                <a:lnTo>
                  <a:pt x="0" y="0"/>
                </a:lnTo>
                <a:lnTo>
                  <a:pt x="0" y="9144"/>
                </a:lnTo>
                <a:lnTo>
                  <a:pt x="690676" y="9144"/>
                </a:lnTo>
                <a:lnTo>
                  <a:pt x="6906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523744" y="5137530"/>
            <a:ext cx="3308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o</a:t>
            </a:r>
            <a:r>
              <a:rPr dirty="0" baseline="-8547" sz="975" spc="12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37433" y="5046090"/>
            <a:ext cx="4095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$2</a:t>
            </a:r>
            <a:r>
              <a:rPr dirty="0" sz="1000" spc="5">
                <a:latin typeface="Cambria Math"/>
                <a:cs typeface="Cambria Math"/>
              </a:rPr>
              <a:t>.</a:t>
            </a:r>
            <a:r>
              <a:rPr dirty="0" sz="1000" spc="15">
                <a:latin typeface="Cambria Math"/>
                <a:cs typeface="Cambria Math"/>
              </a:rPr>
              <a:t>415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06014" y="5242940"/>
            <a:ext cx="2724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0</a:t>
            </a:r>
            <a:r>
              <a:rPr dirty="0" sz="1000" spc="5">
                <a:latin typeface="Cambria Math"/>
                <a:cs typeface="Cambria Math"/>
              </a:rPr>
              <a:t>.</a:t>
            </a:r>
            <a:r>
              <a:rPr dirty="0" sz="1000" spc="15">
                <a:latin typeface="Cambria Math"/>
                <a:cs typeface="Cambria Math"/>
              </a:rPr>
              <a:t>08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850133" y="5237098"/>
            <a:ext cx="384175" cy="9525"/>
          </a:xfrm>
          <a:custGeom>
            <a:avLst/>
            <a:gdLst/>
            <a:ahLst/>
            <a:cxnLst/>
            <a:rect l="l" t="t" r="r" b="b"/>
            <a:pathLst>
              <a:path w="384175" h="9525">
                <a:moveTo>
                  <a:pt x="384048" y="0"/>
                </a:moveTo>
                <a:lnTo>
                  <a:pt x="0" y="0"/>
                </a:lnTo>
                <a:lnTo>
                  <a:pt x="0" y="9144"/>
                </a:lnTo>
                <a:lnTo>
                  <a:pt x="384048" y="9144"/>
                </a:lnTo>
                <a:lnTo>
                  <a:pt x="384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392808" y="5361812"/>
            <a:ext cx="4686300" cy="703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690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o</a:t>
            </a:r>
            <a:r>
              <a:rPr dirty="0" baseline="-8547" sz="975" spc="15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Cambria Math"/>
                <a:cs typeface="Cambria Math"/>
              </a:rPr>
              <a:t>$30.19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mbria Math"/>
              <a:cs typeface="Cambria Math"/>
            </a:endParaRPr>
          </a:p>
          <a:p>
            <a:pPr marL="254000" indent="-228600">
              <a:lnSpc>
                <a:spcPct val="100000"/>
              </a:lnSpc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growth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model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point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marL="254000" indent="-228600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26867" y="6345173"/>
            <a:ext cx="69850" cy="1301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549144" y="6276593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377310" y="6276593"/>
            <a:ext cx="120014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837433" y="6185153"/>
            <a:ext cx="79438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89610" algn="l"/>
              </a:tabLst>
            </a:pP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 spc="40">
                <a:latin typeface="Cambria Math"/>
                <a:cs typeface="Cambria Math"/>
              </a:rPr>
              <a:t> </a:t>
            </a:r>
            <a:r>
              <a:rPr dirty="0" sz="1000" spc="-85">
                <a:latin typeface="Cambria Math"/>
                <a:cs typeface="Cambria Math"/>
              </a:rPr>
              <a:t> </a:t>
            </a:r>
            <a:r>
              <a:rPr dirty="0" u="sng" sz="1000" spc="1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</a:t>
            </a:r>
            <a:r>
              <a:rPr dirty="0" u="sng" sz="1000" spc="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u="sng" sz="1000" spc="-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+</a:t>
            </a:r>
            <a:r>
              <a:rPr dirty="0" u="sng" sz="1000" spc="15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g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)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919729" y="6240017"/>
            <a:ext cx="88582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9610" algn="l"/>
              </a:tabLst>
            </a:pPr>
            <a:r>
              <a:rPr dirty="0" u="sng" sz="800" spc="14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𝑡</a:t>
            </a:r>
            <a:r>
              <a:rPr dirty="0" sz="800" spc="145">
                <a:latin typeface="Cambria Math"/>
                <a:cs typeface="Cambria Math"/>
              </a:rPr>
              <a:t>	</a:t>
            </a:r>
            <a:r>
              <a:rPr dirty="0" u="sng" sz="800" spc="1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𝑡</a:t>
            </a:r>
            <a:r>
              <a:rPr dirty="0" u="sng" sz="800" spc="1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+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51733" y="6381750"/>
            <a:ext cx="8559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9755" algn="l"/>
              </a:tabLst>
            </a:pPr>
            <a:r>
              <a:rPr dirty="0" sz="1000" spc="55">
                <a:latin typeface="Cambria Math"/>
                <a:cs typeface="Cambria Math"/>
              </a:rPr>
              <a:t>𝑅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 spc="170">
                <a:latin typeface="Cambria Math"/>
                <a:cs typeface="Cambria Math"/>
              </a:rPr>
              <a:t>g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sz="1000" spc="20">
                <a:latin typeface="Cambria Math"/>
                <a:cs typeface="Cambria Math"/>
              </a:rPr>
              <a:t>𝑅</a:t>
            </a:r>
            <a:r>
              <a:rPr dirty="0" sz="1000" spc="5">
                <a:latin typeface="Cambria Math"/>
                <a:cs typeface="Cambria Math"/>
              </a:rPr>
              <a:t>−</a:t>
            </a:r>
            <a:r>
              <a:rPr dirty="0" sz="1000" spc="170">
                <a:latin typeface="Cambria Math"/>
                <a:cs typeface="Cambria Math"/>
              </a:rPr>
              <a:t>g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380108" y="6697471"/>
            <a:ext cx="4240530" cy="8451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66065" algn="l"/>
                <a:tab pos="266700" algn="l"/>
              </a:tabLst>
            </a:pPr>
            <a:r>
              <a:rPr dirty="0" sz="1100">
                <a:latin typeface="Garamond"/>
                <a:cs typeface="Garamond"/>
              </a:rPr>
              <a:t>Continuing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previous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example;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be:</a:t>
            </a:r>
            <a:endParaRPr sz="1100">
              <a:latin typeface="Garamond"/>
              <a:cs typeface="Garamond"/>
            </a:endParaRPr>
          </a:p>
          <a:p>
            <a:pPr marL="1181735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D</a:t>
            </a:r>
            <a:r>
              <a:rPr dirty="0" sz="650" spc="5">
                <a:latin typeface="Garamond"/>
                <a:cs typeface="Garamond"/>
              </a:rPr>
              <a:t>5</a:t>
            </a:r>
            <a:r>
              <a:rPr dirty="0" sz="65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$2.30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1.05</a:t>
            </a:r>
            <a:r>
              <a:rPr dirty="0" baseline="21367" sz="975" spc="15">
                <a:latin typeface="Garamond"/>
                <a:cs typeface="Garamond"/>
              </a:rPr>
              <a:t>5</a:t>
            </a:r>
            <a:r>
              <a:rPr dirty="0" baseline="21367" sz="975" spc="1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2.30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1.2763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$2.935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66700" indent="-228600">
              <a:lnSpc>
                <a:spcPct val="100000"/>
              </a:lnSpc>
              <a:buFont typeface="Symbol"/>
              <a:buChar char=""/>
              <a:tabLst>
                <a:tab pos="266065" algn="l"/>
                <a:tab pos="266700" algn="l"/>
              </a:tabLst>
            </a:pPr>
            <a:r>
              <a:rPr dirty="0" sz="1100">
                <a:latin typeface="Garamond"/>
                <a:cs typeface="Garamond"/>
              </a:rPr>
              <a:t>From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model,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-5">
                <a:latin typeface="Garamond"/>
                <a:cs typeface="Garamond"/>
              </a:rPr>
              <a:t> years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626867" y="7900161"/>
            <a:ext cx="6667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5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49144" y="7831581"/>
            <a:ext cx="2755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32861" y="7740141"/>
            <a:ext cx="53149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0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 spc="145">
                <a:latin typeface="Cambria Math"/>
                <a:cs typeface="Cambria Math"/>
              </a:rPr>
              <a:t> </a:t>
            </a:r>
            <a:r>
              <a:rPr dirty="0" u="sng" sz="1000" spc="3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(1+g)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523744" y="8179434"/>
            <a:ext cx="3263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5</a:t>
            </a:r>
            <a:r>
              <a:rPr dirty="0" baseline="-8547" sz="975" spc="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832861" y="7778481"/>
            <a:ext cx="798830" cy="48895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220"/>
              </a:spcBef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5</a:t>
            </a:r>
            <a:endParaRPr sz="800">
              <a:latin typeface="Cambria Math"/>
              <a:cs typeface="Cambria Math"/>
            </a:endParaRPr>
          </a:p>
          <a:p>
            <a:pPr marL="131445">
              <a:lnSpc>
                <a:spcPts val="1195"/>
              </a:lnSpc>
              <a:spcBef>
                <a:spcPts val="175"/>
              </a:spcBef>
            </a:pPr>
            <a:r>
              <a:rPr dirty="0" sz="1000" spc="70">
                <a:latin typeface="Cambria Math"/>
                <a:cs typeface="Cambria Math"/>
              </a:rPr>
              <a:t>𝑅−g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ts val="1195"/>
              </a:lnSpc>
            </a:pPr>
            <a:r>
              <a:rPr dirty="0" sz="1000" spc="5">
                <a:latin typeface="Cambria Math"/>
                <a:cs typeface="Cambria Math"/>
              </a:rPr>
              <a:t>$2.935</a:t>
            </a:r>
            <a:r>
              <a:rPr dirty="0" sz="1000" spc="-45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×</a:t>
            </a:r>
            <a:r>
              <a:rPr dirty="0" sz="1000" spc="-30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1.05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924301" y="8284590"/>
            <a:ext cx="61595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0">
                <a:latin typeface="Cambria Math"/>
                <a:cs typeface="Cambria Math"/>
              </a:rPr>
              <a:t>0</a:t>
            </a:r>
            <a:r>
              <a:rPr dirty="0" sz="1000" spc="5">
                <a:latin typeface="Cambria Math"/>
                <a:cs typeface="Cambria Math"/>
              </a:rPr>
              <a:t>.</a:t>
            </a:r>
            <a:r>
              <a:rPr dirty="0" sz="1000" spc="15">
                <a:latin typeface="Cambria Math"/>
                <a:cs typeface="Cambria Math"/>
              </a:rPr>
              <a:t>13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 spc="20">
                <a:latin typeface="Cambria Math"/>
                <a:cs typeface="Cambria Math"/>
              </a:rPr>
              <a:t>0</a:t>
            </a:r>
            <a:r>
              <a:rPr dirty="0" sz="1000" spc="5">
                <a:latin typeface="Cambria Math"/>
                <a:cs typeface="Cambria Math"/>
              </a:rPr>
              <a:t>.</a:t>
            </a:r>
            <a:r>
              <a:rPr dirty="0" sz="1000" spc="15">
                <a:latin typeface="Cambria Math"/>
                <a:cs typeface="Cambria Math"/>
              </a:rPr>
              <a:t>05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845561" y="8279003"/>
            <a:ext cx="773430" cy="9525"/>
          </a:xfrm>
          <a:custGeom>
            <a:avLst/>
            <a:gdLst/>
            <a:ahLst/>
            <a:cxnLst/>
            <a:rect l="l" t="t" r="r" b="b"/>
            <a:pathLst>
              <a:path w="773429" h="9525">
                <a:moveTo>
                  <a:pt x="772972" y="0"/>
                </a:moveTo>
                <a:lnTo>
                  <a:pt x="0" y="0"/>
                </a:lnTo>
                <a:lnTo>
                  <a:pt x="0" y="9143"/>
                </a:lnTo>
                <a:lnTo>
                  <a:pt x="772972" y="9143"/>
                </a:lnTo>
                <a:lnTo>
                  <a:pt x="7729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2523744" y="8476615"/>
            <a:ext cx="3263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5</a:t>
            </a:r>
            <a:r>
              <a:rPr dirty="0" baseline="-8547" sz="975" spc="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832861" y="8385175"/>
            <a:ext cx="4191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3</a:t>
            </a:r>
            <a:r>
              <a:rPr dirty="0" sz="1000" spc="5">
                <a:latin typeface="Cambria Math"/>
                <a:cs typeface="Cambria Math"/>
              </a:rPr>
              <a:t>.</a:t>
            </a:r>
            <a:r>
              <a:rPr dirty="0" sz="1000" spc="15">
                <a:latin typeface="Cambria Math"/>
                <a:cs typeface="Cambria Math"/>
              </a:rPr>
              <a:t>0822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906014" y="8581770"/>
            <a:ext cx="2724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0</a:t>
            </a:r>
            <a:r>
              <a:rPr dirty="0" sz="1000" spc="5">
                <a:latin typeface="Cambria Math"/>
                <a:cs typeface="Cambria Math"/>
              </a:rPr>
              <a:t>.</a:t>
            </a:r>
            <a:r>
              <a:rPr dirty="0" sz="1000" spc="15">
                <a:latin typeface="Cambria Math"/>
                <a:cs typeface="Cambria Math"/>
              </a:rPr>
              <a:t>08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845561" y="8576182"/>
            <a:ext cx="393700" cy="9525"/>
          </a:xfrm>
          <a:custGeom>
            <a:avLst/>
            <a:gdLst/>
            <a:ahLst/>
            <a:cxnLst/>
            <a:rect l="l" t="t" r="r" b="b"/>
            <a:pathLst>
              <a:path w="393700" h="9525">
                <a:moveTo>
                  <a:pt x="393192" y="0"/>
                </a:moveTo>
                <a:lnTo>
                  <a:pt x="0" y="0"/>
                </a:lnTo>
                <a:lnTo>
                  <a:pt x="0" y="9144"/>
                </a:lnTo>
                <a:lnTo>
                  <a:pt x="393192" y="9144"/>
                </a:lnTo>
                <a:lnTo>
                  <a:pt x="3931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1392808" y="8705468"/>
            <a:ext cx="5464175" cy="8636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690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5</a:t>
            </a:r>
            <a:r>
              <a:rPr dirty="0" baseline="-8547" sz="975" spc="14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Cambria Math"/>
                <a:cs typeface="Cambria Math"/>
              </a:rPr>
              <a:t>$38.5275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mbria Math"/>
              <a:cs typeface="Cambria Math"/>
            </a:endParaRPr>
          </a:p>
          <a:p>
            <a:pPr marL="254000" indent="-228600">
              <a:lnSpc>
                <a:spcPct val="100000"/>
              </a:lnSpc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 spc="10">
                <a:latin typeface="Garamond"/>
                <a:cs typeface="Garamond"/>
              </a:rPr>
              <a:t>GG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endParaRPr sz="1100">
              <a:latin typeface="Garamond"/>
              <a:cs typeface="Garamond"/>
            </a:endParaRPr>
          </a:p>
          <a:p>
            <a:pPr marL="253365" marR="177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next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$4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share.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16%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similar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stocks.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grows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6%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280"/>
              </a:lnSpc>
            </a:pPr>
            <a:r>
              <a:rPr dirty="0" spc="5"/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11474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 indent="-229235">
              <a:lnSpc>
                <a:spcPts val="1290"/>
              </a:lnSpc>
              <a:spcBef>
                <a:spcPts val="9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Based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model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What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today?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7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four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years?</a:t>
            </a:r>
            <a:endParaRPr sz="1100">
              <a:latin typeface="Garamond"/>
              <a:cs typeface="Garamond"/>
            </a:endParaRPr>
          </a:p>
          <a:p>
            <a:pPr marL="469900" marR="2730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only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tricky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next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$4.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so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won’t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multiply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g).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With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mind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given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26867" y="1853564"/>
            <a:ext cx="6985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9144" y="1784984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7433" y="1693544"/>
            <a:ext cx="17653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79166" y="1748408"/>
            <a:ext cx="14922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u="sng" sz="800" spc="-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7433" y="1890140"/>
            <a:ext cx="2882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𝑅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 spc="170">
                <a:latin typeface="Cambria Math"/>
                <a:cs typeface="Cambria Math"/>
              </a:rPr>
              <a:t>g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50133" y="2227452"/>
            <a:ext cx="586105" cy="9525"/>
          </a:xfrm>
          <a:custGeom>
            <a:avLst/>
            <a:gdLst/>
            <a:ahLst/>
            <a:cxnLst/>
            <a:rect l="l" t="t" r="r" b="b"/>
            <a:pathLst>
              <a:path w="586104" h="9525">
                <a:moveTo>
                  <a:pt x="585520" y="0"/>
                </a:moveTo>
                <a:lnTo>
                  <a:pt x="0" y="0"/>
                </a:lnTo>
                <a:lnTo>
                  <a:pt x="0" y="9144"/>
                </a:lnTo>
                <a:lnTo>
                  <a:pt x="585520" y="9144"/>
                </a:lnTo>
                <a:lnTo>
                  <a:pt x="5855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50133" y="2543301"/>
            <a:ext cx="247015" cy="9525"/>
          </a:xfrm>
          <a:custGeom>
            <a:avLst/>
            <a:gdLst/>
            <a:ahLst/>
            <a:cxnLst/>
            <a:rect l="l" t="t" r="r" b="b"/>
            <a:pathLst>
              <a:path w="247014" h="9525">
                <a:moveTo>
                  <a:pt x="246887" y="0"/>
                </a:moveTo>
                <a:lnTo>
                  <a:pt x="0" y="0"/>
                </a:lnTo>
                <a:lnTo>
                  <a:pt x="0" y="9144"/>
                </a:lnTo>
                <a:lnTo>
                  <a:pt x="246887" y="9144"/>
                </a:lnTo>
                <a:lnTo>
                  <a:pt x="2468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367408" y="2010016"/>
            <a:ext cx="5432425" cy="187769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706245">
              <a:lnSpc>
                <a:spcPct val="100000"/>
              </a:lnSpc>
              <a:spcBef>
                <a:spcPts val="315"/>
              </a:spcBef>
            </a:pPr>
            <a:r>
              <a:rPr dirty="0" sz="1000" spc="5">
                <a:latin typeface="Cambria Math"/>
                <a:cs typeface="Cambria Math"/>
              </a:rPr>
              <a:t>$4</a:t>
            </a:r>
            <a:endParaRPr sz="1000">
              <a:latin typeface="Cambria Math"/>
              <a:cs typeface="Cambria Math"/>
            </a:endParaRPr>
          </a:p>
          <a:p>
            <a:pPr marL="1194435">
              <a:lnSpc>
                <a:spcPts val="1180"/>
              </a:lnSpc>
              <a:spcBef>
                <a:spcPts val="250"/>
              </a:spcBef>
            </a:pPr>
            <a:r>
              <a:rPr dirty="0" baseline="35353" sz="1650">
                <a:latin typeface="Garamond"/>
                <a:cs typeface="Garamond"/>
              </a:rPr>
              <a:t>P</a:t>
            </a:r>
            <a:r>
              <a:rPr dirty="0" baseline="51282" sz="975">
                <a:latin typeface="Garamond"/>
                <a:cs typeface="Garamond"/>
              </a:rPr>
              <a:t>o</a:t>
            </a:r>
            <a:r>
              <a:rPr dirty="0" baseline="51282" sz="975" spc="157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-52">
                <a:latin typeface="Garamond"/>
                <a:cs typeface="Garamond"/>
              </a:rPr>
              <a:t> </a:t>
            </a:r>
            <a:r>
              <a:rPr dirty="0" sz="1000" spc="10">
                <a:latin typeface="Cambria Math"/>
                <a:cs typeface="Cambria Math"/>
              </a:rPr>
              <a:t>0.16−0.06</a:t>
            </a:r>
            <a:endParaRPr sz="1000">
              <a:latin typeface="Cambria Math"/>
              <a:cs typeface="Cambria Math"/>
            </a:endParaRPr>
          </a:p>
          <a:p>
            <a:pPr algn="r" marR="3749675">
              <a:lnSpc>
                <a:spcPts val="1060"/>
              </a:lnSpc>
            </a:pPr>
            <a:r>
              <a:rPr dirty="0" sz="1000" spc="5">
                <a:latin typeface="Cambria Math"/>
                <a:cs typeface="Cambria Math"/>
              </a:rPr>
              <a:t>$4</a:t>
            </a:r>
            <a:endParaRPr sz="1000">
              <a:latin typeface="Cambria Math"/>
              <a:cs typeface="Cambria Math"/>
            </a:endParaRPr>
          </a:p>
          <a:p>
            <a:pPr marL="1194435">
              <a:lnSpc>
                <a:spcPts val="1180"/>
              </a:lnSpc>
              <a:spcBef>
                <a:spcPts val="245"/>
              </a:spcBef>
            </a:pPr>
            <a:r>
              <a:rPr dirty="0" baseline="35353" sz="1650">
                <a:latin typeface="Garamond"/>
                <a:cs typeface="Garamond"/>
              </a:rPr>
              <a:t>P</a:t>
            </a:r>
            <a:r>
              <a:rPr dirty="0" baseline="51282" sz="975">
                <a:latin typeface="Garamond"/>
                <a:cs typeface="Garamond"/>
              </a:rPr>
              <a:t>o</a:t>
            </a:r>
            <a:r>
              <a:rPr dirty="0" baseline="51282" sz="975" spc="135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-75">
                <a:latin typeface="Garamond"/>
                <a:cs typeface="Garamond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0.10</a:t>
            </a:r>
            <a:endParaRPr sz="1000">
              <a:latin typeface="Cambria Math"/>
              <a:cs typeface="Cambria Math"/>
            </a:endParaRPr>
          </a:p>
          <a:p>
            <a:pPr algn="r" marR="3712210">
              <a:lnSpc>
                <a:spcPts val="1180"/>
              </a:lnSpc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o</a:t>
            </a:r>
            <a:r>
              <a:rPr dirty="0" baseline="-8547" sz="975" spc="12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Cambria Math"/>
                <a:cs typeface="Cambria Math"/>
              </a:rPr>
              <a:t>$40</a:t>
            </a:r>
            <a:endParaRPr sz="1100">
              <a:latin typeface="Cambria Math"/>
              <a:cs typeface="Cambria Math"/>
            </a:endParaRPr>
          </a:p>
          <a:p>
            <a:pPr marL="278765" marR="43180" indent="-278765">
              <a:lnSpc>
                <a:spcPct val="188200"/>
              </a:lnSpc>
              <a:spcBef>
                <a:spcPts val="470"/>
              </a:spcBef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 spc="5">
                <a:latin typeface="Garamond"/>
                <a:cs typeface="Garamond"/>
              </a:rPr>
              <a:t>Since </a:t>
            </a:r>
            <a:r>
              <a:rPr dirty="0" sz="1100" spc="-5">
                <a:latin typeface="Garamond"/>
                <a:cs typeface="Garamond"/>
              </a:rPr>
              <a:t>we </a:t>
            </a:r>
            <a:r>
              <a:rPr dirty="0" sz="1100">
                <a:latin typeface="Garamond"/>
                <a:cs typeface="Garamond"/>
              </a:rPr>
              <a:t>already </a:t>
            </a:r>
            <a:r>
              <a:rPr dirty="0" sz="1100" spc="-5">
                <a:latin typeface="Garamond"/>
                <a:cs typeface="Garamond"/>
              </a:rPr>
              <a:t>have </a:t>
            </a:r>
            <a:r>
              <a:rPr dirty="0" sz="1100">
                <a:latin typeface="Garamond"/>
                <a:cs typeface="Garamond"/>
              </a:rPr>
              <a:t>dividend in </a:t>
            </a:r>
            <a:r>
              <a:rPr dirty="0" sz="1100" spc="-5">
                <a:latin typeface="Garamond"/>
                <a:cs typeface="Garamond"/>
              </a:rPr>
              <a:t>one year, we </a:t>
            </a:r>
            <a:r>
              <a:rPr dirty="0" sz="1100" spc="5">
                <a:latin typeface="Garamond"/>
                <a:cs typeface="Garamond"/>
              </a:rPr>
              <a:t>know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dividend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four </a:t>
            </a:r>
            <a:r>
              <a:rPr dirty="0" sz="1100" spc="-5">
                <a:latin typeface="Garamond"/>
                <a:cs typeface="Garamond"/>
              </a:rPr>
              <a:t>years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equal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</a:t>
            </a:r>
            <a:r>
              <a:rPr dirty="0" sz="650" spc="5">
                <a:latin typeface="Garamond"/>
                <a:cs typeface="Garamond"/>
              </a:rPr>
              <a:t>1</a:t>
            </a:r>
            <a:r>
              <a:rPr dirty="0" sz="65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g)</a:t>
            </a:r>
            <a:r>
              <a:rPr dirty="0" sz="650" spc="5">
                <a:latin typeface="Garamond"/>
                <a:cs typeface="Garamond"/>
              </a:rPr>
              <a:t>3</a:t>
            </a:r>
            <a:r>
              <a:rPr dirty="0" sz="65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$4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1.063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$4.764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150">
              <a:latin typeface="Garamond"/>
              <a:cs typeface="Garamond"/>
            </a:endParaRPr>
          </a:p>
          <a:p>
            <a:pPr marL="279400" indent="-228600">
              <a:lnSpc>
                <a:spcPct val="100000"/>
              </a:lnSpc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four years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therefore: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26867" y="4172457"/>
            <a:ext cx="6667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4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49144" y="4067301"/>
            <a:ext cx="3003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89757" y="3969460"/>
            <a:ext cx="854075" cy="56515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R="263525">
              <a:lnSpc>
                <a:spcPct val="100000"/>
              </a:lnSpc>
              <a:spcBef>
                <a:spcPts val="445"/>
              </a:spcBef>
            </a:pPr>
            <a:r>
              <a:rPr dirty="0" u="sng" sz="100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u="sng" baseline="-13888" sz="1200" spc="44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4</a:t>
            </a:r>
            <a:r>
              <a:rPr dirty="0" u="sng" sz="100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(1+g)</a:t>
            </a:r>
            <a:endParaRPr sz="1000">
              <a:latin typeface="Cambria Math"/>
              <a:cs typeface="Cambria Math"/>
            </a:endParaRPr>
          </a:p>
          <a:p>
            <a:pPr algn="ctr" marR="269240">
              <a:lnSpc>
                <a:spcPts val="1175"/>
              </a:lnSpc>
              <a:spcBef>
                <a:spcPts val="350"/>
              </a:spcBef>
            </a:pPr>
            <a:r>
              <a:rPr dirty="0" sz="1000" spc="60">
                <a:latin typeface="Cambria Math"/>
                <a:cs typeface="Cambria Math"/>
              </a:rPr>
              <a:t>𝑅−g</a:t>
            </a:r>
            <a:endParaRPr sz="1000">
              <a:latin typeface="Cambria Math"/>
              <a:cs typeface="Cambria Math"/>
            </a:endParaRPr>
          </a:p>
          <a:p>
            <a:pPr algn="ctr">
              <a:lnSpc>
                <a:spcPts val="1175"/>
              </a:lnSpc>
            </a:pPr>
            <a:r>
              <a:rPr dirty="0" sz="1000" spc="10">
                <a:latin typeface="Cambria Math"/>
                <a:cs typeface="Cambria Math"/>
              </a:rPr>
              <a:t>$4.764</a:t>
            </a:r>
            <a:r>
              <a:rPr dirty="0" sz="1000" spc="-30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×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1.06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23744" y="4309084"/>
            <a:ext cx="351155" cy="65659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dirty="0" sz="1100" spc="-15">
                <a:latin typeface="Garamond"/>
                <a:cs typeface="Garamond"/>
              </a:rPr>
              <a:t>P</a:t>
            </a:r>
            <a:r>
              <a:rPr dirty="0" baseline="-8547" sz="975" spc="22">
                <a:latin typeface="Garamond"/>
                <a:cs typeface="Garamond"/>
              </a:rPr>
              <a:t>4</a:t>
            </a:r>
            <a:r>
              <a:rPr dirty="0" baseline="-8547" sz="975" spc="30">
                <a:latin typeface="Garamond"/>
                <a:cs typeface="Garamond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05"/>
              </a:spcBef>
            </a:pPr>
            <a:r>
              <a:rPr dirty="0" sz="1100" spc="-15">
                <a:latin typeface="Garamond"/>
                <a:cs typeface="Garamond"/>
              </a:rPr>
              <a:t>P</a:t>
            </a:r>
            <a:r>
              <a:rPr dirty="0" baseline="-8547" sz="975" spc="22">
                <a:latin typeface="Garamond"/>
                <a:cs typeface="Garamond"/>
              </a:rPr>
              <a:t>4</a:t>
            </a:r>
            <a:r>
              <a:rPr dirty="0" baseline="-8547" sz="975" spc="30">
                <a:latin typeface="Garamond"/>
                <a:cs typeface="Garamond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27857" y="4546345"/>
            <a:ext cx="777875" cy="9525"/>
          </a:xfrm>
          <a:custGeom>
            <a:avLst/>
            <a:gdLst/>
            <a:ahLst/>
            <a:cxnLst/>
            <a:rect l="l" t="t" r="r" b="b"/>
            <a:pathLst>
              <a:path w="777875" h="9525">
                <a:moveTo>
                  <a:pt x="777544" y="0"/>
                </a:moveTo>
                <a:lnTo>
                  <a:pt x="0" y="0"/>
                </a:lnTo>
                <a:lnTo>
                  <a:pt x="0" y="9144"/>
                </a:lnTo>
                <a:lnTo>
                  <a:pt x="777544" y="9144"/>
                </a:lnTo>
                <a:lnTo>
                  <a:pt x="7775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915157" y="4552314"/>
            <a:ext cx="707390" cy="298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8585">
              <a:lnSpc>
                <a:spcPts val="1070"/>
              </a:lnSpc>
              <a:spcBef>
                <a:spcPts val="105"/>
              </a:spcBef>
            </a:pPr>
            <a:r>
              <a:rPr dirty="0" sz="1000" spc="10">
                <a:latin typeface="Cambria Math"/>
                <a:cs typeface="Cambria Math"/>
              </a:rPr>
              <a:t>0.16−0.06</a:t>
            </a:r>
            <a:endParaRPr sz="1000">
              <a:latin typeface="Cambria Math"/>
              <a:cs typeface="Cambria Math"/>
            </a:endParaRPr>
          </a:p>
          <a:p>
            <a:pPr marL="12700">
              <a:lnSpc>
                <a:spcPts val="1070"/>
              </a:lnSpc>
            </a:pPr>
            <a:r>
              <a:rPr dirty="0" sz="1000" spc="10">
                <a:latin typeface="Cambria Math"/>
                <a:cs typeface="Cambria Math"/>
              </a:rPr>
              <a:t>$5.05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47161" y="4867782"/>
            <a:ext cx="2724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0</a:t>
            </a:r>
            <a:r>
              <a:rPr dirty="0" sz="1000" spc="5">
                <a:latin typeface="Cambria Math"/>
                <a:cs typeface="Cambria Math"/>
              </a:rPr>
              <a:t>.</a:t>
            </a:r>
            <a:r>
              <a:rPr dirty="0" sz="1000" spc="15">
                <a:latin typeface="Cambria Math"/>
                <a:cs typeface="Cambria Math"/>
              </a:rPr>
              <a:t>10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927857" y="4862194"/>
            <a:ext cx="311150" cy="9525"/>
          </a:xfrm>
          <a:custGeom>
            <a:avLst/>
            <a:gdLst/>
            <a:ahLst/>
            <a:cxnLst/>
            <a:rect l="l" t="t" r="r" b="b"/>
            <a:pathLst>
              <a:path w="311150" h="9525">
                <a:moveTo>
                  <a:pt x="310895" y="0"/>
                </a:moveTo>
                <a:lnTo>
                  <a:pt x="0" y="0"/>
                </a:lnTo>
                <a:lnTo>
                  <a:pt x="0" y="9144"/>
                </a:lnTo>
                <a:lnTo>
                  <a:pt x="310895" y="9144"/>
                </a:lnTo>
                <a:lnTo>
                  <a:pt x="3108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367408" y="4986654"/>
            <a:ext cx="2181860" cy="15360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944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4 </a:t>
            </a:r>
            <a:r>
              <a:rPr dirty="0" sz="1100" spc="10">
                <a:latin typeface="Cambria Math"/>
                <a:cs typeface="Cambria Math"/>
              </a:rPr>
              <a:t>= </a:t>
            </a:r>
            <a:r>
              <a:rPr dirty="0" sz="1100">
                <a:latin typeface="Cambria Math"/>
                <a:cs typeface="Cambria Math"/>
              </a:rPr>
              <a:t>$50.50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Cambria Math"/>
              <a:cs typeface="Cambria Math"/>
            </a:endParaRPr>
          </a:p>
          <a:p>
            <a:pPr marL="279400" indent="-228600">
              <a:lnSpc>
                <a:spcPct val="100000"/>
              </a:lnSpc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>
                <a:latin typeface="Garamond"/>
                <a:cs typeface="Garamond"/>
              </a:rPr>
              <a:t>Notice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endParaRPr sz="1100">
              <a:latin typeface="Garamond"/>
              <a:cs typeface="Garamond"/>
            </a:endParaRPr>
          </a:p>
          <a:p>
            <a:pPr marL="1194435" marR="55880">
              <a:lnSpc>
                <a:spcPct val="94200"/>
              </a:lnSpc>
              <a:spcBef>
                <a:spcPts val="1240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4</a:t>
            </a:r>
            <a:r>
              <a:rPr dirty="0" baseline="-8547" sz="975" spc="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</a:t>
            </a:r>
            <a:r>
              <a:rPr dirty="0" sz="650" spc="-5">
                <a:latin typeface="Garamond"/>
                <a:cs typeface="Garamond"/>
              </a:rPr>
              <a:t>0</a:t>
            </a:r>
            <a:r>
              <a:rPr dirty="0" sz="65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15">
                <a:latin typeface="Garamond"/>
                <a:cs typeface="Garamond"/>
              </a:rPr>
              <a:t> (1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g)</a:t>
            </a:r>
            <a:r>
              <a:rPr dirty="0" baseline="21367" sz="975" spc="15">
                <a:latin typeface="Garamond"/>
                <a:cs typeface="Garamond"/>
              </a:rPr>
              <a:t>4 </a:t>
            </a:r>
            <a:r>
              <a:rPr dirty="0" baseline="21367" sz="975" spc="-217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4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>
                <a:latin typeface="Garamond"/>
                <a:cs typeface="Garamond"/>
              </a:rPr>
              <a:t>$40 </a:t>
            </a:r>
            <a:r>
              <a:rPr dirty="0" sz="1100" spc="5">
                <a:latin typeface="Garamond"/>
                <a:cs typeface="Garamond"/>
              </a:rPr>
              <a:t>x 1.06</a:t>
            </a:r>
            <a:r>
              <a:rPr dirty="0" baseline="21367" sz="975" spc="7">
                <a:latin typeface="Garamond"/>
                <a:cs typeface="Garamond"/>
              </a:rPr>
              <a:t>4 </a:t>
            </a:r>
            <a:r>
              <a:rPr dirty="0" baseline="21367" sz="975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baseline="-8547" sz="975" spc="7">
                <a:latin typeface="Garamond"/>
                <a:cs typeface="Garamond"/>
              </a:rPr>
              <a:t>4</a:t>
            </a:r>
            <a:r>
              <a:rPr dirty="0" sz="1100" spc="5">
                <a:latin typeface="Garamond"/>
                <a:cs typeface="Garamond"/>
              </a:rPr>
              <a:t>=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$50.50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79400" indent="-228600">
              <a:lnSpc>
                <a:spcPct val="100000"/>
              </a:lnSpc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see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notice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26867" y="6839203"/>
            <a:ext cx="66675" cy="1301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15">
                <a:latin typeface="Garamond"/>
                <a:cs typeface="Garamond"/>
              </a:rPr>
              <a:t>4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9144" y="6734047"/>
            <a:ext cx="3003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89757" y="6636206"/>
            <a:ext cx="341630" cy="41910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45"/>
              </a:spcBef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7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1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u="sng" baseline="-13888" sz="1200" spc="-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5</a:t>
            </a:r>
            <a:r>
              <a:rPr dirty="0" u="sng" baseline="-13888" sz="1200" spc="7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baseline="-13888" sz="12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350"/>
              </a:spcBef>
            </a:pPr>
            <a:r>
              <a:rPr dirty="0" sz="1000" spc="60">
                <a:latin typeface="Cambria Math"/>
                <a:cs typeface="Cambria Math"/>
              </a:rPr>
              <a:t>𝑅−g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0108" y="7227823"/>
            <a:ext cx="376174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66065" algn="l"/>
                <a:tab pos="266700" algn="l"/>
              </a:tabLst>
            </a:pPr>
            <a:r>
              <a:rPr dirty="0" sz="1100">
                <a:latin typeface="Garamond"/>
                <a:cs typeface="Garamond"/>
              </a:rPr>
              <a:t>However,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sz="650" spc="10">
                <a:latin typeface="Garamond"/>
                <a:cs typeface="Garamond"/>
              </a:rPr>
              <a:t>5</a:t>
            </a:r>
            <a:r>
              <a:rPr dirty="0" sz="6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</a:t>
            </a:r>
            <a:r>
              <a:rPr dirty="0" baseline="-8547" sz="975" spc="22">
                <a:latin typeface="Garamond"/>
                <a:cs typeface="Garamond"/>
              </a:rPr>
              <a:t>1</a:t>
            </a:r>
            <a:r>
              <a:rPr dirty="0" baseline="-8547" sz="975" spc="-22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g)</a:t>
            </a:r>
            <a:r>
              <a:rPr dirty="0" baseline="21367" sz="975">
                <a:latin typeface="Garamond"/>
                <a:cs typeface="Garamond"/>
              </a:rPr>
              <a:t>4</a:t>
            </a:r>
            <a:r>
              <a:rPr dirty="0" sz="1100">
                <a:latin typeface="Garamond"/>
                <a:cs typeface="Garamond"/>
              </a:rPr>
              <a:t>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write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baseline="-8547" sz="975" spc="15">
                <a:latin typeface="Garamond"/>
                <a:cs typeface="Garamond"/>
              </a:rPr>
              <a:t>4</a:t>
            </a:r>
            <a:r>
              <a:rPr dirty="0" baseline="-8547" sz="975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23744" y="7616697"/>
            <a:ext cx="3511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4</a:t>
            </a:r>
            <a:r>
              <a:rPr dirty="0" baseline="-8547" sz="975" spc="-22">
                <a:latin typeface="Garamond"/>
                <a:cs typeface="Garamond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89757" y="7561833"/>
            <a:ext cx="6438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30">
                <a:latin typeface="Cambria Math"/>
                <a:cs typeface="Cambria Math"/>
              </a:rPr>
              <a:t>𝐷</a:t>
            </a:r>
            <a:r>
              <a:rPr dirty="0" baseline="-13888" sz="1200" spc="44">
                <a:latin typeface="Cambria Math"/>
                <a:cs typeface="Cambria Math"/>
              </a:rPr>
              <a:t>1</a:t>
            </a:r>
            <a:r>
              <a:rPr dirty="0" sz="1000" spc="30">
                <a:latin typeface="Cambria Math"/>
                <a:cs typeface="Cambria Math"/>
              </a:rPr>
              <a:t>(1+g)</a:t>
            </a:r>
            <a:r>
              <a:rPr dirty="0" baseline="24305" sz="1200" spc="44">
                <a:latin typeface="Cambria Math"/>
                <a:cs typeface="Cambria Math"/>
              </a:rPr>
              <a:t>4</a:t>
            </a:r>
            <a:endParaRPr baseline="24305" sz="12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66033" y="7758429"/>
            <a:ext cx="2882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𝑅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 spc="170">
                <a:latin typeface="Cambria Math"/>
                <a:cs typeface="Cambria Math"/>
              </a:rPr>
              <a:t>g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927857" y="7752842"/>
            <a:ext cx="572135" cy="9525"/>
          </a:xfrm>
          <a:custGeom>
            <a:avLst/>
            <a:gdLst/>
            <a:ahLst/>
            <a:cxnLst/>
            <a:rect l="l" t="t" r="r" b="b"/>
            <a:pathLst>
              <a:path w="572135" h="9525">
                <a:moveTo>
                  <a:pt x="571804" y="0"/>
                </a:moveTo>
                <a:lnTo>
                  <a:pt x="0" y="0"/>
                </a:lnTo>
                <a:lnTo>
                  <a:pt x="0" y="9143"/>
                </a:lnTo>
                <a:lnTo>
                  <a:pt x="571804" y="9143"/>
                </a:lnTo>
                <a:lnTo>
                  <a:pt x="5718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626867" y="8051418"/>
            <a:ext cx="6667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4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90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915157" y="8087994"/>
            <a:ext cx="2882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𝑅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 spc="170">
                <a:latin typeface="Cambria Math"/>
                <a:cs typeface="Cambria Math"/>
              </a:rPr>
              <a:t>g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23744" y="7945881"/>
            <a:ext cx="15551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400">
                <a:latin typeface="Cambria Math"/>
                <a:cs typeface="Cambria Math"/>
              </a:rPr>
              <a:t>= </a:t>
            </a:r>
            <a:r>
              <a:rPr dirty="0" u="sng" baseline="33730" sz="21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sng" baseline="33730" sz="2100" spc="34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sng" baseline="47222" sz="1500" spc="-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u="sng" baseline="41666" sz="1200" spc="-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u="sng" baseline="41666" sz="1200" spc="34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baseline="41666" sz="1200" spc="352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× </a:t>
            </a:r>
            <a:r>
              <a:rPr dirty="0" sz="1400" spc="-5">
                <a:latin typeface="Cambria Math"/>
                <a:cs typeface="Cambria Math"/>
              </a:rPr>
              <a:t>(1</a:t>
            </a:r>
            <a:r>
              <a:rPr dirty="0" sz="1400" spc="-3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+</a:t>
            </a:r>
            <a:r>
              <a:rPr dirty="0" sz="1400" spc="-5">
                <a:latin typeface="Cambria Math"/>
                <a:cs typeface="Cambria Math"/>
              </a:rPr>
              <a:t> </a:t>
            </a:r>
            <a:r>
              <a:rPr dirty="0" sz="1400" spc="5">
                <a:latin typeface="Cambria Math"/>
                <a:cs typeface="Cambria Math"/>
              </a:rPr>
              <a:t>𝑔)</a:t>
            </a:r>
            <a:r>
              <a:rPr dirty="0" baseline="27777" sz="1500" spc="7">
                <a:latin typeface="Cambria Math"/>
                <a:cs typeface="Cambria Math"/>
              </a:rPr>
              <a:t>4</a:t>
            </a:r>
            <a:endParaRPr baseline="27777" sz="15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92808" y="8234298"/>
            <a:ext cx="5470525" cy="14122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169035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4</a:t>
            </a:r>
            <a:r>
              <a:rPr dirty="0" baseline="-8547" sz="975" spc="22">
                <a:latin typeface="Garamond"/>
                <a:cs typeface="Garamond"/>
              </a:rPr>
              <a:t> </a:t>
            </a:r>
            <a:r>
              <a:rPr dirty="0" sz="1150" spc="25">
                <a:latin typeface="Cambria Math"/>
                <a:cs typeface="Cambria Math"/>
              </a:rPr>
              <a:t>= </a:t>
            </a:r>
            <a:r>
              <a:rPr dirty="0" sz="1150" spc="80">
                <a:latin typeface="Cambria Math"/>
                <a:cs typeface="Cambria Math"/>
              </a:rPr>
              <a:t> </a:t>
            </a:r>
            <a:r>
              <a:rPr dirty="0" sz="1150" spc="-60">
                <a:latin typeface="Cambria Math"/>
                <a:cs typeface="Cambria Math"/>
              </a:rPr>
              <a:t>𝑃</a:t>
            </a:r>
            <a:r>
              <a:rPr dirty="0" baseline="-16339" sz="1275" spc="-89">
                <a:latin typeface="Cambria Math"/>
                <a:cs typeface="Cambria Math"/>
              </a:rPr>
              <a:t>0</a:t>
            </a:r>
            <a:r>
              <a:rPr dirty="0" baseline="-16339" sz="1275" spc="405">
                <a:latin typeface="Cambria Math"/>
                <a:cs typeface="Cambria Math"/>
              </a:rPr>
              <a:t> </a:t>
            </a:r>
            <a:r>
              <a:rPr dirty="0" sz="1150" spc="25">
                <a:latin typeface="Cambria Math"/>
                <a:cs typeface="Cambria Math"/>
              </a:rPr>
              <a:t>×</a:t>
            </a:r>
            <a:r>
              <a:rPr dirty="0" sz="1150" spc="5">
                <a:latin typeface="Cambria Math"/>
                <a:cs typeface="Cambria Math"/>
              </a:rPr>
              <a:t> </a:t>
            </a:r>
            <a:r>
              <a:rPr dirty="0" sz="1150" spc="20">
                <a:latin typeface="Cambria Math"/>
                <a:cs typeface="Cambria Math"/>
              </a:rPr>
              <a:t>(1</a:t>
            </a:r>
            <a:r>
              <a:rPr dirty="0" sz="1150" spc="15">
                <a:latin typeface="Cambria Math"/>
                <a:cs typeface="Cambria Math"/>
              </a:rPr>
              <a:t> </a:t>
            </a:r>
            <a:r>
              <a:rPr dirty="0" sz="1150" spc="25">
                <a:latin typeface="Cambria Math"/>
                <a:cs typeface="Cambria Math"/>
              </a:rPr>
              <a:t>+</a:t>
            </a:r>
            <a:r>
              <a:rPr dirty="0" sz="1150" spc="5">
                <a:latin typeface="Cambria Math"/>
                <a:cs typeface="Cambria Math"/>
              </a:rPr>
              <a:t> </a:t>
            </a:r>
            <a:r>
              <a:rPr dirty="0" sz="1150" spc="30">
                <a:latin typeface="Cambria Math"/>
                <a:cs typeface="Cambria Math"/>
              </a:rPr>
              <a:t>𝑔)</a:t>
            </a:r>
            <a:r>
              <a:rPr dirty="0" baseline="29411" sz="1275" spc="44">
                <a:latin typeface="Cambria Math"/>
                <a:cs typeface="Cambria Math"/>
              </a:rPr>
              <a:t>4</a:t>
            </a:r>
            <a:endParaRPr baseline="29411" sz="1275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50">
              <a:latin typeface="Cambria Math"/>
              <a:cs typeface="Cambria Math"/>
            </a:endParaRPr>
          </a:p>
          <a:p>
            <a:pPr marL="253365" marR="27940" indent="-228600">
              <a:lnSpc>
                <a:spcPts val="1260"/>
              </a:lnSpc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>
                <a:latin typeface="Garamond"/>
                <a:cs typeface="Garamond"/>
              </a:rPr>
              <a:t>example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illustrates</a:t>
            </a:r>
            <a:r>
              <a:rPr dirty="0" sz="1100" spc="5">
                <a:latin typeface="Garamond"/>
                <a:cs typeface="Garamond"/>
              </a:rPr>
              <a:t> that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model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makes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implicit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assumption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constant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dividend.</a:t>
            </a:r>
            <a:endParaRPr sz="1100">
              <a:latin typeface="Garamond"/>
              <a:cs typeface="Garamond"/>
            </a:endParaRPr>
          </a:p>
          <a:p>
            <a:pPr marL="253365" marR="177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tells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constant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through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does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marL="253365" marR="2794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bigger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R,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keeps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getting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bigger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bigger.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infinitely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568896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5508" y="724179"/>
            <a:ext cx="5434965" cy="87693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true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discount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20"/>
              </a:lnSpc>
              <a:spcBef>
                <a:spcPts val="2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expression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came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constant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any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perpetuity,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C1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next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perpetuity,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cash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by: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7726" y="1757552"/>
            <a:ext cx="2882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𝑅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 spc="170">
                <a:latin typeface="Cambria Math"/>
                <a:cs typeface="Cambria Math"/>
              </a:rPr>
              <a:t>g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23744" y="1560702"/>
            <a:ext cx="854710" cy="2946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6555">
              <a:lnSpc>
                <a:spcPts val="815"/>
              </a:lnSpc>
              <a:spcBef>
                <a:spcPts val="105"/>
              </a:spcBef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𝐶</a:t>
            </a:r>
            <a:r>
              <a:rPr dirty="0" u="sng" baseline="-13888" sz="12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u="sng" baseline="-13888" sz="1200" spc="7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baseline="-13888" sz="1200">
              <a:latin typeface="Cambria Math"/>
              <a:cs typeface="Cambria Math"/>
            </a:endParaRPr>
          </a:p>
          <a:p>
            <a:pPr marL="38100">
              <a:lnSpc>
                <a:spcPts val="1295"/>
              </a:lnSpc>
              <a:tabLst>
                <a:tab pos="682625" algn="l"/>
              </a:tabLst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10">
                <a:latin typeface="Garamond"/>
                <a:cs typeface="Garamond"/>
              </a:rPr>
              <a:t> =	</a:t>
            </a:r>
            <a:r>
              <a:rPr dirty="0" sz="140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3059" y="1517471"/>
            <a:ext cx="596265" cy="41910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𝐶</a:t>
            </a:r>
            <a:r>
              <a:rPr dirty="0" u="sng" baseline="-13888" sz="12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0</a:t>
            </a:r>
            <a:r>
              <a:rPr dirty="0" u="sng" baseline="-13888" sz="1200" spc="44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sng" sz="100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(1+g)</a:t>
            </a:r>
            <a:endParaRPr sz="10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1000" spc="60">
                <a:latin typeface="Cambria Math"/>
                <a:cs typeface="Cambria Math"/>
              </a:rPr>
              <a:t>𝑅−g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6629" y="2054732"/>
            <a:ext cx="4040504" cy="5073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No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-10" b="1">
                <a:latin typeface="Garamond"/>
                <a:cs typeface="Garamond"/>
              </a:rPr>
              <a:t>-</a:t>
            </a:r>
            <a:r>
              <a:rPr dirty="0" sz="1100" b="1">
                <a:latin typeface="Garamond"/>
                <a:cs typeface="Garamond"/>
              </a:rPr>
              <a:t>Con</a:t>
            </a:r>
            <a:r>
              <a:rPr dirty="0" sz="1100" spc="5" b="1">
                <a:latin typeface="Garamond"/>
                <a:cs typeface="Garamond"/>
              </a:rPr>
              <a:t>s</a:t>
            </a:r>
            <a:r>
              <a:rPr dirty="0" sz="1100" spc="-20" b="1">
                <a:latin typeface="Garamond"/>
                <a:cs typeface="Garamond"/>
              </a:rPr>
              <a:t>t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5" b="1">
                <a:latin typeface="Garamond"/>
                <a:cs typeface="Garamond"/>
              </a:rPr>
              <a:t>t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15" b="1">
                <a:latin typeface="Garamond"/>
                <a:cs typeface="Garamond"/>
              </a:rPr>
              <a:t>Gr</a:t>
            </a:r>
            <a:r>
              <a:rPr dirty="0" sz="1100" spc="-5" b="1">
                <a:latin typeface="Garamond"/>
                <a:cs typeface="Garamond"/>
              </a:rPr>
              <a:t>o</a:t>
            </a:r>
            <a:r>
              <a:rPr dirty="0" sz="1100" spc="-30" b="1">
                <a:latin typeface="Garamond"/>
                <a:cs typeface="Garamond"/>
              </a:rPr>
              <a:t>w</a:t>
            </a:r>
            <a:r>
              <a:rPr dirty="0" sz="1100" spc="15" b="1">
                <a:latin typeface="Garamond"/>
                <a:cs typeface="Garamond"/>
              </a:rPr>
              <a:t>t</a:t>
            </a:r>
            <a:r>
              <a:rPr dirty="0" sz="1100" spc="5" b="1">
                <a:latin typeface="Garamond"/>
                <a:cs typeface="Garamond"/>
              </a:rPr>
              <a:t>h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S</a:t>
            </a:r>
            <a:r>
              <a:rPr dirty="0" sz="1100" spc="15" b="1">
                <a:latin typeface="Garamond"/>
                <a:cs typeface="Garamond"/>
              </a:rPr>
              <a:t>t</a:t>
            </a:r>
            <a:r>
              <a:rPr dirty="0" sz="1100" spc="-40" b="1">
                <a:latin typeface="Garamond"/>
                <a:cs typeface="Garamond"/>
              </a:rPr>
              <a:t>o</a:t>
            </a:r>
            <a:r>
              <a:rPr dirty="0" sz="1100" spc="20" b="1">
                <a:latin typeface="Garamond"/>
                <a:cs typeface="Garamond"/>
              </a:rPr>
              <a:t>c</a:t>
            </a:r>
            <a:r>
              <a:rPr dirty="0" sz="1100" spc="-15" b="1">
                <a:latin typeface="Garamond"/>
                <a:cs typeface="Garamond"/>
              </a:rPr>
              <a:t>k</a:t>
            </a:r>
            <a:r>
              <a:rPr dirty="0" sz="1100" spc="5" b="1">
                <a:latin typeface="Garamond"/>
                <a:cs typeface="Garamond"/>
              </a:rPr>
              <a:t>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Consider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company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26867" y="4067301"/>
            <a:ext cx="6667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4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49144" y="3962145"/>
            <a:ext cx="3003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7408" y="2544317"/>
            <a:ext cx="5528945" cy="154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794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 spc="5">
                <a:latin typeface="Garamond"/>
                <a:cs typeface="Garamond"/>
              </a:rPr>
              <a:t>You </a:t>
            </a:r>
            <a:r>
              <a:rPr dirty="0" sz="1100">
                <a:latin typeface="Garamond"/>
                <a:cs typeface="Garamond"/>
              </a:rPr>
              <a:t>predict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dividend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$0.50.</a:t>
            </a:r>
            <a:endParaRPr sz="1100">
              <a:latin typeface="Garamond"/>
              <a:cs typeface="Garamond"/>
            </a:endParaRPr>
          </a:p>
          <a:p>
            <a:pPr marL="2794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 spc="5">
                <a:latin typeface="Garamond"/>
                <a:cs typeface="Garamond"/>
              </a:rPr>
              <a:t>You </a:t>
            </a:r>
            <a:r>
              <a:rPr dirty="0" sz="1100">
                <a:latin typeface="Garamond"/>
                <a:cs typeface="Garamond"/>
              </a:rPr>
              <a:t>expect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indefinitely.</a:t>
            </a:r>
            <a:endParaRPr sz="1100">
              <a:latin typeface="Garamond"/>
              <a:cs typeface="Garamond"/>
            </a:endParaRPr>
          </a:p>
          <a:p>
            <a:pPr marL="279400" indent="-228600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companies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20%.</a:t>
            </a:r>
            <a:endParaRPr sz="1100">
              <a:latin typeface="Garamond"/>
              <a:cs typeface="Garamond"/>
            </a:endParaRPr>
          </a:p>
          <a:p>
            <a:pPr marL="2794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 spc="5">
                <a:latin typeface="Garamond"/>
                <a:cs typeface="Garamond"/>
              </a:rPr>
              <a:t>What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 today?</a:t>
            </a:r>
            <a:endParaRPr sz="1100">
              <a:latin typeface="Garamond"/>
              <a:cs typeface="Garamond"/>
            </a:endParaRPr>
          </a:p>
          <a:p>
            <a:pPr marL="278765" marR="61594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 spc="-10">
                <a:latin typeface="Garamond"/>
                <a:cs typeface="Garamond"/>
              </a:rPr>
              <a:t>First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>
                <a:latin typeface="Garamond"/>
                <a:cs typeface="Garamond"/>
              </a:rPr>
              <a:t>calculate</a:t>
            </a:r>
            <a:r>
              <a:rPr dirty="0" sz="1100" spc="5">
                <a:latin typeface="Garamond"/>
                <a:cs typeface="Garamond"/>
              </a:rPr>
              <a:t> what </a:t>
            </a:r>
            <a:r>
              <a:rPr dirty="0" sz="1100">
                <a:latin typeface="Garamond"/>
                <a:cs typeface="Garamond"/>
              </a:rPr>
              <a:t>it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-5">
                <a:latin typeface="Garamond"/>
                <a:cs typeface="Garamond"/>
              </a:rPr>
              <a:t> worth</a:t>
            </a:r>
            <a:r>
              <a:rPr dirty="0" sz="1100">
                <a:latin typeface="Garamond"/>
                <a:cs typeface="Garamond"/>
              </a:rPr>
              <a:t> once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 are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paid.</a:t>
            </a:r>
            <a:r>
              <a:rPr dirty="0" sz="1100">
                <a:latin typeface="Garamond"/>
                <a:cs typeface="Garamond"/>
              </a:rPr>
              <a:t> We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can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today’s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price.</a:t>
            </a:r>
            <a:endParaRPr sz="1100">
              <a:latin typeface="Garamond"/>
              <a:cs typeface="Garamond"/>
            </a:endParaRPr>
          </a:p>
          <a:p>
            <a:pPr marL="278765" marR="5588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 spc="10">
                <a:latin typeface="Garamond"/>
                <a:cs typeface="Garamond"/>
              </a:rPr>
              <a:t>1</a:t>
            </a:r>
            <a:r>
              <a:rPr dirty="0" baseline="21367" sz="975" spc="15">
                <a:latin typeface="Garamond"/>
                <a:cs typeface="Garamond"/>
              </a:rPr>
              <a:t>st</a:t>
            </a:r>
            <a:r>
              <a:rPr dirty="0" baseline="21367" sz="975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paid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steadily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onwards.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be:</a:t>
            </a:r>
            <a:endParaRPr sz="1100">
              <a:latin typeface="Garamond"/>
              <a:cs typeface="Garamond"/>
            </a:endParaRPr>
          </a:p>
          <a:p>
            <a:pPr marL="1560195">
              <a:lnSpc>
                <a:spcPts val="1100"/>
              </a:lnSpc>
            </a:pPr>
            <a:r>
              <a:rPr dirty="0" u="sng" sz="100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u="sng" baseline="-13888" sz="1200" spc="44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4</a:t>
            </a:r>
            <a:r>
              <a:rPr dirty="0" u="sng" sz="100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(1+g)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34029" y="4103877"/>
            <a:ext cx="2882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𝑅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 spc="170">
                <a:latin typeface="Cambria Math"/>
                <a:cs typeface="Cambria Math"/>
              </a:rPr>
              <a:t>g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26867" y="4405629"/>
            <a:ext cx="66675" cy="1301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15">
                <a:latin typeface="Garamond"/>
                <a:cs typeface="Garamond"/>
              </a:rPr>
              <a:t>4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49144" y="4337049"/>
            <a:ext cx="2755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74594" y="4300473"/>
            <a:ext cx="14922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5</a:t>
            </a:r>
            <a:r>
              <a:rPr dirty="0" u="sng" sz="800" spc="-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34614" y="4337049"/>
            <a:ext cx="120014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32861" y="4245609"/>
            <a:ext cx="9036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9755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sz="1000" spc="5">
                <a:latin typeface="Cambria Math"/>
                <a:cs typeface="Cambria Math"/>
              </a:rPr>
              <a:t>$0</a:t>
            </a:r>
            <a:r>
              <a:rPr dirty="0" sz="1000" spc="5">
                <a:latin typeface="Cambria Math"/>
                <a:cs typeface="Cambria Math"/>
              </a:rPr>
              <a:t>.</a:t>
            </a:r>
            <a:r>
              <a:rPr dirty="0" sz="1000" spc="15">
                <a:latin typeface="Cambria Math"/>
                <a:cs typeface="Cambria Math"/>
              </a:rPr>
              <a:t>50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32861" y="4442205"/>
            <a:ext cx="104076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1959" algn="l"/>
              </a:tabLst>
            </a:pPr>
            <a:r>
              <a:rPr dirty="0" sz="1000" spc="60">
                <a:latin typeface="Cambria Math"/>
                <a:cs typeface="Cambria Math"/>
              </a:rPr>
              <a:t>𝑅−g	</a:t>
            </a:r>
            <a:r>
              <a:rPr dirty="0" sz="1000" spc="10">
                <a:latin typeface="Cambria Math"/>
                <a:cs typeface="Cambria Math"/>
              </a:rPr>
              <a:t>0.20−0.10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75329" y="4436617"/>
            <a:ext cx="586105" cy="9525"/>
          </a:xfrm>
          <a:custGeom>
            <a:avLst/>
            <a:gdLst/>
            <a:ahLst/>
            <a:cxnLst/>
            <a:rect l="l" t="t" r="r" b="b"/>
            <a:pathLst>
              <a:path w="586104" h="9525">
                <a:moveTo>
                  <a:pt x="585825" y="0"/>
                </a:moveTo>
                <a:lnTo>
                  <a:pt x="0" y="0"/>
                </a:lnTo>
                <a:lnTo>
                  <a:pt x="0" y="9144"/>
                </a:lnTo>
                <a:lnTo>
                  <a:pt x="585825" y="9144"/>
                </a:lnTo>
                <a:lnTo>
                  <a:pt x="585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367408" y="4748910"/>
            <a:ext cx="5488305" cy="15544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944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4</a:t>
            </a:r>
            <a:r>
              <a:rPr dirty="0" baseline="-8547" sz="975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5">
                <a:latin typeface="Cambria Math"/>
                <a:cs typeface="Cambria Math"/>
              </a:rPr>
              <a:t>$5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Cambria Math"/>
              <a:cs typeface="Cambria Math"/>
            </a:endParaRPr>
          </a:p>
          <a:p>
            <a:pPr marL="279400" indent="-228600">
              <a:lnSpc>
                <a:spcPct val="100000"/>
              </a:lnSpc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">
                <a:latin typeface="Garamond"/>
                <a:cs typeface="Garamond"/>
              </a:rPr>
              <a:t> 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back </a:t>
            </a:r>
            <a:r>
              <a:rPr dirty="0" sz="1100" spc="5">
                <a:latin typeface="Garamond"/>
                <a:cs typeface="Garamond"/>
              </a:rPr>
              <a:t>four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20%</a:t>
            </a:r>
            <a:endParaRPr sz="1100">
              <a:latin typeface="Garamond"/>
              <a:cs typeface="Garamond"/>
            </a:endParaRPr>
          </a:p>
          <a:p>
            <a:pPr algn="ctr" marR="194945">
              <a:lnSpc>
                <a:spcPct val="100000"/>
              </a:lnSpc>
              <a:spcBef>
                <a:spcPts val="1165"/>
              </a:spcBef>
            </a:pPr>
            <a:r>
              <a:rPr dirty="0" sz="1100" spc="-10">
                <a:latin typeface="Garamond"/>
                <a:cs typeface="Garamond"/>
              </a:rPr>
              <a:t>P</a:t>
            </a:r>
            <a:r>
              <a:rPr dirty="0" sz="650" spc="-10">
                <a:latin typeface="Garamond"/>
                <a:cs typeface="Garamond"/>
              </a:rPr>
              <a:t>0</a:t>
            </a:r>
            <a:r>
              <a:rPr dirty="0" sz="65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$5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1.20</a:t>
            </a:r>
            <a:r>
              <a:rPr dirty="0" sz="650">
                <a:latin typeface="Garamond"/>
                <a:cs typeface="Garamond"/>
              </a:rPr>
              <a:t>4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2.0736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$2.41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278765" marR="17780" indent="-228600">
              <a:lnSpc>
                <a:spcPts val="1260"/>
              </a:lnSpc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problem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non-constant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slightly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complicated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marL="279400" indent="-228600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example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>
                <a:latin typeface="Garamond"/>
                <a:cs typeface="Garamond"/>
              </a:rPr>
              <a:t> forecasts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next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2799588" y="6458457"/>
          <a:ext cx="2429510" cy="668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5030"/>
                <a:gridCol w="1539875"/>
              </a:tblGrid>
              <a:tr h="169163">
                <a:tc>
                  <a:txBody>
                    <a:bodyPr/>
                    <a:lstStyle/>
                    <a:p>
                      <a:pPr algn="ctr" marL="106045">
                        <a:lnSpc>
                          <a:spcPts val="123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223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Expected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Dividend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3571">
                <a:tc>
                  <a:txBody>
                    <a:bodyPr/>
                    <a:lstStyle/>
                    <a:p>
                      <a:pPr algn="ctr" marL="106045">
                        <a:lnSpc>
                          <a:spcPts val="119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00965">
                        <a:lnSpc>
                          <a:spcPts val="119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ctr" marL="106045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00965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2.00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0438">
                <a:tc>
                  <a:txBody>
                    <a:bodyPr/>
                    <a:lstStyle/>
                    <a:p>
                      <a:pPr algn="ctr" marL="106045">
                        <a:lnSpc>
                          <a:spcPts val="11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1600">
                        <a:lnSpc>
                          <a:spcPts val="11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2.50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3" name="object 23"/>
          <p:cNvSpPr txBox="1"/>
          <p:nvPr/>
        </p:nvSpPr>
        <p:spPr>
          <a:xfrm>
            <a:off x="1380108" y="7264400"/>
            <a:ext cx="5073015" cy="5480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66065" algn="l"/>
                <a:tab pos="266700" algn="l"/>
              </a:tabLst>
            </a:pPr>
            <a:r>
              <a:rPr dirty="0" sz="1100">
                <a:latin typeface="Garamond"/>
                <a:cs typeface="Garamond"/>
              </a:rPr>
              <a:t>After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3</a:t>
            </a:r>
            <a:r>
              <a:rPr dirty="0" baseline="21367" sz="975" spc="15">
                <a:latin typeface="Garamond"/>
                <a:cs typeface="Garamond"/>
              </a:rPr>
              <a:t>rd</a:t>
            </a:r>
            <a:r>
              <a:rPr dirty="0" baseline="21367" sz="975" spc="217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constant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year</a:t>
            </a:r>
            <a:endParaRPr sz="1100">
              <a:latin typeface="Garamond"/>
              <a:cs typeface="Garamond"/>
            </a:endParaRPr>
          </a:p>
          <a:p>
            <a:pPr marL="2667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66065" algn="l"/>
                <a:tab pos="2667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>
                <a:latin typeface="Garamond"/>
                <a:cs typeface="Garamond"/>
              </a:rPr>
              <a:t> 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10%.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today?</a:t>
            </a:r>
            <a:endParaRPr sz="1100">
              <a:latin typeface="Garamond"/>
              <a:cs typeface="Garamond"/>
            </a:endParaRPr>
          </a:p>
          <a:p>
            <a:pPr marL="2667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66065" algn="l"/>
                <a:tab pos="266700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quite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helpful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dealing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such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problem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non-constant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growth.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6871" y="8002540"/>
            <a:ext cx="4793559" cy="1517888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879627"/>
            <a:ext cx="4967605" cy="5613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10">
                <a:latin typeface="Garamond"/>
                <a:cs typeface="Garamond"/>
              </a:rPr>
              <a:t>First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compute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down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road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add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paid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then.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6867" y="1725548"/>
            <a:ext cx="6667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3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9144" y="1620393"/>
            <a:ext cx="3003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89757" y="1522043"/>
            <a:ext cx="753745" cy="56578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R="163195">
              <a:lnSpc>
                <a:spcPct val="100000"/>
              </a:lnSpc>
              <a:spcBef>
                <a:spcPts val="445"/>
              </a:spcBef>
            </a:pPr>
            <a:r>
              <a:rPr dirty="0" u="sng" sz="100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u="sng" baseline="-13888" sz="1200" spc="44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</a:t>
            </a:r>
            <a:r>
              <a:rPr dirty="0" u="sng" sz="100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(1+g)</a:t>
            </a:r>
            <a:endParaRPr sz="1000">
              <a:latin typeface="Cambria Math"/>
              <a:cs typeface="Cambria Math"/>
            </a:endParaRPr>
          </a:p>
          <a:p>
            <a:pPr algn="ctr" marR="168275">
              <a:lnSpc>
                <a:spcPts val="1175"/>
              </a:lnSpc>
              <a:spcBef>
                <a:spcPts val="350"/>
              </a:spcBef>
            </a:pPr>
            <a:r>
              <a:rPr dirty="0" sz="1000" spc="60">
                <a:latin typeface="Cambria Math"/>
                <a:cs typeface="Cambria Math"/>
              </a:rPr>
              <a:t>𝑅−g</a:t>
            </a:r>
            <a:endParaRPr sz="1000">
              <a:latin typeface="Cambria Math"/>
              <a:cs typeface="Cambria Math"/>
            </a:endParaRPr>
          </a:p>
          <a:p>
            <a:pPr algn="ctr">
              <a:lnSpc>
                <a:spcPts val="1175"/>
              </a:lnSpc>
            </a:pPr>
            <a:r>
              <a:rPr dirty="0" sz="1000" spc="10">
                <a:latin typeface="Cambria Math"/>
                <a:cs typeface="Cambria Math"/>
              </a:rPr>
              <a:t>$2.50</a:t>
            </a:r>
            <a:r>
              <a:rPr dirty="0" sz="1000" spc="-40">
                <a:latin typeface="Cambria Math"/>
                <a:cs typeface="Cambria Math"/>
              </a:rPr>
              <a:t> </a:t>
            </a:r>
            <a:r>
              <a:rPr dirty="0" sz="1000" spc="10">
                <a:latin typeface="Cambria Math"/>
                <a:cs typeface="Cambria Math"/>
              </a:rPr>
              <a:t>×1.05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23744" y="1963293"/>
            <a:ext cx="35115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3</a:t>
            </a:r>
            <a:r>
              <a:rPr dirty="0" baseline="-8547" sz="975" spc="-22">
                <a:latin typeface="Garamond"/>
                <a:cs typeface="Garamond"/>
              </a:rPr>
              <a:t> </a:t>
            </a:r>
            <a:r>
              <a:rPr dirty="0" sz="1400"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60877" y="2105024"/>
            <a:ext cx="6115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0">
                <a:latin typeface="Cambria Math"/>
                <a:cs typeface="Cambria Math"/>
              </a:rPr>
              <a:t>0.10−0.05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27857" y="2099436"/>
            <a:ext cx="677545" cy="9525"/>
          </a:xfrm>
          <a:custGeom>
            <a:avLst/>
            <a:gdLst/>
            <a:ahLst/>
            <a:cxnLst/>
            <a:rect l="l" t="t" r="r" b="b"/>
            <a:pathLst>
              <a:path w="677545" h="9525">
                <a:moveTo>
                  <a:pt x="676960" y="0"/>
                </a:moveTo>
                <a:lnTo>
                  <a:pt x="0" y="0"/>
                </a:lnTo>
                <a:lnTo>
                  <a:pt x="0" y="9144"/>
                </a:lnTo>
                <a:lnTo>
                  <a:pt x="676960" y="9144"/>
                </a:lnTo>
                <a:lnTo>
                  <a:pt x="676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63929" y="2223896"/>
            <a:ext cx="5514340" cy="6673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3976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3</a:t>
            </a:r>
            <a:r>
              <a:rPr dirty="0" baseline="-8547" sz="975" spc="-22">
                <a:latin typeface="Garamond"/>
                <a:cs typeface="Garamond"/>
              </a:rPr>
              <a:t> </a:t>
            </a:r>
            <a:r>
              <a:rPr dirty="0" sz="1100" spc="10">
                <a:latin typeface="Cambria Math"/>
                <a:cs typeface="Cambria Math"/>
              </a:rPr>
              <a:t>=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>
                <a:latin typeface="Cambria Math"/>
                <a:cs typeface="Cambria Math"/>
              </a:rPr>
              <a:t>$52.50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100">
              <a:latin typeface="Cambria Math"/>
              <a:cs typeface="Cambria Math"/>
            </a:endParaRPr>
          </a:p>
          <a:p>
            <a:pPr marL="25400" marR="17780">
              <a:lnSpc>
                <a:spcPts val="1220"/>
              </a:lnSpc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plus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3,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650" spc="5">
                <a:latin typeface="Garamond"/>
                <a:cs typeface="Garamond"/>
              </a:rPr>
              <a:t>3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69414" y="3166363"/>
            <a:ext cx="6985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91689" y="3097783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99435" y="3060954"/>
            <a:ext cx="23177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79979" y="3006089"/>
            <a:ext cx="8858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3255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51150" y="3061207"/>
            <a:ext cx="14122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3890" algn="l"/>
                <a:tab pos="1265555" algn="l"/>
              </a:tabLst>
            </a:pPr>
            <a:r>
              <a:rPr dirty="0" sz="1400">
                <a:latin typeface="Garamond"/>
                <a:cs typeface="Garamond"/>
              </a:rPr>
              <a:t>+</a:t>
            </a:r>
            <a:r>
              <a:rPr dirty="0" sz="1400">
                <a:latin typeface="Garamond"/>
                <a:cs typeface="Garamond"/>
              </a:rPr>
              <a:t>	</a:t>
            </a:r>
            <a:r>
              <a:rPr dirty="0" sz="1400">
                <a:latin typeface="Garamond"/>
                <a:cs typeface="Garamond"/>
              </a:rPr>
              <a:t>+</a:t>
            </a:r>
            <a:r>
              <a:rPr dirty="0" sz="1400">
                <a:latin typeface="Garamond"/>
                <a:cs typeface="Garamond"/>
              </a:rPr>
              <a:t>	</a:t>
            </a:r>
            <a:r>
              <a:rPr dirty="0" sz="1400">
                <a:latin typeface="Cambria Math"/>
                <a:cs typeface="Cambria Math"/>
              </a:rPr>
              <a:t>+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42486" y="3006089"/>
            <a:ext cx="8782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8335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dirty="0" u="sng" sz="1000" spc="-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6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𝑃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30626" y="3060954"/>
            <a:ext cx="149860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  <a:tab pos="643890" algn="l"/>
                <a:tab pos="849630" algn="l"/>
                <a:tab pos="1275080" algn="l"/>
                <a:tab pos="1485265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54579" y="3202939"/>
            <a:ext cx="239585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68655" algn="l"/>
                <a:tab pos="1300480" algn="l"/>
                <a:tab pos="1936114" algn="l"/>
              </a:tabLst>
            </a:pP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1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2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92679" y="3531107"/>
            <a:ext cx="416559" cy="9525"/>
          </a:xfrm>
          <a:custGeom>
            <a:avLst/>
            <a:gdLst/>
            <a:ahLst/>
            <a:cxnLst/>
            <a:rect l="l" t="t" r="r" b="b"/>
            <a:pathLst>
              <a:path w="416560" h="9525">
                <a:moveTo>
                  <a:pt x="416051" y="0"/>
                </a:moveTo>
                <a:lnTo>
                  <a:pt x="0" y="0"/>
                </a:lnTo>
                <a:lnTo>
                  <a:pt x="0" y="9144"/>
                </a:lnTo>
                <a:lnTo>
                  <a:pt x="416051" y="9144"/>
                </a:lnTo>
                <a:lnTo>
                  <a:pt x="416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14726" y="3531107"/>
            <a:ext cx="416559" cy="9525"/>
          </a:xfrm>
          <a:custGeom>
            <a:avLst/>
            <a:gdLst/>
            <a:ahLst/>
            <a:cxnLst/>
            <a:rect l="l" t="t" r="r" b="b"/>
            <a:pathLst>
              <a:path w="416560" h="9525">
                <a:moveTo>
                  <a:pt x="416356" y="0"/>
                </a:moveTo>
                <a:lnTo>
                  <a:pt x="0" y="0"/>
                </a:lnTo>
                <a:lnTo>
                  <a:pt x="0" y="9144"/>
                </a:lnTo>
                <a:lnTo>
                  <a:pt x="416356" y="9144"/>
                </a:lnTo>
                <a:lnTo>
                  <a:pt x="4163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36898" y="3531107"/>
            <a:ext cx="416559" cy="9525"/>
          </a:xfrm>
          <a:custGeom>
            <a:avLst/>
            <a:gdLst/>
            <a:ahLst/>
            <a:cxnLst/>
            <a:rect l="l" t="t" r="r" b="b"/>
            <a:pathLst>
              <a:path w="416560" h="9525">
                <a:moveTo>
                  <a:pt x="416356" y="0"/>
                </a:moveTo>
                <a:lnTo>
                  <a:pt x="0" y="0"/>
                </a:lnTo>
                <a:lnTo>
                  <a:pt x="0" y="9144"/>
                </a:lnTo>
                <a:lnTo>
                  <a:pt x="416356" y="9144"/>
                </a:lnTo>
                <a:lnTo>
                  <a:pt x="4163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268089" y="3531107"/>
            <a:ext cx="416559" cy="9525"/>
          </a:xfrm>
          <a:custGeom>
            <a:avLst/>
            <a:gdLst/>
            <a:ahLst/>
            <a:cxnLst/>
            <a:rect l="l" t="t" r="r" b="b"/>
            <a:pathLst>
              <a:path w="416560" h="9525">
                <a:moveTo>
                  <a:pt x="416356" y="0"/>
                </a:moveTo>
                <a:lnTo>
                  <a:pt x="0" y="0"/>
                </a:lnTo>
                <a:lnTo>
                  <a:pt x="0" y="9144"/>
                </a:lnTo>
                <a:lnTo>
                  <a:pt x="416356" y="9144"/>
                </a:lnTo>
                <a:lnTo>
                  <a:pt x="4163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040889" y="3340099"/>
            <a:ext cx="2707640" cy="7080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88950">
              <a:lnSpc>
                <a:spcPts val="1175"/>
              </a:lnSpc>
              <a:spcBef>
                <a:spcPts val="105"/>
              </a:spcBef>
              <a:tabLst>
                <a:tab pos="1110615" algn="l"/>
                <a:tab pos="1645920" algn="l"/>
                <a:tab pos="2240280" algn="l"/>
              </a:tabLst>
            </a:pPr>
            <a:r>
              <a:rPr dirty="0" sz="1000" spc="10">
                <a:latin typeface="Cambria Math"/>
                <a:cs typeface="Cambria Math"/>
              </a:rPr>
              <a:t>$1	$2	</a:t>
            </a:r>
            <a:r>
              <a:rPr dirty="0" sz="1000" spc="20">
                <a:latin typeface="Cambria Math"/>
                <a:cs typeface="Cambria Math"/>
              </a:rPr>
              <a:t>$2.50	</a:t>
            </a:r>
            <a:r>
              <a:rPr dirty="0" sz="1000" spc="15">
                <a:latin typeface="Cambria Math"/>
                <a:cs typeface="Cambria Math"/>
              </a:rPr>
              <a:t>$52.52</a:t>
            </a:r>
            <a:endParaRPr sz="1000">
              <a:latin typeface="Cambria Math"/>
              <a:cs typeface="Cambria Math"/>
            </a:endParaRPr>
          </a:p>
          <a:p>
            <a:pPr marL="63500">
              <a:lnSpc>
                <a:spcPts val="1595"/>
              </a:lnSpc>
            </a:pPr>
            <a:r>
              <a:rPr dirty="0" baseline="35353" sz="1650">
                <a:latin typeface="Garamond"/>
                <a:cs typeface="Garamond"/>
              </a:rPr>
              <a:t>P</a:t>
            </a:r>
            <a:r>
              <a:rPr dirty="0" baseline="51282" sz="975">
                <a:latin typeface="Garamond"/>
                <a:cs typeface="Garamond"/>
              </a:rPr>
              <a:t>o</a:t>
            </a:r>
            <a:r>
              <a:rPr dirty="0" baseline="51282" sz="975" spc="195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-22">
                <a:latin typeface="Garamond"/>
                <a:cs typeface="Garamond"/>
              </a:rPr>
              <a:t> 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1.10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1</a:t>
            </a:r>
            <a:r>
              <a:rPr dirty="0" baseline="20833" sz="1200" spc="270">
                <a:latin typeface="Cambria Math"/>
                <a:cs typeface="Cambria Math"/>
              </a:rPr>
              <a:t> </a:t>
            </a:r>
            <a:r>
              <a:rPr dirty="0" baseline="27777" sz="2100">
                <a:latin typeface="Garamond"/>
                <a:cs typeface="Garamond"/>
              </a:rPr>
              <a:t>+</a:t>
            </a:r>
            <a:r>
              <a:rPr dirty="0" baseline="27777" sz="2100" spc="-44">
                <a:latin typeface="Garamond"/>
                <a:cs typeface="Garamond"/>
              </a:rPr>
              <a:t> 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1.10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2</a:t>
            </a:r>
            <a:r>
              <a:rPr dirty="0" baseline="20833" sz="1200" spc="262">
                <a:latin typeface="Cambria Math"/>
                <a:cs typeface="Cambria Math"/>
              </a:rPr>
              <a:t> </a:t>
            </a:r>
            <a:r>
              <a:rPr dirty="0" baseline="27777" sz="2100">
                <a:latin typeface="Garamond"/>
                <a:cs typeface="Garamond"/>
              </a:rPr>
              <a:t>+</a:t>
            </a:r>
            <a:r>
              <a:rPr dirty="0" baseline="27777" sz="2100" spc="-52">
                <a:latin typeface="Garamond"/>
                <a:cs typeface="Garamond"/>
              </a:rPr>
              <a:t> 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1.10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</a:t>
            </a:r>
            <a:r>
              <a:rPr dirty="0" baseline="20833" sz="1200" spc="209">
                <a:latin typeface="Cambria Math"/>
                <a:cs typeface="Cambria Math"/>
              </a:rPr>
              <a:t> </a:t>
            </a:r>
            <a:r>
              <a:rPr dirty="0" baseline="27777" sz="2100">
                <a:latin typeface="Cambria Math"/>
                <a:cs typeface="Cambria Math"/>
              </a:rPr>
              <a:t>+</a:t>
            </a:r>
            <a:r>
              <a:rPr dirty="0" baseline="27777" sz="2100" spc="15">
                <a:latin typeface="Cambria Math"/>
                <a:cs typeface="Cambria Math"/>
              </a:rPr>
              <a:t> 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1.10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</a:t>
            </a:r>
            <a:endParaRPr baseline="20833" sz="1200">
              <a:latin typeface="Cambria Math"/>
              <a:cs typeface="Cambria Math"/>
            </a:endParaRPr>
          </a:p>
          <a:p>
            <a:pPr marL="63500">
              <a:lnSpc>
                <a:spcPts val="1260"/>
              </a:lnSpc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o</a:t>
            </a:r>
            <a:r>
              <a:rPr dirty="0" baseline="-8547" sz="975" spc="18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Cambria Math"/>
                <a:cs typeface="Cambria Math"/>
              </a:rPr>
              <a:t>$0.91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Cambria Math"/>
                <a:cs typeface="Cambria Math"/>
              </a:rPr>
              <a:t>$1.65 </a:t>
            </a:r>
            <a:r>
              <a:rPr dirty="0" sz="1100" spc="-5">
                <a:latin typeface="Garamond"/>
                <a:cs typeface="Garamond"/>
              </a:rPr>
              <a:t>+</a:t>
            </a:r>
            <a:r>
              <a:rPr dirty="0" sz="1100" spc="-5">
                <a:latin typeface="Cambria Math"/>
                <a:cs typeface="Cambria Math"/>
              </a:rPr>
              <a:t>$1.88 </a:t>
            </a:r>
            <a:r>
              <a:rPr dirty="0" sz="1100" spc="10">
                <a:latin typeface="Cambria Math"/>
                <a:cs typeface="Cambria Math"/>
              </a:rPr>
              <a:t>+</a:t>
            </a:r>
            <a:r>
              <a:rPr dirty="0" sz="1100">
                <a:latin typeface="Cambria Math"/>
                <a:cs typeface="Cambria Math"/>
              </a:rPr>
              <a:t> $39.44</a:t>
            </a:r>
            <a:endParaRPr sz="11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15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o</a:t>
            </a:r>
            <a:r>
              <a:rPr dirty="0" baseline="-8547" sz="975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=</a:t>
            </a:r>
            <a:r>
              <a:rPr dirty="0" sz="1100" spc="-5">
                <a:latin typeface="Cambria Math"/>
                <a:cs typeface="Cambria Math"/>
              </a:rPr>
              <a:t>$43.88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714501"/>
            <a:ext cx="5438140" cy="24003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4592320">
              <a:lnSpc>
                <a:spcPts val="1355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24</a:t>
            </a:r>
            <a:endParaRPr sz="1150">
              <a:latin typeface="Garamond"/>
              <a:cs typeface="Garamond"/>
            </a:endParaRPr>
          </a:p>
          <a:p>
            <a:pPr algn="ctr" marR="226695">
              <a:lnSpc>
                <a:spcPts val="1355"/>
              </a:lnSpc>
            </a:pPr>
            <a:r>
              <a:rPr dirty="0" sz="1150" spc="25" b="1">
                <a:latin typeface="Garamond"/>
                <a:cs typeface="Garamond"/>
              </a:rPr>
              <a:t>NON-CONSTANT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35" b="1">
                <a:latin typeface="Garamond"/>
                <a:cs typeface="Garamond"/>
              </a:rPr>
              <a:t>GROWTH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STOCKS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CR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Inc.: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Supernormal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Growth</a:t>
            </a:r>
            <a:endParaRPr sz="1100">
              <a:latin typeface="Garamond"/>
              <a:cs typeface="Garamond"/>
            </a:endParaRPr>
          </a:p>
          <a:p>
            <a:pPr marL="240665" marR="762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been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phenomenal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30%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expect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last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drop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paid </a:t>
            </a:r>
            <a:r>
              <a:rPr dirty="0" sz="1100" spc="5">
                <a:latin typeface="Garamond"/>
                <a:cs typeface="Garamond"/>
              </a:rPr>
              <a:t>were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million,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20%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remains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indefinitely,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stock?</a:t>
            </a:r>
            <a:endParaRPr sz="1100">
              <a:latin typeface="Garamond"/>
              <a:cs typeface="Garamond"/>
            </a:endParaRPr>
          </a:p>
          <a:p>
            <a:pPr marL="240665" marR="698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unlikely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30%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supernormal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sustained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extended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length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company,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supernormal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Garamond"/>
              <a:cs typeface="Garamond"/>
            </a:endParaRPr>
          </a:p>
          <a:p>
            <a:pPr marL="1613535">
              <a:lnSpc>
                <a:spcPct val="100000"/>
              </a:lnSpc>
              <a:tabLst>
                <a:tab pos="2528570" algn="l"/>
              </a:tabLst>
            </a:pPr>
            <a:r>
              <a:rPr dirty="0" u="sng" sz="1100" spc="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Year	</a:t>
            </a:r>
            <a:r>
              <a:rPr dirty="0" u="sng" sz="110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Total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Dividend</a:t>
            </a:r>
            <a:r>
              <a:rPr dirty="0" u="sng" sz="1100" spc="-4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(in</a:t>
            </a:r>
            <a:r>
              <a:rPr dirty="0" u="sng" sz="1100" spc="-3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millions)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9750" y="3079495"/>
            <a:ext cx="92075" cy="511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7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1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40"/>
              </a:lnSpc>
            </a:pPr>
            <a:r>
              <a:rPr dirty="0" sz="1100" spc="5">
                <a:latin typeface="Garamond"/>
                <a:cs typeface="Garamond"/>
              </a:rPr>
              <a:t>2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3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1633" y="3079495"/>
            <a:ext cx="1167130" cy="511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7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$5.00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1.3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6.500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40"/>
              </a:lnSpc>
            </a:pPr>
            <a:r>
              <a:rPr dirty="0" sz="1100" spc="-5">
                <a:latin typeface="Garamond"/>
                <a:cs typeface="Garamond"/>
              </a:rPr>
              <a:t>$6.50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1.3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8.450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Garamond"/>
                <a:cs typeface="Garamond"/>
              </a:rPr>
              <a:t>$8.45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1.3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10.985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13129" y="3705859"/>
            <a:ext cx="5546725" cy="19246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905635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3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</a:t>
            </a:r>
            <a:r>
              <a:rPr dirty="0" baseline="-8547" sz="975" spc="22">
                <a:latin typeface="Garamond"/>
                <a:cs typeface="Garamond"/>
              </a:rPr>
              <a:t>3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g)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/(R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762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‘g’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long-run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905635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3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$10.985x1.10/(0.20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0.10)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$120.835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762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No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-10" b="1">
                <a:latin typeface="Garamond"/>
                <a:cs typeface="Garamond"/>
              </a:rPr>
              <a:t>-</a:t>
            </a:r>
            <a:r>
              <a:rPr dirty="0" sz="1100" b="1">
                <a:latin typeface="Garamond"/>
                <a:cs typeface="Garamond"/>
              </a:rPr>
              <a:t>Con</a:t>
            </a:r>
            <a:r>
              <a:rPr dirty="0" sz="1100" spc="5" b="1">
                <a:latin typeface="Garamond"/>
                <a:cs typeface="Garamond"/>
              </a:rPr>
              <a:t>s</a:t>
            </a:r>
            <a:r>
              <a:rPr dirty="0" sz="1100" spc="-20" b="1">
                <a:latin typeface="Garamond"/>
                <a:cs typeface="Garamond"/>
              </a:rPr>
              <a:t>t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5" b="1">
                <a:latin typeface="Garamond"/>
                <a:cs typeface="Garamond"/>
              </a:rPr>
              <a:t>t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15" b="1">
                <a:latin typeface="Garamond"/>
                <a:cs typeface="Garamond"/>
              </a:rPr>
              <a:t>Gr</a:t>
            </a:r>
            <a:r>
              <a:rPr dirty="0" sz="1100" spc="-5" b="1">
                <a:latin typeface="Garamond"/>
                <a:cs typeface="Garamond"/>
              </a:rPr>
              <a:t>o</a:t>
            </a:r>
            <a:r>
              <a:rPr dirty="0" sz="1100" spc="-30" b="1">
                <a:latin typeface="Garamond"/>
                <a:cs typeface="Garamond"/>
              </a:rPr>
              <a:t>w</a:t>
            </a:r>
            <a:r>
              <a:rPr dirty="0" sz="1100" spc="15" b="1">
                <a:latin typeface="Garamond"/>
                <a:cs typeface="Garamond"/>
              </a:rPr>
              <a:t>t</a:t>
            </a:r>
            <a:r>
              <a:rPr dirty="0" sz="1100" spc="5" b="1">
                <a:latin typeface="Garamond"/>
                <a:cs typeface="Garamond"/>
              </a:rPr>
              <a:t>h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S</a:t>
            </a:r>
            <a:r>
              <a:rPr dirty="0" sz="1100" spc="15" b="1">
                <a:latin typeface="Garamond"/>
                <a:cs typeface="Garamond"/>
              </a:rPr>
              <a:t>t</a:t>
            </a:r>
            <a:r>
              <a:rPr dirty="0" sz="1100" spc="-40" b="1">
                <a:latin typeface="Garamond"/>
                <a:cs typeface="Garamond"/>
              </a:rPr>
              <a:t>o</a:t>
            </a:r>
            <a:r>
              <a:rPr dirty="0" sz="1100" spc="20" b="1">
                <a:latin typeface="Garamond"/>
                <a:cs typeface="Garamond"/>
              </a:rPr>
              <a:t>c</a:t>
            </a:r>
            <a:r>
              <a:rPr dirty="0" sz="1100" spc="-15" b="1">
                <a:latin typeface="Garamond"/>
                <a:cs typeface="Garamond"/>
              </a:rPr>
              <a:t>k</a:t>
            </a:r>
            <a:r>
              <a:rPr dirty="0" sz="1100" spc="5" b="1">
                <a:latin typeface="Garamond"/>
                <a:cs typeface="Garamond"/>
              </a:rPr>
              <a:t>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76200" marR="17780">
              <a:lnSpc>
                <a:spcPts val="1220"/>
              </a:lnSpc>
            </a:pP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determine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value </a:t>
            </a:r>
            <a:r>
              <a:rPr dirty="0" sz="1100" spc="-5">
                <a:latin typeface="Garamond"/>
                <a:cs typeface="Garamond"/>
              </a:rPr>
              <a:t>today,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5">
                <a:latin typeface="Garamond"/>
                <a:cs typeface="Garamond"/>
              </a:rPr>
              <a:t>need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present </a:t>
            </a:r>
            <a:r>
              <a:rPr dirty="0" sz="1100">
                <a:latin typeface="Garamond"/>
                <a:cs typeface="Garamond"/>
              </a:rPr>
              <a:t>value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this </a:t>
            </a:r>
            <a:r>
              <a:rPr dirty="0" sz="1100">
                <a:latin typeface="Garamond"/>
                <a:cs typeface="Garamond"/>
              </a:rPr>
              <a:t>amount plus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present </a:t>
            </a:r>
            <a:r>
              <a:rPr dirty="0" sz="1100" spc="5">
                <a:latin typeface="Garamond"/>
                <a:cs typeface="Garamond"/>
              </a:rPr>
              <a:t>value of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9414" y="5905880"/>
            <a:ext cx="69850" cy="1301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91689" y="5837300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9435" y="5800724"/>
            <a:ext cx="23177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9979" y="5745860"/>
            <a:ext cx="8858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3255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1150" y="5800724"/>
            <a:ext cx="14122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3890" algn="l"/>
                <a:tab pos="1265555" algn="l"/>
              </a:tabLst>
            </a:pPr>
            <a:r>
              <a:rPr dirty="0" sz="1400">
                <a:latin typeface="Garamond"/>
                <a:cs typeface="Garamond"/>
              </a:rPr>
              <a:t>+</a:t>
            </a:r>
            <a:r>
              <a:rPr dirty="0" sz="1400">
                <a:latin typeface="Garamond"/>
                <a:cs typeface="Garamond"/>
              </a:rPr>
              <a:t>	</a:t>
            </a:r>
            <a:r>
              <a:rPr dirty="0" sz="1400">
                <a:latin typeface="Garamond"/>
                <a:cs typeface="Garamond"/>
              </a:rPr>
              <a:t>+</a:t>
            </a:r>
            <a:r>
              <a:rPr dirty="0" sz="1400">
                <a:latin typeface="Garamond"/>
                <a:cs typeface="Garamond"/>
              </a:rPr>
              <a:t>	</a:t>
            </a:r>
            <a:r>
              <a:rPr dirty="0" sz="1400">
                <a:latin typeface="Cambria Math"/>
                <a:cs typeface="Cambria Math"/>
              </a:rPr>
              <a:t>+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42486" y="5745860"/>
            <a:ext cx="87820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8335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dirty="0" u="sng" sz="1000" spc="-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-6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𝑃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30626" y="5800724"/>
            <a:ext cx="149860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  <a:tab pos="643890" algn="l"/>
                <a:tab pos="849630" algn="l"/>
                <a:tab pos="1275080" algn="l"/>
                <a:tab pos="1485265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54579" y="5942838"/>
            <a:ext cx="239585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68655" algn="l"/>
                <a:tab pos="1300480" algn="l"/>
                <a:tab pos="1936114" algn="l"/>
              </a:tabLst>
            </a:pP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1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2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92679" y="6275577"/>
            <a:ext cx="416559" cy="9525"/>
          </a:xfrm>
          <a:custGeom>
            <a:avLst/>
            <a:gdLst/>
            <a:ahLst/>
            <a:cxnLst/>
            <a:rect l="l" t="t" r="r" b="b"/>
            <a:pathLst>
              <a:path w="416560" h="9525">
                <a:moveTo>
                  <a:pt x="416051" y="0"/>
                </a:moveTo>
                <a:lnTo>
                  <a:pt x="0" y="0"/>
                </a:lnTo>
                <a:lnTo>
                  <a:pt x="0" y="9144"/>
                </a:lnTo>
                <a:lnTo>
                  <a:pt x="416051" y="9144"/>
                </a:lnTo>
                <a:lnTo>
                  <a:pt x="416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14726" y="6275577"/>
            <a:ext cx="416559" cy="9525"/>
          </a:xfrm>
          <a:custGeom>
            <a:avLst/>
            <a:gdLst/>
            <a:ahLst/>
            <a:cxnLst/>
            <a:rect l="l" t="t" r="r" b="b"/>
            <a:pathLst>
              <a:path w="416560" h="9525">
                <a:moveTo>
                  <a:pt x="416356" y="0"/>
                </a:moveTo>
                <a:lnTo>
                  <a:pt x="0" y="0"/>
                </a:lnTo>
                <a:lnTo>
                  <a:pt x="0" y="9144"/>
                </a:lnTo>
                <a:lnTo>
                  <a:pt x="416356" y="9144"/>
                </a:lnTo>
                <a:lnTo>
                  <a:pt x="4163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36898" y="6275577"/>
            <a:ext cx="453390" cy="9525"/>
          </a:xfrm>
          <a:custGeom>
            <a:avLst/>
            <a:gdLst/>
            <a:ahLst/>
            <a:cxnLst/>
            <a:rect l="l" t="t" r="r" b="b"/>
            <a:pathLst>
              <a:path w="453389" h="9525">
                <a:moveTo>
                  <a:pt x="452932" y="0"/>
                </a:moveTo>
                <a:lnTo>
                  <a:pt x="0" y="0"/>
                </a:lnTo>
                <a:lnTo>
                  <a:pt x="0" y="9144"/>
                </a:lnTo>
                <a:lnTo>
                  <a:pt x="452932" y="9144"/>
                </a:lnTo>
                <a:lnTo>
                  <a:pt x="4529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304665" y="6275577"/>
            <a:ext cx="530860" cy="9525"/>
          </a:xfrm>
          <a:custGeom>
            <a:avLst/>
            <a:gdLst/>
            <a:ahLst/>
            <a:cxnLst/>
            <a:rect l="l" t="t" r="r" b="b"/>
            <a:pathLst>
              <a:path w="530860" h="9525">
                <a:moveTo>
                  <a:pt x="530656" y="0"/>
                </a:moveTo>
                <a:lnTo>
                  <a:pt x="0" y="0"/>
                </a:lnTo>
                <a:lnTo>
                  <a:pt x="0" y="9144"/>
                </a:lnTo>
                <a:lnTo>
                  <a:pt x="530656" y="9144"/>
                </a:lnTo>
                <a:lnTo>
                  <a:pt x="5306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075029" y="6084570"/>
            <a:ext cx="5884545" cy="34798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67790">
              <a:lnSpc>
                <a:spcPts val="1175"/>
              </a:lnSpc>
              <a:spcBef>
                <a:spcPts val="105"/>
              </a:spcBef>
              <a:tabLst>
                <a:tab pos="1989455" algn="l"/>
                <a:tab pos="2561590" algn="l"/>
                <a:tab pos="3228975" algn="l"/>
              </a:tabLst>
            </a:pPr>
            <a:r>
              <a:rPr dirty="0" sz="1000" spc="20">
                <a:latin typeface="Cambria Math"/>
                <a:cs typeface="Cambria Math"/>
              </a:rPr>
              <a:t>$6.50	$8.45	</a:t>
            </a:r>
            <a:r>
              <a:rPr dirty="0" sz="1000" spc="10">
                <a:latin typeface="Cambria Math"/>
                <a:cs typeface="Cambria Math"/>
              </a:rPr>
              <a:t>$10.985	</a:t>
            </a:r>
            <a:r>
              <a:rPr dirty="0" sz="1000" spc="15">
                <a:latin typeface="Cambria Math"/>
                <a:cs typeface="Cambria Math"/>
              </a:rPr>
              <a:t>$120.835</a:t>
            </a:r>
            <a:endParaRPr sz="1000">
              <a:latin typeface="Cambria Math"/>
              <a:cs typeface="Cambria Math"/>
            </a:endParaRPr>
          </a:p>
          <a:p>
            <a:pPr marL="1029335">
              <a:lnSpc>
                <a:spcPts val="1575"/>
              </a:lnSpc>
            </a:pPr>
            <a:r>
              <a:rPr dirty="0" baseline="35353" sz="1650">
                <a:latin typeface="Garamond"/>
                <a:cs typeface="Garamond"/>
              </a:rPr>
              <a:t>P</a:t>
            </a:r>
            <a:r>
              <a:rPr dirty="0" baseline="51282" sz="975">
                <a:latin typeface="Garamond"/>
                <a:cs typeface="Garamond"/>
              </a:rPr>
              <a:t>o</a:t>
            </a:r>
            <a:r>
              <a:rPr dirty="0" baseline="51282" sz="975" spc="195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-22">
                <a:latin typeface="Garamond"/>
                <a:cs typeface="Garamond"/>
              </a:rPr>
              <a:t> 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1.20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1</a:t>
            </a:r>
            <a:r>
              <a:rPr dirty="0" baseline="20833" sz="1200" spc="270">
                <a:latin typeface="Cambria Math"/>
                <a:cs typeface="Cambria Math"/>
              </a:rPr>
              <a:t> </a:t>
            </a:r>
            <a:r>
              <a:rPr dirty="0" baseline="27777" sz="2100">
                <a:latin typeface="Garamond"/>
                <a:cs typeface="Garamond"/>
              </a:rPr>
              <a:t>+</a:t>
            </a:r>
            <a:r>
              <a:rPr dirty="0" baseline="27777" sz="2100" spc="-44">
                <a:latin typeface="Garamond"/>
                <a:cs typeface="Garamond"/>
              </a:rPr>
              <a:t> 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1.20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2</a:t>
            </a:r>
            <a:r>
              <a:rPr dirty="0" baseline="20833" sz="1200" spc="262">
                <a:latin typeface="Cambria Math"/>
                <a:cs typeface="Cambria Math"/>
              </a:rPr>
              <a:t> </a:t>
            </a:r>
            <a:r>
              <a:rPr dirty="0" baseline="27777" sz="2100">
                <a:latin typeface="Garamond"/>
                <a:cs typeface="Garamond"/>
              </a:rPr>
              <a:t>+</a:t>
            </a:r>
            <a:r>
              <a:rPr dirty="0" baseline="27777" sz="2100" spc="165">
                <a:latin typeface="Garamond"/>
                <a:cs typeface="Garamond"/>
              </a:rPr>
              <a:t> 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1.20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</a:t>
            </a:r>
            <a:r>
              <a:rPr dirty="0" baseline="20833" sz="1200" spc="150">
                <a:latin typeface="Cambria Math"/>
                <a:cs typeface="Cambria Math"/>
              </a:rPr>
              <a:t> </a:t>
            </a:r>
            <a:r>
              <a:rPr dirty="0" baseline="27777" sz="2100">
                <a:latin typeface="Cambria Math"/>
                <a:cs typeface="Cambria Math"/>
              </a:rPr>
              <a:t>+</a:t>
            </a:r>
            <a:r>
              <a:rPr dirty="0" baseline="27777" sz="2100" spc="660">
                <a:latin typeface="Cambria Math"/>
                <a:cs typeface="Cambria Math"/>
              </a:rPr>
              <a:t> 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1.20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</a:t>
            </a:r>
            <a:endParaRPr baseline="20833" sz="1200">
              <a:latin typeface="Cambria Math"/>
              <a:cs typeface="Cambria Math"/>
            </a:endParaRPr>
          </a:p>
          <a:p>
            <a:pPr marL="1029335">
              <a:lnSpc>
                <a:spcPts val="1240"/>
              </a:lnSpc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o</a:t>
            </a:r>
            <a:r>
              <a:rPr dirty="0" baseline="-8547" sz="975" spc="18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Cambria Math"/>
                <a:cs typeface="Cambria Math"/>
              </a:rPr>
              <a:t>$5.42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Cambria Math"/>
                <a:cs typeface="Cambria Math"/>
              </a:rPr>
              <a:t>$5.87 </a:t>
            </a:r>
            <a:r>
              <a:rPr dirty="0" sz="1100" spc="-5">
                <a:latin typeface="Garamond"/>
                <a:cs typeface="Garamond"/>
              </a:rPr>
              <a:t>+</a:t>
            </a:r>
            <a:r>
              <a:rPr dirty="0" sz="1100" spc="-5">
                <a:latin typeface="Cambria Math"/>
                <a:cs typeface="Cambria Math"/>
              </a:rPr>
              <a:t>$6.36 </a:t>
            </a:r>
            <a:r>
              <a:rPr dirty="0" sz="1100" spc="10">
                <a:latin typeface="Cambria Math"/>
                <a:cs typeface="Cambria Math"/>
              </a:rPr>
              <a:t>+</a:t>
            </a:r>
            <a:r>
              <a:rPr dirty="0" sz="1100">
                <a:latin typeface="Cambria Math"/>
                <a:cs typeface="Cambria Math"/>
              </a:rPr>
              <a:t> $69.93</a:t>
            </a:r>
            <a:endParaRPr sz="1100">
              <a:latin typeface="Cambria Math"/>
              <a:cs typeface="Cambria Math"/>
            </a:endParaRPr>
          </a:p>
          <a:p>
            <a:pPr algn="r" marR="3830954">
              <a:lnSpc>
                <a:spcPct val="100000"/>
              </a:lnSpc>
              <a:spcBef>
                <a:spcPts val="50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o</a:t>
            </a:r>
            <a:r>
              <a:rPr dirty="0" baseline="-8547" sz="975" spc="142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=</a:t>
            </a:r>
            <a:r>
              <a:rPr dirty="0" sz="1100">
                <a:latin typeface="Cambria Math"/>
                <a:cs typeface="Cambria Math"/>
              </a:rPr>
              <a:t>$87.58</a:t>
            </a:r>
            <a:r>
              <a:rPr dirty="0" sz="1100" spc="-25">
                <a:latin typeface="Cambria Math"/>
                <a:cs typeface="Cambria Math"/>
              </a:rPr>
              <a:t> </a:t>
            </a:r>
            <a:r>
              <a:rPr dirty="0" sz="1100">
                <a:latin typeface="Garamond"/>
                <a:cs typeface="Garamond"/>
              </a:rPr>
              <a:t>(mill.)</a:t>
            </a:r>
            <a:endParaRPr sz="1100">
              <a:latin typeface="Garamond"/>
              <a:cs typeface="Garamond"/>
            </a:endParaRPr>
          </a:p>
          <a:p>
            <a:pPr algn="r" marR="3823970">
              <a:lnSpc>
                <a:spcPct val="100000"/>
              </a:lnSpc>
              <a:spcBef>
                <a:spcPts val="1130"/>
              </a:spcBef>
            </a:pPr>
            <a:r>
              <a:rPr dirty="0" sz="1100" b="1">
                <a:latin typeface="Garamond"/>
                <a:cs typeface="Garamond"/>
              </a:rPr>
              <a:t>Components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Required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71500" marR="119380" indent="-228600">
              <a:lnSpc>
                <a:spcPts val="1260"/>
              </a:lnSpc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Let’s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examine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implications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model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R.</a:t>
            </a: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We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baseline="-8547" sz="975" spc="7">
                <a:latin typeface="Garamond"/>
                <a:cs typeface="Garamond"/>
              </a:rPr>
              <a:t>0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as</a:t>
            </a:r>
            <a:endParaRPr sz="1100">
              <a:latin typeface="Garamond"/>
              <a:cs typeface="Garamond"/>
            </a:endParaRPr>
          </a:p>
          <a:p>
            <a:pPr marL="1029335">
              <a:lnSpc>
                <a:spcPct val="100000"/>
              </a:lnSpc>
              <a:spcBef>
                <a:spcPts val="1160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0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</a:t>
            </a:r>
            <a:r>
              <a:rPr dirty="0" baseline="-8547" sz="975" spc="22">
                <a:latin typeface="Garamond"/>
                <a:cs typeface="Garamond"/>
              </a:rPr>
              <a:t>1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 g)</a:t>
            </a:r>
            <a:endParaRPr sz="1100">
              <a:latin typeface="Garamond"/>
              <a:cs typeface="Garamond"/>
            </a:endParaRPr>
          </a:p>
          <a:p>
            <a:pPr marL="571500" marR="3348990" indent="-571500">
              <a:lnSpc>
                <a:spcPct val="188200"/>
              </a:lnSpc>
              <a:spcBef>
                <a:spcPts val="15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Rearranging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solve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R,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D1/P0</a:t>
            </a:r>
            <a:endParaRPr sz="1100">
              <a:latin typeface="Garamond"/>
              <a:cs typeface="Garamond"/>
            </a:endParaRPr>
          </a:p>
          <a:p>
            <a:pPr marL="1029335">
              <a:lnSpc>
                <a:spcPts val="1225"/>
              </a:lnSpc>
            </a:pP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D1/P0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tells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total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</a:t>
            </a:r>
            <a:endParaRPr sz="1100">
              <a:latin typeface="Garamond"/>
              <a:cs typeface="Garamond"/>
            </a:endParaRPr>
          </a:p>
          <a:p>
            <a:pPr marL="571500" marR="11747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D1/P0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Yield.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conceptually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bond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25829" y="431038"/>
            <a:ext cx="5790565" cy="53962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  <a:tabLst>
                <a:tab pos="5507355" algn="l"/>
              </a:tabLst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algn="just" marL="520700" marR="73660" indent="-228600">
              <a:lnSpc>
                <a:spcPts val="1260"/>
              </a:lnSpc>
              <a:spcBef>
                <a:spcPts val="1065"/>
              </a:spcBef>
              <a:buFont typeface="Symbol"/>
              <a:buChar char=""/>
              <a:tabLst>
                <a:tab pos="521334" algn="l"/>
              </a:tabLst>
            </a:pPr>
            <a:r>
              <a:rPr dirty="0" sz="1100">
                <a:latin typeface="Garamond"/>
                <a:cs typeface="Garamond"/>
              </a:rPr>
              <a:t>Growth </a:t>
            </a:r>
            <a:r>
              <a:rPr dirty="0" sz="1100" spc="-5">
                <a:latin typeface="Garamond"/>
                <a:cs typeface="Garamond"/>
              </a:rPr>
              <a:t>rate, </a:t>
            </a:r>
            <a:r>
              <a:rPr dirty="0" sz="1100" spc="-15">
                <a:latin typeface="Garamond"/>
                <a:cs typeface="Garamond"/>
              </a:rPr>
              <a:t>g, </a:t>
            </a:r>
            <a:r>
              <a:rPr dirty="0" sz="1100">
                <a:latin typeface="Garamond"/>
                <a:cs typeface="Garamond"/>
              </a:rPr>
              <a:t>is also </a:t>
            </a:r>
            <a:r>
              <a:rPr dirty="0" sz="1100" spc="-10">
                <a:latin typeface="Garamond"/>
                <a:cs typeface="Garamond"/>
              </a:rPr>
              <a:t>the rate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>
                <a:latin typeface="Garamond"/>
                <a:cs typeface="Garamond"/>
              </a:rPr>
              <a:t>which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15">
                <a:latin typeface="Garamond"/>
                <a:cs typeface="Garamond"/>
              </a:rPr>
              <a:t>stock </a:t>
            </a:r>
            <a:r>
              <a:rPr dirty="0" sz="1100" spc="-5">
                <a:latin typeface="Garamond"/>
                <a:cs typeface="Garamond"/>
              </a:rPr>
              <a:t>price grows. </a:t>
            </a:r>
            <a:r>
              <a:rPr dirty="0" sz="1100" spc="5">
                <a:latin typeface="Garamond"/>
                <a:cs typeface="Garamond"/>
              </a:rPr>
              <a:t>So </a:t>
            </a:r>
            <a:r>
              <a:rPr dirty="0" sz="1100">
                <a:latin typeface="Garamond"/>
                <a:cs typeface="Garamond"/>
              </a:rPr>
              <a:t>it can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5">
                <a:latin typeface="Garamond"/>
                <a:cs typeface="Garamond"/>
              </a:rPr>
              <a:t>interpreted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capital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gains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endParaRPr sz="1100">
              <a:latin typeface="Garamond"/>
              <a:cs typeface="Garamond"/>
            </a:endParaRPr>
          </a:p>
          <a:p>
            <a:pPr algn="just" marL="520700" marR="79375" indent="-228600">
              <a:lnSpc>
                <a:spcPct val="94100"/>
              </a:lnSpc>
              <a:spcBef>
                <a:spcPts val="100"/>
              </a:spcBef>
              <a:buFont typeface="Symbol"/>
              <a:buChar char=""/>
              <a:tabLst>
                <a:tab pos="521334" algn="l"/>
              </a:tabLst>
            </a:pPr>
            <a:r>
              <a:rPr dirty="0" sz="1100">
                <a:latin typeface="Garamond"/>
                <a:cs typeface="Garamond"/>
              </a:rPr>
              <a:t>Suppose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15">
                <a:latin typeface="Garamond"/>
                <a:cs typeface="Garamond"/>
              </a:rPr>
              <a:t>stock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selling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15">
                <a:latin typeface="Garamond"/>
                <a:cs typeface="Garamond"/>
              </a:rPr>
              <a:t>$20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5">
                <a:latin typeface="Garamond"/>
                <a:cs typeface="Garamond"/>
              </a:rPr>
              <a:t>share. </a:t>
            </a:r>
            <a:r>
              <a:rPr dirty="0" sz="1100" spc="5">
                <a:latin typeface="Garamond"/>
                <a:cs typeface="Garamond"/>
              </a:rPr>
              <a:t>The next </a:t>
            </a:r>
            <a:r>
              <a:rPr dirty="0" sz="1100" spc="-5">
                <a:latin typeface="Garamond"/>
                <a:cs typeface="Garamond"/>
              </a:rPr>
              <a:t>dividend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5">
                <a:latin typeface="Garamond"/>
                <a:cs typeface="Garamond"/>
              </a:rPr>
              <a:t>$1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5">
                <a:latin typeface="Garamond"/>
                <a:cs typeface="Garamond"/>
              </a:rPr>
              <a:t>share </a:t>
            </a:r>
            <a:r>
              <a:rPr dirty="0" sz="1100">
                <a:latin typeface="Garamond"/>
                <a:cs typeface="Garamond"/>
              </a:rPr>
              <a:t>and it is expected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 10%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less </a:t>
            </a:r>
            <a:r>
              <a:rPr dirty="0" sz="1100" spc="-5">
                <a:latin typeface="Garamond"/>
                <a:cs typeface="Garamond"/>
              </a:rPr>
              <a:t>indefinitely.</a:t>
            </a:r>
            <a:r>
              <a:rPr dirty="0" sz="1100">
                <a:latin typeface="Garamond"/>
                <a:cs typeface="Garamond"/>
              </a:rPr>
              <a:t> What return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does this </a:t>
            </a:r>
            <a:r>
              <a:rPr dirty="0" sz="1100" spc="-5">
                <a:latin typeface="Garamond"/>
                <a:cs typeface="Garamond"/>
              </a:rPr>
              <a:t>stock </a:t>
            </a:r>
            <a:r>
              <a:rPr dirty="0" sz="1100" spc="5">
                <a:latin typeface="Garamond"/>
                <a:cs typeface="Garamond"/>
              </a:rPr>
              <a:t>offer </a:t>
            </a:r>
            <a:r>
              <a:rPr dirty="0" sz="1100" spc="-5">
                <a:latin typeface="Garamond"/>
                <a:cs typeface="Garamond"/>
              </a:rPr>
              <a:t>you </a:t>
            </a:r>
            <a:r>
              <a:rPr dirty="0" sz="1100">
                <a:latin typeface="Garamond"/>
                <a:cs typeface="Garamond"/>
              </a:rPr>
              <a:t>if this is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correct?</a:t>
            </a:r>
            <a:endParaRPr sz="1100">
              <a:latin typeface="Garamond"/>
              <a:cs typeface="Garamond"/>
            </a:endParaRPr>
          </a:p>
          <a:p>
            <a:pPr algn="just" marL="5207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213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 </a:t>
            </a:r>
            <a:r>
              <a:rPr dirty="0" sz="1100">
                <a:latin typeface="Garamond"/>
                <a:cs typeface="Garamond"/>
              </a:rPr>
              <a:t>model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 marL="1435735">
              <a:lnSpc>
                <a:spcPts val="1270"/>
              </a:lnSpc>
              <a:spcBef>
                <a:spcPts val="1165"/>
              </a:spcBef>
            </a:pP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</a:t>
            </a:r>
            <a:r>
              <a:rPr dirty="0" sz="650">
                <a:latin typeface="Garamond"/>
                <a:cs typeface="Garamond"/>
              </a:rPr>
              <a:t>1</a:t>
            </a:r>
            <a:r>
              <a:rPr dirty="0" sz="1100">
                <a:latin typeface="Garamond"/>
                <a:cs typeface="Garamond"/>
              </a:rPr>
              <a:t>/P</a:t>
            </a:r>
            <a:r>
              <a:rPr dirty="0" sz="650">
                <a:latin typeface="Garamond"/>
                <a:cs typeface="Garamond"/>
              </a:rPr>
              <a:t>0</a:t>
            </a:r>
            <a:r>
              <a:rPr dirty="0" sz="65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</a:t>
            </a:r>
            <a:endParaRPr sz="1100">
              <a:latin typeface="Garamond"/>
              <a:cs typeface="Garamond"/>
            </a:endParaRPr>
          </a:p>
          <a:p>
            <a:pPr marL="1435735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$1/20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15%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algn="just" marL="520700" marR="83185" indent="-228600">
              <a:lnSpc>
                <a:spcPts val="1260"/>
              </a:lnSpc>
              <a:buFont typeface="Symbol"/>
              <a:buChar char=""/>
              <a:tabLst>
                <a:tab pos="521334" algn="l"/>
              </a:tabLst>
            </a:pPr>
            <a:r>
              <a:rPr dirty="0" sz="1100">
                <a:latin typeface="Garamond"/>
                <a:cs typeface="Garamond"/>
              </a:rPr>
              <a:t>We </a:t>
            </a:r>
            <a:r>
              <a:rPr dirty="0" sz="1100" spc="-5">
                <a:latin typeface="Garamond"/>
                <a:cs typeface="Garamond"/>
              </a:rPr>
              <a:t>can verify this </a:t>
            </a:r>
            <a:r>
              <a:rPr dirty="0" sz="1100">
                <a:latin typeface="Garamond"/>
                <a:cs typeface="Garamond"/>
              </a:rPr>
              <a:t>answer </a:t>
            </a:r>
            <a:r>
              <a:rPr dirty="0" sz="1100" spc="-10">
                <a:latin typeface="Garamond"/>
                <a:cs typeface="Garamond"/>
              </a:rPr>
              <a:t>by </a:t>
            </a:r>
            <a:r>
              <a:rPr dirty="0" sz="1100">
                <a:latin typeface="Garamond"/>
                <a:cs typeface="Garamond"/>
              </a:rPr>
              <a:t>calculating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price in </a:t>
            </a:r>
            <a:r>
              <a:rPr dirty="0" sz="1100" spc="-5">
                <a:latin typeface="Garamond"/>
                <a:cs typeface="Garamond"/>
              </a:rPr>
              <a:t>one year, </a:t>
            </a:r>
            <a:r>
              <a:rPr dirty="0" sz="1100" spc="-10">
                <a:latin typeface="Garamond"/>
                <a:cs typeface="Garamond"/>
              </a:rPr>
              <a:t>P1, using </a:t>
            </a:r>
            <a:r>
              <a:rPr dirty="0" sz="1100" spc="-5">
                <a:latin typeface="Garamond"/>
                <a:cs typeface="Garamond"/>
              </a:rPr>
              <a:t>15%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2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required </a:t>
            </a:r>
            <a:r>
              <a:rPr dirty="0" sz="1100">
                <a:latin typeface="Garamond"/>
                <a:cs typeface="Garamond"/>
              </a:rPr>
              <a:t> return.</a:t>
            </a:r>
            <a:endParaRPr sz="1100">
              <a:latin typeface="Garamond"/>
              <a:cs typeface="Garamond"/>
            </a:endParaRPr>
          </a:p>
          <a:p>
            <a:pPr algn="just" marL="5207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521334" algn="l"/>
              </a:tabLst>
            </a:pPr>
            <a:r>
              <a:rPr dirty="0" sz="1100" spc="-5">
                <a:latin typeface="Garamond"/>
                <a:cs typeface="Garamond"/>
              </a:rPr>
              <a:t>Based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model,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435735">
              <a:lnSpc>
                <a:spcPts val="1275"/>
              </a:lnSpc>
              <a:spcBef>
                <a:spcPts val="1160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1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</a:t>
            </a:r>
            <a:r>
              <a:rPr dirty="0" baseline="-8547" sz="975" spc="22">
                <a:latin typeface="Garamond"/>
                <a:cs typeface="Garamond"/>
              </a:rPr>
              <a:t>1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g)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/(R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g)</a:t>
            </a:r>
            <a:endParaRPr sz="1100">
              <a:latin typeface="Garamond"/>
              <a:cs typeface="Garamond"/>
            </a:endParaRPr>
          </a:p>
          <a:p>
            <a:pPr marL="1435735" marR="2754630">
              <a:lnSpc>
                <a:spcPts val="1260"/>
              </a:lnSpc>
              <a:spcBef>
                <a:spcPts val="45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1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$1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1.10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(0.15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0.10)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1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$1.10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/0.05</a:t>
            </a:r>
            <a:endParaRPr sz="1100">
              <a:latin typeface="Garamond"/>
              <a:cs typeface="Garamond"/>
            </a:endParaRPr>
          </a:p>
          <a:p>
            <a:pPr marL="1435735">
              <a:lnSpc>
                <a:spcPts val="1190"/>
              </a:lnSpc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1</a:t>
            </a:r>
            <a:r>
              <a:rPr dirty="0" baseline="-8547" sz="975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$22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Garamond"/>
              <a:cs typeface="Garamond"/>
            </a:endParaRPr>
          </a:p>
          <a:p>
            <a:pPr marL="520700" indent="-229235">
              <a:lnSpc>
                <a:spcPct val="100000"/>
              </a:lnSpc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$22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1.10,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endParaRPr sz="1100">
              <a:latin typeface="Garamond"/>
              <a:cs typeface="Garamond"/>
            </a:endParaRPr>
          </a:p>
          <a:p>
            <a:pPr marL="520700" marR="80645" indent="-228600">
              <a:lnSpc>
                <a:spcPts val="1220"/>
              </a:lnSpc>
              <a:spcBef>
                <a:spcPts val="204"/>
              </a:spcBef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5">
                <a:latin typeface="Garamond"/>
                <a:cs typeface="Garamond"/>
              </a:rPr>
              <a:t>If you </a:t>
            </a:r>
            <a:r>
              <a:rPr dirty="0" sz="1100">
                <a:latin typeface="Garamond"/>
                <a:cs typeface="Garamond"/>
              </a:rPr>
              <a:t>pay $20 </a:t>
            </a:r>
            <a:r>
              <a:rPr dirty="0" sz="1100" spc="-10">
                <a:latin typeface="Garamond"/>
                <a:cs typeface="Garamond"/>
              </a:rPr>
              <a:t>for the </a:t>
            </a:r>
            <a:r>
              <a:rPr dirty="0" sz="1100" spc="-5">
                <a:latin typeface="Garamond"/>
                <a:cs typeface="Garamond"/>
              </a:rPr>
              <a:t>stock today, </a:t>
            </a:r>
            <a:r>
              <a:rPr dirty="0" sz="1100" spc="5">
                <a:latin typeface="Garamond"/>
                <a:cs typeface="Garamond"/>
              </a:rPr>
              <a:t>you will get a $1 </a:t>
            </a:r>
            <a:r>
              <a:rPr dirty="0" sz="1100" spc="-5">
                <a:latin typeface="Garamond"/>
                <a:cs typeface="Garamond"/>
              </a:rPr>
              <a:t>dividend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end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year, </a:t>
            </a:r>
            <a:r>
              <a:rPr dirty="0" sz="1100" spc="-15">
                <a:latin typeface="Garamond"/>
                <a:cs typeface="Garamond"/>
              </a:rPr>
              <a:t>and </a:t>
            </a:r>
            <a:r>
              <a:rPr dirty="0" sz="1100" spc="-5">
                <a:latin typeface="Garamond"/>
                <a:cs typeface="Garamond"/>
              </a:rPr>
              <a:t>you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$22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20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gain</a:t>
            </a:r>
            <a:endParaRPr sz="1100">
              <a:latin typeface="Garamond"/>
              <a:cs typeface="Garamond"/>
            </a:endParaRPr>
          </a:p>
          <a:p>
            <a:pPr marL="5207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>
                <a:latin typeface="Garamond"/>
                <a:cs typeface="Garamond"/>
              </a:rPr>
              <a:t>Your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thus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$1/20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5%,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gains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$2/20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endParaRPr sz="1100">
              <a:latin typeface="Garamond"/>
              <a:cs typeface="Garamond"/>
            </a:endParaRPr>
          </a:p>
          <a:p>
            <a:pPr marL="520700" indent="-229235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>
                <a:latin typeface="Garamond"/>
                <a:cs typeface="Garamond"/>
              </a:rPr>
              <a:t> 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would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15%</a:t>
            </a:r>
            <a:endParaRPr sz="1100">
              <a:latin typeface="Garamond"/>
              <a:cs typeface="Garamond"/>
            </a:endParaRPr>
          </a:p>
          <a:p>
            <a:pPr marL="63500">
              <a:lnSpc>
                <a:spcPct val="100000"/>
              </a:lnSpc>
              <a:spcBef>
                <a:spcPts val="1160"/>
              </a:spcBef>
            </a:pPr>
            <a:r>
              <a:rPr dirty="0" sz="1100" spc="-5" b="1">
                <a:latin typeface="Garamond"/>
                <a:cs typeface="Garamond"/>
              </a:rPr>
              <a:t>Summary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Stock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Valuation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635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general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20700" marR="74930" indent="-228600">
              <a:lnSpc>
                <a:spcPts val="1260"/>
              </a:lnSpc>
              <a:buFont typeface="Symbol"/>
              <a:buChar char=""/>
              <a:tabLst>
                <a:tab pos="520700" algn="l"/>
                <a:tab pos="5213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P0,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dividends,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D1,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D2,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D3…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26867" y="6102857"/>
            <a:ext cx="69850" cy="1301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15">
                <a:latin typeface="Garamond"/>
                <a:cs typeface="Garamond"/>
              </a:rPr>
              <a:t>o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94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49144" y="6034277"/>
            <a:ext cx="2800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56889" y="5997701"/>
            <a:ext cx="23114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7804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7433" y="5942838"/>
            <a:ext cx="8858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3890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99940" y="5942838"/>
            <a:ext cx="2546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88207" y="5997701"/>
            <a:ext cx="86296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  <a:tab pos="643255" algn="l"/>
                <a:tab pos="849630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	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	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12033" y="6139433"/>
            <a:ext cx="176022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69290" algn="l"/>
                <a:tab pos="1300480" algn="l"/>
              </a:tabLst>
            </a:pP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1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2	</a:t>
            </a:r>
            <a:r>
              <a:rPr dirty="0" baseline="2777" sz="1500" spc="22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1+𝑅</a:t>
            </a:r>
            <a:r>
              <a:rPr dirty="0" baseline="2777" sz="1500" spc="22">
                <a:latin typeface="Cambria Math"/>
                <a:cs typeface="Cambria Math"/>
              </a:rPr>
              <a:t>)</a:t>
            </a:r>
            <a:r>
              <a:rPr dirty="0" baseline="20833" sz="1200" spc="22">
                <a:latin typeface="Cambria Math"/>
                <a:cs typeface="Cambria Math"/>
              </a:rPr>
              <a:t>3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08350" y="5997701"/>
            <a:ext cx="15411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3890" algn="l"/>
                <a:tab pos="1270635" algn="l"/>
              </a:tabLst>
            </a:pPr>
            <a:r>
              <a:rPr dirty="0" sz="1400">
                <a:latin typeface="Garamond"/>
                <a:cs typeface="Garamond"/>
              </a:rPr>
              <a:t>+	+	-</a:t>
            </a:r>
            <a:r>
              <a:rPr dirty="0" sz="1400" spc="-45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-</a:t>
            </a:r>
            <a:r>
              <a:rPr dirty="0" sz="1400" spc="-40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-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3129" y="6445757"/>
            <a:ext cx="3949065" cy="3104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33400" indent="-22923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 marL="76200">
              <a:lnSpc>
                <a:spcPct val="100000"/>
              </a:lnSpc>
              <a:spcBef>
                <a:spcPts val="1165"/>
              </a:spcBef>
            </a:pPr>
            <a:r>
              <a:rPr dirty="0" sz="1100">
                <a:latin typeface="Garamond"/>
                <a:cs typeface="Garamond"/>
              </a:rPr>
              <a:t>Constant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Growth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33400" indent="-229235">
              <a:lnSpc>
                <a:spcPct val="100000"/>
              </a:lnSpc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constant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equal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448435">
              <a:lnSpc>
                <a:spcPct val="100000"/>
              </a:lnSpc>
              <a:spcBef>
                <a:spcPts val="1165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0</a:t>
            </a:r>
            <a:r>
              <a:rPr dirty="0" baseline="-8547" sz="975" spc="14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D/R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533400" indent="-229235">
              <a:lnSpc>
                <a:spcPct val="100000"/>
              </a:lnSpc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If the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steady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be:</a:t>
            </a:r>
            <a:endParaRPr sz="1100">
              <a:latin typeface="Garamond"/>
              <a:cs typeface="Garamond"/>
            </a:endParaRPr>
          </a:p>
          <a:p>
            <a:pPr marL="1448435">
              <a:lnSpc>
                <a:spcPct val="100000"/>
              </a:lnSpc>
              <a:spcBef>
                <a:spcPts val="1205"/>
              </a:spcBef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0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</a:t>
            </a:r>
            <a:r>
              <a:rPr dirty="0" baseline="-8547" sz="975" spc="22">
                <a:latin typeface="Garamond"/>
                <a:cs typeface="Garamond"/>
              </a:rPr>
              <a:t>1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g)</a:t>
            </a:r>
            <a:endParaRPr sz="1100">
              <a:latin typeface="Garamond"/>
              <a:cs typeface="Garamond"/>
            </a:endParaRPr>
          </a:p>
          <a:p>
            <a:pPr marL="76200" marR="1405890" indent="228600">
              <a:lnSpc>
                <a:spcPct val="188300"/>
              </a:lnSpc>
              <a:spcBef>
                <a:spcPts val="105"/>
              </a:spcBef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called </a:t>
            </a:r>
            <a:r>
              <a:rPr dirty="0" sz="1100" spc="-5">
                <a:latin typeface="Garamond"/>
                <a:cs typeface="Garamond"/>
              </a:rPr>
              <a:t>dividend </a:t>
            </a:r>
            <a:r>
              <a:rPr dirty="0" sz="1100">
                <a:latin typeface="Garamond"/>
                <a:cs typeface="Garamond"/>
              </a:rPr>
              <a:t>growth model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Non-constant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150">
              <a:latin typeface="Garamond"/>
              <a:cs typeface="Garamond"/>
            </a:endParaRPr>
          </a:p>
          <a:p>
            <a:pPr marL="533400" indent="-229235">
              <a:lnSpc>
                <a:spcPct val="100000"/>
              </a:lnSpc>
              <a:buFont typeface="Symbol"/>
              <a:buChar char=""/>
              <a:tabLst>
                <a:tab pos="533400" algn="l"/>
                <a:tab pos="5340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written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two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things</a:t>
            </a:r>
            <a:endParaRPr sz="1100">
              <a:latin typeface="Garamond"/>
              <a:cs typeface="Garamond"/>
            </a:endParaRPr>
          </a:p>
          <a:p>
            <a:pPr marL="1448435">
              <a:lnSpc>
                <a:spcPct val="100000"/>
              </a:lnSpc>
              <a:spcBef>
                <a:spcPts val="1165"/>
              </a:spcBef>
            </a:pP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baseline="-8547" sz="975" spc="15">
                <a:latin typeface="Garamond"/>
                <a:cs typeface="Garamond"/>
              </a:rPr>
              <a:t>1</a:t>
            </a:r>
            <a:r>
              <a:rPr dirty="0" sz="1100" spc="10">
                <a:latin typeface="Garamond"/>
                <a:cs typeface="Garamond"/>
              </a:rPr>
              <a:t>/P</a:t>
            </a:r>
            <a:r>
              <a:rPr dirty="0" baseline="-8547" sz="975" spc="15">
                <a:latin typeface="Garamond"/>
                <a:cs typeface="Garamond"/>
              </a:rPr>
              <a:t>0</a:t>
            </a:r>
            <a:r>
              <a:rPr dirty="0" baseline="-8547" sz="975" spc="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888237"/>
            <a:ext cx="5674995" cy="86848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D1/P0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gains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12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Common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Stock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Features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Stocks having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special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preference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either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>
                <a:latin typeface="Garamond"/>
                <a:cs typeface="Garamond"/>
              </a:rPr>
              <a:t>paying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bankruptcy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Shareholder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Rights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Proxy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Voting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Classes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Rights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Dividends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Shareholder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Rights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15875" indent="-228600">
              <a:lnSpc>
                <a:spcPts val="122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Shareholders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control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organization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electing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directors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who,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turn,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hire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management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out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objectives.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Directors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elected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usually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meeting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through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golden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rule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“one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–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vote.”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Either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procedures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followed: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Cumulative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voting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7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Straight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voting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Cumulative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Voting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Adopted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permit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minority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participation</a:t>
            </a:r>
            <a:endParaRPr sz="1100">
              <a:latin typeface="Garamond"/>
              <a:cs typeface="Garamond"/>
            </a:endParaRPr>
          </a:p>
          <a:p>
            <a:pPr marL="469900" marR="1397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votes</a:t>
            </a:r>
            <a:r>
              <a:rPr dirty="0" sz="1100" spc="5">
                <a:latin typeface="Garamond"/>
                <a:cs typeface="Garamond"/>
              </a:rPr>
              <a:t> 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each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shareholder may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determined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multiplying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directors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elected.</a:t>
            </a:r>
            <a:endParaRPr sz="1100">
              <a:latin typeface="Garamond"/>
              <a:cs typeface="Garamond"/>
            </a:endParaRPr>
          </a:p>
          <a:p>
            <a:pPr marL="469900" marR="9525" indent="-228600">
              <a:lnSpc>
                <a:spcPts val="122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top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getters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">
                <a:latin typeface="Garamond"/>
                <a:cs typeface="Garamond"/>
              </a:rPr>
              <a:t> all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elected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once.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Individual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distribute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however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wish.</a:t>
            </a:r>
            <a:endParaRPr sz="1100">
              <a:latin typeface="Garamond"/>
              <a:cs typeface="Garamond"/>
            </a:endParaRPr>
          </a:p>
          <a:p>
            <a:pPr marL="469900" marR="16510" indent="-228600">
              <a:lnSpc>
                <a:spcPts val="1220"/>
              </a:lnSpc>
              <a:spcBef>
                <a:spcPts val="19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example,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shareholders;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Sami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20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Junaid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80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Both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elected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four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director.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Junaid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want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Sami.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Smith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20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80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Junaid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80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320 </a:t>
            </a:r>
            <a:r>
              <a:rPr dirty="0" sz="1100">
                <a:latin typeface="Garamond"/>
                <a:cs typeface="Garamond"/>
              </a:rPr>
              <a:t>votes.</a:t>
            </a:r>
            <a:endParaRPr sz="1100">
              <a:latin typeface="Garamond"/>
              <a:cs typeface="Garamond"/>
            </a:endParaRPr>
          </a:p>
          <a:p>
            <a:pPr algn="just" marL="469900" marR="5080" indent="-228600">
              <a:lnSpc>
                <a:spcPct val="94100"/>
              </a:lnSpc>
              <a:spcBef>
                <a:spcPts val="12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 spc="10">
                <a:latin typeface="Garamond"/>
                <a:cs typeface="Garamond"/>
              </a:rPr>
              <a:t>Sami </a:t>
            </a:r>
            <a:r>
              <a:rPr dirty="0" sz="1100">
                <a:latin typeface="Garamond"/>
                <a:cs typeface="Garamond"/>
              </a:rPr>
              <a:t>gives </a:t>
            </a:r>
            <a:r>
              <a:rPr dirty="0" sz="1100" spc="5">
                <a:latin typeface="Garamond"/>
                <a:cs typeface="Garamond"/>
              </a:rPr>
              <a:t>all his </a:t>
            </a:r>
            <a:r>
              <a:rPr dirty="0" sz="1100">
                <a:latin typeface="Garamond"/>
                <a:cs typeface="Garamond"/>
              </a:rPr>
              <a:t>votes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himself, </a:t>
            </a:r>
            <a:r>
              <a:rPr dirty="0" sz="1100" spc="5">
                <a:latin typeface="Garamond"/>
                <a:cs typeface="Garamond"/>
              </a:rPr>
              <a:t>he </a:t>
            </a:r>
            <a:r>
              <a:rPr dirty="0" sz="1100">
                <a:latin typeface="Garamond"/>
                <a:cs typeface="Garamond"/>
              </a:rPr>
              <a:t>is assured </a:t>
            </a:r>
            <a:r>
              <a:rPr dirty="0" sz="1100" spc="5">
                <a:latin typeface="Garamond"/>
                <a:cs typeface="Garamond"/>
              </a:rPr>
              <a:t>of a </a:t>
            </a:r>
            <a:r>
              <a:rPr dirty="0" sz="1100">
                <a:latin typeface="Garamond"/>
                <a:cs typeface="Garamond"/>
              </a:rPr>
              <a:t>directorship. </a:t>
            </a:r>
            <a:r>
              <a:rPr dirty="0" sz="1100" spc="-5">
                <a:latin typeface="Garamond"/>
                <a:cs typeface="Garamond"/>
              </a:rPr>
              <a:t>Because Junaid </a:t>
            </a:r>
            <a:r>
              <a:rPr dirty="0" sz="1100" spc="5">
                <a:latin typeface="Garamond"/>
                <a:cs typeface="Garamond"/>
              </a:rPr>
              <a:t>cannot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divide </a:t>
            </a:r>
            <a:r>
              <a:rPr dirty="0" sz="1100" spc="-10">
                <a:latin typeface="Garamond"/>
                <a:cs typeface="Garamond"/>
              </a:rPr>
              <a:t>320 </a:t>
            </a:r>
            <a:r>
              <a:rPr dirty="0" sz="1100">
                <a:latin typeface="Garamond"/>
                <a:cs typeface="Garamond"/>
              </a:rPr>
              <a:t>votes </a:t>
            </a:r>
            <a:r>
              <a:rPr dirty="0" sz="1100" spc="-5">
                <a:latin typeface="Garamond"/>
                <a:cs typeface="Garamond"/>
              </a:rPr>
              <a:t>among four candidates </a:t>
            </a:r>
            <a:r>
              <a:rPr dirty="0" sz="1100">
                <a:latin typeface="Garamond"/>
                <a:cs typeface="Garamond"/>
              </a:rPr>
              <a:t>in such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way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give </a:t>
            </a:r>
            <a:r>
              <a:rPr dirty="0" sz="1100" spc="5">
                <a:latin typeface="Garamond"/>
                <a:cs typeface="Garamond"/>
              </a:rPr>
              <a:t>all of </a:t>
            </a:r>
            <a:r>
              <a:rPr dirty="0" sz="1100" spc="-5">
                <a:latin typeface="Garamond"/>
                <a:cs typeface="Garamond"/>
              </a:rPr>
              <a:t>them more </a:t>
            </a:r>
            <a:r>
              <a:rPr dirty="0" sz="1100" spc="-10">
                <a:latin typeface="Garamond"/>
                <a:cs typeface="Garamond"/>
              </a:rPr>
              <a:t>than </a:t>
            </a:r>
            <a:r>
              <a:rPr dirty="0" sz="1100" spc="-5">
                <a:latin typeface="Garamond"/>
                <a:cs typeface="Garamond"/>
              </a:rPr>
              <a:t>80 </a:t>
            </a:r>
            <a:r>
              <a:rPr dirty="0" sz="1100">
                <a:latin typeface="Garamond"/>
                <a:cs typeface="Garamond"/>
              </a:rPr>
              <a:t>votes.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Sami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5">
                <a:latin typeface="Garamond"/>
                <a:cs typeface="Garamond"/>
              </a:rPr>
              <a:t>finish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fourth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worst.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Generally,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[1/(N+1)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1]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5">
                <a:latin typeface="Garamond"/>
                <a:cs typeface="Garamond"/>
              </a:rPr>
              <a:t> 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guarantee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seat.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Straight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Voting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Directors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elected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style.</a:t>
            </a:r>
            <a:endParaRPr sz="1100">
              <a:latin typeface="Garamond"/>
              <a:cs typeface="Garamond"/>
            </a:endParaRPr>
          </a:p>
          <a:p>
            <a:pPr marL="469900" marR="1333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Applying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example,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Sami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20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votes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Junaid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80.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Junaid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elect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candidates.</a:t>
            </a:r>
            <a:endParaRPr sz="1100">
              <a:latin typeface="Garamond"/>
              <a:cs typeface="Garamond"/>
            </a:endParaRPr>
          </a:p>
          <a:p>
            <a:pPr marL="469900" marR="12065" indent="-228600">
              <a:lnSpc>
                <a:spcPts val="1230"/>
              </a:lnSpc>
              <a:spcBef>
                <a:spcPts val="17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guarantee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own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50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%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plus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guaranteeing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every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seat,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making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“all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nothing.”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Staggering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Only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fraction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directorship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up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election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particular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marL="469900" marR="14604" indent="-228600">
              <a:lnSpc>
                <a:spcPts val="1220"/>
              </a:lnSpc>
              <a:spcBef>
                <a:spcPts val="209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directors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election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1/(2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1)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33.33%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plus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guarantee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seat.</a:t>
            </a:r>
            <a:endParaRPr sz="1100">
              <a:latin typeface="Garamond"/>
              <a:cs typeface="Garamond"/>
            </a:endParaRPr>
          </a:p>
          <a:p>
            <a:pPr marL="469900" marR="15875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makes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difficult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minority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elect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director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cumulative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voting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fewer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directors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elected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84702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 marR="26034" indent="-228600">
              <a:lnSpc>
                <a:spcPts val="1260"/>
              </a:lnSpc>
              <a:spcBef>
                <a:spcPts val="10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makes </a:t>
            </a:r>
            <a:r>
              <a:rPr dirty="0" sz="1100">
                <a:latin typeface="Garamond"/>
                <a:cs typeface="Garamond"/>
              </a:rPr>
              <a:t>takeover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attempts</a:t>
            </a:r>
            <a:r>
              <a:rPr dirty="0" sz="1100">
                <a:latin typeface="Garamond"/>
                <a:cs typeface="Garamond"/>
              </a:rPr>
              <a:t> less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likely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successful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difficult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vote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majority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directors.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Proxy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Voting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Garamond"/>
              <a:cs typeface="Garamond"/>
            </a:endParaRPr>
          </a:p>
          <a:p>
            <a:pPr marL="469900" marR="29209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proxy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grant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authority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someone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else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shareholder’s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shares.</a:t>
            </a:r>
            <a:endParaRPr sz="1100">
              <a:latin typeface="Garamond"/>
              <a:cs typeface="Garamond"/>
            </a:endParaRPr>
          </a:p>
          <a:p>
            <a:pPr marL="469900" marR="3175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routine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practice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corporations,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since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hundreds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thousands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millions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Obviously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management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like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proxies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possible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transferred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it.</a:t>
            </a:r>
            <a:endParaRPr sz="1100">
              <a:latin typeface="Garamond"/>
              <a:cs typeface="Garamond"/>
            </a:endParaRPr>
          </a:p>
          <a:p>
            <a:pPr marL="469900" marR="28575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However,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outside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group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may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try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obtain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votes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via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proxy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dissatisfied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management.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result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proxy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fight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retain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replace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electing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enough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directors.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Classes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Stocks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Some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class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unequal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rights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principle,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exchange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does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allow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classification.</a:t>
            </a:r>
            <a:endParaRPr sz="1100">
              <a:latin typeface="Garamond"/>
              <a:cs typeface="Garamond"/>
            </a:endParaRPr>
          </a:p>
          <a:p>
            <a:pPr marL="469900" marR="26670" indent="-228600">
              <a:lnSpc>
                <a:spcPts val="1230"/>
              </a:lnSpc>
              <a:spcBef>
                <a:spcPts val="20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primary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reason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10">
                <a:latin typeface="Garamond"/>
                <a:cs typeface="Garamond"/>
              </a:rPr>
              <a:t>such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concerns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control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can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raise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issuing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non-voting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limited-voting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maintaining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control.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Other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Rights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10">
                <a:latin typeface="Garamond"/>
                <a:cs typeface="Garamond"/>
              </a:rPr>
              <a:t>Some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rights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are: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Right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proportionately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Right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proportionately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remaining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been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liquidation</a:t>
            </a:r>
            <a:endParaRPr sz="1100">
              <a:latin typeface="Garamond"/>
              <a:cs typeface="Garamond"/>
            </a:endParaRPr>
          </a:p>
          <a:p>
            <a:pPr marL="469900" marR="2984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Right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matters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great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importance,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such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merger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(usually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done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annual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general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meeting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special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meeting)</a:t>
            </a:r>
            <a:endParaRPr sz="1100">
              <a:latin typeface="Garamond"/>
              <a:cs typeface="Garamond"/>
            </a:endParaRPr>
          </a:p>
          <a:p>
            <a:pPr marL="469900" marR="26034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Moreover,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shareholders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sometimes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right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proportionately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any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new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sold.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0">
                <a:latin typeface="Garamond"/>
                <a:cs typeface="Garamond"/>
              </a:rPr>
              <a:t> called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preemptive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right</a:t>
            </a:r>
            <a:endParaRPr sz="1100">
              <a:latin typeface="Garamond"/>
              <a:cs typeface="Garamond"/>
            </a:endParaRPr>
          </a:p>
          <a:p>
            <a:pPr algn="just" marL="469900" marR="26034" indent="-228600">
              <a:lnSpc>
                <a:spcPct val="94100"/>
              </a:lnSpc>
              <a:spcBef>
                <a:spcPts val="16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 </a:t>
            </a:r>
            <a:r>
              <a:rPr dirty="0" sz="1100">
                <a:latin typeface="Garamond"/>
                <a:cs typeface="Garamond"/>
              </a:rPr>
              <a:t>means </a:t>
            </a:r>
            <a:r>
              <a:rPr dirty="0" sz="1100" spc="5">
                <a:latin typeface="Garamond"/>
                <a:cs typeface="Garamond"/>
              </a:rPr>
              <a:t>that a </a:t>
            </a:r>
            <a:r>
              <a:rPr dirty="0" sz="1100">
                <a:latin typeface="Garamond"/>
                <a:cs typeface="Garamond"/>
              </a:rPr>
              <a:t>company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>
                <a:latin typeface="Garamond"/>
                <a:cs typeface="Garamond"/>
              </a:rPr>
              <a:t>wishes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sell stock </a:t>
            </a:r>
            <a:r>
              <a:rPr dirty="0" sz="1100" spc="-10">
                <a:latin typeface="Garamond"/>
                <a:cs typeface="Garamond"/>
              </a:rPr>
              <a:t>must </a:t>
            </a:r>
            <a:r>
              <a:rPr dirty="0" sz="1100" spc="-5">
                <a:latin typeface="Garamond"/>
                <a:cs typeface="Garamond"/>
              </a:rPr>
              <a:t>first </a:t>
            </a:r>
            <a:r>
              <a:rPr dirty="0" sz="1100" spc="5">
                <a:latin typeface="Garamond"/>
                <a:cs typeface="Garamond"/>
              </a:rPr>
              <a:t>offer </a:t>
            </a:r>
            <a:r>
              <a:rPr dirty="0" sz="1100">
                <a:latin typeface="Garamond"/>
                <a:cs typeface="Garamond"/>
              </a:rPr>
              <a:t>it </a:t>
            </a:r>
            <a:r>
              <a:rPr dirty="0" sz="1100" spc="5">
                <a:latin typeface="Garamond"/>
                <a:cs typeface="Garamond"/>
              </a:rPr>
              <a:t>to the </a:t>
            </a:r>
            <a:r>
              <a:rPr dirty="0" sz="1100">
                <a:latin typeface="Garamond"/>
                <a:cs typeface="Garamond"/>
              </a:rPr>
              <a:t>existing </a:t>
            </a:r>
            <a:r>
              <a:rPr dirty="0" sz="1100" spc="-5">
                <a:latin typeface="Garamond"/>
                <a:cs typeface="Garamond"/>
              </a:rPr>
              <a:t>shareholders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before </a:t>
            </a:r>
            <a:r>
              <a:rPr dirty="0" sz="1100">
                <a:latin typeface="Garamond"/>
                <a:cs typeface="Garamond"/>
              </a:rPr>
              <a:t>offering it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general </a:t>
            </a:r>
            <a:r>
              <a:rPr dirty="0" sz="1100" spc="-10">
                <a:latin typeface="Garamond"/>
                <a:cs typeface="Garamond"/>
              </a:rPr>
              <a:t>public,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 </a:t>
            </a:r>
            <a:r>
              <a:rPr dirty="0" sz="1100" spc="5">
                <a:latin typeface="Garamond"/>
                <a:cs typeface="Garamond"/>
              </a:rPr>
              <a:t>that </a:t>
            </a:r>
            <a:r>
              <a:rPr dirty="0" sz="1100" spc="-5">
                <a:latin typeface="Garamond"/>
                <a:cs typeface="Garamond"/>
              </a:rPr>
              <a:t>they </a:t>
            </a:r>
            <a:r>
              <a:rPr dirty="0" sz="1100">
                <a:latin typeface="Garamond"/>
                <a:cs typeface="Garamond"/>
              </a:rPr>
              <a:t>can </a:t>
            </a:r>
            <a:r>
              <a:rPr dirty="0" sz="1100" spc="-5">
                <a:latin typeface="Garamond"/>
                <a:cs typeface="Garamond"/>
              </a:rPr>
              <a:t>protect </a:t>
            </a:r>
            <a:r>
              <a:rPr dirty="0" sz="1100" spc="5">
                <a:latin typeface="Garamond"/>
                <a:cs typeface="Garamond"/>
              </a:rPr>
              <a:t>their </a:t>
            </a:r>
            <a:r>
              <a:rPr dirty="0" sz="1100" spc="-5">
                <a:latin typeface="Garamond"/>
                <a:cs typeface="Garamond"/>
              </a:rPr>
              <a:t>proportionate </a:t>
            </a:r>
            <a:r>
              <a:rPr dirty="0" sz="1100">
                <a:latin typeface="Garamond"/>
                <a:cs typeface="Garamond"/>
              </a:rPr>
              <a:t>ownership in 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Dividends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Garamond"/>
              <a:cs typeface="Garamond"/>
            </a:endParaRPr>
          </a:p>
          <a:p>
            <a:pPr marL="469900" marR="2540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represent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directly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indirectly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contributed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discretion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board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directors.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Some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characteristics</a:t>
            </a:r>
            <a:endParaRPr sz="1100">
              <a:latin typeface="Garamond"/>
              <a:cs typeface="Garamond"/>
            </a:endParaRPr>
          </a:p>
          <a:p>
            <a:pPr algn="just" marL="469900" marR="2794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Unless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declared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board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directors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corporation. The </a:t>
            </a:r>
            <a:r>
              <a:rPr dirty="0" sz="1100">
                <a:latin typeface="Garamond"/>
                <a:cs typeface="Garamond"/>
              </a:rPr>
              <a:t>amount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dividend </a:t>
            </a:r>
            <a:r>
              <a:rPr dirty="0" sz="1100">
                <a:latin typeface="Garamond"/>
                <a:cs typeface="Garamond"/>
              </a:rPr>
              <a:t>and whether it is paid are decisions based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judgment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board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directors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business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expense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deductible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tax.</a:t>
            </a:r>
            <a:endParaRPr sz="1100">
              <a:latin typeface="Garamond"/>
              <a:cs typeface="Garamond"/>
            </a:endParaRPr>
          </a:p>
          <a:p>
            <a:pPr algn="just" marL="469900" marR="25400" indent="-228600">
              <a:lnSpc>
                <a:spcPct val="93700"/>
              </a:lnSpc>
              <a:spcBef>
                <a:spcPts val="16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Dividends </a:t>
            </a:r>
            <a:r>
              <a:rPr dirty="0" sz="1100" spc="-10">
                <a:latin typeface="Garamond"/>
                <a:cs typeface="Garamond"/>
              </a:rPr>
              <a:t>received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individuals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-5">
                <a:latin typeface="Garamond"/>
                <a:cs typeface="Garamond"/>
              </a:rPr>
              <a:t>considered </a:t>
            </a:r>
            <a:r>
              <a:rPr dirty="0" sz="1100">
                <a:latin typeface="Garamond"/>
                <a:cs typeface="Garamond"/>
              </a:rPr>
              <a:t>ordinary income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tax authorities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 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fully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deductible.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However,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owning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permitted </a:t>
            </a:r>
            <a:r>
              <a:rPr dirty="0" sz="1100" spc="-2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exclude </a:t>
            </a:r>
            <a:r>
              <a:rPr dirty="0" sz="1100" spc="-5">
                <a:latin typeface="Garamond"/>
                <a:cs typeface="Garamond"/>
              </a:rPr>
              <a:t>certain </a:t>
            </a:r>
            <a:r>
              <a:rPr dirty="0" sz="1100">
                <a:latin typeface="Garamond"/>
                <a:cs typeface="Garamond"/>
              </a:rPr>
              <a:t>percentage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>
                <a:latin typeface="Garamond"/>
                <a:cs typeface="Garamond"/>
              </a:rPr>
              <a:t> amount </a:t>
            </a:r>
            <a:r>
              <a:rPr dirty="0" sz="1100" spc="-5">
                <a:latin typeface="Garamond"/>
                <a:cs typeface="Garamond"/>
              </a:rPr>
              <a:t>they receive </a:t>
            </a:r>
            <a:r>
              <a:rPr dirty="0" sz="1100">
                <a:latin typeface="Garamond"/>
                <a:cs typeface="Garamond"/>
              </a:rPr>
              <a:t>and are </a:t>
            </a:r>
            <a:r>
              <a:rPr dirty="0" sz="1100" spc="-10">
                <a:latin typeface="Garamond"/>
                <a:cs typeface="Garamond"/>
              </a:rPr>
              <a:t>taxed</a:t>
            </a:r>
            <a:r>
              <a:rPr dirty="0" sz="1100" spc="-5">
                <a:latin typeface="Garamond"/>
                <a:cs typeface="Garamond"/>
              </a:rPr>
              <a:t> only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remaining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portion.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68645" cy="85985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Preferred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Stock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Features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algn="just" marL="469900" marR="7620" indent="-228600">
              <a:lnSpc>
                <a:spcPts val="1220"/>
              </a:lnSpc>
              <a:spcBef>
                <a:spcPts val="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>
                <a:latin typeface="Garamond"/>
                <a:cs typeface="Garamond"/>
              </a:rPr>
              <a:t> dividend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priority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>
                <a:latin typeface="Garamond"/>
                <a:cs typeface="Garamond"/>
              </a:rPr>
              <a:t> stock,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normally</a:t>
            </a:r>
            <a:r>
              <a:rPr dirty="0" sz="1100" spc="5">
                <a:latin typeface="Garamond"/>
                <a:cs typeface="Garamond"/>
              </a:rPr>
              <a:t> with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>
                <a:latin typeface="Garamond"/>
                <a:cs typeface="Garamond"/>
              </a:rPr>
              <a:t> dividend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 </a:t>
            </a:r>
            <a:r>
              <a:rPr dirty="0" sz="1100">
                <a:latin typeface="Garamond"/>
                <a:cs typeface="Garamond"/>
              </a:rPr>
              <a:t> sometimes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without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rights.</a:t>
            </a:r>
            <a:endParaRPr sz="1100">
              <a:latin typeface="Garamond"/>
              <a:cs typeface="Garamond"/>
            </a:endParaRPr>
          </a:p>
          <a:p>
            <a:pPr algn="just" marL="469900" marR="5715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Preference </a:t>
            </a:r>
            <a:r>
              <a:rPr dirty="0" sz="1100" spc="-5">
                <a:latin typeface="Garamond"/>
                <a:cs typeface="Garamond"/>
              </a:rPr>
              <a:t>means </a:t>
            </a:r>
            <a:r>
              <a:rPr dirty="0" sz="1100" spc="5">
                <a:latin typeface="Garamond"/>
                <a:cs typeface="Garamond"/>
              </a:rPr>
              <a:t>only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holders </a:t>
            </a:r>
            <a:r>
              <a:rPr dirty="0" sz="1100" spc="5">
                <a:latin typeface="Garamond"/>
                <a:cs typeface="Garamond"/>
              </a:rPr>
              <a:t>of the </a:t>
            </a:r>
            <a:r>
              <a:rPr dirty="0" sz="1100" spc="-5">
                <a:latin typeface="Garamond"/>
                <a:cs typeface="Garamond"/>
              </a:rPr>
              <a:t>preferred </a:t>
            </a:r>
            <a:r>
              <a:rPr dirty="0" sz="1100">
                <a:latin typeface="Garamond"/>
                <a:cs typeface="Garamond"/>
              </a:rPr>
              <a:t>shares must receive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dividend before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holders if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entitled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anything.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1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Stated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described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dollars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Accumulation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Dividend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algn="just" marL="469900" marR="10795" indent="-228600">
              <a:lnSpc>
                <a:spcPts val="126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preferred dividend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not like interest </a:t>
            </a:r>
            <a:r>
              <a:rPr dirty="0" sz="1100" spc="-10">
                <a:latin typeface="Garamond"/>
                <a:cs typeface="Garamond"/>
              </a:rPr>
              <a:t>on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bond. The </a:t>
            </a:r>
            <a:r>
              <a:rPr dirty="0" sz="1100">
                <a:latin typeface="Garamond"/>
                <a:cs typeface="Garamond"/>
              </a:rPr>
              <a:t>directors may </a:t>
            </a:r>
            <a:r>
              <a:rPr dirty="0" sz="1100" spc="5">
                <a:latin typeface="Garamond"/>
                <a:cs typeface="Garamond"/>
              </a:rPr>
              <a:t>decide </a:t>
            </a:r>
            <a:r>
              <a:rPr dirty="0" sz="1100" spc="10">
                <a:latin typeface="Garamond"/>
                <a:cs typeface="Garamond"/>
              </a:rPr>
              <a:t>not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pay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 stock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irrespective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company.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>
                <a:latin typeface="Garamond"/>
                <a:cs typeface="Garamond"/>
              </a:rPr>
              <a:t> may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either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cumulative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non-cumulative; </a:t>
            </a: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cumulative</a:t>
            </a:r>
            <a:endParaRPr sz="1100">
              <a:latin typeface="Garamond"/>
              <a:cs typeface="Garamond"/>
            </a:endParaRPr>
          </a:p>
          <a:p>
            <a:pPr algn="just" marL="469900" marR="825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 spc="-5">
                <a:latin typeface="Garamond"/>
                <a:cs typeface="Garamond"/>
              </a:rPr>
              <a:t>preferred </a:t>
            </a:r>
            <a:r>
              <a:rPr dirty="0" sz="1100" spc="-10">
                <a:latin typeface="Garamond"/>
                <a:cs typeface="Garamond"/>
              </a:rPr>
              <a:t>stocks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-5">
                <a:latin typeface="Garamond"/>
                <a:cs typeface="Garamond"/>
              </a:rPr>
              <a:t>cumulative </a:t>
            </a:r>
            <a:r>
              <a:rPr dirty="0" sz="1100">
                <a:latin typeface="Garamond"/>
                <a:cs typeface="Garamond"/>
              </a:rPr>
              <a:t>and are </a:t>
            </a:r>
            <a:r>
              <a:rPr dirty="0" sz="1100" spc="10">
                <a:latin typeface="Garamond"/>
                <a:cs typeface="Garamond"/>
              </a:rPr>
              <a:t>not </a:t>
            </a:r>
            <a:r>
              <a:rPr dirty="0" sz="1100">
                <a:latin typeface="Garamond"/>
                <a:cs typeface="Garamond"/>
              </a:rPr>
              <a:t>paid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particular </a:t>
            </a:r>
            <a:r>
              <a:rPr dirty="0" sz="1100" spc="-5">
                <a:latin typeface="Garamond"/>
                <a:cs typeface="Garamond"/>
              </a:rPr>
              <a:t>year, they </a:t>
            </a:r>
            <a:r>
              <a:rPr dirty="0" sz="1100" spc="5">
                <a:latin typeface="Garamond"/>
                <a:cs typeface="Garamond"/>
              </a:rPr>
              <a:t>will be </a:t>
            </a:r>
            <a:r>
              <a:rPr dirty="0" sz="1100" spc="-5">
                <a:latin typeface="Garamond"/>
                <a:cs typeface="Garamond"/>
              </a:rPr>
              <a:t>carried forward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arrearage.</a:t>
            </a:r>
            <a:endParaRPr sz="1100">
              <a:latin typeface="Garamond"/>
              <a:cs typeface="Garamond"/>
            </a:endParaRPr>
          </a:p>
          <a:p>
            <a:pPr algn="just" marL="469900" marR="9525" indent="-228600">
              <a:lnSpc>
                <a:spcPct val="94100"/>
              </a:lnSpc>
              <a:spcBef>
                <a:spcPts val="9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Unpaid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>
                <a:latin typeface="Garamond"/>
                <a:cs typeface="Garamond"/>
              </a:rPr>
              <a:t> dividends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 </a:t>
            </a:r>
            <a:r>
              <a:rPr dirty="0" sz="1100">
                <a:latin typeface="Garamond"/>
                <a:cs typeface="Garamond"/>
              </a:rPr>
              <a:t>debts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firm.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Directors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>
                <a:latin typeface="Garamond"/>
                <a:cs typeface="Garamond"/>
              </a:rPr>
              <a:t> defer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indefinitely.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However,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scenario,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</a:t>
            </a:r>
            <a:r>
              <a:rPr dirty="0" sz="1100">
                <a:latin typeface="Garamond"/>
                <a:cs typeface="Garamond"/>
              </a:rPr>
              <a:t> must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also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forego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dividends.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Sometimes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these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delayed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payments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compensated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rights.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100" b="1">
                <a:latin typeface="Garamond"/>
                <a:cs typeface="Garamond"/>
              </a:rPr>
              <a:t>Is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Preferred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Stock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Debt?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entitled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only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entitled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stated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hold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ratings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sometimes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convertible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often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callable.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Stock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Market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bought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stock </a:t>
            </a:r>
            <a:r>
              <a:rPr dirty="0" sz="1100">
                <a:latin typeface="Garamond"/>
                <a:cs typeface="Garamond"/>
              </a:rPr>
              <a:t>exchanges.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consists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Primary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Secondary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100" spc="-5" b="1">
                <a:latin typeface="Garamond"/>
                <a:cs typeface="Garamond"/>
              </a:rPr>
              <a:t>Primary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Market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originally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investors.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Companies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raise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Secondary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Market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previously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traded </a:t>
            </a:r>
            <a:r>
              <a:rPr dirty="0" sz="1100" spc="5">
                <a:latin typeface="Garamond"/>
                <a:cs typeface="Garamond"/>
              </a:rPr>
              <a:t>among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Dealer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buys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sells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maintained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endParaRPr sz="1100">
              <a:latin typeface="Garamond"/>
              <a:cs typeface="Garamond"/>
            </a:endParaRPr>
          </a:p>
          <a:p>
            <a:pPr marL="469900" marR="1079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stands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ready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buy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wishing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sell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them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sells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investors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wishing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them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1974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 marR="26034" indent="-228600">
              <a:lnSpc>
                <a:spcPts val="1260"/>
              </a:lnSpc>
              <a:spcBef>
                <a:spcPts val="10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dealer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wishes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bid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dealer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sells</a:t>
            </a:r>
            <a:r>
              <a:rPr dirty="0" sz="1100" spc="5">
                <a:latin typeface="Garamond"/>
                <a:cs typeface="Garamond"/>
              </a:rPr>
              <a:t> 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strike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bid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ask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spread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Broker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28575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An </a:t>
            </a:r>
            <a:r>
              <a:rPr dirty="0" sz="1100">
                <a:latin typeface="Garamond"/>
                <a:cs typeface="Garamond"/>
              </a:rPr>
              <a:t>agent who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arranges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transactions </a:t>
            </a:r>
            <a:r>
              <a:rPr dirty="0" sz="1100" spc="5">
                <a:latin typeface="Garamond"/>
                <a:cs typeface="Garamond"/>
              </a:rPr>
              <a:t>among </a:t>
            </a:r>
            <a:r>
              <a:rPr dirty="0" sz="1100" spc="-5">
                <a:latin typeface="Garamond"/>
                <a:cs typeface="Garamond"/>
              </a:rPr>
              <a:t>investors,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matching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 </a:t>
            </a:r>
            <a:r>
              <a:rPr dirty="0" sz="1100">
                <a:latin typeface="Garamond"/>
                <a:cs typeface="Garamond"/>
              </a:rPr>
              <a:t>wishing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wishing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securities.</a:t>
            </a:r>
            <a:endParaRPr sz="1100">
              <a:latin typeface="Garamond"/>
              <a:cs typeface="Garamond"/>
            </a:endParaRPr>
          </a:p>
          <a:p>
            <a:pPr marL="469900" marR="2413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They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accounts.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Facilitating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trades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others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their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73090" cy="89325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4814570">
              <a:lnSpc>
                <a:spcPts val="1355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25</a:t>
            </a:r>
            <a:endParaRPr sz="1150">
              <a:latin typeface="Garamond"/>
              <a:cs typeface="Garamond"/>
            </a:endParaRPr>
          </a:p>
          <a:p>
            <a:pPr algn="ctr">
              <a:lnSpc>
                <a:spcPts val="1355"/>
              </a:lnSpc>
            </a:pPr>
            <a:r>
              <a:rPr dirty="0" sz="1150" spc="25" b="1">
                <a:latin typeface="Garamond"/>
                <a:cs typeface="Garamond"/>
              </a:rPr>
              <a:t>PREFERRED</a:t>
            </a:r>
            <a:r>
              <a:rPr dirty="0" sz="1150" spc="-1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STOCK</a:t>
            </a:r>
            <a:r>
              <a:rPr dirty="0" sz="1150" spc="1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FEATURES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Garamond"/>
              <a:cs typeface="Garamond"/>
            </a:endParaRPr>
          </a:p>
          <a:p>
            <a:pPr algn="just" marL="469900" marR="12065" indent="-228600">
              <a:lnSpc>
                <a:spcPts val="126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>
                <a:latin typeface="Garamond"/>
                <a:cs typeface="Garamond"/>
              </a:rPr>
              <a:t> dividend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priority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>
                <a:latin typeface="Garamond"/>
                <a:cs typeface="Garamond"/>
              </a:rPr>
              <a:t> stock,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normally</a:t>
            </a:r>
            <a:r>
              <a:rPr dirty="0" sz="1100" spc="5">
                <a:latin typeface="Garamond"/>
                <a:cs typeface="Garamond"/>
              </a:rPr>
              <a:t> with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>
                <a:latin typeface="Garamond"/>
                <a:cs typeface="Garamond"/>
              </a:rPr>
              <a:t> dividend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 </a:t>
            </a:r>
            <a:r>
              <a:rPr dirty="0" sz="1100">
                <a:latin typeface="Garamond"/>
                <a:cs typeface="Garamond"/>
              </a:rPr>
              <a:t> sometimes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without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rights.</a:t>
            </a:r>
            <a:endParaRPr sz="1100">
              <a:latin typeface="Garamond"/>
              <a:cs typeface="Garamond"/>
            </a:endParaRPr>
          </a:p>
          <a:p>
            <a:pPr algn="just" marL="469900" marR="10160" indent="-228600">
              <a:lnSpc>
                <a:spcPts val="1230"/>
              </a:lnSpc>
              <a:spcBef>
                <a:spcPts val="17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Preference </a:t>
            </a:r>
            <a:r>
              <a:rPr dirty="0" sz="1100" spc="-5">
                <a:latin typeface="Garamond"/>
                <a:cs typeface="Garamond"/>
              </a:rPr>
              <a:t>means </a:t>
            </a:r>
            <a:r>
              <a:rPr dirty="0" sz="1100" spc="5">
                <a:latin typeface="Garamond"/>
                <a:cs typeface="Garamond"/>
              </a:rPr>
              <a:t>only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holders </a:t>
            </a:r>
            <a:r>
              <a:rPr dirty="0" sz="1100" spc="5">
                <a:latin typeface="Garamond"/>
                <a:cs typeface="Garamond"/>
              </a:rPr>
              <a:t>of the </a:t>
            </a:r>
            <a:r>
              <a:rPr dirty="0" sz="1100" spc="-5">
                <a:latin typeface="Garamond"/>
                <a:cs typeface="Garamond"/>
              </a:rPr>
              <a:t>preferred </a:t>
            </a:r>
            <a:r>
              <a:rPr dirty="0" sz="1100">
                <a:latin typeface="Garamond"/>
                <a:cs typeface="Garamond"/>
              </a:rPr>
              <a:t>shares must receive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dividend before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holders if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entitled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anything.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Stated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described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dollars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100" b="1">
                <a:latin typeface="Garamond"/>
                <a:cs typeface="Garamond"/>
              </a:rPr>
              <a:t>Accumulation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Dividend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algn="just" marL="469900" marR="15240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preferred dividend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not like interest </a:t>
            </a:r>
            <a:r>
              <a:rPr dirty="0" sz="1100" spc="-10">
                <a:latin typeface="Garamond"/>
                <a:cs typeface="Garamond"/>
              </a:rPr>
              <a:t>on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bond. The </a:t>
            </a:r>
            <a:r>
              <a:rPr dirty="0" sz="1100">
                <a:latin typeface="Garamond"/>
                <a:cs typeface="Garamond"/>
              </a:rPr>
              <a:t>directors may </a:t>
            </a:r>
            <a:r>
              <a:rPr dirty="0" sz="1100" spc="5">
                <a:latin typeface="Garamond"/>
                <a:cs typeface="Garamond"/>
              </a:rPr>
              <a:t>decide </a:t>
            </a:r>
            <a:r>
              <a:rPr dirty="0" sz="1100" spc="10">
                <a:latin typeface="Garamond"/>
                <a:cs typeface="Garamond"/>
              </a:rPr>
              <a:t>not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pay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 stock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irrespective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company.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>
                <a:latin typeface="Garamond"/>
                <a:cs typeface="Garamond"/>
              </a:rPr>
              <a:t> may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either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cumulative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non-cumulative;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cumulative</a:t>
            </a:r>
            <a:endParaRPr sz="1100">
              <a:latin typeface="Garamond"/>
              <a:cs typeface="Garamond"/>
            </a:endParaRPr>
          </a:p>
          <a:p>
            <a:pPr algn="just" marL="469900" marR="508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 spc="-5">
                <a:latin typeface="Garamond"/>
                <a:cs typeface="Garamond"/>
              </a:rPr>
              <a:t>preferred </a:t>
            </a:r>
            <a:r>
              <a:rPr dirty="0" sz="1100">
                <a:latin typeface="Garamond"/>
                <a:cs typeface="Garamond"/>
              </a:rPr>
              <a:t>stocks are </a:t>
            </a:r>
            <a:r>
              <a:rPr dirty="0" sz="1100" spc="-5">
                <a:latin typeface="Garamond"/>
                <a:cs typeface="Garamond"/>
              </a:rPr>
              <a:t>cumulative </a:t>
            </a:r>
            <a:r>
              <a:rPr dirty="0" sz="1100">
                <a:latin typeface="Garamond"/>
                <a:cs typeface="Garamond"/>
              </a:rPr>
              <a:t>and are </a:t>
            </a:r>
            <a:r>
              <a:rPr dirty="0" sz="1100" spc="-5">
                <a:latin typeface="Garamond"/>
                <a:cs typeface="Garamond"/>
              </a:rPr>
              <a:t>not </a:t>
            </a:r>
            <a:r>
              <a:rPr dirty="0" sz="1100">
                <a:latin typeface="Garamond"/>
                <a:cs typeface="Garamond"/>
              </a:rPr>
              <a:t>paid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particular </a:t>
            </a:r>
            <a:r>
              <a:rPr dirty="0" sz="1100" spc="5">
                <a:latin typeface="Garamond"/>
                <a:cs typeface="Garamond"/>
              </a:rPr>
              <a:t>year, </a:t>
            </a:r>
            <a:r>
              <a:rPr dirty="0" sz="1100" spc="-5">
                <a:latin typeface="Garamond"/>
                <a:cs typeface="Garamond"/>
              </a:rPr>
              <a:t>they </a:t>
            </a:r>
            <a:r>
              <a:rPr dirty="0" sz="1100" spc="5">
                <a:latin typeface="Garamond"/>
                <a:cs typeface="Garamond"/>
              </a:rPr>
              <a:t>will be carried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forward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arrearage.</a:t>
            </a:r>
            <a:endParaRPr sz="1100">
              <a:latin typeface="Garamond"/>
              <a:cs typeface="Garamond"/>
            </a:endParaRPr>
          </a:p>
          <a:p>
            <a:pPr algn="just" marL="469900" marR="1524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Unpaid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>
                <a:latin typeface="Garamond"/>
                <a:cs typeface="Garamond"/>
              </a:rPr>
              <a:t> dividends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 </a:t>
            </a:r>
            <a:r>
              <a:rPr dirty="0" sz="1100">
                <a:latin typeface="Garamond"/>
                <a:cs typeface="Garamond"/>
              </a:rPr>
              <a:t>debts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firm.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Directors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>
                <a:latin typeface="Garamond"/>
                <a:cs typeface="Garamond"/>
              </a:rPr>
              <a:t> defer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indefinitely.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However,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scenario,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</a:t>
            </a:r>
            <a:r>
              <a:rPr dirty="0" sz="1100">
                <a:latin typeface="Garamond"/>
                <a:cs typeface="Garamond"/>
              </a:rPr>
              <a:t> must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also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forego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dividends.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Sometimes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delayed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compensated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rights.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Is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Preferred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Stock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Debt?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14604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entitled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stated</a:t>
            </a:r>
            <a:r>
              <a:rPr dirty="0" sz="1100" spc="-5">
                <a:latin typeface="Garamond"/>
                <a:cs typeface="Garamond"/>
              </a:rPr>
              <a:t> dividend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only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entitled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stated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hold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ratings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sometimes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convertible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often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callable.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Stock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Market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bought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stock </a:t>
            </a:r>
            <a:r>
              <a:rPr dirty="0" sz="1100">
                <a:latin typeface="Garamond"/>
                <a:cs typeface="Garamond"/>
              </a:rPr>
              <a:t>exchanges.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consists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Primary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Secondary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Primary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Market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originally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investors.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Companies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raise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Secondary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Market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previously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issued</a:t>
            </a:r>
            <a:r>
              <a:rPr dirty="0" sz="1100">
                <a:latin typeface="Garamond"/>
                <a:cs typeface="Garamond"/>
              </a:rPr>
              <a:t> securities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traded </a:t>
            </a:r>
            <a:r>
              <a:rPr dirty="0" sz="1100" spc="5">
                <a:latin typeface="Garamond"/>
                <a:cs typeface="Garamond"/>
              </a:rPr>
              <a:t>among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Dealer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buys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maintained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endParaRPr sz="1100">
              <a:latin typeface="Garamond"/>
              <a:cs typeface="Garamond"/>
            </a:endParaRPr>
          </a:p>
          <a:p>
            <a:pPr marL="469900" marR="14604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stands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ready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buy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wishing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sell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them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sells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investors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wishing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them</a:t>
            </a:r>
            <a:endParaRPr sz="1100">
              <a:latin typeface="Garamond"/>
              <a:cs typeface="Garamond"/>
            </a:endParaRPr>
          </a:p>
          <a:p>
            <a:pPr marL="469900" marR="1016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dealer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wishes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bid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dealer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sells</a:t>
            </a:r>
            <a:r>
              <a:rPr dirty="0" sz="1100" spc="5">
                <a:latin typeface="Garamond"/>
                <a:cs typeface="Garamond"/>
              </a:rPr>
              <a:t> 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strike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76629" y="431038"/>
            <a:ext cx="3971290" cy="8134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9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bid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ask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spread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Broker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1382394"/>
            <a:ext cx="5671820" cy="629285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469900" marR="14604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An </a:t>
            </a:r>
            <a:r>
              <a:rPr dirty="0" sz="1100">
                <a:latin typeface="Garamond"/>
                <a:cs typeface="Garamond"/>
              </a:rPr>
              <a:t>agent who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arranges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transactions </a:t>
            </a:r>
            <a:r>
              <a:rPr dirty="0" sz="1100" spc="5">
                <a:latin typeface="Garamond"/>
                <a:cs typeface="Garamond"/>
              </a:rPr>
              <a:t>among </a:t>
            </a:r>
            <a:r>
              <a:rPr dirty="0" sz="1100" spc="-5">
                <a:latin typeface="Garamond"/>
                <a:cs typeface="Garamond"/>
              </a:rPr>
              <a:t>investors,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matching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 </a:t>
            </a:r>
            <a:r>
              <a:rPr dirty="0" sz="1100">
                <a:latin typeface="Garamond"/>
                <a:cs typeface="Garamond"/>
              </a:rPr>
              <a:t>wishing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wishing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They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or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accounts.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Facilitating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trades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others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their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Capital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Budgeting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What </a:t>
            </a:r>
            <a:r>
              <a:rPr dirty="0" sz="1100" spc="-5">
                <a:latin typeface="Garamond"/>
                <a:cs typeface="Garamond"/>
              </a:rPr>
              <a:t>long-term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10" b="1">
                <a:latin typeface="Garamond"/>
                <a:cs typeface="Garamond"/>
              </a:rPr>
              <a:t>Net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Present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8890" indent="-228600">
              <a:lnSpc>
                <a:spcPts val="122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undertaking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creates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owners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characterized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worth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marketplace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acquire.</a:t>
            </a:r>
            <a:endParaRPr sz="1100">
              <a:latin typeface="Garamond"/>
              <a:cs typeface="Garamond"/>
            </a:endParaRPr>
          </a:p>
          <a:p>
            <a:pPr marL="469900" marR="8255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example,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run-down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house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$25,000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spend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another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$25,000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painters,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plumbers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up.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$50,000.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completed,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place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house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$60,000.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5">
                <a:latin typeface="Garamond"/>
                <a:cs typeface="Garamond"/>
              </a:rPr>
              <a:t> ($60,000)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exceeds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($50,000)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$10,000.</a:t>
            </a:r>
            <a:endParaRPr sz="1100">
              <a:latin typeface="Garamond"/>
              <a:cs typeface="Garamond"/>
            </a:endParaRPr>
          </a:p>
          <a:p>
            <a:pPr marL="469900" marR="1587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consider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yourself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brought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together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some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labor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material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etc.,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created $10,000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 marL="469900" marR="1397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10">
                <a:latin typeface="Garamond"/>
                <a:cs typeface="Garamond"/>
              </a:rPr>
              <a:t> 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identify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feasibility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$50,000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ahead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marL="469900" marR="889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words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trying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determine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whether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worth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place,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topic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Budgeting</a:t>
            </a:r>
            <a:endParaRPr sz="1100">
              <a:latin typeface="Garamond"/>
              <a:cs typeface="Garamond"/>
            </a:endParaRPr>
          </a:p>
          <a:p>
            <a:pPr marL="469900" marR="952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investment’s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(NPV).</a:t>
            </a:r>
            <a:endParaRPr sz="1100">
              <a:latin typeface="Garamond"/>
              <a:cs typeface="Garamond"/>
            </a:endParaRPr>
          </a:p>
          <a:p>
            <a:pPr marL="469900" marR="698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Alternatively,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created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added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undertaking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marL="469900" marR="8890" indent="-228600">
              <a:lnSpc>
                <a:spcPts val="122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goal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creating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budgeting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process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can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viewed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search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positive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values.</a:t>
            </a:r>
            <a:endParaRPr sz="1100">
              <a:latin typeface="Garamond"/>
              <a:cs typeface="Garamond"/>
            </a:endParaRPr>
          </a:p>
          <a:p>
            <a:pPr marL="469900" marR="8255" indent="-228600">
              <a:lnSpc>
                <a:spcPts val="1220"/>
              </a:lnSpc>
              <a:spcBef>
                <a:spcPts val="19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decisions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greatly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simplified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considering.</a:t>
            </a:r>
            <a:endParaRPr sz="1100">
              <a:latin typeface="Garamond"/>
              <a:cs typeface="Garamond"/>
            </a:endParaRPr>
          </a:p>
          <a:p>
            <a:pPr marL="469900" marR="12065" indent="-228600">
              <a:lnSpc>
                <a:spcPts val="1260"/>
              </a:lnSpc>
              <a:spcBef>
                <a:spcPts val="16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budgeting  becomes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difficult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10">
                <a:latin typeface="Garamond"/>
                <a:cs typeface="Garamond"/>
              </a:rPr>
              <a:t> we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can’t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determine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>
                <a:latin typeface="Garamond"/>
                <a:cs typeface="Garamond"/>
              </a:rPr>
              <a:t> price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comparable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marL="469900" marR="1397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reason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faced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problem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indirect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Estimating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Net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Present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8698" y="7701022"/>
            <a:ext cx="4492625" cy="189845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00429" y="861338"/>
            <a:ext cx="5815330" cy="768286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80"/>
              </a:spcBef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fertilizer,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Try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estimate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produce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Apply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procedure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estimate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 marL="546100" marR="81280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Estimate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difference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present value</a:t>
            </a:r>
            <a:r>
              <a:rPr dirty="0" sz="1100" spc="5">
                <a:latin typeface="Garamond"/>
                <a:cs typeface="Garamond"/>
              </a:rPr>
              <a:t> of the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>
                <a:latin typeface="Garamond"/>
                <a:cs typeface="Garamond"/>
              </a:rPr>
              <a:t> flows 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known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(DCF)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valuation.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revenues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fertilizer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$20,000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(including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$14,000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wound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plant,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property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equipment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$2,000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salvage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$30,000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launch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Discount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15%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good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investment?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investment?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Calculating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flows:</a:t>
            </a:r>
            <a:endParaRPr sz="1100">
              <a:latin typeface="Garamond"/>
              <a:cs typeface="Garamond"/>
            </a:endParaRPr>
          </a:p>
          <a:p>
            <a:pPr marL="1918335" marR="1207770">
              <a:lnSpc>
                <a:spcPts val="1260"/>
              </a:lnSpc>
              <a:spcBef>
                <a:spcPts val="1255"/>
              </a:spcBef>
            </a:pPr>
            <a:r>
              <a:rPr dirty="0" sz="1100" spc="-5">
                <a:latin typeface="Garamond"/>
                <a:cs typeface="Garamond"/>
              </a:rPr>
              <a:t>PV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$6,000 </a:t>
            </a:r>
            <a:r>
              <a:rPr dirty="0" sz="1100" spc="5">
                <a:latin typeface="Garamond"/>
                <a:cs typeface="Garamond"/>
              </a:rPr>
              <a:t>x (1 – </a:t>
            </a:r>
            <a:r>
              <a:rPr dirty="0" sz="1100" spc="-5">
                <a:latin typeface="Garamond"/>
                <a:cs typeface="Garamond"/>
              </a:rPr>
              <a:t>1/1.15</a:t>
            </a:r>
            <a:r>
              <a:rPr dirty="0" baseline="21367" sz="975" spc="-7">
                <a:latin typeface="Garamond"/>
                <a:cs typeface="Garamond"/>
              </a:rPr>
              <a:t>8</a:t>
            </a:r>
            <a:r>
              <a:rPr dirty="0" sz="1100" spc="-5">
                <a:latin typeface="Garamond"/>
                <a:cs typeface="Garamond"/>
              </a:rPr>
              <a:t>)/0.15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>
                <a:latin typeface="Garamond"/>
                <a:cs typeface="Garamond"/>
              </a:rPr>
              <a:t>2,000 </a:t>
            </a:r>
            <a:r>
              <a:rPr dirty="0" sz="1100" spc="5">
                <a:latin typeface="Garamond"/>
                <a:cs typeface="Garamond"/>
              </a:rPr>
              <a:t>/ </a:t>
            </a:r>
            <a:r>
              <a:rPr dirty="0" sz="1100">
                <a:latin typeface="Garamond"/>
                <a:cs typeface="Garamond"/>
              </a:rPr>
              <a:t>1.15</a:t>
            </a:r>
            <a:r>
              <a:rPr dirty="0" baseline="21367" sz="975">
                <a:latin typeface="Garamond"/>
                <a:cs typeface="Garamond"/>
              </a:rPr>
              <a:t>8 </a:t>
            </a:r>
            <a:r>
              <a:rPr dirty="0" baseline="21367" sz="975" spc="-2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4.4873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2,000/3.0590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145"/>
              </a:lnSpc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$26,924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654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270"/>
              </a:lnSpc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$27,578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Comparing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$30,000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estimated cost,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is;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ct val="100000"/>
              </a:lnSpc>
              <a:spcBef>
                <a:spcPts val="1165"/>
              </a:spcBef>
            </a:pP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-$30,000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27,578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-$2,422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Therefore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good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it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decrease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$2,422.</a:t>
            </a:r>
            <a:endParaRPr sz="1100">
              <a:latin typeface="Garamond"/>
              <a:cs typeface="Garamond"/>
            </a:endParaRPr>
          </a:p>
          <a:p>
            <a:pPr marL="546100" marR="76835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1,000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outstanding,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best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impact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up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loss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of:</a:t>
            </a:r>
            <a:endParaRPr sz="1100">
              <a:latin typeface="Garamond"/>
              <a:cs typeface="Garamond"/>
            </a:endParaRPr>
          </a:p>
          <a:p>
            <a:pPr marL="1918335">
              <a:lnSpc>
                <a:spcPts val="1190"/>
              </a:lnSpc>
            </a:pPr>
            <a:r>
              <a:rPr dirty="0" sz="1100">
                <a:latin typeface="Garamond"/>
                <a:cs typeface="Garamond"/>
              </a:rPr>
              <a:t>$2,422/1,000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$2.422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aramond"/>
              <a:cs typeface="Garamond"/>
            </a:endParaRPr>
          </a:p>
          <a:p>
            <a:pPr marL="546100" marR="80645" indent="-228600">
              <a:lnSpc>
                <a:spcPts val="122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From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example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>
                <a:latin typeface="Garamond"/>
                <a:cs typeface="Garamond"/>
              </a:rPr>
              <a:t> notice</a:t>
            </a:r>
            <a:r>
              <a:rPr dirty="0" sz="1100" spc="5">
                <a:latin typeface="Garamond"/>
                <a:cs typeface="Garamond"/>
              </a:rPr>
              <a:t> that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negative,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value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unfavorable.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positive,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favorable.</a:t>
            </a:r>
            <a:endParaRPr sz="1100">
              <a:latin typeface="Garamond"/>
              <a:cs typeface="Garamond"/>
            </a:endParaRPr>
          </a:p>
          <a:p>
            <a:pPr marL="546100" marR="79375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value,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discussion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leads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rule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50">
              <a:latin typeface="Garamond"/>
              <a:cs typeface="Garamond"/>
            </a:endParaRPr>
          </a:p>
          <a:p>
            <a:pPr marL="317500" marR="262890">
              <a:lnSpc>
                <a:spcPts val="1260"/>
              </a:lnSpc>
              <a:spcBef>
                <a:spcPts val="5"/>
              </a:spcBef>
            </a:pPr>
            <a:r>
              <a:rPr dirty="0" sz="1150" spc="-30" b="1" i="1">
                <a:latin typeface="Garamond"/>
                <a:cs typeface="Garamond"/>
              </a:rPr>
              <a:t>“An investment </a:t>
            </a:r>
            <a:r>
              <a:rPr dirty="0" sz="1150" spc="-20" b="1" i="1">
                <a:latin typeface="Garamond"/>
                <a:cs typeface="Garamond"/>
              </a:rPr>
              <a:t>should be </a:t>
            </a:r>
            <a:r>
              <a:rPr dirty="0" sz="1150" spc="-25" b="1" i="1">
                <a:latin typeface="Garamond"/>
                <a:cs typeface="Garamond"/>
              </a:rPr>
              <a:t>accepted </a:t>
            </a:r>
            <a:r>
              <a:rPr dirty="0" sz="1150" spc="-10" b="1" i="1">
                <a:latin typeface="Garamond"/>
                <a:cs typeface="Garamond"/>
              </a:rPr>
              <a:t>if </a:t>
            </a:r>
            <a:r>
              <a:rPr dirty="0" sz="1150" spc="-30" b="1" i="1">
                <a:latin typeface="Garamond"/>
                <a:cs typeface="Garamond"/>
              </a:rPr>
              <a:t>the net </a:t>
            </a:r>
            <a:r>
              <a:rPr dirty="0" sz="1150" spc="-25" b="1" i="1">
                <a:latin typeface="Garamond"/>
                <a:cs typeface="Garamond"/>
              </a:rPr>
              <a:t>present </a:t>
            </a:r>
            <a:r>
              <a:rPr dirty="0" sz="1150" spc="-30" b="1" i="1">
                <a:latin typeface="Garamond"/>
                <a:cs typeface="Garamond"/>
              </a:rPr>
              <a:t>value </a:t>
            </a:r>
            <a:r>
              <a:rPr dirty="0" sz="1150" spc="-10" b="1" i="1">
                <a:latin typeface="Garamond"/>
                <a:cs typeface="Garamond"/>
              </a:rPr>
              <a:t>is </a:t>
            </a:r>
            <a:r>
              <a:rPr dirty="0" sz="1150" spc="-30" b="1" i="1">
                <a:latin typeface="Garamond"/>
                <a:cs typeface="Garamond"/>
              </a:rPr>
              <a:t>positive </a:t>
            </a:r>
            <a:r>
              <a:rPr dirty="0" sz="1150" spc="-5" b="1" i="1">
                <a:latin typeface="Garamond"/>
                <a:cs typeface="Garamond"/>
              </a:rPr>
              <a:t>and </a:t>
            </a:r>
            <a:r>
              <a:rPr dirty="0" sz="1150" spc="-20" b="1" i="1">
                <a:latin typeface="Garamond"/>
                <a:cs typeface="Garamond"/>
              </a:rPr>
              <a:t>rejected </a:t>
            </a:r>
            <a:r>
              <a:rPr dirty="0" sz="1150" spc="-10" b="1" i="1">
                <a:latin typeface="Garamond"/>
                <a:cs typeface="Garamond"/>
              </a:rPr>
              <a:t>if it is </a:t>
            </a:r>
            <a:r>
              <a:rPr dirty="0" sz="1150" spc="-275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negative.”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Garamond"/>
              <a:cs typeface="Garamond"/>
            </a:endParaRPr>
          </a:p>
          <a:p>
            <a:pPr marL="546100" marR="76200" indent="-228600">
              <a:lnSpc>
                <a:spcPts val="126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unlikely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turned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indifferent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ts val="129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10">
                <a:latin typeface="Garamond"/>
                <a:cs typeface="Garamond"/>
              </a:rPr>
              <a:t>Two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comments</a:t>
            </a:r>
            <a:endParaRPr sz="1100">
              <a:latin typeface="Garamond"/>
              <a:cs typeface="Garamond"/>
            </a:endParaRPr>
          </a:p>
          <a:p>
            <a:pPr lvl="1" marL="775335" marR="69850" indent="-229235">
              <a:lnSpc>
                <a:spcPts val="1230"/>
              </a:lnSpc>
              <a:spcBef>
                <a:spcPts val="90"/>
              </a:spcBef>
              <a:buFont typeface="Courier New"/>
              <a:buChar char="o"/>
              <a:tabLst>
                <a:tab pos="774700" algn="l"/>
                <a:tab pos="7759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task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much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process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itself.</a:t>
            </a:r>
            <a:endParaRPr sz="1100">
              <a:latin typeface="Garamond"/>
              <a:cs typeface="Garamond"/>
            </a:endParaRPr>
          </a:p>
          <a:p>
            <a:pPr lvl="1" marL="775335" indent="-229870">
              <a:lnSpc>
                <a:spcPts val="1165"/>
              </a:lnSpc>
              <a:buFont typeface="Courier New"/>
              <a:buChar char="o"/>
              <a:tabLst>
                <a:tab pos="774700" algn="l"/>
                <a:tab pos="7759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process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only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10">
                <a:latin typeface="Garamond"/>
                <a:cs typeface="Garamond"/>
              </a:rPr>
              <a:t> 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figure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NPV.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endParaRPr sz="1100">
              <a:latin typeface="Garamond"/>
              <a:cs typeface="Garamond"/>
            </a:endParaRPr>
          </a:p>
          <a:p>
            <a:pPr marL="775335">
              <a:lnSpc>
                <a:spcPts val="1290"/>
              </a:lnSpc>
            </a:pPr>
            <a:r>
              <a:rPr dirty="0" sz="1100" spc="-5">
                <a:latin typeface="Garamond"/>
                <a:cs typeface="Garamond"/>
              </a:rPr>
              <a:t>true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found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putting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12307" y="714501"/>
            <a:ext cx="8166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26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8529" y="883665"/>
            <a:ext cx="5748020" cy="55930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254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USING</a:t>
            </a:r>
            <a:r>
              <a:rPr dirty="0" sz="1150" spc="-45" b="1">
                <a:latin typeface="Garamond"/>
                <a:cs typeface="Garamond"/>
              </a:rPr>
              <a:t> </a:t>
            </a:r>
            <a:r>
              <a:rPr dirty="0" sz="1150" spc="35" b="1">
                <a:latin typeface="Garamond"/>
                <a:cs typeface="Garamond"/>
              </a:rPr>
              <a:t>NPV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Garamond"/>
              <a:cs typeface="Garamond"/>
            </a:endParaRPr>
          </a:p>
          <a:p>
            <a:pPr marL="50800" marR="50800">
              <a:lnSpc>
                <a:spcPts val="1260"/>
              </a:lnSpc>
            </a:pP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goal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management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value,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rule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Garamond"/>
              <a:cs typeface="Garamond"/>
            </a:endParaRPr>
          </a:p>
          <a:p>
            <a:pPr marL="50800" marR="50165">
              <a:lnSpc>
                <a:spcPts val="1220"/>
              </a:lnSpc>
            </a:pPr>
            <a:r>
              <a:rPr dirty="0" sz="1150" spc="-30" b="1" i="1">
                <a:latin typeface="Garamond"/>
                <a:cs typeface="Garamond"/>
              </a:rPr>
              <a:t>“An</a:t>
            </a:r>
            <a:r>
              <a:rPr dirty="0" sz="1150" spc="-25" b="1" i="1">
                <a:latin typeface="Garamond"/>
                <a:cs typeface="Garamond"/>
              </a:rPr>
              <a:t> investment</a:t>
            </a:r>
            <a:r>
              <a:rPr dirty="0" sz="1150" spc="-20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should</a:t>
            </a:r>
            <a:r>
              <a:rPr dirty="0" sz="1150" spc="-25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be</a:t>
            </a:r>
            <a:r>
              <a:rPr dirty="0" sz="1150" spc="-15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accepted</a:t>
            </a:r>
            <a:r>
              <a:rPr dirty="0" sz="1150" spc="-25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if </a:t>
            </a:r>
            <a:r>
              <a:rPr dirty="0" sz="1150" spc="-15" b="1" i="1">
                <a:latin typeface="Garamond"/>
                <a:cs typeface="Garamond"/>
              </a:rPr>
              <a:t>the</a:t>
            </a:r>
            <a:r>
              <a:rPr dirty="0" sz="1150" spc="-10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net</a:t>
            </a:r>
            <a:r>
              <a:rPr dirty="0" sz="1150" spc="-25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present</a:t>
            </a:r>
            <a:r>
              <a:rPr dirty="0" sz="1150" spc="-25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value</a:t>
            </a:r>
            <a:r>
              <a:rPr dirty="0" sz="1150" spc="-25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is</a:t>
            </a:r>
            <a:r>
              <a:rPr dirty="0" sz="1150" spc="-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positive</a:t>
            </a:r>
            <a:r>
              <a:rPr dirty="0" sz="1150" spc="-20" b="1" i="1">
                <a:latin typeface="Garamond"/>
                <a:cs typeface="Garamond"/>
              </a:rPr>
              <a:t> and rejected</a:t>
            </a:r>
            <a:r>
              <a:rPr dirty="0" sz="1150" spc="-15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if it</a:t>
            </a:r>
            <a:r>
              <a:rPr dirty="0" sz="1150" spc="-5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is </a:t>
            </a:r>
            <a:r>
              <a:rPr dirty="0" sz="1150" spc="-275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negative.”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Garamond"/>
              <a:cs typeface="Garamond"/>
            </a:endParaRPr>
          </a:p>
          <a:p>
            <a:pPr marL="508000" marR="43180" indent="-228600">
              <a:lnSpc>
                <a:spcPts val="1230"/>
              </a:lnSpc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unlikely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indifferent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ts val="1290"/>
              </a:lnSpc>
              <a:spcBef>
                <a:spcPts val="5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10">
                <a:latin typeface="Garamond"/>
                <a:cs typeface="Garamond"/>
              </a:rPr>
              <a:t>Two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comments</a:t>
            </a:r>
            <a:endParaRPr sz="1100">
              <a:latin typeface="Garamond"/>
              <a:cs typeface="Garamond"/>
            </a:endParaRPr>
          </a:p>
          <a:p>
            <a:pPr lvl="1" marL="737235" marR="49530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736600" algn="l"/>
                <a:tab pos="7378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task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 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much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process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itself.</a:t>
            </a:r>
            <a:endParaRPr sz="1100">
              <a:latin typeface="Garamond"/>
              <a:cs typeface="Garamond"/>
            </a:endParaRPr>
          </a:p>
          <a:p>
            <a:pPr lvl="1" marL="737235" indent="-229870">
              <a:lnSpc>
                <a:spcPts val="1175"/>
              </a:lnSpc>
              <a:buFont typeface="Courier New"/>
              <a:buChar char="o"/>
              <a:tabLst>
                <a:tab pos="736600" algn="l"/>
                <a:tab pos="7378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process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only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figure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NPV.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endParaRPr sz="1100">
              <a:latin typeface="Garamond"/>
              <a:cs typeface="Garamond"/>
            </a:endParaRPr>
          </a:p>
          <a:p>
            <a:pPr marL="737235">
              <a:lnSpc>
                <a:spcPts val="1290"/>
              </a:lnSpc>
            </a:pPr>
            <a:r>
              <a:rPr dirty="0" sz="1100" spc="-5">
                <a:latin typeface="Garamond"/>
                <a:cs typeface="Garamond"/>
              </a:rPr>
              <a:t>true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found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putting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it.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asked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decide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whether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product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launched.</a:t>
            </a:r>
            <a:endParaRPr sz="1100">
              <a:latin typeface="Garamond"/>
              <a:cs typeface="Garamond"/>
            </a:endParaRPr>
          </a:p>
          <a:p>
            <a:pPr marL="508000" marR="4508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-5">
                <a:latin typeface="Garamond"/>
                <a:cs typeface="Garamond"/>
              </a:rPr>
              <a:t>Based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expect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5-year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life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project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$2,000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$4,000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next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$5,000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last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>
                <a:latin typeface="Garamond"/>
                <a:cs typeface="Garamond"/>
              </a:rPr>
              <a:t> would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begin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production.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 </a:t>
            </a:r>
            <a:r>
              <a:rPr dirty="0" sz="1100" spc="-10">
                <a:latin typeface="Garamond"/>
                <a:cs typeface="Garamond"/>
              </a:rPr>
              <a:t>should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do?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present: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150">
              <a:latin typeface="Garamond"/>
              <a:cs typeface="Garamond"/>
            </a:endParaRPr>
          </a:p>
          <a:p>
            <a:pPr marL="1423035" marR="474345">
              <a:lnSpc>
                <a:spcPts val="1220"/>
              </a:lnSpc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10">
                <a:latin typeface="Garamond"/>
                <a:cs typeface="Garamond"/>
              </a:rPr>
              <a:t> 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$2,000/1.1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2,000/1.1</a:t>
            </a:r>
            <a:r>
              <a:rPr dirty="0" baseline="21367" sz="975">
                <a:latin typeface="Garamond"/>
                <a:cs typeface="Garamond"/>
              </a:rPr>
              <a:t>2</a:t>
            </a:r>
            <a:r>
              <a:rPr dirty="0" baseline="21367" sz="975" spc="14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4,000/1.1</a:t>
            </a:r>
            <a:r>
              <a:rPr dirty="0" baseline="21367" sz="975">
                <a:latin typeface="Garamond"/>
                <a:cs typeface="Garamond"/>
              </a:rPr>
              <a:t>3</a:t>
            </a:r>
            <a:r>
              <a:rPr dirty="0" baseline="21367" sz="975" spc="14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4,000/1.1</a:t>
            </a:r>
            <a:r>
              <a:rPr dirty="0" baseline="21367" sz="975" spc="7">
                <a:latin typeface="Garamond"/>
                <a:cs typeface="Garamond"/>
              </a:rPr>
              <a:t>4</a:t>
            </a:r>
            <a:r>
              <a:rPr dirty="0" baseline="21367" sz="975" spc="14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5,000/1.1</a:t>
            </a:r>
            <a:r>
              <a:rPr dirty="0" baseline="21367" sz="975">
                <a:latin typeface="Garamond"/>
                <a:cs typeface="Garamond"/>
              </a:rPr>
              <a:t>5 </a:t>
            </a:r>
            <a:r>
              <a:rPr dirty="0" baseline="21367" sz="975" spc="-2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$1,818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1,653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3,005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2,732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3,105</a:t>
            </a:r>
            <a:endParaRPr sz="1100">
              <a:latin typeface="Garamond"/>
              <a:cs typeface="Garamond"/>
            </a:endParaRPr>
          </a:p>
          <a:p>
            <a:pPr marL="1423035">
              <a:lnSpc>
                <a:spcPts val="1205"/>
              </a:lnSpc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$12,313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08000" marR="41910" indent="-228600">
              <a:lnSpc>
                <a:spcPts val="1260"/>
              </a:lnSpc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$12,313,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but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getting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those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$12,313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$2,313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based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NPV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project.</a:t>
            </a:r>
            <a:endParaRPr sz="11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  <a:spcBef>
                <a:spcPts val="1160"/>
              </a:spcBef>
            </a:pPr>
            <a:r>
              <a:rPr dirty="0" sz="1100" b="1">
                <a:latin typeface="Garamond"/>
                <a:cs typeface="Garamond"/>
              </a:rPr>
              <a:t>The </a:t>
            </a:r>
            <a:r>
              <a:rPr dirty="0" sz="1100" spc="-5" b="1">
                <a:latin typeface="Garamond"/>
                <a:cs typeface="Garamond"/>
              </a:rPr>
              <a:t>Payback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Rule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150">
              <a:latin typeface="Garamond"/>
              <a:cs typeface="Garamond"/>
            </a:endParaRPr>
          </a:p>
          <a:p>
            <a:pPr marL="50800" marR="51435">
              <a:lnSpc>
                <a:spcPts val="1220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generate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cash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sufficient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recover</a:t>
            </a:r>
            <a:r>
              <a:rPr dirty="0" sz="1100">
                <a:latin typeface="Garamond"/>
                <a:cs typeface="Garamond"/>
              </a:rPr>
              <a:t> its</a:t>
            </a:r>
            <a:r>
              <a:rPr dirty="0" sz="1100" spc="-5">
                <a:latin typeface="Garamond"/>
                <a:cs typeface="Garamond"/>
              </a:rPr>
              <a:t> initial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508" y="7401814"/>
            <a:ext cx="5439410" cy="2185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investment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itself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back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exactly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5">
                <a:latin typeface="Garamond"/>
                <a:cs typeface="Garamond"/>
              </a:rPr>
              <a:t> payback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marL="12700" marR="10160">
              <a:lnSpc>
                <a:spcPts val="1260"/>
              </a:lnSpc>
              <a:spcBef>
                <a:spcPts val="1255"/>
              </a:spcBef>
            </a:pPr>
            <a:r>
              <a:rPr dirty="0" sz="1150" spc="-30" b="1" i="1">
                <a:latin typeface="Garamond"/>
                <a:cs typeface="Garamond"/>
              </a:rPr>
              <a:t>“An</a:t>
            </a:r>
            <a:r>
              <a:rPr dirty="0" sz="1150" spc="10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investment</a:t>
            </a:r>
            <a:r>
              <a:rPr dirty="0" sz="1150" spc="125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is</a:t>
            </a:r>
            <a:r>
              <a:rPr dirty="0" sz="1150" spc="114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acceptable</a:t>
            </a:r>
            <a:r>
              <a:rPr dirty="0" sz="1150" spc="130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if</a:t>
            </a:r>
            <a:r>
              <a:rPr dirty="0" sz="1150" spc="95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its</a:t>
            </a:r>
            <a:r>
              <a:rPr dirty="0" sz="1150" spc="120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calculated</a:t>
            </a:r>
            <a:r>
              <a:rPr dirty="0" sz="1150" spc="10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payback</a:t>
            </a:r>
            <a:r>
              <a:rPr dirty="0" sz="1150" spc="100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period</a:t>
            </a:r>
            <a:r>
              <a:rPr dirty="0" sz="1150" spc="105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is</a:t>
            </a:r>
            <a:r>
              <a:rPr dirty="0" sz="1150" spc="120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less</a:t>
            </a:r>
            <a:r>
              <a:rPr dirty="0" sz="1150" spc="114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than</a:t>
            </a:r>
            <a:r>
              <a:rPr dirty="0" sz="1150" spc="110" b="1" i="1">
                <a:latin typeface="Garamond"/>
                <a:cs typeface="Garamond"/>
              </a:rPr>
              <a:t> </a:t>
            </a:r>
            <a:r>
              <a:rPr dirty="0" sz="1150" spc="-35" b="1" i="1">
                <a:latin typeface="Garamond"/>
                <a:cs typeface="Garamond"/>
              </a:rPr>
              <a:t>some</a:t>
            </a:r>
            <a:r>
              <a:rPr dirty="0" sz="1150" spc="12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specified </a:t>
            </a:r>
            <a:r>
              <a:rPr dirty="0" sz="1150" spc="-270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number</a:t>
            </a:r>
            <a:r>
              <a:rPr dirty="0" sz="1150" spc="5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of</a:t>
            </a:r>
            <a:r>
              <a:rPr dirty="0" sz="1150" spc="-50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years.”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initial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$60,000,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$20,000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year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marL="241300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$90,000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second.</a:t>
            </a:r>
            <a:endParaRPr sz="1100">
              <a:latin typeface="Garamond"/>
              <a:cs typeface="Garamond"/>
            </a:endParaRPr>
          </a:p>
          <a:p>
            <a:pPr marL="241300" marR="6985" indent="-228600">
              <a:lnSpc>
                <a:spcPts val="1230"/>
              </a:lnSpc>
              <a:spcBef>
                <a:spcPts val="20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years</a:t>
            </a:r>
            <a:r>
              <a:rPr dirty="0" sz="1100">
                <a:latin typeface="Garamond"/>
                <a:cs typeface="Garamond"/>
              </a:rPr>
              <a:t> are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$110,000,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back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sometime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After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5">
                <a:latin typeface="Garamond"/>
                <a:cs typeface="Garamond"/>
              </a:rPr>
              <a:t>project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paid</a:t>
            </a:r>
            <a:r>
              <a:rPr dirty="0" sz="1100">
                <a:latin typeface="Garamond"/>
                <a:cs typeface="Garamond"/>
              </a:rPr>
              <a:t> back</a:t>
            </a:r>
            <a:r>
              <a:rPr dirty="0" sz="1100" spc="-5">
                <a:latin typeface="Garamond"/>
                <a:cs typeface="Garamond"/>
              </a:rPr>
              <a:t> $20,000,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leaving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$40,000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recovered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Note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$40,000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$40,000/90,000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4/9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second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8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Spreading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365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days:</a:t>
            </a:r>
            <a:endParaRPr sz="1100">
              <a:latin typeface="Garamond"/>
              <a:cs typeface="Garamond"/>
            </a:endParaRPr>
          </a:p>
          <a:p>
            <a:pPr marL="698500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4/9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365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162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(approx.)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8296" y="6637615"/>
            <a:ext cx="4968310" cy="58312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861338"/>
            <a:ext cx="3769995" cy="69850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means,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months.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Projected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are: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ct val="100000"/>
              </a:lnSpc>
              <a:spcBef>
                <a:spcPts val="1165"/>
              </a:spcBef>
              <a:tabLst>
                <a:tab pos="1842135" algn="l"/>
              </a:tabLst>
            </a:pPr>
            <a:r>
              <a:rPr dirty="0" u="sng" sz="1100" spc="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Year	Cash</a:t>
            </a:r>
            <a:r>
              <a:rPr dirty="0" u="sng" sz="1100" spc="-5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Flow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103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729358" y="1551839"/>
          <a:ext cx="1653539" cy="475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0885"/>
                <a:gridCol w="922654"/>
              </a:tblGrid>
              <a:tr h="159861">
                <a:tc>
                  <a:txBody>
                    <a:bodyPr/>
                    <a:lstStyle/>
                    <a:p>
                      <a:pPr marL="31750">
                        <a:lnSpc>
                          <a:spcPts val="116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6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860">
                <a:tc>
                  <a:txBody>
                    <a:bodyPr/>
                    <a:lstStyle/>
                    <a:p>
                      <a:pPr marL="3175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448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5508" y="2169032"/>
            <a:ext cx="5443855" cy="19069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 </a:t>
            </a:r>
            <a:r>
              <a:rPr dirty="0" sz="1100">
                <a:latin typeface="Garamond"/>
                <a:cs typeface="Garamond"/>
              </a:rPr>
              <a:t>$500.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payback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investment?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After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 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$300.</a:t>
            </a:r>
            <a:endParaRPr sz="1100">
              <a:latin typeface="Garamond"/>
              <a:cs typeface="Garamond"/>
            </a:endParaRPr>
          </a:p>
          <a:p>
            <a:pPr marL="240665" marR="1206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After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3rd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$800,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back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sometimes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between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end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3.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Out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3rd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cover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$200,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wait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$200/500</a:t>
            </a:r>
            <a:endParaRPr sz="1100">
              <a:latin typeface="Garamond"/>
              <a:cs typeface="Garamond"/>
            </a:endParaRPr>
          </a:p>
          <a:p>
            <a:pPr marL="24066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0.40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this.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payback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2.4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about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5">
                <a:latin typeface="Garamond"/>
                <a:cs typeface="Garamond"/>
              </a:rPr>
              <a:t> years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months.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Garamond"/>
                <a:cs typeface="Garamond"/>
              </a:rPr>
              <a:t>Based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method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calculating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payback,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decisions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Decide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cutoff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30"/>
              </a:lnSpc>
              <a:spcBef>
                <a:spcPts val="20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Accept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projects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two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reject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those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having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payback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697101" y="4230877"/>
          <a:ext cx="4634230" cy="1139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3735"/>
                <a:gridCol w="847090"/>
                <a:gridCol w="822960"/>
                <a:gridCol w="822960"/>
                <a:gridCol w="659129"/>
                <a:gridCol w="791845"/>
              </a:tblGrid>
              <a:tr h="196596">
                <a:tc>
                  <a:txBody>
                    <a:bodyPr/>
                    <a:lstStyle/>
                    <a:p>
                      <a:pPr algn="ctr" marR="1593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33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52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B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552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C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08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096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939">
                <a:tc>
                  <a:txBody>
                    <a:bodyPr/>
                    <a:lstStyle/>
                    <a:p>
                      <a:pPr algn="ctr" marR="1600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5272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5272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25272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ctr" marR="16002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25082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R="16002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25082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-50,000,000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R="16002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25082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5146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552">
                <a:tc>
                  <a:txBody>
                    <a:bodyPr/>
                    <a:lstStyle/>
                    <a:p>
                      <a:pPr algn="ctr" marR="16002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082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52729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405508" y="5508116"/>
            <a:ext cx="5440680" cy="38366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2.6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Project </a:t>
            </a: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never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back.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payback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10">
                <a:latin typeface="Garamond"/>
                <a:cs typeface="Garamond"/>
              </a:rPr>
              <a:t> 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periods;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>
                <a:latin typeface="Garamond"/>
                <a:cs typeface="Garamond"/>
              </a:rPr>
              <a:t> (both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correct).</a:t>
            </a:r>
            <a:endParaRPr sz="1100">
              <a:latin typeface="Garamond"/>
              <a:cs typeface="Garamond"/>
            </a:endParaRPr>
          </a:p>
          <a:p>
            <a:pPr marL="240665" marR="825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E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unrealistic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back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6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months,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thereby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illustrating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rapid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payback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does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guarantee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good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Compared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rule</a:t>
            </a:r>
            <a:r>
              <a:rPr dirty="0" sz="1100">
                <a:latin typeface="Garamond"/>
                <a:cs typeface="Garamond"/>
              </a:rPr>
              <a:t> has</a:t>
            </a:r>
            <a:r>
              <a:rPr dirty="0" sz="1100" spc="-5">
                <a:latin typeface="Garamond"/>
                <a:cs typeface="Garamond"/>
              </a:rPr>
              <a:t> some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shortcomings.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ignored.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fails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consider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differences.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doesn’t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provide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 </a:t>
            </a:r>
            <a:r>
              <a:rPr dirty="0" sz="1100">
                <a:latin typeface="Garamond"/>
                <a:cs typeface="Garamond"/>
              </a:rPr>
              <a:t>objective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particular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5">
                <a:latin typeface="Garamond"/>
                <a:cs typeface="Garamond"/>
              </a:rPr>
              <a:t>cutoff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Primary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shortcomings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rule: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ignoring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5">
                <a:latin typeface="Garamond"/>
                <a:cs typeface="Garamond"/>
              </a:rPr>
              <a:t> 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investments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worth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they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ignoring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beyond </a:t>
            </a:r>
            <a:r>
              <a:rPr dirty="0" sz="1100">
                <a:latin typeface="Garamond"/>
                <a:cs typeface="Garamond"/>
              </a:rPr>
              <a:t>cutoff,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reject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profitable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Generally,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tends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bias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 </a:t>
            </a:r>
            <a:r>
              <a:rPr dirty="0" sz="1100" spc="-10">
                <a:latin typeface="Garamond"/>
                <a:cs typeface="Garamond"/>
              </a:rPr>
              <a:t>towards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investments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Qualities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rule:</a:t>
            </a:r>
            <a:endParaRPr sz="1100">
              <a:latin typeface="Garamond"/>
              <a:cs typeface="Garamond"/>
            </a:endParaRPr>
          </a:p>
          <a:p>
            <a:pPr marL="240665" marR="6350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Simple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easy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calculate,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useful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small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decisions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Its </a:t>
            </a:r>
            <a:r>
              <a:rPr dirty="0" sz="1100">
                <a:latin typeface="Garamond"/>
                <a:cs typeface="Garamond"/>
              </a:rPr>
              <a:t>biasness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towards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projects,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emphasizes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liquidity,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i.e. </a:t>
            </a:r>
            <a:r>
              <a:rPr dirty="0" sz="1100" spc="-5">
                <a:latin typeface="Garamond"/>
                <a:cs typeface="Garamond"/>
              </a:rPr>
              <a:t>quickly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freeing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up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uses</a:t>
            </a:r>
            <a:endParaRPr sz="1100">
              <a:latin typeface="Garamond"/>
              <a:cs typeface="Garamond"/>
            </a:endParaRPr>
          </a:p>
          <a:p>
            <a:pPr marL="240665" marR="825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adjusts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uncertain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expected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later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part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project’s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life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(though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ignoring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them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altogether)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Consider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investments: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206750" y="750061"/>
          <a:ext cx="1615440" cy="1134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825"/>
                <a:gridCol w="547369"/>
                <a:gridCol w="549910"/>
              </a:tblGrid>
              <a:tr h="196596">
                <a:tc>
                  <a:txBody>
                    <a:bodyPr/>
                    <a:lstStyle/>
                    <a:p>
                      <a:pPr algn="ctr" marL="1270">
                        <a:lnSpc>
                          <a:spcPts val="123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Long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Short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2842">
                <a:tc>
                  <a:txBody>
                    <a:bodyPr/>
                    <a:lstStyle/>
                    <a:p>
                      <a:pPr algn="ctr" marL="1270">
                        <a:lnSpc>
                          <a:spcPts val="119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19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-$250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-$250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7141"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104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00429" y="1867280"/>
            <a:ext cx="5815330" cy="61785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46100" indent="-22923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payback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1461135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2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-5">
                <a:latin typeface="Garamond"/>
                <a:cs typeface="Garamond"/>
              </a:rPr>
              <a:t>$50/100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2.5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payback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1461135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$150/200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1.75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cutoff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accepted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long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right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decisions?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Suppose,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15%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kind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investment;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546100" marR="2216150">
              <a:lnSpc>
                <a:spcPts val="1220"/>
              </a:lnSpc>
            </a:pPr>
            <a:r>
              <a:rPr dirty="0" sz="1100">
                <a:latin typeface="Garamond"/>
                <a:cs typeface="Garamond"/>
              </a:rPr>
              <a:t>NPV (Short)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>
                <a:latin typeface="Garamond"/>
                <a:cs typeface="Garamond"/>
              </a:rPr>
              <a:t>-$250 </a:t>
            </a:r>
            <a:r>
              <a:rPr dirty="0" sz="1100" spc="-5">
                <a:latin typeface="Garamond"/>
                <a:cs typeface="Garamond"/>
              </a:rPr>
              <a:t>+100/1.15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5">
                <a:latin typeface="Garamond"/>
                <a:cs typeface="Garamond"/>
              </a:rPr>
              <a:t>200/1.15</a:t>
            </a:r>
            <a:r>
              <a:rPr dirty="0" baseline="21367" sz="975" spc="7">
                <a:latin typeface="Garamond"/>
                <a:cs typeface="Garamond"/>
              </a:rPr>
              <a:t>2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>
                <a:latin typeface="Garamond"/>
                <a:cs typeface="Garamond"/>
              </a:rPr>
              <a:t>-$11.81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(Long)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-$250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1/1.15</a:t>
            </a:r>
            <a:r>
              <a:rPr dirty="0" baseline="21367" sz="975">
                <a:latin typeface="Garamond"/>
                <a:cs typeface="Garamond"/>
              </a:rPr>
              <a:t>4</a:t>
            </a:r>
            <a:r>
              <a:rPr dirty="0" sz="1100">
                <a:latin typeface="Garamond"/>
                <a:cs typeface="Garamond"/>
              </a:rPr>
              <a:t>)/.15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$35.5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Garamond"/>
              <a:cs typeface="Garamond"/>
            </a:endParaRPr>
          </a:p>
          <a:p>
            <a:pPr marL="546100" marR="81280" indent="-228600">
              <a:lnSpc>
                <a:spcPts val="126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can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shorter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negative,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would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diminish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shareholders’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equity.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Longer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 marL="889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Summary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break-even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measure;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sense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economic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sense.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Does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focus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right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impact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stock.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Simplicity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helpful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decisions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investments.</a:t>
            </a:r>
            <a:endParaRPr sz="1100">
              <a:latin typeface="Garamond"/>
              <a:cs typeface="Garamond"/>
            </a:endParaRPr>
          </a:p>
          <a:p>
            <a:pPr marL="889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Advantages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Easy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understand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Adjusts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uncertainty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later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-5">
                <a:latin typeface="Garamond"/>
                <a:cs typeface="Garamond"/>
              </a:rPr>
              <a:t>Biased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towards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liquidity</a:t>
            </a:r>
            <a:endParaRPr sz="1100">
              <a:latin typeface="Garamond"/>
              <a:cs typeface="Garamond"/>
            </a:endParaRPr>
          </a:p>
          <a:p>
            <a:pPr marL="889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Disadvantages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Ignores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>
                <a:latin typeface="Garamond"/>
                <a:cs typeface="Garamond"/>
              </a:rPr>
              <a:t>Requires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arbitrary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cutoff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point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Ignores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beyond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cutoff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date</a:t>
            </a:r>
            <a:endParaRPr sz="1100">
              <a:latin typeface="Garamond"/>
              <a:cs typeface="Garamond"/>
            </a:endParaRPr>
          </a:p>
          <a:p>
            <a:pPr marL="546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46100" algn="l"/>
                <a:tab pos="546735" algn="l"/>
              </a:tabLst>
            </a:pPr>
            <a:r>
              <a:rPr dirty="0" sz="1100" spc="-5">
                <a:latin typeface="Garamond"/>
                <a:cs typeface="Garamond"/>
              </a:rPr>
              <a:t>Biased </a:t>
            </a:r>
            <a:r>
              <a:rPr dirty="0" sz="1100">
                <a:latin typeface="Garamond"/>
                <a:cs typeface="Garamond"/>
              </a:rPr>
              <a:t>against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such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research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development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new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projects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51229" y="714501"/>
            <a:ext cx="5703570" cy="11391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4835525">
              <a:lnSpc>
                <a:spcPts val="1355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27</a:t>
            </a:r>
            <a:endParaRPr sz="1150">
              <a:latin typeface="Garamond"/>
              <a:cs typeface="Garamond"/>
            </a:endParaRPr>
          </a:p>
          <a:p>
            <a:pPr algn="ctr" marL="5080">
              <a:lnSpc>
                <a:spcPts val="1355"/>
              </a:lnSpc>
            </a:pPr>
            <a:r>
              <a:rPr dirty="0" sz="1150" spc="30" b="1">
                <a:latin typeface="Garamond"/>
                <a:cs typeface="Garamond"/>
              </a:rPr>
              <a:t>AVERAGE</a:t>
            </a:r>
            <a:r>
              <a:rPr dirty="0" sz="1150" spc="-4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ACCOUNTING</a:t>
            </a:r>
            <a:r>
              <a:rPr dirty="0" sz="1150" spc="1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RETURN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defined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 marL="1035050">
              <a:lnSpc>
                <a:spcPct val="100000"/>
              </a:lnSpc>
              <a:spcBef>
                <a:spcPts val="910"/>
              </a:spcBef>
            </a:pPr>
            <a:r>
              <a:rPr dirty="0" baseline="-32828" sz="1650" spc="7">
                <a:latin typeface="Garamond"/>
                <a:cs typeface="Garamond"/>
              </a:rPr>
              <a:t>AAR</a:t>
            </a:r>
            <a:r>
              <a:rPr dirty="0" baseline="-32828" sz="1650" spc="-60">
                <a:latin typeface="Garamond"/>
                <a:cs typeface="Garamond"/>
              </a:rPr>
              <a:t> </a:t>
            </a:r>
            <a:r>
              <a:rPr dirty="0" baseline="-32828" sz="1650" spc="15">
                <a:latin typeface="Garamond"/>
                <a:cs typeface="Garamond"/>
              </a:rPr>
              <a:t>=</a:t>
            </a:r>
            <a:r>
              <a:rPr dirty="0" baseline="-32828" sz="1650" spc="359">
                <a:latin typeface="Garamond"/>
                <a:cs typeface="Garamond"/>
              </a:rPr>
              <a:t> </a:t>
            </a:r>
            <a:r>
              <a:rPr dirty="0" sz="800" spc="40">
                <a:latin typeface="Cambria Math"/>
                <a:cs typeface="Cambria Math"/>
              </a:rPr>
              <a:t>𝑆𝑜𝑚𝑒</a:t>
            </a:r>
            <a:r>
              <a:rPr dirty="0" sz="800" spc="85">
                <a:latin typeface="Cambria Math"/>
                <a:cs typeface="Cambria Math"/>
              </a:rPr>
              <a:t> </a:t>
            </a:r>
            <a:r>
              <a:rPr dirty="0" sz="800" spc="30">
                <a:latin typeface="Cambria Math"/>
                <a:cs typeface="Cambria Math"/>
              </a:rPr>
              <a:t>𝑀𝑒𝑎𝑠𝑢𝑟𝑒</a:t>
            </a:r>
            <a:r>
              <a:rPr dirty="0" sz="800" spc="45">
                <a:latin typeface="Cambria Math"/>
                <a:cs typeface="Cambria Math"/>
              </a:rPr>
              <a:t> </a:t>
            </a:r>
            <a:r>
              <a:rPr dirty="0" sz="800" spc="135">
                <a:latin typeface="Cambria Math"/>
                <a:cs typeface="Cambria Math"/>
              </a:rPr>
              <a:t>𝑜ƒ</a:t>
            </a:r>
            <a:r>
              <a:rPr dirty="0" sz="800" spc="30">
                <a:latin typeface="Cambria Math"/>
                <a:cs typeface="Cambria Math"/>
              </a:rPr>
              <a:t> </a:t>
            </a:r>
            <a:r>
              <a:rPr dirty="0" sz="800" spc="45">
                <a:latin typeface="Cambria Math"/>
                <a:cs typeface="Cambria Math"/>
              </a:rPr>
              <a:t>𝐴𝑣𝑒𝑟𝑎g𝑒</a:t>
            </a:r>
            <a:r>
              <a:rPr dirty="0" sz="800" spc="10">
                <a:latin typeface="Cambria Math"/>
                <a:cs typeface="Cambria Math"/>
              </a:rPr>
              <a:t> </a:t>
            </a:r>
            <a:r>
              <a:rPr dirty="0" sz="800" spc="45">
                <a:latin typeface="Cambria Math"/>
                <a:cs typeface="Cambria Math"/>
              </a:rPr>
              <a:t>𝐴𝑐𝑐𝑜𝑢𝑛𝑡i𝑛g</a:t>
            </a:r>
            <a:r>
              <a:rPr dirty="0" sz="800" spc="65">
                <a:latin typeface="Cambria Math"/>
                <a:cs typeface="Cambria Math"/>
              </a:rPr>
              <a:t> 𝑃𝑟𝑜ƒi𝑡</a:t>
            </a:r>
            <a:endParaRPr sz="800">
              <a:latin typeface="Cambria Math"/>
              <a:cs typeface="Cambria Math"/>
            </a:endParaRPr>
          </a:p>
          <a:p>
            <a:pPr marL="1474470">
              <a:lnSpc>
                <a:spcPct val="100000"/>
              </a:lnSpc>
              <a:spcBef>
                <a:spcPts val="204"/>
              </a:spcBef>
            </a:pPr>
            <a:r>
              <a:rPr dirty="0" sz="800" spc="40">
                <a:latin typeface="Cambria Math"/>
                <a:cs typeface="Cambria Math"/>
              </a:rPr>
              <a:t>𝑆𝑜𝑚𝑒</a:t>
            </a:r>
            <a:r>
              <a:rPr dirty="0" sz="800" spc="35">
                <a:latin typeface="Cambria Math"/>
                <a:cs typeface="Cambria Math"/>
              </a:rPr>
              <a:t> </a:t>
            </a:r>
            <a:r>
              <a:rPr dirty="0" sz="800" spc="30">
                <a:latin typeface="Cambria Math"/>
                <a:cs typeface="Cambria Math"/>
              </a:rPr>
              <a:t>𝑀𝑒𝑎𝑠𝑢𝑟𝑒𝑠</a:t>
            </a:r>
            <a:r>
              <a:rPr dirty="0" sz="800" spc="55">
                <a:latin typeface="Cambria Math"/>
                <a:cs typeface="Cambria Math"/>
              </a:rPr>
              <a:t> </a:t>
            </a:r>
            <a:r>
              <a:rPr dirty="0" sz="800" spc="135">
                <a:latin typeface="Cambria Math"/>
                <a:cs typeface="Cambria Math"/>
              </a:rPr>
              <a:t>𝑜ƒ</a:t>
            </a:r>
            <a:r>
              <a:rPr dirty="0" sz="800" spc="25">
                <a:latin typeface="Cambria Math"/>
                <a:cs typeface="Cambria Math"/>
              </a:rPr>
              <a:t> </a:t>
            </a:r>
            <a:r>
              <a:rPr dirty="0" sz="800" spc="45">
                <a:latin typeface="Cambria Math"/>
                <a:cs typeface="Cambria Math"/>
              </a:rPr>
              <a:t>𝐴𝑣𝑒𝑟𝑒𝑎g𝑒</a:t>
            </a:r>
            <a:r>
              <a:rPr dirty="0" sz="800" spc="5">
                <a:latin typeface="Cambria Math"/>
                <a:cs typeface="Cambria Math"/>
              </a:rPr>
              <a:t> </a:t>
            </a:r>
            <a:r>
              <a:rPr dirty="0" sz="800" spc="45">
                <a:latin typeface="Cambria Math"/>
                <a:cs typeface="Cambria Math"/>
              </a:rPr>
              <a:t>𝐴𝑐𝑐𝑜𝑢𝑛𝑡i𝑛g</a:t>
            </a:r>
            <a:r>
              <a:rPr dirty="0" sz="800" spc="55">
                <a:latin typeface="Cambria Math"/>
                <a:cs typeface="Cambria Math"/>
              </a:rPr>
              <a:t> </a:t>
            </a:r>
            <a:r>
              <a:rPr dirty="0" sz="800" spc="30">
                <a:latin typeface="Cambria Math"/>
                <a:cs typeface="Cambria Math"/>
              </a:rPr>
              <a:t>𝑉𝑎𝑙𝑢𝑒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25851" y="1701418"/>
            <a:ext cx="2333625" cy="9525"/>
          </a:xfrm>
          <a:custGeom>
            <a:avLst/>
            <a:gdLst/>
            <a:ahLst/>
            <a:cxnLst/>
            <a:rect l="l" t="t" r="r" b="b"/>
            <a:pathLst>
              <a:path w="2333625" h="9525">
                <a:moveTo>
                  <a:pt x="2333244" y="0"/>
                </a:moveTo>
                <a:lnTo>
                  <a:pt x="0" y="0"/>
                </a:lnTo>
                <a:lnTo>
                  <a:pt x="0" y="9144"/>
                </a:lnTo>
                <a:lnTo>
                  <a:pt x="2333244" y="9144"/>
                </a:lnTo>
                <a:lnTo>
                  <a:pt x="23332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76629" y="1958720"/>
            <a:ext cx="65976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40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c</a:t>
            </a:r>
            <a:r>
              <a:rPr dirty="0" sz="1100" spc="20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l</a:t>
            </a:r>
            <a:r>
              <a:rPr dirty="0" sz="1100" spc="-40">
                <a:latin typeface="Garamond"/>
                <a:cs typeface="Garamond"/>
              </a:rPr>
              <a:t>l</a:t>
            </a:r>
            <a:r>
              <a:rPr dirty="0" sz="1100" spc="5">
                <a:latin typeface="Garamond"/>
                <a:cs typeface="Garamond"/>
              </a:rPr>
              <a:t>y: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48585" y="2077592"/>
            <a:ext cx="153035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32828" sz="1650" spc="7">
                <a:latin typeface="Garamond"/>
                <a:cs typeface="Garamond"/>
              </a:rPr>
              <a:t>AAR</a:t>
            </a:r>
            <a:r>
              <a:rPr dirty="0" baseline="-32828" sz="1650" spc="-82">
                <a:latin typeface="Garamond"/>
                <a:cs typeface="Garamond"/>
              </a:rPr>
              <a:t> </a:t>
            </a:r>
            <a:r>
              <a:rPr dirty="0" baseline="-32828" sz="1650" spc="15">
                <a:latin typeface="Garamond"/>
                <a:cs typeface="Garamond"/>
              </a:rPr>
              <a:t>=</a:t>
            </a:r>
            <a:r>
              <a:rPr dirty="0" baseline="-32828" sz="1650" spc="-30">
                <a:latin typeface="Garamond"/>
                <a:cs typeface="Garamond"/>
              </a:rPr>
              <a:t> </a:t>
            </a:r>
            <a:r>
              <a:rPr dirty="0" sz="800" spc="45">
                <a:latin typeface="Cambria Math"/>
                <a:cs typeface="Cambria Math"/>
              </a:rPr>
              <a:t>𝐴𝑣𝑒𝑟𝑎g𝑒</a:t>
            </a:r>
            <a:r>
              <a:rPr dirty="0" sz="800" spc="35">
                <a:latin typeface="Cambria Math"/>
                <a:cs typeface="Cambria Math"/>
              </a:rPr>
              <a:t> </a:t>
            </a:r>
            <a:r>
              <a:rPr dirty="0" sz="800" spc="25">
                <a:latin typeface="Cambria Math"/>
                <a:cs typeface="Cambria Math"/>
              </a:rPr>
              <a:t>𝑁𝑒𝑡</a:t>
            </a:r>
            <a:r>
              <a:rPr dirty="0" sz="800" spc="5">
                <a:latin typeface="Cambria Math"/>
                <a:cs typeface="Cambria Math"/>
              </a:rPr>
              <a:t> </a:t>
            </a:r>
            <a:r>
              <a:rPr dirty="0" sz="800" spc="40">
                <a:latin typeface="Cambria Math"/>
                <a:cs typeface="Cambria Math"/>
              </a:rPr>
              <a:t>𝐼𝑛𝑐𝑜𝑚𝑒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25851" y="2268600"/>
            <a:ext cx="1016000" cy="9525"/>
          </a:xfrm>
          <a:custGeom>
            <a:avLst/>
            <a:gdLst/>
            <a:ahLst/>
            <a:cxnLst/>
            <a:rect l="l" t="t" r="r" b="b"/>
            <a:pathLst>
              <a:path w="1016000" h="9525">
                <a:moveTo>
                  <a:pt x="1015593" y="0"/>
                </a:moveTo>
                <a:lnTo>
                  <a:pt x="0" y="0"/>
                </a:lnTo>
                <a:lnTo>
                  <a:pt x="0" y="9144"/>
                </a:lnTo>
                <a:lnTo>
                  <a:pt x="1015593" y="9144"/>
                </a:lnTo>
                <a:lnTo>
                  <a:pt x="10155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76629" y="2274188"/>
            <a:ext cx="5668010" cy="180593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449070">
              <a:lnSpc>
                <a:spcPct val="100000"/>
              </a:lnSpc>
              <a:spcBef>
                <a:spcPts val="90"/>
              </a:spcBef>
            </a:pPr>
            <a:r>
              <a:rPr dirty="0" sz="800" spc="45">
                <a:latin typeface="Cambria Math"/>
                <a:cs typeface="Cambria Math"/>
              </a:rPr>
              <a:t>𝐴𝑣𝑒𝑟𝑎g𝑒</a:t>
            </a:r>
            <a:r>
              <a:rPr dirty="0" sz="800" spc="25">
                <a:latin typeface="Cambria Math"/>
                <a:cs typeface="Cambria Math"/>
              </a:rPr>
              <a:t> </a:t>
            </a:r>
            <a:r>
              <a:rPr dirty="0" sz="800" spc="30">
                <a:latin typeface="Cambria Math"/>
                <a:cs typeface="Cambria Math"/>
              </a:rPr>
              <a:t>𝐵𝑜𝑜𝑘</a:t>
            </a:r>
            <a:r>
              <a:rPr dirty="0" sz="800" spc="45">
                <a:latin typeface="Cambria Math"/>
                <a:cs typeface="Cambria Math"/>
              </a:rPr>
              <a:t> </a:t>
            </a:r>
            <a:r>
              <a:rPr dirty="0" sz="800" spc="30">
                <a:latin typeface="Cambria Math"/>
                <a:cs typeface="Cambria Math"/>
              </a:rPr>
              <a:t>𝑉𝑎𝑙𝑢𝑒</a:t>
            </a:r>
            <a:endParaRPr sz="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whether</a:t>
            </a:r>
            <a:r>
              <a:rPr dirty="0" sz="1100" spc="5">
                <a:latin typeface="Garamond"/>
                <a:cs typeface="Garamond"/>
              </a:rPr>
              <a:t> 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 shopping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center.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improvements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$500,000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5-years </a:t>
            </a:r>
            <a:r>
              <a:rPr dirty="0" sz="1100" spc="-5">
                <a:latin typeface="Garamond"/>
                <a:cs typeface="Garamond"/>
              </a:rPr>
              <a:t>life,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everything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reverts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owners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shopping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center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100% </a:t>
            </a:r>
            <a:r>
              <a:rPr dirty="0" sz="1100">
                <a:latin typeface="Garamond"/>
                <a:cs typeface="Garamond"/>
              </a:rPr>
              <a:t>depreciated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i.e.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$500,000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Tax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25%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100" spc="-5" b="1">
                <a:latin typeface="Garamond"/>
                <a:cs typeface="Garamond"/>
              </a:rPr>
              <a:t>Average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Accounting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537080" y="4230877"/>
          <a:ext cx="4945380" cy="1532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5365"/>
                <a:gridCol w="861060"/>
                <a:gridCol w="784225"/>
                <a:gridCol w="784225"/>
                <a:gridCol w="786764"/>
                <a:gridCol w="712470"/>
              </a:tblGrid>
              <a:tr h="187451"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Particulars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26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1265"/>
                        </a:lnSpc>
                      </a:pPr>
                      <a:r>
                        <a:rPr dirty="0" sz="1100" spc="-15" b="1">
                          <a:latin typeface="Garamond"/>
                          <a:cs typeface="Garamond"/>
                        </a:rPr>
                        <a:t>Y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ar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ts val="1265"/>
                        </a:lnSpc>
                      </a:pPr>
                      <a:r>
                        <a:rPr dirty="0" sz="1100" spc="-15" b="1">
                          <a:latin typeface="Garamond"/>
                          <a:cs typeface="Garamond"/>
                        </a:rPr>
                        <a:t>Y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ar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1265"/>
                        </a:lnSpc>
                      </a:pPr>
                      <a:r>
                        <a:rPr dirty="0" sz="1100" spc="-15" b="1">
                          <a:latin typeface="Garamond"/>
                          <a:cs typeface="Garamond"/>
                        </a:rPr>
                        <a:t>Y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ar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1265"/>
                        </a:lnSpc>
                      </a:pPr>
                      <a:r>
                        <a:rPr dirty="0" sz="1100" spc="-15" b="1">
                          <a:latin typeface="Garamond"/>
                          <a:cs typeface="Garamond"/>
                        </a:rPr>
                        <a:t>Y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ar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93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Revenues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$433,333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$450,000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$266,667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$200,000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$133,333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8917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Expenses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573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890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74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E.B.D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233,333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573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166,667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89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33,333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872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573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890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6431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E.B.T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133,333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573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66,667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-66,667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x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25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33,333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573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16,667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-16,667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454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6364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-50,000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405508" y="5906261"/>
            <a:ext cx="133604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06598" y="5906261"/>
            <a:ext cx="2767965" cy="3556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[$100,000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150,000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+50,000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+(-50,000)]/5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$50,000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5508" y="6395465"/>
            <a:ext cx="133159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06598" y="6395465"/>
            <a:ext cx="1156970" cy="3556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($500,000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0)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$250,000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56457" y="7423352"/>
            <a:ext cx="1271905" cy="9525"/>
          </a:xfrm>
          <a:custGeom>
            <a:avLst/>
            <a:gdLst/>
            <a:ahLst/>
            <a:cxnLst/>
            <a:rect l="l" t="t" r="r" b="b"/>
            <a:pathLst>
              <a:path w="1271904" h="9525">
                <a:moveTo>
                  <a:pt x="1271905" y="0"/>
                </a:moveTo>
                <a:lnTo>
                  <a:pt x="0" y="0"/>
                </a:lnTo>
                <a:lnTo>
                  <a:pt x="0" y="9449"/>
                </a:lnTo>
                <a:lnTo>
                  <a:pt x="1271905" y="9449"/>
                </a:lnTo>
                <a:lnTo>
                  <a:pt x="12719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593082" y="7423352"/>
            <a:ext cx="530860" cy="9525"/>
          </a:xfrm>
          <a:custGeom>
            <a:avLst/>
            <a:gdLst/>
            <a:ahLst/>
            <a:cxnLst/>
            <a:rect l="l" t="t" r="r" b="b"/>
            <a:pathLst>
              <a:path w="530860" h="9525">
                <a:moveTo>
                  <a:pt x="530656" y="0"/>
                </a:moveTo>
                <a:lnTo>
                  <a:pt x="0" y="0"/>
                </a:lnTo>
                <a:lnTo>
                  <a:pt x="0" y="9449"/>
                </a:lnTo>
                <a:lnTo>
                  <a:pt x="530656" y="9449"/>
                </a:lnTo>
                <a:lnTo>
                  <a:pt x="5306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367408" y="6889495"/>
            <a:ext cx="5499735" cy="2670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794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200">
              <a:latin typeface="Garamond"/>
              <a:cs typeface="Garamond"/>
            </a:endParaRPr>
          </a:p>
          <a:p>
            <a:pPr algn="ctr" marL="9525">
              <a:lnSpc>
                <a:spcPct val="100000"/>
              </a:lnSpc>
              <a:tabLst>
                <a:tab pos="1482090" algn="l"/>
              </a:tabLst>
            </a:pPr>
            <a:r>
              <a:rPr dirty="0" sz="1000" spc="60">
                <a:latin typeface="Cambria Math"/>
                <a:cs typeface="Cambria Math"/>
              </a:rPr>
              <a:t>𝐴𝑣𝑒𝑟𝑎g𝑒</a:t>
            </a:r>
            <a:r>
              <a:rPr dirty="0" sz="1000" spc="40">
                <a:latin typeface="Cambria Math"/>
                <a:cs typeface="Cambria Math"/>
              </a:rPr>
              <a:t> </a:t>
            </a:r>
            <a:r>
              <a:rPr dirty="0" sz="1000" spc="35">
                <a:latin typeface="Cambria Math"/>
                <a:cs typeface="Cambria Math"/>
              </a:rPr>
              <a:t>𝑁𝑒𝑡</a:t>
            </a:r>
            <a:r>
              <a:rPr dirty="0" sz="1000" spc="30">
                <a:latin typeface="Cambria Math"/>
                <a:cs typeface="Cambria Math"/>
              </a:rPr>
              <a:t> </a:t>
            </a:r>
            <a:r>
              <a:rPr dirty="0" sz="1000" spc="50">
                <a:latin typeface="Cambria Math"/>
                <a:cs typeface="Cambria Math"/>
              </a:rPr>
              <a:t>𝐼𝑛𝑐𝑜𝑚𝑒	</a:t>
            </a:r>
            <a:r>
              <a:rPr dirty="0" sz="1000" spc="10">
                <a:latin typeface="Cambria Math"/>
                <a:cs typeface="Cambria Math"/>
              </a:rPr>
              <a:t>$50,000</a:t>
            </a:r>
            <a:endParaRPr sz="1000">
              <a:latin typeface="Cambria Math"/>
              <a:cs typeface="Cambria Math"/>
            </a:endParaRPr>
          </a:p>
          <a:p>
            <a:pPr algn="ctr" marR="83185">
              <a:lnSpc>
                <a:spcPct val="100000"/>
              </a:lnSpc>
              <a:spcBef>
                <a:spcPts val="250"/>
              </a:spcBef>
            </a:pP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120">
                <a:latin typeface="Garamond"/>
                <a:cs typeface="Garamond"/>
              </a:rPr>
              <a:t> </a:t>
            </a:r>
            <a:r>
              <a:rPr dirty="0" sz="1000" spc="60">
                <a:latin typeface="Cambria Math"/>
                <a:cs typeface="Cambria Math"/>
              </a:rPr>
              <a:t>𝐴𝑣𝑒𝑟𝑎g𝑒</a:t>
            </a:r>
            <a:r>
              <a:rPr dirty="0" sz="1000" spc="20">
                <a:latin typeface="Cambria Math"/>
                <a:cs typeface="Cambria Math"/>
              </a:rPr>
              <a:t> </a:t>
            </a:r>
            <a:r>
              <a:rPr dirty="0" sz="1000" spc="40">
                <a:latin typeface="Cambria Math"/>
                <a:cs typeface="Cambria Math"/>
              </a:rPr>
              <a:t>𝐵𝑜𝑜𝑘</a:t>
            </a:r>
            <a:r>
              <a:rPr dirty="0" sz="1000" spc="25">
                <a:latin typeface="Cambria Math"/>
                <a:cs typeface="Cambria Math"/>
              </a:rPr>
              <a:t> </a:t>
            </a:r>
            <a:r>
              <a:rPr dirty="0" sz="1000" spc="45">
                <a:latin typeface="Cambria Math"/>
                <a:cs typeface="Cambria Math"/>
              </a:rPr>
              <a:t>𝑉𝑎𝑙𝑢𝑒</a:t>
            </a:r>
            <a:r>
              <a:rPr dirty="0" sz="1000" spc="120">
                <a:latin typeface="Cambria Math"/>
                <a:cs typeface="Cambria Math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-37">
                <a:latin typeface="Garamond"/>
                <a:cs typeface="Garamond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$250,000</a:t>
            </a:r>
            <a:endParaRPr sz="1000">
              <a:latin typeface="Cambria Math"/>
              <a:cs typeface="Cambria Math"/>
            </a:endParaRPr>
          </a:p>
          <a:p>
            <a:pPr marL="50165" marR="30480">
              <a:lnSpc>
                <a:spcPct val="101699"/>
              </a:lnSpc>
              <a:spcBef>
                <a:spcPts val="1055"/>
              </a:spcBef>
            </a:pPr>
            <a:r>
              <a:rPr dirty="0" sz="1150" spc="-25" b="1" i="1">
                <a:latin typeface="Garamond"/>
                <a:cs typeface="Garamond"/>
              </a:rPr>
              <a:t>“A</a:t>
            </a:r>
            <a:r>
              <a:rPr dirty="0" sz="1150" spc="170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project</a:t>
            </a:r>
            <a:r>
              <a:rPr dirty="0" sz="1150" spc="190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is</a:t>
            </a:r>
            <a:r>
              <a:rPr dirty="0" sz="1150" spc="190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acceptable</a:t>
            </a:r>
            <a:r>
              <a:rPr dirty="0" sz="1150" spc="200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if</a:t>
            </a:r>
            <a:r>
              <a:rPr dirty="0" sz="1150" spc="110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its</a:t>
            </a:r>
            <a:r>
              <a:rPr dirty="0" sz="1150" spc="135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average</a:t>
            </a:r>
            <a:r>
              <a:rPr dirty="0" sz="1150" spc="200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accounting</a:t>
            </a:r>
            <a:r>
              <a:rPr dirty="0" sz="1150" spc="15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return</a:t>
            </a:r>
            <a:r>
              <a:rPr dirty="0" sz="1150" spc="140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exceeds</a:t>
            </a:r>
            <a:r>
              <a:rPr dirty="0" sz="1150" spc="185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a</a:t>
            </a:r>
            <a:r>
              <a:rPr dirty="0" sz="1150" spc="145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target</a:t>
            </a:r>
            <a:r>
              <a:rPr dirty="0" sz="1150" spc="150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average </a:t>
            </a:r>
            <a:r>
              <a:rPr dirty="0" sz="1150" spc="-275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accounting</a:t>
            </a:r>
            <a:r>
              <a:rPr dirty="0" sz="1150" b="1" i="1">
                <a:latin typeface="Garamond"/>
                <a:cs typeface="Garamond"/>
              </a:rPr>
              <a:t> </a:t>
            </a:r>
            <a:r>
              <a:rPr dirty="0" sz="1150" spc="35" b="1" i="1">
                <a:latin typeface="Garamond"/>
                <a:cs typeface="Garamond"/>
              </a:rPr>
              <a:t>return</a:t>
            </a:r>
            <a:r>
              <a:rPr dirty="0" sz="1150" spc="35" b="1" i="1">
                <a:latin typeface="Trebuchet MS"/>
                <a:cs typeface="Trebuchet MS"/>
              </a:rPr>
              <a:t>”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150">
              <a:latin typeface="Trebuchet MS"/>
              <a:cs typeface="Trebuchet MS"/>
            </a:endParaRPr>
          </a:p>
          <a:p>
            <a:pPr marL="279400" indent="-228600">
              <a:lnSpc>
                <a:spcPts val="1270"/>
              </a:lnSpc>
              <a:spcBef>
                <a:spcPts val="5"/>
              </a:spcBef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>
                <a:latin typeface="Garamond"/>
                <a:cs typeface="Garamond"/>
              </a:rPr>
              <a:t>Drawbacks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AAR</a:t>
            </a:r>
            <a:endParaRPr sz="1100">
              <a:latin typeface="Garamond"/>
              <a:cs typeface="Garamond"/>
            </a:endParaRPr>
          </a:p>
          <a:p>
            <a:pPr lvl="1" marL="508000" marR="27305" indent="-229235">
              <a:lnSpc>
                <a:spcPts val="1260"/>
              </a:lnSpc>
              <a:spcBef>
                <a:spcPts val="40"/>
              </a:spcBef>
              <a:buFont typeface="Courier New"/>
              <a:buChar char="o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any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meaningful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economic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sense,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ignores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value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endParaRPr sz="1100">
              <a:latin typeface="Garamond"/>
              <a:cs typeface="Garamond"/>
            </a:endParaRPr>
          </a:p>
          <a:p>
            <a:pPr lvl="1" marL="508000" indent="-229870">
              <a:lnSpc>
                <a:spcPts val="1145"/>
              </a:lnSpc>
              <a:buFont typeface="Courier New"/>
              <a:buChar char="o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lacks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objective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target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AAR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endParaRPr sz="1100">
              <a:latin typeface="Garamond"/>
              <a:cs typeface="Garamond"/>
            </a:endParaRPr>
          </a:p>
          <a:p>
            <a:pPr lvl="1" marL="508000" indent="-229870">
              <a:lnSpc>
                <a:spcPts val="1270"/>
              </a:lnSpc>
              <a:buFont typeface="Courier New"/>
              <a:buChar char="o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focuses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 marL="279400" indent="-228600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>
                <a:latin typeface="Garamond"/>
                <a:cs typeface="Garamond"/>
              </a:rPr>
              <a:t>Advantages</a:t>
            </a:r>
            <a:endParaRPr sz="1100">
              <a:latin typeface="Garamond"/>
              <a:cs typeface="Garamond"/>
            </a:endParaRPr>
          </a:p>
          <a:p>
            <a:pPr lvl="1" marL="508000" indent="-229870">
              <a:lnSpc>
                <a:spcPts val="1240"/>
              </a:lnSpc>
              <a:buFont typeface="Courier New"/>
              <a:buChar char="o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Easy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endParaRPr sz="1100">
              <a:latin typeface="Garamond"/>
              <a:cs typeface="Garamond"/>
            </a:endParaRPr>
          </a:p>
          <a:p>
            <a:pPr lvl="1" marL="508000" indent="-229870">
              <a:lnSpc>
                <a:spcPts val="1270"/>
              </a:lnSpc>
              <a:buFont typeface="Courier New"/>
              <a:buChar char="o"/>
              <a:tabLst>
                <a:tab pos="508000" algn="l"/>
                <a:tab pos="508634" algn="l"/>
              </a:tabLst>
            </a:pPr>
            <a:r>
              <a:rPr dirty="0" sz="1100" spc="-5">
                <a:latin typeface="Garamond"/>
                <a:cs typeface="Garamond"/>
              </a:rPr>
              <a:t>Needed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5">
                <a:latin typeface="Garamond"/>
                <a:cs typeface="Garamond"/>
              </a:rPr>
              <a:t>usually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available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64835" cy="21996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Internal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Rate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IRR,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find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single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summarizes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merits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endParaRPr sz="1100">
              <a:latin typeface="Garamond"/>
              <a:cs typeface="Garamond"/>
            </a:endParaRPr>
          </a:p>
          <a:p>
            <a:pPr marL="469900" marR="825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“internal”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sense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flows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particular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elsewhere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Consider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project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$110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Obviously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10%,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$1.10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internal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return.</a:t>
            </a:r>
            <a:endParaRPr sz="1100">
              <a:latin typeface="Garamond"/>
              <a:cs typeface="Garamond"/>
            </a:endParaRPr>
          </a:p>
          <a:p>
            <a:pPr marL="241300" marR="5080">
              <a:lnSpc>
                <a:spcPts val="1260"/>
              </a:lnSpc>
              <a:spcBef>
                <a:spcPts val="1255"/>
              </a:spcBef>
            </a:pPr>
            <a:r>
              <a:rPr dirty="0" sz="1150" spc="-25" b="1" i="1">
                <a:latin typeface="Garamond"/>
                <a:cs typeface="Garamond"/>
              </a:rPr>
              <a:t>“Based</a:t>
            </a:r>
            <a:r>
              <a:rPr dirty="0" sz="1150" spc="6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on</a:t>
            </a:r>
            <a:r>
              <a:rPr dirty="0" sz="1150" spc="35" b="1" i="1">
                <a:latin typeface="Garamond"/>
                <a:cs typeface="Garamond"/>
              </a:rPr>
              <a:t> </a:t>
            </a:r>
            <a:r>
              <a:rPr dirty="0" sz="1150" spc="-35" b="1" i="1">
                <a:latin typeface="Garamond"/>
                <a:cs typeface="Garamond"/>
              </a:rPr>
              <a:t>IRR</a:t>
            </a:r>
            <a:r>
              <a:rPr dirty="0" sz="1150" spc="45" b="1" i="1">
                <a:latin typeface="Garamond"/>
                <a:cs typeface="Garamond"/>
              </a:rPr>
              <a:t> </a:t>
            </a:r>
            <a:r>
              <a:rPr dirty="0" sz="1150" spc="-15" b="1" i="1">
                <a:latin typeface="Garamond"/>
                <a:cs typeface="Garamond"/>
              </a:rPr>
              <a:t>rule</a:t>
            </a:r>
            <a:r>
              <a:rPr dirty="0" sz="1150" spc="55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an</a:t>
            </a:r>
            <a:r>
              <a:rPr dirty="0" sz="1150" spc="30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investment</a:t>
            </a:r>
            <a:r>
              <a:rPr dirty="0" sz="1150" spc="50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is</a:t>
            </a:r>
            <a:r>
              <a:rPr dirty="0" sz="1150" spc="6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acceptable</a:t>
            </a:r>
            <a:r>
              <a:rPr dirty="0" sz="1150" spc="55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if</a:t>
            </a:r>
            <a:r>
              <a:rPr dirty="0" sz="1150" spc="20" b="1" i="1">
                <a:latin typeface="Garamond"/>
                <a:cs typeface="Garamond"/>
              </a:rPr>
              <a:t> </a:t>
            </a:r>
            <a:r>
              <a:rPr dirty="0" sz="1150" spc="-15" b="1" i="1">
                <a:latin typeface="Garamond"/>
                <a:cs typeface="Garamond"/>
              </a:rPr>
              <a:t>the</a:t>
            </a:r>
            <a:r>
              <a:rPr dirty="0" sz="1150" spc="55" b="1" i="1">
                <a:latin typeface="Garamond"/>
                <a:cs typeface="Garamond"/>
              </a:rPr>
              <a:t> </a:t>
            </a:r>
            <a:r>
              <a:rPr dirty="0" sz="1150" spc="-35" b="1" i="1">
                <a:latin typeface="Garamond"/>
                <a:cs typeface="Garamond"/>
              </a:rPr>
              <a:t>IRR</a:t>
            </a:r>
            <a:r>
              <a:rPr dirty="0" sz="1150" spc="4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exceeds</a:t>
            </a:r>
            <a:r>
              <a:rPr dirty="0" sz="1150" spc="40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the</a:t>
            </a:r>
            <a:r>
              <a:rPr dirty="0" sz="1150" spc="8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required</a:t>
            </a:r>
            <a:r>
              <a:rPr dirty="0" sz="1150" spc="35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return.</a:t>
            </a:r>
            <a:r>
              <a:rPr dirty="0" sz="1150" spc="65" b="1" i="1">
                <a:latin typeface="Garamond"/>
                <a:cs typeface="Garamond"/>
              </a:rPr>
              <a:t> </a:t>
            </a:r>
            <a:r>
              <a:rPr dirty="0" sz="1150" spc="-40" b="1" i="1">
                <a:latin typeface="Garamond"/>
                <a:cs typeface="Garamond"/>
              </a:rPr>
              <a:t>It </a:t>
            </a:r>
            <a:r>
              <a:rPr dirty="0" sz="1150" spc="-270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should</a:t>
            </a:r>
            <a:r>
              <a:rPr dirty="0" sz="1150" spc="-15" b="1" i="1">
                <a:latin typeface="Garamond"/>
                <a:cs typeface="Garamond"/>
              </a:rPr>
              <a:t> </a:t>
            </a:r>
            <a:r>
              <a:rPr dirty="0" sz="1150" spc="-40" b="1" i="1">
                <a:latin typeface="Garamond"/>
                <a:cs typeface="Garamond"/>
              </a:rPr>
              <a:t>be</a:t>
            </a:r>
            <a:r>
              <a:rPr dirty="0" sz="1150" spc="-20" b="1" i="1">
                <a:latin typeface="Garamond"/>
                <a:cs typeface="Garamond"/>
              </a:rPr>
              <a:t> rejected</a:t>
            </a:r>
            <a:r>
              <a:rPr dirty="0" sz="1150" spc="-4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otherwise”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 </a:t>
            </a:r>
            <a:r>
              <a:rPr dirty="0" sz="1100" spc="-10">
                <a:latin typeface="Garamond"/>
                <a:cs typeface="Garamond"/>
              </a:rPr>
              <a:t>example,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5">
                <a:latin typeface="Garamond"/>
                <a:cs typeface="Garamond"/>
              </a:rPr>
              <a:t> 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9144" y="3134359"/>
            <a:ext cx="66357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30626" y="3042665"/>
            <a:ext cx="78105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−$100+$110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63595" y="3239515"/>
            <a:ext cx="5175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0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-30">
                <a:latin typeface="Cambria Math"/>
                <a:cs typeface="Cambria Math"/>
              </a:rPr>
              <a:t>+</a:t>
            </a:r>
            <a:r>
              <a:rPr dirty="0" sz="1000" spc="35">
                <a:latin typeface="Cambria Math"/>
                <a:cs typeface="Cambria Math"/>
              </a:rPr>
              <a:t>𝐼</a:t>
            </a:r>
            <a:r>
              <a:rPr dirty="0" sz="1000" spc="20">
                <a:latin typeface="Cambria Math"/>
                <a:cs typeface="Cambria Math"/>
              </a:rPr>
              <a:t>𝑅</a:t>
            </a:r>
            <a:r>
              <a:rPr dirty="0" sz="1000" spc="55">
                <a:latin typeface="Cambria Math"/>
                <a:cs typeface="Cambria Math"/>
              </a:rPr>
              <a:t>𝑅</a:t>
            </a:r>
            <a:r>
              <a:rPr dirty="0" sz="1000">
                <a:latin typeface="Cambria Math"/>
                <a:cs typeface="Cambria Math"/>
              </a:rPr>
              <a:t>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43326" y="3233927"/>
            <a:ext cx="755015" cy="9525"/>
          </a:xfrm>
          <a:custGeom>
            <a:avLst/>
            <a:gdLst/>
            <a:ahLst/>
            <a:cxnLst/>
            <a:rect l="l" t="t" r="r" b="b"/>
            <a:pathLst>
              <a:path w="755014" h="9525">
                <a:moveTo>
                  <a:pt x="754989" y="0"/>
                </a:moveTo>
                <a:lnTo>
                  <a:pt x="0" y="0"/>
                </a:lnTo>
                <a:lnTo>
                  <a:pt x="0" y="9144"/>
                </a:lnTo>
                <a:lnTo>
                  <a:pt x="754989" y="9144"/>
                </a:lnTo>
                <a:lnTo>
                  <a:pt x="7549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05508" y="3554983"/>
            <a:ext cx="5445760" cy="86360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240665" marR="18415" indent="-228600">
              <a:lnSpc>
                <a:spcPts val="1220"/>
              </a:lnSpc>
              <a:spcBef>
                <a:spcPts val="24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don’t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know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represents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problem.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still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could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ask,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high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before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project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was </a:t>
            </a:r>
            <a:r>
              <a:rPr dirty="0" sz="1100" spc="-5">
                <a:latin typeface="Garamond"/>
                <a:cs typeface="Garamond"/>
              </a:rPr>
              <a:t>unacceptable.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economically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break-even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proposition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zero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neither </a:t>
            </a:r>
            <a:r>
              <a:rPr dirty="0" sz="1100" spc="-5">
                <a:latin typeface="Garamond"/>
                <a:cs typeface="Garamond"/>
              </a:rPr>
              <a:t>created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destroyed.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break-even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equal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49144" y="4639182"/>
            <a:ext cx="66357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21482" y="4547742"/>
            <a:ext cx="78105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−$100+$110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54451" y="4744338"/>
            <a:ext cx="5175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0">
                <a:latin typeface="Cambria Math"/>
                <a:cs typeface="Cambria Math"/>
              </a:rPr>
              <a:t>(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-30">
                <a:latin typeface="Cambria Math"/>
                <a:cs typeface="Cambria Math"/>
              </a:rPr>
              <a:t>+</a:t>
            </a:r>
            <a:r>
              <a:rPr dirty="0" sz="1000" spc="35">
                <a:latin typeface="Cambria Math"/>
                <a:cs typeface="Cambria Math"/>
              </a:rPr>
              <a:t>𝐼</a:t>
            </a:r>
            <a:r>
              <a:rPr dirty="0" sz="1000" spc="20">
                <a:latin typeface="Cambria Math"/>
                <a:cs typeface="Cambria Math"/>
              </a:rPr>
              <a:t>𝑅</a:t>
            </a:r>
            <a:r>
              <a:rPr dirty="0" sz="1000" spc="55">
                <a:latin typeface="Cambria Math"/>
                <a:cs typeface="Cambria Math"/>
              </a:rPr>
              <a:t>𝑅</a:t>
            </a:r>
            <a:r>
              <a:rPr dirty="0" sz="1000">
                <a:latin typeface="Cambria Math"/>
                <a:cs typeface="Cambria Math"/>
              </a:rPr>
              <a:t>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34182" y="4738750"/>
            <a:ext cx="755015" cy="9525"/>
          </a:xfrm>
          <a:custGeom>
            <a:avLst/>
            <a:gdLst/>
            <a:ahLst/>
            <a:cxnLst/>
            <a:rect l="l" t="t" r="r" b="b"/>
            <a:pathLst>
              <a:path w="755014" h="9525">
                <a:moveTo>
                  <a:pt x="754989" y="0"/>
                </a:moveTo>
                <a:lnTo>
                  <a:pt x="0" y="0"/>
                </a:lnTo>
                <a:lnTo>
                  <a:pt x="0" y="9144"/>
                </a:lnTo>
                <a:lnTo>
                  <a:pt x="754989" y="9144"/>
                </a:lnTo>
                <a:lnTo>
                  <a:pt x="7549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511044" y="4864213"/>
            <a:ext cx="955675" cy="40513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516890">
              <a:lnSpc>
                <a:spcPct val="100000"/>
              </a:lnSpc>
              <a:spcBef>
                <a:spcPts val="315"/>
              </a:spcBef>
            </a:pPr>
            <a:r>
              <a:rPr dirty="0" sz="1000" spc="15">
                <a:latin typeface="Cambria Math"/>
                <a:cs typeface="Cambria Math"/>
              </a:rPr>
              <a:t>$110</a:t>
            </a:r>
            <a:endParaRPr sz="10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250"/>
              </a:spcBef>
            </a:pPr>
            <a:r>
              <a:rPr dirty="0" baseline="35353" sz="1650" spc="7">
                <a:latin typeface="Garamond"/>
                <a:cs typeface="Garamond"/>
              </a:rPr>
              <a:t>100</a:t>
            </a:r>
            <a:r>
              <a:rPr dirty="0" baseline="35353" sz="1650" spc="-60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-52">
                <a:latin typeface="Garamond"/>
                <a:cs typeface="Garamond"/>
              </a:rPr>
              <a:t> </a:t>
            </a:r>
            <a:r>
              <a:rPr dirty="0" sz="1000" spc="10">
                <a:latin typeface="Cambria Math"/>
                <a:cs typeface="Cambria Math"/>
              </a:rPr>
              <a:t>(1+𝐼𝑅𝑅)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23285" y="5081650"/>
            <a:ext cx="494665" cy="9525"/>
          </a:xfrm>
          <a:custGeom>
            <a:avLst/>
            <a:gdLst/>
            <a:ahLst/>
            <a:cxnLst/>
            <a:rect l="l" t="t" r="r" b="b"/>
            <a:pathLst>
              <a:path w="494664" h="9525">
                <a:moveTo>
                  <a:pt x="494080" y="0"/>
                </a:moveTo>
                <a:lnTo>
                  <a:pt x="0" y="0"/>
                </a:lnTo>
                <a:lnTo>
                  <a:pt x="0" y="9144"/>
                </a:lnTo>
                <a:lnTo>
                  <a:pt x="494080" y="9144"/>
                </a:lnTo>
                <a:lnTo>
                  <a:pt x="494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523744" y="5325236"/>
            <a:ext cx="112014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Cambria Math"/>
                <a:cs typeface="Cambria Math"/>
              </a:rPr>
              <a:t>(1</a:t>
            </a:r>
            <a:r>
              <a:rPr dirty="0" sz="1100" spc="-50">
                <a:latin typeface="Cambria Math"/>
                <a:cs typeface="Cambria Math"/>
              </a:rPr>
              <a:t> </a:t>
            </a:r>
            <a:r>
              <a:rPr dirty="0" sz="1100" spc="10">
                <a:latin typeface="Cambria Math"/>
                <a:cs typeface="Cambria Math"/>
              </a:rPr>
              <a:t>+</a:t>
            </a:r>
            <a:r>
              <a:rPr dirty="0" sz="1100" spc="-10">
                <a:latin typeface="Cambria Math"/>
                <a:cs typeface="Cambria Math"/>
              </a:rPr>
              <a:t> </a:t>
            </a:r>
            <a:r>
              <a:rPr dirty="0" sz="1100" spc="5">
                <a:latin typeface="Cambria Math"/>
                <a:cs typeface="Cambria Math"/>
              </a:rPr>
              <a:t>𝐼𝑅𝑅)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baseline="47222" sz="1500" spc="22">
                <a:latin typeface="Cambria Math"/>
                <a:cs typeface="Cambria Math"/>
              </a:rPr>
              <a:t>$110</a:t>
            </a:r>
            <a:endParaRPr baseline="47222" sz="15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08350" y="5430392"/>
            <a:ext cx="30988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10</a:t>
            </a:r>
            <a:r>
              <a:rPr dirty="0" sz="1000" spc="25">
                <a:latin typeface="Cambria Math"/>
                <a:cs typeface="Cambria Math"/>
              </a:rPr>
              <a:t>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321050" y="5424804"/>
            <a:ext cx="283845" cy="9525"/>
          </a:xfrm>
          <a:custGeom>
            <a:avLst/>
            <a:gdLst/>
            <a:ahLst/>
            <a:cxnLst/>
            <a:rect l="l" t="t" r="r" b="b"/>
            <a:pathLst>
              <a:path w="283845" h="9525">
                <a:moveTo>
                  <a:pt x="283768" y="0"/>
                </a:moveTo>
                <a:lnTo>
                  <a:pt x="0" y="0"/>
                </a:lnTo>
                <a:lnTo>
                  <a:pt x="0" y="9144"/>
                </a:lnTo>
                <a:lnTo>
                  <a:pt x="283768" y="9144"/>
                </a:lnTo>
                <a:lnTo>
                  <a:pt x="2837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592195" y="5325236"/>
            <a:ext cx="37973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1</a:t>
            </a:r>
            <a:r>
              <a:rPr dirty="0" sz="1100" spc="-30">
                <a:latin typeface="Garamond"/>
                <a:cs typeface="Garamond"/>
              </a:rPr>
              <a:t>.</a:t>
            </a:r>
            <a:r>
              <a:rPr dirty="0" sz="1100" spc="-15">
                <a:latin typeface="Garamond"/>
                <a:cs typeface="Garamond"/>
              </a:rPr>
              <a:t>1</a:t>
            </a:r>
            <a:r>
              <a:rPr dirty="0" sz="1100" spc="5">
                <a:latin typeface="Garamond"/>
                <a:cs typeface="Garamond"/>
              </a:rPr>
              <a:t>0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874896" y="7857997"/>
            <a:ext cx="494665" cy="9525"/>
          </a:xfrm>
          <a:custGeom>
            <a:avLst/>
            <a:gdLst/>
            <a:ahLst/>
            <a:cxnLst/>
            <a:rect l="l" t="t" r="r" b="b"/>
            <a:pathLst>
              <a:path w="494664" h="9525">
                <a:moveTo>
                  <a:pt x="494080" y="0"/>
                </a:moveTo>
                <a:lnTo>
                  <a:pt x="0" y="0"/>
                </a:lnTo>
                <a:lnTo>
                  <a:pt x="0" y="9144"/>
                </a:lnTo>
                <a:lnTo>
                  <a:pt x="494080" y="9144"/>
                </a:lnTo>
                <a:lnTo>
                  <a:pt x="494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615941" y="7857997"/>
            <a:ext cx="558165" cy="9525"/>
          </a:xfrm>
          <a:custGeom>
            <a:avLst/>
            <a:gdLst/>
            <a:ahLst/>
            <a:cxnLst/>
            <a:rect l="l" t="t" r="r" b="b"/>
            <a:pathLst>
              <a:path w="558164" h="9525">
                <a:moveTo>
                  <a:pt x="558088" y="0"/>
                </a:moveTo>
                <a:lnTo>
                  <a:pt x="0" y="0"/>
                </a:lnTo>
                <a:lnTo>
                  <a:pt x="0" y="9144"/>
                </a:lnTo>
                <a:lnTo>
                  <a:pt x="558088" y="9144"/>
                </a:lnTo>
                <a:lnTo>
                  <a:pt x="5580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46042" y="9344532"/>
            <a:ext cx="352425" cy="9525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352348" y="0"/>
                </a:moveTo>
                <a:lnTo>
                  <a:pt x="0" y="0"/>
                </a:lnTo>
                <a:lnTo>
                  <a:pt x="0" y="9143"/>
                </a:lnTo>
                <a:lnTo>
                  <a:pt x="352348" y="9143"/>
                </a:lnTo>
                <a:lnTo>
                  <a:pt x="3523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249801" y="9344532"/>
            <a:ext cx="416559" cy="9525"/>
          </a:xfrm>
          <a:custGeom>
            <a:avLst/>
            <a:gdLst/>
            <a:ahLst/>
            <a:cxnLst/>
            <a:rect l="l" t="t" r="r" b="b"/>
            <a:pathLst>
              <a:path w="416560" h="9525">
                <a:moveTo>
                  <a:pt x="416356" y="0"/>
                </a:moveTo>
                <a:lnTo>
                  <a:pt x="0" y="0"/>
                </a:lnTo>
                <a:lnTo>
                  <a:pt x="0" y="9143"/>
                </a:lnTo>
                <a:lnTo>
                  <a:pt x="416356" y="9143"/>
                </a:lnTo>
                <a:lnTo>
                  <a:pt x="4163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354708" y="5549264"/>
            <a:ext cx="5547360" cy="3898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07135">
              <a:lnSpc>
                <a:spcPts val="127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1.10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endParaRPr sz="1100">
              <a:latin typeface="Garamond"/>
              <a:cs typeface="Garamond"/>
            </a:endParaRPr>
          </a:p>
          <a:p>
            <a:pPr marL="1207135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 </a:t>
            </a:r>
            <a:r>
              <a:rPr dirty="0" sz="1100">
                <a:latin typeface="Garamond"/>
                <a:cs typeface="Garamond"/>
              </a:rPr>
              <a:t>already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63500" marR="62230">
              <a:lnSpc>
                <a:spcPts val="1220"/>
              </a:lnSpc>
            </a:pPr>
            <a:r>
              <a:rPr dirty="0" sz="1150" spc="-30" b="1" i="1">
                <a:latin typeface="Garamond"/>
                <a:cs typeface="Garamond"/>
              </a:rPr>
              <a:t>“The</a:t>
            </a:r>
            <a:r>
              <a:rPr dirty="0" sz="1150" spc="15" b="1" i="1">
                <a:latin typeface="Garamond"/>
                <a:cs typeface="Garamond"/>
              </a:rPr>
              <a:t> </a:t>
            </a:r>
            <a:r>
              <a:rPr dirty="0" sz="1150" spc="-35" b="1" i="1">
                <a:latin typeface="Garamond"/>
                <a:cs typeface="Garamond"/>
              </a:rPr>
              <a:t>IRR</a:t>
            </a:r>
            <a:r>
              <a:rPr dirty="0" sz="1150" spc="-25" b="1" i="1">
                <a:latin typeface="Garamond"/>
                <a:cs typeface="Garamond"/>
              </a:rPr>
              <a:t> on</a:t>
            </a:r>
            <a:r>
              <a:rPr dirty="0" sz="1150" spc="-10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an</a:t>
            </a:r>
            <a:r>
              <a:rPr dirty="0" sz="1150" spc="-4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investment</a:t>
            </a:r>
            <a:r>
              <a:rPr dirty="0" sz="1150" spc="-20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is</a:t>
            </a:r>
            <a:r>
              <a:rPr dirty="0" sz="1150" spc="-35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the</a:t>
            </a:r>
            <a:r>
              <a:rPr dirty="0" sz="1150" spc="1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required</a:t>
            </a:r>
            <a:r>
              <a:rPr dirty="0" sz="1150" spc="-40" b="1" i="1">
                <a:latin typeface="Garamond"/>
                <a:cs typeface="Garamond"/>
              </a:rPr>
              <a:t> </a:t>
            </a:r>
            <a:r>
              <a:rPr dirty="0" sz="1150" spc="-15" b="1" i="1">
                <a:latin typeface="Garamond"/>
                <a:cs typeface="Garamond"/>
              </a:rPr>
              <a:t>return</a:t>
            </a:r>
            <a:r>
              <a:rPr dirty="0" sz="1150" spc="-4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that </a:t>
            </a:r>
            <a:r>
              <a:rPr dirty="0" sz="1150" spc="-20" b="1" i="1">
                <a:latin typeface="Garamond"/>
                <a:cs typeface="Garamond"/>
              </a:rPr>
              <a:t>results</a:t>
            </a:r>
            <a:r>
              <a:rPr dirty="0" sz="1150" spc="5" b="1" i="1">
                <a:latin typeface="Garamond"/>
                <a:cs typeface="Garamond"/>
              </a:rPr>
              <a:t> </a:t>
            </a:r>
            <a:r>
              <a:rPr dirty="0" sz="1150" spc="-15" b="1" i="1">
                <a:latin typeface="Garamond"/>
                <a:cs typeface="Garamond"/>
              </a:rPr>
              <a:t>in</a:t>
            </a:r>
            <a:r>
              <a:rPr dirty="0" sz="1150" spc="-45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a</a:t>
            </a:r>
            <a:r>
              <a:rPr dirty="0" sz="1150" spc="-35" b="1" i="1">
                <a:latin typeface="Garamond"/>
                <a:cs typeface="Garamond"/>
              </a:rPr>
              <a:t> </a:t>
            </a:r>
            <a:r>
              <a:rPr dirty="0" sz="1150" spc="-15" b="1" i="1">
                <a:latin typeface="Garamond"/>
                <a:cs typeface="Garamond"/>
              </a:rPr>
              <a:t>zero</a:t>
            </a:r>
            <a:r>
              <a:rPr dirty="0" sz="1150" spc="-45" b="1" i="1">
                <a:latin typeface="Garamond"/>
                <a:cs typeface="Garamond"/>
              </a:rPr>
              <a:t> NPV</a:t>
            </a:r>
            <a:r>
              <a:rPr dirty="0" sz="1150" spc="5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when</a:t>
            </a:r>
            <a:r>
              <a:rPr dirty="0" sz="1150" spc="-35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it</a:t>
            </a:r>
            <a:r>
              <a:rPr dirty="0" sz="1150" spc="-25" b="1" i="1">
                <a:latin typeface="Garamond"/>
                <a:cs typeface="Garamond"/>
              </a:rPr>
              <a:t> </a:t>
            </a:r>
            <a:r>
              <a:rPr dirty="0" sz="1150" spc="-10" b="1" i="1">
                <a:latin typeface="Garamond"/>
                <a:cs typeface="Garamond"/>
              </a:rPr>
              <a:t>is</a:t>
            </a:r>
            <a:r>
              <a:rPr dirty="0" sz="1150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used </a:t>
            </a:r>
            <a:r>
              <a:rPr dirty="0" sz="1150" spc="-270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as</a:t>
            </a:r>
            <a:r>
              <a:rPr dirty="0" sz="1150" spc="-5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the</a:t>
            </a:r>
            <a:r>
              <a:rPr dirty="0" sz="1150" spc="-20" b="1" i="1">
                <a:latin typeface="Garamond"/>
                <a:cs typeface="Garamond"/>
              </a:rPr>
              <a:t> </a:t>
            </a:r>
            <a:r>
              <a:rPr dirty="0" sz="1150" spc="-30" b="1" i="1">
                <a:latin typeface="Garamond"/>
                <a:cs typeface="Garamond"/>
              </a:rPr>
              <a:t>discount</a:t>
            </a:r>
            <a:r>
              <a:rPr dirty="0" sz="1150" spc="-25" b="1" i="1">
                <a:latin typeface="Garamond"/>
                <a:cs typeface="Garamond"/>
              </a:rPr>
              <a:t> </a:t>
            </a:r>
            <a:r>
              <a:rPr dirty="0" sz="1150" spc="-15" b="1" i="1">
                <a:latin typeface="Garamond"/>
                <a:cs typeface="Garamond"/>
              </a:rPr>
              <a:t>rate”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Garamond"/>
              <a:cs typeface="Garamond"/>
            </a:endParaRPr>
          </a:p>
          <a:p>
            <a:pPr marL="292100" marR="55880" indent="-228600">
              <a:lnSpc>
                <a:spcPts val="1260"/>
              </a:lnSpc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 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simply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equal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zero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tells us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complicated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investments</a:t>
            </a:r>
            <a:endParaRPr sz="110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looking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$60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understanding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calculating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10">
                <a:latin typeface="Garamond"/>
                <a:cs typeface="Garamond"/>
              </a:rPr>
              <a:t> 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zero:</a:t>
            </a:r>
            <a:endParaRPr sz="1100">
              <a:latin typeface="Garamond"/>
              <a:cs typeface="Garamond"/>
            </a:endParaRPr>
          </a:p>
          <a:p>
            <a:pPr algn="ctr" marL="760095">
              <a:lnSpc>
                <a:spcPts val="1175"/>
              </a:lnSpc>
              <a:spcBef>
                <a:spcPts val="1120"/>
              </a:spcBef>
              <a:tabLst>
                <a:tab pos="1532890" algn="l"/>
              </a:tabLst>
            </a:pPr>
            <a:r>
              <a:rPr dirty="0" sz="1000" spc="20">
                <a:latin typeface="Cambria Math"/>
                <a:cs typeface="Cambria Math"/>
              </a:rPr>
              <a:t>60	</a:t>
            </a:r>
            <a:r>
              <a:rPr dirty="0" sz="1000" spc="15">
                <a:latin typeface="Cambria Math"/>
                <a:cs typeface="Cambria Math"/>
              </a:rPr>
              <a:t>60</a:t>
            </a:r>
            <a:endParaRPr sz="1000">
              <a:latin typeface="Cambria Math"/>
              <a:cs typeface="Cambria Math"/>
            </a:endParaRPr>
          </a:p>
          <a:p>
            <a:pPr marL="1207135">
              <a:lnSpc>
                <a:spcPts val="1655"/>
              </a:lnSpc>
            </a:pPr>
            <a:r>
              <a:rPr dirty="0" baseline="35353" sz="1650">
                <a:latin typeface="Garamond"/>
                <a:cs typeface="Garamond"/>
              </a:rPr>
              <a:t>NPV</a:t>
            </a:r>
            <a:r>
              <a:rPr dirty="0" baseline="35353" sz="1650" spc="-44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-30">
                <a:latin typeface="Garamond"/>
                <a:cs typeface="Garamond"/>
              </a:rPr>
              <a:t> </a:t>
            </a:r>
            <a:r>
              <a:rPr dirty="0" baseline="35353" sz="1650" spc="7">
                <a:latin typeface="Garamond"/>
                <a:cs typeface="Garamond"/>
              </a:rPr>
              <a:t>0</a:t>
            </a:r>
            <a:r>
              <a:rPr dirty="0" baseline="35353" sz="1650" spc="-15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-15">
                <a:latin typeface="Garamond"/>
                <a:cs typeface="Garamond"/>
              </a:rPr>
              <a:t> </a:t>
            </a:r>
            <a:r>
              <a:rPr dirty="0" baseline="27777" sz="2100" spc="7">
                <a:latin typeface="Cambria Math"/>
                <a:cs typeface="Cambria Math"/>
              </a:rPr>
              <a:t>−100</a:t>
            </a:r>
            <a:r>
              <a:rPr dirty="0" baseline="27777" sz="2100" spc="-67">
                <a:latin typeface="Cambria Math"/>
                <a:cs typeface="Cambria Math"/>
              </a:rPr>
              <a:t> </a:t>
            </a:r>
            <a:r>
              <a:rPr dirty="0" baseline="27777" sz="2100">
                <a:latin typeface="Cambria Math"/>
                <a:cs typeface="Cambria Math"/>
              </a:rPr>
              <a:t>+</a:t>
            </a:r>
            <a:r>
              <a:rPr dirty="0" baseline="27777" sz="2100" spc="7">
                <a:latin typeface="Cambria Math"/>
                <a:cs typeface="Cambria Math"/>
              </a:rPr>
              <a:t> </a:t>
            </a:r>
            <a:r>
              <a:rPr dirty="0" baseline="2777" sz="1500" spc="15">
                <a:latin typeface="Cambria Math"/>
                <a:cs typeface="Cambria Math"/>
              </a:rPr>
              <a:t>(</a:t>
            </a:r>
            <a:r>
              <a:rPr dirty="0" sz="1000" spc="10">
                <a:latin typeface="Cambria Math"/>
                <a:cs typeface="Cambria Math"/>
              </a:rPr>
              <a:t>1+𝐼𝑅𝑅</a:t>
            </a:r>
            <a:r>
              <a:rPr dirty="0" baseline="2777" sz="1500" spc="15">
                <a:latin typeface="Cambria Math"/>
                <a:cs typeface="Cambria Math"/>
              </a:rPr>
              <a:t>)</a:t>
            </a:r>
            <a:r>
              <a:rPr dirty="0" baseline="2777" sz="1500" spc="120">
                <a:latin typeface="Cambria Math"/>
                <a:cs typeface="Cambria Math"/>
              </a:rPr>
              <a:t> </a:t>
            </a:r>
            <a:r>
              <a:rPr dirty="0" baseline="27777" sz="2100">
                <a:latin typeface="Cambria Math"/>
                <a:cs typeface="Cambria Math"/>
              </a:rPr>
              <a:t>+</a:t>
            </a:r>
            <a:r>
              <a:rPr dirty="0" baseline="27777" sz="2100" spc="434">
                <a:latin typeface="Cambria Math"/>
                <a:cs typeface="Cambria Math"/>
              </a:rPr>
              <a:t> </a:t>
            </a:r>
            <a:r>
              <a:rPr dirty="0" baseline="2777" sz="1500" spc="15">
                <a:latin typeface="Cambria Math"/>
                <a:cs typeface="Cambria Math"/>
              </a:rPr>
              <a:t>(</a:t>
            </a:r>
            <a:r>
              <a:rPr dirty="0" sz="1000" spc="10">
                <a:latin typeface="Cambria Math"/>
                <a:cs typeface="Cambria Math"/>
              </a:rPr>
              <a:t>1+𝐼𝑅𝑅</a:t>
            </a:r>
            <a:r>
              <a:rPr dirty="0" baseline="2777" sz="1500" spc="15">
                <a:latin typeface="Cambria Math"/>
                <a:cs typeface="Cambria Math"/>
              </a:rPr>
              <a:t>)</a:t>
            </a:r>
            <a:r>
              <a:rPr dirty="0" baseline="20833" sz="1200" spc="15">
                <a:latin typeface="Cambria Math"/>
                <a:cs typeface="Cambria Math"/>
              </a:rPr>
              <a:t>2</a:t>
            </a:r>
            <a:endParaRPr baseline="20833" sz="1200">
              <a:latin typeface="Cambria Math"/>
              <a:cs typeface="Cambria Math"/>
            </a:endParaRPr>
          </a:p>
          <a:p>
            <a:pPr marL="292100" indent="-228600">
              <a:lnSpc>
                <a:spcPct val="100000"/>
              </a:lnSpc>
              <a:spcBef>
                <a:spcPts val="1145"/>
              </a:spcBef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only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general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error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method</a:t>
            </a:r>
            <a:endParaRPr sz="110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start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0%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endParaRPr sz="1100">
              <a:latin typeface="Garamond"/>
              <a:cs typeface="Garamond"/>
            </a:endParaRPr>
          </a:p>
          <a:p>
            <a:pPr marL="1207135">
              <a:lnSpc>
                <a:spcPct val="100000"/>
              </a:lnSpc>
              <a:spcBef>
                <a:spcPts val="1160"/>
              </a:spcBef>
            </a:pP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$120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100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15">
                <a:latin typeface="Garamond"/>
                <a:cs typeface="Garamond"/>
              </a:rPr>
              <a:t>$20</a:t>
            </a:r>
            <a:endParaRPr sz="110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At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rate:</a:t>
            </a:r>
            <a:endParaRPr sz="1100">
              <a:latin typeface="Garamond"/>
              <a:cs typeface="Garamond"/>
            </a:endParaRPr>
          </a:p>
          <a:p>
            <a:pPr algn="ctr" marL="19050">
              <a:lnSpc>
                <a:spcPts val="815"/>
              </a:lnSpc>
              <a:spcBef>
                <a:spcPts val="1160"/>
              </a:spcBef>
              <a:tabLst>
                <a:tab pos="654685" algn="l"/>
              </a:tabLst>
            </a:pPr>
            <a:r>
              <a:rPr dirty="0" sz="1000" spc="20">
                <a:latin typeface="Cambria Math"/>
                <a:cs typeface="Cambria Math"/>
              </a:rPr>
              <a:t>60	</a:t>
            </a:r>
            <a:r>
              <a:rPr dirty="0" sz="1000" spc="15">
                <a:latin typeface="Cambria Math"/>
                <a:cs typeface="Cambria Math"/>
              </a:rPr>
              <a:t>60</a:t>
            </a:r>
            <a:endParaRPr sz="1000">
              <a:latin typeface="Cambria Math"/>
              <a:cs typeface="Cambria Math"/>
            </a:endParaRPr>
          </a:p>
          <a:p>
            <a:pPr marL="1207135">
              <a:lnSpc>
                <a:spcPts val="1295"/>
              </a:lnSpc>
            </a:pP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400" spc="5">
                <a:latin typeface="Cambria Math"/>
                <a:cs typeface="Cambria Math"/>
              </a:rPr>
              <a:t>−100</a:t>
            </a:r>
            <a:r>
              <a:rPr dirty="0" sz="1400" spc="-40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+</a:t>
            </a:r>
            <a:r>
              <a:rPr dirty="0" sz="1400" spc="10">
                <a:latin typeface="Cambria Math"/>
                <a:cs typeface="Cambria Math"/>
              </a:rPr>
              <a:t> </a:t>
            </a:r>
            <a:r>
              <a:rPr dirty="0" baseline="-38888" sz="1500" spc="15">
                <a:latin typeface="Cambria Math"/>
                <a:cs typeface="Cambria Math"/>
              </a:rPr>
              <a:t>(1.10)</a:t>
            </a:r>
            <a:r>
              <a:rPr dirty="0" baseline="-38888" sz="1500" spc="112">
                <a:latin typeface="Cambria Math"/>
                <a:cs typeface="Cambria Math"/>
              </a:rPr>
              <a:t> </a:t>
            </a:r>
            <a:r>
              <a:rPr dirty="0" sz="1400">
                <a:latin typeface="Cambria Math"/>
                <a:cs typeface="Cambria Math"/>
              </a:rPr>
              <a:t>+</a:t>
            </a:r>
            <a:r>
              <a:rPr dirty="0" sz="1400" spc="300">
                <a:latin typeface="Cambria Math"/>
                <a:cs typeface="Cambria Math"/>
              </a:rPr>
              <a:t> </a:t>
            </a:r>
            <a:r>
              <a:rPr dirty="0" baseline="-38888" sz="1500" spc="22">
                <a:latin typeface="Cambria Math"/>
                <a:cs typeface="Cambria Math"/>
              </a:rPr>
              <a:t>(1.10)</a:t>
            </a:r>
            <a:r>
              <a:rPr dirty="0" baseline="-31250" sz="1200" spc="22">
                <a:latin typeface="Cambria Math"/>
                <a:cs typeface="Cambria Math"/>
              </a:rPr>
              <a:t>2</a:t>
            </a:r>
            <a:r>
              <a:rPr dirty="0" baseline="-31250" sz="1200" spc="157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$4.13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724179"/>
            <a:ext cx="3903979" cy="38290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We are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getting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closer!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other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possibilities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summarized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table: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991866" y="1262506"/>
          <a:ext cx="2040889" cy="1267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5545"/>
                <a:gridCol w="841375"/>
              </a:tblGrid>
              <a:tr h="324611">
                <a:tc>
                  <a:txBody>
                    <a:bodyPr/>
                    <a:lstStyle/>
                    <a:p>
                      <a:pPr marL="434340" marR="211454" indent="-320675">
                        <a:lnSpc>
                          <a:spcPts val="1220"/>
                        </a:lnSpc>
                        <a:spcBef>
                          <a:spcPts val="15"/>
                        </a:spcBef>
                      </a:pPr>
                      <a:r>
                        <a:rPr dirty="0" sz="1100" spc="-10" b="1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un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e 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(%)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4615">
                        <a:lnSpc>
                          <a:spcPts val="118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NPV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R="88900">
                        <a:lnSpc>
                          <a:spcPts val="127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($)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7160">
                <a:tc>
                  <a:txBody>
                    <a:bodyPr/>
                    <a:lstStyle/>
                    <a:p>
                      <a:pPr marL="507365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50736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11.56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7561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527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4.13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47561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-2.46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7395">
                <a:tc>
                  <a:txBody>
                    <a:bodyPr/>
                    <a:lstStyle/>
                    <a:p>
                      <a:pPr marL="47561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-8.33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5508" y="2649473"/>
            <a:ext cx="5304155" cy="726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Internal</a:t>
            </a:r>
            <a:r>
              <a:rPr dirty="0" sz="1100" spc="-5">
                <a:latin typeface="Garamond"/>
                <a:cs typeface="Garamond"/>
              </a:rPr>
              <a:t> Rate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appears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zero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15%,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 is </a:t>
            </a:r>
            <a:r>
              <a:rPr dirty="0" sz="1100" spc="-5">
                <a:latin typeface="Garamond"/>
                <a:cs typeface="Garamond"/>
              </a:rPr>
              <a:t>somewhere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range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little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effort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13.1%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 </a:t>
            </a:r>
            <a:r>
              <a:rPr dirty="0" sz="1100" spc="-5">
                <a:latin typeface="Garamond"/>
                <a:cs typeface="Garamond"/>
              </a:rPr>
              <a:t>required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 than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13.1%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would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otherwise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reject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it.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5508" y="6670040"/>
            <a:ext cx="5438140" cy="100520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0665" marR="508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project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up-front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$435.44.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$200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$300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3rd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16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IRR?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18%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 </a:t>
            </a:r>
            <a:r>
              <a:rPr dirty="0" sz="1100">
                <a:latin typeface="Garamond"/>
                <a:cs typeface="Garamond"/>
              </a:rPr>
              <a:t>return,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investment?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ourier New"/>
              <a:buChar char="o"/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below: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991866" y="7830566"/>
          <a:ext cx="2040889" cy="1267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1575"/>
                <a:gridCol w="854710"/>
              </a:tblGrid>
              <a:tr h="324992">
                <a:tc>
                  <a:txBody>
                    <a:bodyPr/>
                    <a:lstStyle/>
                    <a:p>
                      <a:pPr marL="434340" marR="197485" indent="-320675">
                        <a:lnSpc>
                          <a:spcPts val="1220"/>
                        </a:lnSpc>
                        <a:spcBef>
                          <a:spcPts val="15"/>
                        </a:spcBef>
                      </a:pPr>
                      <a:r>
                        <a:rPr dirty="0" sz="1100" spc="-10" b="1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un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e 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(%)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0645">
                        <a:lnSpc>
                          <a:spcPts val="118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NPV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R="74930">
                        <a:lnSpc>
                          <a:spcPts val="127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($)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7033">
                <a:tc>
                  <a:txBody>
                    <a:bodyPr/>
                    <a:lstStyle/>
                    <a:p>
                      <a:pPr marL="507365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7747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164.56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50736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774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100.36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7561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774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46.15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47561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7747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7141">
                <a:tc>
                  <a:txBody>
                    <a:bodyPr/>
                    <a:lstStyle/>
                    <a:p>
                      <a:pPr marL="47561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74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-39.61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405508" y="9227260"/>
            <a:ext cx="3672840" cy="38290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18%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 rate,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should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 this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rules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always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lead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identical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decisions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518" y="3560665"/>
            <a:ext cx="4658052" cy="277255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35255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algn="just" marL="699135" marR="31750" indent="-229235">
              <a:lnSpc>
                <a:spcPts val="1220"/>
              </a:lnSpc>
              <a:spcBef>
                <a:spcPts val="955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Project’s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>
                <a:latin typeface="Garamond"/>
                <a:cs typeface="Garamond"/>
              </a:rPr>
              <a:t>flows are </a:t>
            </a:r>
            <a:r>
              <a:rPr dirty="0" sz="1100" spc="-5">
                <a:latin typeface="Garamond"/>
                <a:cs typeface="Garamond"/>
              </a:rPr>
              <a:t>conventional </a:t>
            </a:r>
            <a:r>
              <a:rPr dirty="0" sz="1100">
                <a:latin typeface="Garamond"/>
                <a:cs typeface="Garamond"/>
              </a:rPr>
              <a:t>i.e. </a:t>
            </a:r>
            <a:r>
              <a:rPr dirty="0" sz="1100" spc="-5">
                <a:latin typeface="Garamond"/>
                <a:cs typeface="Garamond"/>
              </a:rPr>
              <a:t>first cash flow (initial </a:t>
            </a:r>
            <a:r>
              <a:rPr dirty="0" sz="1100">
                <a:latin typeface="Garamond"/>
                <a:cs typeface="Garamond"/>
              </a:rPr>
              <a:t>investment) is </a:t>
            </a:r>
            <a:r>
              <a:rPr dirty="0" sz="1100" spc="-5">
                <a:latin typeface="Garamond"/>
                <a:cs typeface="Garamond"/>
              </a:rPr>
              <a:t>negative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positive.</a:t>
            </a:r>
            <a:endParaRPr sz="1100">
              <a:latin typeface="Garamond"/>
              <a:cs typeface="Garamond"/>
            </a:endParaRPr>
          </a:p>
          <a:p>
            <a:pPr algn="just" marL="699135" marR="26034" indent="-229235">
              <a:lnSpc>
                <a:spcPts val="1220"/>
              </a:lnSpc>
              <a:spcBef>
                <a:spcPts val="45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Projects are independent </a:t>
            </a:r>
            <a:r>
              <a:rPr dirty="0" sz="1100" spc="-5">
                <a:latin typeface="Garamond"/>
                <a:cs typeface="Garamond"/>
              </a:rPr>
              <a:t>i.e. </a:t>
            </a:r>
            <a:r>
              <a:rPr dirty="0" sz="1100">
                <a:latin typeface="Garamond"/>
                <a:cs typeface="Garamond"/>
              </a:rPr>
              <a:t>decision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accept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reject </a:t>
            </a:r>
            <a:r>
              <a:rPr dirty="0" sz="1100" spc="20">
                <a:latin typeface="Garamond"/>
                <a:cs typeface="Garamond"/>
              </a:rPr>
              <a:t>one </a:t>
            </a:r>
            <a:r>
              <a:rPr dirty="0" sz="1100">
                <a:latin typeface="Garamond"/>
                <a:cs typeface="Garamond"/>
              </a:rPr>
              <a:t>project does </a:t>
            </a:r>
            <a:r>
              <a:rPr dirty="0" sz="1100" spc="10">
                <a:latin typeface="Garamond"/>
                <a:cs typeface="Garamond"/>
              </a:rPr>
              <a:t>not </a:t>
            </a:r>
            <a:r>
              <a:rPr dirty="0" sz="1100" spc="-5">
                <a:latin typeface="Garamond"/>
                <a:cs typeface="Garamond"/>
              </a:rPr>
              <a:t>affect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accept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reject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Problems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with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IRR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algn="r" marL="227965" marR="3160395" indent="-227965">
              <a:lnSpc>
                <a:spcPts val="1270"/>
              </a:lnSpc>
              <a:spcBef>
                <a:spcPts val="5"/>
              </a:spcBef>
              <a:buFont typeface="Symbol"/>
              <a:buChar char=""/>
              <a:tabLst>
                <a:tab pos="227965" algn="l"/>
                <a:tab pos="228600" algn="l"/>
              </a:tabLst>
            </a:pPr>
            <a:r>
              <a:rPr dirty="0" sz="1100">
                <a:latin typeface="Garamond"/>
                <a:cs typeface="Garamond"/>
              </a:rPr>
              <a:t>Problems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endParaRPr sz="1100">
              <a:latin typeface="Garamond"/>
              <a:cs typeface="Garamond"/>
            </a:endParaRPr>
          </a:p>
          <a:p>
            <a:pPr algn="r" lvl="1" marL="228600" marR="3112135" indent="-228600">
              <a:lnSpc>
                <a:spcPts val="1240"/>
              </a:lnSpc>
              <a:buFont typeface="Courier New"/>
              <a:buChar char="o"/>
              <a:tabLst>
                <a:tab pos="228600" algn="l"/>
                <a:tab pos="229235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conventional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endParaRPr sz="1100">
              <a:latin typeface="Garamond"/>
              <a:cs typeface="Garamond"/>
            </a:endParaRPr>
          </a:p>
          <a:p>
            <a:pPr algn="just" lvl="1" marL="699135" indent="-229870">
              <a:lnSpc>
                <a:spcPts val="1290"/>
              </a:lnSpc>
              <a:buFont typeface="Courier New"/>
              <a:buChar char="o"/>
              <a:tabLst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trying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investments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Non-conventional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 Flows</a:t>
            </a:r>
            <a:endParaRPr sz="1100">
              <a:latin typeface="Garamond"/>
              <a:cs typeface="Garamond"/>
            </a:endParaRPr>
          </a:p>
          <a:p>
            <a:pPr algn="just" lvl="1" marL="699135" marR="24130" indent="-229235">
              <a:lnSpc>
                <a:spcPct val="94100"/>
              </a:lnSpc>
              <a:spcBef>
                <a:spcPts val="45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Suppose </a:t>
            </a:r>
            <a:r>
              <a:rPr dirty="0" sz="1100" spc="-5">
                <a:latin typeface="Garamond"/>
                <a:cs typeface="Garamond"/>
              </a:rPr>
              <a:t>we have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mining </a:t>
            </a:r>
            <a:r>
              <a:rPr dirty="0" sz="1100" spc="5">
                <a:latin typeface="Garamond"/>
                <a:cs typeface="Garamond"/>
              </a:rPr>
              <a:t>project </a:t>
            </a:r>
            <a:r>
              <a:rPr dirty="0" sz="1100" spc="-5">
                <a:latin typeface="Garamond"/>
                <a:cs typeface="Garamond"/>
              </a:rPr>
              <a:t>that requires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$60 </a:t>
            </a:r>
            <a:r>
              <a:rPr dirty="0" sz="1100" spc="-5">
                <a:latin typeface="Garamond"/>
                <a:cs typeface="Garamond"/>
              </a:rPr>
              <a:t>investment. </a:t>
            </a:r>
            <a:r>
              <a:rPr dirty="0" sz="1100">
                <a:latin typeface="Garamond"/>
                <a:cs typeface="Garamond"/>
              </a:rPr>
              <a:t>Our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>
                <a:latin typeface="Garamond"/>
                <a:cs typeface="Garamond"/>
              </a:rPr>
              <a:t>flows in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5">
                <a:latin typeface="Garamond"/>
                <a:cs typeface="Garamond"/>
              </a:rPr>
              <a:t>1st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year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10">
                <a:latin typeface="Garamond"/>
                <a:cs typeface="Garamond"/>
              </a:rPr>
              <a:t>be </a:t>
            </a:r>
            <a:r>
              <a:rPr dirty="0" sz="1100">
                <a:latin typeface="Garamond"/>
                <a:cs typeface="Garamond"/>
              </a:rPr>
              <a:t>$155. in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10">
                <a:latin typeface="Garamond"/>
                <a:cs typeface="Garamond"/>
              </a:rPr>
              <a:t>second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5">
                <a:latin typeface="Garamond"/>
                <a:cs typeface="Garamond"/>
              </a:rPr>
              <a:t>the mine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depleted, </a:t>
            </a:r>
            <a:r>
              <a:rPr dirty="0" sz="1100" spc="5">
                <a:latin typeface="Garamond"/>
                <a:cs typeface="Garamond"/>
              </a:rPr>
              <a:t>but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5">
                <a:latin typeface="Garamond"/>
                <a:cs typeface="Garamond"/>
              </a:rPr>
              <a:t>have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spend $100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restore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terrain</a:t>
            </a:r>
            <a:endParaRPr sz="1100">
              <a:latin typeface="Garamond"/>
              <a:cs typeface="Garamond"/>
            </a:endParaRPr>
          </a:p>
          <a:p>
            <a:pPr algn="just" lvl="1" marL="699135" indent="-229870">
              <a:lnSpc>
                <a:spcPts val="1225"/>
              </a:lnSpc>
              <a:buFont typeface="Courier New"/>
              <a:buChar char="o"/>
              <a:tabLst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Here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3rd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negative.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100" b="1">
                <a:latin typeface="Garamond"/>
                <a:cs typeface="Garamond"/>
              </a:rPr>
              <a:t>Problems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with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IRR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ts val="129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Non-conventional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 Flows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9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IRR,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91866" y="4112005"/>
          <a:ext cx="2040889" cy="1267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5545"/>
                <a:gridCol w="841375"/>
              </a:tblGrid>
              <a:tr h="324611">
                <a:tc>
                  <a:txBody>
                    <a:bodyPr/>
                    <a:lstStyle/>
                    <a:p>
                      <a:pPr marL="434340" marR="211454" indent="-320675">
                        <a:lnSpc>
                          <a:spcPts val="1220"/>
                        </a:lnSpc>
                        <a:spcBef>
                          <a:spcPts val="15"/>
                        </a:spcBef>
                      </a:pPr>
                      <a:r>
                        <a:rPr dirty="0" sz="1100" spc="-10" b="1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un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e 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(%)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94615">
                        <a:lnSpc>
                          <a:spcPts val="118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NPV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R="88900">
                        <a:lnSpc>
                          <a:spcPts val="127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($)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7223">
                <a:tc>
                  <a:txBody>
                    <a:bodyPr/>
                    <a:lstStyle/>
                    <a:p>
                      <a:pPr marL="507365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-5.00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marL="47561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-1.74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7561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-0.28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47561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527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7268">
                <a:tc>
                  <a:txBody>
                    <a:bodyPr/>
                    <a:lstStyle/>
                    <a:p>
                      <a:pPr marL="47561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24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405508" y="8389746"/>
            <a:ext cx="5433060" cy="10052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both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25%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>
                <a:latin typeface="Garamond"/>
                <a:cs typeface="Garamond"/>
              </a:rPr>
              <a:t> 331/3%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correct,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making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problem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example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 </a:t>
            </a:r>
            <a:r>
              <a:rPr dirty="0" sz="1100" spc="-15">
                <a:latin typeface="Garamond"/>
                <a:cs typeface="Garamond"/>
              </a:rPr>
              <a:t>rule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breaks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down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completely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Should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rate?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should.</a:t>
            </a:r>
            <a:endParaRPr sz="1100">
              <a:latin typeface="Garamond"/>
              <a:cs typeface="Garamond"/>
            </a:endParaRPr>
          </a:p>
          <a:p>
            <a:pPr lvl="1" marL="469900" marR="5080" indent="-229235">
              <a:lnSpc>
                <a:spcPts val="1260"/>
              </a:lnSpc>
              <a:spcBef>
                <a:spcPts val="4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since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negative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>
                <a:latin typeface="Garamond"/>
                <a:cs typeface="Garamond"/>
              </a:rPr>
              <a:t> less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25%,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>
                <a:latin typeface="Garamond"/>
                <a:cs typeface="Garamond"/>
              </a:rPr>
              <a:t> 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good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1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NP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positive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25%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331/3%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0150" y="5547815"/>
            <a:ext cx="4322638" cy="267919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22771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 indent="-229235">
              <a:lnSpc>
                <a:spcPts val="1290"/>
              </a:lnSpc>
              <a:spcBef>
                <a:spcPts val="9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Moral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Story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conventional.</a:t>
            </a:r>
            <a:endParaRPr sz="1100">
              <a:latin typeface="Garamond"/>
              <a:cs typeface="Garamond"/>
            </a:endParaRPr>
          </a:p>
          <a:p>
            <a:pPr lvl="1" marL="699135" marR="24130" indent="-229235">
              <a:lnSpc>
                <a:spcPts val="1220"/>
              </a:lnSpc>
              <a:spcBef>
                <a:spcPts val="80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obvious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question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“What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return?”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may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answered,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although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works</a:t>
            </a:r>
            <a:r>
              <a:rPr dirty="0" sz="1100" spc="-5">
                <a:latin typeface="Garamond"/>
                <a:cs typeface="Garamond"/>
              </a:rPr>
              <a:t> just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6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Mutually </a:t>
            </a:r>
            <a:r>
              <a:rPr dirty="0" sz="1100" spc="-5">
                <a:latin typeface="Garamond"/>
                <a:cs typeface="Garamond"/>
              </a:rPr>
              <a:t>Exclusive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Investments</a:t>
            </a:r>
            <a:endParaRPr sz="1100">
              <a:latin typeface="Garamond"/>
              <a:cs typeface="Garamond"/>
            </a:endParaRPr>
          </a:p>
          <a:p>
            <a:pPr lvl="1" marL="699135" marR="22860" indent="-229235">
              <a:lnSpc>
                <a:spcPts val="1230"/>
              </a:lnSpc>
              <a:spcBef>
                <a:spcPts val="90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two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X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Y</a:t>
            </a:r>
            <a:r>
              <a:rPr dirty="0" sz="1100">
                <a:latin typeface="Garamond"/>
                <a:cs typeface="Garamond"/>
              </a:rPr>
              <a:t> 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mutually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exclusive,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means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can’t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one.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8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projects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mutually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exclusive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said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independent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6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e.g.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build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apartment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building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corner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plot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both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question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arises: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“which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best?”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31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Answer: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two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mutually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exclusive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events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721864" y="2863341"/>
          <a:ext cx="2580640" cy="1267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730"/>
                <a:gridCol w="1032509"/>
                <a:gridCol w="1026160"/>
              </a:tblGrid>
              <a:tr h="3294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430530" marR="108585" indent="-315595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Investment</a:t>
                      </a:r>
                      <a:r>
                        <a:rPr dirty="0" sz="1100" spc="-7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A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($)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431165" marR="102235" indent="-315595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dirty="0" sz="1100" spc="-10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v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B 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($)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17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6559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425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109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05508" y="4273041"/>
            <a:ext cx="3227705" cy="3702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24%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10">
                <a:latin typeface="Garamond"/>
                <a:cs typeface="Garamond"/>
              </a:rPr>
              <a:t> 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21%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5">
                <a:latin typeface="Garamond"/>
                <a:cs typeface="Garamond"/>
              </a:rPr>
              <a:t> 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08148" y="4802758"/>
          <a:ext cx="2612390" cy="1450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8075"/>
                <a:gridCol w="781685"/>
                <a:gridCol w="709294"/>
              </a:tblGrid>
              <a:tr h="324612">
                <a:tc>
                  <a:txBody>
                    <a:bodyPr/>
                    <a:lstStyle/>
                    <a:p>
                      <a:pPr algn="ctr" marR="18415">
                        <a:lnSpc>
                          <a:spcPts val="116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Discount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Rate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R="11430">
                        <a:lnSpc>
                          <a:spcPts val="129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(%)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ts val="116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NPV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(A)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R="66040">
                        <a:lnSpc>
                          <a:spcPts val="129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($)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116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NPV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(B)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R="38100">
                        <a:lnSpc>
                          <a:spcPts val="129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($)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876">
                <a:tc>
                  <a:txBody>
                    <a:bodyPr/>
                    <a:lstStyle/>
                    <a:p>
                      <a:pPr algn="ctr" marR="177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algn="ctr" marR="177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43.13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47.88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R="1143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29.06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29.79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R="1143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0510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17.18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14.82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ctr" marR="1143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7.06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2.31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489">
                <a:tc>
                  <a:txBody>
                    <a:bodyPr/>
                    <a:lstStyle/>
                    <a:p>
                      <a:pPr algn="ctr" marR="1143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-1.63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-8.22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5508" y="6390893"/>
            <a:ext cx="5441315" cy="119761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0665" marR="508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(24%)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larger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(21%).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However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return.</a:t>
            </a:r>
            <a:endParaRPr sz="1100">
              <a:latin typeface="Garamond"/>
              <a:cs typeface="Garamond"/>
            </a:endParaRPr>
          </a:p>
          <a:p>
            <a:pPr marL="240665" marR="1270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back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slowly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A.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higher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lower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rates.</a:t>
            </a:r>
            <a:endParaRPr sz="1100">
              <a:latin typeface="Garamond"/>
              <a:cs typeface="Garamond"/>
            </a:endParaRPr>
          </a:p>
          <a:p>
            <a:pPr marL="240665" marR="1016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 our </a:t>
            </a:r>
            <a:r>
              <a:rPr dirty="0" sz="1100">
                <a:latin typeface="Garamond"/>
                <a:cs typeface="Garamond"/>
              </a:rPr>
              <a:t>required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10%, </a:t>
            </a:r>
            <a:r>
              <a:rPr dirty="0" sz="1100" spc="5">
                <a:latin typeface="Garamond"/>
                <a:cs typeface="Garamond"/>
              </a:rPr>
              <a:t>B </a:t>
            </a:r>
            <a:r>
              <a:rPr dirty="0" sz="1100" spc="10">
                <a:latin typeface="Garamond"/>
                <a:cs typeface="Garamond"/>
              </a:rPr>
              <a:t>has </a:t>
            </a:r>
            <a:r>
              <a:rPr dirty="0" sz="1100">
                <a:latin typeface="Garamond"/>
                <a:cs typeface="Garamond"/>
              </a:rPr>
              <a:t>higher NPV 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better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two </a:t>
            </a:r>
            <a:r>
              <a:rPr dirty="0" sz="1100" spc="-10">
                <a:latin typeface="Garamond"/>
                <a:cs typeface="Garamond"/>
              </a:rPr>
              <a:t>even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though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has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higher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 our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15%,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obviously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better.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4515738"/>
            <a:ext cx="5664200" cy="249618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469900" marR="635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11.1%,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benefits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even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though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A’s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At</a:t>
            </a:r>
            <a:r>
              <a:rPr dirty="0" sz="1100">
                <a:latin typeface="Garamond"/>
                <a:cs typeface="Garamond"/>
              </a:rPr>
              <a:t> any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11.1%,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Moral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story</a:t>
            </a:r>
            <a:endParaRPr sz="1100">
              <a:latin typeface="Garamond"/>
              <a:cs typeface="Garamond"/>
            </a:endParaRPr>
          </a:p>
          <a:p>
            <a:pPr lvl="1" marL="927735" marR="5080" indent="-228600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Whenever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mutually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exclusive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shouldn't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rank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them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based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their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17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words,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5">
                <a:latin typeface="Garamond"/>
                <a:cs typeface="Garamond"/>
              </a:rPr>
              <a:t> 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misleading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determining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endParaRPr sz="1100">
              <a:latin typeface="Garamond"/>
              <a:cs typeface="Garamond"/>
            </a:endParaRPr>
          </a:p>
          <a:p>
            <a:pPr lvl="1" marL="927735" marR="5080" indent="-228600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Instead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look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relative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NPVs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avoid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possibility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choosing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incorrectly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Courier New"/>
              <a:buChar char="o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 b="1">
                <a:latin typeface="Garamond"/>
                <a:cs typeface="Garamond"/>
              </a:rPr>
              <a:t>Qualities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IRR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widely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used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Easily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communicated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understood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estimate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don’t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1159" y="767802"/>
            <a:ext cx="4904413" cy="343705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12307" y="714501"/>
            <a:ext cx="8166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28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111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629" y="883665"/>
            <a:ext cx="5670550" cy="8529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PROFITABILITY</a:t>
            </a:r>
            <a:r>
              <a:rPr dirty="0" sz="1150" spc="-5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INDEX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Garamond"/>
              <a:cs typeface="Garamond"/>
            </a:endParaRPr>
          </a:p>
          <a:p>
            <a:pPr marL="469900" marR="5715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defined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benefit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index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defined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future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divided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initial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marL="469900" marR="11430" indent="-228600">
              <a:lnSpc>
                <a:spcPts val="1230"/>
              </a:lnSpc>
              <a:spcBef>
                <a:spcPts val="17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$200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$220,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profitability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index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algn="ctr">
              <a:lnSpc>
                <a:spcPct val="100000"/>
              </a:lnSpc>
            </a:pPr>
            <a:r>
              <a:rPr dirty="0" sz="1100" spc="-5">
                <a:latin typeface="Garamond"/>
                <a:cs typeface="Garamond"/>
              </a:rPr>
              <a:t>PI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$220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1.10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Also,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investment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$20,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so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desirable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profitability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index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positive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bigger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1.00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than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1.00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negative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endParaRPr sz="1100">
              <a:latin typeface="Garamond"/>
              <a:cs typeface="Garamond"/>
            </a:endParaRPr>
          </a:p>
          <a:p>
            <a:pPr marL="469900" marR="12065" indent="-228600">
              <a:lnSpc>
                <a:spcPts val="1230"/>
              </a:lnSpc>
              <a:spcBef>
                <a:spcPts val="20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PI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1.10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tells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invested,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$1.10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$0.10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results.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measures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created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dollar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invested.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often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performance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government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non-profit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scarce,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sensible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approach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allocate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those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highest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PI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Consider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$5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$10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costing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$100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$150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 marL="469900" marR="952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$5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PI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2,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second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$50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PI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1.50.</a:t>
            </a:r>
            <a:endParaRPr sz="1100">
              <a:latin typeface="Garamond"/>
              <a:cs typeface="Garamond"/>
            </a:endParaRPr>
          </a:p>
          <a:p>
            <a:pPr marL="469900" marR="762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mutually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exclusive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investments,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second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though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PI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ranking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problem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very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ranking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problem.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Advantages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Closely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related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NPV,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generally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leading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identical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decisions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Easy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understand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communicate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May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useful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available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funds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limited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ourier New"/>
              <a:buChar char="o"/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Disadvantages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May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lead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incorrect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comparisons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mutually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exclusive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Capital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Budgeting Practice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Why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alternative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procedures </a:t>
            </a:r>
            <a:r>
              <a:rPr dirty="0" sz="1100" spc="-10">
                <a:latin typeface="Garamond"/>
                <a:cs typeface="Garamond"/>
              </a:rPr>
              <a:t>used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seems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know?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trying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considerable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uncertainty</a:t>
            </a:r>
            <a:endParaRPr sz="1100">
              <a:latin typeface="Garamond"/>
              <a:cs typeface="Garamond"/>
            </a:endParaRPr>
          </a:p>
          <a:p>
            <a:pPr marL="469900" marR="1079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estimate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might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quite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different.</a:t>
            </a:r>
            <a:endParaRPr sz="1100">
              <a:latin typeface="Garamond"/>
              <a:cs typeface="Garamond"/>
            </a:endParaRPr>
          </a:p>
          <a:p>
            <a:pPr marL="469900" marR="698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unknown,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seeks</a:t>
            </a:r>
            <a:r>
              <a:rPr dirty="0" sz="1100" spc="5">
                <a:latin typeface="Garamond"/>
                <a:cs typeface="Garamond"/>
              </a:rPr>
              <a:t> clues 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assess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reliability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estimated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NPV.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purpose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often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criteria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evaluating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proposal.</a:t>
            </a:r>
            <a:endParaRPr sz="1100">
              <a:latin typeface="Garamond"/>
              <a:cs typeface="Garamond"/>
            </a:endParaRPr>
          </a:p>
          <a:p>
            <a:pPr marL="469900" marR="1397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positive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very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high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AAR.</a:t>
            </a:r>
            <a:endParaRPr sz="1100">
              <a:latin typeface="Garamond"/>
              <a:cs typeface="Garamond"/>
            </a:endParaRPr>
          </a:p>
          <a:p>
            <a:pPr algn="just" marL="469900" marR="5080" indent="-228600">
              <a:lnSpc>
                <a:spcPts val="1260"/>
              </a:lnSpc>
              <a:spcBef>
                <a:spcPts val="11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 </a:t>
            </a:r>
            <a:r>
              <a:rPr dirty="0" sz="1100" spc="-5">
                <a:latin typeface="Garamond"/>
                <a:cs typeface="Garamond"/>
              </a:rPr>
              <a:t>this case </a:t>
            </a:r>
            <a:r>
              <a:rPr dirty="0" sz="1100" spc="5">
                <a:latin typeface="Garamond"/>
                <a:cs typeface="Garamond"/>
              </a:rPr>
              <a:t>all </a:t>
            </a:r>
            <a:r>
              <a:rPr dirty="0" sz="1100">
                <a:latin typeface="Garamond"/>
                <a:cs typeface="Garamond"/>
              </a:rPr>
              <a:t>different indicators give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green </a:t>
            </a:r>
            <a:r>
              <a:rPr dirty="0" sz="1100" spc="-10">
                <a:latin typeface="Garamond"/>
                <a:cs typeface="Garamond"/>
              </a:rPr>
              <a:t>signal. </a:t>
            </a:r>
            <a:r>
              <a:rPr dirty="0" sz="1100" spc="5">
                <a:latin typeface="Garamond"/>
                <a:cs typeface="Garamond"/>
              </a:rPr>
              <a:t>In </a:t>
            </a:r>
            <a:r>
              <a:rPr dirty="0" sz="1100">
                <a:latin typeface="Garamond"/>
                <a:cs typeface="Garamond"/>
              </a:rPr>
              <a:t>other </a:t>
            </a:r>
            <a:r>
              <a:rPr dirty="0" sz="1100" spc="-5">
                <a:latin typeface="Garamond"/>
                <a:cs typeface="Garamond"/>
              </a:rPr>
              <a:t>words, payback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5">
                <a:latin typeface="Garamond"/>
                <a:cs typeface="Garamond"/>
              </a:rPr>
              <a:t>AAR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consistent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conclusion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positive.</a:t>
            </a:r>
            <a:endParaRPr sz="1100">
              <a:latin typeface="Garamond"/>
              <a:cs typeface="Garamond"/>
            </a:endParaRPr>
          </a:p>
          <a:p>
            <a:pPr algn="just" marL="469900" marR="7620" indent="-228600">
              <a:lnSpc>
                <a:spcPct val="94200"/>
              </a:lnSpc>
              <a:spcBef>
                <a:spcPts val="12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Now </a:t>
            </a:r>
            <a:r>
              <a:rPr dirty="0" sz="1100" spc="-5">
                <a:latin typeface="Garamond"/>
                <a:cs typeface="Garamond"/>
              </a:rPr>
              <a:t>suppose,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5">
                <a:latin typeface="Garamond"/>
                <a:cs typeface="Garamond"/>
              </a:rPr>
              <a:t>have a </a:t>
            </a:r>
            <a:r>
              <a:rPr dirty="0" sz="1100">
                <a:latin typeface="Garamond"/>
                <a:cs typeface="Garamond"/>
              </a:rPr>
              <a:t>positive </a:t>
            </a:r>
            <a:r>
              <a:rPr dirty="0" sz="1100" spc="-5">
                <a:latin typeface="Garamond"/>
                <a:cs typeface="Garamond"/>
              </a:rPr>
              <a:t>estimated </a:t>
            </a:r>
            <a:r>
              <a:rPr dirty="0" sz="1100">
                <a:latin typeface="Garamond"/>
                <a:cs typeface="Garamond"/>
              </a:rPr>
              <a:t>NPV,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long payback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5">
                <a:latin typeface="Garamond"/>
                <a:cs typeface="Garamond"/>
              </a:rPr>
              <a:t>a  </a:t>
            </a:r>
            <a:r>
              <a:rPr dirty="0" sz="1100" spc="-5">
                <a:latin typeface="Garamond"/>
                <a:cs typeface="Garamond"/>
              </a:rPr>
              <a:t>low </a:t>
            </a:r>
            <a:r>
              <a:rPr dirty="0" sz="1100" spc="-10">
                <a:latin typeface="Garamond"/>
                <a:cs typeface="Garamond"/>
              </a:rPr>
              <a:t>AAR. </a:t>
            </a: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 spc="-5">
                <a:latin typeface="Garamond"/>
                <a:cs typeface="Garamond"/>
              </a:rPr>
              <a:t>could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10">
                <a:latin typeface="Garamond"/>
                <a:cs typeface="Garamond"/>
              </a:rPr>
              <a:t>good </a:t>
            </a:r>
            <a:r>
              <a:rPr dirty="0" sz="1100" spc="-5">
                <a:latin typeface="Garamond"/>
                <a:cs typeface="Garamond"/>
              </a:rPr>
              <a:t>investment </a:t>
            </a:r>
            <a:r>
              <a:rPr dirty="0" sz="1100" spc="5">
                <a:latin typeface="Garamond"/>
                <a:cs typeface="Garamond"/>
              </a:rPr>
              <a:t>but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10">
                <a:latin typeface="Garamond"/>
                <a:cs typeface="Garamond"/>
              </a:rPr>
              <a:t>should be </a:t>
            </a:r>
            <a:r>
              <a:rPr dirty="0" sz="1100" spc="5">
                <a:latin typeface="Garamond"/>
                <a:cs typeface="Garamond"/>
              </a:rPr>
              <a:t>much </a:t>
            </a:r>
            <a:r>
              <a:rPr dirty="0" sz="1100" spc="-5">
                <a:latin typeface="Garamond"/>
                <a:cs typeface="Garamond"/>
              </a:rPr>
              <a:t>more careful in </a:t>
            </a:r>
            <a:r>
              <a:rPr dirty="0" sz="1100">
                <a:latin typeface="Garamond"/>
                <a:cs typeface="Garamond"/>
              </a:rPr>
              <a:t>making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decision </a:t>
            </a:r>
            <a:r>
              <a:rPr dirty="0" sz="1100" spc="-15">
                <a:latin typeface="Garamond"/>
                <a:cs typeface="Garamond"/>
              </a:rPr>
              <a:t>since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getting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conflicting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signals.</a:t>
            </a:r>
            <a:endParaRPr sz="1100">
              <a:latin typeface="Garamond"/>
              <a:cs typeface="Garamond"/>
            </a:endParaRPr>
          </a:p>
          <a:p>
            <a:pPr algn="just" marL="469900" marR="635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 the </a:t>
            </a:r>
            <a:r>
              <a:rPr dirty="0" sz="1100" spc="-5">
                <a:latin typeface="Garamond"/>
                <a:cs typeface="Garamond"/>
              </a:rPr>
              <a:t>estimated </a:t>
            </a:r>
            <a:r>
              <a:rPr dirty="0" sz="1100">
                <a:latin typeface="Garamond"/>
                <a:cs typeface="Garamond"/>
              </a:rPr>
              <a:t>NPV is based </a:t>
            </a:r>
            <a:r>
              <a:rPr dirty="0" sz="1100" spc="-10">
                <a:latin typeface="Garamond"/>
                <a:cs typeface="Garamond"/>
              </a:rPr>
              <a:t>on </a:t>
            </a:r>
            <a:r>
              <a:rPr dirty="0" sz="1100" spc="-5">
                <a:latin typeface="Garamond"/>
                <a:cs typeface="Garamond"/>
              </a:rPr>
              <a:t>projections </a:t>
            </a:r>
            <a:r>
              <a:rPr dirty="0" sz="1100">
                <a:latin typeface="Garamond"/>
                <a:cs typeface="Garamond"/>
              </a:rPr>
              <a:t>in which </a:t>
            </a:r>
            <a:r>
              <a:rPr dirty="0" sz="1100" spc="-5">
                <a:latin typeface="Garamond"/>
                <a:cs typeface="Garamond"/>
              </a:rPr>
              <a:t>we </a:t>
            </a:r>
            <a:r>
              <a:rPr dirty="0" sz="1100" spc="5">
                <a:latin typeface="Garamond"/>
                <a:cs typeface="Garamond"/>
              </a:rPr>
              <a:t>have </a:t>
            </a:r>
            <a:r>
              <a:rPr dirty="0" sz="1100">
                <a:latin typeface="Garamond"/>
                <a:cs typeface="Garamond"/>
              </a:rPr>
              <a:t>little </a:t>
            </a:r>
            <a:r>
              <a:rPr dirty="0" sz="1100" spc="-5">
                <a:latin typeface="Garamond"/>
                <a:cs typeface="Garamond"/>
              </a:rPr>
              <a:t>confidence then </a:t>
            </a:r>
            <a:r>
              <a:rPr dirty="0" sz="1100">
                <a:latin typeface="Garamond"/>
                <a:cs typeface="Garamond"/>
              </a:rPr>
              <a:t>further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analysis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probably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order.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732789"/>
            <a:ext cx="50673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8750" indent="-14668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159385" algn="l"/>
                <a:tab pos="5053965" algn="l"/>
              </a:tabLst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9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A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Historical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Comparison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of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Primary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Use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of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Various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Capital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Budgeting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Techniques	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112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64513" y="937513"/>
          <a:ext cx="4899660" cy="1125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6810"/>
                <a:gridCol w="627379"/>
                <a:gridCol w="519430"/>
                <a:gridCol w="519430"/>
                <a:gridCol w="519429"/>
                <a:gridCol w="516889"/>
                <a:gridCol w="521335"/>
                <a:gridCol w="515620"/>
              </a:tblGrid>
              <a:tr h="187832">
                <a:tc>
                  <a:txBody>
                    <a:bodyPr/>
                    <a:lstStyle/>
                    <a:p>
                      <a:pPr marL="6794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Particular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541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1959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1964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1970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1975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1977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1979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65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1981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74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Payback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Period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009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34%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24%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12%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9%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AAR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07314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10.7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IRR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07314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65.3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NPV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07314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16.5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IRR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or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NPV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314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63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64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74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81.8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5508" y="2201036"/>
            <a:ext cx="37592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CFOs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always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Technique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2000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354200" y="2396616"/>
          <a:ext cx="5320665" cy="16471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5800"/>
                <a:gridCol w="1506220"/>
                <a:gridCol w="671829"/>
                <a:gridCol w="591820"/>
                <a:gridCol w="581025"/>
              </a:tblGrid>
              <a:tr h="179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89865" marR="103505" indent="-64135">
                        <a:lnSpc>
                          <a:spcPts val="1260"/>
                        </a:lnSpc>
                        <a:spcBef>
                          <a:spcPts val="760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Percentage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Always 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or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Almost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Always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Use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9652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>
                        <a:lnSpc>
                          <a:spcPts val="1295"/>
                        </a:lnSpc>
                        <a:spcBef>
                          <a:spcPts val="1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Average Score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41888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Capital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Budgeting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Technique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652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ts val="118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Overall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25730" marR="106680">
                        <a:lnSpc>
                          <a:spcPts val="1220"/>
                        </a:lnSpc>
                        <a:spcBef>
                          <a:spcPts val="150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e  F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07314" indent="8890">
                        <a:lnSpc>
                          <a:spcPts val="1220"/>
                        </a:lnSpc>
                        <a:spcBef>
                          <a:spcPts val="150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ll 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7160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Internal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Rate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Return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68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76%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889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3.09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3.41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2.87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Present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Value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88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3.08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3.42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2.83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Payback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Period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88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2.53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2.55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2.72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Discounted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payback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period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88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1.56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1.58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Average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Accounting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Return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88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1.34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7141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Profitability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Index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8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0.83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176629" y="4163313"/>
            <a:ext cx="5664200" cy="4857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Summary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Investment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Criteria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Garamond"/>
              <a:cs typeface="Garamond"/>
            </a:endParaRPr>
          </a:p>
          <a:p>
            <a:pPr algn="r" marR="3816350">
              <a:lnSpc>
                <a:spcPct val="100000"/>
              </a:lnSpc>
              <a:spcBef>
                <a:spcPts val="5"/>
              </a:spcBef>
            </a:pPr>
            <a:r>
              <a:rPr dirty="0" u="sng" sz="1150" spc="-4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D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i</a:t>
            </a:r>
            <a:r>
              <a:rPr dirty="0" u="sng" sz="1150" spc="-1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s</a:t>
            </a:r>
            <a:r>
              <a:rPr dirty="0" u="sng" sz="1150" spc="-4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</a:t>
            </a:r>
            <a:r>
              <a:rPr dirty="0" u="sng" sz="1150" spc="-3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o</a:t>
            </a:r>
            <a:r>
              <a:rPr dirty="0" u="sng" sz="1150" spc="-2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un</a:t>
            </a:r>
            <a:r>
              <a:rPr dirty="0" u="sng" sz="1150" spc="-4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t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e</a:t>
            </a:r>
            <a:r>
              <a:rPr dirty="0" u="sng" sz="1150" spc="-2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d</a:t>
            </a:r>
            <a:r>
              <a:rPr dirty="0" u="sng" sz="1150" spc="-4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50" spc="-3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</a:t>
            </a:r>
            <a:r>
              <a:rPr dirty="0" u="sng" sz="1150" spc="-2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a</a:t>
            </a:r>
            <a:r>
              <a:rPr dirty="0" u="sng" sz="1150" spc="-5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s</a:t>
            </a:r>
            <a:r>
              <a:rPr dirty="0" u="sng" sz="1150" spc="-2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h</a:t>
            </a:r>
            <a:r>
              <a:rPr dirty="0" u="sng" sz="1150" spc="-1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50" spc="-2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F</a:t>
            </a:r>
            <a:r>
              <a:rPr dirty="0" u="sng" sz="1150" spc="-1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l</a:t>
            </a:r>
            <a:r>
              <a:rPr dirty="0" u="sng" sz="1150" spc="-6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o</a:t>
            </a:r>
            <a:r>
              <a:rPr dirty="0" u="sng" sz="1150" spc="-2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w</a:t>
            </a:r>
            <a:r>
              <a:rPr dirty="0" u="sng" sz="115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50" spc="-6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r</a:t>
            </a:r>
            <a:r>
              <a:rPr dirty="0" u="sng" sz="1150" spc="-4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i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t</a:t>
            </a:r>
            <a:r>
              <a:rPr dirty="0" u="sng" sz="1150" spc="-4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e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r</a:t>
            </a:r>
            <a:r>
              <a:rPr dirty="0" u="sng" sz="1150" spc="-4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i</a:t>
            </a:r>
            <a:r>
              <a:rPr dirty="0" u="sng" sz="1150" spc="-2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a</a:t>
            </a:r>
            <a:endParaRPr sz="1150">
              <a:latin typeface="Garamond"/>
              <a:cs typeface="Garamond"/>
            </a:endParaRPr>
          </a:p>
          <a:p>
            <a:pPr algn="r" marL="227965" marR="3791585" indent="-227965">
              <a:lnSpc>
                <a:spcPts val="1290"/>
              </a:lnSpc>
              <a:spcBef>
                <a:spcPts val="35"/>
              </a:spcBef>
              <a:buFont typeface="Symbol"/>
              <a:buChar char=""/>
              <a:tabLst>
                <a:tab pos="227965" algn="l"/>
                <a:tab pos="228600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(NPV)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6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its </a:t>
            </a:r>
            <a:r>
              <a:rPr dirty="0" sz="1100" spc="-5">
                <a:latin typeface="Garamond"/>
                <a:cs typeface="Garamond"/>
              </a:rPr>
              <a:t>cost.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positive.</a:t>
            </a:r>
            <a:endParaRPr sz="1100">
              <a:latin typeface="Garamond"/>
              <a:cs typeface="Garamond"/>
            </a:endParaRPr>
          </a:p>
          <a:p>
            <a:pPr lvl="1" marL="927735" marR="5080" indent="-228600">
              <a:lnSpc>
                <a:spcPts val="1230"/>
              </a:lnSpc>
              <a:spcBef>
                <a:spcPts val="70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estimated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calculating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then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subtracting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Internal</a:t>
            </a:r>
            <a:r>
              <a:rPr dirty="0" sz="1100" spc="-5">
                <a:latin typeface="Garamond"/>
                <a:cs typeface="Garamond"/>
              </a:rPr>
              <a:t> Rate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IRR is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estimated</a:t>
            </a:r>
            <a:r>
              <a:rPr dirty="0" sz="1100">
                <a:latin typeface="Garamond"/>
                <a:cs typeface="Garamond"/>
              </a:rPr>
              <a:t> NPV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5">
                <a:latin typeface="Garamond"/>
                <a:cs typeface="Garamond"/>
              </a:rPr>
              <a:t> rule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exceeds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leads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same </a:t>
            </a:r>
            <a:r>
              <a:rPr dirty="0" sz="1100">
                <a:latin typeface="Garamond"/>
                <a:cs typeface="Garamond"/>
              </a:rPr>
              <a:t>decision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conventional,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independent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projects.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9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mutually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exclusive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non-conventional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misleading.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Profitability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Index</a:t>
            </a:r>
            <a:endParaRPr sz="1100">
              <a:latin typeface="Garamond"/>
              <a:cs typeface="Garamond"/>
            </a:endParaRPr>
          </a:p>
          <a:p>
            <a:pPr lvl="1" marL="927735" marR="5715" indent="-228600">
              <a:lnSpc>
                <a:spcPts val="1230"/>
              </a:lnSpc>
              <a:spcBef>
                <a:spcPts val="85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-5">
                <a:latin typeface="Garamond"/>
                <a:cs typeface="Garamond"/>
              </a:rPr>
              <a:t>PI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cost.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 invested.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18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-5">
                <a:latin typeface="Garamond"/>
                <a:cs typeface="Garamond"/>
              </a:rPr>
              <a:t>PI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index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exceeds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1.</a:t>
            </a:r>
            <a:endParaRPr sz="1100">
              <a:latin typeface="Garamond"/>
              <a:cs typeface="Garamond"/>
            </a:endParaRPr>
          </a:p>
          <a:p>
            <a:pPr lvl="1" marL="927735" marR="5080" indent="-228600">
              <a:lnSpc>
                <a:spcPts val="1220"/>
              </a:lnSpc>
              <a:spcBef>
                <a:spcPts val="80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sometimes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rank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positive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investments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finance.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Courier New"/>
              <a:buChar char="o"/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u="sng" sz="1150" spc="-4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A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cc</a:t>
            </a:r>
            <a:r>
              <a:rPr dirty="0" u="sng" sz="1150" spc="-6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o</a:t>
            </a:r>
            <a:r>
              <a:rPr dirty="0" u="sng" sz="1150" spc="-2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un</a:t>
            </a:r>
            <a:r>
              <a:rPr dirty="0" u="sng" sz="1150" spc="-4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t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i</a:t>
            </a:r>
            <a:r>
              <a:rPr dirty="0" u="sng" sz="1150" spc="-2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n</a:t>
            </a:r>
            <a:r>
              <a:rPr dirty="0" u="sng" sz="1150" spc="-2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g</a:t>
            </a:r>
            <a:r>
              <a:rPr dirty="0" u="sng" sz="1150" spc="-3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50" spc="-3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</a:t>
            </a:r>
            <a:r>
              <a:rPr dirty="0" u="sng" sz="1150" spc="-4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r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i</a:t>
            </a:r>
            <a:r>
              <a:rPr dirty="0" u="sng" sz="1150" spc="-4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t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e</a:t>
            </a:r>
            <a:r>
              <a:rPr dirty="0" u="sng" sz="1150" spc="-4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r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i</a:t>
            </a:r>
            <a:r>
              <a:rPr dirty="0" u="sng" sz="1150" spc="-2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a</a:t>
            </a: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Accounting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6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AAR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measure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profit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 </a:t>
            </a:r>
            <a:r>
              <a:rPr dirty="0" sz="1100" spc="5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9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AAR</a:t>
            </a:r>
            <a:r>
              <a:rPr dirty="0" sz="1100" spc="-5">
                <a:latin typeface="Garamond"/>
                <a:cs typeface="Garamond"/>
              </a:rPr>
              <a:t> rule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AAR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exceeds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benchmark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AAR.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u="sng" sz="1150" spc="-2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Pa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y</a:t>
            </a:r>
            <a:r>
              <a:rPr dirty="0" u="sng" sz="1150" spc="-6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b</a:t>
            </a:r>
            <a:r>
              <a:rPr dirty="0" u="sng" sz="1150" spc="-2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a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</a:t>
            </a:r>
            <a:r>
              <a:rPr dirty="0" u="sng" sz="1150" spc="-2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k</a:t>
            </a:r>
            <a:r>
              <a:rPr dirty="0" u="sng" sz="1150" spc="-5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50" spc="-3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</a:t>
            </a:r>
            <a:r>
              <a:rPr dirty="0" u="sng" sz="1150" spc="-4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r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i</a:t>
            </a:r>
            <a:r>
              <a:rPr dirty="0" u="sng" sz="1150" spc="-4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t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e</a:t>
            </a:r>
            <a:r>
              <a:rPr dirty="0" u="sng" sz="1150" spc="-4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r</a:t>
            </a:r>
            <a:r>
              <a:rPr dirty="0" u="sng" sz="1150" spc="-5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i</a:t>
            </a:r>
            <a:r>
              <a:rPr dirty="0" u="sng" sz="1150" spc="-20" b="1" i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a</a:t>
            </a: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length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until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investment’s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costs.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project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5">
                <a:latin typeface="Garamond"/>
                <a:cs typeface="Garamond"/>
              </a:rPr>
              <a:t> payback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cutoff.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7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ignores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beyond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cutoff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point.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74995" cy="88315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4812665">
              <a:lnSpc>
                <a:spcPts val="1355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29</a:t>
            </a:r>
            <a:endParaRPr sz="1150">
              <a:latin typeface="Garamond"/>
              <a:cs typeface="Garamond"/>
            </a:endParaRPr>
          </a:p>
          <a:p>
            <a:pPr algn="ctr" marR="10160">
              <a:lnSpc>
                <a:spcPts val="1355"/>
              </a:lnSpc>
            </a:pPr>
            <a:r>
              <a:rPr dirty="0" sz="1150" spc="30" b="1">
                <a:latin typeface="Garamond"/>
                <a:cs typeface="Garamond"/>
              </a:rPr>
              <a:t>MAKING</a:t>
            </a:r>
            <a:r>
              <a:rPr dirty="0" sz="1150" spc="15" b="1">
                <a:latin typeface="Garamond"/>
                <a:cs typeface="Garamond"/>
              </a:rPr>
              <a:t> </a:t>
            </a:r>
            <a:r>
              <a:rPr dirty="0" sz="1150" spc="20" b="1">
                <a:latin typeface="Garamond"/>
                <a:cs typeface="Garamond"/>
              </a:rPr>
              <a:t>CAPITAL </a:t>
            </a:r>
            <a:r>
              <a:rPr dirty="0" sz="1150" spc="30" b="1">
                <a:latin typeface="Garamond"/>
                <a:cs typeface="Garamond"/>
              </a:rPr>
              <a:t>INVESTMENT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DECISIONS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Garamond"/>
              <a:cs typeface="Garamond"/>
            </a:endParaRPr>
          </a:p>
          <a:p>
            <a:pPr marL="469900" marR="17145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shall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spread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and,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based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those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initial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assessment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whether</a:t>
            </a:r>
            <a:r>
              <a:rPr dirty="0" sz="1100" spc="5">
                <a:latin typeface="Garamond"/>
                <a:cs typeface="Garamond"/>
              </a:rPr>
              <a:t> 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undertaken.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focus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process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setting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discounted 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analysis.</a:t>
            </a:r>
            <a:endParaRPr sz="1100">
              <a:latin typeface="Garamond"/>
              <a:cs typeface="Garamond"/>
            </a:endParaRPr>
          </a:p>
          <a:p>
            <a:pPr marL="469900" marR="17145" indent="-228600">
              <a:lnSpc>
                <a:spcPts val="1260"/>
              </a:lnSpc>
              <a:spcBef>
                <a:spcPts val="1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evaluating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investment,</a:t>
            </a:r>
            <a:r>
              <a:rPr dirty="0" sz="1100">
                <a:latin typeface="Garamond"/>
                <a:cs typeface="Garamond"/>
              </a:rPr>
              <a:t> special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attention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relevance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information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available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making.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Project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Garamond"/>
              <a:cs typeface="Garamond"/>
            </a:endParaRPr>
          </a:p>
          <a:p>
            <a:pPr marL="469900" marR="15875" indent="-228600">
              <a:lnSpc>
                <a:spcPts val="122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evaluate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flows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decide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whether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add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step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thus,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5">
                <a:latin typeface="Garamond"/>
                <a:cs typeface="Garamond"/>
              </a:rPr>
              <a:t>decide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relevant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Relevant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12065" indent="-228600">
              <a:lnSpc>
                <a:spcPts val="122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relevant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overall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10">
                <a:latin typeface="Garamond"/>
                <a:cs typeface="Garamond"/>
              </a:rPr>
              <a:t> as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consequence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marL="469900" marR="7620" indent="-228600">
              <a:lnSpc>
                <a:spcPts val="1220"/>
              </a:lnSpc>
              <a:spcBef>
                <a:spcPts val="19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relevant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defined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increments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firm’s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existing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incremental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associated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Incremental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incremental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evaluation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direct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consequence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Stand-Alone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Principle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13335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assumption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evaluation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based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project’s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incremental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 marL="469900" marR="1524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Analysis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“minifirm”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revenues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Incremental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16510" indent="-228600">
              <a:lnSpc>
                <a:spcPts val="122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seems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easy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enough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decide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whether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incremental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not.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Even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situations where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mistakes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easy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Sunk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Opportunity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Side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Effects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Issues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Courier New"/>
              <a:buChar char="o"/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Sunk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1150">
              <a:latin typeface="Garamond"/>
              <a:cs typeface="Garamond"/>
            </a:endParaRPr>
          </a:p>
          <a:p>
            <a:pPr lvl="1" marL="699135" marR="15875" indent="-229235">
              <a:lnSpc>
                <a:spcPts val="122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already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incurred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cannot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recouped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therefore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0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e.g.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consultant’s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fee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evaluating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launching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new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product.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ourier New"/>
              <a:buChar char="o"/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Opportunity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ct val="100000"/>
              </a:lnSpc>
              <a:spcBef>
                <a:spcPts val="116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alternative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up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particular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undertaken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91103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699135" marR="26670" indent="-229235">
              <a:lnSpc>
                <a:spcPts val="1220"/>
              </a:lnSpc>
              <a:spcBef>
                <a:spcPts val="95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e.g.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option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selling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piece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land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(bought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years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ago)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instead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establishing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school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upon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endParaRPr sz="1100">
              <a:latin typeface="Garamond"/>
              <a:cs typeface="Garamond"/>
            </a:endParaRPr>
          </a:p>
          <a:p>
            <a:pPr marL="699135" marR="20320" indent="-229235">
              <a:lnSpc>
                <a:spcPts val="1220"/>
              </a:lnSpc>
              <a:spcBef>
                <a:spcPts val="4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should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charged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school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project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opportunity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costs;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bought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piece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land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its</a:t>
            </a:r>
            <a:r>
              <a:rPr dirty="0" sz="1100" spc="-5">
                <a:latin typeface="Garamond"/>
                <a:cs typeface="Garamond"/>
              </a:rPr>
              <a:t> 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Side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Effects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spcBef>
                <a:spcPts val="116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unusual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project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side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spillover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effects both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good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bad.</a:t>
            </a:r>
            <a:endParaRPr sz="1100">
              <a:latin typeface="Garamond"/>
              <a:cs typeface="Garamond"/>
            </a:endParaRPr>
          </a:p>
          <a:p>
            <a:pPr lvl="1" marL="699135" marR="25400" indent="-229235">
              <a:lnSpc>
                <a:spcPts val="1260"/>
              </a:lnSpc>
              <a:spcBef>
                <a:spcPts val="4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e.g.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car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certain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might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expense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 </a:t>
            </a:r>
            <a:r>
              <a:rPr dirty="0" sz="1100" spc="-5">
                <a:latin typeface="Garamond"/>
                <a:cs typeface="Garamond"/>
              </a:rPr>
              <a:t>cars</a:t>
            </a:r>
            <a:r>
              <a:rPr dirty="0" sz="1100" spc="5">
                <a:latin typeface="Garamond"/>
                <a:cs typeface="Garamond"/>
              </a:rPr>
              <a:t> 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phenomenon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-5">
                <a:latin typeface="Garamond"/>
                <a:cs typeface="Garamond"/>
              </a:rPr>
              <a:t> erosion,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piracy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cannibalism.</a:t>
            </a:r>
            <a:endParaRPr sz="1100">
              <a:latin typeface="Garamond"/>
              <a:cs typeface="Garamond"/>
            </a:endParaRPr>
          </a:p>
          <a:p>
            <a:pPr lvl="1" marL="699135" marR="30480" indent="-229235">
              <a:lnSpc>
                <a:spcPts val="1260"/>
              </a:lnSpc>
              <a:spcBef>
                <a:spcPts val="4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product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line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adjusted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downward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reflect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lost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profits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lines.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Courier New"/>
              <a:buChar char="o"/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lvl="1" marL="699135" marR="26034" indent="-229235">
              <a:lnSpc>
                <a:spcPts val="122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Normally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requires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e.g.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hand,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inventories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&amp;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accounts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well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payables;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endParaRPr sz="1100">
              <a:latin typeface="Garamond"/>
              <a:cs typeface="Garamond"/>
            </a:endParaRPr>
          </a:p>
          <a:p>
            <a:pPr marL="699135">
              <a:lnSpc>
                <a:spcPts val="1245"/>
              </a:lnSpc>
            </a:pP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capital.</a:t>
            </a:r>
            <a:endParaRPr sz="1100">
              <a:latin typeface="Garamond"/>
              <a:cs typeface="Garamond"/>
            </a:endParaRPr>
          </a:p>
          <a:p>
            <a:pPr lvl="1" marL="699135" marR="22225" indent="-229235">
              <a:lnSpc>
                <a:spcPts val="1260"/>
              </a:lnSpc>
              <a:spcBef>
                <a:spcPts val="4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As 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winds </a:t>
            </a:r>
            <a:r>
              <a:rPr dirty="0" sz="1100">
                <a:latin typeface="Garamond"/>
                <a:cs typeface="Garamond"/>
              </a:rPr>
              <a:t>down,</a:t>
            </a:r>
            <a:r>
              <a:rPr dirty="0" sz="1100" spc="5">
                <a:latin typeface="Garamond"/>
                <a:cs typeface="Garamond"/>
              </a:rPr>
              <a:t> net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gets </a:t>
            </a:r>
            <a:r>
              <a:rPr dirty="0" sz="1100">
                <a:latin typeface="Garamond"/>
                <a:cs typeface="Garamond"/>
              </a:rPr>
              <a:t>freed-up.</a:t>
            </a:r>
            <a:r>
              <a:rPr dirty="0" sz="1100" spc="5">
                <a:latin typeface="Garamond"/>
                <a:cs typeface="Garamond"/>
              </a:rPr>
              <a:t> So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NWC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resembles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provides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NWC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beginning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recovers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towards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end.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buFont typeface="Courier New"/>
              <a:buChar char="o"/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algn="just" lvl="1" marL="699135" marR="23495" indent="-229235">
              <a:lnSpc>
                <a:spcPct val="94100"/>
              </a:lnSpc>
              <a:spcBef>
                <a:spcPts val="1245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We </a:t>
            </a:r>
            <a:r>
              <a:rPr dirty="0" sz="1100" spc="5">
                <a:latin typeface="Garamond"/>
                <a:cs typeface="Garamond"/>
              </a:rPr>
              <a:t>don’t </a:t>
            </a:r>
            <a:r>
              <a:rPr dirty="0" sz="1100">
                <a:latin typeface="Garamond"/>
                <a:cs typeface="Garamond"/>
              </a:rPr>
              <a:t>include </a:t>
            </a:r>
            <a:r>
              <a:rPr dirty="0" sz="1100" spc="-5">
                <a:latin typeface="Garamond"/>
                <a:cs typeface="Garamond"/>
              </a:rPr>
              <a:t>interest </a:t>
            </a:r>
            <a:r>
              <a:rPr dirty="0" sz="1100">
                <a:latin typeface="Garamond"/>
                <a:cs typeface="Garamond"/>
              </a:rPr>
              <a:t>paid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any </a:t>
            </a:r>
            <a:r>
              <a:rPr dirty="0" sz="1100" spc="5">
                <a:latin typeface="Garamond"/>
                <a:cs typeface="Garamond"/>
              </a:rPr>
              <a:t>other </a:t>
            </a:r>
            <a:r>
              <a:rPr dirty="0" sz="1100" spc="-5">
                <a:latin typeface="Garamond"/>
                <a:cs typeface="Garamond"/>
              </a:rPr>
              <a:t>financing costs like </a:t>
            </a:r>
            <a:r>
              <a:rPr dirty="0" sz="1100">
                <a:latin typeface="Garamond"/>
                <a:cs typeface="Garamond"/>
              </a:rPr>
              <a:t>dividend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principle </a:t>
            </a:r>
            <a:r>
              <a:rPr dirty="0" sz="1100">
                <a:latin typeface="Garamond"/>
                <a:cs typeface="Garamond"/>
              </a:rPr>
              <a:t>paid </a:t>
            </a:r>
            <a:r>
              <a:rPr dirty="0" sz="1100" spc="5">
                <a:latin typeface="Garamond"/>
                <a:cs typeface="Garamond"/>
              </a:rPr>
              <a:t> while </a:t>
            </a:r>
            <a:r>
              <a:rPr dirty="0" sz="1100">
                <a:latin typeface="Garamond"/>
                <a:cs typeface="Garamond"/>
              </a:rPr>
              <a:t>analyzing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proposed investment,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we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-5">
                <a:latin typeface="Garamond"/>
                <a:cs typeface="Garamond"/>
              </a:rPr>
              <a:t>interested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cash flow generated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project.</a:t>
            </a:r>
            <a:endParaRPr sz="1100">
              <a:latin typeface="Garamond"/>
              <a:cs typeface="Garamond"/>
            </a:endParaRPr>
          </a:p>
          <a:p>
            <a:pPr algn="just" lvl="1" marL="699135" marR="31750" indent="-229235">
              <a:lnSpc>
                <a:spcPts val="1220"/>
              </a:lnSpc>
              <a:spcBef>
                <a:spcPts val="65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mixture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debt </a:t>
            </a:r>
            <a:r>
              <a:rPr dirty="0" sz="1100" spc="-15">
                <a:latin typeface="Garamond"/>
                <a:cs typeface="Garamond"/>
              </a:rPr>
              <a:t>and </a:t>
            </a:r>
            <a:r>
              <a:rPr dirty="0" sz="1100">
                <a:latin typeface="Garamond"/>
                <a:cs typeface="Garamond"/>
              </a:rPr>
              <a:t>equity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firm actually chooses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use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5">
                <a:latin typeface="Garamond"/>
                <a:cs typeface="Garamond"/>
              </a:rPr>
              <a:t>financing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10">
                <a:latin typeface="Garamond"/>
                <a:cs typeface="Garamond"/>
              </a:rPr>
              <a:t>project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variable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does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part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evaluation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process.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Courier New"/>
              <a:buChar char="o"/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Issues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150">
              <a:latin typeface="Garamond"/>
              <a:cs typeface="Garamond"/>
            </a:endParaRPr>
          </a:p>
          <a:p>
            <a:pPr algn="just" lvl="1" marL="699135" marR="31115" indent="-229235">
              <a:lnSpc>
                <a:spcPts val="1220"/>
              </a:lnSpc>
              <a:buFont typeface="Courier New"/>
              <a:buChar char="o"/>
              <a:tabLst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We are </a:t>
            </a:r>
            <a:r>
              <a:rPr dirty="0" sz="1100" spc="-5">
                <a:latin typeface="Garamond"/>
                <a:cs typeface="Garamond"/>
              </a:rPr>
              <a:t>only concerned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measuring cash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-15">
                <a:latin typeface="Garamond"/>
                <a:cs typeface="Garamond"/>
              </a:rPr>
              <a:t>and </a:t>
            </a:r>
            <a:r>
              <a:rPr dirty="0" sz="1100">
                <a:latin typeface="Garamond"/>
                <a:cs typeface="Garamond"/>
              </a:rPr>
              <a:t>when it actually </a:t>
            </a:r>
            <a:r>
              <a:rPr dirty="0" sz="1100" spc="-5">
                <a:latin typeface="Garamond"/>
                <a:cs typeface="Garamond"/>
              </a:rPr>
              <a:t>occurs rather </a:t>
            </a:r>
            <a:r>
              <a:rPr dirty="0" sz="1100">
                <a:latin typeface="Garamond"/>
                <a:cs typeface="Garamond"/>
              </a:rPr>
              <a:t>than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occurs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sense.</a:t>
            </a:r>
            <a:endParaRPr sz="1100">
              <a:latin typeface="Garamond"/>
              <a:cs typeface="Garamond"/>
            </a:endParaRPr>
          </a:p>
          <a:p>
            <a:pPr algn="just" lvl="1" marL="699135" marR="17780" indent="-229235">
              <a:lnSpc>
                <a:spcPts val="1220"/>
              </a:lnSpc>
              <a:spcBef>
                <a:spcPts val="45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We are </a:t>
            </a:r>
            <a:r>
              <a:rPr dirty="0" sz="1100" spc="-5">
                <a:latin typeface="Garamond"/>
                <a:cs typeface="Garamond"/>
              </a:rPr>
              <a:t>interested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>
                <a:latin typeface="Garamond"/>
                <a:cs typeface="Garamond"/>
              </a:rPr>
              <a:t>after-tax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5">
                <a:latin typeface="Garamond"/>
                <a:cs typeface="Garamond"/>
              </a:rPr>
              <a:t>fact incremental cash </a:t>
            </a:r>
            <a:r>
              <a:rPr dirty="0" sz="1100">
                <a:latin typeface="Garamond"/>
                <a:cs typeface="Garamond"/>
              </a:rPr>
              <a:t>flows means </a:t>
            </a:r>
            <a:r>
              <a:rPr dirty="0" sz="1100" spc="5">
                <a:latin typeface="Garamond"/>
                <a:cs typeface="Garamond"/>
              </a:rPr>
              <a:t>after-tax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incremental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flows.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Courier New"/>
              <a:buChar char="o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Pro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Forma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Financial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Pro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years’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operations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summarized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format.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prepare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statements,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quantities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like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Unit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Selling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unit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Variable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10">
                <a:latin typeface="Garamond"/>
                <a:cs typeface="Garamond"/>
              </a:rPr>
              <a:t> unit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7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endParaRPr sz="1100">
              <a:latin typeface="Garamond"/>
              <a:cs typeface="Garamond"/>
            </a:endParaRPr>
          </a:p>
          <a:p>
            <a:pPr algn="just" marL="469900" marR="26034" indent="-228600">
              <a:lnSpc>
                <a:spcPts val="1260"/>
              </a:lnSpc>
              <a:spcBef>
                <a:spcPts val="14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5">
                <a:latin typeface="Garamond"/>
                <a:cs typeface="Garamond"/>
              </a:rPr>
              <a:t>want to </a:t>
            </a:r>
            <a:r>
              <a:rPr dirty="0" sz="1100">
                <a:latin typeface="Garamond"/>
                <a:cs typeface="Garamond"/>
              </a:rPr>
              <a:t>prepare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set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pro </a:t>
            </a:r>
            <a:r>
              <a:rPr dirty="0" sz="1100" spc="-5">
                <a:latin typeface="Garamond"/>
                <a:cs typeface="Garamond"/>
              </a:rPr>
              <a:t>forma </a:t>
            </a:r>
            <a:r>
              <a:rPr dirty="0" sz="1100">
                <a:latin typeface="Garamond"/>
                <a:cs typeface="Garamond"/>
              </a:rPr>
              <a:t>financial </a:t>
            </a:r>
            <a:r>
              <a:rPr dirty="0" sz="1100" spc="-5">
                <a:latin typeface="Garamond"/>
                <a:cs typeface="Garamond"/>
              </a:rPr>
              <a:t>statements </a:t>
            </a:r>
            <a:r>
              <a:rPr dirty="0" sz="1100" spc="5">
                <a:latin typeface="Garamond"/>
                <a:cs typeface="Garamond"/>
              </a:rPr>
              <a:t>for a </a:t>
            </a:r>
            <a:r>
              <a:rPr dirty="0" sz="1100" spc="-10">
                <a:latin typeface="Garamond"/>
                <a:cs typeface="Garamond"/>
              </a:rPr>
              <a:t>project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10">
                <a:latin typeface="Garamond"/>
                <a:cs typeface="Garamond"/>
              </a:rPr>
              <a:t>ND 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Enterprises. </a:t>
            </a:r>
            <a:r>
              <a:rPr dirty="0" sz="1100" spc="5">
                <a:latin typeface="Garamond"/>
                <a:cs typeface="Garamond"/>
              </a:rPr>
              <a:t>In </a:t>
            </a:r>
            <a:r>
              <a:rPr dirty="0" sz="1100">
                <a:latin typeface="Garamond"/>
                <a:cs typeface="Garamond"/>
              </a:rPr>
              <a:t>order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15">
                <a:latin typeface="Garamond"/>
                <a:cs typeface="Garamond"/>
              </a:rPr>
              <a:t>do </a:t>
            </a:r>
            <a:r>
              <a:rPr dirty="0" sz="1100">
                <a:latin typeface="Garamond"/>
                <a:cs typeface="Garamond"/>
              </a:rPr>
              <a:t>so, </a:t>
            </a:r>
            <a:r>
              <a:rPr dirty="0" sz="1100" spc="-5">
                <a:latin typeface="Garamond"/>
                <a:cs typeface="Garamond"/>
              </a:rPr>
              <a:t>we </a:t>
            </a:r>
            <a:r>
              <a:rPr dirty="0" sz="1100">
                <a:latin typeface="Garamond"/>
                <a:cs typeface="Garamond"/>
              </a:rPr>
              <a:t>must </a:t>
            </a:r>
            <a:r>
              <a:rPr dirty="0" sz="1100" spc="-5">
                <a:latin typeface="Garamond"/>
                <a:cs typeface="Garamond"/>
              </a:rPr>
              <a:t>have some background information.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>
                <a:latin typeface="Garamond"/>
                <a:cs typeface="Garamond"/>
              </a:rPr>
              <a:t>this </a:t>
            </a:r>
            <a:r>
              <a:rPr dirty="0" sz="1100" spc="-5">
                <a:latin typeface="Garamond"/>
                <a:cs typeface="Garamond"/>
              </a:rPr>
              <a:t>case, </a:t>
            </a:r>
            <a:r>
              <a:rPr dirty="0" sz="1100">
                <a:latin typeface="Garamond"/>
                <a:cs typeface="Garamond"/>
              </a:rPr>
              <a:t> assume: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14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Sales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10,000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units/year </a:t>
            </a:r>
            <a:r>
              <a:rPr dirty="0" sz="1100" spc="10">
                <a:latin typeface="Garamond"/>
                <a:cs typeface="Garamond"/>
              </a:rPr>
              <a:t>@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$5/unit</a:t>
            </a:r>
            <a:endParaRPr sz="1100">
              <a:latin typeface="Garamond"/>
              <a:cs typeface="Garamond"/>
            </a:endParaRPr>
          </a:p>
          <a:p>
            <a:pPr lvl="1" marL="927735" marR="28575" indent="-228600">
              <a:lnSpc>
                <a:spcPts val="1260"/>
              </a:lnSpc>
              <a:spcBef>
                <a:spcPts val="45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Variable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cost/unit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$3.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Fixed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$5,000/year.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salvage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value.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life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14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$21,000.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Depreciation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$7,000/year.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9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20%.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34%.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1767839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Projected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Income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420111" y="1065910"/>
          <a:ext cx="3184525" cy="17106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5705"/>
                <a:gridCol w="718184"/>
              </a:tblGrid>
              <a:tr h="187452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Particular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778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Amount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177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Sales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(10,000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units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/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year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@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$5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per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unit)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872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Variable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($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3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/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Unit)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00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Gross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Profit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872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93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EBIT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$8,000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8917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(34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%)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2,720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45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$5,280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2900933"/>
            <a:ext cx="151447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Projected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Balance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Sheets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994090" y="3252215"/>
          <a:ext cx="4030979" cy="777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0485"/>
                <a:gridCol w="706754"/>
                <a:gridCol w="681989"/>
                <a:gridCol w="686435"/>
                <a:gridCol w="616585"/>
              </a:tblGrid>
              <a:tr h="187451">
                <a:tc>
                  <a:txBody>
                    <a:bodyPr/>
                    <a:lstStyle/>
                    <a:p>
                      <a:pPr marL="77470">
                        <a:lnSpc>
                          <a:spcPts val="115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Particular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6839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0014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80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3891">
                <a:tc>
                  <a:txBody>
                    <a:bodyPr/>
                    <a:lstStyle/>
                    <a:p>
                      <a:pPr marL="7366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working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27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5584">
                <a:tc>
                  <a:txBody>
                    <a:bodyPr/>
                    <a:lstStyle/>
                    <a:p>
                      <a:pPr marL="73660">
                        <a:lnSpc>
                          <a:spcPts val="12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2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14,000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8280">
                <a:tc>
                  <a:txBody>
                    <a:bodyPr/>
                    <a:lstStyle/>
                    <a:p>
                      <a:pPr marL="7366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271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$24,000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$17,000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1990089" y="4015994"/>
            <a:ext cx="1340485" cy="5080"/>
          </a:xfrm>
          <a:custGeom>
            <a:avLst/>
            <a:gdLst/>
            <a:ahLst/>
            <a:cxnLst/>
            <a:rect l="l" t="t" r="r" b="b"/>
            <a:pathLst>
              <a:path w="1340485" h="5079">
                <a:moveTo>
                  <a:pt x="1340485" y="0"/>
                </a:moveTo>
                <a:lnTo>
                  <a:pt x="0" y="0"/>
                </a:lnTo>
                <a:lnTo>
                  <a:pt x="0" y="4571"/>
                </a:lnTo>
                <a:lnTo>
                  <a:pt x="1340485" y="4571"/>
                </a:lnTo>
                <a:lnTo>
                  <a:pt x="13404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76629" y="4149597"/>
            <a:ext cx="5336540" cy="208533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Projected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 Flows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12700" marR="5080">
              <a:lnSpc>
                <a:spcPts val="1220"/>
              </a:lnSpc>
            </a:pP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flow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capital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spending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ts val="127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Earnings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before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Depreciation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endParaRPr sz="1100">
              <a:latin typeface="Garamond"/>
              <a:cs typeface="Garamond"/>
            </a:endParaRPr>
          </a:p>
          <a:p>
            <a:pPr marL="12700" marR="624840">
              <a:lnSpc>
                <a:spcPts val="2490"/>
              </a:lnSpc>
              <a:spcBef>
                <a:spcPts val="90"/>
              </a:spcBef>
            </a:pPr>
            <a:r>
              <a:rPr dirty="0" sz="1100" spc="5">
                <a:latin typeface="Garamond"/>
                <a:cs typeface="Garamond"/>
              </a:rPr>
              <a:t>Let’s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previous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example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budgeting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analysis.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(OCF):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923285" y="6385305"/>
          <a:ext cx="2178050" cy="956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265"/>
                <a:gridCol w="818515"/>
              </a:tblGrid>
              <a:tr h="187451"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Particular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Amount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87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EBIT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$8,000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+7,000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872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-2,720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45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176629" y="7465821"/>
            <a:ext cx="120586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Projected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907222" y="7816850"/>
          <a:ext cx="4200525" cy="960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4945"/>
                <a:gridCol w="751205"/>
                <a:gridCol w="682625"/>
                <a:gridCol w="687704"/>
                <a:gridCol w="611504"/>
              </a:tblGrid>
              <a:tr h="187452">
                <a:tc>
                  <a:txBody>
                    <a:bodyPr/>
                    <a:lstStyle/>
                    <a:p>
                      <a:pPr marL="77470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Particular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0014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874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4272">
                <a:tc>
                  <a:txBody>
                    <a:bodyPr/>
                    <a:lstStyle/>
                    <a:p>
                      <a:pPr marL="7366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366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Changes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NWC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</a:tr>
              <a:tr h="195584">
                <a:tc>
                  <a:txBody>
                    <a:bodyPr/>
                    <a:lstStyle/>
                    <a:p>
                      <a:pPr marL="7366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Capital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Spending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-21,000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8026">
                <a:tc>
                  <a:txBody>
                    <a:bodyPr/>
                    <a:lstStyle/>
                    <a:p>
                      <a:pPr marL="7366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-31,000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1903222" y="8763634"/>
            <a:ext cx="1510030" cy="5080"/>
          </a:xfrm>
          <a:custGeom>
            <a:avLst/>
            <a:gdLst/>
            <a:ahLst/>
            <a:cxnLst/>
            <a:rect l="l" t="t" r="r" b="b"/>
            <a:pathLst>
              <a:path w="1510029" h="5079">
                <a:moveTo>
                  <a:pt x="1509649" y="0"/>
                </a:moveTo>
                <a:lnTo>
                  <a:pt x="0" y="0"/>
                </a:lnTo>
                <a:lnTo>
                  <a:pt x="0" y="4571"/>
                </a:lnTo>
                <a:lnTo>
                  <a:pt x="1509649" y="4571"/>
                </a:lnTo>
                <a:lnTo>
                  <a:pt x="1509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405508" y="8915780"/>
            <a:ext cx="5440680" cy="6896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ts val="129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know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spend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$21,000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fixed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</a:t>
            </a:r>
            <a:r>
              <a:rPr dirty="0" sz="1100" spc="10">
                <a:latin typeface="Garamond"/>
                <a:cs typeface="Garamond"/>
              </a:rPr>
              <a:t> 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additional</a:t>
            </a:r>
            <a:endParaRPr sz="1100">
              <a:latin typeface="Garamond"/>
              <a:cs typeface="Garamond"/>
            </a:endParaRPr>
          </a:p>
          <a:p>
            <a:pPr marL="240665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$10,000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immediate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outflow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$31,000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recovery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tied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NWC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last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5">
                <a:latin typeface="Garamond"/>
                <a:cs typeface="Garamond"/>
              </a:rPr>
              <a:t> will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lead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inflow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869949"/>
            <a:ext cx="164211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Budgeting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Evaluation: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91689" y="1214144"/>
            <a:ext cx="1062355" cy="510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4500"/>
              </a:lnSpc>
              <a:spcBef>
                <a:spcPts val="95"/>
              </a:spcBef>
            </a:pP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31,000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$655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11322" y="1385950"/>
            <a:ext cx="457834" cy="9525"/>
          </a:xfrm>
          <a:custGeom>
            <a:avLst/>
            <a:gdLst/>
            <a:ahLst/>
            <a:cxnLst/>
            <a:rect l="l" t="t" r="r" b="b"/>
            <a:pathLst>
              <a:path w="457835" h="9525">
                <a:moveTo>
                  <a:pt x="457504" y="0"/>
                </a:moveTo>
                <a:lnTo>
                  <a:pt x="0" y="0"/>
                </a:lnTo>
                <a:lnTo>
                  <a:pt x="0" y="9144"/>
                </a:lnTo>
                <a:lnTo>
                  <a:pt x="457504" y="9144"/>
                </a:lnTo>
                <a:lnTo>
                  <a:pt x="4575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847465" y="1385950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457200" y="0"/>
                </a:moveTo>
                <a:lnTo>
                  <a:pt x="0" y="0"/>
                </a:lnTo>
                <a:lnTo>
                  <a:pt x="0" y="9144"/>
                </a:lnTo>
                <a:lnTo>
                  <a:pt x="457200" y="9144"/>
                </a:lnTo>
                <a:lnTo>
                  <a:pt x="457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173222" y="1168513"/>
            <a:ext cx="1814830" cy="40513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88265" marR="30480" indent="-50800">
              <a:lnSpc>
                <a:spcPct val="120700"/>
              </a:lnSpc>
              <a:spcBef>
                <a:spcPts val="65"/>
              </a:spcBef>
              <a:tabLst>
                <a:tab pos="673735" algn="l"/>
                <a:tab pos="1314450" algn="l"/>
              </a:tabLst>
            </a:pP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20">
                <a:latin typeface="Cambria Math"/>
                <a:cs typeface="Cambria Math"/>
              </a:rPr>
              <a:t>2</a:t>
            </a:r>
            <a:r>
              <a:rPr dirty="0" sz="1000" spc="5">
                <a:latin typeface="Cambria Math"/>
                <a:cs typeface="Cambria Math"/>
              </a:rPr>
              <a:t>,</a:t>
            </a:r>
            <a:r>
              <a:rPr dirty="0" sz="1000" spc="15">
                <a:latin typeface="Cambria Math"/>
                <a:cs typeface="Cambria Math"/>
              </a:rPr>
              <a:t>28</a:t>
            </a:r>
            <a:r>
              <a:rPr dirty="0" sz="1000" spc="25">
                <a:latin typeface="Cambria Math"/>
                <a:cs typeface="Cambria Math"/>
              </a:rPr>
              <a:t>0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12</a:t>
            </a:r>
            <a:r>
              <a:rPr dirty="0" sz="1000" spc="5">
                <a:latin typeface="Cambria Math"/>
                <a:cs typeface="Cambria Math"/>
              </a:rPr>
              <a:t>,</a:t>
            </a:r>
            <a:r>
              <a:rPr dirty="0" sz="1000" spc="15">
                <a:latin typeface="Cambria Math"/>
                <a:cs typeface="Cambria Math"/>
              </a:rPr>
              <a:t>28</a:t>
            </a:r>
            <a:r>
              <a:rPr dirty="0" sz="1000" spc="25">
                <a:latin typeface="Cambria Math"/>
                <a:cs typeface="Cambria Math"/>
              </a:rPr>
              <a:t>0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2</a:t>
            </a:r>
            <a:r>
              <a:rPr dirty="0" sz="1000" spc="50">
                <a:latin typeface="Cambria Math"/>
                <a:cs typeface="Cambria Math"/>
              </a:rPr>
              <a:t>2</a:t>
            </a:r>
            <a:r>
              <a:rPr dirty="0" sz="1000" spc="5">
                <a:latin typeface="Cambria Math"/>
                <a:cs typeface="Cambria Math"/>
              </a:rPr>
              <a:t>,</a:t>
            </a:r>
            <a:r>
              <a:rPr dirty="0" sz="1000" spc="10">
                <a:latin typeface="Cambria Math"/>
                <a:cs typeface="Cambria Math"/>
              </a:rPr>
              <a:t>280  </a:t>
            </a:r>
            <a:r>
              <a:rPr dirty="0" sz="1000" spc="10">
                <a:latin typeface="Cambria Math"/>
                <a:cs typeface="Cambria Math"/>
              </a:rPr>
              <a:t>(1.20)</a:t>
            </a:r>
            <a:r>
              <a:rPr dirty="0" sz="1000" spc="75">
                <a:latin typeface="Cambria Math"/>
                <a:cs typeface="Cambria Math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+</a:t>
            </a:r>
            <a:r>
              <a:rPr dirty="0" baseline="35353" sz="1650" spc="240">
                <a:latin typeface="Garamond"/>
                <a:cs typeface="Garamond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(1.20)</a:t>
            </a:r>
            <a:r>
              <a:rPr dirty="0" baseline="20833" sz="1200" spc="22">
                <a:latin typeface="Cambria Math"/>
                <a:cs typeface="Cambria Math"/>
              </a:rPr>
              <a:t>2</a:t>
            </a:r>
            <a:r>
              <a:rPr dirty="0" baseline="20833" sz="1200" spc="247">
                <a:latin typeface="Cambria Math"/>
                <a:cs typeface="Cambria Math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+</a:t>
            </a:r>
            <a:r>
              <a:rPr dirty="0" baseline="35353" sz="1650" spc="352">
                <a:latin typeface="Garamond"/>
                <a:cs typeface="Garamond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(1.20)</a:t>
            </a:r>
            <a:r>
              <a:rPr dirty="0" baseline="20833" sz="1200" spc="22">
                <a:latin typeface="Cambria Math"/>
                <a:cs typeface="Cambria Math"/>
              </a:rPr>
              <a:t>3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87926" y="1385950"/>
            <a:ext cx="457834" cy="9525"/>
          </a:xfrm>
          <a:custGeom>
            <a:avLst/>
            <a:gdLst/>
            <a:ahLst/>
            <a:cxnLst/>
            <a:rect l="l" t="t" r="r" b="b"/>
            <a:pathLst>
              <a:path w="457835" h="9525">
                <a:moveTo>
                  <a:pt x="457504" y="0"/>
                </a:moveTo>
                <a:lnTo>
                  <a:pt x="0" y="0"/>
                </a:lnTo>
                <a:lnTo>
                  <a:pt x="0" y="9144"/>
                </a:lnTo>
                <a:lnTo>
                  <a:pt x="457504" y="9144"/>
                </a:lnTo>
                <a:lnTo>
                  <a:pt x="4575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405508" y="1844420"/>
            <a:ext cx="3858260" cy="13119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6985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21%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00">
              <a:latin typeface="Garamond"/>
              <a:cs typeface="Garamond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2.3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Garamond"/>
              <a:cs typeface="Garamond"/>
            </a:endParaRPr>
          </a:p>
          <a:p>
            <a:pPr marL="698500" marR="5080">
              <a:lnSpc>
                <a:spcPts val="1260"/>
              </a:lnSpc>
            </a:pPr>
            <a:r>
              <a:rPr dirty="0" sz="1100" spc="5">
                <a:latin typeface="Garamond"/>
                <a:cs typeface="Garamond"/>
              </a:rPr>
              <a:t>AAR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$5280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/{(31,000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24,000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17,000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>
                <a:latin typeface="Garamond"/>
                <a:cs typeface="Garamond"/>
              </a:rPr>
              <a:t> 10,000)/4}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AAR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25.76%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Should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project? </a:t>
            </a:r>
            <a:r>
              <a:rPr dirty="0" sz="1100" spc="-10">
                <a:latin typeface="Garamond"/>
                <a:cs typeface="Garamond"/>
              </a:rPr>
              <a:t>Why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not?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69280" cy="222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4818380">
              <a:lnSpc>
                <a:spcPts val="1355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30</a:t>
            </a:r>
            <a:endParaRPr sz="1150">
              <a:latin typeface="Garamond"/>
              <a:cs typeface="Garamond"/>
            </a:endParaRPr>
          </a:p>
          <a:p>
            <a:pPr algn="ctr" marR="3810">
              <a:lnSpc>
                <a:spcPts val="1355"/>
              </a:lnSpc>
            </a:pPr>
            <a:r>
              <a:rPr dirty="0" sz="1150" spc="20" b="1">
                <a:latin typeface="Garamond"/>
                <a:cs typeface="Garamond"/>
              </a:rPr>
              <a:t>PRO </a:t>
            </a:r>
            <a:r>
              <a:rPr dirty="0" sz="1150" spc="25" b="1">
                <a:latin typeface="Garamond"/>
                <a:cs typeface="Garamond"/>
              </a:rPr>
              <a:t>FORMA</a:t>
            </a:r>
            <a:r>
              <a:rPr dirty="0" sz="1150" spc="40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FINANCIAL</a:t>
            </a:r>
            <a:r>
              <a:rPr dirty="0" sz="1150" spc="-1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STATEMENTS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Garamond"/>
              <a:cs typeface="Garamond"/>
            </a:endParaRPr>
          </a:p>
          <a:p>
            <a:pPr marL="12700" marR="8255">
              <a:lnSpc>
                <a:spcPts val="1260"/>
              </a:lnSpc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prepare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forma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Enterprises.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order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so,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background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information.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assume: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Sales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10,000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units/year </a:t>
            </a:r>
            <a:r>
              <a:rPr dirty="0" sz="1100" spc="10">
                <a:latin typeface="Garamond"/>
                <a:cs typeface="Garamond"/>
              </a:rPr>
              <a:t>@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$5/unit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20"/>
              </a:lnSpc>
              <a:spcBef>
                <a:spcPts val="2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Variable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cost/unit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Fixed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$5,000/year.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salvage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value.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life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$21,000.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Depreciation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$7,000/year.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20%.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34%.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Projected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Income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420111" y="3091941"/>
          <a:ext cx="3184525" cy="1715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5705"/>
                <a:gridCol w="718184"/>
              </a:tblGrid>
              <a:tr h="187705"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Particular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778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Amount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749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Sales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(10,000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units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/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year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@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$5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per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unit)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872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Variable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($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3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/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Unit)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087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Gross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Profit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872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6177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EBIT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$8,000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3527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(34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%)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2,720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606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$5,280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4931790"/>
            <a:ext cx="151447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Projected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Balance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Sheets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994090" y="5282818"/>
          <a:ext cx="4030979" cy="773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0485"/>
                <a:gridCol w="706754"/>
                <a:gridCol w="681989"/>
                <a:gridCol w="686435"/>
                <a:gridCol w="616585"/>
              </a:tblGrid>
              <a:tr h="187706">
                <a:tc>
                  <a:txBody>
                    <a:bodyPr/>
                    <a:lstStyle/>
                    <a:p>
                      <a:pPr marL="77470">
                        <a:lnSpc>
                          <a:spcPts val="116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Particular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08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6839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0014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800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9319">
                <a:tc>
                  <a:txBody>
                    <a:bodyPr/>
                    <a:lstStyle/>
                    <a:p>
                      <a:pPr marL="73660">
                        <a:lnSpc>
                          <a:spcPts val="119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working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271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5584">
                <a:tc>
                  <a:txBody>
                    <a:bodyPr/>
                    <a:lstStyle/>
                    <a:p>
                      <a:pPr marL="73660">
                        <a:lnSpc>
                          <a:spcPts val="12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2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14,000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8407">
                <a:tc>
                  <a:txBody>
                    <a:bodyPr/>
                    <a:lstStyle/>
                    <a:p>
                      <a:pPr marL="7366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27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$24,000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$17,000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35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1990089" y="6042405"/>
            <a:ext cx="1340485" cy="5080"/>
          </a:xfrm>
          <a:custGeom>
            <a:avLst/>
            <a:gdLst/>
            <a:ahLst/>
            <a:cxnLst/>
            <a:rect l="l" t="t" r="r" b="b"/>
            <a:pathLst>
              <a:path w="1340485" h="5079">
                <a:moveTo>
                  <a:pt x="1340485" y="0"/>
                </a:moveTo>
                <a:lnTo>
                  <a:pt x="0" y="0"/>
                </a:lnTo>
                <a:lnTo>
                  <a:pt x="0" y="4571"/>
                </a:lnTo>
                <a:lnTo>
                  <a:pt x="1340485" y="4571"/>
                </a:lnTo>
                <a:lnTo>
                  <a:pt x="13404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76629" y="6180581"/>
            <a:ext cx="5336540" cy="20802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Projected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 Flows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Garamond"/>
              <a:cs typeface="Garamond"/>
            </a:endParaRPr>
          </a:p>
          <a:p>
            <a:pPr marL="12700" marR="5080">
              <a:lnSpc>
                <a:spcPts val="126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flow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–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spending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Earnings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before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Depreciation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endParaRPr sz="1100">
              <a:latin typeface="Garamond"/>
              <a:cs typeface="Garamond"/>
            </a:endParaRPr>
          </a:p>
          <a:p>
            <a:pPr marL="12700" marR="624840">
              <a:lnSpc>
                <a:spcPts val="2490"/>
              </a:lnSpc>
              <a:spcBef>
                <a:spcPts val="60"/>
              </a:spcBef>
            </a:pPr>
            <a:r>
              <a:rPr dirty="0" sz="1100" spc="5">
                <a:latin typeface="Garamond"/>
                <a:cs typeface="Garamond"/>
              </a:rPr>
              <a:t>Let’s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previous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example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budgeting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analysis.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(OCF):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117</a:t>
            </a: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923285" y="8416163"/>
          <a:ext cx="2178050" cy="956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265"/>
                <a:gridCol w="818515"/>
              </a:tblGrid>
              <a:tr h="187451"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Particular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Amount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87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EBIT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$8,000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+7,000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872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-2,720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454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120586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Projected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907222" y="1065910"/>
          <a:ext cx="4200525" cy="956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4945"/>
                <a:gridCol w="751205"/>
                <a:gridCol w="682625"/>
                <a:gridCol w="687704"/>
                <a:gridCol w="611504"/>
              </a:tblGrid>
              <a:tr h="187452">
                <a:tc>
                  <a:txBody>
                    <a:bodyPr/>
                    <a:lstStyle/>
                    <a:p>
                      <a:pPr marL="77470">
                        <a:lnSpc>
                          <a:spcPts val="123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Particular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0014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874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9319">
                <a:tc>
                  <a:txBody>
                    <a:bodyPr/>
                    <a:lstStyle/>
                    <a:p>
                      <a:pPr marL="73660">
                        <a:lnSpc>
                          <a:spcPts val="119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300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---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7366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Changes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NWC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</a:tr>
              <a:tr h="195838">
                <a:tc>
                  <a:txBody>
                    <a:bodyPr/>
                    <a:lstStyle/>
                    <a:p>
                      <a:pPr marL="7366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Capital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Spending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-21,000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8025">
                <a:tc>
                  <a:txBody>
                    <a:bodyPr/>
                    <a:lstStyle/>
                    <a:p>
                      <a:pPr marL="7366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-31,000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52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22,280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903222" y="2007996"/>
            <a:ext cx="1510030" cy="5080"/>
          </a:xfrm>
          <a:custGeom>
            <a:avLst/>
            <a:gdLst/>
            <a:ahLst/>
            <a:cxnLst/>
            <a:rect l="l" t="t" r="r" b="b"/>
            <a:pathLst>
              <a:path w="1510029" h="5080">
                <a:moveTo>
                  <a:pt x="1509649" y="0"/>
                </a:moveTo>
                <a:lnTo>
                  <a:pt x="0" y="0"/>
                </a:lnTo>
                <a:lnTo>
                  <a:pt x="0" y="4572"/>
                </a:lnTo>
                <a:lnTo>
                  <a:pt x="1509649" y="4572"/>
                </a:lnTo>
                <a:lnTo>
                  <a:pt x="1509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76629" y="2164460"/>
            <a:ext cx="5668645" cy="10007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9900" indent="-229235">
              <a:lnSpc>
                <a:spcPts val="1270"/>
              </a:lnSpc>
              <a:spcBef>
                <a:spcPts val="11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know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spend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$21,000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fixed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</a:t>
            </a:r>
            <a:r>
              <a:rPr dirty="0" sz="1100" spc="10">
                <a:latin typeface="Garamond"/>
                <a:cs typeface="Garamond"/>
              </a:rPr>
              <a:t> 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additional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$10,000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immediate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outflow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$31,000</a:t>
            </a:r>
            <a:endParaRPr sz="1100">
              <a:latin typeface="Garamond"/>
              <a:cs typeface="Garamond"/>
            </a:endParaRPr>
          </a:p>
          <a:p>
            <a:pPr marL="469900" marR="6985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recovery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NWC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last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5">
                <a:latin typeface="Garamond"/>
                <a:cs typeface="Garamond"/>
              </a:rPr>
              <a:t> will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lead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inflow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Budgeting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Evaluation: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91689" y="3313581"/>
            <a:ext cx="1062355" cy="510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4500"/>
              </a:lnSpc>
              <a:spcBef>
                <a:spcPts val="95"/>
              </a:spcBef>
            </a:pP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31,000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$655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11322" y="3485387"/>
            <a:ext cx="457834" cy="9525"/>
          </a:xfrm>
          <a:custGeom>
            <a:avLst/>
            <a:gdLst/>
            <a:ahLst/>
            <a:cxnLst/>
            <a:rect l="l" t="t" r="r" b="b"/>
            <a:pathLst>
              <a:path w="457835" h="9525">
                <a:moveTo>
                  <a:pt x="457504" y="0"/>
                </a:moveTo>
                <a:lnTo>
                  <a:pt x="0" y="0"/>
                </a:lnTo>
                <a:lnTo>
                  <a:pt x="0" y="9144"/>
                </a:lnTo>
                <a:lnTo>
                  <a:pt x="457504" y="9144"/>
                </a:lnTo>
                <a:lnTo>
                  <a:pt x="4575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47465" y="3485387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457200" y="0"/>
                </a:moveTo>
                <a:lnTo>
                  <a:pt x="0" y="0"/>
                </a:lnTo>
                <a:lnTo>
                  <a:pt x="0" y="9144"/>
                </a:lnTo>
                <a:lnTo>
                  <a:pt x="457200" y="9144"/>
                </a:lnTo>
                <a:lnTo>
                  <a:pt x="457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173222" y="3267950"/>
            <a:ext cx="1814830" cy="40513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88265" marR="30480" indent="-50800">
              <a:lnSpc>
                <a:spcPct val="120700"/>
              </a:lnSpc>
              <a:spcBef>
                <a:spcPts val="65"/>
              </a:spcBef>
              <a:tabLst>
                <a:tab pos="673735" algn="l"/>
                <a:tab pos="1314450" algn="l"/>
              </a:tabLst>
            </a:pP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20">
                <a:latin typeface="Cambria Math"/>
                <a:cs typeface="Cambria Math"/>
              </a:rPr>
              <a:t>2</a:t>
            </a:r>
            <a:r>
              <a:rPr dirty="0" sz="1000" spc="5">
                <a:latin typeface="Cambria Math"/>
                <a:cs typeface="Cambria Math"/>
              </a:rPr>
              <a:t>,</a:t>
            </a:r>
            <a:r>
              <a:rPr dirty="0" sz="1000" spc="15">
                <a:latin typeface="Cambria Math"/>
                <a:cs typeface="Cambria Math"/>
              </a:rPr>
              <a:t>28</a:t>
            </a:r>
            <a:r>
              <a:rPr dirty="0" sz="1000" spc="25">
                <a:latin typeface="Cambria Math"/>
                <a:cs typeface="Cambria Math"/>
              </a:rPr>
              <a:t>0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12</a:t>
            </a:r>
            <a:r>
              <a:rPr dirty="0" sz="1000" spc="5">
                <a:latin typeface="Cambria Math"/>
                <a:cs typeface="Cambria Math"/>
              </a:rPr>
              <a:t>,</a:t>
            </a:r>
            <a:r>
              <a:rPr dirty="0" sz="1000" spc="15">
                <a:latin typeface="Cambria Math"/>
                <a:cs typeface="Cambria Math"/>
              </a:rPr>
              <a:t>28</a:t>
            </a:r>
            <a:r>
              <a:rPr dirty="0" sz="1000" spc="25">
                <a:latin typeface="Cambria Math"/>
                <a:cs typeface="Cambria Math"/>
              </a:rPr>
              <a:t>0</a:t>
            </a:r>
            <a:r>
              <a:rPr dirty="0" sz="1000">
                <a:latin typeface="Cambria Math"/>
                <a:cs typeface="Cambria Math"/>
              </a:rPr>
              <a:t>	</a:t>
            </a:r>
            <a:r>
              <a:rPr dirty="0" sz="1000" spc="-10">
                <a:latin typeface="Cambria Math"/>
                <a:cs typeface="Cambria Math"/>
              </a:rPr>
              <a:t>$</a:t>
            </a:r>
            <a:r>
              <a:rPr dirty="0" sz="1000" spc="15">
                <a:latin typeface="Cambria Math"/>
                <a:cs typeface="Cambria Math"/>
              </a:rPr>
              <a:t>2</a:t>
            </a:r>
            <a:r>
              <a:rPr dirty="0" sz="1000" spc="50">
                <a:latin typeface="Cambria Math"/>
                <a:cs typeface="Cambria Math"/>
              </a:rPr>
              <a:t>2</a:t>
            </a:r>
            <a:r>
              <a:rPr dirty="0" sz="1000" spc="5">
                <a:latin typeface="Cambria Math"/>
                <a:cs typeface="Cambria Math"/>
              </a:rPr>
              <a:t>,</a:t>
            </a:r>
            <a:r>
              <a:rPr dirty="0" sz="1000" spc="10">
                <a:latin typeface="Cambria Math"/>
                <a:cs typeface="Cambria Math"/>
              </a:rPr>
              <a:t>280  </a:t>
            </a:r>
            <a:r>
              <a:rPr dirty="0" sz="1000" spc="10">
                <a:latin typeface="Cambria Math"/>
                <a:cs typeface="Cambria Math"/>
              </a:rPr>
              <a:t>(1.20)</a:t>
            </a:r>
            <a:r>
              <a:rPr dirty="0" sz="1000" spc="75">
                <a:latin typeface="Cambria Math"/>
                <a:cs typeface="Cambria Math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+</a:t>
            </a:r>
            <a:r>
              <a:rPr dirty="0" baseline="35353" sz="1650" spc="240">
                <a:latin typeface="Garamond"/>
                <a:cs typeface="Garamond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(1.20)</a:t>
            </a:r>
            <a:r>
              <a:rPr dirty="0" baseline="20833" sz="1200" spc="22">
                <a:latin typeface="Cambria Math"/>
                <a:cs typeface="Cambria Math"/>
              </a:rPr>
              <a:t>2</a:t>
            </a:r>
            <a:r>
              <a:rPr dirty="0" baseline="20833" sz="1200" spc="247">
                <a:latin typeface="Cambria Math"/>
                <a:cs typeface="Cambria Math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+</a:t>
            </a:r>
            <a:r>
              <a:rPr dirty="0" baseline="35353" sz="1650" spc="352">
                <a:latin typeface="Garamond"/>
                <a:cs typeface="Garamond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(1.20)</a:t>
            </a:r>
            <a:r>
              <a:rPr dirty="0" baseline="20833" sz="1200" spc="22">
                <a:latin typeface="Cambria Math"/>
                <a:cs typeface="Cambria Math"/>
              </a:rPr>
              <a:t>3</a:t>
            </a:r>
            <a:endParaRPr baseline="20833" sz="12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87926" y="3485387"/>
            <a:ext cx="457834" cy="9525"/>
          </a:xfrm>
          <a:custGeom>
            <a:avLst/>
            <a:gdLst/>
            <a:ahLst/>
            <a:cxnLst/>
            <a:rect l="l" t="t" r="r" b="b"/>
            <a:pathLst>
              <a:path w="457835" h="9525">
                <a:moveTo>
                  <a:pt x="457504" y="0"/>
                </a:moveTo>
                <a:lnTo>
                  <a:pt x="0" y="0"/>
                </a:lnTo>
                <a:lnTo>
                  <a:pt x="0" y="9144"/>
                </a:lnTo>
                <a:lnTo>
                  <a:pt x="457504" y="9144"/>
                </a:lnTo>
                <a:lnTo>
                  <a:pt x="4575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76629" y="3943857"/>
            <a:ext cx="5665470" cy="50304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277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IRR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21%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927735">
              <a:lnSpc>
                <a:spcPct val="100000"/>
              </a:lnSpc>
            </a:pP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2.3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Garamond"/>
              <a:cs typeface="Garamond"/>
            </a:endParaRPr>
          </a:p>
          <a:p>
            <a:pPr marL="927735" marR="1585595">
              <a:lnSpc>
                <a:spcPts val="1260"/>
              </a:lnSpc>
            </a:pPr>
            <a:r>
              <a:rPr dirty="0" sz="1100" spc="5">
                <a:latin typeface="Garamond"/>
                <a:cs typeface="Garamond"/>
              </a:rPr>
              <a:t>AAR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$5280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/{(31,000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24,000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17,000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10,000)/4}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AAR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25.76%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Should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project? </a:t>
            </a:r>
            <a:r>
              <a:rPr dirty="0" sz="1100" spc="-10">
                <a:latin typeface="Garamond"/>
                <a:cs typeface="Garamond"/>
              </a:rPr>
              <a:t>Why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not?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Tax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Shield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Approach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shield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definition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Garamond"/>
              <a:cs typeface="Garamond"/>
            </a:endParaRPr>
          </a:p>
          <a:p>
            <a:pPr marL="927735" marR="1947545">
              <a:lnSpc>
                <a:spcPct val="93600"/>
              </a:lnSpc>
            </a:pPr>
            <a:r>
              <a:rPr dirty="0" sz="1100" spc="5">
                <a:latin typeface="Garamond"/>
                <a:cs typeface="Garamond"/>
              </a:rPr>
              <a:t>OCF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>
                <a:latin typeface="Garamond"/>
                <a:cs typeface="Garamond"/>
              </a:rPr>
              <a:t>(Sales </a:t>
            </a:r>
            <a:r>
              <a:rPr dirty="0" sz="1100" spc="5">
                <a:latin typeface="Garamond"/>
                <a:cs typeface="Garamond"/>
              </a:rPr>
              <a:t>– </a:t>
            </a:r>
            <a:r>
              <a:rPr dirty="0" sz="1100" spc="-5">
                <a:latin typeface="Garamond"/>
                <a:cs typeface="Garamond"/>
              </a:rPr>
              <a:t>Costs) </a:t>
            </a:r>
            <a:r>
              <a:rPr dirty="0" sz="1100" spc="5">
                <a:latin typeface="Garamond"/>
                <a:cs typeface="Garamond"/>
              </a:rPr>
              <a:t>x </a:t>
            </a:r>
            <a:r>
              <a:rPr dirty="0" sz="1100" spc="-15">
                <a:latin typeface="Garamond"/>
                <a:cs typeface="Garamond"/>
              </a:rPr>
              <a:t>(1 </a:t>
            </a:r>
            <a:r>
              <a:rPr dirty="0" sz="1100" spc="5">
                <a:latin typeface="Garamond"/>
                <a:cs typeface="Garamond"/>
              </a:rPr>
              <a:t>– T)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>
                <a:latin typeface="Garamond"/>
                <a:cs typeface="Garamond"/>
              </a:rPr>
              <a:t>Dep. </a:t>
            </a:r>
            <a:r>
              <a:rPr dirty="0" sz="1100" spc="10">
                <a:latin typeface="Garamond"/>
                <a:cs typeface="Garamond"/>
              </a:rPr>
              <a:t>X </a:t>
            </a:r>
            <a:r>
              <a:rPr dirty="0" sz="1100" spc="5">
                <a:latin typeface="Garamond"/>
                <a:cs typeface="Garamond"/>
              </a:rPr>
              <a:t>T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(34%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case)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OCF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($50,000 </a:t>
            </a:r>
            <a:r>
              <a:rPr dirty="0" sz="1100" spc="5">
                <a:latin typeface="Garamond"/>
                <a:cs typeface="Garamond"/>
              </a:rPr>
              <a:t>– </a:t>
            </a:r>
            <a:r>
              <a:rPr dirty="0" sz="1100">
                <a:latin typeface="Garamond"/>
                <a:cs typeface="Garamond"/>
              </a:rPr>
              <a:t>35,000) </a:t>
            </a:r>
            <a:r>
              <a:rPr dirty="0" sz="1100" spc="5">
                <a:latin typeface="Garamond"/>
                <a:cs typeface="Garamond"/>
              </a:rPr>
              <a:t>x 0.66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-5">
                <a:latin typeface="Garamond"/>
                <a:cs typeface="Garamond"/>
              </a:rPr>
              <a:t>7,000 </a:t>
            </a:r>
            <a:r>
              <a:rPr dirty="0" sz="1100" spc="5">
                <a:latin typeface="Garamond"/>
                <a:cs typeface="Garamond"/>
              </a:rPr>
              <a:t>x </a:t>
            </a:r>
            <a:r>
              <a:rPr dirty="0" sz="1100" spc="-5">
                <a:latin typeface="Garamond"/>
                <a:cs typeface="Garamond"/>
              </a:rPr>
              <a:t>0.34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OCF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$9,900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2,380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$12,280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shows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components: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Project’s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depreciation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expense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i.e.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$9,900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Depreciation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shield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$2,380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10" b="1">
                <a:latin typeface="Garamond"/>
                <a:cs typeface="Garamond"/>
              </a:rPr>
              <a:t>A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Closer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Look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on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NWC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Until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explicitly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Some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 </a:t>
            </a:r>
            <a:r>
              <a:rPr dirty="0" sz="1100">
                <a:latin typeface="Garamond"/>
                <a:cs typeface="Garamond"/>
              </a:rPr>
              <a:t>might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paid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shown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big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problems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until</a:t>
            </a:r>
            <a:r>
              <a:rPr dirty="0" sz="1100" spc="10">
                <a:latin typeface="Garamond"/>
                <a:cs typeface="Garamond"/>
              </a:rPr>
              <a:t> 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don’t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forget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include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-5">
                <a:latin typeface="Garamond"/>
                <a:cs typeface="Garamond"/>
              </a:rPr>
              <a:t> analysis.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during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project.</a:t>
            </a:r>
            <a:endParaRPr sz="1100">
              <a:latin typeface="Garamond"/>
              <a:cs typeface="Garamond"/>
            </a:endParaRPr>
          </a:p>
          <a:p>
            <a:pPr marL="241300">
              <a:lnSpc>
                <a:spcPct val="100000"/>
              </a:lnSpc>
              <a:spcBef>
                <a:spcPts val="85"/>
              </a:spcBef>
            </a:pPr>
            <a:r>
              <a:rPr dirty="0" sz="1100" spc="5">
                <a:latin typeface="Symbol"/>
                <a:cs typeface="Symbol"/>
              </a:rPr>
              <a:t>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118</a:t>
            </a: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445128" y="8970926"/>
          <a:ext cx="1243965" cy="4705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1530"/>
                <a:gridCol w="433070"/>
              </a:tblGrid>
              <a:tr h="157448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Sales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5447">
                <a:tc>
                  <a:txBody>
                    <a:bodyPr/>
                    <a:lstStyle/>
                    <a:p>
                      <a:pPr marL="3175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Costs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12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2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-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310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57448">
                <a:tc>
                  <a:txBody>
                    <a:bodyPr/>
                    <a:lstStyle/>
                    <a:p>
                      <a:pPr marL="3175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6034">
                        <a:lnSpc>
                          <a:spcPts val="1140"/>
                        </a:lnSpc>
                      </a:pPr>
                      <a:r>
                        <a:rPr dirty="0" u="dbl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$190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76629" y="431038"/>
            <a:ext cx="4658360" cy="969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  <a:p>
            <a:pPr marL="469900" indent="-229235">
              <a:lnSpc>
                <a:spcPts val="1290"/>
              </a:lnSpc>
              <a:spcBef>
                <a:spcPts val="9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 </a:t>
            </a:r>
            <a:r>
              <a:rPr dirty="0" sz="1100" spc="-5">
                <a:latin typeface="Garamond"/>
                <a:cs typeface="Garamond"/>
              </a:rPr>
              <a:t>assume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here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Depreciation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taxes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zero,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No </a:t>
            </a:r>
            <a:r>
              <a:rPr dirty="0" sz="1100" spc="-5">
                <a:latin typeface="Garamond"/>
                <a:cs typeface="Garamond"/>
              </a:rPr>
              <a:t>fixed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purchased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during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Only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NWC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97101" y="1555114"/>
          <a:ext cx="4629785" cy="773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6370"/>
                <a:gridCol w="1322705"/>
                <a:gridCol w="1009014"/>
                <a:gridCol w="861060"/>
              </a:tblGrid>
              <a:tr h="187451">
                <a:tc>
                  <a:txBody>
                    <a:bodyPr/>
                    <a:lstStyle/>
                    <a:p>
                      <a:pPr marL="68580">
                        <a:lnSpc>
                          <a:spcPts val="115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Particular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Beginning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3815">
                        <a:lnSpc>
                          <a:spcPts val="126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End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381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Change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100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$880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444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$910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393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+$30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872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381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605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937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+55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45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Working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$330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44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$305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629" y="2471165"/>
            <a:ext cx="5669280" cy="44081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example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EBIT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depreciation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NWC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declined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$25,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spending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during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So,</a:t>
            </a:r>
            <a:endParaRPr sz="1100">
              <a:latin typeface="Garamond"/>
              <a:cs typeface="Garamond"/>
            </a:endParaRPr>
          </a:p>
          <a:p>
            <a:pPr marL="1384935" marR="123825">
              <a:lnSpc>
                <a:spcPts val="1260"/>
              </a:lnSpc>
              <a:spcBef>
                <a:spcPts val="1255"/>
              </a:spcBef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Operating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NWC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spending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$190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(-25)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</a:t>
            </a:r>
            <a:endParaRPr sz="1100">
              <a:latin typeface="Garamond"/>
              <a:cs typeface="Garamond"/>
            </a:endParaRPr>
          </a:p>
          <a:p>
            <a:pPr marL="1384935">
              <a:lnSpc>
                <a:spcPts val="1195"/>
              </a:lnSpc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$215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7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know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revenues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year?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9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were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costs?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$500,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while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rose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$30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so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inflow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$500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$470</a:t>
            </a:r>
            <a:endParaRPr sz="1100">
              <a:latin typeface="Garamond"/>
              <a:cs typeface="Garamond"/>
            </a:endParaRPr>
          </a:p>
          <a:p>
            <a:pPr marL="469900" marR="698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show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$310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income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statement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$55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during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$310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55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$255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inflows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outflows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$470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255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$215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(matching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previous </a:t>
            </a:r>
            <a:r>
              <a:rPr dirty="0" sz="1100" spc="-5">
                <a:latin typeface="Garamond"/>
                <a:cs typeface="Garamond"/>
              </a:rPr>
              <a:t>result)</a:t>
            </a:r>
            <a:endParaRPr sz="1100">
              <a:latin typeface="Garamond"/>
              <a:cs typeface="Garamond"/>
            </a:endParaRPr>
          </a:p>
          <a:p>
            <a:pPr algn="ctr" marR="110489">
              <a:lnSpc>
                <a:spcPts val="1275"/>
              </a:lnSpc>
              <a:spcBef>
                <a:spcPts val="1200"/>
              </a:spcBef>
            </a:pPr>
            <a:r>
              <a:rPr dirty="0" sz="1100">
                <a:latin typeface="Garamond"/>
                <a:cs typeface="Garamond"/>
              </a:rPr>
              <a:t>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inflow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outflow</a:t>
            </a:r>
            <a:endParaRPr sz="1100">
              <a:latin typeface="Garamond"/>
              <a:cs typeface="Garamond"/>
            </a:endParaRPr>
          </a:p>
          <a:p>
            <a:pPr algn="ctr" marL="314960">
              <a:lnSpc>
                <a:spcPts val="1225"/>
              </a:lnSpc>
            </a:pP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($500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30)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(310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55)</a:t>
            </a:r>
            <a:endParaRPr sz="1100">
              <a:latin typeface="Garamond"/>
              <a:cs typeface="Garamond"/>
            </a:endParaRPr>
          </a:p>
          <a:p>
            <a:pPr algn="ctr" marL="314960">
              <a:lnSpc>
                <a:spcPts val="124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($500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310)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(30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55)</a:t>
            </a:r>
            <a:endParaRPr sz="1100">
              <a:latin typeface="Garamond"/>
              <a:cs typeface="Garamond"/>
            </a:endParaRPr>
          </a:p>
          <a:p>
            <a:pPr marL="2299970">
              <a:lnSpc>
                <a:spcPts val="124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OCF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Change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NWC</a:t>
            </a:r>
            <a:endParaRPr sz="1100">
              <a:latin typeface="Garamond"/>
              <a:cs typeface="Garamond"/>
            </a:endParaRPr>
          </a:p>
          <a:p>
            <a:pPr marL="2299970">
              <a:lnSpc>
                <a:spcPts val="122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$190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(-25)</a:t>
            </a:r>
            <a:endParaRPr sz="1100">
              <a:latin typeface="Garamond"/>
              <a:cs typeface="Garamond"/>
            </a:endParaRPr>
          </a:p>
          <a:p>
            <a:pPr marL="2299970">
              <a:lnSpc>
                <a:spcPts val="127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$215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Pencil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Company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1016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year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completed,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were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$998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$734.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beginning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ending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sheets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150110" y="7030211"/>
          <a:ext cx="3724275" cy="956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6370"/>
                <a:gridCol w="1322705"/>
                <a:gridCol w="964564"/>
              </a:tblGrid>
              <a:tr h="187451">
                <a:tc>
                  <a:txBody>
                    <a:bodyPr/>
                    <a:lstStyle/>
                    <a:p>
                      <a:pPr marL="67945">
                        <a:lnSpc>
                          <a:spcPts val="115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Particular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Beginning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End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4018"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270"/>
                </a:tc>
              </a:tr>
              <a:tr h="195584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453"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Working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405508" y="8289163"/>
            <a:ext cx="5132705" cy="1339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Sales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$998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rose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$10.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revenues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$998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$988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Costs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$734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inventories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fell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$30.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Thus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were:</a:t>
            </a:r>
            <a:endParaRPr sz="1100">
              <a:latin typeface="Garamond"/>
              <a:cs typeface="Garamond"/>
            </a:endParaRPr>
          </a:p>
          <a:p>
            <a:pPr marL="1156335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$734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$744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5">
                <a:latin typeface="Garamond"/>
                <a:cs typeface="Garamond"/>
              </a:rPr>
              <a:t> cash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156335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$988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744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$244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24282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 marR="27940" indent="-228600">
              <a:lnSpc>
                <a:spcPts val="1260"/>
              </a:lnSpc>
              <a:spcBef>
                <a:spcPts val="10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Accounting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depreciation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non-cash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deduction.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 </a:t>
            </a:r>
            <a:r>
              <a:rPr dirty="0" sz="1100" spc="-5">
                <a:latin typeface="Garamond"/>
                <a:cs typeface="Garamond"/>
              </a:rPr>
              <a:t>result</a:t>
            </a:r>
            <a:r>
              <a:rPr dirty="0" sz="1100">
                <a:latin typeface="Garamond"/>
                <a:cs typeface="Garamond"/>
              </a:rPr>
              <a:t> depreciation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consequences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influences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bill.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depreciation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computed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becomes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relevant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decisions.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Modified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Depreciation</a:t>
            </a:r>
            <a:endParaRPr sz="1100">
              <a:latin typeface="Garamond"/>
              <a:cs typeface="Garamond"/>
            </a:endParaRPr>
          </a:p>
          <a:p>
            <a:pPr lvl="1" marL="927735" marR="31115" indent="-228600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basic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idea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assigned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particular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class.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class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establishes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asset’s </a:t>
            </a:r>
            <a:r>
              <a:rPr dirty="0" sz="1100" spc="-10">
                <a:latin typeface="Garamond"/>
                <a:cs typeface="Garamond"/>
              </a:rPr>
              <a:t>life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purposes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17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compute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depreciation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multiplying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ts val="1240"/>
              </a:lnSpc>
            </a:pPr>
            <a:r>
              <a:rPr dirty="0" sz="1100">
                <a:latin typeface="Garamond"/>
                <a:cs typeface="Garamond"/>
              </a:rPr>
              <a:t>fixed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percentage.</a:t>
            </a:r>
            <a:endParaRPr sz="1100">
              <a:latin typeface="Garamond"/>
              <a:cs typeface="Garamond"/>
            </a:endParaRPr>
          </a:p>
          <a:p>
            <a:pPr lvl="1" marL="927735" marR="24765" indent="-228600">
              <a:lnSpc>
                <a:spcPts val="1220"/>
              </a:lnSpc>
              <a:spcBef>
                <a:spcPts val="75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salvage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economic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life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explicitly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depreciation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MACRS </a:t>
            </a:r>
            <a:r>
              <a:rPr dirty="0" sz="1100" spc="-5">
                <a:latin typeface="Garamond"/>
                <a:cs typeface="Garamond"/>
              </a:rPr>
              <a:t>Property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Classes</a:t>
            </a:r>
            <a:endParaRPr sz="1100">
              <a:latin typeface="Garamond"/>
              <a:cs typeface="Garamond"/>
            </a:endParaRPr>
          </a:p>
          <a:p>
            <a:pPr marL="1156335">
              <a:lnSpc>
                <a:spcPct val="100000"/>
              </a:lnSpc>
              <a:spcBef>
                <a:spcPts val="1165"/>
              </a:spcBef>
              <a:tabLst>
                <a:tab pos="2409825" algn="l"/>
                <a:tab pos="4129404" algn="l"/>
              </a:tabLst>
            </a:pPr>
            <a:r>
              <a:rPr dirty="0" u="sng" sz="1100" spc="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Class	</a:t>
            </a: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Examples	</a:t>
            </a:r>
            <a:r>
              <a:rPr dirty="0" sz="1100" spc="-40">
                <a:latin typeface="Garamond"/>
                <a:cs typeface="Garamond"/>
              </a:rPr>
              <a:t>_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20544" y="2832353"/>
            <a:ext cx="361315" cy="502284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just" marL="12700" marR="5080">
              <a:lnSpc>
                <a:spcPct val="91400"/>
              </a:lnSpc>
              <a:spcBef>
                <a:spcPts val="229"/>
              </a:spcBef>
            </a:pPr>
            <a:r>
              <a:rPr dirty="0" sz="1100" spc="20">
                <a:latin typeface="Garamond"/>
                <a:cs typeface="Garamond"/>
              </a:rPr>
              <a:t>3</a:t>
            </a:r>
            <a:r>
              <a:rPr dirty="0" sz="1100" spc="15">
                <a:latin typeface="Garamond"/>
                <a:cs typeface="Garamond"/>
              </a:rPr>
              <a:t>-</a:t>
            </a:r>
            <a:r>
              <a:rPr dirty="0" sz="1100" spc="-30">
                <a:latin typeface="Garamond"/>
                <a:cs typeface="Garamond"/>
              </a:rPr>
              <a:t>y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20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r  </a:t>
            </a:r>
            <a:r>
              <a:rPr dirty="0" sz="1100" spc="20">
                <a:latin typeface="Garamond"/>
                <a:cs typeface="Garamond"/>
              </a:rPr>
              <a:t>5</a:t>
            </a:r>
            <a:r>
              <a:rPr dirty="0" sz="1100" spc="15">
                <a:latin typeface="Garamond"/>
                <a:cs typeface="Garamond"/>
              </a:rPr>
              <a:t>-</a:t>
            </a:r>
            <a:r>
              <a:rPr dirty="0" sz="1100" spc="-30">
                <a:latin typeface="Garamond"/>
                <a:cs typeface="Garamond"/>
              </a:rPr>
              <a:t>y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20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r  </a:t>
            </a:r>
            <a:r>
              <a:rPr dirty="0" sz="1100" spc="20">
                <a:latin typeface="Garamond"/>
                <a:cs typeface="Garamond"/>
              </a:rPr>
              <a:t>7</a:t>
            </a:r>
            <a:r>
              <a:rPr dirty="0" sz="1100" spc="15">
                <a:latin typeface="Garamond"/>
                <a:cs typeface="Garamond"/>
              </a:rPr>
              <a:t>-</a:t>
            </a:r>
            <a:r>
              <a:rPr dirty="0" sz="1100" spc="-30">
                <a:latin typeface="Garamond"/>
                <a:cs typeface="Garamond"/>
              </a:rPr>
              <a:t>y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20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r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120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64178" y="2832353"/>
            <a:ext cx="1607185" cy="502284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 marR="81915">
              <a:lnSpc>
                <a:spcPts val="1190"/>
              </a:lnSpc>
              <a:spcBef>
                <a:spcPts val="260"/>
              </a:spcBef>
            </a:pPr>
            <a:r>
              <a:rPr dirty="0" sz="1100">
                <a:latin typeface="Garamond"/>
                <a:cs typeface="Garamond"/>
              </a:rPr>
              <a:t>Equipment </a:t>
            </a:r>
            <a:r>
              <a:rPr dirty="0" sz="1100" spc="-10">
                <a:latin typeface="Garamond"/>
                <a:cs typeface="Garamond"/>
              </a:rPr>
              <a:t>used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10">
                <a:latin typeface="Garamond"/>
                <a:cs typeface="Garamond"/>
              </a:rPr>
              <a:t>research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Autos,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Computers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05"/>
              </a:lnSpc>
            </a:pP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industrial equipment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788541" y="3489959"/>
          <a:ext cx="4451350" cy="1880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5035"/>
                <a:gridCol w="1130935"/>
                <a:gridCol w="1173480"/>
                <a:gridCol w="1217929"/>
              </a:tblGrid>
              <a:tr h="196596">
                <a:tc rowSpan="2"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9779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2540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Property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Classes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20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779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3-Year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378460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5-Year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7-Year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1003">
                <a:tc>
                  <a:txBody>
                    <a:bodyPr/>
                    <a:lstStyle/>
                    <a:p>
                      <a:pPr algn="r" marR="4152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33.33%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20.00%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14.29%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r" marR="41529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44.44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32.00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24.49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r" marR="41529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14.82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17.49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r" marR="41529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7.41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11.52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12.49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r" marR="41529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241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11.52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8.93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r" marR="41529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15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5.76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8.93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r" marR="41529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2476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8.93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552">
                <a:tc>
                  <a:txBody>
                    <a:bodyPr/>
                    <a:lstStyle/>
                    <a:p>
                      <a:pPr algn="r" marR="41529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476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9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4.45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5508" y="5508116"/>
            <a:ext cx="284226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Depreciation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automobile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$12,000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168398" y="5859144"/>
          <a:ext cx="3691890" cy="1518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625"/>
                <a:gridCol w="1402080"/>
                <a:gridCol w="1592580"/>
              </a:tblGrid>
              <a:tr h="196977">
                <a:tc>
                  <a:txBody>
                    <a:bodyPr/>
                    <a:lstStyle/>
                    <a:p>
                      <a:pPr marL="67945">
                        <a:lnSpc>
                          <a:spcPts val="123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12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MACRS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2384">
                        <a:lnSpc>
                          <a:spcPts val="123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3891">
                <a:tc>
                  <a:txBody>
                    <a:bodyPr/>
                    <a:lstStyle/>
                    <a:p>
                      <a:pPr algn="ctr" marR="11430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825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20.00%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$2,400.00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R="11430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32.00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3,840.00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algn="ctr" marR="11430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2,304.00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 marR="11430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11.52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1,382.40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R="11430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11.52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1,382.40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5584">
                <a:tc>
                  <a:txBody>
                    <a:bodyPr/>
                    <a:lstStyle/>
                    <a:p>
                      <a:pPr algn="ctr" marR="11430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5.76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048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691.20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11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25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100.00%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$12,000.00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405508" y="7516114"/>
            <a:ext cx="203581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versus Market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747392" y="7867142"/>
          <a:ext cx="4533900" cy="131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85"/>
                <a:gridCol w="1584325"/>
                <a:gridCol w="1003935"/>
                <a:gridCol w="1404620"/>
              </a:tblGrid>
              <a:tr h="196595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Beginning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Book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Value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Ending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Book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Value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558">
                <a:tc>
                  <a:txBody>
                    <a:bodyPr/>
                    <a:lstStyle/>
                    <a:p>
                      <a:pPr algn="ctr" marL="5715">
                        <a:lnSpc>
                          <a:spcPts val="130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30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$12,000.00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30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$2,400.00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30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$9,600.00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L="57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9,600.00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3,840.00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5,760.00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L="57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5,760.00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2,304.00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3,456.00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 marL="57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3,456.00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1,382.40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2,073.60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 marL="57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2,073.60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1,382.40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691.20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algn="ctr" marL="57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691.20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691.20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44310" y="714501"/>
            <a:ext cx="79692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-5" b="1">
                <a:latin typeface="Garamond"/>
                <a:cs typeface="Garamond"/>
              </a:rPr>
              <a:t>31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121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05508" y="883665"/>
            <a:ext cx="3217545" cy="5575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997710">
              <a:lnSpc>
                <a:spcPct val="100000"/>
              </a:lnSpc>
              <a:spcBef>
                <a:spcPts val="135"/>
              </a:spcBef>
            </a:pPr>
            <a:r>
              <a:rPr dirty="0" sz="1150" spc="25" b="1">
                <a:latin typeface="Garamond"/>
                <a:cs typeface="Garamond"/>
              </a:rPr>
              <a:t>DEPRECIATION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Depreciation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automobile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$12,000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168398" y="1600834"/>
          <a:ext cx="3691890" cy="1514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625"/>
                <a:gridCol w="1402080"/>
                <a:gridCol w="1592580"/>
              </a:tblGrid>
              <a:tr h="192277">
                <a:tc>
                  <a:txBody>
                    <a:bodyPr/>
                    <a:lstStyle/>
                    <a:p>
                      <a:pPr marL="67945">
                        <a:lnSpc>
                          <a:spcPts val="119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1280">
                        <a:lnSpc>
                          <a:spcPts val="130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MACRS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2384">
                        <a:lnSpc>
                          <a:spcPts val="119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3891">
                <a:tc>
                  <a:txBody>
                    <a:bodyPr/>
                    <a:lstStyle/>
                    <a:p>
                      <a:pPr algn="ctr" marR="11430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825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20.00%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$2,400.00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R="11430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32.00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3,840.00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R="11430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2,304.00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260">
                <a:tc>
                  <a:txBody>
                    <a:bodyPr/>
                    <a:lstStyle/>
                    <a:p>
                      <a:pPr algn="ctr" marR="11430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11.52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1,382.40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R="11430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11.52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ts val="122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1,382.40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5584">
                <a:tc>
                  <a:txBody>
                    <a:bodyPr/>
                    <a:lstStyle/>
                    <a:p>
                      <a:pPr algn="ctr" marR="11430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63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5.76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048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691.20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25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100.00%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42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$12,000.00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405508" y="3408679"/>
            <a:ext cx="203581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versus Market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747392" y="3764279"/>
          <a:ext cx="4533900" cy="1317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85"/>
                <a:gridCol w="1584325"/>
                <a:gridCol w="1003935"/>
                <a:gridCol w="1404620"/>
              </a:tblGrid>
              <a:tr h="192277">
                <a:tc>
                  <a:txBody>
                    <a:bodyPr/>
                    <a:lstStyle/>
                    <a:p>
                      <a:pPr algn="ctr" marL="5715">
                        <a:lnSpc>
                          <a:spcPts val="130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Beginning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Book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Value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0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Ending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Book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Value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749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$12,000.00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$2,400.00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$9,600.00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L="57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9,600.00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3,840.00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5,760.00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ctr" marL="57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5,760.00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2,304.00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3,456.00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ctr" marL="57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3,456.00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1,382.40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2,073.60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L="57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2,073.60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1,382.40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691.20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algn="ctr" marL="57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691.20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691.20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176629" y="5220080"/>
            <a:ext cx="5668010" cy="39554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469900" marR="1016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after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historical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averages,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25%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purchase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i.e.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0.25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12,000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$3,000</a:t>
            </a:r>
            <a:endParaRPr sz="1100">
              <a:latin typeface="Garamond"/>
              <a:cs typeface="Garamond"/>
            </a:endParaRPr>
          </a:p>
          <a:p>
            <a:pPr marL="469900" marR="1270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•If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sold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pay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$3,000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$691.20.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endParaRPr sz="1100">
              <a:latin typeface="Garamond"/>
              <a:cs typeface="Garamond"/>
            </a:endParaRPr>
          </a:p>
          <a:p>
            <a:pPr marL="1384935">
              <a:lnSpc>
                <a:spcPct val="100000"/>
              </a:lnSpc>
              <a:spcBef>
                <a:spcPts val="1200"/>
              </a:spcBef>
            </a:pPr>
            <a:r>
              <a:rPr dirty="0" sz="1100" spc="5">
                <a:latin typeface="Garamond"/>
                <a:cs typeface="Garamond"/>
              </a:rPr>
              <a:t>0.34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$2,308.80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$784.99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Garamond"/>
              <a:cs typeface="Garamond"/>
            </a:endParaRPr>
          </a:p>
          <a:p>
            <a:pPr marL="469900" marR="5715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reason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difference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value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excess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depreciation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recaptured</a:t>
            </a:r>
            <a:r>
              <a:rPr dirty="0" sz="1100">
                <a:latin typeface="Garamond"/>
                <a:cs typeface="Garamond"/>
              </a:rPr>
              <a:t> when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asset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sold.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2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gain,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gain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occurs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exceeds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original </a:t>
            </a:r>
            <a:r>
              <a:rPr dirty="0" sz="1100" spc="-5">
                <a:latin typeface="Garamond"/>
                <a:cs typeface="Garamond"/>
              </a:rPr>
              <a:t>cost.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3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exceeds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market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value,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treated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loss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purposes.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2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SS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Company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8255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purchased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system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installed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$160,000.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computer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treated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5-year property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MACRS.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19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depreciation </a:t>
            </a:r>
            <a:r>
              <a:rPr dirty="0" sz="1100" spc="-5">
                <a:latin typeface="Garamond"/>
                <a:cs typeface="Garamond"/>
              </a:rPr>
              <a:t>allowances?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system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estimated</a:t>
            </a:r>
            <a:r>
              <a:rPr dirty="0" sz="1100">
                <a:latin typeface="Garamond"/>
                <a:cs typeface="Garamond"/>
              </a:rPr>
              <a:t> worth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45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consequences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sale?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7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sale?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76373" y="750061"/>
          <a:ext cx="4076065" cy="1514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/>
                <a:gridCol w="942340"/>
                <a:gridCol w="1068705"/>
                <a:gridCol w="1477645"/>
              </a:tblGrid>
              <a:tr h="196596">
                <a:tc>
                  <a:txBody>
                    <a:bodyPr/>
                    <a:lstStyle/>
                    <a:p>
                      <a:pPr algn="ctr" marR="4445">
                        <a:lnSpc>
                          <a:spcPts val="130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30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MACRS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30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130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Ending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Book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Value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558">
                <a:tc>
                  <a:txBody>
                    <a:bodyPr/>
                    <a:lstStyle/>
                    <a:p>
                      <a:pPr algn="ctr" marR="5080">
                        <a:lnSpc>
                          <a:spcPts val="130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30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20.00%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$32,000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30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$128,000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R="50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32.00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51,200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76,800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R="50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30,720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46,080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 marR="50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11.52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18,432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27,648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 marR="50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11.52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18,432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9,216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8726">
                <a:tc>
                  <a:txBody>
                    <a:bodyPr/>
                    <a:lstStyle/>
                    <a:p>
                      <a:pPr algn="ctr" marR="50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5.76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9,216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1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100.00%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$160,000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76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122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629" y="2402585"/>
            <a:ext cx="5674995" cy="167322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469900" marR="12065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5">
                <a:latin typeface="Garamond"/>
                <a:cs typeface="Garamond"/>
              </a:rPr>
              <a:t>4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$27,648.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system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loss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$17,648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purposes.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$10,000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buyer.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save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0.34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$17,648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$6,000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taxes.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$16,000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inflow.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M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Inc.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Garamond"/>
              <a:cs typeface="Garamond"/>
            </a:endParaRPr>
          </a:p>
          <a:p>
            <a:pPr marL="469900" marR="5080" indent="-228600">
              <a:lnSpc>
                <a:spcPts val="123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considering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feasibility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line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product.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Based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>
                <a:latin typeface="Garamond"/>
                <a:cs typeface="Garamond"/>
              </a:rPr>
              <a:t> market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research,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projects unit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given: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206750" y="4075429"/>
          <a:ext cx="1615440" cy="1683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2305"/>
                <a:gridCol w="938530"/>
              </a:tblGrid>
              <a:tr h="192023">
                <a:tc>
                  <a:txBody>
                    <a:bodyPr/>
                    <a:lstStyle/>
                    <a:p>
                      <a:pPr algn="ctr" marL="26670">
                        <a:lnSpc>
                          <a:spcPts val="130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3495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Unit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Sales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749"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ctr" marL="2603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ctr" marL="2603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L="2603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 marL="2603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 marL="2603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L="2603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algn="ctr" marL="2603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405508" y="5741288"/>
            <a:ext cx="5441315" cy="171005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0665" marR="1270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product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10">
                <a:latin typeface="Garamond"/>
                <a:cs typeface="Garamond"/>
              </a:rPr>
              <a:t> 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$120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>
                <a:latin typeface="Garamond"/>
                <a:cs typeface="Garamond"/>
              </a:rPr>
              <a:t>unit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start.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However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competitions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affect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5">
                <a:latin typeface="Garamond"/>
                <a:cs typeface="Garamond"/>
              </a:rPr>
              <a:t>drop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$110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three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marL="240665" marR="698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project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$20,000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start.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Subsequently,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total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NWC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end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15%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variable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5">
                <a:latin typeface="Garamond"/>
                <a:cs typeface="Garamond"/>
              </a:rPr>
              <a:t>$60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$25,000 </a:t>
            </a:r>
            <a:r>
              <a:rPr dirty="0" sz="1100" spc="20">
                <a:latin typeface="Garamond"/>
                <a:cs typeface="Garamond"/>
              </a:rPr>
              <a:t>per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$800,000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equipment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necessary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begin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production.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equipment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comes under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7-year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MACRS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property.</a:t>
            </a:r>
            <a:endParaRPr sz="1100">
              <a:latin typeface="Garamond"/>
              <a:cs typeface="Garamond"/>
            </a:endParaRPr>
          </a:p>
          <a:p>
            <a:pPr marL="240665" marR="571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equipment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worth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20%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years,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0.20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$800,000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$160,000.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Tax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34%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15%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Should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proceed?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543555" y="7606537"/>
          <a:ext cx="2941955" cy="1687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730"/>
                <a:gridCol w="836930"/>
                <a:gridCol w="775335"/>
                <a:gridCol w="808989"/>
              </a:tblGrid>
              <a:tr h="1965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Unit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Price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Unit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Sale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Revenues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7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$360,000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720,000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715,000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660,000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440,000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330,000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063242" y="617473"/>
          <a:ext cx="3898265" cy="201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200"/>
                <a:gridCol w="792480"/>
                <a:gridCol w="731519"/>
                <a:gridCol w="731519"/>
                <a:gridCol w="675640"/>
              </a:tblGrid>
              <a:tr h="1325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7451">
                <a:tc>
                  <a:txBody>
                    <a:bodyPr/>
                    <a:lstStyle/>
                    <a:p>
                      <a:pPr algn="ctr" marL="6985">
                        <a:lnSpc>
                          <a:spcPts val="126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191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160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223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7414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Unit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Price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Unit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Sale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Revenues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$360,000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$600,000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$720,000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$715,000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Variable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180,000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360,000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390,000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202442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114,320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195,920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139,920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99,920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461"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EBIT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19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$40,680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19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$79,080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$195,080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$200,080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02442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(34%)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13,381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26,887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66,327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68,027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834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$26,849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$52,193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$128,573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$132,053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123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031238" y="2794761"/>
          <a:ext cx="3961765" cy="1880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335"/>
                <a:gridCol w="792479"/>
                <a:gridCol w="731519"/>
                <a:gridCol w="731519"/>
                <a:gridCol w="675639"/>
              </a:tblGrid>
              <a:tr h="187451">
                <a:tc>
                  <a:txBody>
                    <a:bodyPr/>
                    <a:lstStyle/>
                    <a:p>
                      <a:pPr algn="ctr" marL="6985">
                        <a:lnSpc>
                          <a:spcPts val="126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064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160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160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7160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Unit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Price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Unit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Sale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Revenues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$660,000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$550,000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$440,000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$330,000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Variable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360,000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240,000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180,000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Fixed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20256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Depreciation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71,440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71,440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71,440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35,600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461"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EBIT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$203,560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$153,560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$103,560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9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$89,400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02442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(34%)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69,210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52,210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35,210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30,396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834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$134,350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$101,350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$68,350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$59,004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4803774"/>
            <a:ext cx="4948555" cy="10604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Changes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in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Net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Working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Capital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starts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$20,000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15%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$20,000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0.15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360,000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$54,000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increase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thus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$54,000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$34,000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Rest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figures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next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table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218689" y="6019545"/>
          <a:ext cx="3591560" cy="1866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825"/>
                <a:gridCol w="742950"/>
                <a:gridCol w="1468755"/>
                <a:gridCol w="860424"/>
              </a:tblGrid>
              <a:tr h="196595">
                <a:tc>
                  <a:txBody>
                    <a:bodyPr/>
                    <a:lstStyle/>
                    <a:p>
                      <a:pPr algn="ctr" marL="1270">
                        <a:lnSpc>
                          <a:spcPts val="130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Revenue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Working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Capital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30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177">
                <a:tc>
                  <a:txBody>
                    <a:bodyPr/>
                    <a:lstStyle/>
                    <a:p>
                      <a:pPr algn="ctr" marL="63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651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079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-$20,000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$360,000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016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54,000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-34,000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016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90,000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-36,000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720,000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52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108,000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-18,000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715,000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52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107,250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660,000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016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99,000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8,250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016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82,500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16,500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440,000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016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66,000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16,500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71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330,000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016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49,500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16,500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176629" y="8010270"/>
            <a:ext cx="5661660" cy="13525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Capital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Spending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Invested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$800,000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0,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assumption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$160,000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project.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$160,000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excess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>
                <a:latin typeface="Garamond"/>
                <a:cs typeface="Garamond"/>
              </a:rPr>
              <a:t> value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taxable.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after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proceeds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be:</a:t>
            </a:r>
            <a:endParaRPr sz="1100">
              <a:latin typeface="Garamond"/>
              <a:cs typeface="Garamond"/>
            </a:endParaRPr>
          </a:p>
          <a:p>
            <a:pPr marL="1384935">
              <a:lnSpc>
                <a:spcPct val="100000"/>
              </a:lnSpc>
              <a:spcBef>
                <a:spcPts val="1165"/>
              </a:spcBef>
            </a:pPr>
            <a:r>
              <a:rPr dirty="0" sz="1100" spc="-5">
                <a:latin typeface="Garamond"/>
                <a:cs typeface="Garamond"/>
              </a:rPr>
              <a:t>$160,000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0.34)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$105,600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285621" y="750061"/>
          <a:ext cx="5457825" cy="1349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7850"/>
                <a:gridCol w="744219"/>
                <a:gridCol w="717550"/>
                <a:gridCol w="720089"/>
                <a:gridCol w="735964"/>
                <a:gridCol w="675639"/>
              </a:tblGrid>
              <a:tr h="196596">
                <a:tc>
                  <a:txBody>
                    <a:bodyPr/>
                    <a:lstStyle/>
                    <a:p>
                      <a:pPr algn="ctr" marL="2540">
                        <a:lnSpc>
                          <a:spcPts val="123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0320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8895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0960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6830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558">
                <a:tc>
                  <a:txBody>
                    <a:bodyPr/>
                    <a:lstStyle/>
                    <a:p>
                      <a:pPr marL="67945">
                        <a:lnSpc>
                          <a:spcPts val="130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CF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ts val="130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$141,169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92075">
                        <a:lnSpc>
                          <a:spcPts val="130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$248,113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0965">
                        <a:lnSpc>
                          <a:spcPts val="130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$268,113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30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$231,973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NWC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Changes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8445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-20,000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445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34,000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699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36,000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096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18,000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8726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Capital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Spending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8445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-800,000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8881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Project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850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-$820,000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$107,169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20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$212,113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09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250,673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232,723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328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Cumulative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44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850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-$820,000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8509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-$712,831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-$500,718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09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-$250,045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44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-$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17,322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4445"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Discounted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@15%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-820,000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93,190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763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160,388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096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164,821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133,060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124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03908" y="2259456"/>
          <a:ext cx="5416550" cy="1349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2295"/>
                <a:gridCol w="1018540"/>
                <a:gridCol w="887094"/>
                <a:gridCol w="889635"/>
                <a:gridCol w="753745"/>
              </a:tblGrid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1285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3189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7414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Operating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CF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9494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205,790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$172,790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$139,790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$94,064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NWC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Changes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94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8,250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43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16,500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68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16,500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66,000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2442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Capital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Spending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$105,600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9136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Project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94945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214,040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9865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$189,290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$156,290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$266,204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9319">
                <a:tc>
                  <a:txBody>
                    <a:bodyPr/>
                    <a:lstStyle/>
                    <a:p>
                      <a:pPr marL="68580">
                        <a:lnSpc>
                          <a:spcPts val="12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Cumulative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89865">
                        <a:lnSpc>
                          <a:spcPts val="12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196,718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89865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$386,008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$542,298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4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$808,502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07014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Discounted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@15%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98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106,416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8986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81,835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924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58,755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87,023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5508" y="3747261"/>
            <a:ext cx="5440045" cy="7080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15%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$65,488,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indicating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acceptable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Internal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greater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15%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since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positive,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calculated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endParaRPr sz="1100">
              <a:latin typeface="Garamond"/>
              <a:cs typeface="Garamond"/>
            </a:endParaRPr>
          </a:p>
          <a:p>
            <a:pPr marL="240665">
              <a:lnSpc>
                <a:spcPts val="1290"/>
              </a:lnSpc>
            </a:pPr>
            <a:r>
              <a:rPr dirty="0" sz="1100" spc="-5">
                <a:latin typeface="Garamond"/>
                <a:cs typeface="Garamond"/>
              </a:rPr>
              <a:t>$17.24%,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again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indicating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acceptance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project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Garamond"/>
                <a:cs typeface="Garamond"/>
              </a:rPr>
              <a:t>Payback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4.08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12307" y="714501"/>
            <a:ext cx="8166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32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508" y="883665"/>
            <a:ext cx="5444490" cy="2880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233679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RETURNS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Garamond"/>
              <a:cs typeface="Garamond"/>
            </a:endParaRPr>
          </a:p>
          <a:p>
            <a:pPr marL="240665" marR="12700" indent="-228600">
              <a:lnSpc>
                <a:spcPts val="126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One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responsibilities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assess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proposed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this,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0">
                <a:latin typeface="Garamond"/>
                <a:cs typeface="Garamond"/>
              </a:rPr>
              <a:t> 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look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offer.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4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At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minimum,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non-financial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least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buying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Lessons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 history: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6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There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reward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bearing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potential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reward,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marL="240665" marR="1206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sort,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your </a:t>
            </a:r>
            <a:r>
              <a:rPr dirty="0" sz="1100" spc="-5">
                <a:latin typeface="Garamond"/>
                <a:cs typeface="Garamond"/>
              </a:rPr>
              <a:t>gain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loss)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usually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termed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 returns,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normally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components: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Income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earned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(Dividend)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7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gain</a:t>
            </a:r>
            <a:endParaRPr sz="1100">
              <a:latin typeface="Garamond"/>
              <a:cs typeface="Garamond"/>
            </a:endParaRPr>
          </a:p>
          <a:p>
            <a:pPr marL="240665" marR="9525" indent="-228600">
              <a:lnSpc>
                <a:spcPts val="1220"/>
              </a:lnSpc>
              <a:spcBef>
                <a:spcPts val="2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Alternatively,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dollar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sum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dollar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508" y="5892545"/>
            <a:ext cx="4854575" cy="14351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bought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ago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$25.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Over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last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received</a:t>
            </a:r>
            <a:r>
              <a:rPr dirty="0" sz="1100">
                <a:latin typeface="Garamond"/>
                <a:cs typeface="Garamond"/>
              </a:rPr>
              <a:t> $20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(=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20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cents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At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$30.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do?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5">
                <a:latin typeface="Garamond"/>
                <a:cs typeface="Garamond"/>
              </a:rPr>
              <a:t> invested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100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$2,500.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$20.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Your dollar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gain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$520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($3,000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$2,500).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Dollar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returns: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$520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gain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817" y="3817051"/>
            <a:ext cx="3777912" cy="18954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6087" y="7533454"/>
            <a:ext cx="3779006" cy="189841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76629" y="431038"/>
            <a:ext cx="2761615" cy="4978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9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1048638"/>
            <a:ext cx="5662295" cy="237744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384935" marR="2402205">
              <a:lnSpc>
                <a:spcPts val="1220"/>
              </a:lnSpc>
              <a:spcBef>
                <a:spcPts val="240"/>
              </a:spcBef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Inflow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$2,500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520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Inflow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$3,020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don’t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rather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gain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part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-5">
                <a:latin typeface="Garamond"/>
                <a:cs typeface="Garamond"/>
              </a:rPr>
              <a:t> not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paper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gain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-5" b="1">
                <a:latin typeface="Garamond"/>
                <a:cs typeface="Garamond"/>
              </a:rPr>
              <a:t>Percentage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Returns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5080" indent="-228600">
              <a:lnSpc>
                <a:spcPts val="122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convenient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summarize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terms,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</a:t>
            </a:r>
            <a:r>
              <a:rPr dirty="0" sz="1100" spc="-10">
                <a:latin typeface="Garamond"/>
                <a:cs typeface="Garamond"/>
              </a:rPr>
              <a:t>way,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</a:t>
            </a:r>
            <a:r>
              <a:rPr dirty="0" sz="1100" spc="-10">
                <a:latin typeface="Garamond"/>
                <a:cs typeface="Garamond"/>
              </a:rPr>
              <a:t> 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actually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Dividend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Yield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beginning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Capital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Gains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Yield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(ending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>
                <a:latin typeface="Garamond"/>
                <a:cs typeface="Garamond"/>
              </a:rPr>
              <a:t> beginning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beginning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Total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Percentage </a:t>
            </a:r>
            <a:r>
              <a:rPr dirty="0" sz="1100" b="1">
                <a:latin typeface="Garamond"/>
                <a:cs typeface="Garamond"/>
              </a:rPr>
              <a:t>return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gains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9144" y="3632707"/>
            <a:ext cx="102552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5">
                <a:latin typeface="Garamond"/>
                <a:cs typeface="Garamond"/>
              </a:rPr>
              <a:t>P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c</a:t>
            </a:r>
            <a:r>
              <a:rPr dirty="0" sz="1100" spc="10">
                <a:latin typeface="Garamond"/>
                <a:cs typeface="Garamond"/>
              </a:rPr>
              <a:t>en</a:t>
            </a:r>
            <a:r>
              <a:rPr dirty="0" sz="1100" spc="-40">
                <a:latin typeface="Garamond"/>
                <a:cs typeface="Garamond"/>
              </a:rPr>
              <a:t>t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et</a:t>
            </a:r>
            <a:r>
              <a:rPr dirty="0" sz="1100">
                <a:latin typeface="Garamond"/>
                <a:cs typeface="Garamond"/>
              </a:rPr>
              <a:t>u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n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6233" y="3724147"/>
            <a:ext cx="174180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-37">
                <a:latin typeface="Garamond"/>
                <a:cs typeface="Garamond"/>
              </a:rPr>
              <a:t> </a:t>
            </a:r>
            <a:r>
              <a:rPr dirty="0" sz="1000" spc="80">
                <a:latin typeface="Cambria Math"/>
                <a:cs typeface="Cambria Math"/>
              </a:rPr>
              <a:t>𝐵𝑒gi𝑛𝑛i𝑛g</a:t>
            </a:r>
            <a:r>
              <a:rPr dirty="0" sz="1000" spc="5">
                <a:latin typeface="Cambria Math"/>
                <a:cs typeface="Cambria Math"/>
              </a:rPr>
              <a:t> </a:t>
            </a:r>
            <a:r>
              <a:rPr dirty="0" sz="1000" spc="50">
                <a:latin typeface="Cambria Math"/>
                <a:cs typeface="Cambria Math"/>
              </a:rPr>
              <a:t>𝑀𝑎𝑟𝑘𝑒𝑡</a:t>
            </a:r>
            <a:r>
              <a:rPr dirty="0" sz="1000" spc="-20">
                <a:latin typeface="Cambria Math"/>
                <a:cs typeface="Cambria Math"/>
              </a:rPr>
              <a:t> </a:t>
            </a:r>
            <a:r>
              <a:rPr dirty="0" sz="1000" spc="45">
                <a:latin typeface="Cambria Math"/>
                <a:cs typeface="Cambria Math"/>
              </a:rPr>
              <a:t>𝑉𝑎𝑙𝑢𝑒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97502" y="3541267"/>
            <a:ext cx="899794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40">
                <a:latin typeface="Cambria Math"/>
                <a:cs typeface="Cambria Math"/>
              </a:rPr>
              <a:t>𝐷𝑜𝑙𝑙𝑎𝑟</a:t>
            </a:r>
            <a:r>
              <a:rPr dirty="0" sz="1000" spc="-15">
                <a:latin typeface="Cambria Math"/>
                <a:cs typeface="Cambria Math"/>
              </a:rPr>
              <a:t> </a:t>
            </a:r>
            <a:r>
              <a:rPr dirty="0" sz="1000" spc="50">
                <a:latin typeface="Cambria Math"/>
                <a:cs typeface="Cambria Math"/>
              </a:rPr>
              <a:t>𝑅𝑒𝑡𝑢𝑟𝑛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62348" y="3732275"/>
            <a:ext cx="1574165" cy="9525"/>
          </a:xfrm>
          <a:custGeom>
            <a:avLst/>
            <a:gdLst/>
            <a:ahLst/>
            <a:cxnLst/>
            <a:rect l="l" t="t" r="r" b="b"/>
            <a:pathLst>
              <a:path w="1574164" h="9525">
                <a:moveTo>
                  <a:pt x="1573656" y="0"/>
                </a:moveTo>
                <a:lnTo>
                  <a:pt x="0" y="0"/>
                </a:lnTo>
                <a:lnTo>
                  <a:pt x="0" y="9144"/>
                </a:lnTo>
                <a:lnTo>
                  <a:pt x="1573656" y="9144"/>
                </a:lnTo>
                <a:lnTo>
                  <a:pt x="15736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921633" y="4126737"/>
            <a:ext cx="120014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49648" y="4035298"/>
            <a:ext cx="219456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5">
                <a:latin typeface="Cambria Math"/>
                <a:cs typeface="Cambria Math"/>
              </a:rPr>
              <a:t>𝐷i𝑣i𝑑𝑒𝑛𝑑+𝐶ℎ𝑎𝑛g𝑒</a:t>
            </a:r>
            <a:r>
              <a:rPr dirty="0" sz="1000" spc="35">
                <a:latin typeface="Cambria Math"/>
                <a:cs typeface="Cambria Math"/>
              </a:rPr>
              <a:t> </a:t>
            </a:r>
            <a:r>
              <a:rPr dirty="0" sz="1000" spc="80">
                <a:latin typeface="Cambria Math"/>
                <a:cs typeface="Cambria Math"/>
              </a:rPr>
              <a:t>i𝑛</a:t>
            </a:r>
            <a:r>
              <a:rPr dirty="0" sz="1000" spc="-30">
                <a:latin typeface="Cambria Math"/>
                <a:cs typeface="Cambria Math"/>
              </a:rPr>
              <a:t> </a:t>
            </a:r>
            <a:r>
              <a:rPr dirty="0" sz="1000" spc="50">
                <a:latin typeface="Cambria Math"/>
                <a:cs typeface="Cambria Math"/>
              </a:rPr>
              <a:t>𝑀𝑎𝑟𝑘𝑒𝑡</a:t>
            </a:r>
            <a:r>
              <a:rPr dirty="0" sz="1000" spc="-40">
                <a:latin typeface="Cambria Math"/>
                <a:cs typeface="Cambria Math"/>
              </a:rPr>
              <a:t> </a:t>
            </a:r>
            <a:r>
              <a:rPr dirty="0" sz="1000" spc="45">
                <a:latin typeface="Cambria Math"/>
                <a:cs typeface="Cambria Math"/>
              </a:rPr>
              <a:t>𝑉𝑎𝑙𝑢𝑒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1782" y="4231894"/>
            <a:ext cx="156337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80">
                <a:latin typeface="Cambria Math"/>
                <a:cs typeface="Cambria Math"/>
              </a:rPr>
              <a:t>𝐵𝑒gi𝑛𝑛i𝑛g</a:t>
            </a:r>
            <a:r>
              <a:rPr dirty="0" sz="1000">
                <a:latin typeface="Cambria Math"/>
                <a:cs typeface="Cambria Math"/>
              </a:rPr>
              <a:t> </a:t>
            </a:r>
            <a:r>
              <a:rPr dirty="0" sz="1000" spc="50">
                <a:latin typeface="Cambria Math"/>
                <a:cs typeface="Cambria Math"/>
              </a:rPr>
              <a:t>𝑀𝑎𝑟𝑘𝑒𝑡</a:t>
            </a:r>
            <a:r>
              <a:rPr dirty="0" sz="1000" spc="-30">
                <a:latin typeface="Cambria Math"/>
                <a:cs typeface="Cambria Math"/>
              </a:rPr>
              <a:t> </a:t>
            </a:r>
            <a:r>
              <a:rPr dirty="0" sz="1000" spc="45">
                <a:latin typeface="Cambria Math"/>
                <a:cs typeface="Cambria Math"/>
              </a:rPr>
              <a:t>𝑉𝑎𝑙𝑢𝑒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62348" y="4226305"/>
            <a:ext cx="2178050" cy="9525"/>
          </a:xfrm>
          <a:custGeom>
            <a:avLst/>
            <a:gdLst/>
            <a:ahLst/>
            <a:cxnLst/>
            <a:rect l="l" t="t" r="r" b="b"/>
            <a:pathLst>
              <a:path w="2178050" h="9525">
                <a:moveTo>
                  <a:pt x="2177542" y="0"/>
                </a:moveTo>
                <a:lnTo>
                  <a:pt x="0" y="0"/>
                </a:lnTo>
                <a:lnTo>
                  <a:pt x="0" y="9144"/>
                </a:lnTo>
                <a:lnTo>
                  <a:pt x="2177542" y="9144"/>
                </a:lnTo>
                <a:lnTo>
                  <a:pt x="21775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405508" y="4566030"/>
            <a:ext cx="4710430" cy="10052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2857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Gains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Yield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example: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Yield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$20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2,500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0.8%</a:t>
            </a:r>
            <a:endParaRPr sz="1100">
              <a:latin typeface="Garamond"/>
              <a:cs typeface="Garamond"/>
            </a:endParaRPr>
          </a:p>
          <a:p>
            <a:pPr marL="240665">
              <a:lnSpc>
                <a:spcPts val="1245"/>
              </a:lnSpc>
              <a:tabLst>
                <a:tab pos="4699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Gains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($3,000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2,500)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2,500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20%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Percentage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20%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0.8%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20.8%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5508" y="8568054"/>
            <a:ext cx="5435600" cy="70802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0665" marR="508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buy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some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$25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share.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$35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During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$2</a:t>
            </a:r>
            <a:r>
              <a:rPr dirty="0" sz="1100" spc="-5">
                <a:latin typeface="Garamond"/>
                <a:cs typeface="Garamond"/>
              </a:rPr>
              <a:t> 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Dividend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Yield?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Gains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Yield?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Percentage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Return?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year?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0054" y="5743586"/>
            <a:ext cx="4282259" cy="2631020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3715003"/>
            <a:ext cx="5670550" cy="20485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$2/25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0.08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gains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($35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25)/25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40%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40%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48%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had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invested</a:t>
            </a:r>
            <a:r>
              <a:rPr dirty="0" sz="1100">
                <a:latin typeface="Garamond"/>
                <a:cs typeface="Garamond"/>
              </a:rPr>
              <a:t> $1,000,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$1,480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(1,000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48%)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end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100" spc="-5" b="1">
                <a:latin typeface="Garamond"/>
                <a:cs typeface="Garamond"/>
              </a:rPr>
              <a:t>Variability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Returns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889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know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year-to-year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volatile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Measuring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variability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key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factor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examining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topic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10">
                <a:latin typeface="Garamond"/>
                <a:cs typeface="Garamond"/>
              </a:rPr>
              <a:t>First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draw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frequency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distribution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count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annual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falls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within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certain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range.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508" y="8828913"/>
            <a:ext cx="5437505" cy="534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spread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For example,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particular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was 17.3%,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know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far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deviate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average,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volatility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6009" y="1005472"/>
            <a:ext cx="4582141" cy="253464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9716" y="5948464"/>
            <a:ext cx="5015664" cy="272911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21717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algn="just" marL="469900" marR="27940" indent="-228600">
              <a:lnSpc>
                <a:spcPts val="1260"/>
              </a:lnSpc>
              <a:spcBef>
                <a:spcPts val="106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most </a:t>
            </a:r>
            <a:r>
              <a:rPr dirty="0" sz="1100">
                <a:latin typeface="Garamond"/>
                <a:cs typeface="Garamond"/>
              </a:rPr>
              <a:t>commonly used </a:t>
            </a:r>
            <a:r>
              <a:rPr dirty="0" sz="1100" spc="-5">
                <a:latin typeface="Garamond"/>
                <a:cs typeface="Garamond"/>
              </a:rPr>
              <a:t>measures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this purpose </a:t>
            </a:r>
            <a:r>
              <a:rPr dirty="0" sz="1100">
                <a:latin typeface="Garamond"/>
                <a:cs typeface="Garamond"/>
              </a:rPr>
              <a:t>are variance and its </a:t>
            </a:r>
            <a:r>
              <a:rPr dirty="0" sz="1100" spc="-10">
                <a:latin typeface="Garamond"/>
                <a:cs typeface="Garamond"/>
              </a:rPr>
              <a:t>square </a:t>
            </a:r>
            <a:r>
              <a:rPr dirty="0" sz="1100" spc="5">
                <a:latin typeface="Garamond"/>
                <a:cs typeface="Garamond"/>
              </a:rPr>
              <a:t>root,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 standard </a:t>
            </a:r>
            <a:r>
              <a:rPr dirty="0" sz="1100">
                <a:latin typeface="Garamond"/>
                <a:cs typeface="Garamond"/>
              </a:rPr>
              <a:t>deviation.</a:t>
            </a:r>
            <a:endParaRPr sz="1100">
              <a:latin typeface="Garamond"/>
              <a:cs typeface="Garamond"/>
            </a:endParaRPr>
          </a:p>
          <a:p>
            <a:pPr algn="just" marL="469900" marR="24130" indent="-228600">
              <a:lnSpc>
                <a:spcPct val="94100"/>
              </a:lnSpc>
              <a:spcBef>
                <a:spcPts val="10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Variance </a:t>
            </a:r>
            <a:r>
              <a:rPr dirty="0" sz="1100" spc="-5">
                <a:latin typeface="Garamond"/>
                <a:cs typeface="Garamond"/>
              </a:rPr>
              <a:t>measures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average </a:t>
            </a:r>
            <a:r>
              <a:rPr dirty="0" sz="1100" spc="-5">
                <a:latin typeface="Garamond"/>
                <a:cs typeface="Garamond"/>
              </a:rPr>
              <a:t>squared differences between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actual </a:t>
            </a:r>
            <a:r>
              <a:rPr dirty="0" sz="1100" spc="-5">
                <a:latin typeface="Garamond"/>
                <a:cs typeface="Garamond"/>
              </a:rPr>
              <a:t>returns </a:t>
            </a:r>
            <a:r>
              <a:rPr dirty="0" sz="1100" spc="-15">
                <a:latin typeface="Garamond"/>
                <a:cs typeface="Garamond"/>
              </a:rPr>
              <a:t>and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average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return. </a:t>
            </a:r>
            <a:r>
              <a:rPr dirty="0" sz="1100" spc="-5">
                <a:latin typeface="Garamond"/>
                <a:cs typeface="Garamond"/>
              </a:rPr>
              <a:t>The biggest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number is </a:t>
            </a:r>
            <a:r>
              <a:rPr dirty="0" sz="1100" spc="5">
                <a:latin typeface="Garamond"/>
                <a:cs typeface="Garamond"/>
              </a:rPr>
              <a:t>the more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actual </a:t>
            </a:r>
            <a:r>
              <a:rPr dirty="0" sz="1100" spc="-5">
                <a:latin typeface="Garamond"/>
                <a:cs typeface="Garamond"/>
              </a:rPr>
              <a:t>returns tend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differ </a:t>
            </a:r>
            <a:r>
              <a:rPr dirty="0" sz="1100" spc="5">
                <a:latin typeface="Garamond"/>
                <a:cs typeface="Garamond"/>
              </a:rPr>
              <a:t>from </a:t>
            </a:r>
            <a:r>
              <a:rPr dirty="0" sz="1100" spc="-2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average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return.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variance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10">
                <a:latin typeface="Garamond"/>
                <a:cs typeface="Garamond"/>
              </a:rPr>
              <a:t>standard</a:t>
            </a:r>
            <a:r>
              <a:rPr dirty="0" sz="1100" spc="-5">
                <a:latin typeface="Garamond"/>
                <a:cs typeface="Garamond"/>
              </a:rPr>
              <a:t> deviation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spread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be.</a:t>
            </a:r>
            <a:endParaRPr sz="1100">
              <a:latin typeface="Garamond"/>
              <a:cs typeface="Garamond"/>
            </a:endParaRPr>
          </a:p>
          <a:p>
            <a:pPr algn="just" marL="469900" marR="2349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Suppose,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particular </a:t>
            </a:r>
            <a:r>
              <a:rPr dirty="0" sz="1100">
                <a:latin typeface="Garamond"/>
                <a:cs typeface="Garamond"/>
              </a:rPr>
              <a:t>investment </a:t>
            </a:r>
            <a:r>
              <a:rPr dirty="0" sz="1100" spc="-15">
                <a:latin typeface="Garamond"/>
                <a:cs typeface="Garamond"/>
              </a:rPr>
              <a:t>had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10%, 12%, 3% and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-9% </a:t>
            </a:r>
            <a:r>
              <a:rPr dirty="0" sz="1100">
                <a:latin typeface="Garamond"/>
                <a:cs typeface="Garamond"/>
              </a:rPr>
              <a:t>over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last </a:t>
            </a:r>
            <a:r>
              <a:rPr dirty="0" sz="1100" spc="5">
                <a:latin typeface="Garamond"/>
                <a:cs typeface="Garamond"/>
              </a:rPr>
              <a:t>four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(0.10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0.12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0.03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0.09)/4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4%</a:t>
            </a:r>
            <a:endParaRPr sz="1100">
              <a:latin typeface="Garamond"/>
              <a:cs typeface="Garamond"/>
            </a:endParaRPr>
          </a:p>
          <a:p>
            <a:pPr algn="just" marL="469900" marR="26034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compute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variance,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10">
                <a:latin typeface="Garamond"/>
                <a:cs typeface="Garamond"/>
              </a:rPr>
              <a:t>take </a:t>
            </a:r>
            <a:r>
              <a:rPr dirty="0" sz="1100">
                <a:latin typeface="Garamond"/>
                <a:cs typeface="Garamond"/>
              </a:rPr>
              <a:t>deviations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actual returns </a:t>
            </a:r>
            <a:r>
              <a:rPr dirty="0" sz="1100" spc="-5">
                <a:latin typeface="Garamond"/>
                <a:cs typeface="Garamond"/>
              </a:rPr>
              <a:t>from this </a:t>
            </a:r>
            <a:r>
              <a:rPr dirty="0" sz="1100">
                <a:latin typeface="Garamond"/>
                <a:cs typeface="Garamond"/>
              </a:rPr>
              <a:t>average </a:t>
            </a:r>
            <a:r>
              <a:rPr dirty="0" sz="1100" spc="-5">
                <a:latin typeface="Garamond"/>
                <a:cs typeface="Garamond"/>
              </a:rPr>
              <a:t>return, </a:t>
            </a:r>
            <a:r>
              <a:rPr dirty="0" sz="1100">
                <a:latin typeface="Garamond"/>
                <a:cs typeface="Garamond"/>
              </a:rPr>
              <a:t>take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squares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deviations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squared deviations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variance.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140966" y="2758185"/>
          <a:ext cx="3747135" cy="1139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3875"/>
                <a:gridCol w="622300"/>
                <a:gridCol w="685164"/>
                <a:gridCol w="1106170"/>
                <a:gridCol w="796924"/>
              </a:tblGrid>
              <a:tr h="324611"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16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Actual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07314">
                        <a:lnSpc>
                          <a:spcPts val="129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Return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ts val="116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Average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39065">
                        <a:lnSpc>
                          <a:spcPts val="129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Return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Deviation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from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3810">
                        <a:lnSpc>
                          <a:spcPts val="129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Mean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116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Squared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05410">
                        <a:lnSpc>
                          <a:spcPts val="129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Deviation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3571">
                <a:tc>
                  <a:txBody>
                    <a:bodyPr/>
                    <a:lstStyle/>
                    <a:p>
                      <a:pPr algn="ctr" marL="8890">
                        <a:lnSpc>
                          <a:spcPts val="119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19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8150">
                        <a:lnSpc>
                          <a:spcPts val="119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19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0.0036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algn="ctr" marL="889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3815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0.0064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algn="ctr" marL="889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-0.01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0.0001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7733">
                <a:tc>
                  <a:txBody>
                    <a:bodyPr/>
                    <a:lstStyle/>
                    <a:p>
                      <a:pPr algn="ctr" marL="889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1140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-0.09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ts val="1140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-0.13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140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0.0169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8254">
                <a:tc>
                  <a:txBody>
                    <a:bodyPr/>
                    <a:lstStyle/>
                    <a:p>
                      <a:pPr algn="ctr" marL="15875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0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0.0270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405508" y="4017009"/>
            <a:ext cx="3869690" cy="6851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56335">
              <a:lnSpc>
                <a:spcPts val="127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Variance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0.0270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(4-1)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0.009</a:t>
            </a:r>
            <a:endParaRPr sz="1100">
              <a:latin typeface="Garamond"/>
              <a:cs typeface="Garamond"/>
            </a:endParaRPr>
          </a:p>
          <a:p>
            <a:pPr marL="1156335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Standard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Deviation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√0.009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.09487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9.487%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general,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historical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 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9144" y="4936362"/>
            <a:ext cx="52260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V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(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4350" y="4844922"/>
            <a:ext cx="19462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2777" sz="1500" spc="30">
                <a:latin typeface="Cambria Math"/>
                <a:cs typeface="Cambria Math"/>
              </a:rPr>
              <a:t>(</a:t>
            </a:r>
            <a:r>
              <a:rPr dirty="0" sz="1000" spc="20">
                <a:latin typeface="Cambria Math"/>
                <a:cs typeface="Cambria Math"/>
              </a:rPr>
              <a:t>𝑅</a:t>
            </a:r>
            <a:r>
              <a:rPr dirty="0" baseline="-13888" sz="1200" spc="30">
                <a:latin typeface="Cambria Math"/>
                <a:cs typeface="Cambria Math"/>
              </a:rPr>
              <a:t>1</a:t>
            </a:r>
            <a:r>
              <a:rPr dirty="0" sz="1000" spc="20">
                <a:latin typeface="Cambria Math"/>
                <a:cs typeface="Cambria Math"/>
              </a:rPr>
              <a:t>−𝑅)</a:t>
            </a:r>
            <a:r>
              <a:rPr dirty="0" baseline="24305" sz="1200" spc="30">
                <a:latin typeface="Cambria Math"/>
                <a:cs typeface="Cambria Math"/>
              </a:rPr>
              <a:t>2</a:t>
            </a:r>
            <a:r>
              <a:rPr dirty="0" baseline="2777" sz="1500" spc="30">
                <a:latin typeface="Cambria Math"/>
                <a:cs typeface="Cambria Math"/>
              </a:rPr>
              <a:t>)</a:t>
            </a:r>
            <a:r>
              <a:rPr dirty="0" baseline="2777" sz="1500" spc="-7">
                <a:latin typeface="Cambria Math"/>
                <a:cs typeface="Cambria Math"/>
              </a:rPr>
              <a:t> </a:t>
            </a:r>
            <a:r>
              <a:rPr dirty="0" sz="1000" spc="-15">
                <a:latin typeface="Cambria Math"/>
                <a:cs typeface="Cambria Math"/>
              </a:rPr>
              <a:t>+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…………..</a:t>
            </a:r>
            <a:r>
              <a:rPr dirty="0" sz="1000" spc="204">
                <a:latin typeface="Cambria Math"/>
                <a:cs typeface="Cambria Math"/>
              </a:rPr>
              <a:t> </a:t>
            </a:r>
            <a:r>
              <a:rPr dirty="0" sz="1000" spc="-15">
                <a:latin typeface="Cambria Math"/>
                <a:cs typeface="Cambria Math"/>
              </a:rPr>
              <a:t>+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baseline="2777" sz="1500" spc="30">
                <a:latin typeface="Cambria Math"/>
                <a:cs typeface="Cambria Math"/>
              </a:rPr>
              <a:t>(</a:t>
            </a:r>
            <a:r>
              <a:rPr dirty="0" sz="1000" spc="20">
                <a:latin typeface="Cambria Math"/>
                <a:cs typeface="Cambria Math"/>
              </a:rPr>
              <a:t>𝑅</a:t>
            </a:r>
            <a:r>
              <a:rPr dirty="0" baseline="-13888" sz="1200" spc="30">
                <a:latin typeface="Cambria Math"/>
                <a:cs typeface="Cambria Math"/>
              </a:rPr>
              <a:t>𝑇</a:t>
            </a:r>
            <a:r>
              <a:rPr dirty="0" sz="1000" spc="20">
                <a:latin typeface="Cambria Math"/>
                <a:cs typeface="Cambria Math"/>
              </a:rPr>
              <a:t>−𝑅)</a:t>
            </a:r>
            <a:r>
              <a:rPr dirty="0" baseline="24305" sz="1200" spc="30">
                <a:latin typeface="Cambria Math"/>
                <a:cs typeface="Cambria Math"/>
              </a:rPr>
              <a:t>2</a:t>
            </a:r>
            <a:r>
              <a:rPr dirty="0" baseline="2777" sz="1500" spc="30">
                <a:latin typeface="Cambria Math"/>
                <a:cs typeface="Cambria Math"/>
              </a:rPr>
              <a:t>)</a:t>
            </a:r>
            <a:endParaRPr baseline="2777" sz="15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9336" y="5041519"/>
            <a:ext cx="37592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0">
                <a:latin typeface="Cambria Math"/>
                <a:cs typeface="Cambria Math"/>
              </a:rPr>
              <a:t>(</a:t>
            </a:r>
            <a:r>
              <a:rPr dirty="0" sz="1000" spc="30">
                <a:latin typeface="Cambria Math"/>
                <a:cs typeface="Cambria Math"/>
              </a:rPr>
              <a:t>𝑇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>
                <a:latin typeface="Cambria Math"/>
                <a:cs typeface="Cambria Math"/>
              </a:rPr>
              <a:t>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92450" y="5035930"/>
            <a:ext cx="1871345" cy="9525"/>
          </a:xfrm>
          <a:custGeom>
            <a:avLst/>
            <a:gdLst/>
            <a:ahLst/>
            <a:cxnLst/>
            <a:rect l="l" t="t" r="r" b="b"/>
            <a:pathLst>
              <a:path w="1871345" h="9525">
                <a:moveTo>
                  <a:pt x="1871218" y="0"/>
                </a:moveTo>
                <a:lnTo>
                  <a:pt x="0" y="0"/>
                </a:lnTo>
                <a:lnTo>
                  <a:pt x="0" y="9144"/>
                </a:lnTo>
                <a:lnTo>
                  <a:pt x="1871218" y="9144"/>
                </a:lnTo>
                <a:lnTo>
                  <a:pt x="18712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05508" y="5352668"/>
            <a:ext cx="3719829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standard </a:t>
            </a:r>
            <a:r>
              <a:rPr dirty="0" sz="1100" spc="-5">
                <a:latin typeface="Garamond"/>
                <a:cs typeface="Garamond"/>
              </a:rPr>
              <a:t>deviation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always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square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root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variance.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12307" y="714501"/>
            <a:ext cx="81470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33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508" y="883665"/>
            <a:ext cx="3627120" cy="5575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90675">
              <a:lnSpc>
                <a:spcPct val="100000"/>
              </a:lnSpc>
              <a:spcBef>
                <a:spcPts val="135"/>
              </a:spcBef>
            </a:pPr>
            <a:r>
              <a:rPr dirty="0" sz="1150" spc="25" b="1">
                <a:latin typeface="Garamond"/>
                <a:cs typeface="Garamond"/>
              </a:rPr>
              <a:t>VARIABILITY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40" b="1">
                <a:latin typeface="Garamond"/>
                <a:cs typeface="Garamond"/>
              </a:rPr>
              <a:t>OF</a:t>
            </a:r>
            <a:r>
              <a:rPr dirty="0" sz="1150" spc="-40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RETURNS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general,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historical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 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9144" y="1679828"/>
            <a:ext cx="52260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V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(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54350" y="1588135"/>
            <a:ext cx="194627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2777" sz="1500" spc="30">
                <a:latin typeface="Cambria Math"/>
                <a:cs typeface="Cambria Math"/>
              </a:rPr>
              <a:t>(</a:t>
            </a:r>
            <a:r>
              <a:rPr dirty="0" sz="1000" spc="20">
                <a:latin typeface="Cambria Math"/>
                <a:cs typeface="Cambria Math"/>
              </a:rPr>
              <a:t>𝑅</a:t>
            </a:r>
            <a:r>
              <a:rPr dirty="0" baseline="-13888" sz="1200" spc="30">
                <a:latin typeface="Cambria Math"/>
                <a:cs typeface="Cambria Math"/>
              </a:rPr>
              <a:t>1</a:t>
            </a:r>
            <a:r>
              <a:rPr dirty="0" sz="1000" spc="20">
                <a:latin typeface="Cambria Math"/>
                <a:cs typeface="Cambria Math"/>
              </a:rPr>
              <a:t>−𝑅)</a:t>
            </a:r>
            <a:r>
              <a:rPr dirty="0" baseline="24305" sz="1200" spc="30">
                <a:latin typeface="Cambria Math"/>
                <a:cs typeface="Cambria Math"/>
              </a:rPr>
              <a:t>2</a:t>
            </a:r>
            <a:r>
              <a:rPr dirty="0" baseline="2777" sz="1500" spc="30">
                <a:latin typeface="Cambria Math"/>
                <a:cs typeface="Cambria Math"/>
              </a:rPr>
              <a:t>)</a:t>
            </a:r>
            <a:r>
              <a:rPr dirty="0" baseline="2777" sz="1500" spc="-7">
                <a:latin typeface="Cambria Math"/>
                <a:cs typeface="Cambria Math"/>
              </a:rPr>
              <a:t> </a:t>
            </a:r>
            <a:r>
              <a:rPr dirty="0" sz="1000" spc="-15">
                <a:latin typeface="Cambria Math"/>
                <a:cs typeface="Cambria Math"/>
              </a:rPr>
              <a:t>+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…………..</a:t>
            </a:r>
            <a:r>
              <a:rPr dirty="0" sz="1000" spc="204">
                <a:latin typeface="Cambria Math"/>
                <a:cs typeface="Cambria Math"/>
              </a:rPr>
              <a:t> </a:t>
            </a:r>
            <a:r>
              <a:rPr dirty="0" sz="1000" spc="-15">
                <a:latin typeface="Cambria Math"/>
                <a:cs typeface="Cambria Math"/>
              </a:rPr>
              <a:t>+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baseline="2777" sz="1500" spc="30">
                <a:latin typeface="Cambria Math"/>
                <a:cs typeface="Cambria Math"/>
              </a:rPr>
              <a:t>(</a:t>
            </a:r>
            <a:r>
              <a:rPr dirty="0" sz="1000" spc="20">
                <a:latin typeface="Cambria Math"/>
                <a:cs typeface="Cambria Math"/>
              </a:rPr>
              <a:t>𝑅</a:t>
            </a:r>
            <a:r>
              <a:rPr dirty="0" baseline="-13888" sz="1200" spc="30">
                <a:latin typeface="Cambria Math"/>
                <a:cs typeface="Cambria Math"/>
              </a:rPr>
              <a:t>𝑇</a:t>
            </a:r>
            <a:r>
              <a:rPr dirty="0" sz="1000" spc="20">
                <a:latin typeface="Cambria Math"/>
                <a:cs typeface="Cambria Math"/>
              </a:rPr>
              <a:t>−𝑅)</a:t>
            </a:r>
            <a:r>
              <a:rPr dirty="0" baseline="24305" sz="1200" spc="30">
                <a:latin typeface="Cambria Math"/>
                <a:cs typeface="Cambria Math"/>
              </a:rPr>
              <a:t>2</a:t>
            </a:r>
            <a:r>
              <a:rPr dirty="0" baseline="2777" sz="1500" spc="30">
                <a:latin typeface="Cambria Math"/>
                <a:cs typeface="Cambria Math"/>
              </a:rPr>
              <a:t>)</a:t>
            </a:r>
            <a:endParaRPr baseline="2777" sz="15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9336" y="1784985"/>
            <a:ext cx="37592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0">
                <a:latin typeface="Cambria Math"/>
                <a:cs typeface="Cambria Math"/>
              </a:rPr>
              <a:t>(</a:t>
            </a:r>
            <a:r>
              <a:rPr dirty="0" sz="1000" spc="30">
                <a:latin typeface="Cambria Math"/>
                <a:cs typeface="Cambria Math"/>
              </a:rPr>
              <a:t>𝑇</a:t>
            </a:r>
            <a:r>
              <a:rPr dirty="0" sz="1000" spc="-30">
                <a:latin typeface="Cambria Math"/>
                <a:cs typeface="Cambria Math"/>
              </a:rPr>
              <a:t>−</a:t>
            </a: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>
                <a:latin typeface="Cambria Math"/>
                <a:cs typeface="Cambria Math"/>
              </a:rPr>
              <a:t>)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92450" y="1779396"/>
            <a:ext cx="1871345" cy="9525"/>
          </a:xfrm>
          <a:custGeom>
            <a:avLst/>
            <a:gdLst/>
            <a:ahLst/>
            <a:cxnLst/>
            <a:rect l="l" t="t" r="r" b="b"/>
            <a:pathLst>
              <a:path w="1871345" h="9525">
                <a:moveTo>
                  <a:pt x="1871218" y="0"/>
                </a:moveTo>
                <a:lnTo>
                  <a:pt x="0" y="0"/>
                </a:lnTo>
                <a:lnTo>
                  <a:pt x="0" y="9144"/>
                </a:lnTo>
                <a:lnTo>
                  <a:pt x="1871218" y="9144"/>
                </a:lnTo>
                <a:lnTo>
                  <a:pt x="18712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405508" y="2095880"/>
            <a:ext cx="3719829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standard </a:t>
            </a:r>
            <a:r>
              <a:rPr dirty="0" sz="1100" spc="-5">
                <a:latin typeface="Garamond"/>
                <a:cs typeface="Garamond"/>
              </a:rPr>
              <a:t>deviation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always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square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root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variance.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129</a:t>
            </a: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374392" y="2446908"/>
          <a:ext cx="3280410" cy="951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730"/>
                <a:gridCol w="1382395"/>
                <a:gridCol w="1377950"/>
              </a:tblGrid>
              <a:tr h="196976">
                <a:tc>
                  <a:txBody>
                    <a:bodyPr/>
                    <a:lstStyle/>
                    <a:p>
                      <a:pPr marL="114300">
                        <a:lnSpc>
                          <a:spcPts val="130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Company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X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Return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Company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Y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Return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177">
                <a:tc>
                  <a:txBody>
                    <a:bodyPr/>
                    <a:lstStyle/>
                    <a:p>
                      <a:pPr marL="123189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12318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12318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-0.12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425">
                <a:tc>
                  <a:txBody>
                    <a:bodyPr/>
                    <a:lstStyle/>
                    <a:p>
                      <a:pPr marL="12318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354708" y="3541267"/>
            <a:ext cx="3637915" cy="200278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921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variances,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standard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deviations?</a:t>
            </a:r>
            <a:endParaRPr sz="110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was</a:t>
            </a:r>
            <a:r>
              <a:rPr dirty="0" sz="1100" spc="-5">
                <a:latin typeface="Garamond"/>
                <a:cs typeface="Garamond"/>
              </a:rPr>
              <a:t> more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volatile?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15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 </a:t>
            </a:r>
            <a:r>
              <a:rPr dirty="0" sz="1100" spc="-5">
                <a:latin typeface="Garamond"/>
                <a:cs typeface="Garamond"/>
              </a:rPr>
              <a:t>returns,</a:t>
            </a:r>
            <a:endParaRPr sz="1100">
              <a:latin typeface="Garamond"/>
              <a:cs typeface="Garamond"/>
            </a:endParaRPr>
          </a:p>
          <a:p>
            <a:pPr marL="1207135">
              <a:lnSpc>
                <a:spcPct val="100000"/>
              </a:lnSpc>
              <a:spcBef>
                <a:spcPts val="1200"/>
              </a:spcBef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x</a:t>
            </a:r>
            <a:r>
              <a:rPr dirty="0" baseline="-8547" sz="975" spc="18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(-.20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.50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.30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.10)/4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.175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returns,</a:t>
            </a:r>
            <a:endParaRPr sz="1100">
              <a:latin typeface="Garamond"/>
              <a:cs typeface="Garamond"/>
            </a:endParaRPr>
          </a:p>
          <a:p>
            <a:pPr marL="1207135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Y</a:t>
            </a:r>
            <a:r>
              <a:rPr dirty="0" baseline="-8547" sz="975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(.05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.09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.12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.20)/4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.055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>
                <a:latin typeface="Garamond"/>
                <a:cs typeface="Garamond"/>
              </a:rPr>
              <a:t>Now,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X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122677" y="5699124"/>
          <a:ext cx="3783965" cy="1267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334"/>
                <a:gridCol w="635635"/>
                <a:gridCol w="693419"/>
                <a:gridCol w="1114425"/>
                <a:gridCol w="802639"/>
              </a:tblGrid>
              <a:tr h="3295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3664" marR="101600" indent="13335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Actual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46050" marR="98425" indent="-36830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dirty="0" sz="1100" spc="-15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v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g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e 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Return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75590" marR="104139" indent="-169545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dirty="0" sz="1100" spc="-10" b="1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v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m 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Mean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1760" marR="102235" indent="45720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Squared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v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177"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0.175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-0.375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0.140625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0.175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0.325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0.105625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0.175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0.125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0.015625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0.175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-0.075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0.005623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425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0.70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0.267500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1405508" y="7108952"/>
            <a:ext cx="1866264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Summarizing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calculations: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008377" y="7460233"/>
          <a:ext cx="4007485" cy="585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8590"/>
                <a:gridCol w="1249045"/>
                <a:gridCol w="1325880"/>
              </a:tblGrid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ts val="123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Company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X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23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Company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2461"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Variance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(σ</a:t>
                      </a:r>
                      <a:r>
                        <a:rPr dirty="0" baseline="21367" sz="975" spc="7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ts val="119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0.2675/3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0.0892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190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0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.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0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52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9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/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0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.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0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17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07014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Standard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Deviation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(σ)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√0.0892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0.2987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√0.0176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0.1327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1176629" y="8188578"/>
            <a:ext cx="5668645" cy="133477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469900" marR="5080" indent="-228600">
              <a:lnSpc>
                <a:spcPts val="1220"/>
              </a:lnSpc>
              <a:spcBef>
                <a:spcPts val="2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Standard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deviation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X,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29.87%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>
                <a:latin typeface="Garamond"/>
                <a:cs typeface="Garamond"/>
              </a:rPr>
              <a:t> than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twice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Y’s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13.27%.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indicates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X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volatile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Expected</a:t>
            </a:r>
            <a:r>
              <a:rPr dirty="0" sz="1100" spc="-6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762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Consider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single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time,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stocks,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U.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they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expected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25%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20%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respectively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Why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hold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U?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11703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 marR="30480" indent="-228600">
              <a:lnSpc>
                <a:spcPts val="1260"/>
              </a:lnSpc>
              <a:spcBef>
                <a:spcPts val="10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actually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perform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abnormally.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up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70%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economic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slide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-20%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recession.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 </a:t>
            </a:r>
            <a:r>
              <a:rPr dirty="0" sz="1100" spc="10">
                <a:latin typeface="Garamond"/>
                <a:cs typeface="Garamond"/>
              </a:rPr>
              <a:t>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30%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recession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during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boom.</a:t>
            </a:r>
            <a:endParaRPr sz="1100">
              <a:latin typeface="Garamond"/>
              <a:cs typeface="Garamond"/>
            </a:endParaRPr>
          </a:p>
          <a:p>
            <a:pPr marL="469900" marR="2476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probabilities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occurring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boom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recession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0.5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expected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stocks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779397" y="1751710"/>
          <a:ext cx="4469765" cy="942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/>
                <a:gridCol w="593725"/>
                <a:gridCol w="718185"/>
                <a:gridCol w="773430"/>
                <a:gridCol w="729615"/>
                <a:gridCol w="793750"/>
              </a:tblGrid>
              <a:tr h="196850">
                <a:tc rowSpan="2">
                  <a:txBody>
                    <a:bodyPr/>
                    <a:lstStyle/>
                    <a:p>
                      <a:pPr marL="114300" marR="151130" indent="68580">
                        <a:lnSpc>
                          <a:spcPts val="1260"/>
                        </a:lnSpc>
                        <a:spcBef>
                          <a:spcPts val="14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State of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841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R="3365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8445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k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U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916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841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445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38125">
                        <a:lnSpc>
                          <a:spcPts val="1230"/>
                        </a:lnSpc>
                      </a:pPr>
                      <a:r>
                        <a:rPr dirty="0" sz="1100" spc="2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baseline="-8547" sz="975" spc="30" b="1">
                          <a:latin typeface="Garamond"/>
                          <a:cs typeface="Garamond"/>
                        </a:rPr>
                        <a:t>L</a:t>
                      </a:r>
                      <a:endParaRPr baseline="-8547" sz="975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5880">
                        <a:lnSpc>
                          <a:spcPts val="123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2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baseline="-8547" sz="975" spc="30" b="1">
                          <a:latin typeface="Garamond"/>
                          <a:cs typeface="Garamond"/>
                        </a:rPr>
                        <a:t>L</a:t>
                      </a:r>
                      <a:endParaRPr baseline="-8547" sz="975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ts val="1230"/>
                        </a:lnSpc>
                      </a:pPr>
                      <a:r>
                        <a:rPr dirty="0" sz="1100" spc="2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baseline="-8547" sz="975" spc="30" b="1">
                          <a:latin typeface="Garamond"/>
                          <a:cs typeface="Garamond"/>
                        </a:rPr>
                        <a:t>U</a:t>
                      </a:r>
                      <a:endParaRPr baseline="-8547" sz="975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9850">
                        <a:lnSpc>
                          <a:spcPts val="123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baseline="-8547" sz="975" spc="37" b="1">
                          <a:latin typeface="Garamond"/>
                          <a:cs typeface="Garamond"/>
                        </a:rPr>
                        <a:t>U</a:t>
                      </a:r>
                      <a:endParaRPr baseline="-8547" sz="975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3891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Recession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54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Boom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1220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 marR="590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0.35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 marR="654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0.05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03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12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5904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E(R</a:t>
                      </a:r>
                      <a:r>
                        <a:rPr dirty="0" baseline="-8547" sz="97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27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90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27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E(R</a:t>
                      </a:r>
                      <a:r>
                        <a:rPr dirty="0" baseline="-8547" sz="97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27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54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27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pc="5"/>
              <a:t>130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63929" y="2814065"/>
            <a:ext cx="5758815" cy="13576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sz="1100" spc="20" b="1">
                <a:latin typeface="Garamond"/>
                <a:cs typeface="Garamond"/>
              </a:rPr>
              <a:t>R</a:t>
            </a:r>
            <a:r>
              <a:rPr dirty="0" sz="1100" spc="5" b="1">
                <a:latin typeface="Garamond"/>
                <a:cs typeface="Garamond"/>
              </a:rPr>
              <a:t>i</a:t>
            </a:r>
            <a:r>
              <a:rPr dirty="0" sz="1100" spc="5" b="1">
                <a:latin typeface="Garamond"/>
                <a:cs typeface="Garamond"/>
              </a:rPr>
              <a:t>sk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P</a:t>
            </a:r>
            <a:r>
              <a:rPr dirty="0" sz="1100" spc="-25" b="1">
                <a:latin typeface="Garamond"/>
                <a:cs typeface="Garamond"/>
              </a:rPr>
              <a:t>r</a:t>
            </a:r>
            <a:r>
              <a:rPr dirty="0" sz="1100" spc="20" b="1">
                <a:latin typeface="Garamond"/>
                <a:cs typeface="Garamond"/>
              </a:rPr>
              <a:t>e</a:t>
            </a:r>
            <a:r>
              <a:rPr dirty="0" sz="1100" spc="-35" b="1">
                <a:latin typeface="Garamond"/>
                <a:cs typeface="Garamond"/>
              </a:rPr>
              <a:t>m</a:t>
            </a:r>
            <a:r>
              <a:rPr dirty="0" sz="1100" spc="5" b="1">
                <a:latin typeface="Garamond"/>
                <a:cs typeface="Garamond"/>
              </a:rPr>
              <a:t>i</a:t>
            </a:r>
            <a:r>
              <a:rPr dirty="0" sz="1100" b="1">
                <a:latin typeface="Garamond"/>
                <a:cs typeface="Garamond"/>
              </a:rPr>
              <a:t>u</a:t>
            </a:r>
            <a:r>
              <a:rPr dirty="0" sz="1100" spc="10" b="1">
                <a:latin typeface="Garamond"/>
                <a:cs typeface="Garamond"/>
              </a:rPr>
              <a:t>m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risk-free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marL="482600" marR="81280" indent="-228600">
              <a:lnSpc>
                <a:spcPts val="1220"/>
              </a:lnSpc>
              <a:spcBef>
                <a:spcPts val="210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Suppose,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risk-free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percent.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words,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risk-free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(R</a:t>
            </a:r>
            <a:r>
              <a:rPr dirty="0" baseline="-8547" sz="975">
                <a:latin typeface="Garamond"/>
                <a:cs typeface="Garamond"/>
              </a:rPr>
              <a:t>f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8%.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Using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premia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U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25">
                <a:latin typeface="Garamond"/>
                <a:cs typeface="Garamond"/>
              </a:rPr>
              <a:t>L.</a:t>
            </a:r>
            <a:endParaRPr sz="1100">
              <a:latin typeface="Garamond"/>
              <a:cs typeface="Garamond"/>
            </a:endParaRPr>
          </a:p>
          <a:p>
            <a:pPr algn="ctr" marL="252095">
              <a:lnSpc>
                <a:spcPct val="100000"/>
              </a:lnSpc>
              <a:spcBef>
                <a:spcPts val="1165"/>
              </a:spcBef>
              <a:tabLst>
                <a:tab pos="1624330" algn="l"/>
              </a:tabLst>
            </a:pP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Premium	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Risk-free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9144" y="4291329"/>
            <a:ext cx="101346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Risk Premium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(U)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6233" y="4291329"/>
            <a:ext cx="786130" cy="5073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ts val="1275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E(R</a:t>
            </a:r>
            <a:r>
              <a:rPr dirty="0" baseline="-8547" sz="975">
                <a:latin typeface="Garamond"/>
                <a:cs typeface="Garamond"/>
              </a:rPr>
              <a:t>U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</a:t>
            </a:r>
            <a:r>
              <a:rPr dirty="0" baseline="-8547" sz="975">
                <a:latin typeface="Garamond"/>
                <a:cs typeface="Garamond"/>
              </a:rPr>
              <a:t>f</a:t>
            </a:r>
            <a:endParaRPr baseline="-8547" sz="975">
              <a:latin typeface="Garamond"/>
              <a:cs typeface="Garamond"/>
            </a:endParaRPr>
          </a:p>
          <a:p>
            <a:pPr marL="38100">
              <a:lnSpc>
                <a:spcPts val="122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20%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8%</a:t>
            </a:r>
            <a:endParaRPr sz="1100">
              <a:latin typeface="Garamond"/>
              <a:cs typeface="Garamond"/>
            </a:endParaRPr>
          </a:p>
          <a:p>
            <a:pPr marL="38100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12%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9144" y="4918074"/>
            <a:ext cx="99568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Risk Premium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(L)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96233" y="4918074"/>
            <a:ext cx="777240" cy="51180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ts val="129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E(R</a:t>
            </a:r>
            <a:r>
              <a:rPr dirty="0" baseline="-8547" sz="975">
                <a:latin typeface="Garamond"/>
                <a:cs typeface="Garamond"/>
              </a:rPr>
              <a:t>L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 </a:t>
            </a:r>
            <a:r>
              <a:rPr dirty="0" sz="1100">
                <a:latin typeface="Garamond"/>
                <a:cs typeface="Garamond"/>
              </a:rPr>
              <a:t>R</a:t>
            </a:r>
            <a:r>
              <a:rPr dirty="0" baseline="-8547" sz="975">
                <a:latin typeface="Garamond"/>
                <a:cs typeface="Garamond"/>
              </a:rPr>
              <a:t>f</a:t>
            </a:r>
            <a:endParaRPr baseline="-8547" sz="975">
              <a:latin typeface="Garamond"/>
              <a:cs typeface="Garamond"/>
            </a:endParaRPr>
          </a:p>
          <a:p>
            <a:pPr marL="38100">
              <a:lnSpc>
                <a:spcPts val="124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25%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8%</a:t>
            </a:r>
            <a:endParaRPr sz="1100">
              <a:latin typeface="Garamond"/>
              <a:cs typeface="Garamond"/>
            </a:endParaRPr>
          </a:p>
          <a:p>
            <a:pPr marL="38100">
              <a:lnSpc>
                <a:spcPts val="127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17%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5508" y="5567552"/>
            <a:ext cx="173863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Unequal</a:t>
            </a:r>
            <a:r>
              <a:rPr dirty="0" sz="1100" spc="-5">
                <a:latin typeface="Garamond"/>
                <a:cs typeface="Garamond"/>
              </a:rPr>
              <a:t> Probabilities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779397" y="5918580"/>
          <a:ext cx="4469765" cy="915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/>
                <a:gridCol w="583565"/>
                <a:gridCol w="728345"/>
                <a:gridCol w="773430"/>
                <a:gridCol w="729615"/>
                <a:gridCol w="793750"/>
              </a:tblGrid>
              <a:tr h="181986">
                <a:tc rowSpan="2">
                  <a:txBody>
                    <a:bodyPr/>
                    <a:lstStyle/>
                    <a:p>
                      <a:pPr marL="114300" marR="151130" indent="68580">
                        <a:lnSpc>
                          <a:spcPts val="1260"/>
                        </a:lnSpc>
                        <a:spcBef>
                          <a:spcPts val="7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State of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8001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25400">
                        <a:lnSpc>
                          <a:spcPts val="130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L="15240">
                        <a:lnSpc>
                          <a:spcPts val="130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k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U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586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952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8001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8580">
                        <a:lnSpc>
                          <a:spcPts val="1205"/>
                        </a:lnSpc>
                      </a:pPr>
                      <a:r>
                        <a:rPr dirty="0" sz="1100" spc="2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baseline="-8547" sz="975" spc="30" b="1">
                          <a:latin typeface="Garamond"/>
                          <a:cs typeface="Garamond"/>
                        </a:rPr>
                        <a:t>L</a:t>
                      </a:r>
                      <a:endParaRPr baseline="-8547" sz="975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5880">
                        <a:lnSpc>
                          <a:spcPts val="120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2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baseline="-8547" sz="975" spc="30" b="1">
                          <a:latin typeface="Garamond"/>
                          <a:cs typeface="Garamond"/>
                        </a:rPr>
                        <a:t>L</a:t>
                      </a:r>
                      <a:endParaRPr baseline="-8547" sz="975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46379">
                        <a:lnSpc>
                          <a:spcPts val="1205"/>
                        </a:lnSpc>
                      </a:pPr>
                      <a:r>
                        <a:rPr dirty="0" sz="1100" spc="2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baseline="-8547" sz="975" spc="30" b="1">
                          <a:latin typeface="Garamond"/>
                          <a:cs typeface="Garamond"/>
                        </a:rPr>
                        <a:t>U</a:t>
                      </a:r>
                      <a:endParaRPr baseline="-8547" sz="975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69850">
                        <a:lnSpc>
                          <a:spcPts val="120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baseline="-8547" sz="975" spc="37" b="1">
                          <a:latin typeface="Garamond"/>
                          <a:cs typeface="Garamond"/>
                        </a:rPr>
                        <a:t>U</a:t>
                      </a:r>
                      <a:endParaRPr baseline="-8547" sz="975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BEBEBE"/>
                    </a:solidFill>
                  </a:tcPr>
                </a:tc>
              </a:tr>
              <a:tr h="174747"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Recession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115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12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2865">
                        <a:lnSpc>
                          <a:spcPts val="12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-0.16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26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63500">
                        <a:lnSpc>
                          <a:spcPts val="126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0.24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Boom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1220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 marR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u="sng" sz="1100" spc="1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0.14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 marR="654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0.02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02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ts val="12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E(R</a:t>
                      </a:r>
                      <a:r>
                        <a:rPr dirty="0" baseline="-8547" sz="97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27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28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-0.02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27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E(R</a:t>
                      </a:r>
                      <a:r>
                        <a:rPr dirty="0" baseline="-8547" sz="975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27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54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0.26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27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405508" y="6971791"/>
            <a:ext cx="167386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risk-free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49144" y="7287514"/>
            <a:ext cx="101346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Risk Premium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(U)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96233" y="7287514"/>
            <a:ext cx="808355" cy="511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ts val="129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E(R</a:t>
            </a:r>
            <a:r>
              <a:rPr dirty="0" baseline="-8547" sz="975">
                <a:latin typeface="Garamond"/>
                <a:cs typeface="Garamond"/>
              </a:rPr>
              <a:t>U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</a:t>
            </a:r>
            <a:r>
              <a:rPr dirty="0" baseline="-8547" sz="975">
                <a:latin typeface="Garamond"/>
                <a:cs typeface="Garamond"/>
              </a:rPr>
              <a:t>f</a:t>
            </a:r>
            <a:endParaRPr baseline="-8547" sz="975">
              <a:latin typeface="Garamond"/>
              <a:cs typeface="Garamond"/>
            </a:endParaRPr>
          </a:p>
          <a:p>
            <a:pPr marL="38100">
              <a:lnSpc>
                <a:spcPts val="124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26%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10%</a:t>
            </a:r>
            <a:endParaRPr sz="1100">
              <a:latin typeface="Garamond"/>
              <a:cs typeface="Garamond"/>
            </a:endParaRPr>
          </a:p>
          <a:p>
            <a:pPr marL="38100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16%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49144" y="7918450"/>
            <a:ext cx="99441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Risk Premium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(L)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96233" y="7918450"/>
            <a:ext cx="792480" cy="51180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ts val="1275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E(R</a:t>
            </a:r>
            <a:r>
              <a:rPr dirty="0" baseline="-8547" sz="975">
                <a:latin typeface="Garamond"/>
                <a:cs typeface="Garamond"/>
              </a:rPr>
              <a:t>L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 </a:t>
            </a:r>
            <a:r>
              <a:rPr dirty="0" sz="1100">
                <a:latin typeface="Garamond"/>
                <a:cs typeface="Garamond"/>
              </a:rPr>
              <a:t>R</a:t>
            </a:r>
            <a:r>
              <a:rPr dirty="0" baseline="-8547" sz="975">
                <a:latin typeface="Garamond"/>
                <a:cs typeface="Garamond"/>
              </a:rPr>
              <a:t>f</a:t>
            </a:r>
            <a:endParaRPr baseline="-8547" sz="975">
              <a:latin typeface="Garamond"/>
              <a:cs typeface="Garamond"/>
            </a:endParaRPr>
          </a:p>
          <a:p>
            <a:pPr marL="38100">
              <a:lnSpc>
                <a:spcPts val="124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-2%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endParaRPr sz="1100">
              <a:latin typeface="Garamond"/>
              <a:cs typeface="Garamond"/>
            </a:endParaRPr>
          </a:p>
          <a:p>
            <a:pPr marL="38100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-12%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76629" y="8545194"/>
            <a:ext cx="3927475" cy="10052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Calculating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Variance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variances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Determine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squared </a:t>
            </a:r>
            <a:r>
              <a:rPr dirty="0" sz="1100">
                <a:latin typeface="Garamond"/>
                <a:cs typeface="Garamond"/>
              </a:rPr>
              <a:t>deviations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 </a:t>
            </a:r>
            <a:r>
              <a:rPr dirty="0" sz="1100">
                <a:latin typeface="Garamond"/>
                <a:cs typeface="Garamond"/>
              </a:rPr>
              <a:t>return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Multiply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-5">
                <a:latin typeface="Garamond"/>
                <a:cs typeface="Garamond"/>
              </a:rPr>
              <a:t> possible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squared</a:t>
            </a:r>
            <a:r>
              <a:rPr dirty="0" sz="1100">
                <a:latin typeface="Garamond"/>
                <a:cs typeface="Garamond"/>
              </a:rPr>
              <a:t> deviation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5">
                <a:latin typeface="Garamond"/>
                <a:cs typeface="Garamond"/>
              </a:rPr>
              <a:t>probability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Add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up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products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87372" y="905509"/>
          <a:ext cx="4853940" cy="181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1535"/>
                <a:gridCol w="452754"/>
                <a:gridCol w="1289685"/>
                <a:gridCol w="1253489"/>
                <a:gridCol w="990600"/>
              </a:tblGrid>
              <a:tr h="329564">
                <a:tc>
                  <a:txBody>
                    <a:bodyPr/>
                    <a:lstStyle/>
                    <a:p>
                      <a:pPr marL="146050" marR="123825" indent="68580">
                        <a:lnSpc>
                          <a:spcPts val="1230"/>
                        </a:lnSpc>
                        <a:spcBef>
                          <a:spcPts val="2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State of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396240" marR="240665" indent="-78105">
                        <a:lnSpc>
                          <a:spcPts val="1230"/>
                        </a:lnSpc>
                        <a:spcBef>
                          <a:spcPts val="2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Return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Dev.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44780" marR="200660" indent="-32384">
                        <a:lnSpc>
                          <a:spcPts val="1230"/>
                        </a:lnSpc>
                        <a:spcBef>
                          <a:spcPts val="2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qu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 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Dev.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Product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7033">
                <a:tc>
                  <a:txBody>
                    <a:bodyPr/>
                    <a:lstStyle/>
                    <a:p>
                      <a:pPr marL="68580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Recession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412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-0.20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0.25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-0.45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algn="ctr" marR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0.2025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0.10125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7578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Boom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41275">
                        <a:lnSpc>
                          <a:spcPts val="1310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ts val="131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0.70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-0.25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0.45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93345">
                        <a:lnSpc>
                          <a:spcPts val="131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0.2025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310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0.10125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8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412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220470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σ</a:t>
                      </a:r>
                      <a:r>
                        <a:rPr dirty="0" baseline="21367" sz="975" spc="22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8547" sz="975" spc="22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baseline="-8547" sz="975" spc="14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0.2025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8307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k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U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7451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Recession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412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0.30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0.20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0.10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algn="ctr" marR="933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0.00500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7642">
                <a:tc>
                  <a:txBody>
                    <a:bodyPr/>
                    <a:lstStyle/>
                    <a:p>
                      <a:pPr marL="68580">
                        <a:lnSpc>
                          <a:spcPts val="1240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Boom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41275">
                        <a:lnSpc>
                          <a:spcPts val="1310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131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0.10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0.20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-0.10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93345">
                        <a:lnSpc>
                          <a:spcPts val="131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310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0.00500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4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12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20470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σ</a:t>
                      </a:r>
                      <a:r>
                        <a:rPr dirty="0" baseline="21367" sz="975" spc="22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8547" sz="975" spc="22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baseline="-8547" sz="975" spc="1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0.0100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634108" y="9452332"/>
            <a:ext cx="833755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z="1100" spc="10">
                <a:latin typeface="Garamond"/>
                <a:cs typeface="Garamond"/>
              </a:rPr>
              <a:t>po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tfo</a:t>
            </a:r>
            <a:r>
              <a:rPr dirty="0" sz="1100" spc="-5">
                <a:latin typeface="Garamond"/>
                <a:cs typeface="Garamond"/>
              </a:rPr>
              <a:t>l</a:t>
            </a:r>
            <a:r>
              <a:rPr dirty="0" sz="1100" spc="-40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ss</a:t>
            </a:r>
            <a:r>
              <a:rPr dirty="0" sz="1100">
                <a:latin typeface="Garamond"/>
                <a:cs typeface="Garamond"/>
              </a:rPr>
              <a:t>et.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131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508" y="2864357"/>
            <a:ext cx="355663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Summarizing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variability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054098" y="3215639"/>
          <a:ext cx="3921125" cy="951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9665"/>
                <a:gridCol w="756285"/>
                <a:gridCol w="751839"/>
              </a:tblGrid>
              <a:tr h="196596">
                <a:tc>
                  <a:txBody>
                    <a:bodyPr/>
                    <a:lstStyle/>
                    <a:p>
                      <a:pPr marL="67945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Particulars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314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59385">
                        <a:lnSpc>
                          <a:spcPts val="130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k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U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177">
                <a:tc>
                  <a:txBody>
                    <a:bodyPr/>
                    <a:lstStyle/>
                    <a:p>
                      <a:pPr marL="67945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Expected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Return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(ER)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9225">
                        <a:lnSpc>
                          <a:spcPts val="1300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5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ts val="1300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Variance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,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σ</a:t>
                      </a:r>
                      <a:r>
                        <a:rPr dirty="0" baseline="21367" sz="975" spc="22">
                          <a:latin typeface="Garamond"/>
                          <a:cs typeface="Garamond"/>
                        </a:rPr>
                        <a:t>2</a:t>
                      </a:r>
                      <a:endParaRPr baseline="21367" sz="975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0.2025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6383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Standard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Deviation,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σ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Coefficient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variation,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CV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σ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/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E(R)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405508" y="4309617"/>
            <a:ext cx="5440680" cy="10604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less</a:t>
            </a:r>
            <a:r>
              <a:rPr dirty="0" sz="1100">
                <a:latin typeface="Garamond"/>
                <a:cs typeface="Garamond"/>
              </a:rPr>
              <a:t> risk.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You </a:t>
            </a:r>
            <a:r>
              <a:rPr dirty="0" sz="1100" spc="-5">
                <a:latin typeface="Garamond"/>
                <a:cs typeface="Garamond"/>
              </a:rPr>
              <a:t>could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70%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20%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always</a:t>
            </a:r>
            <a:r>
              <a:rPr dirty="0" sz="1100">
                <a:latin typeface="Garamond"/>
                <a:cs typeface="Garamond"/>
              </a:rPr>
              <a:t> pay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 spc="-5">
                <a:latin typeface="Garamond"/>
                <a:cs typeface="Garamond"/>
              </a:rPr>
              <a:t>least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stocks </a:t>
            </a:r>
            <a:r>
              <a:rPr dirty="0" sz="1100" spc="-10">
                <a:latin typeface="Garamond"/>
                <a:cs typeface="Garamond"/>
              </a:rPr>
              <a:t>should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buy?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30"/>
              </a:lnSpc>
              <a:spcBef>
                <a:spcPts val="20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economy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conditions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unequal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probabilities,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summarized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computations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table: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509649" y="5525388"/>
          <a:ext cx="5005070" cy="1816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1535"/>
                <a:gridCol w="455295"/>
                <a:gridCol w="1424940"/>
                <a:gridCol w="1270000"/>
                <a:gridCol w="988695"/>
              </a:tblGrid>
              <a:tr h="329184">
                <a:tc>
                  <a:txBody>
                    <a:bodyPr/>
                    <a:lstStyle/>
                    <a:p>
                      <a:pPr marL="146050" marR="123825" indent="68580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State of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858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471805" marR="304800" indent="-82550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Return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Dev.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63195" marR="198120" indent="-32384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qu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 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Dev.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81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Product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2651">
                <a:tc>
                  <a:txBody>
                    <a:bodyPr/>
                    <a:lstStyle/>
                    <a:p>
                      <a:pPr marL="67945">
                        <a:lnSpc>
                          <a:spcPts val="119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9928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Recession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387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algn="r" marR="12382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-0.20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(-0.02)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-0.18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0.0324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0.02592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9737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Boom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387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 marR="137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0.70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(-0.02)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0.72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0.5184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0.10368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60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3873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123380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σ</a:t>
                      </a:r>
                      <a:r>
                        <a:rPr dirty="0" baseline="21367" sz="975" spc="22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8547" sz="975" spc="22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baseline="-8547" sz="975" spc="1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0.12960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6149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k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U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9865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Recession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3873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0.80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0.30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0.26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0.04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0.0016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0.00128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762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9737">
                <a:tc>
                  <a:txBody>
                    <a:bodyPr/>
                    <a:lstStyle/>
                    <a:p>
                      <a:pPr marL="67945">
                        <a:lnSpc>
                          <a:spcPts val="1220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Boom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387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0.10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0.26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-0.16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0.0256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0.00512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73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3380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σ</a:t>
                      </a:r>
                      <a:r>
                        <a:rPr dirty="0" baseline="21367" sz="975" spc="22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8547" sz="975" spc="22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baseline="-8547" sz="975" spc="127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0.00640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151229" y="7484109"/>
            <a:ext cx="5704840" cy="1984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95300" indent="-22923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Standard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deviation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1410335">
              <a:lnSpc>
                <a:spcPct val="100000"/>
              </a:lnSpc>
              <a:spcBef>
                <a:spcPts val="1165"/>
              </a:spcBef>
            </a:pPr>
            <a:r>
              <a:rPr dirty="0" sz="1100" spc="15">
                <a:latin typeface="Garamond"/>
                <a:cs typeface="Garamond"/>
              </a:rPr>
              <a:t>σ</a:t>
            </a:r>
            <a:r>
              <a:rPr dirty="0" baseline="-8547" sz="975" spc="22">
                <a:latin typeface="Garamond"/>
                <a:cs typeface="Garamond"/>
              </a:rPr>
              <a:t>L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√0.1296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0.36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36%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Standard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deviation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much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smaller</a:t>
            </a:r>
            <a:endParaRPr sz="1100">
              <a:latin typeface="Garamond"/>
              <a:cs typeface="Garamond"/>
            </a:endParaRPr>
          </a:p>
          <a:p>
            <a:pPr marL="1410335">
              <a:lnSpc>
                <a:spcPct val="100000"/>
              </a:lnSpc>
              <a:spcBef>
                <a:spcPts val="1200"/>
              </a:spcBef>
            </a:pPr>
            <a:r>
              <a:rPr dirty="0" sz="1100" spc="15">
                <a:latin typeface="Garamond"/>
                <a:cs typeface="Garamond"/>
              </a:rPr>
              <a:t>σ</a:t>
            </a:r>
            <a:r>
              <a:rPr dirty="0" baseline="-8547" sz="975" spc="22">
                <a:latin typeface="Garamond"/>
                <a:cs typeface="Garamond"/>
              </a:rPr>
              <a:t>U</a:t>
            </a:r>
            <a:r>
              <a:rPr dirty="0" baseline="-8547" sz="975" spc="14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√0.0064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0.08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Portfolios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group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such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stocks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held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investor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weights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percentages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portfolio’s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invested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13436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9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$50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$150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another,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>
                <a:latin typeface="Garamond"/>
                <a:cs typeface="Garamond"/>
              </a:rPr>
              <a:t> 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worth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$200.</a:t>
            </a:r>
            <a:endParaRPr sz="1100">
              <a:latin typeface="Garamond"/>
              <a:cs typeface="Garamond"/>
            </a:endParaRPr>
          </a:p>
          <a:p>
            <a:pPr marL="469900" marR="25400" indent="-228600">
              <a:lnSpc>
                <a:spcPts val="1220"/>
              </a:lnSpc>
              <a:spcBef>
                <a:spcPts val="2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percentage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$50/200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0.25,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while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second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$150/200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0.75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weights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0.25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0.75</a:t>
            </a:r>
            <a:endParaRPr sz="1100">
              <a:latin typeface="Garamond"/>
              <a:cs typeface="Garamond"/>
            </a:endParaRPr>
          </a:p>
          <a:p>
            <a:pPr marL="469900" marR="33020" indent="-228600">
              <a:lnSpc>
                <a:spcPts val="1220"/>
              </a:lnSpc>
              <a:spcBef>
                <a:spcPts val="209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Let’s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 </a:t>
            </a:r>
            <a:r>
              <a:rPr dirty="0" sz="1100" spc="-10">
                <a:latin typeface="Garamond"/>
                <a:cs typeface="Garamond"/>
              </a:rPr>
              <a:t>stocks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U, where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>
                <a:latin typeface="Garamond"/>
                <a:cs typeface="Garamond"/>
              </a:rPr>
              <a:t> pay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half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your</a:t>
            </a:r>
            <a:r>
              <a:rPr dirty="0" sz="1100">
                <a:latin typeface="Garamond"/>
                <a:cs typeface="Garamond"/>
              </a:rPr>
              <a:t> money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each,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i.e. </a:t>
            </a:r>
            <a:r>
              <a:rPr dirty="0" sz="1100">
                <a:latin typeface="Garamond"/>
                <a:cs typeface="Garamond"/>
              </a:rPr>
              <a:t>portfolio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weights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0.50</a:t>
            </a:r>
            <a:r>
              <a:rPr dirty="0" sz="1100">
                <a:latin typeface="Garamond"/>
                <a:cs typeface="Garamond"/>
              </a:rPr>
              <a:t> 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0.50.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724532" y="1930272"/>
          <a:ext cx="4579620" cy="768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9525"/>
                <a:gridCol w="437514"/>
                <a:gridCol w="2169160"/>
                <a:gridCol w="680720"/>
              </a:tblGrid>
              <a:tr h="196596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State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Economy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Portfolio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Return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if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State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occurs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84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Product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177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Recession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0.50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-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20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%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+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0.50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30%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4604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marL="68580">
                        <a:lnSpc>
                          <a:spcPts val="127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Boom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0.50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70%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+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0.50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10%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40%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4604">
                        <a:lnSpc>
                          <a:spcPts val="1275"/>
                        </a:lnSpc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4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191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ER(P)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460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0.225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25208" y="9744940"/>
            <a:ext cx="2247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z="1100" spc="20">
                <a:latin typeface="Garamond"/>
                <a:cs typeface="Garamond"/>
              </a:rPr>
              <a:t>1</a:t>
            </a:r>
            <a:r>
              <a:rPr dirty="0" sz="1100" spc="-15">
                <a:latin typeface="Garamond"/>
                <a:cs typeface="Garamond"/>
              </a:rPr>
              <a:t>3</a:t>
            </a:r>
            <a:r>
              <a:rPr dirty="0" sz="1100" spc="5">
                <a:latin typeface="Garamond"/>
                <a:cs typeface="Garamond"/>
              </a:rPr>
              <a:t>2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2008" y="2841497"/>
            <a:ext cx="5587365" cy="21215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048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304165" algn="l"/>
                <a:tab pos="304800" algn="l"/>
              </a:tabLst>
            </a:pPr>
            <a:r>
              <a:rPr dirty="0" sz="1100">
                <a:latin typeface="Garamond"/>
                <a:cs typeface="Garamond"/>
              </a:rPr>
              <a:t>Alternatively,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Portfolio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 marL="1219835">
              <a:lnSpc>
                <a:spcPts val="1270"/>
              </a:lnSpc>
              <a:spcBef>
                <a:spcPts val="1165"/>
              </a:spcBef>
              <a:tabLst>
                <a:tab pos="1677035" algn="l"/>
              </a:tabLst>
            </a:pPr>
            <a:r>
              <a:rPr dirty="0" sz="1100">
                <a:latin typeface="Garamond"/>
                <a:cs typeface="Garamond"/>
              </a:rPr>
              <a:t>E(R</a:t>
            </a:r>
            <a:r>
              <a:rPr dirty="0" baseline="-8547" sz="975">
                <a:latin typeface="Garamond"/>
                <a:cs typeface="Garamond"/>
              </a:rPr>
              <a:t>P</a:t>
            </a:r>
            <a:r>
              <a:rPr dirty="0" sz="1100">
                <a:latin typeface="Garamond"/>
                <a:cs typeface="Garamond"/>
              </a:rPr>
              <a:t>)	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0.50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E(R</a:t>
            </a:r>
            <a:r>
              <a:rPr dirty="0" baseline="-8547" sz="975">
                <a:latin typeface="Garamond"/>
                <a:cs typeface="Garamond"/>
              </a:rPr>
              <a:t>L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0.50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E(R</a:t>
            </a:r>
            <a:r>
              <a:rPr dirty="0" baseline="-8547" sz="975">
                <a:latin typeface="Garamond"/>
                <a:cs typeface="Garamond"/>
              </a:rPr>
              <a:t>U</a:t>
            </a:r>
            <a:r>
              <a:rPr dirty="0" sz="1100">
                <a:latin typeface="Garamond"/>
                <a:cs typeface="Garamond"/>
              </a:rPr>
              <a:t>)</a:t>
            </a:r>
            <a:endParaRPr sz="1100">
              <a:latin typeface="Garamond"/>
              <a:cs typeface="Garamond"/>
            </a:endParaRPr>
          </a:p>
          <a:p>
            <a:pPr marL="1677035">
              <a:lnSpc>
                <a:spcPts val="124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0.50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25%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0.50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20%</a:t>
            </a:r>
            <a:endParaRPr sz="1100">
              <a:latin typeface="Garamond"/>
              <a:cs typeface="Garamond"/>
            </a:endParaRPr>
          </a:p>
          <a:p>
            <a:pPr marL="16770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22.5%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304165" marR="81280" indent="-228600">
              <a:lnSpc>
                <a:spcPts val="1260"/>
              </a:lnSpc>
              <a:buFont typeface="Symbol"/>
              <a:buChar char=""/>
              <a:tabLst>
                <a:tab pos="304165" algn="l"/>
                <a:tab pos="304800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>
                <a:latin typeface="Garamond"/>
                <a:cs typeface="Garamond"/>
              </a:rPr>
              <a:t> had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‘n’</a:t>
            </a:r>
            <a:r>
              <a:rPr dirty="0" sz="1100">
                <a:latin typeface="Garamond"/>
                <a:cs typeface="Garamond"/>
              </a:rPr>
              <a:t> assets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portfolio,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where 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 number, 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‘x</a:t>
            </a:r>
            <a:r>
              <a:rPr dirty="0" baseline="-8547" sz="975">
                <a:latin typeface="Garamond"/>
                <a:cs typeface="Garamond"/>
              </a:rPr>
              <a:t>i</a:t>
            </a:r>
            <a:r>
              <a:rPr dirty="0" sz="1100">
                <a:latin typeface="Garamond"/>
                <a:cs typeface="Garamond"/>
              </a:rPr>
              <a:t>’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percentages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19835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E(R</a:t>
            </a:r>
            <a:r>
              <a:rPr dirty="0" baseline="-8547" sz="975">
                <a:latin typeface="Garamond"/>
                <a:cs typeface="Garamond"/>
              </a:rPr>
              <a:t>P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10">
                <a:latin typeface="Garamond"/>
                <a:cs typeface="Garamond"/>
              </a:rPr>
              <a:t> 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baseline="-8547" sz="975" spc="7">
                <a:latin typeface="Garamond"/>
                <a:cs typeface="Garamond"/>
              </a:rPr>
              <a:t>1</a:t>
            </a:r>
            <a:r>
              <a:rPr dirty="0" baseline="-8547" sz="975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E(R</a:t>
            </a:r>
            <a:r>
              <a:rPr dirty="0" baseline="-8547" sz="975">
                <a:latin typeface="Garamond"/>
                <a:cs typeface="Garamond"/>
              </a:rPr>
              <a:t>1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baseline="-8547" sz="975" spc="7">
                <a:latin typeface="Garamond"/>
                <a:cs typeface="Garamond"/>
              </a:rPr>
              <a:t>2</a:t>
            </a:r>
            <a:r>
              <a:rPr dirty="0" baseline="-8547" sz="975" spc="142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E(R</a:t>
            </a:r>
            <a:r>
              <a:rPr dirty="0" baseline="-8547" sz="975">
                <a:latin typeface="Garamond"/>
                <a:cs typeface="Garamond"/>
              </a:rPr>
              <a:t>2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+…….+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x</a:t>
            </a:r>
            <a:r>
              <a:rPr dirty="0" baseline="-8547" sz="975" spc="15">
                <a:latin typeface="Garamond"/>
                <a:cs typeface="Garamond"/>
              </a:rPr>
              <a:t>n</a:t>
            </a:r>
            <a:r>
              <a:rPr dirty="0" baseline="-8547" sz="975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E(R</a:t>
            </a:r>
            <a:r>
              <a:rPr dirty="0" baseline="-8547" sz="975" spc="7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304165" marR="95250" indent="-228600">
              <a:lnSpc>
                <a:spcPts val="1220"/>
              </a:lnSpc>
              <a:buFont typeface="Symbol"/>
              <a:buChar char=""/>
              <a:tabLst>
                <a:tab pos="304165" algn="l"/>
                <a:tab pos="304800" algn="l"/>
              </a:tabLst>
            </a:pPr>
            <a:r>
              <a:rPr dirty="0" sz="1100">
                <a:latin typeface="Garamond"/>
                <a:cs typeface="Garamond"/>
              </a:rPr>
              <a:t>Variance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generally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simple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combination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variances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portfolio.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50797" y="5118226"/>
          <a:ext cx="4927600" cy="1084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3910"/>
                <a:gridCol w="455295"/>
                <a:gridCol w="1186180"/>
                <a:gridCol w="1705610"/>
                <a:gridCol w="762635"/>
              </a:tblGrid>
              <a:tr h="329438">
                <a:tc>
                  <a:txBody>
                    <a:bodyPr/>
                    <a:lstStyle/>
                    <a:p>
                      <a:pPr marL="114300" marR="107950" indent="68580">
                        <a:lnSpc>
                          <a:spcPts val="1230"/>
                        </a:lnSpc>
                        <a:spcBef>
                          <a:spcPts val="2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State of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72720" marR="108585" indent="-64135">
                        <a:lnSpc>
                          <a:spcPts val="1230"/>
                        </a:lnSpc>
                        <a:spcBef>
                          <a:spcPts val="2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rt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 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if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State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occurs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400050" marR="396875" indent="-32384">
                        <a:lnSpc>
                          <a:spcPts val="1230"/>
                        </a:lnSpc>
                        <a:spcBef>
                          <a:spcPts val="2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qu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 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Dev.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Form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17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905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Product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9319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Recession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1300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(0.05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0.225)</a:t>
                      </a:r>
                      <a:r>
                        <a:rPr dirty="0" baseline="21367" sz="975" spc="7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21367" sz="975" spc="1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0.030625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19050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0.0153125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Boom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(0.40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0.225)</a:t>
                      </a:r>
                      <a:r>
                        <a:rPr dirty="0" baseline="21367" sz="975" spc="7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21367" sz="975" spc="1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0.030625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ctr" marR="19050">
                        <a:lnSpc>
                          <a:spcPts val="1220"/>
                        </a:lnSpc>
                      </a:pPr>
                      <a:r>
                        <a:rPr dirty="0" u="sng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0.0153125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9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1915">
                        <a:lnSpc>
                          <a:spcPts val="1220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σ</a:t>
                      </a:r>
                      <a:r>
                        <a:rPr dirty="0" baseline="21367" sz="975" spc="22">
                          <a:latin typeface="Garamond"/>
                          <a:cs typeface="Garamond"/>
                        </a:rPr>
                        <a:t>2</a:t>
                      </a:r>
                      <a:r>
                        <a:rPr dirty="0" baseline="-8547" sz="975" spc="22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baseline="-8547" sz="975" spc="127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9050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0.030625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4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4965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σ</a:t>
                      </a:r>
                      <a:r>
                        <a:rPr dirty="0" baseline="-8547" sz="975" spc="22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baseline="-8547" sz="975" spc="172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√0.030625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17.5%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354708" y="6345173"/>
            <a:ext cx="5549900" cy="182880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291465" marR="68580" indent="-228600">
              <a:lnSpc>
                <a:spcPts val="1220"/>
              </a:lnSpc>
              <a:spcBef>
                <a:spcPts val="240"/>
              </a:spcBef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>
                <a:latin typeface="Garamond"/>
                <a:cs typeface="Garamond"/>
              </a:rPr>
              <a:t>Applying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weights,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i.e.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2/11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(about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18%)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9/11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(about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82%)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30">
                <a:latin typeface="Garamond"/>
                <a:cs typeface="Garamond"/>
              </a:rPr>
              <a:t>U:</a:t>
            </a:r>
            <a:endParaRPr sz="1100">
              <a:latin typeface="Garamond"/>
              <a:cs typeface="Garamond"/>
            </a:endParaRPr>
          </a:p>
          <a:p>
            <a:pPr lvl="1" marL="749300" indent="-229235">
              <a:lnSpc>
                <a:spcPts val="1195"/>
              </a:lnSpc>
              <a:buFont typeface="Courier New"/>
              <a:buChar char="o"/>
              <a:tabLst>
                <a:tab pos="749300" algn="l"/>
                <a:tab pos="749935" algn="l"/>
              </a:tabLst>
            </a:pPr>
            <a:r>
              <a:rPr dirty="0" sz="1100" spc="5">
                <a:latin typeface="Garamond"/>
                <a:cs typeface="Garamond"/>
              </a:rPr>
              <a:t>If 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recession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occurs,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endParaRPr sz="1100">
              <a:latin typeface="Garamond"/>
              <a:cs typeface="Garamond"/>
            </a:endParaRPr>
          </a:p>
          <a:p>
            <a:pPr marL="1207135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P</a:t>
            </a:r>
            <a:r>
              <a:rPr dirty="0" baseline="-8547" sz="975" spc="18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2/11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-20%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9/11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20.91%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lvl="1" marL="749300" indent="-229235">
              <a:lnSpc>
                <a:spcPts val="1275"/>
              </a:lnSpc>
              <a:buFont typeface="Courier New"/>
              <a:buChar char="o"/>
              <a:tabLst>
                <a:tab pos="749300" algn="l"/>
                <a:tab pos="749935" algn="l"/>
              </a:tabLst>
            </a:pPr>
            <a:r>
              <a:rPr dirty="0" sz="1100" spc="5">
                <a:latin typeface="Garamond"/>
                <a:cs typeface="Garamond"/>
              </a:rPr>
              <a:t>If 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occurs,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portfolio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endParaRPr sz="1100">
              <a:latin typeface="Garamond"/>
              <a:cs typeface="Garamond"/>
            </a:endParaRPr>
          </a:p>
          <a:p>
            <a:pPr marL="1207135">
              <a:lnSpc>
                <a:spcPts val="1275"/>
              </a:lnSpc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P</a:t>
            </a:r>
            <a:r>
              <a:rPr dirty="0" baseline="-8547" sz="975" spc="18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2/11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70%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9/11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20.91%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same,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showing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zero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variance.</a:t>
            </a:r>
            <a:endParaRPr sz="110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>
                <a:latin typeface="Garamond"/>
                <a:cs typeface="Garamond"/>
              </a:rPr>
              <a:t>Hence,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combining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portfolios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substantially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alter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faced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</a:t>
            </a:r>
            <a:endParaRPr sz="110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projections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stocks: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145538" y="8169275"/>
          <a:ext cx="3737610" cy="78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050"/>
                <a:gridCol w="962025"/>
                <a:gridCol w="661669"/>
                <a:gridCol w="660400"/>
                <a:gridCol w="659130"/>
              </a:tblGrid>
              <a:tr h="196595">
                <a:tc rowSpan="2">
                  <a:txBody>
                    <a:bodyPr/>
                    <a:lstStyle/>
                    <a:p>
                      <a:pPr marL="114300" marR="84455" indent="68580">
                        <a:lnSpc>
                          <a:spcPts val="1220"/>
                        </a:lnSpc>
                        <a:spcBef>
                          <a:spcPts val="28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State of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34315" marR="55880" indent="-142240">
                        <a:lnSpc>
                          <a:spcPts val="1220"/>
                        </a:lnSpc>
                        <a:spcBef>
                          <a:spcPts val="280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 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State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(P)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556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Returns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65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556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556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A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B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C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304">
                <a:tc>
                  <a:txBody>
                    <a:bodyPr/>
                    <a:lstStyle/>
                    <a:p>
                      <a:pPr marL="67945">
                        <a:lnSpc>
                          <a:spcPts val="1300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Boom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3425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Bust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8%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4%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405508" y="9094089"/>
            <a:ext cx="3920490" cy="51180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ts val="129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equal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amounts invested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assets?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7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half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remainder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C?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30595" y="714501"/>
            <a:ext cx="8166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34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133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508" y="883665"/>
            <a:ext cx="3469640" cy="5575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44395">
              <a:lnSpc>
                <a:spcPct val="100000"/>
              </a:lnSpc>
              <a:spcBef>
                <a:spcPts val="135"/>
              </a:spcBef>
            </a:pPr>
            <a:r>
              <a:rPr dirty="0" sz="1150" spc="25" b="1">
                <a:latin typeface="Garamond"/>
                <a:cs typeface="Garamond"/>
              </a:rPr>
              <a:t>PORTFOLIO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projections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stocks: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145538" y="1600834"/>
          <a:ext cx="3737610" cy="78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050"/>
                <a:gridCol w="962025"/>
                <a:gridCol w="661669"/>
                <a:gridCol w="660400"/>
                <a:gridCol w="659130"/>
              </a:tblGrid>
              <a:tr h="192277">
                <a:tc rowSpan="2">
                  <a:txBody>
                    <a:bodyPr/>
                    <a:lstStyle/>
                    <a:p>
                      <a:pPr marL="114300" marR="85725" indent="68580">
                        <a:lnSpc>
                          <a:spcPts val="1260"/>
                        </a:lnSpc>
                        <a:spcBef>
                          <a:spcPts val="2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State of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73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34315" marR="55880" indent="-142240">
                        <a:lnSpc>
                          <a:spcPts val="1260"/>
                        </a:lnSpc>
                        <a:spcBef>
                          <a:spcPts val="2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 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State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(P)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273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Returns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6596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73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73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A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B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C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74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Boom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Bust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8%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4%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316608" y="2521457"/>
            <a:ext cx="5626735" cy="33610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30200" indent="-228600">
              <a:lnSpc>
                <a:spcPts val="1290"/>
              </a:lnSpc>
              <a:spcBef>
                <a:spcPts val="114"/>
              </a:spcBef>
              <a:buFont typeface="Symbol"/>
              <a:buChar char=""/>
              <a:tabLst>
                <a:tab pos="329565" algn="l"/>
                <a:tab pos="330200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endParaRPr sz="1100">
              <a:latin typeface="Garamond"/>
              <a:cs typeface="Garamond"/>
            </a:endParaRPr>
          </a:p>
          <a:p>
            <a:pPr lvl="1" marL="558800" indent="-229870">
              <a:lnSpc>
                <a:spcPts val="1240"/>
              </a:lnSpc>
              <a:buFont typeface="Courier New"/>
              <a:buChar char="o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equal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amounts invested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assets?</a:t>
            </a:r>
            <a:endParaRPr sz="1100">
              <a:latin typeface="Garamond"/>
              <a:cs typeface="Garamond"/>
            </a:endParaRPr>
          </a:p>
          <a:p>
            <a:pPr lvl="1" marL="558800" indent="-229870">
              <a:lnSpc>
                <a:spcPts val="1270"/>
              </a:lnSpc>
              <a:buFont typeface="Courier New"/>
              <a:buChar char="o"/>
              <a:tabLst>
                <a:tab pos="558800" algn="l"/>
                <a:tab pos="559435" algn="l"/>
              </a:tabLst>
            </a:pP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half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remainder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C?</a:t>
            </a:r>
            <a:endParaRPr sz="1100">
              <a:latin typeface="Garamond"/>
              <a:cs typeface="Garamond"/>
            </a:endParaRPr>
          </a:p>
          <a:p>
            <a:pPr marL="330200" indent="-228600">
              <a:lnSpc>
                <a:spcPts val="1275"/>
              </a:lnSpc>
              <a:spcBef>
                <a:spcPts val="85"/>
              </a:spcBef>
              <a:buFont typeface="Symbol"/>
              <a:buChar char=""/>
              <a:tabLst>
                <a:tab pos="329565" algn="l"/>
                <a:tab pos="3302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individual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 </a:t>
            </a:r>
            <a:r>
              <a:rPr dirty="0" sz="1100" spc="10">
                <a:latin typeface="Garamond"/>
                <a:cs typeface="Garamond"/>
              </a:rPr>
              <a:t>as</a:t>
            </a:r>
            <a:endParaRPr sz="1100">
              <a:latin typeface="Garamond"/>
              <a:cs typeface="Garamond"/>
            </a:endParaRPr>
          </a:p>
          <a:p>
            <a:pPr marL="329565">
              <a:lnSpc>
                <a:spcPts val="1275"/>
              </a:lnSpc>
              <a:tabLst>
                <a:tab pos="5588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>
                <a:latin typeface="Garamond"/>
                <a:cs typeface="Garamond"/>
              </a:rPr>
              <a:t>E(R</a:t>
            </a:r>
            <a:r>
              <a:rPr dirty="0" baseline="-21367" sz="97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8.8%</a:t>
            </a:r>
            <a:endParaRPr sz="1100">
              <a:latin typeface="Garamond"/>
              <a:cs typeface="Garamond"/>
            </a:endParaRPr>
          </a:p>
          <a:p>
            <a:pPr marL="329565">
              <a:lnSpc>
                <a:spcPct val="100000"/>
              </a:lnSpc>
              <a:spcBef>
                <a:spcPts val="85"/>
              </a:spcBef>
              <a:tabLst>
                <a:tab pos="558800" algn="l"/>
              </a:tabLst>
            </a:pPr>
            <a:r>
              <a:rPr dirty="0" sz="1100" spc="5">
                <a:latin typeface="Courier New"/>
                <a:cs typeface="Courier New"/>
              </a:rPr>
              <a:t>o</a:t>
            </a:r>
            <a:r>
              <a:rPr dirty="0" sz="1100" spc="5">
                <a:latin typeface="Courier New"/>
                <a:cs typeface="Courier New"/>
              </a:rPr>
              <a:t>	</a:t>
            </a:r>
            <a:r>
              <a:rPr dirty="0" sz="1100" spc="-5">
                <a:latin typeface="Garamond"/>
                <a:cs typeface="Garamond"/>
              </a:rPr>
              <a:t>E</a:t>
            </a:r>
            <a:r>
              <a:rPr dirty="0" sz="1100">
                <a:latin typeface="Garamond"/>
                <a:cs typeface="Garamond"/>
              </a:rPr>
              <a:t>(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baseline="-21367" sz="975" spc="44">
                <a:latin typeface="Garamond"/>
                <a:cs typeface="Garamond"/>
              </a:rPr>
              <a:t>B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8</a:t>
            </a:r>
            <a:r>
              <a:rPr dirty="0" sz="1100" spc="-30">
                <a:latin typeface="Garamond"/>
                <a:cs typeface="Garamond"/>
              </a:rPr>
              <a:t>.</a:t>
            </a:r>
            <a:r>
              <a:rPr dirty="0" sz="1100" spc="-15">
                <a:latin typeface="Garamond"/>
                <a:cs typeface="Garamond"/>
              </a:rPr>
              <a:t>4</a:t>
            </a:r>
            <a:r>
              <a:rPr dirty="0" sz="1100" spc="10">
                <a:latin typeface="Garamond"/>
                <a:cs typeface="Garamond"/>
              </a:rPr>
              <a:t>%</a:t>
            </a:r>
            <a:endParaRPr sz="1100">
              <a:latin typeface="Garamond"/>
              <a:cs typeface="Garamond"/>
            </a:endParaRPr>
          </a:p>
          <a:p>
            <a:pPr marL="329565">
              <a:lnSpc>
                <a:spcPct val="100000"/>
              </a:lnSpc>
              <a:spcBef>
                <a:spcPts val="45"/>
              </a:spcBef>
              <a:tabLst>
                <a:tab pos="5588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>
                <a:latin typeface="Garamond"/>
                <a:cs typeface="Garamond"/>
              </a:rPr>
              <a:t>E(R</a:t>
            </a:r>
            <a:r>
              <a:rPr dirty="0" baseline="-21367" sz="975">
                <a:latin typeface="Garamond"/>
                <a:cs typeface="Garamond"/>
              </a:rPr>
              <a:t>C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8.0%</a:t>
            </a:r>
            <a:endParaRPr sz="1100">
              <a:latin typeface="Garamond"/>
              <a:cs typeface="Garamond"/>
            </a:endParaRPr>
          </a:p>
          <a:p>
            <a:pPr marL="329565" marR="106680" indent="-228600">
              <a:lnSpc>
                <a:spcPts val="1260"/>
              </a:lnSpc>
              <a:spcBef>
                <a:spcPts val="320"/>
              </a:spcBef>
              <a:buFont typeface="Symbol"/>
              <a:buChar char=""/>
              <a:tabLst>
                <a:tab pos="329565" algn="l"/>
                <a:tab pos="3302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asset,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weights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1/3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245235">
              <a:lnSpc>
                <a:spcPct val="100000"/>
              </a:lnSpc>
              <a:tabLst>
                <a:tab pos="1702435" algn="l"/>
              </a:tabLst>
            </a:pPr>
            <a:r>
              <a:rPr dirty="0" sz="1100">
                <a:latin typeface="Garamond"/>
                <a:cs typeface="Garamond"/>
              </a:rPr>
              <a:t>E(R</a:t>
            </a:r>
            <a:r>
              <a:rPr dirty="0" baseline="-21367" sz="975">
                <a:latin typeface="Garamond"/>
                <a:cs typeface="Garamond"/>
              </a:rPr>
              <a:t>P</a:t>
            </a:r>
            <a:r>
              <a:rPr dirty="0" sz="1100">
                <a:latin typeface="Garamond"/>
                <a:cs typeface="Garamond"/>
              </a:rPr>
              <a:t>)	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8.8%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1/3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8.4%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8.0%</a:t>
            </a:r>
            <a:endParaRPr sz="1100">
              <a:latin typeface="Garamond"/>
              <a:cs typeface="Garamond"/>
            </a:endParaRPr>
          </a:p>
          <a:p>
            <a:pPr marL="1702435">
              <a:lnSpc>
                <a:spcPct val="100000"/>
              </a:lnSpc>
              <a:spcBef>
                <a:spcPts val="85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8</a:t>
            </a:r>
            <a:r>
              <a:rPr dirty="0" sz="1100" spc="-30">
                <a:latin typeface="Garamond"/>
                <a:cs typeface="Garamond"/>
              </a:rPr>
              <a:t>.</a:t>
            </a:r>
            <a:r>
              <a:rPr dirty="0" sz="1100" spc="-15">
                <a:latin typeface="Garamond"/>
                <a:cs typeface="Garamond"/>
              </a:rPr>
              <a:t>4</a:t>
            </a:r>
            <a:r>
              <a:rPr dirty="0" sz="1100" spc="10">
                <a:latin typeface="Garamond"/>
                <a:cs typeface="Garamond"/>
              </a:rPr>
              <a:t>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329565" marR="102870" indent="-228600">
              <a:lnSpc>
                <a:spcPts val="1220"/>
              </a:lnSpc>
              <a:spcBef>
                <a:spcPts val="5"/>
              </a:spcBef>
              <a:buFont typeface="Symbol"/>
              <a:buChar char=""/>
              <a:tabLst>
                <a:tab pos="329565" algn="l"/>
                <a:tab pos="3302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half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(1/2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weight)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remainder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(1/4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each)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45235">
              <a:lnSpc>
                <a:spcPct val="100000"/>
              </a:lnSpc>
              <a:tabLst>
                <a:tab pos="1702435" algn="l"/>
              </a:tabLst>
            </a:pPr>
            <a:r>
              <a:rPr dirty="0" sz="1100">
                <a:latin typeface="Garamond"/>
                <a:cs typeface="Garamond"/>
              </a:rPr>
              <a:t>E(R</a:t>
            </a:r>
            <a:r>
              <a:rPr dirty="0" baseline="-21367" sz="975">
                <a:latin typeface="Garamond"/>
                <a:cs typeface="Garamond"/>
              </a:rPr>
              <a:t>P</a:t>
            </a:r>
            <a:r>
              <a:rPr dirty="0" sz="1100">
                <a:latin typeface="Garamond"/>
                <a:cs typeface="Garamond"/>
              </a:rPr>
              <a:t>)	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8.8%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1/4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8.4%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1/4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8.0%</a:t>
            </a:r>
            <a:endParaRPr sz="1100">
              <a:latin typeface="Garamond"/>
              <a:cs typeface="Garamond"/>
            </a:endParaRPr>
          </a:p>
          <a:p>
            <a:pPr marL="1702435">
              <a:lnSpc>
                <a:spcPct val="100000"/>
              </a:lnSpc>
              <a:spcBef>
                <a:spcPts val="80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8</a:t>
            </a:r>
            <a:r>
              <a:rPr dirty="0" sz="1100" spc="-30">
                <a:latin typeface="Garamond"/>
                <a:cs typeface="Garamond"/>
              </a:rPr>
              <a:t>.</a:t>
            </a:r>
            <a:r>
              <a:rPr dirty="0" sz="1100" spc="-15">
                <a:latin typeface="Garamond"/>
                <a:cs typeface="Garamond"/>
              </a:rPr>
              <a:t>5</a:t>
            </a:r>
            <a:r>
              <a:rPr dirty="0" sz="1100" spc="10">
                <a:latin typeface="Garamond"/>
                <a:cs typeface="Garamond"/>
              </a:rPr>
              <a:t>%</a:t>
            </a:r>
            <a:endParaRPr sz="1100">
              <a:latin typeface="Garamond"/>
              <a:cs typeface="Garamond"/>
            </a:endParaRPr>
          </a:p>
          <a:p>
            <a:pPr marL="329565" marR="48069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329565" algn="l"/>
                <a:tab pos="330200" algn="l"/>
              </a:tabLst>
            </a:pP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pattern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 has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50%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weights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25%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770252" y="5877432"/>
          <a:ext cx="4488180" cy="78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050"/>
                <a:gridCol w="962025"/>
                <a:gridCol w="663575"/>
                <a:gridCol w="660400"/>
                <a:gridCol w="665479"/>
                <a:gridCol w="741045"/>
              </a:tblGrid>
              <a:tr h="196976">
                <a:tc rowSpan="2">
                  <a:txBody>
                    <a:bodyPr/>
                    <a:lstStyle/>
                    <a:p>
                      <a:pPr marL="114300" marR="85725" indent="68580">
                        <a:lnSpc>
                          <a:spcPts val="1220"/>
                        </a:lnSpc>
                        <a:spcBef>
                          <a:spcPts val="28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State of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619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34315" marR="55880" indent="-142240">
                        <a:lnSpc>
                          <a:spcPts val="1220"/>
                        </a:lnSpc>
                        <a:spcBef>
                          <a:spcPts val="28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 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State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(P)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3619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Returns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65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619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619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A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B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C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Portfolio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1605">
                <a:tc>
                  <a:txBody>
                    <a:bodyPr/>
                    <a:lstStyle/>
                    <a:p>
                      <a:pPr marL="68580">
                        <a:lnSpc>
                          <a:spcPts val="1300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Boom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46710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13.75%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7870">
                <a:tc>
                  <a:txBody>
                    <a:bodyPr/>
                    <a:lstStyle/>
                    <a:p>
                      <a:pPr marL="68580">
                        <a:lnSpc>
                          <a:spcPts val="131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Bust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46710">
                        <a:lnSpc>
                          <a:spcPts val="131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8%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310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4%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ts val="131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810">
                        <a:lnSpc>
                          <a:spcPts val="12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5.00%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405508" y="6802628"/>
            <a:ext cx="3888104" cy="11791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77495" indent="-265430">
              <a:lnSpc>
                <a:spcPts val="1290"/>
              </a:lnSpc>
              <a:spcBef>
                <a:spcPts val="114"/>
              </a:spcBef>
              <a:buFont typeface="Symbol"/>
              <a:buChar char=""/>
              <a:tabLst>
                <a:tab pos="277495" algn="l"/>
                <a:tab pos="278130" algn="l"/>
              </a:tabLst>
            </a:pP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economy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booms 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 marL="1156335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0.50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0.25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15%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0.25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13.75%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economy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 marL="1156335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0.50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0.25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0.25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5.00%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Variance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thus: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23744" y="7913877"/>
            <a:ext cx="18605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baseline="-12626" sz="1650" spc="15">
                <a:latin typeface="Garamond"/>
                <a:cs typeface="Garamond"/>
              </a:rPr>
              <a:t>σ</a:t>
            </a:r>
            <a:r>
              <a:rPr dirty="0" sz="650" spc="10">
                <a:latin typeface="Garamond"/>
                <a:cs typeface="Garamond"/>
              </a:rPr>
              <a:t>2</a:t>
            </a:r>
            <a:endParaRPr sz="65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81198" y="7945881"/>
            <a:ext cx="2738755" cy="3517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ts val="1275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0.40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5">
                <a:latin typeface="Garamond"/>
                <a:cs typeface="Garamond"/>
              </a:rPr>
              <a:t> (0.1375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0.085)</a:t>
            </a:r>
            <a:r>
              <a:rPr dirty="0" baseline="21367" sz="975" spc="7">
                <a:latin typeface="Garamond"/>
                <a:cs typeface="Garamond"/>
              </a:rPr>
              <a:t>2</a:t>
            </a:r>
            <a:r>
              <a:rPr dirty="0" baseline="21367" sz="975" spc="1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0.60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(0.05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0.085)</a:t>
            </a:r>
            <a:r>
              <a:rPr dirty="0" baseline="21367" sz="975" spc="7">
                <a:latin typeface="Garamond"/>
                <a:cs typeface="Garamond"/>
              </a:rPr>
              <a:t>2</a:t>
            </a:r>
            <a:endParaRPr baseline="21367" sz="975">
              <a:latin typeface="Garamond"/>
              <a:cs typeface="Garamond"/>
            </a:endParaRPr>
          </a:p>
          <a:p>
            <a:pPr marL="38100">
              <a:lnSpc>
                <a:spcPts val="127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0.0018375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6629" y="8435466"/>
            <a:ext cx="4932680" cy="11976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Standard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Deviation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calculated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4.3%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equally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weighted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standard</a:t>
            </a:r>
            <a:r>
              <a:rPr dirty="0" sz="1100" spc="-5">
                <a:latin typeface="Garamond"/>
                <a:cs typeface="Garamond"/>
              </a:rPr>
              <a:t> deviation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5.4%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1100" spc="10" b="1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unanticipated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surprising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always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exactly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risk-free.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56711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 indent="-229235">
              <a:lnSpc>
                <a:spcPts val="1290"/>
              </a:lnSpc>
              <a:spcBef>
                <a:spcPts val="9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Systematic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influences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8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Gross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Domestic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(GDP)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8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6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Inflation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Affects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wages,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supplies,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selling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Unsystematic Risk</a:t>
            </a:r>
            <a:endParaRPr sz="1100">
              <a:latin typeface="Garamond"/>
              <a:cs typeface="Garamond"/>
            </a:endParaRPr>
          </a:p>
          <a:p>
            <a:pPr lvl="1" marL="699135" marR="64769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affects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single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most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small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assets.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unique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individual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companies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also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unique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specific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risks.</a:t>
            </a:r>
            <a:endParaRPr sz="1100">
              <a:latin typeface="Garamond"/>
              <a:cs typeface="Garamond"/>
            </a:endParaRPr>
          </a:p>
          <a:p>
            <a:pPr lvl="2" marL="927735" indent="-228600">
              <a:lnSpc>
                <a:spcPts val="121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oil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strike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call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affect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perhaps,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primary</a:t>
            </a:r>
            <a:endParaRPr sz="1100">
              <a:latin typeface="Garamond"/>
              <a:cs typeface="Garamond"/>
            </a:endParaRPr>
          </a:p>
          <a:p>
            <a:pPr marL="927735" marR="66675">
              <a:lnSpc>
                <a:spcPts val="1220"/>
              </a:lnSpc>
              <a:spcBef>
                <a:spcPts val="95"/>
              </a:spcBef>
            </a:pPr>
            <a:r>
              <a:rPr dirty="0" sz="1100">
                <a:latin typeface="Garamond"/>
                <a:cs typeface="Garamond"/>
              </a:rPr>
              <a:t>competitors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suppliers.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But</a:t>
            </a:r>
            <a:r>
              <a:rPr dirty="0" sz="1100">
                <a:latin typeface="Garamond"/>
                <a:cs typeface="Garamond"/>
              </a:rPr>
              <a:t> it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little</a:t>
            </a:r>
            <a:r>
              <a:rPr dirty="0" sz="1100">
                <a:latin typeface="Garamond"/>
                <a:cs typeface="Garamond"/>
              </a:rPr>
              <a:t> effect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world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oil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companies</a:t>
            </a:r>
            <a:r>
              <a:rPr dirty="0" sz="1100" spc="-5">
                <a:latin typeface="Garamond"/>
                <a:cs typeface="Garamond"/>
              </a:rPr>
              <a:t> not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oil </a:t>
            </a:r>
            <a:r>
              <a:rPr dirty="0" sz="1100" spc="-5">
                <a:latin typeface="Garamond"/>
                <a:cs typeface="Garamond"/>
              </a:rPr>
              <a:t>business</a:t>
            </a:r>
            <a:endParaRPr sz="1100">
              <a:latin typeface="Garamond"/>
              <a:cs typeface="Garamond"/>
            </a:endParaRPr>
          </a:p>
          <a:p>
            <a:pPr marL="469900" marR="25400" indent="-228600">
              <a:lnSpc>
                <a:spcPts val="1220"/>
              </a:lnSpc>
              <a:spcBef>
                <a:spcPts val="19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>
                <a:latin typeface="Garamond"/>
                <a:cs typeface="Garamond"/>
              </a:rPr>
              <a:t> till now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actual </a:t>
            </a:r>
            <a:r>
              <a:rPr dirty="0" sz="1100" spc="-5">
                <a:latin typeface="Garamond"/>
                <a:cs typeface="Garamond"/>
              </a:rPr>
              <a:t>return,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 </a:t>
            </a:r>
            <a:r>
              <a:rPr dirty="0" sz="1100">
                <a:latin typeface="Garamond"/>
                <a:cs typeface="Garamond"/>
              </a:rPr>
              <a:t>can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>
                <a:latin typeface="Garamond"/>
                <a:cs typeface="Garamond"/>
              </a:rPr>
              <a:t>broken </a:t>
            </a:r>
            <a:r>
              <a:rPr dirty="0" sz="1100" spc="5">
                <a:latin typeface="Garamond"/>
                <a:cs typeface="Garamond"/>
              </a:rPr>
              <a:t>down into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5">
                <a:latin typeface="Garamond"/>
                <a:cs typeface="Garamond"/>
              </a:rPr>
              <a:t>expected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surprise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components: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3849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E(R)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U</a:t>
            </a:r>
            <a:endParaRPr sz="1100">
              <a:latin typeface="Garamond"/>
              <a:cs typeface="Garamond"/>
            </a:endParaRPr>
          </a:p>
          <a:p>
            <a:pPr marL="1384935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10">
                <a:latin typeface="Garamond"/>
                <a:cs typeface="Garamond"/>
              </a:rPr>
              <a:t> 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surprise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</a:t>
            </a:r>
            <a:endParaRPr sz="1100">
              <a:latin typeface="Garamond"/>
              <a:cs typeface="Garamond"/>
            </a:endParaRPr>
          </a:p>
          <a:p>
            <a:pPr marL="469900" marR="712470" indent="-469900">
              <a:lnSpc>
                <a:spcPct val="18830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Since the </a:t>
            </a:r>
            <a:r>
              <a:rPr dirty="0" sz="1100" spc="-5">
                <a:latin typeface="Garamond"/>
                <a:cs typeface="Garamond"/>
              </a:rPr>
              <a:t>surprise </a:t>
            </a:r>
            <a:r>
              <a:rPr dirty="0" sz="1100">
                <a:latin typeface="Garamond"/>
                <a:cs typeface="Garamond"/>
              </a:rPr>
              <a:t>component has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systematic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10">
                <a:latin typeface="Garamond"/>
                <a:cs typeface="Garamond"/>
              </a:rPr>
              <a:t>an </a:t>
            </a:r>
            <a:r>
              <a:rPr dirty="0" sz="1100" spc="-5">
                <a:latin typeface="Garamond"/>
                <a:cs typeface="Garamond"/>
              </a:rPr>
              <a:t>unsystematic component, </a:t>
            </a:r>
            <a:r>
              <a:rPr dirty="0" sz="1100" spc="-10">
                <a:latin typeface="Garamond"/>
                <a:cs typeface="Garamond"/>
              </a:rPr>
              <a:t>so: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E(R)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Systematic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(m)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Unsystematic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(ε)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Thus,</a:t>
            </a:r>
            <a:endParaRPr sz="1100">
              <a:latin typeface="Garamond"/>
              <a:cs typeface="Garamond"/>
            </a:endParaRPr>
          </a:p>
          <a:p>
            <a:pPr marL="13849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E(R)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m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ε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Diversification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and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Portfolio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Garamond"/>
              <a:cs typeface="Garamond"/>
            </a:endParaRPr>
          </a:p>
          <a:p>
            <a:pPr algn="just" marL="469900" marR="24765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standard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deviation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portfolio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500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large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common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stocks </a:t>
            </a:r>
            <a:r>
              <a:rPr dirty="0" sz="1100" spc="-2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is,</a:t>
            </a:r>
            <a:r>
              <a:rPr dirty="0" sz="1100">
                <a:latin typeface="Garamond"/>
                <a:cs typeface="Garamond"/>
              </a:rPr>
              <a:t> say 20%, does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>
                <a:latin typeface="Garamond"/>
                <a:cs typeface="Garamond"/>
              </a:rPr>
              <a:t>mean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standard </a:t>
            </a:r>
            <a:r>
              <a:rPr dirty="0" sz="1100" spc="-5">
                <a:latin typeface="Garamond"/>
                <a:cs typeface="Garamond"/>
              </a:rPr>
              <a:t>deviation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annual returns </a:t>
            </a:r>
            <a:r>
              <a:rPr dirty="0" sz="1100" spc="5">
                <a:latin typeface="Garamond"/>
                <a:cs typeface="Garamond"/>
              </a:rPr>
              <a:t>of a </a:t>
            </a:r>
            <a:r>
              <a:rPr dirty="0" sz="1100" spc="-10">
                <a:latin typeface="Garamond"/>
                <a:cs typeface="Garamond"/>
              </a:rPr>
              <a:t>certain</a:t>
            </a:r>
            <a:r>
              <a:rPr dirty="0" sz="1100" spc="-5">
                <a:latin typeface="Garamond"/>
                <a:cs typeface="Garamond"/>
              </a:rPr>
              <a:t> stock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20%?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No.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Why?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100" spc="-5" b="1">
                <a:latin typeface="Garamond"/>
                <a:cs typeface="Garamond"/>
              </a:rPr>
              <a:t>Diversification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and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Portfolio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53337" y="6257289"/>
          <a:ext cx="5517515" cy="1948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8730"/>
                <a:gridCol w="1887220"/>
                <a:gridCol w="2347595"/>
              </a:tblGrid>
              <a:tr h="640334">
                <a:tc>
                  <a:txBody>
                    <a:bodyPr/>
                    <a:lstStyle/>
                    <a:p>
                      <a:pPr algn="ctr" marR="15875">
                        <a:lnSpc>
                          <a:spcPts val="118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(1)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86995" marR="95885">
                        <a:lnSpc>
                          <a:spcPts val="1220"/>
                        </a:lnSpc>
                        <a:spcBef>
                          <a:spcPts val="75"/>
                        </a:spcBef>
                      </a:pPr>
                      <a:r>
                        <a:rPr dirty="0" sz="1100" spc="-10" b="1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b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45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c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k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 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Portfolio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ts val="118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(2)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03505" marR="116205">
                        <a:lnSpc>
                          <a:spcPts val="1220"/>
                        </a:lnSpc>
                        <a:spcBef>
                          <a:spcPts val="7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Average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Standard</a:t>
                      </a:r>
                      <a:r>
                        <a:rPr dirty="0" sz="1100" spc="-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Deviation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Portfolio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Return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940">
                        <a:lnSpc>
                          <a:spcPts val="118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(3)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23825" marR="158115" indent="3810">
                        <a:lnSpc>
                          <a:spcPct val="94200"/>
                        </a:lnSpc>
                        <a:spcBef>
                          <a:spcPts val="2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Ratio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 Portfolio Standard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Deviation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Standard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Deviation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Single</a:t>
                      </a:r>
                      <a:r>
                        <a:rPr dirty="0" sz="1100" spc="-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Stock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77033">
                <a:tc>
                  <a:txBody>
                    <a:bodyPr/>
                    <a:lstStyle/>
                    <a:p>
                      <a:pPr algn="ctr" marR="13335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9525">
                        <a:lnSpc>
                          <a:spcPts val="123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49.24%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38860">
                        <a:lnSpc>
                          <a:spcPts val="123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R="698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23.93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886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0.49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algn="ctr" marR="698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886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0.41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r" marR="53594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19.69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886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r" marR="53594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19.34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886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0.39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r" marR="53594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19.27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3886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0.39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07395">
                <a:tc>
                  <a:txBody>
                    <a:bodyPr/>
                    <a:lstStyle/>
                    <a:p>
                      <a:pPr algn="r" marR="50355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1397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19.21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886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0.39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134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1208" y="8325739"/>
            <a:ext cx="5559425" cy="1023619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373380">
              <a:lnSpc>
                <a:spcPts val="1220"/>
              </a:lnSpc>
              <a:spcBef>
                <a:spcPts val="240"/>
              </a:spcBef>
            </a:pPr>
            <a:r>
              <a:rPr dirty="0" sz="1100">
                <a:latin typeface="Garamond"/>
                <a:cs typeface="Garamond"/>
              </a:rPr>
              <a:t>Source;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Meir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Statman,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“How </a:t>
            </a:r>
            <a:r>
              <a:rPr dirty="0" sz="1100">
                <a:latin typeface="Garamond"/>
                <a:cs typeface="Garamond"/>
              </a:rPr>
              <a:t>Many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Make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Diversified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Portfolio?”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Journal</a:t>
            </a:r>
            <a:r>
              <a:rPr dirty="0" sz="1100" spc="-10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of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Financial</a:t>
            </a:r>
            <a:r>
              <a:rPr dirty="0" sz="1100" spc="-10" i="1">
                <a:latin typeface="Garamond"/>
                <a:cs typeface="Garamond"/>
              </a:rPr>
              <a:t> and </a:t>
            </a:r>
            <a:r>
              <a:rPr dirty="0" sz="1100" spc="-26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Quantitative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Analysis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22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(Sep.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1987),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pp.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353–64.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355600" indent="-228600">
              <a:lnSpc>
                <a:spcPct val="100000"/>
              </a:lnSpc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dirty="0" sz="1100">
                <a:latin typeface="Garamond"/>
                <a:cs typeface="Garamond"/>
              </a:rPr>
              <a:t>Standard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deviation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declines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increased.</a:t>
            </a:r>
            <a:endParaRPr sz="1100">
              <a:latin typeface="Garamond"/>
              <a:cs typeface="Garamond"/>
            </a:endParaRPr>
          </a:p>
          <a:p>
            <a:pPr marL="354965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100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randomly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chosen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portfolio’s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standard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deviation</a:t>
            </a:r>
            <a:r>
              <a:rPr dirty="0" sz="1100" spc="10">
                <a:latin typeface="Garamond"/>
                <a:cs typeface="Garamond"/>
              </a:rPr>
              <a:t> has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declined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60%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(from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49%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20%)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4167885"/>
            <a:ext cx="5445125" cy="53828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ts val="129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Principle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Diversification</a:t>
            </a:r>
            <a:endParaRPr sz="1100">
              <a:latin typeface="Garamond"/>
              <a:cs typeface="Garamond"/>
            </a:endParaRPr>
          </a:p>
          <a:p>
            <a:pPr lvl="1" marL="469900" marR="46990" indent="-229235">
              <a:lnSpc>
                <a:spcPts val="1260"/>
              </a:lnSpc>
              <a:spcBef>
                <a:spcPts val="60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Benefit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reduction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drops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off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securities.</a:t>
            </a:r>
            <a:endParaRPr sz="1100">
              <a:latin typeface="Garamond"/>
              <a:cs typeface="Garamond"/>
            </a:endParaRPr>
          </a:p>
          <a:p>
            <a:pPr lvl="1" marL="469900" indent="-229235">
              <a:lnSpc>
                <a:spcPts val="11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already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utilized,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30,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very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little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remaining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benefit.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Two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key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points:</a:t>
            </a:r>
            <a:endParaRPr sz="1100">
              <a:latin typeface="Garamond"/>
              <a:cs typeface="Garamond"/>
            </a:endParaRPr>
          </a:p>
          <a:p>
            <a:pPr lvl="1" marL="469900" marR="45720" indent="-229235">
              <a:lnSpc>
                <a:spcPts val="1230"/>
              </a:lnSpc>
              <a:spcBef>
                <a:spcPts val="8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Some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riskiness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associated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individual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eliminated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forming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portfolios.</a:t>
            </a:r>
            <a:endParaRPr sz="1100">
              <a:latin typeface="Garamond"/>
              <a:cs typeface="Garamond"/>
            </a:endParaRPr>
          </a:p>
          <a:p>
            <a:pPr lvl="2" marL="698500" marR="46990" indent="-228600">
              <a:lnSpc>
                <a:spcPts val="1260"/>
              </a:lnSpc>
              <a:spcBef>
                <a:spcPts val="5"/>
              </a:spcBef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process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spreading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across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(and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forming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portfolio)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diversification</a:t>
            </a:r>
            <a:endParaRPr sz="1100">
              <a:latin typeface="Garamond"/>
              <a:cs typeface="Garamond"/>
            </a:endParaRPr>
          </a:p>
          <a:p>
            <a:pPr lvl="2" marL="698500" marR="55244" indent="-228600">
              <a:lnSpc>
                <a:spcPts val="1260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principle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diversification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tells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spreading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across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many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5">
                <a:latin typeface="Garamond"/>
                <a:cs typeface="Garamond"/>
              </a:rPr>
              <a:t>eliminate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lvl="1" marL="469900" indent="-229235">
              <a:lnSpc>
                <a:spcPts val="11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There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minimum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cannot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eliminated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simply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diversifying.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This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minimum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-5">
                <a:latin typeface="Garamond"/>
                <a:cs typeface="Garamond"/>
              </a:rPr>
              <a:t> non-diversifiable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marL="241300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hold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single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fluctuate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company-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specific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events.</a:t>
            </a:r>
            <a:endParaRPr sz="1100">
              <a:latin typeface="Garamond"/>
              <a:cs typeface="Garamond"/>
            </a:endParaRPr>
          </a:p>
          <a:p>
            <a:pPr marL="241300" marR="1651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hold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portfolio,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some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other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may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down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respective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company-specific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events.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overall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relatively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small.</a:t>
            </a:r>
            <a:endParaRPr sz="1100">
              <a:latin typeface="Garamond"/>
              <a:cs typeface="Garamond"/>
            </a:endParaRPr>
          </a:p>
          <a:p>
            <a:pPr marL="12700" marR="45085">
              <a:lnSpc>
                <a:spcPts val="1260"/>
              </a:lnSpc>
              <a:spcBef>
                <a:spcPts val="1260"/>
              </a:spcBef>
            </a:pPr>
            <a:r>
              <a:rPr dirty="0" sz="1150" spc="-25" b="1" i="1">
                <a:latin typeface="Garamond"/>
                <a:cs typeface="Garamond"/>
              </a:rPr>
              <a:t>“Unsystematic </a:t>
            </a:r>
            <a:r>
              <a:rPr dirty="0" sz="1150" spc="-20" b="1" i="1">
                <a:latin typeface="Garamond"/>
                <a:cs typeface="Garamond"/>
              </a:rPr>
              <a:t>risk </a:t>
            </a:r>
            <a:r>
              <a:rPr dirty="0" sz="1150" spc="-10" b="1" i="1">
                <a:latin typeface="Garamond"/>
                <a:cs typeface="Garamond"/>
              </a:rPr>
              <a:t>is </a:t>
            </a:r>
            <a:r>
              <a:rPr dirty="0" sz="1150" spc="-25" b="1" i="1">
                <a:latin typeface="Garamond"/>
                <a:cs typeface="Garamond"/>
              </a:rPr>
              <a:t>essentially eliminated </a:t>
            </a:r>
            <a:r>
              <a:rPr dirty="0" sz="1150" spc="-20" b="1" i="1">
                <a:latin typeface="Garamond"/>
                <a:cs typeface="Garamond"/>
              </a:rPr>
              <a:t>by </a:t>
            </a:r>
            <a:r>
              <a:rPr dirty="0" sz="1150" spc="-25" b="1" i="1">
                <a:latin typeface="Garamond"/>
                <a:cs typeface="Garamond"/>
              </a:rPr>
              <a:t>diversification, </a:t>
            </a:r>
            <a:r>
              <a:rPr dirty="0" sz="1150" spc="-20" b="1" i="1">
                <a:latin typeface="Garamond"/>
                <a:cs typeface="Garamond"/>
              </a:rPr>
              <a:t>so a </a:t>
            </a:r>
            <a:r>
              <a:rPr dirty="0" sz="1150" spc="-25" b="1" i="1">
                <a:latin typeface="Garamond"/>
                <a:cs typeface="Garamond"/>
              </a:rPr>
              <a:t>relatively</a:t>
            </a:r>
            <a:r>
              <a:rPr dirty="0" sz="1150" spc="-20" b="1" i="1">
                <a:latin typeface="Garamond"/>
                <a:cs typeface="Garamond"/>
              </a:rPr>
              <a:t> </a:t>
            </a:r>
            <a:r>
              <a:rPr dirty="0" sz="1150" spc="-35" b="1" i="1">
                <a:latin typeface="Garamond"/>
                <a:cs typeface="Garamond"/>
              </a:rPr>
              <a:t>large </a:t>
            </a:r>
            <a:r>
              <a:rPr dirty="0" sz="1150" spc="-20" b="1" i="1">
                <a:latin typeface="Garamond"/>
                <a:cs typeface="Garamond"/>
              </a:rPr>
              <a:t>portfolio </a:t>
            </a:r>
            <a:r>
              <a:rPr dirty="0" sz="1150" spc="-275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has</a:t>
            </a:r>
            <a:r>
              <a:rPr dirty="0" sz="1150" spc="-5" b="1" i="1">
                <a:latin typeface="Garamond"/>
                <a:cs typeface="Garamond"/>
              </a:rPr>
              <a:t> </a:t>
            </a:r>
            <a:r>
              <a:rPr dirty="0" sz="1150" spc="-35" b="1" i="1">
                <a:latin typeface="Garamond"/>
                <a:cs typeface="Garamond"/>
              </a:rPr>
              <a:t>almost</a:t>
            </a:r>
            <a:r>
              <a:rPr dirty="0" sz="1150" spc="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no</a:t>
            </a:r>
            <a:r>
              <a:rPr dirty="0" sz="1150" spc="-45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unsystematic</a:t>
            </a:r>
            <a:r>
              <a:rPr dirty="0" sz="1150" spc="-20" b="1" i="1">
                <a:latin typeface="Garamond"/>
                <a:cs typeface="Garamond"/>
              </a:rPr>
              <a:t> </a:t>
            </a:r>
            <a:r>
              <a:rPr dirty="0" sz="1150" spc="-25" b="1" i="1">
                <a:latin typeface="Garamond"/>
                <a:cs typeface="Garamond"/>
              </a:rPr>
              <a:t>risk.”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>
              <a:latin typeface="Garamond"/>
              <a:cs typeface="Garamond"/>
            </a:endParaRPr>
          </a:p>
          <a:p>
            <a:pPr marL="241300" marR="9525" indent="-228600">
              <a:lnSpc>
                <a:spcPts val="126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Systematic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cannot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eliminated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diversification,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affects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almost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some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degree.</a:t>
            </a:r>
            <a:endParaRPr sz="1100">
              <a:latin typeface="Garamond"/>
              <a:cs typeface="Garamond"/>
            </a:endParaRPr>
          </a:p>
          <a:p>
            <a:pPr marL="241300" marR="5080" indent="-228600">
              <a:lnSpc>
                <a:spcPts val="1260"/>
              </a:lnSpc>
              <a:spcBef>
                <a:spcPts val="1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size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type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portfolio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little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systematic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making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non-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diversifiable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Summarizing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ts val="127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Systematic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Unsystematic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 lvl="1" marL="469900" indent="-229235">
              <a:lnSpc>
                <a:spcPts val="124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Systematic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non-diversifiable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 lvl="1" marL="469900" indent="-229235">
              <a:lnSpc>
                <a:spcPts val="12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Unsystematic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also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>
                <a:latin typeface="Garamond"/>
                <a:cs typeface="Garamond"/>
              </a:rPr>
              <a:t> diversifiable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unique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asset-specific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3410" y="749807"/>
            <a:ext cx="4210939" cy="32781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135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30595" y="714501"/>
            <a:ext cx="8166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35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136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883665"/>
            <a:ext cx="5671820" cy="50946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4064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COST OF</a:t>
            </a:r>
            <a:r>
              <a:rPr dirty="0" sz="1150" spc="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CAPITAL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say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 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is,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say,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mean 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positive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only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exceeds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10%.</a:t>
            </a:r>
            <a:endParaRPr sz="1100">
              <a:latin typeface="Garamond"/>
              <a:cs typeface="Garamond"/>
            </a:endParaRPr>
          </a:p>
          <a:p>
            <a:pPr marL="469900" marR="5715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Alternatively,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compensate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needed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Thus,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associated 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evaluating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risk-free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we: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Look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observe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offered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risk-free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Use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here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risk-free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 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risky,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obviously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higher.</a:t>
            </a:r>
            <a:endParaRPr sz="1100">
              <a:latin typeface="Garamond"/>
              <a:cs typeface="Garamond"/>
            </a:endParaRPr>
          </a:p>
          <a:p>
            <a:pPr marL="469900" marR="13970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words,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free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rate,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appropriate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exceed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free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 marL="469900" marR="825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return,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appropriate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interchangeably.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associated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Thus,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source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matters.</a:t>
            </a:r>
            <a:endParaRPr sz="1100">
              <a:latin typeface="Garamond"/>
              <a:cs typeface="Garamond"/>
            </a:endParaRPr>
          </a:p>
          <a:p>
            <a:pPr marL="469900" marR="1270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reflect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>
                <a:latin typeface="Garamond"/>
                <a:cs typeface="Garamond"/>
              </a:rPr>
              <a:t> assets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whole.</a:t>
            </a:r>
            <a:endParaRPr sz="1100">
              <a:latin typeface="Garamond"/>
              <a:cs typeface="Garamond"/>
            </a:endParaRPr>
          </a:p>
          <a:p>
            <a:pPr marL="469900" marR="1651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uses both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‘debt’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‘equity’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overall cost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be a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mixture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returns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compensate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creditors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reflect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5">
                <a:latin typeface="Garamond"/>
                <a:cs typeface="Garamond"/>
              </a:rPr>
              <a:t> capital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5" b="1">
                <a:latin typeface="Garamond"/>
                <a:cs typeface="Garamond"/>
              </a:rPr>
              <a:t>Cost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889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Recall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assumption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constant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P0,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2295" y="6262877"/>
            <a:ext cx="8382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15">
                <a:latin typeface="Cambria Math"/>
                <a:cs typeface="Cambria Math"/>
              </a:rPr>
              <a:t>0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9144" y="6194297"/>
            <a:ext cx="29400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Cambria Math"/>
                <a:cs typeface="Cambria Math"/>
              </a:rPr>
              <a:t>𝑃 </a:t>
            </a:r>
            <a:r>
              <a:rPr dirty="0" sz="1100" spc="100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14471" y="6194297"/>
            <a:ext cx="120014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51150" y="6102857"/>
            <a:ext cx="103695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35660" algn="l"/>
              </a:tabLst>
            </a:pP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sz="1000" spc="40">
                <a:latin typeface="Cambria Math"/>
                <a:cs typeface="Cambria Math"/>
              </a:rPr>
              <a:t>  </a:t>
            </a:r>
            <a:r>
              <a:rPr dirty="0" sz="1000" spc="20">
                <a:latin typeface="Cambria Math"/>
                <a:cs typeface="Cambria Math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×</a:t>
            </a:r>
            <a:r>
              <a:rPr dirty="0" u="sng" baseline="2777" sz="1500" spc="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(</a:t>
            </a:r>
            <a:r>
              <a:rPr dirty="0" u="sng" sz="1000" spc="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u="sng" sz="1000" spc="-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+</a:t>
            </a:r>
            <a:r>
              <a:rPr dirty="0" u="sng" sz="1000" spc="15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g</a:t>
            </a:r>
            <a:r>
              <a:rPr dirty="0" u="sng" baseline="2777" sz="15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)</a:t>
            </a:r>
            <a:r>
              <a:rPr dirty="0" baseline="2777" sz="1500">
                <a:latin typeface="Cambria Math"/>
                <a:cs typeface="Cambria Math"/>
              </a:rPr>
              <a:t>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000" spc="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82645" y="6141196"/>
            <a:ext cx="1194435" cy="3378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algn="ctr" marL="12065">
              <a:lnSpc>
                <a:spcPct val="100000"/>
              </a:lnSpc>
              <a:spcBef>
                <a:spcPts val="220"/>
              </a:spcBef>
              <a:tabLst>
                <a:tab pos="932180" algn="l"/>
              </a:tabLst>
            </a:pP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0</a:t>
            </a:r>
            <a:r>
              <a:rPr dirty="0" sz="800" spc="25">
                <a:latin typeface="Cambria Math"/>
                <a:cs typeface="Cambria Math"/>
              </a:rPr>
              <a:t>	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u="sng" sz="800" spc="8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800">
              <a:latin typeface="Cambria Math"/>
              <a:cs typeface="Cambria Math"/>
            </a:endParaRPr>
          </a:p>
          <a:p>
            <a:pPr algn="ctr" marL="74295">
              <a:lnSpc>
                <a:spcPct val="100000"/>
              </a:lnSpc>
              <a:spcBef>
                <a:spcPts val="175"/>
              </a:spcBef>
              <a:tabLst>
                <a:tab pos="751205" algn="l"/>
              </a:tabLst>
            </a:pPr>
            <a:r>
              <a:rPr dirty="0" sz="1000" spc="60">
                <a:latin typeface="Cambria Math"/>
                <a:cs typeface="Cambria Math"/>
              </a:rPr>
              <a:t>𝑅</a:t>
            </a:r>
            <a:r>
              <a:rPr dirty="0" baseline="-13888" sz="1200" spc="89">
                <a:latin typeface="Cambria Math"/>
                <a:cs typeface="Cambria Math"/>
              </a:rPr>
              <a:t>𝐸</a:t>
            </a:r>
            <a:r>
              <a:rPr dirty="0" sz="1000" spc="60">
                <a:latin typeface="Cambria Math"/>
                <a:cs typeface="Cambria Math"/>
              </a:rPr>
              <a:t>−g	𝑅</a:t>
            </a:r>
            <a:r>
              <a:rPr dirty="0" baseline="-13888" sz="1200" spc="89">
                <a:latin typeface="Cambria Math"/>
                <a:cs typeface="Cambria Math"/>
              </a:rPr>
              <a:t>𝐸</a:t>
            </a:r>
            <a:r>
              <a:rPr dirty="0" sz="1000" spc="60">
                <a:latin typeface="Cambria Math"/>
                <a:cs typeface="Cambria Math"/>
              </a:rPr>
              <a:t>−g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80108" y="6454901"/>
            <a:ext cx="2846705" cy="10007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66700" indent="-228600">
              <a:lnSpc>
                <a:spcPts val="1290"/>
              </a:lnSpc>
              <a:spcBef>
                <a:spcPts val="114"/>
              </a:spcBef>
              <a:buFont typeface="Symbol"/>
              <a:buChar char=""/>
              <a:tabLst>
                <a:tab pos="266065" algn="l"/>
                <a:tab pos="266700" algn="l"/>
              </a:tabLst>
            </a:pPr>
            <a:r>
              <a:rPr dirty="0" sz="1100">
                <a:latin typeface="Garamond"/>
                <a:cs typeface="Garamond"/>
              </a:rPr>
              <a:t>Where,</a:t>
            </a:r>
            <a:endParaRPr sz="1100">
              <a:latin typeface="Garamond"/>
              <a:cs typeface="Garamond"/>
            </a:endParaRPr>
          </a:p>
          <a:p>
            <a:pPr lvl="1" marL="495300" indent="-229870">
              <a:lnSpc>
                <a:spcPts val="1245"/>
              </a:lnSpc>
              <a:buFont typeface="Courier New"/>
              <a:buChar char="o"/>
              <a:tabLst>
                <a:tab pos="495300" algn="l"/>
                <a:tab pos="495934" algn="l"/>
              </a:tabLst>
            </a:pP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baseline="-8547" sz="975" spc="15">
                <a:latin typeface="Garamond"/>
                <a:cs typeface="Garamond"/>
              </a:rPr>
              <a:t>0 </a:t>
            </a:r>
            <a:r>
              <a:rPr dirty="0" baseline="-8547" sz="975" spc="97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just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endParaRPr sz="1100">
              <a:latin typeface="Garamond"/>
              <a:cs typeface="Garamond"/>
            </a:endParaRPr>
          </a:p>
          <a:p>
            <a:pPr lvl="1" marL="495300" indent="-229870">
              <a:lnSpc>
                <a:spcPts val="1225"/>
              </a:lnSpc>
              <a:buFont typeface="Courier New"/>
              <a:buChar char="o"/>
              <a:tabLst>
                <a:tab pos="495300" algn="l"/>
                <a:tab pos="495934" algn="l"/>
              </a:tabLst>
            </a:pP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baseline="-8547" sz="975" spc="15">
                <a:latin typeface="Garamond"/>
                <a:cs typeface="Garamond"/>
              </a:rPr>
              <a:t>1 </a:t>
            </a:r>
            <a:r>
              <a:rPr dirty="0" baseline="-8547" sz="975" spc="112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next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period’s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projected dividend</a:t>
            </a:r>
            <a:endParaRPr sz="1100">
              <a:latin typeface="Garamond"/>
              <a:cs typeface="Garamond"/>
            </a:endParaRPr>
          </a:p>
          <a:p>
            <a:pPr lvl="1" marL="495300" indent="-229870">
              <a:lnSpc>
                <a:spcPts val="1270"/>
              </a:lnSpc>
              <a:buFont typeface="Courier New"/>
              <a:buChar char="o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E </a:t>
            </a:r>
            <a:r>
              <a:rPr dirty="0" baseline="-8547" sz="975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Courier New"/>
              <a:buChar char="o"/>
            </a:pPr>
            <a:endParaRPr sz="1150">
              <a:latin typeface="Garamond"/>
              <a:cs typeface="Garamond"/>
            </a:endParaRPr>
          </a:p>
          <a:p>
            <a:pPr marL="266700" indent="-228600">
              <a:lnSpc>
                <a:spcPct val="100000"/>
              </a:lnSpc>
              <a:buFont typeface="Symbol"/>
              <a:buChar char=""/>
              <a:tabLst>
                <a:tab pos="266065" algn="l"/>
                <a:tab pos="266700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rearrange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solve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36011" y="7730997"/>
            <a:ext cx="9017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10">
                <a:latin typeface="Cambria Math"/>
                <a:cs typeface="Cambria Math"/>
              </a:rPr>
              <a:t>𝐸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53182" y="7767573"/>
            <a:ext cx="208279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-10">
                <a:latin typeface="Cambria Math"/>
                <a:cs typeface="Cambria Math"/>
              </a:rPr>
              <a:t>𝑃</a:t>
            </a:r>
            <a:r>
              <a:rPr dirty="0" baseline="-13888" sz="1200" spc="-15">
                <a:latin typeface="Cambria Math"/>
                <a:cs typeface="Cambria Math"/>
              </a:rPr>
              <a:t>𝑜</a:t>
            </a:r>
            <a:endParaRPr baseline="-13888" sz="1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23744" y="7662417"/>
            <a:ext cx="78041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Cambria Math"/>
                <a:cs typeface="Cambria Math"/>
              </a:rPr>
              <a:t>𝑅  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u="sng" baseline="47222" sz="1500" spc="-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u="sng" baseline="41666" sz="1200" spc="-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baseline="41666" sz="1200" spc="240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42008" y="8078851"/>
            <a:ext cx="5584825" cy="149923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304165" marR="8382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304165" algn="l"/>
                <a:tab pos="304800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estimate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things;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</a:t>
            </a:r>
            <a:r>
              <a:rPr dirty="0" baseline="-8547" sz="975" spc="22">
                <a:latin typeface="Garamond"/>
                <a:cs typeface="Garamond"/>
              </a:rPr>
              <a:t>0</a:t>
            </a:r>
            <a:r>
              <a:rPr dirty="0" sz="1100" spc="15">
                <a:latin typeface="Garamond"/>
                <a:cs typeface="Garamond"/>
              </a:rPr>
              <a:t>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baseline="-8547" sz="975" spc="7">
                <a:latin typeface="Garamond"/>
                <a:cs typeface="Garamond"/>
              </a:rPr>
              <a:t>0</a:t>
            </a:r>
            <a:r>
              <a:rPr dirty="0" baseline="-8547" sz="975" spc="247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g.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two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directly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observed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5">
                <a:latin typeface="Garamond"/>
                <a:cs typeface="Garamond"/>
              </a:rPr>
              <a:t> 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estimated.</a:t>
            </a:r>
            <a:endParaRPr sz="1100">
              <a:latin typeface="Garamond"/>
              <a:cs typeface="Garamond"/>
            </a:endParaRPr>
          </a:p>
          <a:p>
            <a:pPr marL="304800" indent="-228600">
              <a:lnSpc>
                <a:spcPts val="1270"/>
              </a:lnSpc>
              <a:spcBef>
                <a:spcPts val="55"/>
              </a:spcBef>
              <a:buFont typeface="Symbol"/>
              <a:buChar char=""/>
              <a:tabLst>
                <a:tab pos="304165" algn="l"/>
                <a:tab pos="304800" algn="l"/>
              </a:tabLst>
            </a:pPr>
            <a:r>
              <a:rPr dirty="0" sz="1100">
                <a:latin typeface="Garamond"/>
                <a:cs typeface="Garamond"/>
              </a:rPr>
              <a:t>Suppose,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GSS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$4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last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stock’s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304165" marR="81280">
              <a:lnSpc>
                <a:spcPts val="1260"/>
              </a:lnSpc>
              <a:spcBef>
                <a:spcPts val="45"/>
              </a:spcBef>
            </a:pPr>
            <a:r>
              <a:rPr dirty="0" sz="1100">
                <a:latin typeface="Garamond"/>
                <a:cs typeface="Garamond"/>
              </a:rPr>
              <a:t>$60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Assuming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 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grow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steadily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year,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GSS?</a:t>
            </a:r>
            <a:endParaRPr sz="1100">
              <a:latin typeface="Garamond"/>
              <a:cs typeface="Garamond"/>
            </a:endParaRPr>
          </a:p>
          <a:p>
            <a:pPr marL="3048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304165" algn="l"/>
                <a:tab pos="304800" algn="l"/>
              </a:tabLst>
            </a:pPr>
            <a:r>
              <a:rPr dirty="0" sz="1100">
                <a:latin typeface="Garamond"/>
                <a:cs typeface="Garamond"/>
              </a:rPr>
              <a:t>Under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model:</a:t>
            </a:r>
            <a:endParaRPr sz="1100">
              <a:latin typeface="Garamond"/>
              <a:cs typeface="Garamond"/>
            </a:endParaRPr>
          </a:p>
          <a:p>
            <a:pPr marL="1219835">
              <a:lnSpc>
                <a:spcPts val="1290"/>
              </a:lnSpc>
              <a:spcBef>
                <a:spcPts val="1165"/>
              </a:spcBef>
            </a:pP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baseline="-8547" sz="975" spc="15">
                <a:latin typeface="Garamond"/>
                <a:cs typeface="Garamond"/>
              </a:rPr>
              <a:t>1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</a:t>
            </a:r>
            <a:r>
              <a:rPr dirty="0" baseline="-8547" sz="975" spc="22">
                <a:latin typeface="Garamond"/>
                <a:cs typeface="Garamond"/>
              </a:rPr>
              <a:t>0</a:t>
            </a:r>
            <a:r>
              <a:rPr dirty="0" baseline="-8547" sz="975" spc="28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g)</a:t>
            </a:r>
            <a:endParaRPr sz="1100">
              <a:latin typeface="Garamond"/>
              <a:cs typeface="Garamond"/>
            </a:endParaRPr>
          </a:p>
          <a:p>
            <a:pPr marL="12198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baseline="-8547" sz="975" spc="15">
                <a:latin typeface="Garamond"/>
                <a:cs typeface="Garamond"/>
              </a:rPr>
              <a:t>1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$4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1.06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10">
                <a:latin typeface="Garamond"/>
                <a:cs typeface="Garamond"/>
              </a:rPr>
              <a:t>$4.24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888237"/>
            <a:ext cx="139192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equity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36011" y="1359534"/>
            <a:ext cx="9017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10">
                <a:latin typeface="Cambria Math"/>
                <a:cs typeface="Cambria Math"/>
              </a:rPr>
              <a:t>𝐸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0482" y="1396110"/>
            <a:ext cx="829944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645160" algn="l"/>
              </a:tabLst>
            </a:pPr>
            <a:r>
              <a:rPr dirty="0" sz="1000" spc="-10">
                <a:latin typeface="Cambria Math"/>
                <a:cs typeface="Cambria Math"/>
              </a:rPr>
              <a:t>𝑃</a:t>
            </a:r>
            <a:r>
              <a:rPr dirty="0" baseline="-13888" sz="1200" spc="-15">
                <a:latin typeface="Cambria Math"/>
                <a:cs typeface="Cambria Math"/>
              </a:rPr>
              <a:t>𝑜	</a:t>
            </a:r>
            <a:r>
              <a:rPr dirty="0" sz="1000" spc="15">
                <a:latin typeface="Cambria Math"/>
                <a:cs typeface="Cambria Math"/>
              </a:rPr>
              <a:t>60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35730" y="1390522"/>
            <a:ext cx="247015" cy="9525"/>
          </a:xfrm>
          <a:custGeom>
            <a:avLst/>
            <a:gdLst/>
            <a:ahLst/>
            <a:cxnLst/>
            <a:rect l="l" t="t" r="r" b="b"/>
            <a:pathLst>
              <a:path w="247014" h="9525">
                <a:moveTo>
                  <a:pt x="246887" y="0"/>
                </a:moveTo>
                <a:lnTo>
                  <a:pt x="0" y="0"/>
                </a:lnTo>
                <a:lnTo>
                  <a:pt x="0" y="9144"/>
                </a:lnTo>
                <a:lnTo>
                  <a:pt x="246887" y="9144"/>
                </a:lnTo>
                <a:lnTo>
                  <a:pt x="2468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523744" y="1290954"/>
            <a:ext cx="219646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Cambria Math"/>
                <a:cs typeface="Cambria Math"/>
              </a:rPr>
              <a:t>𝑅 </a:t>
            </a:r>
            <a:r>
              <a:rPr dirty="0" sz="1100" spc="8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u="sng" baseline="47222" sz="1500" spc="-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u="sng" baseline="41666" sz="1200" spc="-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baseline="41666" sz="1200" spc="254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baseline="47222" sz="1500" spc="37">
                <a:latin typeface="Cambria Math"/>
                <a:cs typeface="Cambria Math"/>
              </a:rPr>
              <a:t>4.24</a:t>
            </a:r>
            <a:r>
              <a:rPr dirty="0" baseline="47222" sz="1500" spc="2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0.06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13.07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%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49144" y="9397162"/>
            <a:ext cx="2736215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z="1100">
                <a:latin typeface="Garamond"/>
                <a:cs typeface="Garamond"/>
              </a:rPr>
              <a:t>P</a:t>
            </a:r>
            <a:r>
              <a:rPr dirty="0" baseline="-8547" sz="975">
                <a:latin typeface="Garamond"/>
                <a:cs typeface="Garamond"/>
              </a:rPr>
              <a:t>0</a:t>
            </a:r>
            <a:r>
              <a:rPr dirty="0" baseline="-8547" sz="975" spc="187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preferred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137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5508" y="1711832"/>
            <a:ext cx="5400675" cy="840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ts val="127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Estimating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</a:t>
            </a:r>
            <a:endParaRPr sz="1100">
              <a:latin typeface="Garamond"/>
              <a:cs typeface="Garamond"/>
            </a:endParaRPr>
          </a:p>
          <a:p>
            <a:pPr lvl="1" marL="469900" marR="5080" indent="-229235">
              <a:lnSpc>
                <a:spcPts val="1260"/>
              </a:lnSpc>
              <a:spcBef>
                <a:spcPts val="4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estimate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use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observations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previous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1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Alternatively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analysts’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forecasts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pattern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past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559941" y="2712465"/>
          <a:ext cx="4909185" cy="1134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6275"/>
                <a:gridCol w="1215389"/>
                <a:gridCol w="1466850"/>
                <a:gridCol w="1536064"/>
              </a:tblGrid>
              <a:tr h="192024">
                <a:tc>
                  <a:txBody>
                    <a:bodyPr/>
                    <a:lstStyle/>
                    <a:p>
                      <a:pPr marL="114300">
                        <a:lnSpc>
                          <a:spcPts val="130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Year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5090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Dividend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9225">
                        <a:lnSpc>
                          <a:spcPts val="13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Dollar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Change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3660">
                        <a:lnSpc>
                          <a:spcPts val="130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Percentage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Change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876"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1999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914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$1.10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460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04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12318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8699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4541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$0.10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92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9.09%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12318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8699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1.35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4986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429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12.20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12318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R="8699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4986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0.05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429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3.70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marL="12318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699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986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429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10.71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151229" y="3985005"/>
            <a:ext cx="5722620" cy="51174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95300" indent="-22923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four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 </a:t>
            </a:r>
            <a:r>
              <a:rPr dirty="0" sz="1100" spc="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410335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(9.09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12.50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3.70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10.71)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9%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9%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g.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approach</a:t>
            </a:r>
            <a:endParaRPr sz="1100">
              <a:latin typeface="Garamond"/>
              <a:cs typeface="Garamond"/>
            </a:endParaRPr>
          </a:p>
          <a:p>
            <a:pPr lvl="1" marL="724535" indent="-229870">
              <a:lnSpc>
                <a:spcPts val="1240"/>
              </a:lnSpc>
              <a:buFont typeface="Courier New"/>
              <a:buChar char="o"/>
              <a:tabLst>
                <a:tab pos="723900" algn="l"/>
                <a:tab pos="725170" algn="l"/>
              </a:tabLst>
            </a:pPr>
            <a:r>
              <a:rPr dirty="0" sz="1100">
                <a:latin typeface="Garamond"/>
                <a:cs typeface="Garamond"/>
              </a:rPr>
              <a:t>Easy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understand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endParaRPr sz="1100">
              <a:latin typeface="Garamond"/>
              <a:cs typeface="Garamond"/>
            </a:endParaRPr>
          </a:p>
          <a:p>
            <a:pPr lvl="1" marL="724535" indent="-229870">
              <a:lnSpc>
                <a:spcPts val="1225"/>
              </a:lnSpc>
              <a:buFont typeface="Courier New"/>
              <a:buChar char="o"/>
              <a:tabLst>
                <a:tab pos="723900" algn="l"/>
                <a:tab pos="725170" algn="l"/>
              </a:tabLst>
            </a:pPr>
            <a:r>
              <a:rPr dirty="0" sz="1100" spc="5">
                <a:latin typeface="Garamond"/>
                <a:cs typeface="Garamond"/>
              </a:rPr>
              <a:t>Only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applicable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companies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paying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constant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endParaRPr sz="1100">
              <a:latin typeface="Garamond"/>
              <a:cs typeface="Garamond"/>
            </a:endParaRPr>
          </a:p>
          <a:p>
            <a:pPr lvl="1" marL="724535" indent="-229870">
              <a:lnSpc>
                <a:spcPts val="1245"/>
              </a:lnSpc>
              <a:buFont typeface="Courier New"/>
              <a:buChar char="o"/>
              <a:tabLst>
                <a:tab pos="723900" algn="l"/>
                <a:tab pos="725170" algn="l"/>
              </a:tabLst>
            </a:pPr>
            <a:r>
              <a:rPr dirty="0" sz="1100" spc="-5">
                <a:latin typeface="Garamond"/>
                <a:cs typeface="Garamond"/>
              </a:rPr>
              <a:t>Estimated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very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sensitive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estimated</a:t>
            </a:r>
            <a:r>
              <a:rPr dirty="0" sz="1100">
                <a:latin typeface="Garamond"/>
                <a:cs typeface="Garamond"/>
              </a:rPr>
              <a:t> growth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 lvl="1" marL="724535" indent="-229870">
              <a:lnSpc>
                <a:spcPts val="1290"/>
              </a:lnSpc>
              <a:buFont typeface="Courier New"/>
              <a:buChar char="o"/>
              <a:tabLst>
                <a:tab pos="723900" algn="l"/>
                <a:tab pos="725170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approach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does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necessarily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  <a:spcBef>
                <a:spcPts val="1165"/>
              </a:spcBef>
            </a:pPr>
            <a:r>
              <a:rPr dirty="0" sz="1100" spc="5" b="1">
                <a:latin typeface="Garamond"/>
                <a:cs typeface="Garamond"/>
              </a:rPr>
              <a:t>Cost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Debt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creditors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demand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borrowings.</a:t>
            </a:r>
            <a:endParaRPr sz="1100">
              <a:latin typeface="Garamond"/>
              <a:cs typeface="Garamond"/>
            </a:endParaRPr>
          </a:p>
          <a:p>
            <a:pPr marL="495300" marR="3175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>
                <a:latin typeface="Garamond"/>
                <a:cs typeface="Garamond"/>
              </a:rPr>
              <a:t>cost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debt can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-5">
                <a:latin typeface="Garamond"/>
                <a:cs typeface="Garamond"/>
              </a:rPr>
              <a:t> observed </a:t>
            </a:r>
            <a:r>
              <a:rPr dirty="0" sz="1100">
                <a:latin typeface="Garamond"/>
                <a:cs typeface="Garamond"/>
              </a:rPr>
              <a:t>directly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indirectly </a:t>
            </a:r>
            <a:r>
              <a:rPr dirty="0" sz="1100" spc="-10">
                <a:latin typeface="Garamond"/>
                <a:cs typeface="Garamond"/>
              </a:rPr>
              <a:t>using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interest rates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markets.</a:t>
            </a:r>
            <a:endParaRPr sz="1100">
              <a:latin typeface="Garamond"/>
              <a:cs typeface="Garamond"/>
            </a:endParaRPr>
          </a:p>
          <a:p>
            <a:pPr marL="495300" marR="3111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Alternatively,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ratings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newly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issued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rating.</a:t>
            </a:r>
            <a:endParaRPr sz="1100">
              <a:latin typeface="Garamond"/>
              <a:cs typeface="Garamond"/>
            </a:endParaRPr>
          </a:p>
          <a:p>
            <a:pPr marL="495300" marR="3937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Coupon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outstanding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irrelevant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relates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issued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today.</a:t>
            </a:r>
            <a:endParaRPr sz="1100">
              <a:latin typeface="Garamond"/>
              <a:cs typeface="Garamond"/>
            </a:endParaRPr>
          </a:p>
          <a:p>
            <a:pPr marL="495300" marR="304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Suppose,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GenTech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30-year,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7%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ago.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currently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96%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its</a:t>
            </a:r>
            <a:r>
              <a:rPr dirty="0" sz="1100" spc="-5">
                <a:latin typeface="Garamond"/>
                <a:cs typeface="Garamond"/>
              </a:rPr>
              <a:t> face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i.e.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$960.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GenTech’s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debt?</a:t>
            </a:r>
            <a:endParaRPr sz="1100">
              <a:latin typeface="Garamond"/>
              <a:cs typeface="Garamond"/>
            </a:endParaRPr>
          </a:p>
          <a:p>
            <a:pPr marL="495300" marR="35560" indent="-228600">
              <a:lnSpc>
                <a:spcPts val="1220"/>
              </a:lnSpc>
              <a:spcBef>
                <a:spcPts val="17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Using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 </a:t>
            </a:r>
            <a:r>
              <a:rPr dirty="0" sz="1100">
                <a:latin typeface="Garamond"/>
                <a:cs typeface="Garamond"/>
              </a:rPr>
              <a:t>knowledge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valuation,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7.37%.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GenTech’s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debt,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7.37%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dirty="0" sz="1100" spc="5" b="1">
                <a:latin typeface="Garamond"/>
                <a:cs typeface="Garamond"/>
              </a:rPr>
              <a:t>Cost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Preferred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Stock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 dividend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forever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making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perpetuity.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baseline="-8547" sz="975" spc="15">
                <a:latin typeface="Garamond"/>
                <a:cs typeface="Garamond"/>
              </a:rPr>
              <a:t>P</a:t>
            </a:r>
            <a:r>
              <a:rPr dirty="0" baseline="-8547" sz="975" spc="19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410335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P</a:t>
            </a:r>
            <a:r>
              <a:rPr dirty="0" baseline="-8547" sz="975" spc="1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D/</a:t>
            </a:r>
            <a:r>
              <a:rPr dirty="0" sz="1100" spc="5">
                <a:latin typeface="Garamond"/>
                <a:cs typeface="Garamond"/>
              </a:rPr>
              <a:t> P</a:t>
            </a:r>
            <a:r>
              <a:rPr dirty="0" baseline="-8547" sz="975" spc="7">
                <a:latin typeface="Garamond"/>
                <a:cs typeface="Garamond"/>
              </a:rPr>
              <a:t>0</a:t>
            </a:r>
            <a:endParaRPr baseline="-8547" sz="975">
              <a:latin typeface="Garamond"/>
              <a:cs typeface="Garamond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34108" y="9222104"/>
            <a:ext cx="41846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0">
                <a:latin typeface="Garamond"/>
                <a:cs typeface="Garamond"/>
              </a:rPr>
              <a:t>W</a:t>
            </a:r>
            <a:r>
              <a:rPr dirty="0" sz="1100" spc="10">
                <a:latin typeface="Garamond"/>
                <a:cs typeface="Garamond"/>
              </a:rPr>
              <a:t>h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10">
                <a:latin typeface="Garamond"/>
                <a:cs typeface="Garamond"/>
              </a:rPr>
              <a:t>e</a:t>
            </a:r>
            <a:r>
              <a:rPr dirty="0" sz="1100">
                <a:latin typeface="Garamond"/>
                <a:cs typeface="Garamond"/>
              </a:rPr>
              <a:t>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49144" y="9222104"/>
            <a:ext cx="106045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75029" y="431038"/>
            <a:ext cx="5923280" cy="89592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135"/>
              </a:spcBef>
              <a:tabLst>
                <a:tab pos="5558155" algn="l"/>
              </a:tabLst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algn="just" marL="571500" marR="157480" indent="-228600">
              <a:lnSpc>
                <a:spcPts val="1260"/>
              </a:lnSpc>
              <a:spcBef>
                <a:spcPts val="1065"/>
              </a:spcBef>
              <a:buFont typeface="Symbol"/>
              <a:buChar char=""/>
              <a:tabLst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Alternatively,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cost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preferred stock can </a:t>
            </a:r>
            <a:r>
              <a:rPr dirty="0" sz="1100" spc="-10">
                <a:latin typeface="Garamond"/>
                <a:cs typeface="Garamond"/>
              </a:rPr>
              <a:t>be </a:t>
            </a:r>
            <a:r>
              <a:rPr dirty="0" sz="1100" spc="-5">
                <a:latin typeface="Garamond"/>
                <a:cs typeface="Garamond"/>
              </a:rPr>
              <a:t>estimated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observing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required </a:t>
            </a:r>
            <a:r>
              <a:rPr dirty="0" sz="1100">
                <a:latin typeface="Garamond"/>
                <a:cs typeface="Garamond"/>
              </a:rPr>
              <a:t>return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 </a:t>
            </a:r>
            <a:r>
              <a:rPr dirty="0" sz="1100">
                <a:latin typeface="Garamond"/>
                <a:cs typeface="Garamond"/>
              </a:rPr>
              <a:t>stock.</a:t>
            </a:r>
            <a:endParaRPr sz="1100">
              <a:latin typeface="Garamond"/>
              <a:cs typeface="Garamond"/>
            </a:endParaRPr>
          </a:p>
          <a:p>
            <a:pPr algn="just" marL="571500" marR="158115" indent="-228600">
              <a:lnSpc>
                <a:spcPct val="94100"/>
              </a:lnSpc>
              <a:spcBef>
                <a:spcPts val="100"/>
              </a:spcBef>
              <a:buFont typeface="Symbol"/>
              <a:buChar char=""/>
              <a:tabLst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One </a:t>
            </a:r>
            <a:r>
              <a:rPr dirty="0" sz="1100" spc="-5">
                <a:latin typeface="Garamond"/>
                <a:cs typeface="Garamond"/>
              </a:rPr>
              <a:t>issue </a:t>
            </a:r>
            <a:r>
              <a:rPr dirty="0" sz="1100" spc="5">
                <a:latin typeface="Garamond"/>
                <a:cs typeface="Garamond"/>
              </a:rPr>
              <a:t>of the </a:t>
            </a:r>
            <a:r>
              <a:rPr dirty="0" sz="1100" spc="-5">
                <a:latin typeface="Garamond"/>
                <a:cs typeface="Garamond"/>
              </a:rPr>
              <a:t>preferred </a:t>
            </a:r>
            <a:r>
              <a:rPr dirty="0" sz="1100">
                <a:latin typeface="Garamond"/>
                <a:cs typeface="Garamond"/>
              </a:rPr>
              <a:t>stocks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CG Inc. </a:t>
            </a:r>
            <a:r>
              <a:rPr dirty="0" sz="1100">
                <a:latin typeface="Garamond"/>
                <a:cs typeface="Garamond"/>
              </a:rPr>
              <a:t>paid </a:t>
            </a:r>
            <a:r>
              <a:rPr dirty="0" sz="1100" spc="-10">
                <a:latin typeface="Garamond"/>
                <a:cs typeface="Garamond"/>
              </a:rPr>
              <a:t>$1.78 </a:t>
            </a:r>
            <a:r>
              <a:rPr dirty="0" sz="1100" spc="-5">
                <a:latin typeface="Garamond"/>
                <a:cs typeface="Garamond"/>
              </a:rPr>
              <a:t>annually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10">
                <a:latin typeface="Garamond"/>
                <a:cs typeface="Garamond"/>
              </a:rPr>
              <a:t>sold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$25.35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5">
                <a:latin typeface="Garamond"/>
                <a:cs typeface="Garamond"/>
              </a:rPr>
              <a:t>share.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other </a:t>
            </a:r>
            <a:r>
              <a:rPr dirty="0" sz="1100" spc="-5">
                <a:latin typeface="Garamond"/>
                <a:cs typeface="Garamond"/>
              </a:rPr>
              <a:t>issue </a:t>
            </a:r>
            <a:r>
              <a:rPr dirty="0" sz="1100" spc="5">
                <a:latin typeface="Garamond"/>
                <a:cs typeface="Garamond"/>
              </a:rPr>
              <a:t>paid </a:t>
            </a:r>
            <a:r>
              <a:rPr dirty="0" sz="1100" spc="-10">
                <a:latin typeface="Garamond"/>
                <a:cs typeface="Garamond"/>
              </a:rPr>
              <a:t>$1.72 </a:t>
            </a:r>
            <a:r>
              <a:rPr dirty="0" sz="1100" spc="5">
                <a:latin typeface="Garamond"/>
                <a:cs typeface="Garamond"/>
              </a:rPr>
              <a:t>annually </a:t>
            </a:r>
            <a:r>
              <a:rPr dirty="0" sz="1100" spc="-10">
                <a:latin typeface="Garamond"/>
                <a:cs typeface="Garamond"/>
              </a:rPr>
              <a:t>sold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$24.90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5">
                <a:latin typeface="Garamond"/>
                <a:cs typeface="Garamond"/>
              </a:rPr>
              <a:t>share. </a:t>
            </a:r>
            <a:r>
              <a:rPr dirty="0" sz="1100" spc="5">
                <a:latin typeface="Garamond"/>
                <a:cs typeface="Garamond"/>
              </a:rPr>
              <a:t>What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cost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preferred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Inc.?</a:t>
            </a:r>
            <a:endParaRPr sz="1100">
              <a:latin typeface="Garamond"/>
              <a:cs typeface="Garamond"/>
            </a:endParaRPr>
          </a:p>
          <a:p>
            <a:pPr algn="just" marL="572135" marR="2708910" indent="-572135">
              <a:lnSpc>
                <a:spcPts val="1230"/>
              </a:lnSpc>
              <a:spcBef>
                <a:spcPts val="200"/>
              </a:spcBef>
              <a:buFont typeface="Symbol"/>
              <a:buChar char=""/>
              <a:tabLst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Using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first issue, </a:t>
            </a:r>
            <a:r>
              <a:rPr dirty="0" sz="1100">
                <a:latin typeface="Garamond"/>
                <a:cs typeface="Garamond"/>
              </a:rPr>
              <a:t>cost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preferred </a:t>
            </a:r>
            <a:r>
              <a:rPr dirty="0" sz="1100" spc="-15">
                <a:latin typeface="Garamond"/>
                <a:cs typeface="Garamond"/>
              </a:rPr>
              <a:t>stock </a:t>
            </a:r>
            <a:r>
              <a:rPr dirty="0" sz="1100" spc="15">
                <a:latin typeface="Garamond"/>
                <a:cs typeface="Garamond"/>
              </a:rPr>
              <a:t>was: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P</a:t>
            </a:r>
            <a:r>
              <a:rPr dirty="0" baseline="-8547" sz="975" spc="18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D/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</a:t>
            </a:r>
            <a:r>
              <a:rPr dirty="0" baseline="-8547" sz="975" spc="7">
                <a:latin typeface="Garamond"/>
                <a:cs typeface="Garamond"/>
              </a:rPr>
              <a:t>0</a:t>
            </a:r>
            <a:endParaRPr baseline="-8547" sz="975">
              <a:latin typeface="Garamond"/>
              <a:cs typeface="Garamond"/>
            </a:endParaRPr>
          </a:p>
          <a:p>
            <a:pPr marL="1486535">
              <a:lnSpc>
                <a:spcPts val="1230"/>
              </a:lnSpc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P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$1.78/25.35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7.02%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ts val="1290"/>
              </a:lnSpc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Using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was:</a:t>
            </a:r>
            <a:endParaRPr sz="1100">
              <a:latin typeface="Garamond"/>
              <a:cs typeface="Garamond"/>
            </a:endParaRPr>
          </a:p>
          <a:p>
            <a:pPr marL="1486535">
              <a:lnSpc>
                <a:spcPts val="1260"/>
              </a:lnSpc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P</a:t>
            </a:r>
            <a:r>
              <a:rPr dirty="0" baseline="-8547" sz="975" spc="1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D/</a:t>
            </a:r>
            <a:r>
              <a:rPr dirty="0" sz="1100" spc="5">
                <a:latin typeface="Garamond"/>
                <a:cs typeface="Garamond"/>
              </a:rPr>
              <a:t> P</a:t>
            </a:r>
            <a:r>
              <a:rPr dirty="0" baseline="-8547" sz="975" spc="7">
                <a:latin typeface="Garamond"/>
                <a:cs typeface="Garamond"/>
              </a:rPr>
              <a:t>0</a:t>
            </a:r>
            <a:endParaRPr baseline="-8547" sz="975">
              <a:latin typeface="Garamond"/>
              <a:cs typeface="Garamond"/>
            </a:endParaRPr>
          </a:p>
          <a:p>
            <a:pPr marL="1486535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P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$1.72/24.90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6.91%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Inc.’s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 </a:t>
            </a:r>
            <a:r>
              <a:rPr dirty="0" sz="1100">
                <a:latin typeface="Garamond"/>
                <a:cs typeface="Garamond"/>
              </a:rPr>
              <a:t>appears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been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6.9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20">
                <a:latin typeface="Garamond"/>
                <a:cs typeface="Garamond"/>
              </a:rPr>
              <a:t>7%.</a:t>
            </a:r>
            <a:endParaRPr sz="1100">
              <a:latin typeface="Garamond"/>
              <a:cs typeface="Garamond"/>
            </a:endParaRPr>
          </a:p>
          <a:p>
            <a:pPr marL="1143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Capital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Structure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Weights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71500" marR="156845" indent="-228600">
              <a:lnSpc>
                <a:spcPts val="1260"/>
              </a:lnSpc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E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multiplying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outstanding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share.</a:t>
            </a:r>
            <a:endParaRPr sz="1100">
              <a:latin typeface="Garamond"/>
              <a:cs typeface="Garamond"/>
            </a:endParaRPr>
          </a:p>
          <a:p>
            <a:pPr marL="571500" marR="16002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multiplying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single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bonds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outstanding.</a:t>
            </a: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issues,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repeat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calculation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then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results.</a:t>
            </a:r>
            <a:endParaRPr sz="1100">
              <a:latin typeface="Garamond"/>
              <a:cs typeface="Garamond"/>
            </a:endParaRPr>
          </a:p>
          <a:p>
            <a:pPr marL="571500" marR="1574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publicly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traded,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observe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publicly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traded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estimate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privately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held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 marL="571500" marR="16002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should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similar.</a:t>
            </a: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ts val="1290"/>
              </a:lnSpc>
              <a:spcBef>
                <a:spcPts val="2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combined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V </a:t>
            </a:r>
            <a:r>
              <a:rPr dirty="0" sz="1100" spc="-1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486535">
              <a:lnSpc>
                <a:spcPts val="1290"/>
              </a:lnSpc>
            </a:pPr>
            <a:r>
              <a:rPr dirty="0" sz="1100" spc="10">
                <a:latin typeface="Garamond"/>
                <a:cs typeface="Garamond"/>
              </a:rPr>
              <a:t>V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Garamond"/>
              <a:cs typeface="Garamond"/>
            </a:endParaRPr>
          </a:p>
          <a:p>
            <a:pPr marL="571500" marR="164465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571500" algn="l"/>
                <a:tab pos="572135" algn="l"/>
                <a:tab pos="1486535" algn="l"/>
              </a:tabLst>
            </a:pPr>
            <a:r>
              <a:rPr dirty="0" sz="1100">
                <a:latin typeface="Garamond"/>
                <a:cs typeface="Garamond"/>
              </a:rPr>
              <a:t>Dividing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both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sides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represented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equity:	100%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E/V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D/V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algn="just" marL="571500" indent="-229235">
              <a:lnSpc>
                <a:spcPct val="100000"/>
              </a:lnSpc>
              <a:buFont typeface="Symbol"/>
              <a:buChar char=""/>
              <a:tabLst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weights</a:t>
            </a:r>
            <a:endParaRPr sz="1100">
              <a:latin typeface="Garamond"/>
              <a:cs typeface="Garamond"/>
            </a:endParaRPr>
          </a:p>
          <a:p>
            <a:pPr algn="just" marL="571500" marR="158750" indent="-228600">
              <a:lnSpc>
                <a:spcPct val="94100"/>
              </a:lnSpc>
              <a:spcBef>
                <a:spcPts val="125"/>
              </a:spcBef>
              <a:buFont typeface="Symbol"/>
              <a:buChar char=""/>
              <a:tabLst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For example, if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 market value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company’s </a:t>
            </a:r>
            <a:r>
              <a:rPr dirty="0" sz="1100">
                <a:latin typeface="Garamond"/>
                <a:cs typeface="Garamond"/>
              </a:rPr>
              <a:t>stocks </a:t>
            </a:r>
            <a:r>
              <a:rPr dirty="0" sz="1100" spc="5">
                <a:latin typeface="Garamond"/>
                <a:cs typeface="Garamond"/>
              </a:rPr>
              <a:t>were </a:t>
            </a:r>
            <a:r>
              <a:rPr dirty="0" sz="1100" spc="-5">
                <a:latin typeface="Garamond"/>
                <a:cs typeface="Garamond"/>
              </a:rPr>
              <a:t>calculated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$200 million </a:t>
            </a:r>
            <a:r>
              <a:rPr dirty="0" sz="1100">
                <a:latin typeface="Garamond"/>
                <a:cs typeface="Garamond"/>
              </a:rPr>
              <a:t> and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total </a:t>
            </a:r>
            <a:r>
              <a:rPr dirty="0" sz="1100">
                <a:latin typeface="Garamond"/>
                <a:cs typeface="Garamond"/>
              </a:rPr>
              <a:t>market value </a:t>
            </a:r>
            <a:r>
              <a:rPr dirty="0" sz="1100" spc="-10">
                <a:latin typeface="Garamond"/>
                <a:cs typeface="Garamond"/>
              </a:rPr>
              <a:t>of the </a:t>
            </a:r>
            <a:r>
              <a:rPr dirty="0" sz="1100" spc="-5">
                <a:latin typeface="Garamond"/>
                <a:cs typeface="Garamond"/>
              </a:rPr>
              <a:t>company’s </a:t>
            </a:r>
            <a:r>
              <a:rPr dirty="0" sz="1100" spc="10">
                <a:latin typeface="Garamond"/>
                <a:cs typeface="Garamond"/>
              </a:rPr>
              <a:t>debt </a:t>
            </a:r>
            <a:r>
              <a:rPr dirty="0" sz="1100" spc="-5">
                <a:latin typeface="Garamond"/>
                <a:cs typeface="Garamond"/>
              </a:rPr>
              <a:t>were calculated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>
                <a:latin typeface="Garamond"/>
                <a:cs typeface="Garamond"/>
              </a:rPr>
              <a:t>$50 million, </a:t>
            </a:r>
            <a:r>
              <a:rPr dirty="0" sz="1100" spc="-5">
                <a:latin typeface="Garamond"/>
                <a:cs typeface="Garamond"/>
              </a:rPr>
              <a:t>then </a:t>
            </a:r>
            <a:r>
              <a:rPr dirty="0" sz="1100">
                <a:latin typeface="Garamond"/>
                <a:cs typeface="Garamond"/>
              </a:rPr>
              <a:t>combined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$250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million.</a:t>
            </a:r>
            <a:endParaRPr sz="1100">
              <a:latin typeface="Garamond"/>
              <a:cs typeface="Garamond"/>
            </a:endParaRPr>
          </a:p>
          <a:p>
            <a:pPr algn="just" marL="571500" marR="153035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Now, </a:t>
            </a:r>
            <a:r>
              <a:rPr dirty="0" sz="1100" spc="-5">
                <a:latin typeface="Garamond"/>
                <a:cs typeface="Garamond"/>
              </a:rPr>
              <a:t>E/V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$200/250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>
                <a:latin typeface="Garamond"/>
                <a:cs typeface="Garamond"/>
              </a:rPr>
              <a:t>80%. </a:t>
            </a:r>
            <a:r>
              <a:rPr dirty="0" sz="1100" spc="5">
                <a:latin typeface="Garamond"/>
                <a:cs typeface="Garamond"/>
              </a:rPr>
              <a:t>So </a:t>
            </a:r>
            <a:r>
              <a:rPr dirty="0" sz="1100" spc="-5">
                <a:latin typeface="Garamond"/>
                <a:cs typeface="Garamond"/>
              </a:rPr>
              <a:t>80%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firm’s financing would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5">
                <a:latin typeface="Garamond"/>
                <a:cs typeface="Garamond"/>
              </a:rPr>
              <a:t>equity </a:t>
            </a:r>
            <a:r>
              <a:rPr dirty="0" sz="1100">
                <a:latin typeface="Garamond"/>
                <a:cs typeface="Garamond"/>
              </a:rPr>
              <a:t>and remaining </a:t>
            </a:r>
            <a:r>
              <a:rPr dirty="0" sz="1100" spc="5">
                <a:latin typeface="Garamond"/>
                <a:cs typeface="Garamond"/>
              </a:rPr>
              <a:t> 20%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1143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-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Tax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Effect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71500" marR="162560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deductible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such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deductible.</a:t>
            </a: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 spc="-5">
                <a:latin typeface="Garamond"/>
                <a:cs typeface="Garamond"/>
              </a:rPr>
              <a:t>means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government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interest.</a:t>
            </a: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distinguish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pretax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after-tax</a:t>
            </a: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$1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9%.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34%</a:t>
            </a:r>
            <a:endParaRPr sz="1100">
              <a:latin typeface="Garamond"/>
              <a:cs typeface="Garamond"/>
            </a:endParaRPr>
          </a:p>
          <a:p>
            <a:pPr marL="571500" marR="153035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bill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$90,000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deductible,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$90,000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reduces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0.34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$90,000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$30,600</a:t>
            </a: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after-tax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thus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$90,000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30,600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$59,400</a:t>
            </a:r>
            <a:endParaRPr sz="1100">
              <a:latin typeface="Garamond"/>
              <a:cs typeface="Garamond"/>
            </a:endParaRPr>
          </a:p>
          <a:p>
            <a:pPr marL="5715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after-tax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$59,400/1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5.94%</a:t>
            </a:r>
            <a:endParaRPr sz="1100">
              <a:latin typeface="Garamond"/>
              <a:cs typeface="Garamond"/>
            </a:endParaRPr>
          </a:p>
          <a:p>
            <a:pPr marL="571500" marR="155575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571500" algn="l"/>
                <a:tab pos="572135" algn="l"/>
              </a:tabLst>
            </a:pPr>
            <a:r>
              <a:rPr dirty="0" sz="1100">
                <a:latin typeface="Garamond"/>
                <a:cs typeface="Garamond"/>
              </a:rPr>
              <a:t>Alternatively,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T</a:t>
            </a:r>
            <a:r>
              <a:rPr dirty="0" baseline="-8547" sz="975" spc="22">
                <a:latin typeface="Garamond"/>
                <a:cs typeface="Garamond"/>
              </a:rPr>
              <a:t>C</a:t>
            </a:r>
            <a:r>
              <a:rPr dirty="0" baseline="-8547" sz="975" spc="247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 tax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use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for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written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baseline="-8547" sz="975" spc="15">
                <a:latin typeface="Garamond"/>
                <a:cs typeface="Garamond"/>
              </a:rPr>
              <a:t>D</a:t>
            </a:r>
            <a:r>
              <a:rPr dirty="0" baseline="-8547" sz="975" spc="20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baseline="-8547" sz="975">
                <a:latin typeface="Garamond"/>
                <a:cs typeface="Garamond"/>
              </a:rPr>
              <a:t>C</a:t>
            </a:r>
            <a:r>
              <a:rPr dirty="0" sz="1100">
                <a:latin typeface="Garamond"/>
                <a:cs typeface="Garamond"/>
              </a:rPr>
              <a:t>).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5508" y="9367673"/>
            <a:ext cx="90805" cy="199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5">
                <a:latin typeface="Symbol"/>
                <a:cs typeface="Symbol"/>
              </a:rPr>
              <a:t></a:t>
            </a:r>
            <a:endParaRPr sz="11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4108" y="9388019"/>
            <a:ext cx="1564005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9%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0.34)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5.94%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138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714501"/>
            <a:ext cx="5446395" cy="10280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4617720">
              <a:lnSpc>
                <a:spcPts val="1355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1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36</a:t>
            </a:r>
            <a:endParaRPr sz="1150">
              <a:latin typeface="Garamond"/>
              <a:cs typeface="Garamond"/>
            </a:endParaRPr>
          </a:p>
          <a:p>
            <a:pPr algn="ctr" marR="233679">
              <a:lnSpc>
                <a:spcPts val="1355"/>
              </a:lnSpc>
            </a:pPr>
            <a:r>
              <a:rPr dirty="0" sz="1150" spc="25" b="1">
                <a:latin typeface="Garamond"/>
                <a:cs typeface="Garamond"/>
              </a:rPr>
              <a:t>WEIGHTED</a:t>
            </a:r>
            <a:r>
              <a:rPr dirty="0" sz="1150" spc="30" b="1">
                <a:latin typeface="Garamond"/>
                <a:cs typeface="Garamond"/>
              </a:rPr>
              <a:t> AVERAGE</a:t>
            </a:r>
            <a:r>
              <a:rPr dirty="0" sz="1150" spc="1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COST</a:t>
            </a:r>
            <a:r>
              <a:rPr dirty="0" sz="1150" spc="5" b="1">
                <a:latin typeface="Garamond"/>
                <a:cs typeface="Garamond"/>
              </a:rPr>
              <a:t> </a:t>
            </a:r>
            <a:r>
              <a:rPr dirty="0" sz="1150" spc="40" b="1">
                <a:latin typeface="Garamond"/>
                <a:cs typeface="Garamond"/>
              </a:rPr>
              <a:t>OF</a:t>
            </a:r>
            <a:r>
              <a:rPr dirty="0" sz="1150" spc="20" b="1">
                <a:latin typeface="Garamond"/>
                <a:cs typeface="Garamond"/>
              </a:rPr>
              <a:t> CAPITAL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Garamond"/>
              <a:cs typeface="Garamond"/>
            </a:endParaRPr>
          </a:p>
          <a:p>
            <a:pPr algn="just" marL="240665" marR="5080" indent="-228600">
              <a:lnSpc>
                <a:spcPct val="94100"/>
              </a:lnSpc>
              <a:buFont typeface="Symbol"/>
              <a:buChar char=""/>
              <a:tabLst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 overall cost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capital,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capital</a:t>
            </a:r>
            <a:r>
              <a:rPr dirty="0" sz="1100">
                <a:latin typeface="Garamond"/>
                <a:cs typeface="Garamond"/>
              </a:rPr>
              <a:t> structures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 associated </a:t>
            </a:r>
            <a:r>
              <a:rPr dirty="0" sz="1100">
                <a:latin typeface="Garamond"/>
                <a:cs typeface="Garamond"/>
              </a:rPr>
              <a:t>costs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 </a:t>
            </a:r>
            <a:r>
              <a:rPr dirty="0" sz="1100" spc="-15">
                <a:latin typeface="Garamond"/>
                <a:cs typeface="Garamond"/>
              </a:rPr>
              <a:t>up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pieces.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result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called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Weighted </a:t>
            </a:r>
            <a:r>
              <a:rPr dirty="0" sz="1100" spc="-10">
                <a:latin typeface="Garamond"/>
                <a:cs typeface="Garamond"/>
              </a:rPr>
              <a:t>Average </a:t>
            </a:r>
            <a:r>
              <a:rPr dirty="0" sz="1100" spc="5">
                <a:latin typeface="Garamond"/>
                <a:cs typeface="Garamond"/>
              </a:rPr>
              <a:t>Cost  of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(WACC)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19882" y="1893696"/>
            <a:ext cx="86995" cy="9525"/>
          </a:xfrm>
          <a:custGeom>
            <a:avLst/>
            <a:gdLst/>
            <a:ahLst/>
            <a:cxnLst/>
            <a:rect l="l" t="t" r="r" b="b"/>
            <a:pathLst>
              <a:path w="86994" h="9525">
                <a:moveTo>
                  <a:pt x="86868" y="0"/>
                </a:moveTo>
                <a:lnTo>
                  <a:pt x="0" y="0"/>
                </a:lnTo>
                <a:lnTo>
                  <a:pt x="0" y="9144"/>
                </a:lnTo>
                <a:lnTo>
                  <a:pt x="86868" y="9144"/>
                </a:lnTo>
                <a:lnTo>
                  <a:pt x="86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107182" y="1702688"/>
            <a:ext cx="71183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07060" algn="l"/>
              </a:tabLst>
            </a:pPr>
            <a:r>
              <a:rPr dirty="0" sz="1000" spc="30">
                <a:latin typeface="Cambria Math"/>
                <a:cs typeface="Cambria Math"/>
              </a:rPr>
              <a:t>𝐸</a:t>
            </a:r>
            <a:r>
              <a:rPr dirty="0" sz="1000" spc="30">
                <a:latin typeface="Cambria Math"/>
                <a:cs typeface="Cambria Math"/>
              </a:rPr>
              <a:t>	</a:t>
            </a:r>
            <a:r>
              <a:rPr dirty="0" sz="1000" spc="40"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14622" y="1893696"/>
            <a:ext cx="96520" cy="9525"/>
          </a:xfrm>
          <a:custGeom>
            <a:avLst/>
            <a:gdLst/>
            <a:ahLst/>
            <a:cxnLst/>
            <a:rect l="l" t="t" r="r" b="b"/>
            <a:pathLst>
              <a:path w="96520" h="9525">
                <a:moveTo>
                  <a:pt x="96012" y="0"/>
                </a:moveTo>
                <a:lnTo>
                  <a:pt x="0" y="0"/>
                </a:lnTo>
                <a:lnTo>
                  <a:pt x="0" y="9144"/>
                </a:lnTo>
                <a:lnTo>
                  <a:pt x="96012" y="9144"/>
                </a:lnTo>
                <a:lnTo>
                  <a:pt x="960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54708" y="1794128"/>
            <a:ext cx="5554980" cy="1412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07135">
              <a:lnSpc>
                <a:spcPct val="100000"/>
              </a:lnSpc>
              <a:spcBef>
                <a:spcPts val="114"/>
              </a:spcBef>
            </a:pPr>
            <a:r>
              <a:rPr dirty="0" sz="1100" spc="-10">
                <a:latin typeface="Garamond"/>
                <a:cs typeface="Garamond"/>
              </a:rPr>
              <a:t>W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C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baseline="-38888" sz="1500" spc="75">
                <a:latin typeface="Cambria Math"/>
                <a:cs typeface="Cambria Math"/>
              </a:rPr>
              <a:t>𝑉</a:t>
            </a:r>
            <a:r>
              <a:rPr dirty="0" baseline="-38888" sz="1500">
                <a:latin typeface="Cambria Math"/>
                <a:cs typeface="Cambria Math"/>
              </a:rPr>
              <a:t> </a:t>
            </a:r>
            <a:r>
              <a:rPr dirty="0" baseline="-38888" sz="1500" spc="-8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Cambria Math"/>
                <a:cs typeface="Cambria Math"/>
              </a:rPr>
              <a:t>𝑅</a:t>
            </a:r>
            <a:r>
              <a:rPr dirty="0" baseline="-13888" sz="1200" spc="15">
                <a:latin typeface="Cambria Math"/>
                <a:cs typeface="Cambria Math"/>
              </a:rPr>
              <a:t>𝐸</a:t>
            </a:r>
            <a:r>
              <a:rPr dirty="0" baseline="-13888" sz="1200">
                <a:latin typeface="Cambria Math"/>
                <a:cs typeface="Cambria Math"/>
              </a:rPr>
              <a:t> </a:t>
            </a:r>
            <a:r>
              <a:rPr dirty="0" baseline="-13888" sz="1200" spc="7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baseline="-38888" sz="1500" spc="75">
                <a:latin typeface="Cambria Math"/>
                <a:cs typeface="Cambria Math"/>
              </a:rPr>
              <a:t>𝑉</a:t>
            </a:r>
            <a:r>
              <a:rPr dirty="0" baseline="-38888" sz="1500">
                <a:latin typeface="Cambria Math"/>
                <a:cs typeface="Cambria Math"/>
              </a:rPr>
              <a:t> </a:t>
            </a:r>
            <a:r>
              <a:rPr dirty="0" baseline="-38888" sz="1500" spc="-13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15">
                <a:latin typeface="Cambria Math"/>
                <a:cs typeface="Cambria Math"/>
              </a:rPr>
              <a:t>𝑅</a:t>
            </a:r>
            <a:r>
              <a:rPr dirty="0" baseline="-13888" sz="1200" spc="22">
                <a:latin typeface="Cambria Math"/>
                <a:cs typeface="Cambria Math"/>
              </a:rPr>
              <a:t>𝐷</a:t>
            </a:r>
            <a:r>
              <a:rPr dirty="0" baseline="-13888" sz="1200">
                <a:latin typeface="Cambria Math"/>
                <a:cs typeface="Cambria Math"/>
              </a:rPr>
              <a:t> </a:t>
            </a:r>
            <a:r>
              <a:rPr dirty="0" baseline="-13888" sz="1200" spc="2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40">
                <a:latin typeface="Garamond"/>
                <a:cs typeface="Garamond"/>
              </a:rPr>
              <a:t>(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10">
                <a:latin typeface="Cambria Math"/>
                <a:cs typeface="Cambria Math"/>
              </a:rPr>
              <a:t>𝑇</a:t>
            </a:r>
            <a:r>
              <a:rPr dirty="0" baseline="-13888" sz="1200" spc="7">
                <a:latin typeface="Cambria Math"/>
                <a:cs typeface="Cambria Math"/>
              </a:rPr>
              <a:t>𝐶</a:t>
            </a:r>
            <a:r>
              <a:rPr dirty="0" baseline="-13888" sz="1200" spc="-127">
                <a:latin typeface="Cambria Math"/>
                <a:cs typeface="Cambria Math"/>
              </a:rPr>
              <a:t> </a:t>
            </a:r>
            <a:r>
              <a:rPr dirty="0" sz="1100">
                <a:latin typeface="Garamond"/>
                <a:cs typeface="Garamond"/>
              </a:rPr>
              <a:t>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>
              <a:latin typeface="Garamond"/>
              <a:cs typeface="Garamond"/>
            </a:endParaRPr>
          </a:p>
          <a:p>
            <a:pPr algn="just" marL="291465" marR="70485" indent="-228600">
              <a:lnSpc>
                <a:spcPts val="1260"/>
              </a:lnSpc>
              <a:buFont typeface="Symbol"/>
              <a:buChar char=""/>
              <a:tabLst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WACC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overall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existing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maintain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stock.</a:t>
            </a:r>
            <a:endParaRPr sz="1100">
              <a:latin typeface="Garamond"/>
              <a:cs typeface="Garamond"/>
            </a:endParaRPr>
          </a:p>
          <a:p>
            <a:pPr algn="just" marL="291465" marR="68580" indent="-228600">
              <a:lnSpc>
                <a:spcPct val="94100"/>
              </a:lnSpc>
              <a:spcBef>
                <a:spcPts val="100"/>
              </a:spcBef>
              <a:buFont typeface="Symbol"/>
              <a:buChar char=""/>
              <a:tabLst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It </a:t>
            </a:r>
            <a:r>
              <a:rPr dirty="0" sz="1100">
                <a:latin typeface="Garamond"/>
                <a:cs typeface="Garamond"/>
              </a:rPr>
              <a:t>is also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required </a:t>
            </a:r>
            <a:r>
              <a:rPr dirty="0" sz="1100">
                <a:latin typeface="Garamond"/>
                <a:cs typeface="Garamond"/>
              </a:rPr>
              <a:t>return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>
                <a:latin typeface="Garamond"/>
                <a:cs typeface="Garamond"/>
              </a:rPr>
              <a:t>any </a:t>
            </a:r>
            <a:r>
              <a:rPr dirty="0" sz="1100" spc="-5">
                <a:latin typeface="Garamond"/>
                <a:cs typeface="Garamond"/>
              </a:rPr>
              <a:t>investments </a:t>
            </a:r>
            <a:r>
              <a:rPr dirty="0" sz="1100" spc="5">
                <a:latin typeface="Garamond"/>
                <a:cs typeface="Garamond"/>
              </a:rPr>
              <a:t>by the </a:t>
            </a:r>
            <a:r>
              <a:rPr dirty="0" sz="1100">
                <a:latin typeface="Garamond"/>
                <a:cs typeface="Garamond"/>
              </a:rPr>
              <a:t>firm </a:t>
            </a:r>
            <a:r>
              <a:rPr dirty="0" sz="1100" spc="-5">
                <a:latin typeface="Garamond"/>
                <a:cs typeface="Garamond"/>
              </a:rPr>
              <a:t>that have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same </a:t>
            </a:r>
            <a:r>
              <a:rPr dirty="0" sz="1100" spc="-10">
                <a:latin typeface="Garamond"/>
                <a:cs typeface="Garamond"/>
              </a:rPr>
              <a:t>risks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exiting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operations. So,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evaluating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proposed expansion </a:t>
            </a:r>
            <a:r>
              <a:rPr dirty="0" sz="1100">
                <a:latin typeface="Garamond"/>
                <a:cs typeface="Garamond"/>
              </a:rPr>
              <a:t>project, this is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discount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used.</a:t>
            </a:r>
            <a:endParaRPr sz="1100">
              <a:latin typeface="Garamond"/>
              <a:cs typeface="Garamond"/>
            </a:endParaRPr>
          </a:p>
          <a:p>
            <a:pPr algn="just" marL="292100" indent="-228600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292100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WACC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19882" y="3517391"/>
            <a:ext cx="86995" cy="9525"/>
          </a:xfrm>
          <a:custGeom>
            <a:avLst/>
            <a:gdLst/>
            <a:ahLst/>
            <a:cxnLst/>
            <a:rect l="l" t="t" r="r" b="b"/>
            <a:pathLst>
              <a:path w="86994" h="9525">
                <a:moveTo>
                  <a:pt x="86868" y="0"/>
                </a:moveTo>
                <a:lnTo>
                  <a:pt x="0" y="0"/>
                </a:lnTo>
                <a:lnTo>
                  <a:pt x="0" y="9144"/>
                </a:lnTo>
                <a:lnTo>
                  <a:pt x="86868" y="9144"/>
                </a:lnTo>
                <a:lnTo>
                  <a:pt x="86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6334" y="3517391"/>
            <a:ext cx="86995" cy="9525"/>
          </a:xfrm>
          <a:custGeom>
            <a:avLst/>
            <a:gdLst/>
            <a:ahLst/>
            <a:cxnLst/>
            <a:rect l="l" t="t" r="r" b="b"/>
            <a:pathLst>
              <a:path w="86995" h="9525">
                <a:moveTo>
                  <a:pt x="86867" y="0"/>
                </a:moveTo>
                <a:lnTo>
                  <a:pt x="0" y="0"/>
                </a:lnTo>
                <a:lnTo>
                  <a:pt x="0" y="9144"/>
                </a:lnTo>
                <a:lnTo>
                  <a:pt x="86867" y="9144"/>
                </a:lnTo>
                <a:lnTo>
                  <a:pt x="868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281804" y="3517391"/>
            <a:ext cx="92075" cy="9525"/>
          </a:xfrm>
          <a:custGeom>
            <a:avLst/>
            <a:gdLst/>
            <a:ahLst/>
            <a:cxnLst/>
            <a:rect l="l" t="t" r="r" b="b"/>
            <a:pathLst>
              <a:path w="92075" h="9525">
                <a:moveTo>
                  <a:pt x="91744" y="0"/>
                </a:moveTo>
                <a:lnTo>
                  <a:pt x="0" y="0"/>
                </a:lnTo>
                <a:lnTo>
                  <a:pt x="0" y="9144"/>
                </a:lnTo>
                <a:lnTo>
                  <a:pt x="91744" y="9144"/>
                </a:lnTo>
                <a:lnTo>
                  <a:pt x="917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19882" y="5182234"/>
            <a:ext cx="86995" cy="9525"/>
          </a:xfrm>
          <a:custGeom>
            <a:avLst/>
            <a:gdLst/>
            <a:ahLst/>
            <a:cxnLst/>
            <a:rect l="l" t="t" r="r" b="b"/>
            <a:pathLst>
              <a:path w="86994" h="9525">
                <a:moveTo>
                  <a:pt x="86868" y="0"/>
                </a:moveTo>
                <a:lnTo>
                  <a:pt x="0" y="0"/>
                </a:lnTo>
                <a:lnTo>
                  <a:pt x="0" y="9144"/>
                </a:lnTo>
                <a:lnTo>
                  <a:pt x="86868" y="9144"/>
                </a:lnTo>
                <a:lnTo>
                  <a:pt x="86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96334" y="5182234"/>
            <a:ext cx="91440" cy="9525"/>
          </a:xfrm>
          <a:custGeom>
            <a:avLst/>
            <a:gdLst/>
            <a:ahLst/>
            <a:cxnLst/>
            <a:rect l="l" t="t" r="r" b="b"/>
            <a:pathLst>
              <a:path w="91439" h="9525">
                <a:moveTo>
                  <a:pt x="91439" y="0"/>
                </a:moveTo>
                <a:lnTo>
                  <a:pt x="0" y="0"/>
                </a:lnTo>
                <a:lnTo>
                  <a:pt x="0" y="9144"/>
                </a:lnTo>
                <a:lnTo>
                  <a:pt x="91439" y="9144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408298" y="6444741"/>
            <a:ext cx="704850" cy="9525"/>
          </a:xfrm>
          <a:custGeom>
            <a:avLst/>
            <a:gdLst/>
            <a:ahLst/>
            <a:cxnLst/>
            <a:rect l="l" t="t" r="r" b="b"/>
            <a:pathLst>
              <a:path w="704850" h="9525">
                <a:moveTo>
                  <a:pt x="704392" y="0"/>
                </a:moveTo>
                <a:lnTo>
                  <a:pt x="0" y="0"/>
                </a:lnTo>
                <a:lnTo>
                  <a:pt x="0" y="9144"/>
                </a:lnTo>
                <a:lnTo>
                  <a:pt x="704392" y="9144"/>
                </a:lnTo>
                <a:lnTo>
                  <a:pt x="704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858511" y="6444741"/>
            <a:ext cx="704850" cy="9525"/>
          </a:xfrm>
          <a:custGeom>
            <a:avLst/>
            <a:gdLst/>
            <a:ahLst/>
            <a:cxnLst/>
            <a:rect l="l" t="t" r="r" b="b"/>
            <a:pathLst>
              <a:path w="704850" h="9525">
                <a:moveTo>
                  <a:pt x="704392" y="0"/>
                </a:moveTo>
                <a:lnTo>
                  <a:pt x="0" y="0"/>
                </a:lnTo>
                <a:lnTo>
                  <a:pt x="0" y="9144"/>
                </a:lnTo>
                <a:lnTo>
                  <a:pt x="704392" y="9144"/>
                </a:lnTo>
                <a:lnTo>
                  <a:pt x="7043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291208" y="3326384"/>
            <a:ext cx="5691505" cy="3790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28164">
              <a:lnSpc>
                <a:spcPts val="965"/>
              </a:lnSpc>
              <a:spcBef>
                <a:spcPts val="105"/>
              </a:spcBef>
              <a:tabLst>
                <a:tab pos="2404745" algn="l"/>
                <a:tab pos="2990215" algn="l"/>
              </a:tabLst>
            </a:pPr>
            <a:r>
              <a:rPr dirty="0" sz="1000" spc="70">
                <a:latin typeface="Cambria Math"/>
                <a:cs typeface="Cambria Math"/>
              </a:rPr>
              <a:t>E	P	</a:t>
            </a:r>
            <a:r>
              <a:rPr dirty="0" sz="1000" spc="75">
                <a:latin typeface="Cambria Math"/>
                <a:cs typeface="Cambria Math"/>
              </a:rPr>
              <a:t>D</a:t>
            </a:r>
            <a:endParaRPr sz="1000">
              <a:latin typeface="Cambria Math"/>
              <a:cs typeface="Cambria Math"/>
            </a:endParaRPr>
          </a:p>
          <a:p>
            <a:pPr marL="1270635">
              <a:lnSpc>
                <a:spcPts val="1085"/>
              </a:lnSpc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97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E</a:t>
            </a:r>
            <a:r>
              <a:rPr dirty="0" baseline="-13888" sz="1200" spc="26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97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P</a:t>
            </a:r>
            <a:r>
              <a:rPr dirty="0" baseline="-13888" sz="1200" spc="165">
                <a:latin typeface="Cambria Math"/>
                <a:cs typeface="Cambria Math"/>
              </a:rPr>
              <a:t> </a:t>
            </a:r>
            <a:r>
              <a:rPr dirty="0" sz="1100" spc="10">
                <a:latin typeface="Cambria Math"/>
                <a:cs typeface="Cambria Math"/>
              </a:rPr>
              <a:t>+</a:t>
            </a:r>
            <a:r>
              <a:rPr dirty="0" sz="1100" spc="35">
                <a:latin typeface="Cambria Math"/>
                <a:cs typeface="Cambria Math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254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D</a:t>
            </a:r>
            <a:r>
              <a:rPr dirty="0" baseline="-13888" sz="1200" spc="254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Cambria Math"/>
                <a:cs typeface="Cambria Math"/>
              </a:rPr>
              <a:t>T</a:t>
            </a:r>
            <a:r>
              <a:rPr dirty="0" baseline="-13888" sz="1200">
                <a:latin typeface="Cambria Math"/>
                <a:cs typeface="Cambria Math"/>
              </a:rPr>
              <a:t>C</a:t>
            </a:r>
            <a:r>
              <a:rPr dirty="0" sz="1100">
                <a:latin typeface="Garamond"/>
                <a:cs typeface="Garamond"/>
              </a:rPr>
              <a:t>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Garamond"/>
              <a:cs typeface="Garamond"/>
            </a:endParaRPr>
          </a:p>
          <a:p>
            <a:pPr marL="354965" marR="144780" indent="-228600">
              <a:lnSpc>
                <a:spcPts val="1260"/>
              </a:lnSpc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wants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renovate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warehouse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distribution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system.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$50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$12</a:t>
            </a:r>
            <a:r>
              <a:rPr dirty="0" sz="1100" spc="-5">
                <a:latin typeface="Garamond"/>
                <a:cs typeface="Garamond"/>
              </a:rPr>
              <a:t> million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5">
                <a:latin typeface="Garamond"/>
                <a:cs typeface="Garamond"/>
              </a:rPr>
              <a:t> next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marL="3556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target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debt-equity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1/3</a:t>
            </a:r>
            <a:r>
              <a:rPr dirty="0" sz="1100" spc="-5">
                <a:latin typeface="Garamond"/>
                <a:cs typeface="Garamond"/>
              </a:rPr>
              <a:t> (i.e.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E/V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0.75 </a:t>
            </a:r>
            <a:r>
              <a:rPr dirty="0" sz="1100" spc="5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D/V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0.25).</a:t>
            </a:r>
            <a:endParaRPr sz="1100">
              <a:latin typeface="Garamond"/>
              <a:cs typeface="Garamond"/>
            </a:endParaRPr>
          </a:p>
          <a:p>
            <a:pPr marL="3556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20%.</a:t>
            </a:r>
            <a:endParaRPr sz="1100">
              <a:latin typeface="Garamond"/>
              <a:cs typeface="Garamond"/>
            </a:endParaRPr>
          </a:p>
          <a:p>
            <a:pPr marL="355600" indent="-228600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dirty="0" sz="1100">
                <a:latin typeface="Garamond"/>
                <a:cs typeface="Garamond"/>
              </a:rPr>
              <a:t>Assuming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34%,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project?</a:t>
            </a:r>
            <a:endParaRPr sz="1100">
              <a:latin typeface="Garamond"/>
              <a:cs typeface="Garamond"/>
            </a:endParaRPr>
          </a:p>
          <a:p>
            <a:pPr marL="355600" indent="-228600">
              <a:lnSpc>
                <a:spcPct val="100000"/>
              </a:lnSpc>
              <a:spcBef>
                <a:spcPts val="45"/>
              </a:spcBef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Weighted Average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828164">
              <a:lnSpc>
                <a:spcPts val="965"/>
              </a:lnSpc>
              <a:spcBef>
                <a:spcPts val="1190"/>
              </a:spcBef>
              <a:tabLst>
                <a:tab pos="2404745" algn="l"/>
              </a:tabLst>
            </a:pPr>
            <a:r>
              <a:rPr dirty="0" sz="1000" spc="70">
                <a:latin typeface="Cambria Math"/>
                <a:cs typeface="Cambria Math"/>
              </a:rPr>
              <a:t>E	</a:t>
            </a:r>
            <a:r>
              <a:rPr dirty="0" sz="1000" spc="75">
                <a:latin typeface="Cambria Math"/>
                <a:cs typeface="Cambria Math"/>
              </a:rPr>
              <a:t>D</a:t>
            </a:r>
            <a:endParaRPr sz="1000">
              <a:latin typeface="Cambria Math"/>
              <a:cs typeface="Cambria Math"/>
            </a:endParaRPr>
          </a:p>
          <a:p>
            <a:pPr marL="1270635">
              <a:lnSpc>
                <a:spcPts val="1085"/>
              </a:lnSpc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89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E</a:t>
            </a:r>
            <a:r>
              <a:rPr dirty="0" baseline="-13888" sz="1200" spc="254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13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D</a:t>
            </a:r>
            <a:r>
              <a:rPr dirty="0" baseline="-13888" sz="1200" spc="254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Cambria Math"/>
                <a:cs typeface="Cambria Math"/>
              </a:rPr>
              <a:t>T</a:t>
            </a:r>
            <a:r>
              <a:rPr dirty="0" baseline="-13888" sz="1200">
                <a:latin typeface="Cambria Math"/>
                <a:cs typeface="Cambria Math"/>
              </a:rPr>
              <a:t>C</a:t>
            </a:r>
            <a:r>
              <a:rPr dirty="0" sz="1100">
                <a:latin typeface="Garamond"/>
                <a:cs typeface="Garamond"/>
              </a:rPr>
              <a:t>)</a:t>
            </a:r>
            <a:endParaRPr sz="1100">
              <a:latin typeface="Garamond"/>
              <a:cs typeface="Garamond"/>
            </a:endParaRPr>
          </a:p>
          <a:p>
            <a:pPr marL="1270635">
              <a:lnSpc>
                <a:spcPct val="100000"/>
              </a:lnSpc>
              <a:spcBef>
                <a:spcPts val="1600"/>
              </a:spcBef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0.75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20%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0.25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10%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.34)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1270635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16.65%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355600" indent="-228600">
              <a:lnSpc>
                <a:spcPts val="1270"/>
              </a:lnSpc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NPV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be:</a:t>
            </a:r>
            <a:endParaRPr sz="1100">
              <a:latin typeface="Garamond"/>
              <a:cs typeface="Garamond"/>
            </a:endParaRPr>
          </a:p>
          <a:p>
            <a:pPr marL="2395855">
              <a:lnSpc>
                <a:spcPts val="1150"/>
              </a:lnSpc>
              <a:tabLst>
                <a:tab pos="3845560" algn="l"/>
              </a:tabLst>
            </a:pPr>
            <a:r>
              <a:rPr dirty="0" sz="1000" spc="20">
                <a:latin typeface="Cambria Math"/>
                <a:cs typeface="Cambria Math"/>
              </a:rPr>
              <a:t>12	</a:t>
            </a:r>
            <a:r>
              <a:rPr dirty="0" sz="1000" spc="15">
                <a:latin typeface="Cambria Math"/>
                <a:cs typeface="Cambria Math"/>
              </a:rPr>
              <a:t>12</a:t>
            </a:r>
            <a:endParaRPr sz="1000">
              <a:latin typeface="Cambria Math"/>
              <a:cs typeface="Cambria Math"/>
            </a:endParaRPr>
          </a:p>
          <a:p>
            <a:pPr marL="1270635">
              <a:lnSpc>
                <a:spcPct val="100000"/>
              </a:lnSpc>
              <a:spcBef>
                <a:spcPts val="250"/>
              </a:spcBef>
            </a:pPr>
            <a:r>
              <a:rPr dirty="0" baseline="35353" sz="1650">
                <a:latin typeface="Garamond"/>
                <a:cs typeface="Garamond"/>
              </a:rPr>
              <a:t>NPV</a:t>
            </a:r>
            <a:r>
              <a:rPr dirty="0" baseline="35353" sz="1650" spc="-44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30">
                <a:latin typeface="Garamond"/>
                <a:cs typeface="Garamond"/>
              </a:rPr>
              <a:t> </a:t>
            </a:r>
            <a:r>
              <a:rPr dirty="0" baseline="35353" sz="1650" spc="-7">
                <a:latin typeface="Garamond"/>
                <a:cs typeface="Garamond"/>
              </a:rPr>
              <a:t>-$50</a:t>
            </a:r>
            <a:r>
              <a:rPr dirty="0" baseline="35353" sz="1650" spc="-22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+</a:t>
            </a:r>
            <a:r>
              <a:rPr dirty="0" baseline="35353" sz="1650" spc="-22">
                <a:latin typeface="Garamond"/>
                <a:cs typeface="Garamond"/>
              </a:rPr>
              <a:t> </a:t>
            </a:r>
            <a:r>
              <a:rPr dirty="0" sz="1000" spc="20">
                <a:latin typeface="Cambria Math"/>
                <a:cs typeface="Cambria Math"/>
              </a:rPr>
              <a:t>(1+𝖶𝐴𝐶𝐶)</a:t>
            </a:r>
            <a:r>
              <a:rPr dirty="0" baseline="20833" sz="1200" spc="30">
                <a:latin typeface="Cambria Math"/>
                <a:cs typeface="Cambria Math"/>
              </a:rPr>
              <a:t>1</a:t>
            </a:r>
            <a:r>
              <a:rPr dirty="0" baseline="35353" sz="1650" spc="30">
                <a:latin typeface="Garamond"/>
                <a:cs typeface="Garamond"/>
              </a:rPr>
              <a:t>+</a:t>
            </a:r>
            <a:r>
              <a:rPr dirty="0" baseline="35353" sz="1650" spc="-30">
                <a:latin typeface="Garamond"/>
                <a:cs typeface="Garamond"/>
              </a:rPr>
              <a:t> </a:t>
            </a:r>
            <a:r>
              <a:rPr dirty="0" baseline="35353" sz="1650" spc="22">
                <a:latin typeface="Garamond"/>
                <a:cs typeface="Garamond"/>
              </a:rPr>
              <a:t>……</a:t>
            </a:r>
            <a:r>
              <a:rPr dirty="0" baseline="35353" sz="1650" spc="-44">
                <a:latin typeface="Garamond"/>
                <a:cs typeface="Garamond"/>
              </a:rPr>
              <a:t> </a:t>
            </a:r>
            <a:r>
              <a:rPr dirty="0" baseline="35353" sz="1650" spc="22">
                <a:latin typeface="Garamond"/>
                <a:cs typeface="Garamond"/>
              </a:rPr>
              <a:t>…</a:t>
            </a:r>
            <a:r>
              <a:rPr dirty="0" baseline="35353" sz="1650" spc="-44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+</a:t>
            </a:r>
            <a:r>
              <a:rPr dirty="0" baseline="35353" sz="1650" spc="-15">
                <a:latin typeface="Garamond"/>
                <a:cs typeface="Garamond"/>
              </a:rPr>
              <a:t> </a:t>
            </a:r>
            <a:r>
              <a:rPr dirty="0" sz="1000" spc="15">
                <a:latin typeface="Cambria Math"/>
                <a:cs typeface="Cambria Math"/>
              </a:rPr>
              <a:t>(1+𝖶𝐴𝐶𝐶)</a:t>
            </a:r>
            <a:r>
              <a:rPr dirty="0" baseline="20833" sz="1200" spc="22">
                <a:latin typeface="Cambria Math"/>
                <a:cs typeface="Cambria Math"/>
              </a:rPr>
              <a:t>6</a:t>
            </a:r>
            <a:endParaRPr baseline="20833" sz="1200">
              <a:latin typeface="Cambria Math"/>
              <a:cs typeface="Cambria Math"/>
            </a:endParaRPr>
          </a:p>
          <a:p>
            <a:pPr marL="354965" marR="148590" indent="-228600">
              <a:lnSpc>
                <a:spcPts val="1260"/>
              </a:lnSpc>
              <a:spcBef>
                <a:spcPts val="1330"/>
              </a:spcBef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form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ordinary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annuity,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NPV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16.65%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49144" y="7433817"/>
            <a:ext cx="8382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-$50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95598" y="7287259"/>
            <a:ext cx="19177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1</a:t>
            </a:r>
            <a:r>
              <a:rPr dirty="0" sz="1000" spc="-15">
                <a:latin typeface="Cambria Math"/>
                <a:cs typeface="Cambria Math"/>
              </a:rPr>
              <a:t>−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62196" y="7241539"/>
            <a:ext cx="8572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25">
                <a:latin typeface="Cambria Math"/>
                <a:cs typeface="Cambria Math"/>
              </a:rPr>
              <a:t>1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87622" y="7383525"/>
            <a:ext cx="57086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15">
                <a:latin typeface="Cambria Math"/>
                <a:cs typeface="Cambria Math"/>
              </a:rPr>
              <a:t>(1+0.1665)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31945" y="7351521"/>
            <a:ext cx="8572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25">
                <a:latin typeface="Cambria Math"/>
                <a:cs typeface="Cambria Math"/>
              </a:rPr>
              <a:t>6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600322" y="7386827"/>
            <a:ext cx="608965" cy="9525"/>
          </a:xfrm>
          <a:custGeom>
            <a:avLst/>
            <a:gdLst/>
            <a:ahLst/>
            <a:cxnLst/>
            <a:rect l="l" t="t" r="r" b="b"/>
            <a:pathLst>
              <a:path w="608964" h="9525">
                <a:moveTo>
                  <a:pt x="608380" y="0"/>
                </a:moveTo>
                <a:lnTo>
                  <a:pt x="0" y="0"/>
                </a:lnTo>
                <a:lnTo>
                  <a:pt x="0" y="9144"/>
                </a:lnTo>
                <a:lnTo>
                  <a:pt x="608380" y="9144"/>
                </a:lnTo>
                <a:lnTo>
                  <a:pt x="608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96766" y="7538973"/>
            <a:ext cx="4191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0</a:t>
            </a:r>
            <a:r>
              <a:rPr dirty="0" sz="1000" spc="5">
                <a:latin typeface="Cambria Math"/>
                <a:cs typeface="Cambria Math"/>
              </a:rPr>
              <a:t>.</a:t>
            </a:r>
            <a:r>
              <a:rPr dirty="0" sz="1000" spc="15">
                <a:latin typeface="Cambria Math"/>
                <a:cs typeface="Cambria Math"/>
              </a:rPr>
              <a:t>1665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408298" y="7533385"/>
            <a:ext cx="800735" cy="9525"/>
          </a:xfrm>
          <a:custGeom>
            <a:avLst/>
            <a:gdLst/>
            <a:ahLst/>
            <a:cxnLst/>
            <a:rect l="l" t="t" r="r" b="b"/>
            <a:pathLst>
              <a:path w="800735" h="9525">
                <a:moveTo>
                  <a:pt x="800404" y="0"/>
                </a:moveTo>
                <a:lnTo>
                  <a:pt x="0" y="0"/>
                </a:lnTo>
                <a:lnTo>
                  <a:pt x="0" y="9144"/>
                </a:lnTo>
                <a:lnTo>
                  <a:pt x="800404" y="9144"/>
                </a:lnTo>
                <a:lnTo>
                  <a:pt x="8004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176629" y="7804150"/>
            <a:ext cx="5668645" cy="180593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3849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-$50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12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3.6222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384935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-$6.53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1143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negative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NPV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means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offers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superior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same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class,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so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project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rejected.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EMN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Corporation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7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EMN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77.3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outstanding.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75"/>
              </a:lnSpc>
            </a:pPr>
            <a:r>
              <a:rPr dirty="0" sz="1100">
                <a:latin typeface="Garamond"/>
                <a:cs typeface="Garamond"/>
              </a:rPr>
              <a:t>$17.62,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 actually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sells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$45.41.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625208" y="9744940"/>
            <a:ext cx="2247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z="1100" spc="20">
                <a:latin typeface="Garamond"/>
                <a:cs typeface="Garamond"/>
              </a:rPr>
              <a:t>1</a:t>
            </a:r>
            <a:r>
              <a:rPr dirty="0" sz="1100" spc="-15">
                <a:latin typeface="Garamond"/>
                <a:cs typeface="Garamond"/>
              </a:rPr>
              <a:t>3</a:t>
            </a:r>
            <a:r>
              <a:rPr dirty="0" sz="1100" spc="5">
                <a:latin typeface="Garamond"/>
                <a:cs typeface="Garamond"/>
              </a:rPr>
              <a:t>9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11652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 marR="28575" indent="-228600">
              <a:lnSpc>
                <a:spcPts val="1260"/>
              </a:lnSpc>
              <a:spcBef>
                <a:spcPts val="10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$1.36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billion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closer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$3.51billion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basis.</a:t>
            </a:r>
            <a:endParaRPr sz="1100">
              <a:latin typeface="Garamond"/>
              <a:cs typeface="Garamond"/>
            </a:endParaRPr>
          </a:p>
          <a:p>
            <a:pPr marL="469900" marR="27940" indent="-228600">
              <a:lnSpc>
                <a:spcPts val="1260"/>
              </a:lnSpc>
              <a:spcBef>
                <a:spcPts val="1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EMN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$1.76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dividends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last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analysts estimate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7%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through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next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estimated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growth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model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thus: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549144" y="1816988"/>
            <a:ext cx="11620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5">
                <a:latin typeface="Cambria Math"/>
                <a:cs typeface="Cambria Math"/>
              </a:rPr>
              <a:t>𝑅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36011" y="1885568"/>
            <a:ext cx="9017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10">
                <a:latin typeface="Cambria Math"/>
                <a:cs typeface="Cambria Math"/>
              </a:rPr>
              <a:t>𝐸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20339" y="1675256"/>
            <a:ext cx="14871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3730" sz="2100">
                <a:latin typeface="Garamond"/>
                <a:cs typeface="Garamond"/>
              </a:rPr>
              <a:t>=</a:t>
            </a:r>
            <a:r>
              <a:rPr dirty="0" baseline="-33730" sz="2100" spc="-52">
                <a:latin typeface="Garamond"/>
                <a:cs typeface="Garamond"/>
              </a:rPr>
              <a:t> </a:t>
            </a:r>
            <a:r>
              <a:rPr dirty="0" sz="1000" spc="10">
                <a:latin typeface="Cambria Math"/>
                <a:cs typeface="Cambria Math"/>
              </a:rPr>
              <a:t>$1.76</a:t>
            </a:r>
            <a:r>
              <a:rPr dirty="0" sz="1000" spc="-20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(1+0.07)</a:t>
            </a:r>
            <a:r>
              <a:rPr dirty="0" sz="1000" spc="40">
                <a:latin typeface="Cambria Math"/>
                <a:cs typeface="Cambria Math"/>
              </a:rPr>
              <a:t> </a:t>
            </a:r>
            <a:r>
              <a:rPr dirty="0" baseline="-42929" sz="1650" spc="15">
                <a:latin typeface="Garamond"/>
                <a:cs typeface="Garamond"/>
              </a:rPr>
              <a:t>+</a:t>
            </a:r>
            <a:r>
              <a:rPr dirty="0" baseline="-42929" sz="1650" spc="-37">
                <a:latin typeface="Garamond"/>
                <a:cs typeface="Garamond"/>
              </a:rPr>
              <a:t> </a:t>
            </a:r>
            <a:r>
              <a:rPr dirty="0" baseline="-42929" sz="1650" spc="7">
                <a:latin typeface="Garamond"/>
                <a:cs typeface="Garamond"/>
              </a:rPr>
              <a:t>0.07</a:t>
            </a:r>
            <a:endParaRPr baseline="-42929" sz="165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39185" y="1922144"/>
            <a:ext cx="410209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0">
                <a:latin typeface="Cambria Math"/>
                <a:cs typeface="Cambria Math"/>
              </a:rPr>
              <a:t>$45.41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18714" y="1916556"/>
            <a:ext cx="855344" cy="9525"/>
          </a:xfrm>
          <a:custGeom>
            <a:avLst/>
            <a:gdLst/>
            <a:ahLst/>
            <a:cxnLst/>
            <a:rect l="l" t="t" r="r" b="b"/>
            <a:pathLst>
              <a:path w="855345" h="9525">
                <a:moveTo>
                  <a:pt x="855268" y="0"/>
                </a:moveTo>
                <a:lnTo>
                  <a:pt x="0" y="0"/>
                </a:lnTo>
                <a:lnTo>
                  <a:pt x="0" y="9144"/>
                </a:lnTo>
                <a:lnTo>
                  <a:pt x="855268" y="9144"/>
                </a:lnTo>
                <a:lnTo>
                  <a:pt x="8552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92808" y="2214752"/>
            <a:ext cx="5465445" cy="1019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69035">
              <a:lnSpc>
                <a:spcPct val="100000"/>
              </a:lnSpc>
              <a:spcBef>
                <a:spcPts val="114"/>
              </a:spcBef>
            </a:pPr>
            <a:r>
              <a:rPr dirty="0" sz="1100" spc="-10">
                <a:latin typeface="Cambria Math"/>
                <a:cs typeface="Cambria Math"/>
              </a:rPr>
              <a:t>𝑅</a:t>
            </a:r>
            <a:r>
              <a:rPr dirty="0" baseline="-13888" sz="1200" spc="-15">
                <a:latin typeface="Cambria Math"/>
                <a:cs typeface="Cambria Math"/>
              </a:rPr>
              <a:t>𝐸</a:t>
            </a:r>
            <a:r>
              <a:rPr dirty="0" baseline="-13888" sz="1200" spc="187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0.115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11.5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200">
              <a:latin typeface="Garamond"/>
              <a:cs typeface="Garamond"/>
            </a:endParaRPr>
          </a:p>
          <a:p>
            <a:pPr algn="just" marL="253365" marR="17780" indent="-228600">
              <a:lnSpc>
                <a:spcPct val="94100"/>
              </a:lnSpc>
              <a:buFont typeface="Symbol"/>
              <a:buChar char=""/>
              <a:tabLst>
                <a:tab pos="254000" algn="l"/>
              </a:tabLst>
            </a:pPr>
            <a:r>
              <a:rPr dirty="0" sz="1100" spc="5">
                <a:latin typeface="Garamond"/>
                <a:cs typeface="Garamond"/>
              </a:rPr>
              <a:t>EMN </a:t>
            </a:r>
            <a:r>
              <a:rPr dirty="0" sz="1100" spc="10">
                <a:latin typeface="Garamond"/>
                <a:cs typeface="Garamond"/>
              </a:rPr>
              <a:t>has </a:t>
            </a:r>
            <a:r>
              <a:rPr dirty="0" sz="1100" spc="5">
                <a:latin typeface="Garamond"/>
                <a:cs typeface="Garamond"/>
              </a:rPr>
              <a:t>four </a:t>
            </a:r>
            <a:r>
              <a:rPr dirty="0" sz="1100" spc="-5">
                <a:latin typeface="Garamond"/>
                <a:cs typeface="Garamond"/>
              </a:rPr>
              <a:t>long </a:t>
            </a:r>
            <a:r>
              <a:rPr dirty="0" sz="1100">
                <a:latin typeface="Garamond"/>
                <a:cs typeface="Garamond"/>
              </a:rPr>
              <a:t>term bond </a:t>
            </a:r>
            <a:r>
              <a:rPr dirty="0" sz="1100" spc="-5">
                <a:latin typeface="Garamond"/>
                <a:cs typeface="Garamond"/>
              </a:rPr>
              <a:t>issues that </a:t>
            </a:r>
            <a:r>
              <a:rPr dirty="0" sz="1100">
                <a:latin typeface="Garamond"/>
                <a:cs typeface="Garamond"/>
              </a:rPr>
              <a:t>account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essentially </a:t>
            </a:r>
            <a:r>
              <a:rPr dirty="0" sz="1100" spc="5">
                <a:latin typeface="Garamond"/>
                <a:cs typeface="Garamond"/>
              </a:rPr>
              <a:t>all of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5">
                <a:latin typeface="Garamond"/>
                <a:cs typeface="Garamond"/>
              </a:rPr>
              <a:t>long </a:t>
            </a:r>
            <a:r>
              <a:rPr dirty="0" sz="1100">
                <a:latin typeface="Garamond"/>
                <a:cs typeface="Garamond"/>
              </a:rPr>
              <a:t>term debt.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calculate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cost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debt, </a:t>
            </a:r>
            <a:r>
              <a:rPr dirty="0" sz="1100" spc="-5">
                <a:latin typeface="Garamond"/>
                <a:cs typeface="Garamond"/>
              </a:rPr>
              <a:t>we </a:t>
            </a:r>
            <a:r>
              <a:rPr dirty="0" sz="1100" spc="5">
                <a:latin typeface="Garamond"/>
                <a:cs typeface="Garamond"/>
              </a:rPr>
              <a:t>will have to </a:t>
            </a:r>
            <a:r>
              <a:rPr dirty="0" sz="1100" spc="-5">
                <a:latin typeface="Garamond"/>
                <a:cs typeface="Garamond"/>
              </a:rPr>
              <a:t>combine </a:t>
            </a:r>
            <a:r>
              <a:rPr dirty="0" sz="1100">
                <a:latin typeface="Garamond"/>
                <a:cs typeface="Garamond"/>
              </a:rPr>
              <a:t>these </a:t>
            </a:r>
            <a:r>
              <a:rPr dirty="0" sz="1100" spc="-5">
                <a:latin typeface="Garamond"/>
                <a:cs typeface="Garamond"/>
              </a:rPr>
              <a:t>four issues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>
                <a:latin typeface="Garamond"/>
                <a:cs typeface="Garamond"/>
              </a:rPr>
              <a:t>computing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weighted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average.</a:t>
            </a:r>
            <a:endParaRPr sz="1100">
              <a:latin typeface="Garamond"/>
              <a:cs typeface="Garamond"/>
            </a:endParaRPr>
          </a:p>
          <a:p>
            <a:pPr algn="just" marL="254000" indent="-228600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2540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basic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2005)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follows: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049526" y="3389375"/>
          <a:ext cx="3930015" cy="1083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8340"/>
                <a:gridCol w="725804"/>
                <a:gridCol w="943609"/>
                <a:gridCol w="811530"/>
                <a:gridCol w="746124"/>
              </a:tblGrid>
              <a:tr h="324612">
                <a:tc>
                  <a:txBody>
                    <a:bodyPr/>
                    <a:lstStyle/>
                    <a:p>
                      <a:pPr marL="205104" marR="99695" indent="-100965">
                        <a:lnSpc>
                          <a:spcPts val="1220"/>
                        </a:lnSpc>
                        <a:spcBef>
                          <a:spcPts val="1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Coup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 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Rate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Maturity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604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04139" marR="90805" indent="22860">
                        <a:lnSpc>
                          <a:spcPts val="1220"/>
                        </a:lnSpc>
                        <a:spcBef>
                          <a:spcPts val="1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Book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Value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6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106680" indent="146050">
                        <a:lnSpc>
                          <a:spcPts val="1220"/>
                        </a:lnSpc>
                        <a:spcBef>
                          <a:spcPts val="1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Price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(%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par)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09855" indent="27305">
                        <a:lnSpc>
                          <a:spcPts val="1220"/>
                        </a:lnSpc>
                        <a:spcBef>
                          <a:spcPts val="15"/>
                        </a:spcBef>
                      </a:pPr>
                      <a:r>
                        <a:rPr dirty="0" sz="1100" spc="-15" b="1">
                          <a:latin typeface="Garamond"/>
                          <a:cs typeface="Garamond"/>
                        </a:rPr>
                        <a:t>Y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  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8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6.375%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$496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102.375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4.857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7.25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496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102.007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7.067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7.625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2027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113.045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6.502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3298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297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0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101.000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7.509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405508" y="4611750"/>
            <a:ext cx="5444490" cy="68961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0665" marR="508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weighted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debt,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represented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</a:t>
            </a:r>
            <a:endParaRPr sz="1100">
              <a:latin typeface="Garamond"/>
              <a:cs typeface="Garamond"/>
            </a:endParaRPr>
          </a:p>
          <a:p>
            <a:pPr marL="240665" marR="1079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overall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weighted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comparison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purpose,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>
                <a:latin typeface="Garamond"/>
                <a:cs typeface="Garamond"/>
              </a:rPr>
              <a:t> 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values.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21333" y="5456808"/>
          <a:ext cx="5942965" cy="1175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735"/>
                <a:gridCol w="838200"/>
                <a:gridCol w="1079500"/>
                <a:gridCol w="863600"/>
                <a:gridCol w="715645"/>
                <a:gridCol w="709295"/>
                <a:gridCol w="603885"/>
                <a:gridCol w="567054"/>
              </a:tblGrid>
              <a:tr h="172461">
                <a:tc rowSpan="2">
                  <a:txBody>
                    <a:bodyPr/>
                    <a:lstStyle/>
                    <a:p>
                      <a:pPr marL="146050" marR="17145" indent="-100965">
                        <a:lnSpc>
                          <a:spcPts val="1260"/>
                        </a:lnSpc>
                        <a:spcBef>
                          <a:spcPts val="5"/>
                        </a:spcBef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Coup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o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n 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Rate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  <a:tabLst>
                          <a:tab pos="431800" algn="l"/>
                          <a:tab pos="1909445" algn="l"/>
                        </a:tabLst>
                      </a:pP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Book</a:t>
                      </a:r>
                      <a:r>
                        <a:rPr dirty="0" u="sng" sz="1100" spc="-4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Value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347980">
                        <a:lnSpc>
                          <a:spcPts val="1260"/>
                        </a:lnSpc>
                        <a:tabLst>
                          <a:tab pos="1527810" algn="l"/>
                        </a:tabLst>
                      </a:pPr>
                      <a:r>
                        <a:rPr dirty="0" u="sng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Market</a:t>
                      </a:r>
                      <a:r>
                        <a:rPr dirty="0" u="sng" sz="1100" spc="-5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 spc="5" b="1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Value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>
                  <a:txBody>
                    <a:bodyPr/>
                    <a:lstStyle/>
                    <a:p>
                      <a:pPr marL="89535" marR="93980" indent="27305">
                        <a:lnSpc>
                          <a:spcPts val="1260"/>
                        </a:lnSpc>
                        <a:spcBef>
                          <a:spcPts val="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Yield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to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1600" marR="88900" indent="45720">
                        <a:lnSpc>
                          <a:spcPts val="1260"/>
                        </a:lnSpc>
                        <a:spcBef>
                          <a:spcPts val="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Book </a:t>
                      </a:r>
                      <a:r>
                        <a:rPr dirty="0" sz="1100" spc="-26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V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l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u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9855" marR="30480" indent="-13970">
                        <a:lnSpc>
                          <a:spcPts val="1260"/>
                        </a:lnSpc>
                        <a:spcBef>
                          <a:spcPts val="5"/>
                        </a:spcBef>
                      </a:pPr>
                      <a:r>
                        <a:rPr dirty="0" sz="1100" spc="-2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k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e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t 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Values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129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ts val="117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50520">
                        <a:lnSpc>
                          <a:spcPts val="117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%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ts val="117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(in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millions)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0480">
                        <a:lnSpc>
                          <a:spcPts val="117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%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5793">
                <a:tc>
                  <a:txBody>
                    <a:bodyPr/>
                    <a:lstStyle/>
                    <a:p>
                      <a:pPr algn="ctr" marL="24765">
                        <a:lnSpc>
                          <a:spcPts val="120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6.375%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90525">
                        <a:lnSpc>
                          <a:spcPts val="120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$496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354965">
                        <a:lnSpc>
                          <a:spcPts val="120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2860">
                        <a:lnSpc>
                          <a:spcPts val="120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$507.8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36195">
                        <a:lnSpc>
                          <a:spcPts val="120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4.857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20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1.62%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1594">
                        <a:lnSpc>
                          <a:spcPts val="120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1.60%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210">
                <a:tc>
                  <a:txBody>
                    <a:bodyPr/>
                    <a:lstStyle/>
                    <a:p>
                      <a:pPr algn="ctr" marL="22225">
                        <a:lnSpc>
                          <a:spcPts val="116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7.25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22909">
                        <a:lnSpc>
                          <a:spcPts val="116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496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54965">
                        <a:lnSpc>
                          <a:spcPts val="116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6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506.0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6195">
                        <a:lnSpc>
                          <a:spcPts val="116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7.067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6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2.35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7785">
                        <a:lnSpc>
                          <a:spcPts val="116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2.32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2306">
                <a:tc>
                  <a:txBody>
                    <a:bodyPr/>
                    <a:lstStyle/>
                    <a:p>
                      <a:pPr algn="ctr" marL="22860">
                        <a:lnSpc>
                          <a:spcPts val="11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7.625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22909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54965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1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226.1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6195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6.502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0.87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7785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0.95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9163">
                <a:tc>
                  <a:txBody>
                    <a:bodyPr/>
                    <a:lstStyle/>
                    <a:p>
                      <a:pPr algn="ctr" marL="22225">
                        <a:lnSpc>
                          <a:spcPts val="12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7.60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22909">
                        <a:lnSpc>
                          <a:spcPts val="12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297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54965">
                        <a:lnSpc>
                          <a:spcPts val="12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2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300.0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36195">
                        <a:lnSpc>
                          <a:spcPts val="12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0.19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7.509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7785">
                        <a:lnSpc>
                          <a:spcPts val="12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1.46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5010">
                <a:tc>
                  <a:txBody>
                    <a:bodyPr/>
                    <a:lstStyle/>
                    <a:p>
                      <a:pPr algn="ctr" marL="20320">
                        <a:lnSpc>
                          <a:spcPts val="124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0810">
                        <a:lnSpc>
                          <a:spcPts val="12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$1,489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51155">
                        <a:lnSpc>
                          <a:spcPts val="12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ts val="124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$1,539.8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1750">
                        <a:lnSpc>
                          <a:spcPts val="12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1.00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ts val="12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6.34%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ts val="12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6.34%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3119882" y="9403969"/>
            <a:ext cx="86995" cy="9525"/>
          </a:xfrm>
          <a:custGeom>
            <a:avLst/>
            <a:gdLst/>
            <a:ahLst/>
            <a:cxnLst/>
            <a:rect l="l" t="t" r="r" b="b"/>
            <a:pathLst>
              <a:path w="86994" h="9525">
                <a:moveTo>
                  <a:pt x="86868" y="0"/>
                </a:moveTo>
                <a:lnTo>
                  <a:pt x="0" y="0"/>
                </a:lnTo>
                <a:lnTo>
                  <a:pt x="0" y="9143"/>
                </a:lnTo>
                <a:lnTo>
                  <a:pt x="86868" y="9143"/>
                </a:lnTo>
                <a:lnTo>
                  <a:pt x="86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96334" y="9403969"/>
            <a:ext cx="91440" cy="9525"/>
          </a:xfrm>
          <a:custGeom>
            <a:avLst/>
            <a:gdLst/>
            <a:ahLst/>
            <a:cxnLst/>
            <a:rect l="l" t="t" r="r" b="b"/>
            <a:pathLst>
              <a:path w="91439" h="9525">
                <a:moveTo>
                  <a:pt x="91439" y="0"/>
                </a:moveTo>
                <a:lnTo>
                  <a:pt x="0" y="0"/>
                </a:lnTo>
                <a:lnTo>
                  <a:pt x="0" y="9143"/>
                </a:lnTo>
                <a:lnTo>
                  <a:pt x="91439" y="9143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392808" y="6770623"/>
            <a:ext cx="5464175" cy="272986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53365" marR="1778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 spc="5">
                <a:latin typeface="Garamond"/>
                <a:cs typeface="Garamond"/>
              </a:rPr>
              <a:t>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these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calculations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EMN,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whether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used,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remains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6.34%.</a:t>
            </a:r>
            <a:endParaRPr sz="1100">
              <a:latin typeface="Garamond"/>
              <a:cs typeface="Garamond"/>
            </a:endParaRPr>
          </a:p>
          <a:p>
            <a:pPr marL="254000" indent="-228600">
              <a:lnSpc>
                <a:spcPts val="1290"/>
              </a:lnSpc>
              <a:spcBef>
                <a:spcPts val="15"/>
              </a:spcBef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because:</a:t>
            </a:r>
            <a:endParaRPr sz="1100">
              <a:latin typeface="Garamond"/>
              <a:cs typeface="Garamond"/>
            </a:endParaRPr>
          </a:p>
          <a:p>
            <a:pPr lvl="1" marL="482600" indent="-229870">
              <a:lnSpc>
                <a:spcPts val="1260"/>
              </a:lnSpc>
              <a:buFont typeface="Courier New"/>
              <a:buChar char="o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</a:t>
            </a:r>
            <a:endParaRPr sz="1100">
              <a:latin typeface="Garamond"/>
              <a:cs typeface="Garamond"/>
            </a:endParaRPr>
          </a:p>
          <a:p>
            <a:pPr lvl="1" marL="482600" indent="-229870">
              <a:lnSpc>
                <a:spcPts val="1290"/>
              </a:lnSpc>
              <a:buFont typeface="Courier New"/>
              <a:buChar char="o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EMN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endParaRPr sz="1100">
              <a:latin typeface="Garamond"/>
              <a:cs typeface="Garamond"/>
            </a:endParaRPr>
          </a:p>
          <a:p>
            <a:pPr marL="254000" indent="-228600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WACC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EMN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basis,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information:</a:t>
            </a:r>
            <a:endParaRPr sz="1100">
              <a:latin typeface="Garamond"/>
              <a:cs typeface="Garamond"/>
            </a:endParaRPr>
          </a:p>
          <a:p>
            <a:pPr lvl="1" marL="482600" indent="-229870">
              <a:lnSpc>
                <a:spcPts val="1240"/>
              </a:lnSpc>
              <a:buFont typeface="Courier New"/>
              <a:buChar char="o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EMN’s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$1.362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billion</a:t>
            </a:r>
            <a:endParaRPr sz="1100">
              <a:latin typeface="Garamond"/>
              <a:cs typeface="Garamond"/>
            </a:endParaRPr>
          </a:p>
          <a:p>
            <a:pPr lvl="1" marL="482600" indent="-229870">
              <a:lnSpc>
                <a:spcPts val="1225"/>
              </a:lnSpc>
              <a:buFont typeface="Courier New"/>
              <a:buChar char="o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EMN’s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$1.489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billion</a:t>
            </a:r>
            <a:endParaRPr sz="1100">
              <a:latin typeface="Garamond"/>
              <a:cs typeface="Garamond"/>
            </a:endParaRPr>
          </a:p>
          <a:p>
            <a:pPr lvl="1" marL="482600" indent="-229870">
              <a:lnSpc>
                <a:spcPts val="1275"/>
              </a:lnSpc>
              <a:buFont typeface="Courier New"/>
              <a:buChar char="o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$2.851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billion</a:t>
            </a:r>
            <a:endParaRPr sz="1100">
              <a:latin typeface="Garamond"/>
              <a:cs typeface="Garamond"/>
            </a:endParaRPr>
          </a:p>
          <a:p>
            <a:pPr marL="254000" indent="-228600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endParaRPr sz="1100">
              <a:latin typeface="Garamond"/>
              <a:cs typeface="Garamond"/>
            </a:endParaRPr>
          </a:p>
          <a:p>
            <a:pPr marL="253365">
              <a:lnSpc>
                <a:spcPts val="1240"/>
              </a:lnSpc>
              <a:tabLst>
                <a:tab pos="4826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 spc="5">
                <a:latin typeface="Garamond"/>
                <a:cs typeface="Garamond"/>
              </a:rPr>
              <a:t>E/V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$1.362b/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2.851b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0.48,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marL="253365">
              <a:lnSpc>
                <a:spcPts val="1270"/>
              </a:lnSpc>
              <a:tabLst>
                <a:tab pos="4826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 spc="15">
                <a:latin typeface="Garamond"/>
                <a:cs typeface="Garamond"/>
              </a:rPr>
              <a:t>D/V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$1.489b/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2.851b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0.52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54000" indent="-228600">
              <a:lnSpc>
                <a:spcPct val="100000"/>
              </a:lnSpc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>
                <a:latin typeface="Garamond"/>
                <a:cs typeface="Garamond"/>
              </a:rPr>
              <a:t>Assuming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34%,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EMN’s </a:t>
            </a:r>
            <a:r>
              <a:rPr dirty="0" sz="1100" spc="-5">
                <a:latin typeface="Garamond"/>
                <a:cs typeface="Garamond"/>
              </a:rPr>
              <a:t>WACC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726564">
              <a:lnSpc>
                <a:spcPts val="965"/>
              </a:lnSpc>
              <a:spcBef>
                <a:spcPts val="1155"/>
              </a:spcBef>
              <a:tabLst>
                <a:tab pos="2303145" algn="l"/>
              </a:tabLst>
            </a:pPr>
            <a:r>
              <a:rPr dirty="0" sz="1000" spc="70">
                <a:latin typeface="Cambria Math"/>
                <a:cs typeface="Cambria Math"/>
              </a:rPr>
              <a:t>E	</a:t>
            </a:r>
            <a:r>
              <a:rPr dirty="0" sz="1000" spc="75">
                <a:latin typeface="Cambria Math"/>
                <a:cs typeface="Cambria Math"/>
              </a:rPr>
              <a:t>D</a:t>
            </a:r>
            <a:endParaRPr sz="1000">
              <a:latin typeface="Cambria Math"/>
              <a:cs typeface="Cambria Math"/>
            </a:endParaRPr>
          </a:p>
          <a:p>
            <a:pPr marL="1169035">
              <a:lnSpc>
                <a:spcPts val="1085"/>
              </a:lnSpc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89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E</a:t>
            </a:r>
            <a:r>
              <a:rPr dirty="0" baseline="-13888" sz="1200" spc="254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13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D</a:t>
            </a:r>
            <a:r>
              <a:rPr dirty="0" baseline="-13888" sz="1200" spc="254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Cambria Math"/>
                <a:cs typeface="Cambria Math"/>
              </a:rPr>
              <a:t>T</a:t>
            </a:r>
            <a:r>
              <a:rPr dirty="0" baseline="-13888" sz="1200">
                <a:latin typeface="Cambria Math"/>
                <a:cs typeface="Cambria Math"/>
              </a:rPr>
              <a:t>C</a:t>
            </a:r>
            <a:r>
              <a:rPr dirty="0" sz="1100">
                <a:latin typeface="Garamond"/>
                <a:cs typeface="Garamond"/>
              </a:rPr>
              <a:t>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140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19882" y="3009645"/>
            <a:ext cx="86995" cy="9525"/>
          </a:xfrm>
          <a:custGeom>
            <a:avLst/>
            <a:gdLst/>
            <a:ahLst/>
            <a:cxnLst/>
            <a:rect l="l" t="t" r="r" b="b"/>
            <a:pathLst>
              <a:path w="86994" h="9525">
                <a:moveTo>
                  <a:pt x="86868" y="0"/>
                </a:moveTo>
                <a:lnTo>
                  <a:pt x="0" y="0"/>
                </a:lnTo>
                <a:lnTo>
                  <a:pt x="0" y="9144"/>
                </a:lnTo>
                <a:lnTo>
                  <a:pt x="86868" y="9144"/>
                </a:lnTo>
                <a:lnTo>
                  <a:pt x="86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696334" y="3009645"/>
            <a:ext cx="91440" cy="9525"/>
          </a:xfrm>
          <a:custGeom>
            <a:avLst/>
            <a:gdLst/>
            <a:ahLst/>
            <a:cxnLst/>
            <a:rect l="l" t="t" r="r" b="b"/>
            <a:pathLst>
              <a:path w="91439" h="9525">
                <a:moveTo>
                  <a:pt x="91439" y="0"/>
                </a:moveTo>
                <a:lnTo>
                  <a:pt x="0" y="0"/>
                </a:lnTo>
                <a:lnTo>
                  <a:pt x="0" y="9144"/>
                </a:lnTo>
                <a:lnTo>
                  <a:pt x="91439" y="9144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38529" y="714501"/>
            <a:ext cx="5743575" cy="45732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423035">
              <a:lnSpc>
                <a:spcPts val="127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0.48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11.15%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0.52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6.34%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5">
                <a:latin typeface="Garamond"/>
                <a:cs typeface="Garamond"/>
              </a:rPr>
              <a:t> -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0.34)</a:t>
            </a:r>
            <a:endParaRPr sz="1100">
              <a:latin typeface="Garamond"/>
              <a:cs typeface="Garamond"/>
            </a:endParaRPr>
          </a:p>
          <a:p>
            <a:pPr marL="1423035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7.53%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08000" marR="43180" indent="-228600">
              <a:lnSpc>
                <a:spcPts val="1260"/>
              </a:lnSpc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calculate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EMN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basis,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following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information</a:t>
            </a:r>
            <a:endParaRPr sz="1100">
              <a:latin typeface="Garamond"/>
              <a:cs typeface="Garamond"/>
            </a:endParaRPr>
          </a:p>
          <a:p>
            <a:pPr lvl="1" marL="737235" indent="-229870">
              <a:lnSpc>
                <a:spcPts val="1165"/>
              </a:lnSpc>
              <a:buFont typeface="Courier New"/>
              <a:buChar char="o"/>
              <a:tabLst>
                <a:tab pos="736600" algn="l"/>
                <a:tab pos="737870" algn="l"/>
              </a:tabLst>
            </a:pPr>
            <a:r>
              <a:rPr dirty="0" sz="1100" spc="5">
                <a:latin typeface="Garamond"/>
                <a:cs typeface="Garamond"/>
              </a:rPr>
              <a:t>EMN’s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$3.510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billion</a:t>
            </a:r>
            <a:endParaRPr sz="1100">
              <a:latin typeface="Garamond"/>
              <a:cs typeface="Garamond"/>
            </a:endParaRPr>
          </a:p>
          <a:p>
            <a:pPr lvl="1" marL="737235" indent="-229870">
              <a:lnSpc>
                <a:spcPts val="1245"/>
              </a:lnSpc>
              <a:buFont typeface="Courier New"/>
              <a:buChar char="o"/>
              <a:tabLst>
                <a:tab pos="736600" algn="l"/>
                <a:tab pos="737870" algn="l"/>
              </a:tabLst>
            </a:pPr>
            <a:r>
              <a:rPr dirty="0" sz="1100" spc="5">
                <a:latin typeface="Garamond"/>
                <a:cs typeface="Garamond"/>
              </a:rPr>
              <a:t>EMN’s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$1.540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billion</a:t>
            </a:r>
            <a:endParaRPr sz="1100">
              <a:latin typeface="Garamond"/>
              <a:cs typeface="Garamond"/>
            </a:endParaRPr>
          </a:p>
          <a:p>
            <a:pPr lvl="1" marL="737235" indent="-229870">
              <a:lnSpc>
                <a:spcPts val="1270"/>
              </a:lnSpc>
              <a:buFont typeface="Courier New"/>
              <a:buChar char="o"/>
              <a:tabLst>
                <a:tab pos="736600" algn="l"/>
                <a:tab pos="737870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$5.050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billion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endParaRPr sz="1100">
              <a:latin typeface="Garamond"/>
              <a:cs typeface="Garamond"/>
            </a:endParaRPr>
          </a:p>
          <a:p>
            <a:pPr marL="508000">
              <a:lnSpc>
                <a:spcPts val="1245"/>
              </a:lnSpc>
              <a:tabLst>
                <a:tab pos="7366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 spc="5">
                <a:latin typeface="Garamond"/>
                <a:cs typeface="Garamond"/>
              </a:rPr>
              <a:t>E/V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3.510b/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5.050b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0.70,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marL="508000">
              <a:lnSpc>
                <a:spcPts val="1275"/>
              </a:lnSpc>
              <a:tabLst>
                <a:tab pos="7366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 spc="15">
                <a:latin typeface="Garamond"/>
                <a:cs typeface="Garamond"/>
              </a:rPr>
              <a:t>D/V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1.540b/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5.050b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0.30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Assuming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34%,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EMN’s </a:t>
            </a:r>
            <a:r>
              <a:rPr dirty="0" sz="1100" spc="-5">
                <a:latin typeface="Garamond"/>
                <a:cs typeface="Garamond"/>
              </a:rPr>
              <a:t>WACC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algn="ctr" marR="1101725">
              <a:lnSpc>
                <a:spcPts val="965"/>
              </a:lnSpc>
              <a:spcBef>
                <a:spcPts val="1155"/>
              </a:spcBef>
              <a:tabLst>
                <a:tab pos="575945" algn="l"/>
              </a:tabLst>
            </a:pPr>
            <a:r>
              <a:rPr dirty="0" sz="1000" spc="70">
                <a:latin typeface="Cambria Math"/>
                <a:cs typeface="Cambria Math"/>
              </a:rPr>
              <a:t>E	</a:t>
            </a:r>
            <a:r>
              <a:rPr dirty="0" sz="1000" spc="75">
                <a:latin typeface="Cambria Math"/>
                <a:cs typeface="Cambria Math"/>
              </a:rPr>
              <a:t>D</a:t>
            </a:r>
            <a:endParaRPr sz="1000">
              <a:latin typeface="Cambria Math"/>
              <a:cs typeface="Cambria Math"/>
            </a:endParaRPr>
          </a:p>
          <a:p>
            <a:pPr marL="1423035">
              <a:lnSpc>
                <a:spcPts val="1085"/>
              </a:lnSpc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89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E</a:t>
            </a:r>
            <a:r>
              <a:rPr dirty="0" baseline="-13888" sz="1200" spc="254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13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D</a:t>
            </a:r>
            <a:r>
              <a:rPr dirty="0" baseline="-13888" sz="1200" spc="254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Cambria Math"/>
                <a:cs typeface="Cambria Math"/>
              </a:rPr>
              <a:t>T</a:t>
            </a:r>
            <a:r>
              <a:rPr dirty="0" baseline="-13888" sz="1200">
                <a:latin typeface="Cambria Math"/>
                <a:cs typeface="Cambria Math"/>
              </a:rPr>
              <a:t>C</a:t>
            </a:r>
            <a:r>
              <a:rPr dirty="0" sz="1100">
                <a:latin typeface="Garamond"/>
                <a:cs typeface="Garamond"/>
              </a:rPr>
              <a:t>)</a:t>
            </a:r>
            <a:endParaRPr sz="1100">
              <a:latin typeface="Garamond"/>
              <a:cs typeface="Garamond"/>
            </a:endParaRPr>
          </a:p>
          <a:p>
            <a:pPr marL="1423035">
              <a:lnSpc>
                <a:spcPts val="1270"/>
              </a:lnSpc>
              <a:spcBef>
                <a:spcPts val="375"/>
              </a:spcBef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0.70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11.15%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0.30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6.34%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5">
                <a:latin typeface="Garamond"/>
                <a:cs typeface="Garamond"/>
              </a:rPr>
              <a:t> -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0.34)</a:t>
            </a:r>
            <a:endParaRPr sz="1100">
              <a:latin typeface="Garamond"/>
              <a:cs typeface="Garamond"/>
            </a:endParaRPr>
          </a:p>
          <a:p>
            <a:pPr marL="1423035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9.06%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08000" marR="48895" indent="-228600">
              <a:lnSpc>
                <a:spcPts val="1260"/>
              </a:lnSpc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Thus,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weights,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9.06%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EMN’s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WACC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7.53%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WACC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 </a:t>
            </a:r>
            <a:r>
              <a:rPr dirty="0" sz="1100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lead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trouble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particularly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used.</a:t>
            </a:r>
            <a:endParaRPr sz="1100">
              <a:latin typeface="Garamond"/>
              <a:cs typeface="Garamond"/>
            </a:endParaRPr>
          </a:p>
          <a:p>
            <a:pPr marL="508000" marR="41275" indent="-228600">
              <a:lnSpc>
                <a:spcPts val="1260"/>
              </a:lnSpc>
              <a:spcBef>
                <a:spcPts val="180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EMN’s </a:t>
            </a:r>
            <a:r>
              <a:rPr dirty="0" sz="1100" spc="-5">
                <a:latin typeface="Garamond"/>
                <a:cs typeface="Garamond"/>
              </a:rPr>
              <a:t>market-to-book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2.6,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significantly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overstate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EMN’s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Summary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 Cost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508000" indent="-229235">
              <a:lnSpc>
                <a:spcPts val="1290"/>
              </a:lnSpc>
              <a:spcBef>
                <a:spcPts val="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Equity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baseline="-8547" sz="975" spc="15">
                <a:latin typeface="Garamond"/>
                <a:cs typeface="Garamond"/>
              </a:rPr>
              <a:t>E</a:t>
            </a:r>
            <a:endParaRPr baseline="-8547" sz="975">
              <a:latin typeface="Garamond"/>
              <a:cs typeface="Garamond"/>
            </a:endParaRPr>
          </a:p>
          <a:p>
            <a:pPr marL="737235">
              <a:lnSpc>
                <a:spcPts val="1290"/>
              </a:lnSpc>
              <a:tabLst>
                <a:tab pos="9652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>
                <a:latin typeface="Garamond"/>
                <a:cs typeface="Garamond"/>
              </a:rPr>
              <a:t>Dividend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model</a:t>
            </a:r>
            <a:r>
              <a:rPr dirty="0" sz="1100">
                <a:latin typeface="Garamond"/>
                <a:cs typeface="Garamond"/>
              </a:rPr>
              <a:t> gives: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6011" y="5562980"/>
            <a:ext cx="90170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10">
                <a:latin typeface="Cambria Math"/>
                <a:cs typeface="Cambria Math"/>
              </a:rPr>
              <a:t>𝐸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53182" y="5599557"/>
            <a:ext cx="208279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-10">
                <a:latin typeface="Cambria Math"/>
                <a:cs typeface="Cambria Math"/>
              </a:rPr>
              <a:t>𝑃</a:t>
            </a:r>
            <a:r>
              <a:rPr dirty="0" baseline="-13888" sz="1200" spc="-15">
                <a:latin typeface="Cambria Math"/>
                <a:cs typeface="Cambria Math"/>
              </a:rPr>
              <a:t>𝑜</a:t>
            </a:r>
            <a:endParaRPr baseline="-13888" sz="12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23744" y="5494400"/>
            <a:ext cx="78041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Cambria Math"/>
                <a:cs typeface="Cambria Math"/>
              </a:rPr>
              <a:t>𝑅  </a:t>
            </a:r>
            <a:r>
              <a:rPr dirty="0" sz="1100" spc="50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u="sng" baseline="47222" sz="1500" spc="-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𝐷</a:t>
            </a:r>
            <a:r>
              <a:rPr dirty="0" u="sng" baseline="41666" sz="1200" spc="-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baseline="41666" sz="1200" spc="240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4708" y="5732144"/>
            <a:ext cx="5547995" cy="231838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91465" marR="60325">
              <a:lnSpc>
                <a:spcPts val="1230"/>
              </a:lnSpc>
              <a:spcBef>
                <a:spcPts val="229"/>
              </a:spcBef>
            </a:pP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baseline="-8547" sz="975" spc="15">
                <a:latin typeface="Garamond"/>
                <a:cs typeface="Garamond"/>
              </a:rPr>
              <a:t>1</a:t>
            </a:r>
            <a:r>
              <a:rPr dirty="0" baseline="-8547" sz="975" spc="52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30">
                <a:latin typeface="Garamond"/>
                <a:cs typeface="Garamond"/>
              </a:rPr>
              <a:t>P</a:t>
            </a:r>
            <a:r>
              <a:rPr dirty="0" baseline="-8547" sz="975" spc="44">
                <a:latin typeface="Garamond"/>
                <a:cs typeface="Garamond"/>
              </a:rPr>
              <a:t>0</a:t>
            </a:r>
            <a:r>
              <a:rPr dirty="0" baseline="-8547" sz="975" spc="307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 price.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Garamond"/>
              <a:cs typeface="Garamond"/>
            </a:endParaRPr>
          </a:p>
          <a:p>
            <a:pPr marL="292100" indent="-228600">
              <a:lnSpc>
                <a:spcPts val="1290"/>
              </a:lnSpc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debt,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R</a:t>
            </a:r>
            <a:r>
              <a:rPr dirty="0" baseline="-8547" sz="975" spc="22">
                <a:latin typeface="Garamond"/>
                <a:cs typeface="Garamond"/>
              </a:rPr>
              <a:t>D</a:t>
            </a:r>
            <a:endParaRPr baseline="-8547" sz="975">
              <a:latin typeface="Garamond"/>
              <a:cs typeface="Garamond"/>
            </a:endParaRPr>
          </a:p>
          <a:p>
            <a:pPr lvl="1" marL="749300" marR="68580" indent="-228600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749300" algn="l"/>
                <a:tab pos="749935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publicly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held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debt,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measured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yield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maturity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outstanding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coupon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irrelevant.</a:t>
            </a:r>
            <a:endParaRPr sz="1100">
              <a:latin typeface="Garamond"/>
              <a:cs typeface="Garamond"/>
            </a:endParaRPr>
          </a:p>
          <a:p>
            <a:pPr lvl="1" marL="749300" marR="68580" indent="-228600">
              <a:lnSpc>
                <a:spcPts val="1220"/>
              </a:lnSpc>
              <a:spcBef>
                <a:spcPts val="45"/>
              </a:spcBef>
              <a:buFont typeface="Courier New"/>
              <a:buChar char="o"/>
              <a:tabLst>
                <a:tab pos="749300" algn="l"/>
                <a:tab pos="749935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publicly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traded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yield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maturity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similarly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rated bonds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Courier New"/>
              <a:buChar char="o"/>
            </a:pPr>
            <a:endParaRPr sz="1100">
              <a:latin typeface="Garamond"/>
              <a:cs typeface="Garamond"/>
            </a:endParaRPr>
          </a:p>
          <a:p>
            <a:pPr marL="292100" indent="-228600">
              <a:lnSpc>
                <a:spcPts val="1290"/>
              </a:lnSpc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Weighted Average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WACC</a:t>
            </a:r>
            <a:endParaRPr sz="1100">
              <a:latin typeface="Garamond"/>
              <a:cs typeface="Garamond"/>
            </a:endParaRPr>
          </a:p>
          <a:p>
            <a:pPr lvl="1" marL="749300" marR="62865" indent="-228600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749300" algn="l"/>
                <a:tab pos="7499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WACC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overall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whole.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appropriate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similar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spcBef>
                <a:spcPts val="30"/>
              </a:spcBef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Weighted Average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WACC</a:t>
            </a:r>
            <a:endParaRPr sz="1100">
              <a:latin typeface="Garamond"/>
              <a:cs typeface="Garamond"/>
            </a:endParaRPr>
          </a:p>
          <a:p>
            <a:pPr marL="2921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91465" algn="l"/>
                <a:tab pos="292100" algn="l"/>
              </a:tabLst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19882" y="8356727"/>
            <a:ext cx="86995" cy="9525"/>
          </a:xfrm>
          <a:custGeom>
            <a:avLst/>
            <a:gdLst/>
            <a:ahLst/>
            <a:cxnLst/>
            <a:rect l="l" t="t" r="r" b="b"/>
            <a:pathLst>
              <a:path w="86994" h="9525">
                <a:moveTo>
                  <a:pt x="86868" y="0"/>
                </a:moveTo>
                <a:lnTo>
                  <a:pt x="0" y="0"/>
                </a:lnTo>
                <a:lnTo>
                  <a:pt x="0" y="9143"/>
                </a:lnTo>
                <a:lnTo>
                  <a:pt x="86868" y="9143"/>
                </a:lnTo>
                <a:lnTo>
                  <a:pt x="86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14622" y="8356727"/>
            <a:ext cx="96520" cy="9525"/>
          </a:xfrm>
          <a:custGeom>
            <a:avLst/>
            <a:gdLst/>
            <a:ahLst/>
            <a:cxnLst/>
            <a:rect l="l" t="t" r="r" b="b"/>
            <a:pathLst>
              <a:path w="96520" h="9525">
                <a:moveTo>
                  <a:pt x="96012" y="0"/>
                </a:moveTo>
                <a:lnTo>
                  <a:pt x="0" y="0"/>
                </a:lnTo>
                <a:lnTo>
                  <a:pt x="0" y="9143"/>
                </a:lnTo>
                <a:lnTo>
                  <a:pt x="96012" y="9143"/>
                </a:lnTo>
                <a:lnTo>
                  <a:pt x="960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511044" y="8165718"/>
            <a:ext cx="3263265" cy="1289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8330">
              <a:lnSpc>
                <a:spcPts val="965"/>
              </a:lnSpc>
              <a:spcBef>
                <a:spcPts val="105"/>
              </a:spcBef>
              <a:tabLst>
                <a:tab pos="1203325" algn="l"/>
              </a:tabLst>
            </a:pPr>
            <a:r>
              <a:rPr dirty="0" sz="1000" spc="15">
                <a:latin typeface="Cambria Math"/>
                <a:cs typeface="Cambria Math"/>
              </a:rPr>
              <a:t>𝐸	</a:t>
            </a:r>
            <a:r>
              <a:rPr dirty="0" sz="1000" spc="25">
                <a:latin typeface="Cambria Math"/>
                <a:cs typeface="Cambria Math"/>
              </a:rPr>
              <a:t>𝐷</a:t>
            </a:r>
            <a:endParaRPr sz="1000">
              <a:latin typeface="Cambria Math"/>
              <a:cs typeface="Cambria Math"/>
            </a:endParaRPr>
          </a:p>
          <a:p>
            <a:pPr marL="50800">
              <a:lnSpc>
                <a:spcPts val="1085"/>
              </a:lnSpc>
            </a:pPr>
            <a:r>
              <a:rPr dirty="0" sz="1100" spc="-10">
                <a:latin typeface="Garamond"/>
                <a:cs typeface="Garamond"/>
              </a:rPr>
              <a:t>W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C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baseline="-38888" sz="1500" spc="75">
                <a:latin typeface="Cambria Math"/>
                <a:cs typeface="Cambria Math"/>
              </a:rPr>
              <a:t>𝑉</a:t>
            </a:r>
            <a:r>
              <a:rPr dirty="0" baseline="-38888" sz="1500">
                <a:latin typeface="Cambria Math"/>
                <a:cs typeface="Cambria Math"/>
              </a:rPr>
              <a:t> </a:t>
            </a:r>
            <a:r>
              <a:rPr dirty="0" baseline="-38888" sz="1500" spc="-8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Cambria Math"/>
                <a:cs typeface="Cambria Math"/>
              </a:rPr>
              <a:t>𝑅</a:t>
            </a:r>
            <a:r>
              <a:rPr dirty="0" baseline="-13888" sz="1200" spc="15">
                <a:latin typeface="Cambria Math"/>
                <a:cs typeface="Cambria Math"/>
              </a:rPr>
              <a:t>𝐸</a:t>
            </a:r>
            <a:r>
              <a:rPr dirty="0" baseline="-13888" sz="1200">
                <a:latin typeface="Cambria Math"/>
                <a:cs typeface="Cambria Math"/>
              </a:rPr>
              <a:t> </a:t>
            </a:r>
            <a:r>
              <a:rPr dirty="0" baseline="-13888" sz="1200" spc="7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baseline="-38888" sz="1500" spc="75">
                <a:latin typeface="Cambria Math"/>
                <a:cs typeface="Cambria Math"/>
              </a:rPr>
              <a:t>𝑉</a:t>
            </a:r>
            <a:r>
              <a:rPr dirty="0" baseline="-38888" sz="1500">
                <a:latin typeface="Cambria Math"/>
                <a:cs typeface="Cambria Math"/>
              </a:rPr>
              <a:t> </a:t>
            </a:r>
            <a:r>
              <a:rPr dirty="0" baseline="-38888" sz="1500" spc="-13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15">
                <a:latin typeface="Cambria Math"/>
                <a:cs typeface="Cambria Math"/>
              </a:rPr>
              <a:t>𝑅</a:t>
            </a:r>
            <a:r>
              <a:rPr dirty="0" baseline="-13888" sz="1200" spc="22">
                <a:latin typeface="Cambria Math"/>
                <a:cs typeface="Cambria Math"/>
              </a:rPr>
              <a:t>𝐷</a:t>
            </a:r>
            <a:r>
              <a:rPr dirty="0" baseline="-13888" sz="1200">
                <a:latin typeface="Cambria Math"/>
                <a:cs typeface="Cambria Math"/>
              </a:rPr>
              <a:t> </a:t>
            </a:r>
            <a:r>
              <a:rPr dirty="0" baseline="-13888" sz="1200" spc="2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40">
                <a:latin typeface="Garamond"/>
                <a:cs typeface="Garamond"/>
              </a:rPr>
              <a:t>(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10">
                <a:latin typeface="Cambria Math"/>
                <a:cs typeface="Cambria Math"/>
              </a:rPr>
              <a:t>𝑇</a:t>
            </a:r>
            <a:r>
              <a:rPr dirty="0" baseline="-13888" sz="1200" spc="7">
                <a:latin typeface="Cambria Math"/>
                <a:cs typeface="Cambria Math"/>
              </a:rPr>
              <a:t>𝐶</a:t>
            </a:r>
            <a:r>
              <a:rPr dirty="0" baseline="-13888" sz="1200" spc="-127">
                <a:latin typeface="Cambria Math"/>
                <a:cs typeface="Cambria Math"/>
              </a:rPr>
              <a:t> </a:t>
            </a:r>
            <a:r>
              <a:rPr dirty="0" sz="1100">
                <a:latin typeface="Garamond"/>
                <a:cs typeface="Garamond"/>
              </a:rPr>
              <a:t>)</a:t>
            </a:r>
            <a:endParaRPr sz="1100">
              <a:latin typeface="Garamond"/>
              <a:cs typeface="Garamond"/>
            </a:endParaRPr>
          </a:p>
          <a:p>
            <a:pPr marL="50800">
              <a:lnSpc>
                <a:spcPts val="1270"/>
              </a:lnSpc>
              <a:spcBef>
                <a:spcPts val="375"/>
              </a:spcBef>
            </a:pPr>
            <a:r>
              <a:rPr dirty="0" sz="1100" spc="10">
                <a:latin typeface="Garamond"/>
                <a:cs typeface="Garamond"/>
              </a:rPr>
              <a:t>T</a:t>
            </a:r>
            <a:r>
              <a:rPr dirty="0" baseline="-8547" sz="975" spc="15">
                <a:latin typeface="Garamond"/>
                <a:cs typeface="Garamond"/>
              </a:rPr>
              <a:t>C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 rate,</a:t>
            </a:r>
            <a:endParaRPr sz="1100">
              <a:latin typeface="Garamond"/>
              <a:cs typeface="Garamond"/>
            </a:endParaRPr>
          </a:p>
          <a:p>
            <a:pPr marL="50800" marR="966469">
              <a:lnSpc>
                <a:spcPct val="94200"/>
              </a:lnSpc>
              <a:spcBef>
                <a:spcPts val="25"/>
              </a:spcBef>
            </a:pPr>
            <a:r>
              <a:rPr dirty="0" sz="1100" spc="10">
                <a:latin typeface="Garamond"/>
                <a:cs typeface="Garamond"/>
              </a:rPr>
              <a:t>E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market </a:t>
            </a:r>
            <a:r>
              <a:rPr dirty="0" sz="1100">
                <a:latin typeface="Garamond"/>
                <a:cs typeface="Garamond"/>
              </a:rPr>
              <a:t>value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firm’s equity,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 value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V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D.</a:t>
            </a:r>
            <a:endParaRPr sz="1100">
              <a:latin typeface="Garamond"/>
              <a:cs typeface="Garamond"/>
            </a:endParaRPr>
          </a:p>
          <a:p>
            <a:pPr marL="50800" marR="43180">
              <a:lnSpc>
                <a:spcPts val="1220"/>
              </a:lnSpc>
              <a:spcBef>
                <a:spcPts val="65"/>
              </a:spcBef>
            </a:pPr>
            <a:r>
              <a:rPr dirty="0" sz="1100" spc="5">
                <a:latin typeface="Garamond"/>
                <a:cs typeface="Garamond"/>
              </a:rPr>
              <a:t>E/V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>
                <a:latin typeface="Garamond"/>
                <a:cs typeface="Garamond"/>
              </a:rPr>
              <a:t> financing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D/V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percentage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141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34108" y="8472042"/>
            <a:ext cx="41783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0">
                <a:latin typeface="Garamond"/>
                <a:cs typeface="Garamond"/>
              </a:rPr>
              <a:t>W</a:t>
            </a:r>
            <a:r>
              <a:rPr dirty="0" sz="1100" spc="10">
                <a:latin typeface="Garamond"/>
                <a:cs typeface="Garamond"/>
              </a:rPr>
              <a:t>h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e,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30595" y="714501"/>
            <a:ext cx="81470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37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142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883665"/>
            <a:ext cx="5675630" cy="57124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635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CAPITAL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35" b="1">
                <a:latin typeface="Garamond"/>
                <a:cs typeface="Garamond"/>
              </a:rPr>
              <a:t>STRUCTURE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Garamond"/>
              <a:cs typeface="Garamond"/>
            </a:endParaRPr>
          </a:p>
          <a:p>
            <a:pPr marL="469900" marR="8890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guiding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principle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choosing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debt-equity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again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choose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course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action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maximizes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stock.</a:t>
            </a:r>
            <a:endParaRPr sz="1100">
              <a:latin typeface="Garamond"/>
              <a:cs typeface="Garamond"/>
            </a:endParaRPr>
          </a:p>
          <a:p>
            <a:pPr marL="469900" marR="12065" indent="-228600">
              <a:lnSpc>
                <a:spcPts val="1230"/>
              </a:lnSpc>
              <a:spcBef>
                <a:spcPts val="17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When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decisions,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maximizing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whole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firm.</a:t>
            </a:r>
            <a:endParaRPr sz="1100">
              <a:latin typeface="Garamond"/>
              <a:cs typeface="Garamond"/>
            </a:endParaRPr>
          </a:p>
          <a:p>
            <a:pPr marL="469900" marR="15240" indent="-228600">
              <a:lnSpc>
                <a:spcPts val="122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Recall,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WACC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tells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5">
                <a:latin typeface="Garamond"/>
                <a:cs typeface="Garamond"/>
              </a:rPr>
              <a:t> 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overall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weighted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various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structure.</a:t>
            </a:r>
            <a:endParaRPr sz="1100">
              <a:latin typeface="Garamond"/>
              <a:cs typeface="Garamond"/>
            </a:endParaRPr>
          </a:p>
          <a:p>
            <a:pPr algn="just" marL="469900" marR="5080" indent="-228600">
              <a:lnSpc>
                <a:spcPct val="94200"/>
              </a:lnSpc>
              <a:spcBef>
                <a:spcPts val="14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Usually, </a:t>
            </a:r>
            <a:r>
              <a:rPr dirty="0" sz="1100" spc="5">
                <a:latin typeface="Garamond"/>
                <a:cs typeface="Garamond"/>
              </a:rPr>
              <a:t>while </a:t>
            </a:r>
            <a:r>
              <a:rPr dirty="0" sz="1100">
                <a:latin typeface="Garamond"/>
                <a:cs typeface="Garamond"/>
              </a:rPr>
              <a:t>describing WACC, </a:t>
            </a:r>
            <a:r>
              <a:rPr dirty="0" sz="1100" spc="-5">
                <a:latin typeface="Garamond"/>
                <a:cs typeface="Garamond"/>
              </a:rPr>
              <a:t>we </a:t>
            </a:r>
            <a:r>
              <a:rPr dirty="0" sz="1100">
                <a:latin typeface="Garamond"/>
                <a:cs typeface="Garamond"/>
              </a:rPr>
              <a:t>take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capital structure </a:t>
            </a:r>
            <a:r>
              <a:rPr dirty="0" sz="1100" spc="5">
                <a:latin typeface="Garamond"/>
                <a:cs typeface="Garamond"/>
              </a:rPr>
              <a:t>of the </a:t>
            </a:r>
            <a:r>
              <a:rPr dirty="0" sz="1100">
                <a:latin typeface="Garamond"/>
                <a:cs typeface="Garamond"/>
              </a:rPr>
              <a:t>firm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>
                <a:latin typeface="Garamond"/>
                <a:cs typeface="Garamond"/>
              </a:rPr>
              <a:t>given. But </a:t>
            </a:r>
            <a:r>
              <a:rPr dirty="0" sz="1100" spc="5">
                <a:latin typeface="Garamond"/>
                <a:cs typeface="Garamond"/>
              </a:rPr>
              <a:t>what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happens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cost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>
                <a:latin typeface="Garamond"/>
                <a:cs typeface="Garamond"/>
              </a:rPr>
              <a:t> when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5">
                <a:latin typeface="Garamond"/>
                <a:cs typeface="Garamond"/>
              </a:rPr>
              <a:t>vary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debt </a:t>
            </a:r>
            <a:r>
              <a:rPr dirty="0" sz="1100" spc="-5">
                <a:latin typeface="Garamond"/>
                <a:cs typeface="Garamond"/>
              </a:rPr>
              <a:t>financing,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Debt-equity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ratio?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Recall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WACC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appropriate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flows.</a:t>
            </a:r>
            <a:endParaRPr sz="1100">
              <a:latin typeface="Garamond"/>
              <a:cs typeface="Garamond"/>
            </a:endParaRPr>
          </a:p>
          <a:p>
            <a:pPr marL="469900" marR="571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Since the </a:t>
            </a:r>
            <a:r>
              <a:rPr dirty="0" sz="1100">
                <a:latin typeface="Garamond"/>
                <a:cs typeface="Garamond"/>
              </a:rPr>
              <a:t>values and discount </a:t>
            </a:r>
            <a:r>
              <a:rPr dirty="0" sz="1100" spc="-5">
                <a:latin typeface="Garamond"/>
                <a:cs typeface="Garamond"/>
              </a:rPr>
              <a:t>rates move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opposite </a:t>
            </a:r>
            <a:r>
              <a:rPr dirty="0" sz="1100">
                <a:latin typeface="Garamond"/>
                <a:cs typeface="Garamond"/>
              </a:rPr>
              <a:t>directions,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5">
                <a:latin typeface="Garamond"/>
                <a:cs typeface="Garamond"/>
              </a:rPr>
              <a:t>can </a:t>
            </a:r>
            <a:r>
              <a:rPr dirty="0" sz="1100" spc="-10">
                <a:latin typeface="Garamond"/>
                <a:cs typeface="Garamond"/>
              </a:rPr>
              <a:t>say that the </a:t>
            </a:r>
            <a:r>
              <a:rPr dirty="0" sz="1100">
                <a:latin typeface="Garamond"/>
                <a:cs typeface="Garamond"/>
              </a:rPr>
              <a:t>value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5">
                <a:latin typeface="Garamond"/>
                <a:cs typeface="Garamond"/>
              </a:rPr>
              <a:t>(or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maximized</a:t>
            </a:r>
            <a:r>
              <a:rPr dirty="0" sz="1100">
                <a:latin typeface="Garamond"/>
                <a:cs typeface="Garamond"/>
              </a:rPr>
              <a:t> when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WACC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minimized.</a:t>
            </a:r>
            <a:endParaRPr sz="1100">
              <a:latin typeface="Garamond"/>
              <a:cs typeface="Garamond"/>
            </a:endParaRPr>
          </a:p>
          <a:p>
            <a:pPr marL="469900" marR="1079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safely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better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results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weighted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endParaRPr sz="1100">
              <a:latin typeface="Garamond"/>
              <a:cs typeface="Garamond"/>
            </a:endParaRPr>
          </a:p>
          <a:p>
            <a:pPr marL="469900" marR="1397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Further,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particular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debt-equity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represents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optimal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results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lowest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possible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WACC.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optimal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target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100" b="1">
                <a:latin typeface="Garamond"/>
                <a:cs typeface="Garamond"/>
              </a:rPr>
              <a:t>Financial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Leverage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69900" marR="15240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leverage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refers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extent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which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relies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uses 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leverage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employs.</a:t>
            </a:r>
            <a:endParaRPr sz="1100">
              <a:latin typeface="Garamond"/>
              <a:cs typeface="Garamond"/>
            </a:endParaRPr>
          </a:p>
          <a:p>
            <a:pPr marL="469900" marR="635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dramatically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alter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payoffs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shareholders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may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affect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overall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capital.</a:t>
            </a:r>
            <a:endParaRPr sz="1100">
              <a:latin typeface="Garamond"/>
              <a:cs typeface="Garamond"/>
            </a:endParaRPr>
          </a:p>
          <a:p>
            <a:pPr marL="469900" marR="12065" indent="-228600">
              <a:lnSpc>
                <a:spcPts val="122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illustrating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works,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shall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ignore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taxes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here,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describe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impact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earnings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5">
                <a:latin typeface="Garamond"/>
                <a:cs typeface="Garamond"/>
              </a:rPr>
              <a:t>share,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EPS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ROE.</a:t>
            </a:r>
            <a:endParaRPr sz="1100">
              <a:latin typeface="Garamond"/>
              <a:cs typeface="Garamond"/>
            </a:endParaRPr>
          </a:p>
          <a:p>
            <a:pPr marL="469900" marR="13970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meaningful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analysis,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shall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-10">
                <a:latin typeface="Garamond"/>
                <a:cs typeface="Garamond"/>
              </a:rPr>
              <a:t>instead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figures,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results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endParaRPr sz="1100">
              <a:latin typeface="Garamond"/>
              <a:cs typeface="Garamond"/>
            </a:endParaRPr>
          </a:p>
          <a:p>
            <a:pPr algn="just" marL="469900" marR="8255" indent="-228600">
              <a:lnSpc>
                <a:spcPct val="94100"/>
              </a:lnSpc>
              <a:spcBef>
                <a:spcPts val="9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TA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 no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structure.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restructuring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>
                <a:latin typeface="Garamond"/>
                <a:cs typeface="Garamond"/>
              </a:rPr>
              <a:t>would involve </a:t>
            </a:r>
            <a:r>
              <a:rPr dirty="0" sz="1100" spc="-5">
                <a:latin typeface="Garamond"/>
                <a:cs typeface="Garamond"/>
              </a:rPr>
              <a:t>issuing </a:t>
            </a:r>
            <a:r>
              <a:rPr dirty="0" sz="1100" spc="10">
                <a:latin typeface="Garamond"/>
                <a:cs typeface="Garamond"/>
              </a:rPr>
              <a:t>debt </a:t>
            </a:r>
            <a:r>
              <a:rPr dirty="0" sz="1100">
                <a:latin typeface="Garamond"/>
                <a:cs typeface="Garamond"/>
              </a:rPr>
              <a:t>and using </a:t>
            </a:r>
            <a:r>
              <a:rPr dirty="0" sz="1100" spc="-5">
                <a:latin typeface="Garamond"/>
                <a:cs typeface="Garamond"/>
              </a:rPr>
              <a:t>proceeds </a:t>
            </a:r>
            <a:r>
              <a:rPr dirty="0" sz="1100" spc="5">
                <a:latin typeface="Garamond"/>
                <a:cs typeface="Garamond"/>
              </a:rPr>
              <a:t>to buy </a:t>
            </a:r>
            <a:r>
              <a:rPr dirty="0" sz="1100">
                <a:latin typeface="Garamond"/>
                <a:cs typeface="Garamond"/>
              </a:rPr>
              <a:t>back </a:t>
            </a:r>
            <a:r>
              <a:rPr dirty="0" sz="1100" spc="-5">
                <a:latin typeface="Garamond"/>
                <a:cs typeface="Garamond"/>
              </a:rPr>
              <a:t>some </a:t>
            </a:r>
            <a:r>
              <a:rPr dirty="0" sz="1100" spc="5">
                <a:latin typeface="Garamond"/>
                <a:cs typeface="Garamond"/>
              </a:rPr>
              <a:t>of the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outstanding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equity.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presents both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structures.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548127" y="6755891"/>
          <a:ext cx="2932430" cy="1294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3495"/>
                <a:gridCol w="859790"/>
                <a:gridCol w="764539"/>
              </a:tblGrid>
              <a:tr h="1691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314">
                        <a:lnSpc>
                          <a:spcPts val="119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Current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19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Proposed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1031">
                <a:tc>
                  <a:txBody>
                    <a:bodyPr/>
                    <a:lstStyle/>
                    <a:p>
                      <a:pPr marL="68580">
                        <a:lnSpc>
                          <a:spcPts val="117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17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$8,000,000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7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$8,000,000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734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7314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$4,000,000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7860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Equity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14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$8,000,000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14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$4,000,000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7861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Debt/Equity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Ratio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7314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Share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Price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7314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7733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h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Ou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s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d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4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8152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Rate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405508" y="8188578"/>
            <a:ext cx="272161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Garamond"/>
                <a:cs typeface="Garamond"/>
              </a:rPr>
              <a:t>EPS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104389" y="8539606"/>
          <a:ext cx="3815715" cy="983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2680"/>
                <a:gridCol w="1019809"/>
                <a:gridCol w="832485"/>
                <a:gridCol w="827404"/>
              </a:tblGrid>
              <a:tr h="1737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Recession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Expected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23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Expansion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1158">
                <a:tc>
                  <a:txBody>
                    <a:bodyPr/>
                    <a:lstStyle/>
                    <a:p>
                      <a:pPr marL="68580">
                        <a:lnSpc>
                          <a:spcPts val="117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EBIT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17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500,000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17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4610">
                        <a:lnSpc>
                          <a:spcPts val="117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1,500,000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861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810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500,000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61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1,500,000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7746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EPS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9715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1.25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7810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2.50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3.75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8165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ROE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6.25%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78105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12.5%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18.75%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888237"/>
            <a:ext cx="284035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Garamond"/>
                <a:cs typeface="Garamond"/>
              </a:rPr>
              <a:t>EPS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104389" y="1239646"/>
          <a:ext cx="3815715" cy="983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2680"/>
                <a:gridCol w="982980"/>
                <a:gridCol w="850900"/>
                <a:gridCol w="845185"/>
              </a:tblGrid>
              <a:tr h="1737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Recession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3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Expected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23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Expansion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61031">
                <a:tc>
                  <a:txBody>
                    <a:bodyPr/>
                    <a:lstStyle/>
                    <a:p>
                      <a:pPr marL="68580">
                        <a:lnSpc>
                          <a:spcPts val="117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EBIT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7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500,000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7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1,000,000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4610">
                        <a:lnSpc>
                          <a:spcPts val="117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1,500,000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7860">
                <a:tc>
                  <a:txBody>
                    <a:bodyPr/>
                    <a:lstStyle/>
                    <a:p>
                      <a:pPr marL="6858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400,000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400,000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14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400,000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6858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600,000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610">
                        <a:lnSpc>
                          <a:spcPts val="112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1,100,000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57733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EPS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3.00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14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5.50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8152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ROE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8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2.5%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1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27.5%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5508" y="2361437"/>
            <a:ext cx="5447030" cy="689610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0665" marR="15875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impact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evident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above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figures,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examine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restructuring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effect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EPS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ROE.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Garamond"/>
                <a:cs typeface="Garamond"/>
              </a:rPr>
              <a:t>Particularly,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variability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both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EPS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larger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illustrating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acts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magnify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gains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losses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7408" y="6358889"/>
            <a:ext cx="3980815" cy="32054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794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>
                <a:latin typeface="Garamond"/>
                <a:cs typeface="Garamond"/>
              </a:rPr>
              <a:t>Calculating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Break-Even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Point</a:t>
            </a:r>
            <a:endParaRPr sz="1100">
              <a:latin typeface="Garamond"/>
              <a:cs typeface="Garamond"/>
            </a:endParaRPr>
          </a:p>
          <a:p>
            <a:pPr lvl="1" marL="508000" indent="-229870">
              <a:lnSpc>
                <a:spcPct val="100000"/>
              </a:lnSpc>
              <a:spcBef>
                <a:spcPts val="1165"/>
              </a:spcBef>
              <a:buAutoNum type="alphaUcPeriod"/>
              <a:tabLst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-10">
                <a:latin typeface="Garamond"/>
                <a:cs typeface="Garamond"/>
              </a:rPr>
              <a:t> no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debt: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Garamond"/>
              <a:buAutoNum type="alphaUcPeriod"/>
            </a:pPr>
            <a:endParaRPr sz="1000">
              <a:latin typeface="Garamond"/>
              <a:cs typeface="Garamond"/>
            </a:endParaRPr>
          </a:p>
          <a:p>
            <a:pPr marL="1194435">
              <a:lnSpc>
                <a:spcPct val="100000"/>
              </a:lnSpc>
            </a:pPr>
            <a:r>
              <a:rPr dirty="0" sz="1100" spc="-5">
                <a:latin typeface="Garamond"/>
                <a:cs typeface="Garamond"/>
              </a:rPr>
              <a:t>EPS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EBIT/400,000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lvl="1" marL="508000" indent="-229870">
              <a:lnSpc>
                <a:spcPct val="100000"/>
              </a:lnSpc>
              <a:buAutoNum type="alphaUcPeriod" startAt="2"/>
              <a:tabLst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With </a:t>
            </a:r>
            <a:r>
              <a:rPr dirty="0" sz="1100" spc="-5">
                <a:latin typeface="Garamond"/>
                <a:cs typeface="Garamond"/>
              </a:rPr>
              <a:t>$4,000,000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10%: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Garamond"/>
              <a:buAutoNum type="alphaUcPeriod" startAt="2"/>
            </a:pPr>
            <a:endParaRPr sz="1000">
              <a:latin typeface="Garamond"/>
              <a:cs typeface="Garamond"/>
            </a:endParaRPr>
          </a:p>
          <a:p>
            <a:pPr marL="1194435">
              <a:lnSpc>
                <a:spcPct val="100000"/>
              </a:lnSpc>
            </a:pPr>
            <a:r>
              <a:rPr dirty="0" sz="1100" spc="-5">
                <a:latin typeface="Garamond"/>
                <a:cs typeface="Garamond"/>
              </a:rPr>
              <a:t>EPS</a:t>
            </a:r>
            <a:r>
              <a:rPr dirty="0" sz="1100" spc="10">
                <a:latin typeface="Garamond"/>
                <a:cs typeface="Garamond"/>
              </a:rPr>
              <a:t> 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(EBIT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$400,000)/200,000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2794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78765" algn="l"/>
                <a:tab pos="279400" algn="l"/>
              </a:tabLst>
            </a:pPr>
            <a:r>
              <a:rPr dirty="0" sz="1100">
                <a:latin typeface="Garamond"/>
                <a:cs typeface="Garamond"/>
              </a:rPr>
              <a:t>Calculating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Break-Even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Point</a:t>
            </a:r>
            <a:endParaRPr sz="1100">
              <a:latin typeface="Garamond"/>
              <a:cs typeface="Garamond"/>
            </a:endParaRPr>
          </a:p>
          <a:p>
            <a:pPr marL="508000" indent="-229870">
              <a:lnSpc>
                <a:spcPct val="100000"/>
              </a:lnSpc>
              <a:spcBef>
                <a:spcPts val="1165"/>
              </a:spcBef>
              <a:buAutoNum type="alphaUcPeriod" startAt="3"/>
              <a:tabLst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Solve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break-even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EBITBE: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Garamond"/>
              <a:buAutoNum type="alphaUcPeriod" startAt="3"/>
            </a:pPr>
            <a:endParaRPr sz="1000">
              <a:latin typeface="Garamond"/>
              <a:cs typeface="Garamond"/>
            </a:endParaRPr>
          </a:p>
          <a:p>
            <a:pPr marL="1194435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EBIT</a:t>
            </a:r>
            <a:r>
              <a:rPr dirty="0" baseline="-8547" sz="975">
                <a:latin typeface="Garamond"/>
                <a:cs typeface="Garamond"/>
              </a:rPr>
              <a:t>BE</a:t>
            </a:r>
            <a:r>
              <a:rPr dirty="0" sz="1100">
                <a:latin typeface="Garamond"/>
                <a:cs typeface="Garamond"/>
              </a:rPr>
              <a:t>/400,000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(EBIT</a:t>
            </a:r>
            <a:r>
              <a:rPr dirty="0" baseline="-8547" sz="975" spc="7">
                <a:latin typeface="Garamond"/>
                <a:cs typeface="Garamond"/>
              </a:rPr>
              <a:t>BE</a:t>
            </a:r>
            <a:r>
              <a:rPr dirty="0" baseline="-8547" sz="975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$400,000)/200,000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508000" indent="-229870">
              <a:lnSpc>
                <a:spcPct val="100000"/>
              </a:lnSpc>
              <a:buAutoNum type="alphaUcPeriod" startAt="4"/>
              <a:tabLst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little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algebra: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marL="1194435">
              <a:lnSpc>
                <a:spcPts val="1290"/>
              </a:lnSpc>
              <a:spcBef>
                <a:spcPts val="5"/>
              </a:spcBef>
            </a:pPr>
            <a:r>
              <a:rPr dirty="0" sz="1100" spc="10">
                <a:latin typeface="Garamond"/>
                <a:cs typeface="Garamond"/>
              </a:rPr>
              <a:t>EBIT</a:t>
            </a:r>
            <a:r>
              <a:rPr dirty="0" baseline="-8547" sz="975" spc="15">
                <a:latin typeface="Garamond"/>
                <a:cs typeface="Garamond"/>
              </a:rPr>
              <a:t>BE</a:t>
            </a:r>
            <a:r>
              <a:rPr dirty="0" baseline="-8547" sz="975" spc="1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$800,000</a:t>
            </a:r>
            <a:endParaRPr sz="1100">
              <a:latin typeface="Garamond"/>
              <a:cs typeface="Garamond"/>
            </a:endParaRPr>
          </a:p>
          <a:p>
            <a:pPr marL="1194435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And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EPS</a:t>
            </a:r>
            <a:r>
              <a:rPr dirty="0" baseline="-8547" sz="975" spc="15">
                <a:latin typeface="Garamond"/>
                <a:cs typeface="Garamond"/>
              </a:rPr>
              <a:t>BE</a:t>
            </a:r>
            <a:r>
              <a:rPr dirty="0" baseline="-8547" sz="975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$2.00/share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4970" y="3229563"/>
            <a:ext cx="5148059" cy="298378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143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76377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469900" marR="28575" indent="-228600">
              <a:lnSpc>
                <a:spcPts val="1260"/>
              </a:lnSpc>
              <a:spcBef>
                <a:spcPts val="79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MPD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currently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no-debt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decided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restructuring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incorporate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$1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9%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MPD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200,000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outstanding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$20.</a:t>
            </a:r>
            <a:endParaRPr sz="1100">
              <a:latin typeface="Garamond"/>
              <a:cs typeface="Garamond"/>
            </a:endParaRPr>
          </a:p>
          <a:p>
            <a:pPr marL="469900" marR="2286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restructuring</a:t>
            </a:r>
            <a:r>
              <a:rPr dirty="0" sz="1100">
                <a:latin typeface="Garamond"/>
                <a:cs typeface="Garamond"/>
              </a:rPr>
              <a:t> is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increase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EPS,</a:t>
            </a:r>
            <a:r>
              <a:rPr dirty="0" sz="1100" spc="-5">
                <a:latin typeface="Garamond"/>
                <a:cs typeface="Garamond"/>
              </a:rPr>
              <a:t> what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minimum level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 </a:t>
            </a:r>
            <a:r>
              <a:rPr dirty="0" sz="1100" spc="5">
                <a:latin typeface="Garamond"/>
                <a:cs typeface="Garamond"/>
              </a:rPr>
              <a:t>EBIT 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MPD’s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expecting?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answer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Break-even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EBIT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ct val="100000"/>
              </a:lnSpc>
              <a:spcBef>
                <a:spcPts val="1165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old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structure:</a:t>
            </a:r>
            <a:endParaRPr sz="1100">
              <a:latin typeface="Garamond"/>
              <a:cs typeface="Garamond"/>
            </a:endParaRPr>
          </a:p>
          <a:p>
            <a:pPr marL="1384935">
              <a:lnSpc>
                <a:spcPct val="100000"/>
              </a:lnSpc>
              <a:spcBef>
                <a:spcPts val="1165"/>
              </a:spcBef>
            </a:pPr>
            <a:r>
              <a:rPr dirty="0" sz="1100" spc="-5">
                <a:latin typeface="Garamond"/>
                <a:cs typeface="Garamond"/>
              </a:rPr>
              <a:t>EPS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EBIT/200,000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lvl="1" marL="927735" indent="-229235">
              <a:lnSpc>
                <a:spcPts val="127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new 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expense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$1</a:t>
            </a:r>
            <a:r>
              <a:rPr dirty="0" sz="1100" spc="-5">
                <a:latin typeface="Garamond"/>
                <a:cs typeface="Garamond"/>
              </a:rPr>
              <a:t> million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0.09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$90,000</a:t>
            </a:r>
            <a:endParaRPr sz="1100">
              <a:latin typeface="Garamond"/>
              <a:cs typeface="Garamond"/>
            </a:endParaRPr>
          </a:p>
          <a:p>
            <a:pPr lvl="1" marL="927735" marR="21590" indent="-228600">
              <a:lnSpc>
                <a:spcPts val="1260"/>
              </a:lnSpc>
              <a:spcBef>
                <a:spcPts val="45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$1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proceeds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MPD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repurchase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$1million/20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50,000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shares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leaving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150,000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outstanding.</a:t>
            </a:r>
            <a:endParaRPr sz="1100">
              <a:latin typeface="Garamond"/>
              <a:cs typeface="Garamond"/>
            </a:endParaRPr>
          </a:p>
          <a:p>
            <a:pPr marL="699135">
              <a:lnSpc>
                <a:spcPts val="1195"/>
              </a:lnSpc>
              <a:tabLst>
                <a:tab pos="9271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 spc="-5">
                <a:latin typeface="Garamond"/>
                <a:cs typeface="Garamond"/>
              </a:rPr>
              <a:t>EPS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thus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(EBIT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-$90,000)/150,000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Equating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both </a:t>
            </a:r>
            <a:r>
              <a:rPr dirty="0" sz="1100" spc="-5">
                <a:latin typeface="Garamond"/>
                <a:cs typeface="Garamond"/>
              </a:rPr>
              <a:t>scenarios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1384935" marR="1938020">
              <a:lnSpc>
                <a:spcPts val="1220"/>
              </a:lnSpc>
            </a:pPr>
            <a:r>
              <a:rPr dirty="0" sz="1100" spc="-5">
                <a:latin typeface="Garamond"/>
                <a:cs typeface="Garamond"/>
              </a:rPr>
              <a:t>EBIT/200,000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(EBIT -$90,000)/150,000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EBIT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(4/3)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5">
                <a:latin typeface="Garamond"/>
                <a:cs typeface="Garamond"/>
              </a:rPr>
              <a:t> (EBIT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-$90,000)</a:t>
            </a:r>
            <a:endParaRPr sz="1100">
              <a:latin typeface="Garamond"/>
              <a:cs typeface="Garamond"/>
            </a:endParaRPr>
          </a:p>
          <a:p>
            <a:pPr marL="1384935">
              <a:lnSpc>
                <a:spcPts val="1240"/>
              </a:lnSpc>
            </a:pPr>
            <a:r>
              <a:rPr dirty="0" sz="1100" spc="5">
                <a:latin typeface="Garamond"/>
                <a:cs typeface="Garamond"/>
              </a:rPr>
              <a:t>EBIT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$360,000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EPS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$1.80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management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MPD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expects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figure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exceed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From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5">
                <a:latin typeface="Garamond"/>
                <a:cs typeface="Garamond"/>
              </a:rPr>
              <a:t>above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discussion,</a:t>
            </a:r>
            <a:r>
              <a:rPr dirty="0" sz="1100" spc="-10">
                <a:latin typeface="Garamond"/>
                <a:cs typeface="Garamond"/>
              </a:rPr>
              <a:t> 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conclusions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drawn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:</a:t>
            </a:r>
            <a:endParaRPr sz="1100">
              <a:latin typeface="Garamond"/>
              <a:cs typeface="Garamond"/>
            </a:endParaRPr>
          </a:p>
          <a:p>
            <a:pPr lvl="1" marL="699135" marR="19050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depends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company’s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EBIT.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When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EBIT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relatively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high,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beneficial.</a:t>
            </a:r>
            <a:endParaRPr sz="1100">
              <a:latin typeface="Garamond"/>
              <a:cs typeface="Garamond"/>
            </a:endParaRPr>
          </a:p>
          <a:p>
            <a:pPr lvl="1" marL="699135" marR="24130" indent="-229235">
              <a:lnSpc>
                <a:spcPts val="1230"/>
              </a:lnSpc>
              <a:spcBef>
                <a:spcPts val="3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unexpected</a:t>
            </a:r>
            <a:r>
              <a:rPr dirty="0" sz="1100">
                <a:latin typeface="Garamond"/>
                <a:cs typeface="Garamond"/>
              </a:rPr>
              <a:t> scenario,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shareholders,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measured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EPS.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From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5">
                <a:latin typeface="Garamond"/>
                <a:cs typeface="Garamond"/>
              </a:rPr>
              <a:t>above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discussion,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conclusions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drawn</a:t>
            </a:r>
            <a:endParaRPr sz="1100">
              <a:latin typeface="Garamond"/>
              <a:cs typeface="Garamond"/>
            </a:endParaRPr>
          </a:p>
          <a:p>
            <a:pPr lvl="1" marL="699135" marR="29209" indent="-229235">
              <a:lnSpc>
                <a:spcPts val="1260"/>
              </a:lnSpc>
              <a:spcBef>
                <a:spcPts val="60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Shareholders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exposed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proposed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since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EPS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ROE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sensitive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EBIT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impact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both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stockholders</a:t>
            </a:r>
            <a:endParaRPr sz="1100">
              <a:latin typeface="Garamond"/>
              <a:cs typeface="Garamond"/>
            </a:endParaRPr>
          </a:p>
          <a:p>
            <a:pPr marL="699135">
              <a:lnSpc>
                <a:spcPts val="1270"/>
              </a:lnSpc>
            </a:pP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riskiness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stock,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consideration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Homemade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Leverage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26034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last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conclusion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necessarily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correct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shareholders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adjust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lending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own.</a:t>
            </a:r>
            <a:endParaRPr sz="1100">
              <a:latin typeface="Garamond"/>
              <a:cs typeface="Garamond"/>
            </a:endParaRPr>
          </a:p>
          <a:p>
            <a:pPr marL="469900" marR="2667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personal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alter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degree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homemade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leverage.</a:t>
            </a:r>
            <a:endParaRPr sz="1100">
              <a:latin typeface="Garamond"/>
              <a:cs typeface="Garamond"/>
            </a:endParaRPr>
          </a:p>
          <a:p>
            <a:pPr marL="469900" marR="26034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Returning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discussion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now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illustrate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>
                <a:latin typeface="Garamond"/>
                <a:cs typeface="Garamond"/>
              </a:rPr>
              <a:t> it</a:t>
            </a:r>
            <a:r>
              <a:rPr dirty="0" sz="1100" spc="5">
                <a:latin typeface="Garamond"/>
                <a:cs typeface="Garamond"/>
              </a:rPr>
              <a:t> makes</a:t>
            </a:r>
            <a:r>
              <a:rPr dirty="0" sz="1100" spc="10">
                <a:latin typeface="Garamond"/>
                <a:cs typeface="Garamond"/>
              </a:rPr>
              <a:t> no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whether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TA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21942" y="8224139"/>
          <a:ext cx="4322445" cy="728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9275"/>
                <a:gridCol w="882650"/>
                <a:gridCol w="798195"/>
                <a:gridCol w="821054"/>
              </a:tblGrid>
              <a:tr h="1874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Recession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Expected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Expansion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6177">
                <a:tc>
                  <a:txBody>
                    <a:bodyPr/>
                    <a:lstStyle/>
                    <a:p>
                      <a:pPr marL="127000">
                        <a:lnSpc>
                          <a:spcPts val="130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EPS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3.00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30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5.50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Earning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for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100</a:t>
                      </a:r>
                      <a:r>
                        <a:rPr dirty="0" sz="1100" spc="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shares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50.00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112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300.00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550.00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291">
                <a:tc gridSpan="2">
                  <a:txBody>
                    <a:bodyPr/>
                    <a:lstStyle/>
                    <a:p>
                      <a:pPr marL="127000">
                        <a:lnSpc>
                          <a:spcPts val="12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100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share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$20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$2,000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144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888237"/>
            <a:ext cx="293560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Original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5">
                <a:latin typeface="Garamond"/>
                <a:cs typeface="Garamond"/>
              </a:rPr>
              <a:t>homemade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145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735073" y="1239646"/>
          <a:ext cx="4495800" cy="1282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1514"/>
                <a:gridCol w="910589"/>
                <a:gridCol w="814704"/>
                <a:gridCol w="810260"/>
              </a:tblGrid>
              <a:tr h="1874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398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Recession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715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Expected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Expansion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74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EPS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r" marR="1365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1.25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996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2.50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3.50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Earning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for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200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shares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652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250.00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969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500.00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750.00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06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Less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on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$2,000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10%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6525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9695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2880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Earnings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652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50.00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969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300.00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550.00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 gridSpan="2"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Cost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200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shares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at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$20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amount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borrowed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1354">
                <a:tc gridSpan="2">
                  <a:txBody>
                    <a:bodyPr/>
                    <a:lstStyle/>
                    <a:p>
                      <a:pPr marL="652780">
                        <a:lnSpc>
                          <a:spcPts val="1250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=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$4,000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$2,000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=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$2,000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2676905"/>
            <a:ext cx="5669915" cy="23361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results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debt-equity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1.</a:t>
            </a:r>
            <a:endParaRPr sz="1100">
              <a:latin typeface="Garamond"/>
              <a:cs typeface="Garamond"/>
            </a:endParaRPr>
          </a:p>
          <a:p>
            <a:pPr marL="469900" marR="1016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replicate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personal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level,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borrow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enough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create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same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debt-equity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1.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2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100" spc="-5" b="1">
                <a:latin typeface="Garamond"/>
                <a:cs typeface="Garamond"/>
              </a:rPr>
              <a:t>Unlevering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469900" marR="12065" indent="-228600">
              <a:lnSpc>
                <a:spcPts val="126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Now,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condition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management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adopted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proposed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suppose,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owned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preferred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original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endParaRPr sz="1100">
              <a:latin typeface="Garamond"/>
              <a:cs typeface="Garamond"/>
            </a:endParaRPr>
          </a:p>
          <a:p>
            <a:pPr marL="469900" marR="6350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unlever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investors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60"/>
              </a:lnSpc>
              <a:spcBef>
                <a:spcPts val="1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corporation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borrowed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half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value.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investor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can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unlever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simply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solving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loaning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proportion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50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then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loans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10%.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735073" y="5168518"/>
          <a:ext cx="4495800" cy="916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1514"/>
                <a:gridCol w="910589"/>
                <a:gridCol w="814704"/>
                <a:gridCol w="810260"/>
              </a:tblGrid>
              <a:tr h="187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398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Recession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7155">
                        <a:lnSpc>
                          <a:spcPts val="126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Expected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6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Expansion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9074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EPS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(Proposed Structure)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/>
                </a:tc>
                <a:tc>
                  <a:txBody>
                    <a:bodyPr/>
                    <a:lstStyle/>
                    <a:p>
                      <a:pPr algn="r" marR="1365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0.50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996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3.00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5.50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1905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Earning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for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50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shares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652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25.00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969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150.00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275.00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3070">
                <a:tc>
                  <a:txBody>
                    <a:bodyPr/>
                    <a:lstStyle/>
                    <a:p>
                      <a:pPr marL="12700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Plus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on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$1,000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at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6525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9695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275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100.00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1354">
                <a:tc>
                  <a:txBody>
                    <a:bodyPr/>
                    <a:lstStyle/>
                    <a:p>
                      <a:pPr marL="127000">
                        <a:lnSpc>
                          <a:spcPts val="12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Payoff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6525">
                        <a:lnSpc>
                          <a:spcPts val="12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125.00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9695">
                        <a:lnSpc>
                          <a:spcPts val="12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250.00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055">
                        <a:lnSpc>
                          <a:spcPts val="12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375.00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30595" y="714501"/>
            <a:ext cx="81470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38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508" y="883665"/>
            <a:ext cx="5443855" cy="25882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234950">
              <a:lnSpc>
                <a:spcPct val="100000"/>
              </a:lnSpc>
              <a:spcBef>
                <a:spcPts val="135"/>
              </a:spcBef>
            </a:pPr>
            <a:r>
              <a:rPr dirty="0" sz="1150" spc="35" b="1">
                <a:latin typeface="Garamond"/>
                <a:cs typeface="Garamond"/>
              </a:rPr>
              <a:t>M&amp;M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PROPOSITIONS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Garamond"/>
              <a:cs typeface="Garamond"/>
            </a:endParaRPr>
          </a:p>
          <a:p>
            <a:pPr marL="240665" marR="9525" indent="-228600">
              <a:lnSpc>
                <a:spcPts val="126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seen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relatively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less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significant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when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comes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because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investors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lend</a:t>
            </a:r>
            <a:r>
              <a:rPr dirty="0" sz="1100" spc="-10">
                <a:latin typeface="Garamond"/>
                <a:cs typeface="Garamond"/>
              </a:rPr>
              <a:t> 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own.</a:t>
            </a:r>
            <a:endParaRPr sz="1100">
              <a:latin typeface="Garamond"/>
              <a:cs typeface="Garamond"/>
            </a:endParaRPr>
          </a:p>
          <a:p>
            <a:pPr marL="240665" marR="11430" indent="-228600">
              <a:lnSpc>
                <a:spcPts val="1230"/>
              </a:lnSpc>
              <a:spcBef>
                <a:spcPts val="17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 </a:t>
            </a:r>
            <a:r>
              <a:rPr dirty="0" sz="1100" spc="10">
                <a:latin typeface="Garamond"/>
                <a:cs typeface="Garamond"/>
              </a:rPr>
              <a:t>TA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r>
              <a:rPr dirty="0" sz="1100">
                <a:latin typeface="Garamond"/>
                <a:cs typeface="Garamond"/>
              </a:rPr>
              <a:t> price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remains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almost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same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whichever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chooses.</a:t>
            </a:r>
            <a:endParaRPr sz="1100">
              <a:latin typeface="Garamond"/>
              <a:cs typeface="Garamond"/>
            </a:endParaRPr>
          </a:p>
          <a:p>
            <a:pPr marL="240665" marR="12700" indent="-228600">
              <a:lnSpc>
                <a:spcPts val="122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result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based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upon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famous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argument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two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noble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laureates,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Franco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Modigliani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Merton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Miller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(commonly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known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M&amp;M).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shall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discuss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propositions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presented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M&amp;M.</a:t>
            </a:r>
            <a:endParaRPr sz="1100">
              <a:latin typeface="Garamond"/>
              <a:cs typeface="Garamond"/>
            </a:endParaRPr>
          </a:p>
          <a:p>
            <a:pPr marL="240665" marR="8255" indent="-228600">
              <a:lnSpc>
                <a:spcPts val="1220"/>
              </a:lnSpc>
              <a:spcBef>
                <a:spcPts val="2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1st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proposition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states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completely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irrelevant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chooses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arrange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finances.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20"/>
              </a:lnSpc>
              <a:spcBef>
                <a:spcPts val="19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Imagine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identical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operations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depicted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left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side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sheet.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But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right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side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because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operations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differently.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view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question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pie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model.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508" y="5663564"/>
            <a:ext cx="5444490" cy="1042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i="1">
                <a:latin typeface="Garamond"/>
                <a:cs typeface="Garamond"/>
              </a:rPr>
              <a:t>The</a:t>
            </a:r>
            <a:r>
              <a:rPr dirty="0" sz="1100" spc="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size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of</a:t>
            </a:r>
            <a:r>
              <a:rPr dirty="0" sz="1100" spc="-2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the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pie</a:t>
            </a:r>
            <a:r>
              <a:rPr dirty="0" sz="1100" spc="-30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does</a:t>
            </a:r>
            <a:r>
              <a:rPr dirty="0" sz="1100" spc="35" i="1">
                <a:latin typeface="Garamond"/>
                <a:cs typeface="Garamond"/>
              </a:rPr>
              <a:t> </a:t>
            </a:r>
            <a:r>
              <a:rPr dirty="0" sz="1100" spc="-10" i="1">
                <a:latin typeface="Garamond"/>
                <a:cs typeface="Garamond"/>
              </a:rPr>
              <a:t>not</a:t>
            </a:r>
            <a:r>
              <a:rPr dirty="0" sz="1100" spc="-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depend</a:t>
            </a:r>
            <a:r>
              <a:rPr dirty="0" sz="1100" spc="20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on</a:t>
            </a:r>
            <a:r>
              <a:rPr dirty="0" sz="1100" spc="-35" i="1">
                <a:latin typeface="Garamond"/>
                <a:cs typeface="Garamond"/>
              </a:rPr>
              <a:t> </a:t>
            </a:r>
            <a:r>
              <a:rPr dirty="0" sz="1100" spc="5" i="1">
                <a:latin typeface="Garamond"/>
                <a:cs typeface="Garamond"/>
              </a:rPr>
              <a:t>how</a:t>
            </a:r>
            <a:r>
              <a:rPr dirty="0" sz="1100" spc="-5" i="1">
                <a:latin typeface="Garamond"/>
                <a:cs typeface="Garamond"/>
              </a:rPr>
              <a:t> </a:t>
            </a:r>
            <a:r>
              <a:rPr dirty="0" sz="1100" spc="-20" i="1">
                <a:latin typeface="Garamond"/>
                <a:cs typeface="Garamond"/>
              </a:rPr>
              <a:t>it</a:t>
            </a:r>
            <a:r>
              <a:rPr dirty="0" sz="1100" spc="15" i="1">
                <a:latin typeface="Garamond"/>
                <a:cs typeface="Garamond"/>
              </a:rPr>
              <a:t> </a:t>
            </a:r>
            <a:r>
              <a:rPr dirty="0" sz="1100" i="1">
                <a:latin typeface="Garamond"/>
                <a:cs typeface="Garamond"/>
              </a:rPr>
              <a:t>is</a:t>
            </a:r>
            <a:r>
              <a:rPr dirty="0" sz="1100" spc="-25" i="1">
                <a:latin typeface="Garamond"/>
                <a:cs typeface="Garamond"/>
              </a:rPr>
              <a:t> </a:t>
            </a:r>
            <a:r>
              <a:rPr dirty="0" sz="1100" spc="-5" i="1">
                <a:latin typeface="Garamond"/>
                <a:cs typeface="Garamond"/>
              </a:rPr>
              <a:t>sliced.</a:t>
            </a:r>
            <a:endParaRPr sz="1100">
              <a:latin typeface="Garamond"/>
              <a:cs typeface="Garamond"/>
            </a:endParaRPr>
          </a:p>
          <a:p>
            <a:pPr marL="240665" marR="1524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Although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changing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value,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does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cause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important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20"/>
              </a:lnSpc>
              <a:spcBef>
                <a:spcPts val="18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examine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debt-equity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ratio;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simplification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ignore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here.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6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 that: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19882" y="6856475"/>
            <a:ext cx="86995" cy="9525"/>
          </a:xfrm>
          <a:custGeom>
            <a:avLst/>
            <a:gdLst/>
            <a:ahLst/>
            <a:cxnLst/>
            <a:rect l="l" t="t" r="r" b="b"/>
            <a:pathLst>
              <a:path w="86994" h="9525">
                <a:moveTo>
                  <a:pt x="86868" y="0"/>
                </a:moveTo>
                <a:lnTo>
                  <a:pt x="0" y="0"/>
                </a:lnTo>
                <a:lnTo>
                  <a:pt x="0" y="9144"/>
                </a:lnTo>
                <a:lnTo>
                  <a:pt x="86868" y="9144"/>
                </a:lnTo>
                <a:lnTo>
                  <a:pt x="86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107182" y="6665467"/>
            <a:ext cx="69659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8645" algn="l"/>
              </a:tabLst>
            </a:pPr>
            <a:r>
              <a:rPr dirty="0" sz="1000" spc="70">
                <a:latin typeface="Cambria Math"/>
                <a:cs typeface="Cambria Math"/>
              </a:rPr>
              <a:t>E</a:t>
            </a:r>
            <a:r>
              <a:rPr dirty="0" sz="1000" spc="70">
                <a:latin typeface="Cambria Math"/>
                <a:cs typeface="Cambria Math"/>
              </a:rPr>
              <a:t>	</a:t>
            </a:r>
            <a:r>
              <a:rPr dirty="0" sz="1000" spc="75">
                <a:latin typeface="Cambria Math"/>
                <a:cs typeface="Cambria Math"/>
              </a:rPr>
              <a:t>D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96334" y="6856475"/>
            <a:ext cx="91440" cy="9525"/>
          </a:xfrm>
          <a:custGeom>
            <a:avLst/>
            <a:gdLst/>
            <a:ahLst/>
            <a:cxnLst/>
            <a:rect l="l" t="t" r="r" b="b"/>
            <a:pathLst>
              <a:path w="91439" h="9525">
                <a:moveTo>
                  <a:pt x="91439" y="0"/>
                </a:moveTo>
                <a:lnTo>
                  <a:pt x="0" y="0"/>
                </a:lnTo>
                <a:lnTo>
                  <a:pt x="0" y="9144"/>
                </a:lnTo>
                <a:lnTo>
                  <a:pt x="91439" y="9144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523744" y="6756907"/>
            <a:ext cx="1632585" cy="5708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8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E</a:t>
            </a:r>
            <a:r>
              <a:rPr dirty="0" baseline="-13888" sz="1200" spc="247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13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D</a:t>
            </a:r>
            <a:endParaRPr baseline="-13888" sz="12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30"/>
              </a:spcBef>
            </a:pPr>
            <a:r>
              <a:rPr dirty="0" sz="1100">
                <a:latin typeface="Garamond"/>
                <a:cs typeface="Garamond"/>
              </a:rPr>
              <a:t>Where </a:t>
            </a:r>
            <a:r>
              <a:rPr dirty="0" sz="1100" spc="10">
                <a:latin typeface="Garamond"/>
                <a:cs typeface="Garamond"/>
              </a:rPr>
              <a:t>V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E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72994" y="8127744"/>
            <a:ext cx="86995" cy="9525"/>
          </a:xfrm>
          <a:custGeom>
            <a:avLst/>
            <a:gdLst/>
            <a:ahLst/>
            <a:cxnLst/>
            <a:rect l="l" t="t" r="r" b="b"/>
            <a:pathLst>
              <a:path w="86994" h="9525">
                <a:moveTo>
                  <a:pt x="86868" y="0"/>
                </a:moveTo>
                <a:lnTo>
                  <a:pt x="0" y="0"/>
                </a:lnTo>
                <a:lnTo>
                  <a:pt x="0" y="9144"/>
                </a:lnTo>
                <a:lnTo>
                  <a:pt x="86868" y="9144"/>
                </a:lnTo>
                <a:lnTo>
                  <a:pt x="86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49446" y="8127744"/>
            <a:ext cx="91440" cy="9525"/>
          </a:xfrm>
          <a:custGeom>
            <a:avLst/>
            <a:gdLst/>
            <a:ahLst/>
            <a:cxnLst/>
            <a:rect l="l" t="t" r="r" b="b"/>
            <a:pathLst>
              <a:path w="91439" h="9525">
                <a:moveTo>
                  <a:pt x="91439" y="0"/>
                </a:moveTo>
                <a:lnTo>
                  <a:pt x="0" y="0"/>
                </a:lnTo>
                <a:lnTo>
                  <a:pt x="0" y="9144"/>
                </a:lnTo>
                <a:lnTo>
                  <a:pt x="91439" y="9144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329308" y="7461250"/>
            <a:ext cx="5600700" cy="211645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316865" marR="9398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316865" algn="l"/>
                <a:tab pos="317500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know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WACC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interpreted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required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overall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(R</a:t>
            </a:r>
            <a:r>
              <a:rPr dirty="0" baseline="-8547" sz="975" spc="7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).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Thus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algn="ctr" marR="1834514">
              <a:lnSpc>
                <a:spcPts val="965"/>
              </a:lnSpc>
              <a:tabLst>
                <a:tab pos="575945" algn="l"/>
              </a:tabLst>
            </a:pPr>
            <a:r>
              <a:rPr dirty="0" sz="1000" spc="70">
                <a:latin typeface="Cambria Math"/>
                <a:cs typeface="Cambria Math"/>
              </a:rPr>
              <a:t>E	</a:t>
            </a:r>
            <a:r>
              <a:rPr dirty="0" sz="1000" spc="75">
                <a:latin typeface="Cambria Math"/>
                <a:cs typeface="Cambria Math"/>
              </a:rPr>
              <a:t>D</a:t>
            </a:r>
            <a:endParaRPr sz="1000">
              <a:latin typeface="Cambria Math"/>
              <a:cs typeface="Cambria Math"/>
            </a:endParaRPr>
          </a:p>
          <a:p>
            <a:pPr algn="ctr" marR="1818005">
              <a:lnSpc>
                <a:spcPts val="1085"/>
              </a:lnSpc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A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8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E</a:t>
            </a:r>
            <a:r>
              <a:rPr dirty="0" baseline="-13888" sz="1200" spc="26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13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D</a:t>
            </a:r>
            <a:endParaRPr baseline="-13888" sz="1200">
              <a:latin typeface="Cambria Math"/>
              <a:cs typeface="Cambria Math"/>
            </a:endParaRPr>
          </a:p>
          <a:p>
            <a:pPr marL="317500" indent="-228600">
              <a:lnSpc>
                <a:spcPct val="100000"/>
              </a:lnSpc>
              <a:spcBef>
                <a:spcPts val="1739"/>
              </a:spcBef>
              <a:buFont typeface="Symbol"/>
              <a:buChar char=""/>
              <a:tabLst>
                <a:tab pos="316865" algn="l"/>
                <a:tab pos="317500" algn="l"/>
              </a:tabLst>
            </a:pPr>
            <a:r>
              <a:rPr dirty="0" sz="1100">
                <a:latin typeface="Garamond"/>
                <a:cs typeface="Garamond"/>
              </a:rPr>
              <a:t>Rearranging</a:t>
            </a:r>
            <a:endParaRPr sz="1100">
              <a:latin typeface="Garamond"/>
              <a:cs typeface="Garamond"/>
            </a:endParaRPr>
          </a:p>
          <a:p>
            <a:pPr marL="1232535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E</a:t>
            </a:r>
            <a:r>
              <a:rPr dirty="0" baseline="-8547" sz="975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R</a:t>
            </a:r>
            <a:r>
              <a:rPr dirty="0" baseline="-8547" sz="975" spc="15">
                <a:latin typeface="Garamond"/>
                <a:cs typeface="Garamond"/>
              </a:rPr>
              <a:t>A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(R</a:t>
            </a:r>
            <a:r>
              <a:rPr dirty="0" baseline="-8547" sz="975" spc="7">
                <a:latin typeface="Garamond"/>
                <a:cs typeface="Garamond"/>
              </a:rPr>
              <a:t>A</a:t>
            </a:r>
            <a:r>
              <a:rPr dirty="0" baseline="-8547" sz="975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baseline="-8547" sz="975" spc="15">
                <a:latin typeface="Garamond"/>
                <a:cs typeface="Garamond"/>
              </a:rPr>
              <a:t>D</a:t>
            </a:r>
            <a:r>
              <a:rPr dirty="0" sz="1100" spc="10">
                <a:latin typeface="Garamond"/>
                <a:cs typeface="Garamond"/>
              </a:rPr>
              <a:t>)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(D/E)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317500" indent="-228600">
              <a:lnSpc>
                <a:spcPts val="1290"/>
              </a:lnSpc>
              <a:buFont typeface="Symbol"/>
              <a:buChar char=""/>
              <a:tabLst>
                <a:tab pos="316865" algn="l"/>
                <a:tab pos="317500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proposition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tells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three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things</a:t>
            </a:r>
            <a:endParaRPr sz="1100">
              <a:latin typeface="Garamond"/>
              <a:cs typeface="Garamond"/>
            </a:endParaRPr>
          </a:p>
          <a:p>
            <a:pPr lvl="1" marL="546100" indent="-229870">
              <a:lnSpc>
                <a:spcPts val="1240"/>
              </a:lnSpc>
              <a:buFont typeface="Courier New"/>
              <a:buChar char="o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R</a:t>
            </a:r>
            <a:r>
              <a:rPr dirty="0" baseline="-8547" sz="975" spc="22">
                <a:latin typeface="Garamond"/>
                <a:cs typeface="Garamond"/>
              </a:rPr>
              <a:t>A</a:t>
            </a:r>
            <a:endParaRPr baseline="-8547" sz="975">
              <a:latin typeface="Garamond"/>
              <a:cs typeface="Garamond"/>
            </a:endParaRPr>
          </a:p>
          <a:p>
            <a:pPr lvl="1" marL="546100" indent="-229870">
              <a:lnSpc>
                <a:spcPts val="1270"/>
              </a:lnSpc>
              <a:buFont typeface="Courier New"/>
              <a:buChar char="o"/>
              <a:tabLst>
                <a:tab pos="546100" algn="l"/>
                <a:tab pos="546735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firm’s cost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 </a:t>
            </a:r>
            <a:r>
              <a:rPr dirty="0" sz="1100" spc="15">
                <a:latin typeface="Garamond"/>
                <a:cs typeface="Garamond"/>
              </a:rPr>
              <a:t>R</a:t>
            </a:r>
            <a:r>
              <a:rPr dirty="0" baseline="-8547" sz="975" spc="22">
                <a:latin typeface="Garamond"/>
                <a:cs typeface="Garamond"/>
              </a:rPr>
              <a:t>D</a:t>
            </a:r>
            <a:r>
              <a:rPr dirty="0" sz="1100" spc="15">
                <a:latin typeface="Garamond"/>
                <a:cs typeface="Garamond"/>
              </a:rPr>
              <a:t>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5387" y="3634318"/>
            <a:ext cx="5030913" cy="1857917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146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34108" y="714501"/>
            <a:ext cx="205295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413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debt-equity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D/E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19882" y="7707121"/>
            <a:ext cx="86995" cy="9525"/>
          </a:xfrm>
          <a:custGeom>
            <a:avLst/>
            <a:gdLst/>
            <a:ahLst/>
            <a:cxnLst/>
            <a:rect l="l" t="t" r="r" b="b"/>
            <a:pathLst>
              <a:path w="86994" h="9525">
                <a:moveTo>
                  <a:pt x="86868" y="0"/>
                </a:moveTo>
                <a:lnTo>
                  <a:pt x="0" y="0"/>
                </a:lnTo>
                <a:lnTo>
                  <a:pt x="0" y="9144"/>
                </a:lnTo>
                <a:lnTo>
                  <a:pt x="86868" y="9144"/>
                </a:lnTo>
                <a:lnTo>
                  <a:pt x="86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96334" y="7707121"/>
            <a:ext cx="91440" cy="9525"/>
          </a:xfrm>
          <a:custGeom>
            <a:avLst/>
            <a:gdLst/>
            <a:ahLst/>
            <a:cxnLst/>
            <a:rect l="l" t="t" r="r" b="b"/>
            <a:pathLst>
              <a:path w="91439" h="9525">
                <a:moveTo>
                  <a:pt x="91439" y="0"/>
                </a:moveTo>
                <a:lnTo>
                  <a:pt x="0" y="0"/>
                </a:lnTo>
                <a:lnTo>
                  <a:pt x="0" y="9144"/>
                </a:lnTo>
                <a:lnTo>
                  <a:pt x="91439" y="9144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19882" y="8823069"/>
            <a:ext cx="86995" cy="9525"/>
          </a:xfrm>
          <a:custGeom>
            <a:avLst/>
            <a:gdLst/>
            <a:ahLst/>
            <a:cxnLst/>
            <a:rect l="l" t="t" r="r" b="b"/>
            <a:pathLst>
              <a:path w="86994" h="9525">
                <a:moveTo>
                  <a:pt x="86868" y="0"/>
                </a:moveTo>
                <a:lnTo>
                  <a:pt x="0" y="0"/>
                </a:lnTo>
                <a:lnTo>
                  <a:pt x="0" y="9144"/>
                </a:lnTo>
                <a:lnTo>
                  <a:pt x="86868" y="9144"/>
                </a:lnTo>
                <a:lnTo>
                  <a:pt x="86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96334" y="8823069"/>
            <a:ext cx="91440" cy="9525"/>
          </a:xfrm>
          <a:custGeom>
            <a:avLst/>
            <a:gdLst/>
            <a:ahLst/>
            <a:cxnLst/>
            <a:rect l="l" t="t" r="r" b="b"/>
            <a:pathLst>
              <a:path w="91439" h="9525">
                <a:moveTo>
                  <a:pt x="91439" y="0"/>
                </a:moveTo>
                <a:lnTo>
                  <a:pt x="0" y="0"/>
                </a:lnTo>
                <a:lnTo>
                  <a:pt x="0" y="9144"/>
                </a:lnTo>
                <a:lnTo>
                  <a:pt x="91439" y="9144"/>
                </a:lnTo>
                <a:lnTo>
                  <a:pt x="91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03908" y="4190745"/>
            <a:ext cx="5645150" cy="542861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342265" marR="10668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342265" algn="l"/>
                <a:tab pos="342900" algn="l"/>
              </a:tabLst>
            </a:pPr>
            <a:r>
              <a:rPr dirty="0" sz="1100" spc="5">
                <a:latin typeface="Garamond"/>
                <a:cs typeface="Garamond"/>
              </a:rPr>
              <a:t>As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raises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debt-equity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leverage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raises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therefore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cost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(RE)</a:t>
            </a:r>
            <a:endParaRPr sz="1100">
              <a:latin typeface="Garamond"/>
              <a:cs typeface="Garamond"/>
            </a:endParaRPr>
          </a:p>
          <a:p>
            <a:pPr marL="3429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342265" algn="l"/>
                <a:tab pos="342900" algn="l"/>
              </a:tabLst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remains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supporting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M&amp;M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proposition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endParaRPr sz="1100">
              <a:latin typeface="Garamond"/>
              <a:cs typeface="Garamond"/>
            </a:endParaRPr>
          </a:p>
          <a:p>
            <a:pPr marL="3429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342265" algn="l"/>
                <a:tab pos="342900" algn="l"/>
              </a:tabLst>
            </a:pPr>
            <a:r>
              <a:rPr dirty="0" sz="1100" spc="5">
                <a:latin typeface="Garamond"/>
                <a:cs typeface="Garamond"/>
              </a:rPr>
              <a:t>RCD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Corporation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WACC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12%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(ignoring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taxes).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8%.</a:t>
            </a:r>
            <a:endParaRPr sz="1100">
              <a:latin typeface="Garamond"/>
              <a:cs typeface="Garamond"/>
            </a:endParaRPr>
          </a:p>
          <a:p>
            <a:pPr marL="342265" marR="109855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342265" algn="l"/>
                <a:tab pos="342900" algn="l"/>
              </a:tabLst>
            </a:pPr>
            <a:r>
              <a:rPr dirty="0" sz="1100">
                <a:latin typeface="Garamond"/>
                <a:cs typeface="Garamond"/>
              </a:rPr>
              <a:t>Assuming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RCD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target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80%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equity?</a:t>
            </a:r>
            <a:endParaRPr sz="1100">
              <a:latin typeface="Garamond"/>
              <a:cs typeface="Garamond"/>
            </a:endParaRPr>
          </a:p>
          <a:p>
            <a:pPr marL="3429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342265" algn="l"/>
                <a:tab pos="342900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target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structure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50%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equity?</a:t>
            </a:r>
            <a:endParaRPr sz="1100">
              <a:latin typeface="Garamond"/>
              <a:cs typeface="Garamond"/>
            </a:endParaRPr>
          </a:p>
          <a:p>
            <a:pPr marL="342900" indent="-228600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342265" algn="l"/>
                <a:tab pos="342900" algn="l"/>
              </a:tabLst>
            </a:pPr>
            <a:r>
              <a:rPr dirty="0" sz="1100">
                <a:latin typeface="Garamond"/>
                <a:cs typeface="Garamond"/>
              </a:rPr>
              <a:t>Calculate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WACC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5">
                <a:latin typeface="Garamond"/>
                <a:cs typeface="Garamond"/>
              </a:rPr>
              <a:t>verify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remains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same.</a:t>
            </a:r>
            <a:endParaRPr sz="1100">
              <a:latin typeface="Garamond"/>
              <a:cs typeface="Garamond"/>
            </a:endParaRPr>
          </a:p>
          <a:p>
            <a:pPr marL="3429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342265" algn="l"/>
                <a:tab pos="342900" algn="l"/>
              </a:tabLst>
            </a:pPr>
            <a:r>
              <a:rPr dirty="0" sz="1100" spc="-5">
                <a:latin typeface="Garamond"/>
                <a:cs typeface="Garamond"/>
              </a:rPr>
              <a:t>According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M&amp;M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proposition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257935">
              <a:lnSpc>
                <a:spcPct val="100000"/>
              </a:lnSpc>
              <a:spcBef>
                <a:spcPts val="1205"/>
              </a:spcBef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E</a:t>
            </a:r>
            <a:r>
              <a:rPr dirty="0" baseline="-8547" sz="975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R</a:t>
            </a:r>
            <a:r>
              <a:rPr dirty="0" baseline="-8547" sz="975" spc="15">
                <a:latin typeface="Garamond"/>
                <a:cs typeface="Garamond"/>
              </a:rPr>
              <a:t>A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(R</a:t>
            </a:r>
            <a:r>
              <a:rPr dirty="0" baseline="-8547" sz="975" spc="7">
                <a:latin typeface="Garamond"/>
                <a:cs typeface="Garamond"/>
              </a:rPr>
              <a:t>A</a:t>
            </a:r>
            <a:r>
              <a:rPr dirty="0" baseline="-8547" sz="975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baseline="-8547" sz="975" spc="15">
                <a:latin typeface="Garamond"/>
                <a:cs typeface="Garamond"/>
              </a:rPr>
              <a:t>D</a:t>
            </a:r>
            <a:r>
              <a:rPr dirty="0" sz="1100" spc="10">
                <a:latin typeface="Garamond"/>
                <a:cs typeface="Garamond"/>
              </a:rPr>
              <a:t>)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(D/E)</a:t>
            </a:r>
            <a:endParaRPr sz="1100">
              <a:latin typeface="Garamond"/>
              <a:cs typeface="Garamond"/>
            </a:endParaRPr>
          </a:p>
          <a:p>
            <a:pPr marL="342265" marR="1540510" indent="-342265">
              <a:lnSpc>
                <a:spcPct val="188200"/>
              </a:lnSpc>
              <a:spcBef>
                <a:spcPts val="105"/>
              </a:spcBef>
              <a:buFont typeface="Symbol"/>
              <a:buChar char=""/>
              <a:tabLst>
                <a:tab pos="342265" algn="l"/>
                <a:tab pos="3429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debt-equity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.2/.8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.25,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E</a:t>
            </a:r>
            <a:r>
              <a:rPr dirty="0" baseline="-8547" sz="975" spc="15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12%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(12%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8%)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0.25</a:t>
            </a:r>
            <a:endParaRPr sz="1100">
              <a:latin typeface="Garamond"/>
              <a:cs typeface="Garamond"/>
            </a:endParaRPr>
          </a:p>
          <a:p>
            <a:pPr marL="1257935">
              <a:lnSpc>
                <a:spcPts val="1260"/>
              </a:lnSpc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E</a:t>
            </a:r>
            <a:r>
              <a:rPr dirty="0" baseline="-8547" sz="975" spc="1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13%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342900" indent="-228600">
              <a:lnSpc>
                <a:spcPct val="100000"/>
              </a:lnSpc>
              <a:buFont typeface="Symbol"/>
              <a:buChar char=""/>
              <a:tabLst>
                <a:tab pos="342265" algn="l"/>
                <a:tab pos="3429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second</a:t>
            </a:r>
            <a:r>
              <a:rPr dirty="0" sz="1100" spc="-5">
                <a:latin typeface="Garamond"/>
                <a:cs typeface="Garamond"/>
              </a:rPr>
              <a:t> case,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debt-equity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comes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1.0,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16%</a:t>
            </a:r>
            <a:endParaRPr sz="1100">
              <a:latin typeface="Garamond"/>
              <a:cs typeface="Garamond"/>
            </a:endParaRPr>
          </a:p>
          <a:p>
            <a:pPr marL="3429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342265" algn="l"/>
                <a:tab pos="342900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assuming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80%,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13%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zero,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1815464">
              <a:lnSpc>
                <a:spcPts val="965"/>
              </a:lnSpc>
              <a:spcBef>
                <a:spcPts val="1155"/>
              </a:spcBef>
              <a:tabLst>
                <a:tab pos="2392045" algn="l"/>
              </a:tabLst>
            </a:pPr>
            <a:r>
              <a:rPr dirty="0" sz="1000" spc="70">
                <a:latin typeface="Cambria Math"/>
                <a:cs typeface="Cambria Math"/>
              </a:rPr>
              <a:t>E	</a:t>
            </a:r>
            <a:r>
              <a:rPr dirty="0" sz="1000" spc="75">
                <a:latin typeface="Cambria Math"/>
                <a:cs typeface="Cambria Math"/>
              </a:rPr>
              <a:t>D</a:t>
            </a:r>
            <a:endParaRPr sz="1000">
              <a:latin typeface="Cambria Math"/>
              <a:cs typeface="Cambria Math"/>
            </a:endParaRPr>
          </a:p>
          <a:p>
            <a:pPr marL="1257935">
              <a:lnSpc>
                <a:spcPts val="1085"/>
              </a:lnSpc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8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E</a:t>
            </a:r>
            <a:r>
              <a:rPr dirty="0" baseline="-13888" sz="1200" spc="254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13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D</a:t>
            </a:r>
            <a:endParaRPr baseline="-13888" sz="1200">
              <a:latin typeface="Cambria Math"/>
              <a:cs typeface="Cambria Math"/>
            </a:endParaRPr>
          </a:p>
          <a:p>
            <a:pPr marL="1257935">
              <a:lnSpc>
                <a:spcPts val="1290"/>
              </a:lnSpc>
              <a:spcBef>
                <a:spcPts val="375"/>
              </a:spcBef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0.80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13%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0.20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endParaRPr sz="1100">
              <a:latin typeface="Garamond"/>
              <a:cs typeface="Garamond"/>
            </a:endParaRPr>
          </a:p>
          <a:p>
            <a:pPr marL="1257935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12%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342900" indent="-228600">
              <a:lnSpc>
                <a:spcPct val="100000"/>
              </a:lnSpc>
              <a:buFont typeface="Symbol"/>
              <a:buChar char=""/>
              <a:tabLst>
                <a:tab pos="342265" algn="l"/>
                <a:tab pos="3429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second</a:t>
            </a:r>
            <a:r>
              <a:rPr dirty="0" sz="1100" spc="-5">
                <a:latin typeface="Garamond"/>
                <a:cs typeface="Garamond"/>
              </a:rPr>
              <a:t> case,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50%,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16%.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WACC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endParaRPr sz="1100">
              <a:latin typeface="Garamond"/>
              <a:cs typeface="Garamond"/>
            </a:endParaRPr>
          </a:p>
          <a:p>
            <a:pPr marL="1815464">
              <a:lnSpc>
                <a:spcPts val="965"/>
              </a:lnSpc>
              <a:spcBef>
                <a:spcPts val="1195"/>
              </a:spcBef>
              <a:tabLst>
                <a:tab pos="2392045" algn="l"/>
              </a:tabLst>
            </a:pPr>
            <a:r>
              <a:rPr dirty="0" sz="1000" spc="70">
                <a:latin typeface="Cambria Math"/>
                <a:cs typeface="Cambria Math"/>
              </a:rPr>
              <a:t>E	</a:t>
            </a:r>
            <a:r>
              <a:rPr dirty="0" sz="1000" spc="75">
                <a:latin typeface="Cambria Math"/>
                <a:cs typeface="Cambria Math"/>
              </a:rPr>
              <a:t>D</a:t>
            </a:r>
            <a:endParaRPr sz="1000">
              <a:latin typeface="Cambria Math"/>
              <a:cs typeface="Cambria Math"/>
            </a:endParaRPr>
          </a:p>
          <a:p>
            <a:pPr marL="1257935">
              <a:lnSpc>
                <a:spcPts val="1085"/>
              </a:lnSpc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82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E</a:t>
            </a:r>
            <a:r>
              <a:rPr dirty="0" baseline="-13888" sz="1200" spc="254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baseline="-38888" sz="1500" spc="120">
                <a:latin typeface="Cambria Math"/>
                <a:cs typeface="Cambria Math"/>
              </a:rPr>
              <a:t>V</a:t>
            </a:r>
            <a:r>
              <a:rPr dirty="0" baseline="-38888" sz="1500" spc="135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40">
                <a:latin typeface="Cambria Math"/>
                <a:cs typeface="Cambria Math"/>
              </a:rPr>
              <a:t>R</a:t>
            </a:r>
            <a:r>
              <a:rPr dirty="0" baseline="-13888" sz="1200" spc="60">
                <a:latin typeface="Cambria Math"/>
                <a:cs typeface="Cambria Math"/>
              </a:rPr>
              <a:t>D</a:t>
            </a:r>
            <a:endParaRPr baseline="-13888" sz="1200">
              <a:latin typeface="Cambria Math"/>
              <a:cs typeface="Cambria Math"/>
            </a:endParaRPr>
          </a:p>
          <a:p>
            <a:pPr marL="1257935">
              <a:lnSpc>
                <a:spcPts val="1290"/>
              </a:lnSpc>
              <a:spcBef>
                <a:spcPts val="335"/>
              </a:spcBef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0.50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16%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0.50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endParaRPr sz="1100">
              <a:latin typeface="Garamond"/>
              <a:cs typeface="Garamond"/>
            </a:endParaRPr>
          </a:p>
          <a:p>
            <a:pPr marL="1257935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WACC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12%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342900" indent="-228600">
              <a:lnSpc>
                <a:spcPct val="100000"/>
              </a:lnSpc>
              <a:buFont typeface="Symbol"/>
              <a:buChar char=""/>
              <a:tabLst>
                <a:tab pos="342265" algn="l"/>
                <a:tab pos="34290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WACC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12%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cases.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1038" y="1248457"/>
            <a:ext cx="4945793" cy="2773331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25208" y="9744940"/>
            <a:ext cx="2247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z="1100" spc="20">
                <a:latin typeface="Garamond"/>
                <a:cs typeface="Garamond"/>
              </a:rPr>
              <a:t>1</a:t>
            </a:r>
            <a:r>
              <a:rPr dirty="0" sz="1100" spc="-15">
                <a:latin typeface="Garamond"/>
                <a:cs typeface="Garamond"/>
              </a:rPr>
              <a:t>4</a:t>
            </a:r>
            <a:r>
              <a:rPr dirty="0" sz="1100" spc="5">
                <a:latin typeface="Garamond"/>
                <a:cs typeface="Garamond"/>
              </a:rPr>
              <a:t>7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8529" y="869949"/>
            <a:ext cx="5797550" cy="39147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Business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Financial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08000" indent="-229235">
              <a:lnSpc>
                <a:spcPts val="1290"/>
              </a:lnSpc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M&amp;M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proposition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broken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</a:t>
            </a:r>
            <a:endParaRPr sz="1100">
              <a:latin typeface="Garamond"/>
              <a:cs typeface="Garamond"/>
            </a:endParaRPr>
          </a:p>
          <a:p>
            <a:pPr lvl="1" marL="737235" marR="93980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736600" algn="l"/>
                <a:tab pos="7378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return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assets,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R</a:t>
            </a:r>
            <a:r>
              <a:rPr dirty="0" baseline="-8547" sz="975" spc="22">
                <a:latin typeface="Garamond"/>
                <a:cs typeface="Garamond"/>
              </a:rPr>
              <a:t>A   </a:t>
            </a:r>
            <a:r>
              <a:rPr dirty="0" baseline="-8547" sz="975" spc="20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nature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activities</a:t>
            </a:r>
            <a:endParaRPr sz="1100">
              <a:latin typeface="Garamond"/>
              <a:cs typeface="Garamond"/>
            </a:endParaRPr>
          </a:p>
          <a:p>
            <a:pPr lvl="1" marL="737235" marR="99060" indent="-229235">
              <a:lnSpc>
                <a:spcPts val="1220"/>
              </a:lnSpc>
              <a:spcBef>
                <a:spcPts val="45"/>
              </a:spcBef>
              <a:buFont typeface="Courier New"/>
              <a:buChar char="o"/>
              <a:tabLst>
                <a:tab pos="736600" algn="l"/>
                <a:tab pos="7378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inherent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operations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know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business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systematic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assets.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ts val="1290"/>
              </a:lnSpc>
              <a:spcBef>
                <a:spcPts val="30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M&amp;M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proposition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broken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</a:t>
            </a:r>
            <a:endParaRPr sz="1100">
              <a:latin typeface="Garamond"/>
              <a:cs typeface="Garamond"/>
            </a:endParaRPr>
          </a:p>
          <a:p>
            <a:pPr lvl="1" marL="965835" indent="-229235">
              <a:lnSpc>
                <a:spcPts val="1245"/>
              </a:lnSpc>
              <a:buFont typeface="Courier New"/>
              <a:buChar char="o"/>
              <a:tabLst>
                <a:tab pos="965200" algn="l"/>
                <a:tab pos="966469" algn="l"/>
              </a:tabLst>
            </a:pPr>
            <a:r>
              <a:rPr dirty="0" sz="1100" spc="5">
                <a:latin typeface="Garamond"/>
                <a:cs typeface="Garamond"/>
              </a:rPr>
              <a:t>(R</a:t>
            </a:r>
            <a:r>
              <a:rPr dirty="0" baseline="-8547" sz="975" spc="7">
                <a:latin typeface="Garamond"/>
                <a:cs typeface="Garamond"/>
              </a:rPr>
              <a:t>A</a:t>
            </a:r>
            <a:r>
              <a:rPr dirty="0" baseline="-8547" sz="975" spc="187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baseline="-8547" sz="975" spc="15">
                <a:latin typeface="Garamond"/>
                <a:cs typeface="Garamond"/>
              </a:rPr>
              <a:t>D</a:t>
            </a:r>
            <a:r>
              <a:rPr dirty="0" sz="1100" spc="10">
                <a:latin typeface="Garamond"/>
                <a:cs typeface="Garamond"/>
              </a:rPr>
              <a:t>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(D/E)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determined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 </a:t>
            </a:r>
            <a:r>
              <a:rPr dirty="0" sz="1100" spc="-5">
                <a:latin typeface="Garamond"/>
                <a:cs typeface="Garamond"/>
              </a:rPr>
              <a:t>structure.</a:t>
            </a:r>
            <a:endParaRPr sz="1100">
              <a:latin typeface="Garamond"/>
              <a:cs typeface="Garamond"/>
            </a:endParaRPr>
          </a:p>
          <a:p>
            <a:pPr lvl="1" marL="965835" indent="-229235">
              <a:lnSpc>
                <a:spcPts val="1245"/>
              </a:lnSpc>
              <a:buFont typeface="Courier New"/>
              <a:buChar char="o"/>
              <a:tabLst>
                <a:tab pos="965200" algn="l"/>
                <a:tab pos="966469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zero.</a:t>
            </a:r>
            <a:endParaRPr sz="1100">
              <a:latin typeface="Garamond"/>
              <a:cs typeface="Garamond"/>
            </a:endParaRPr>
          </a:p>
          <a:p>
            <a:pPr lvl="1" marL="965835" marR="95250" indent="-228600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965200" algn="l"/>
                <a:tab pos="9664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raises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born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investors </a:t>
            </a:r>
            <a:r>
              <a:rPr dirty="0" sz="1100" spc="-5">
                <a:latin typeface="Garamond"/>
                <a:cs typeface="Garamond"/>
              </a:rPr>
              <a:t>increases.</a:t>
            </a:r>
            <a:endParaRPr sz="1100">
              <a:latin typeface="Garamond"/>
              <a:cs typeface="Garamond"/>
            </a:endParaRPr>
          </a:p>
          <a:p>
            <a:pPr lvl="1" marL="965835" indent="-229235">
              <a:lnSpc>
                <a:spcPts val="1240"/>
              </a:lnSpc>
              <a:buFont typeface="Courier New"/>
              <a:buChar char="o"/>
              <a:tabLst>
                <a:tab pos="965200" algn="l"/>
                <a:tab pos="966469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5">
                <a:latin typeface="Garamond"/>
                <a:cs typeface="Garamond"/>
              </a:rPr>
              <a:t> extra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financial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risk</a:t>
            </a:r>
            <a:r>
              <a:rPr dirty="0" sz="1100">
                <a:latin typeface="Garamond"/>
                <a:cs typeface="Garamond"/>
              </a:rPr>
              <a:t>.</a:t>
            </a:r>
            <a:endParaRPr sz="11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  <a:spcBef>
                <a:spcPts val="1130"/>
              </a:spcBef>
            </a:pPr>
            <a:r>
              <a:rPr dirty="0" sz="1100" spc="-5" b="1">
                <a:latin typeface="Garamond"/>
                <a:cs typeface="Garamond"/>
              </a:rPr>
              <a:t>Corporate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Taxes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&amp;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Capital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Structure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Garamond"/>
              <a:cs typeface="Garamond"/>
            </a:endParaRPr>
          </a:p>
          <a:p>
            <a:pPr marL="508000" indent="-229235">
              <a:lnSpc>
                <a:spcPts val="1290"/>
              </a:lnSpc>
              <a:spcBef>
                <a:spcPts val="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Debt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features</a:t>
            </a:r>
            <a:endParaRPr sz="1100">
              <a:latin typeface="Garamond"/>
              <a:cs typeface="Garamond"/>
            </a:endParaRPr>
          </a:p>
          <a:p>
            <a:pPr lvl="1" marL="965835" indent="-229235">
              <a:lnSpc>
                <a:spcPts val="1245"/>
              </a:lnSpc>
              <a:buFont typeface="Courier New"/>
              <a:buChar char="o"/>
              <a:tabLst>
                <a:tab pos="965200" algn="l"/>
                <a:tab pos="966469" algn="l"/>
              </a:tabLst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tax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deductible;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benefit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 lvl="1" marL="965835" indent="-229235">
              <a:lnSpc>
                <a:spcPts val="1275"/>
              </a:lnSpc>
              <a:buFont typeface="Courier New"/>
              <a:buChar char="o"/>
              <a:tabLst>
                <a:tab pos="965200" algn="l"/>
                <a:tab pos="966469" algn="l"/>
              </a:tabLst>
            </a:pPr>
            <a:r>
              <a:rPr dirty="0" sz="1100" spc="-5">
                <a:latin typeface="Garamond"/>
                <a:cs typeface="Garamond"/>
              </a:rPr>
              <a:t>Failure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lead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bankruptcy;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Courier New"/>
              <a:buChar char="o"/>
            </a:pPr>
            <a:endParaRPr sz="1200">
              <a:latin typeface="Garamond"/>
              <a:cs typeface="Garamond"/>
            </a:endParaRPr>
          </a:p>
          <a:p>
            <a:pPr marL="508000" marR="95885" indent="-228600">
              <a:lnSpc>
                <a:spcPts val="1260"/>
              </a:lnSpc>
              <a:spcBef>
                <a:spcPts val="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examine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taxes,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consider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(Firm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U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&amp;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L),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identical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left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side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sheet.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operations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same.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ts val="1290"/>
              </a:lnSpc>
              <a:spcBef>
                <a:spcPts val="15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Assuming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EBIT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year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issued</a:t>
            </a:r>
            <a:endParaRPr sz="1100">
              <a:latin typeface="Garamond"/>
              <a:cs typeface="Garamond"/>
            </a:endParaRPr>
          </a:p>
          <a:p>
            <a:pPr marL="508000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$1,000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perpetual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8%</a:t>
            </a:r>
            <a:r>
              <a:rPr dirty="0" sz="1100" spc="-5">
                <a:latin typeface="Garamond"/>
                <a:cs typeface="Garamond"/>
              </a:rPr>
              <a:t> 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99588" y="4939918"/>
          <a:ext cx="3121025" cy="961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7955"/>
                <a:gridCol w="1093470"/>
                <a:gridCol w="610235"/>
              </a:tblGrid>
              <a:tr h="156745">
                <a:tc>
                  <a:txBody>
                    <a:bodyPr/>
                    <a:lstStyle/>
                    <a:p>
                      <a:pPr marR="27749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37795" marR="396240">
                        <a:lnSpc>
                          <a:spcPts val="114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U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4935" marR="3175">
                        <a:lnSpc>
                          <a:spcPts val="114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59861">
                <a:tc>
                  <a:txBody>
                    <a:bodyPr/>
                    <a:lstStyle/>
                    <a:p>
                      <a:pPr marL="68580" marR="277495">
                        <a:lnSpc>
                          <a:spcPts val="11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EBIT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3515" marR="396240">
                        <a:lnSpc>
                          <a:spcPts val="11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2240" marR="3175">
                        <a:lnSpc>
                          <a:spcPts val="11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147">
                <a:tc>
                  <a:txBody>
                    <a:bodyPr/>
                    <a:lstStyle/>
                    <a:p>
                      <a:pPr marL="68580" marR="277495">
                        <a:lnSpc>
                          <a:spcPts val="116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0"/>
                        </a:lnSpc>
                        <a:tabLst>
                          <a:tab pos="508000" algn="l"/>
                          <a:tab pos="1089025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0"/>
                        </a:lnSpc>
                      </a:pPr>
                      <a:r>
                        <a:rPr dirty="0" u="sng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80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0019">
                <a:tc>
                  <a:txBody>
                    <a:bodyPr/>
                    <a:lstStyle/>
                    <a:p>
                      <a:pPr marL="68580" marR="277495">
                        <a:lnSpc>
                          <a:spcPts val="116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Taxable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Income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3515" marR="396240">
                        <a:lnSpc>
                          <a:spcPts val="116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16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920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306">
                <a:tc>
                  <a:txBody>
                    <a:bodyPr/>
                    <a:lstStyle/>
                    <a:p>
                      <a:pPr marL="68580" marR="277495">
                        <a:lnSpc>
                          <a:spcPts val="11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Taxes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(30%)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785">
                        <a:lnSpc>
                          <a:spcPts val="1180"/>
                        </a:lnSpc>
                        <a:tabLst>
                          <a:tab pos="375285" algn="l"/>
                          <a:tab pos="1024890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300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276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62020">
                <a:tc>
                  <a:txBody>
                    <a:bodyPr/>
                    <a:lstStyle/>
                    <a:p>
                      <a:pPr marL="68580">
                        <a:lnSpc>
                          <a:spcPts val="1175"/>
                        </a:lnSpc>
                        <a:tabLst>
                          <a:tab pos="1097915" algn="l"/>
                          <a:tab pos="1413510" algn="l"/>
                        </a:tabLst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Income	</a:t>
                      </a:r>
                      <a:r>
                        <a:rPr dirty="0" u="heavy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heavy" sz="1100" spc="-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9400" marR="149225">
                        <a:lnSpc>
                          <a:spcPts val="1175"/>
                        </a:lnSpc>
                        <a:tabLst>
                          <a:tab pos="929005" algn="l"/>
                        </a:tabLst>
                      </a:pPr>
                      <a:r>
                        <a:rPr dirty="0" u="heavy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heavy" sz="1100" spc="-2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heavy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700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dirty="0" u="heavy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u="heavy" sz="1100" spc="-2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heavy" sz="1100" spc="-1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644</a:t>
                      </a:r>
                      <a:r>
                        <a:rPr dirty="0" u="heavy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5508" y="6061709"/>
            <a:ext cx="3537585" cy="840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ts val="127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simplify,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assume</a:t>
            </a:r>
            <a:endParaRPr sz="1100">
              <a:latin typeface="Garamond"/>
              <a:cs typeface="Garamond"/>
            </a:endParaRPr>
          </a:p>
          <a:p>
            <a:pPr lvl="1" marL="698500" indent="-229235">
              <a:lnSpc>
                <a:spcPts val="1240"/>
              </a:lnSpc>
              <a:buFont typeface="Courier New"/>
              <a:buChar char="o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Depreciation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</a:t>
            </a:r>
            <a:endParaRPr sz="1100">
              <a:latin typeface="Garamond"/>
              <a:cs typeface="Garamond"/>
            </a:endParaRPr>
          </a:p>
          <a:p>
            <a:pPr lvl="1" marL="698500" indent="-229235">
              <a:lnSpc>
                <a:spcPts val="1240"/>
              </a:lnSpc>
              <a:buFont typeface="Courier New"/>
              <a:buChar char="o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spending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</a:t>
            </a:r>
            <a:endParaRPr sz="1100">
              <a:latin typeface="Garamond"/>
              <a:cs typeface="Garamond"/>
            </a:endParaRPr>
          </a:p>
          <a:p>
            <a:pPr lvl="1" marL="698500" indent="-229235">
              <a:lnSpc>
                <a:spcPts val="1270"/>
              </a:lnSpc>
              <a:buFont typeface="Courier New"/>
              <a:buChar char="o"/>
              <a:tabLst>
                <a:tab pos="698500" algn="l"/>
                <a:tab pos="699135" algn="l"/>
              </a:tabLst>
            </a:pPr>
            <a:r>
              <a:rPr dirty="0" sz="1100" spc="5">
                <a:latin typeface="Garamond"/>
                <a:cs typeface="Garamond"/>
              </a:rPr>
              <a:t>There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additions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Thus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is </a:t>
            </a:r>
            <a:r>
              <a:rPr dirty="0" sz="1100" spc="-5">
                <a:latin typeface="Garamond"/>
                <a:cs typeface="Garamond"/>
              </a:rPr>
              <a:t>simply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EBIT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Taxes.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561844" y="7062215"/>
          <a:ext cx="3248660" cy="659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8770"/>
                <a:gridCol w="1052195"/>
                <a:gridCol w="607694"/>
              </a:tblGrid>
              <a:tr h="156745">
                <a:tc>
                  <a:txBody>
                    <a:bodyPr/>
                    <a:lstStyle/>
                    <a:p>
                      <a:pPr marL="67945">
                        <a:lnSpc>
                          <a:spcPts val="11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from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 Assets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63195" marR="332105">
                        <a:lnSpc>
                          <a:spcPts val="114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U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3030" marR="3175">
                        <a:lnSpc>
                          <a:spcPts val="114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59861">
                <a:tc>
                  <a:txBody>
                    <a:bodyPr/>
                    <a:lstStyle/>
                    <a:p>
                      <a:pPr marL="67945">
                        <a:lnSpc>
                          <a:spcPts val="11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EBIT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8915" marR="332105">
                        <a:lnSpc>
                          <a:spcPts val="11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0335" marR="3175">
                        <a:lnSpc>
                          <a:spcPts val="11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146">
                <a:tc>
                  <a:txBody>
                    <a:bodyPr/>
                    <a:lstStyle/>
                    <a:p>
                      <a:pPr marL="67945">
                        <a:lnSpc>
                          <a:spcPts val="116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Interest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160"/>
                        </a:lnSpc>
                        <a:tabLst>
                          <a:tab pos="401320" algn="l"/>
                          <a:tab pos="1045844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300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ts val="1160"/>
                        </a:lnSpc>
                      </a:pP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276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81868">
                <a:tc>
                  <a:txBody>
                    <a:bodyPr/>
                    <a:lstStyle/>
                    <a:p>
                      <a:pPr marL="67945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4800" marR="332105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700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36220" marR="3175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724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4140073" y="7707121"/>
            <a:ext cx="1322705" cy="13970"/>
          </a:xfrm>
          <a:custGeom>
            <a:avLst/>
            <a:gdLst/>
            <a:ahLst/>
            <a:cxnLst/>
            <a:rect l="l" t="t" r="r" b="b"/>
            <a:pathLst>
              <a:path w="1322704" h="13970">
                <a:moveTo>
                  <a:pt x="1322298" y="9156"/>
                </a:moveTo>
                <a:lnTo>
                  <a:pt x="677037" y="9156"/>
                </a:lnTo>
                <a:lnTo>
                  <a:pt x="672388" y="9156"/>
                </a:lnTo>
                <a:lnTo>
                  <a:pt x="663321" y="9156"/>
                </a:lnTo>
                <a:lnTo>
                  <a:pt x="0" y="9156"/>
                </a:lnTo>
                <a:lnTo>
                  <a:pt x="0" y="13716"/>
                </a:lnTo>
                <a:lnTo>
                  <a:pt x="663321" y="13716"/>
                </a:lnTo>
                <a:lnTo>
                  <a:pt x="672388" y="13716"/>
                </a:lnTo>
                <a:lnTo>
                  <a:pt x="677037" y="13716"/>
                </a:lnTo>
                <a:lnTo>
                  <a:pt x="1322298" y="13716"/>
                </a:lnTo>
                <a:lnTo>
                  <a:pt x="1322298" y="9156"/>
                </a:lnTo>
                <a:close/>
              </a:path>
              <a:path w="1322704" h="13970">
                <a:moveTo>
                  <a:pt x="1322298" y="0"/>
                </a:moveTo>
                <a:lnTo>
                  <a:pt x="677037" y="0"/>
                </a:lnTo>
                <a:lnTo>
                  <a:pt x="672388" y="0"/>
                </a:lnTo>
                <a:lnTo>
                  <a:pt x="663321" y="0"/>
                </a:lnTo>
                <a:lnTo>
                  <a:pt x="0" y="0"/>
                </a:lnTo>
                <a:lnTo>
                  <a:pt x="0" y="4572"/>
                </a:lnTo>
                <a:lnTo>
                  <a:pt x="663321" y="4572"/>
                </a:lnTo>
                <a:lnTo>
                  <a:pt x="672388" y="4572"/>
                </a:lnTo>
                <a:lnTo>
                  <a:pt x="677037" y="4572"/>
                </a:lnTo>
                <a:lnTo>
                  <a:pt x="1322298" y="4572"/>
                </a:lnTo>
                <a:lnTo>
                  <a:pt x="13222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05508" y="7859014"/>
            <a:ext cx="3332479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stockholders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bondholders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are: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148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799588" y="8214994"/>
          <a:ext cx="2837180" cy="654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915"/>
                <a:gridCol w="1128395"/>
                <a:gridCol w="609600"/>
              </a:tblGrid>
              <a:tr h="156745">
                <a:tc>
                  <a:txBody>
                    <a:bodyPr/>
                    <a:lstStyle/>
                    <a:p>
                      <a:pPr marL="68580">
                        <a:lnSpc>
                          <a:spcPts val="114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73355" marR="396240">
                        <a:lnSpc>
                          <a:spcPts val="114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U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4935" marR="3175">
                        <a:lnSpc>
                          <a:spcPts val="114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F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i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r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m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59734">
                <a:tc>
                  <a:txBody>
                    <a:bodyPr/>
                    <a:lstStyle/>
                    <a:p>
                      <a:pPr marL="68580">
                        <a:lnSpc>
                          <a:spcPts val="11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Stockholders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4960" marR="396240">
                        <a:lnSpc>
                          <a:spcPts val="11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700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15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644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019">
                <a:tc>
                  <a:txBody>
                    <a:bodyPr/>
                    <a:lstStyle/>
                    <a:p>
                      <a:pPr marL="68580">
                        <a:lnSpc>
                          <a:spcPts val="116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Bondholders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1160"/>
                        </a:lnSpc>
                        <a:tabLst>
                          <a:tab pos="544195" algn="l"/>
                          <a:tab pos="1125220" algn="l"/>
                        </a:tabLst>
                      </a:pP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u="sng" sz="110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	</a:t>
                      </a:r>
                      <a:r>
                        <a:rPr dirty="0" u="sng" sz="1100" spc="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0	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60"/>
                        </a:lnSpc>
                      </a:pPr>
                      <a:r>
                        <a:rPr dirty="0" u="sng" sz="1100" spc="15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80</a:t>
                      </a:r>
                      <a:r>
                        <a:rPr dirty="0" u="sng" sz="1100" spc="-30">
                          <a:uFill>
                            <a:solidFill>
                              <a:srgbClr val="000000"/>
                            </a:solidFill>
                          </a:uFill>
                          <a:latin typeface="Garamond"/>
                          <a:cs typeface="Garamond"/>
                        </a:rPr>
                        <a:t> 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</a:tr>
              <a:tr h="175264">
                <a:tc>
                  <a:txBody>
                    <a:bodyPr/>
                    <a:lstStyle/>
                    <a:p>
                      <a:pPr marL="68580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4960" marR="396240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700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7945">
                        <a:lnSpc>
                          <a:spcPts val="11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724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405508" y="9011792"/>
            <a:ext cx="5445125" cy="534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$24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>
                <a:latin typeface="Garamond"/>
                <a:cs typeface="Garamond"/>
              </a:rPr>
              <a:t> bill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5">
                <a:latin typeface="Garamond"/>
                <a:cs typeface="Garamond"/>
              </a:rPr>
              <a:t>$24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less.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deductible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saving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multiplied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5">
                <a:latin typeface="Garamond"/>
                <a:cs typeface="Garamond"/>
              </a:rPr>
              <a:t> rate,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i.e.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714501"/>
            <a:ext cx="5443220" cy="1550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563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$80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0.30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$24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5">
                <a:latin typeface="Garamond"/>
                <a:cs typeface="Garamond"/>
              </a:rPr>
              <a:t> tax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saving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Shield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perpetual,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$24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shield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-5">
                <a:latin typeface="Garamond"/>
                <a:cs typeface="Garamond"/>
              </a:rPr>
              <a:t>forever.</a:t>
            </a:r>
            <a:endParaRPr sz="1100">
              <a:latin typeface="Garamond"/>
              <a:cs typeface="Garamond"/>
            </a:endParaRPr>
          </a:p>
          <a:p>
            <a:pPr marL="240665" marR="635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L’s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always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$24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greater,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its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worth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U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the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$24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perpetuity.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 </a:t>
            </a:r>
            <a:r>
              <a:rPr dirty="0" sz="1100" spc="-15">
                <a:latin typeface="Garamond"/>
                <a:cs typeface="Garamond"/>
              </a:rPr>
              <a:t>shied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8%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therefore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appropriate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 </a:t>
            </a:r>
            <a:r>
              <a:rPr dirty="0" sz="1100" spc="-10">
                <a:latin typeface="Garamond"/>
                <a:cs typeface="Garamond"/>
              </a:rPr>
              <a:t>shield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00426" y="2593593"/>
            <a:ext cx="247015" cy="9525"/>
          </a:xfrm>
          <a:custGeom>
            <a:avLst/>
            <a:gdLst/>
            <a:ahLst/>
            <a:cxnLst/>
            <a:rect l="l" t="t" r="r" b="b"/>
            <a:pathLst>
              <a:path w="247014" h="9525">
                <a:moveTo>
                  <a:pt x="246887" y="0"/>
                </a:moveTo>
                <a:lnTo>
                  <a:pt x="0" y="0"/>
                </a:lnTo>
                <a:lnTo>
                  <a:pt x="0" y="9144"/>
                </a:lnTo>
                <a:lnTo>
                  <a:pt x="246887" y="9144"/>
                </a:lnTo>
                <a:lnTo>
                  <a:pt x="2468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23744" y="2494025"/>
            <a:ext cx="79311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baseline="-38888" sz="1500" spc="22">
                <a:latin typeface="Cambria Math"/>
                <a:cs typeface="Cambria Math"/>
              </a:rPr>
              <a:t>0.08</a:t>
            </a:r>
            <a:r>
              <a:rPr dirty="0" baseline="-38888" sz="1500" spc="67">
                <a:latin typeface="Cambria Math"/>
                <a:cs typeface="Cambria Math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6014" y="2402585"/>
            <a:ext cx="153035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0685" algn="l"/>
              </a:tabLst>
            </a:pPr>
            <a:r>
              <a:rPr dirty="0" sz="1000" spc="10">
                <a:latin typeface="Cambria Math"/>
                <a:cs typeface="Cambria Math"/>
              </a:rPr>
              <a:t>$24	</a:t>
            </a:r>
            <a:r>
              <a:rPr dirty="0" sz="1000" spc="20">
                <a:latin typeface="Cambria Math"/>
                <a:cs typeface="Cambria Math"/>
              </a:rPr>
              <a:t>0.30</a:t>
            </a:r>
            <a:r>
              <a:rPr dirty="0" sz="1000" spc="-40">
                <a:latin typeface="Cambria Math"/>
                <a:cs typeface="Cambria Math"/>
              </a:rPr>
              <a:t> </a:t>
            </a:r>
            <a:r>
              <a:rPr dirty="0" sz="1000" spc="10">
                <a:latin typeface="Cambria Math"/>
                <a:cs typeface="Cambria Math"/>
              </a:rPr>
              <a:t>×$1,000</a:t>
            </a:r>
            <a:r>
              <a:rPr dirty="0" sz="1000" spc="-35">
                <a:latin typeface="Cambria Math"/>
                <a:cs typeface="Cambria Math"/>
              </a:rPr>
              <a:t> </a:t>
            </a:r>
            <a:r>
              <a:rPr dirty="0" sz="1000" spc="10">
                <a:latin typeface="Cambria Math"/>
                <a:cs typeface="Cambria Math"/>
              </a:rPr>
              <a:t>×0.08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29354" y="2599181"/>
            <a:ext cx="27305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0</a:t>
            </a:r>
            <a:r>
              <a:rPr dirty="0" sz="1000" spc="10">
                <a:latin typeface="Cambria Math"/>
                <a:cs typeface="Cambria Math"/>
              </a:rPr>
              <a:t>.</a:t>
            </a:r>
            <a:r>
              <a:rPr dirty="0" sz="1000" spc="15">
                <a:latin typeface="Cambria Math"/>
                <a:cs typeface="Cambria Math"/>
              </a:rPr>
              <a:t>08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07334" y="2593593"/>
            <a:ext cx="1116965" cy="9525"/>
          </a:xfrm>
          <a:custGeom>
            <a:avLst/>
            <a:gdLst/>
            <a:ahLst/>
            <a:cxnLst/>
            <a:rect l="l" t="t" r="r" b="b"/>
            <a:pathLst>
              <a:path w="1116964" h="9525">
                <a:moveTo>
                  <a:pt x="1116482" y="0"/>
                </a:moveTo>
                <a:lnTo>
                  <a:pt x="0" y="0"/>
                </a:lnTo>
                <a:lnTo>
                  <a:pt x="0" y="9144"/>
                </a:lnTo>
                <a:lnTo>
                  <a:pt x="1116482" y="9144"/>
                </a:lnTo>
                <a:lnTo>
                  <a:pt x="11164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38529" y="2859785"/>
            <a:ext cx="5788660" cy="22999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63322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0.30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508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Corporate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Taxes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&amp;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Capital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Structure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So:</a:t>
            </a:r>
            <a:endParaRPr sz="1100">
              <a:latin typeface="Garamond"/>
              <a:cs typeface="Garamond"/>
            </a:endParaRPr>
          </a:p>
          <a:p>
            <a:pPr marL="1423035">
              <a:lnSpc>
                <a:spcPts val="1270"/>
              </a:lnSpc>
              <a:spcBef>
                <a:spcPts val="1165"/>
              </a:spcBef>
            </a:pPr>
            <a:r>
              <a:rPr dirty="0" sz="1100" spc="-5">
                <a:latin typeface="Garamond"/>
                <a:cs typeface="Garamond"/>
              </a:rPr>
              <a:t>PV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shield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(T</a:t>
            </a:r>
            <a:r>
              <a:rPr dirty="0" baseline="-8547" sz="975">
                <a:latin typeface="Garamond"/>
                <a:cs typeface="Garamond"/>
              </a:rPr>
              <a:t>C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D</a:t>
            </a:r>
            <a:r>
              <a:rPr dirty="0" sz="1100" spc="5">
                <a:latin typeface="Garamond"/>
                <a:cs typeface="Garamond"/>
              </a:rPr>
              <a:t>)/R</a:t>
            </a:r>
            <a:r>
              <a:rPr dirty="0" baseline="-8547" sz="975" spc="7">
                <a:latin typeface="Garamond"/>
                <a:cs typeface="Garamond"/>
              </a:rPr>
              <a:t>D</a:t>
            </a:r>
            <a:endParaRPr baseline="-8547" sz="975">
              <a:latin typeface="Garamond"/>
              <a:cs typeface="Garamond"/>
            </a:endParaRPr>
          </a:p>
          <a:p>
            <a:pPr algn="ctr" marL="346710">
              <a:lnSpc>
                <a:spcPts val="1270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T</a:t>
            </a:r>
            <a:r>
              <a:rPr dirty="0" baseline="-8547" sz="975" spc="22">
                <a:latin typeface="Garamond"/>
                <a:cs typeface="Garamond"/>
              </a:rPr>
              <a:t>C</a:t>
            </a:r>
            <a:r>
              <a:rPr dirty="0" baseline="-8547" sz="975" spc="89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aramond"/>
              <a:cs typeface="Garamond"/>
            </a:endParaRPr>
          </a:p>
          <a:p>
            <a:pPr marL="508000" marR="81280" indent="-228600">
              <a:lnSpc>
                <a:spcPts val="1260"/>
              </a:lnSpc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conclude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here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V</a:t>
            </a:r>
            <a:r>
              <a:rPr dirty="0" baseline="-8547" sz="975" spc="30">
                <a:latin typeface="Garamond"/>
                <a:cs typeface="Garamond"/>
              </a:rPr>
              <a:t>L</a:t>
            </a:r>
            <a:r>
              <a:rPr dirty="0" sz="1100" spc="20">
                <a:latin typeface="Garamond"/>
                <a:cs typeface="Garamond"/>
              </a:rPr>
              <a:t>, </a:t>
            </a:r>
            <a:r>
              <a:rPr dirty="0" sz="1100" spc="-5">
                <a:latin typeface="Garamond"/>
                <a:cs typeface="Garamond"/>
              </a:rPr>
              <a:t>exceeds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V</a:t>
            </a:r>
            <a:r>
              <a:rPr dirty="0" baseline="-8547" sz="975" spc="15">
                <a:latin typeface="Garamond"/>
                <a:cs typeface="Garamond"/>
              </a:rPr>
              <a:t>U</a:t>
            </a:r>
            <a:r>
              <a:rPr dirty="0" sz="1100" spc="10">
                <a:latin typeface="Garamond"/>
                <a:cs typeface="Garamond"/>
              </a:rPr>
              <a:t>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present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shield,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T</a:t>
            </a:r>
            <a:r>
              <a:rPr dirty="0" baseline="-8547" sz="975" spc="30">
                <a:latin typeface="Garamond"/>
                <a:cs typeface="Garamond"/>
              </a:rPr>
              <a:t>C</a:t>
            </a:r>
            <a:r>
              <a:rPr dirty="0" baseline="-8547" sz="975" spc="127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30">
                <a:latin typeface="Garamond"/>
                <a:cs typeface="Garamond"/>
              </a:rPr>
              <a:t>D.</a:t>
            </a: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M&amp;M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Proposition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With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therefore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that:</a:t>
            </a:r>
            <a:endParaRPr sz="1100">
              <a:latin typeface="Garamond"/>
              <a:cs typeface="Garamond"/>
            </a:endParaRPr>
          </a:p>
          <a:p>
            <a:pPr marL="1423035">
              <a:lnSpc>
                <a:spcPct val="100000"/>
              </a:lnSpc>
              <a:spcBef>
                <a:spcPts val="1165"/>
              </a:spcBef>
            </a:pPr>
            <a:r>
              <a:rPr dirty="0" sz="1100" spc="15">
                <a:latin typeface="Garamond"/>
                <a:cs typeface="Garamond"/>
              </a:rPr>
              <a:t>V</a:t>
            </a:r>
            <a:r>
              <a:rPr dirty="0" baseline="-8547" sz="975" spc="22">
                <a:latin typeface="Garamond"/>
                <a:cs typeface="Garamond"/>
              </a:rPr>
              <a:t>L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V</a:t>
            </a:r>
            <a:r>
              <a:rPr dirty="0" baseline="-8547" sz="975" spc="22">
                <a:latin typeface="Garamond"/>
                <a:cs typeface="Garamond"/>
              </a:rPr>
              <a:t>U</a:t>
            </a:r>
            <a:r>
              <a:rPr dirty="0" baseline="-8547" sz="975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T</a:t>
            </a:r>
            <a:r>
              <a:rPr dirty="0" baseline="-8547" sz="975" spc="15">
                <a:latin typeface="Garamond"/>
                <a:cs typeface="Garamond"/>
              </a:rPr>
              <a:t>C</a:t>
            </a:r>
            <a:r>
              <a:rPr dirty="0" baseline="-8547" sz="975" spc="1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8529" y="8563482"/>
            <a:ext cx="5336540" cy="10007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M&amp;M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Summary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508000" indent="-229235">
              <a:lnSpc>
                <a:spcPts val="1290"/>
              </a:lnSpc>
              <a:buFont typeface="Symbol"/>
              <a:buChar char=""/>
              <a:tabLst>
                <a:tab pos="508000" algn="l"/>
                <a:tab pos="5086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no-tax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endParaRPr sz="1100">
              <a:latin typeface="Garamond"/>
              <a:cs typeface="Garamond"/>
            </a:endParaRPr>
          </a:p>
          <a:p>
            <a:pPr marL="508000">
              <a:lnSpc>
                <a:spcPts val="1290"/>
              </a:lnSpc>
              <a:tabLst>
                <a:tab pos="7366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 spc="-5">
                <a:latin typeface="Garamond"/>
                <a:cs typeface="Garamond"/>
              </a:rPr>
              <a:t>Proposition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1: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(V</a:t>
            </a:r>
            <a:r>
              <a:rPr dirty="0" baseline="-8547" sz="975" spc="22">
                <a:latin typeface="Garamond"/>
                <a:cs typeface="Garamond"/>
              </a:rPr>
              <a:t>L</a:t>
            </a:r>
            <a:r>
              <a:rPr dirty="0" sz="1100" spc="15">
                <a:latin typeface="Garamond"/>
                <a:cs typeface="Garamond"/>
              </a:rPr>
              <a:t>)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unlevered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(V</a:t>
            </a:r>
            <a:r>
              <a:rPr dirty="0" baseline="-8547" sz="975">
                <a:latin typeface="Garamond"/>
                <a:cs typeface="Garamond"/>
              </a:rPr>
              <a:t>U</a:t>
            </a:r>
            <a:r>
              <a:rPr dirty="0" sz="1100">
                <a:latin typeface="Garamond"/>
                <a:cs typeface="Garamond"/>
              </a:rPr>
              <a:t>):</a:t>
            </a:r>
            <a:endParaRPr sz="1100">
              <a:latin typeface="Garamond"/>
              <a:cs typeface="Garamond"/>
            </a:endParaRPr>
          </a:p>
          <a:p>
            <a:pPr algn="ctr" marL="869950">
              <a:lnSpc>
                <a:spcPct val="100000"/>
              </a:lnSpc>
              <a:spcBef>
                <a:spcPts val="1165"/>
              </a:spcBef>
            </a:pPr>
            <a:r>
              <a:rPr dirty="0" sz="1100" spc="15">
                <a:latin typeface="Garamond"/>
                <a:cs typeface="Garamond"/>
              </a:rPr>
              <a:t>V</a:t>
            </a:r>
            <a:r>
              <a:rPr dirty="0" baseline="-8547" sz="975" spc="22">
                <a:latin typeface="Garamond"/>
                <a:cs typeface="Garamond"/>
              </a:rPr>
              <a:t>L</a:t>
            </a:r>
            <a:r>
              <a:rPr dirty="0" baseline="-8547" sz="975" spc="14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V</a:t>
            </a:r>
            <a:r>
              <a:rPr dirty="0" baseline="-8547" sz="975" spc="22">
                <a:latin typeface="Garamond"/>
                <a:cs typeface="Garamond"/>
              </a:rPr>
              <a:t>U</a:t>
            </a:r>
            <a:endParaRPr baseline="-8547" sz="975">
              <a:latin typeface="Garamond"/>
              <a:cs typeface="Garamond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8033" y="5337914"/>
            <a:ext cx="5342205" cy="3063757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149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65808" y="869949"/>
            <a:ext cx="5694680" cy="46920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609600" indent="-229870">
              <a:lnSpc>
                <a:spcPts val="1310"/>
              </a:lnSpc>
              <a:spcBef>
                <a:spcPts val="114"/>
              </a:spcBef>
              <a:buFont typeface="Courier New"/>
              <a:buChar char="o"/>
              <a:tabLst>
                <a:tab pos="609600" algn="l"/>
                <a:tab pos="610235" algn="l"/>
              </a:tabLst>
            </a:pPr>
            <a:r>
              <a:rPr dirty="0" sz="1100">
                <a:latin typeface="Garamond"/>
                <a:cs typeface="Garamond"/>
              </a:rPr>
              <a:t>Implications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proposition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1:</a:t>
            </a:r>
            <a:endParaRPr sz="1100">
              <a:latin typeface="Garamond"/>
              <a:cs typeface="Garamond"/>
            </a:endParaRPr>
          </a:p>
          <a:p>
            <a:pPr lvl="1" marL="838200" indent="-229235">
              <a:lnSpc>
                <a:spcPts val="1280"/>
              </a:lnSpc>
              <a:buFont typeface="Wingdings"/>
              <a:buChar char=""/>
              <a:tabLst>
                <a:tab pos="838200" algn="l"/>
                <a:tab pos="838835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irrelevant</a:t>
            </a:r>
            <a:endParaRPr sz="1100">
              <a:latin typeface="Garamond"/>
              <a:cs typeface="Garamond"/>
            </a:endParaRPr>
          </a:p>
          <a:p>
            <a:pPr lvl="1" marL="838200" marR="119380" indent="-228600">
              <a:lnSpc>
                <a:spcPts val="1260"/>
              </a:lnSpc>
              <a:spcBef>
                <a:spcPts val="60"/>
              </a:spcBef>
              <a:buFont typeface="Wingdings"/>
              <a:buChar char=""/>
              <a:tabLst>
                <a:tab pos="838200" algn="l"/>
                <a:tab pos="838835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WACC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matter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mixture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used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Garamond"/>
              <a:cs typeface="Garamond"/>
            </a:endParaRPr>
          </a:p>
          <a:p>
            <a:pPr marL="381000" indent="-228600">
              <a:lnSpc>
                <a:spcPts val="1290"/>
              </a:lnSpc>
              <a:buFont typeface="Symbol"/>
              <a:buChar char=""/>
              <a:tabLst>
                <a:tab pos="380365" algn="l"/>
                <a:tab pos="3810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no-tax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endParaRPr sz="1100">
              <a:latin typeface="Garamond"/>
              <a:cs typeface="Garamond"/>
            </a:endParaRPr>
          </a:p>
          <a:p>
            <a:pPr lvl="1" marL="609600" indent="-229870">
              <a:lnSpc>
                <a:spcPts val="1290"/>
              </a:lnSpc>
              <a:buFont typeface="Courier New"/>
              <a:buChar char="o"/>
              <a:tabLst>
                <a:tab pos="609600" algn="l"/>
                <a:tab pos="610235" algn="l"/>
              </a:tabLst>
            </a:pPr>
            <a:r>
              <a:rPr dirty="0" sz="1100" spc="-5">
                <a:latin typeface="Garamond"/>
                <a:cs typeface="Garamond"/>
              </a:rPr>
              <a:t>Proposition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2: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equity,</a:t>
            </a:r>
            <a:r>
              <a:rPr dirty="0" sz="1100" spc="15">
                <a:latin typeface="Garamond"/>
                <a:cs typeface="Garamond"/>
              </a:rPr>
              <a:t> R</a:t>
            </a:r>
            <a:r>
              <a:rPr dirty="0" baseline="-8547" sz="975" spc="22">
                <a:latin typeface="Garamond"/>
                <a:cs typeface="Garamond"/>
              </a:rPr>
              <a:t>E </a:t>
            </a:r>
            <a:r>
              <a:rPr dirty="0" baseline="-8547" sz="975" spc="82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296035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E</a:t>
            </a:r>
            <a:r>
              <a:rPr dirty="0" baseline="-8547" sz="975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R</a:t>
            </a:r>
            <a:r>
              <a:rPr dirty="0" baseline="-8547" sz="975" spc="15">
                <a:latin typeface="Garamond"/>
                <a:cs typeface="Garamond"/>
              </a:rPr>
              <a:t>A</a:t>
            </a:r>
            <a:r>
              <a:rPr dirty="0" baseline="-8547" sz="975" spc="179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(R</a:t>
            </a:r>
            <a:r>
              <a:rPr dirty="0" baseline="-8547" sz="975" spc="7">
                <a:latin typeface="Garamond"/>
                <a:cs typeface="Garamond"/>
              </a:rPr>
              <a:t>A</a:t>
            </a:r>
            <a:r>
              <a:rPr dirty="0" baseline="-8547" sz="975" spc="127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baseline="-8547" sz="975" spc="15">
                <a:latin typeface="Garamond"/>
                <a:cs typeface="Garamond"/>
              </a:rPr>
              <a:t>D</a:t>
            </a:r>
            <a:r>
              <a:rPr dirty="0" sz="1100" spc="10">
                <a:latin typeface="Garamond"/>
                <a:cs typeface="Garamond"/>
              </a:rPr>
              <a:t>)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D/E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609600">
              <a:lnSpc>
                <a:spcPct val="100000"/>
              </a:lnSpc>
            </a:pPr>
            <a:r>
              <a:rPr dirty="0" sz="1100">
                <a:latin typeface="Garamond"/>
                <a:cs typeface="Garamond"/>
              </a:rPr>
              <a:t>Where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</a:t>
            </a:r>
            <a:r>
              <a:rPr dirty="0" baseline="-8547" sz="975" spc="7">
                <a:latin typeface="Garamond"/>
                <a:cs typeface="Garamond"/>
              </a:rPr>
              <a:t>A</a:t>
            </a:r>
            <a:r>
              <a:rPr dirty="0" baseline="-8547" sz="975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WACC,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R</a:t>
            </a:r>
            <a:r>
              <a:rPr dirty="0" baseline="-8547" sz="975" spc="22">
                <a:latin typeface="Garamond"/>
                <a:cs typeface="Garamond"/>
              </a:rPr>
              <a:t>D</a:t>
            </a:r>
            <a:r>
              <a:rPr dirty="0" baseline="-8547" sz="975" spc="20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D/E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debt-equity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lvl="1" marL="609600" indent="-229870">
              <a:lnSpc>
                <a:spcPts val="1310"/>
              </a:lnSpc>
              <a:buFont typeface="Courier New"/>
              <a:buChar char="o"/>
              <a:tabLst>
                <a:tab pos="609600" algn="l"/>
                <a:tab pos="610235" algn="l"/>
              </a:tabLst>
            </a:pPr>
            <a:r>
              <a:rPr dirty="0" sz="1100">
                <a:latin typeface="Garamond"/>
                <a:cs typeface="Garamond"/>
              </a:rPr>
              <a:t>Implications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Proposition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2:</a:t>
            </a:r>
            <a:endParaRPr sz="1100">
              <a:latin typeface="Garamond"/>
              <a:cs typeface="Garamond"/>
            </a:endParaRPr>
          </a:p>
          <a:p>
            <a:pPr lvl="2" marL="838200" indent="-229235">
              <a:lnSpc>
                <a:spcPts val="1280"/>
              </a:lnSpc>
              <a:buFont typeface="Wingdings"/>
              <a:buChar char=""/>
              <a:tabLst>
                <a:tab pos="838200" algn="l"/>
                <a:tab pos="838835" algn="l"/>
              </a:tabLst>
            </a:pP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5">
                <a:latin typeface="Garamond"/>
                <a:cs typeface="Garamond"/>
              </a:rPr>
              <a:t> use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endParaRPr sz="1100">
              <a:latin typeface="Garamond"/>
              <a:cs typeface="Garamond"/>
            </a:endParaRPr>
          </a:p>
          <a:p>
            <a:pPr lvl="2" marL="838200" indent="-229235">
              <a:lnSpc>
                <a:spcPts val="1260"/>
              </a:lnSpc>
              <a:buFont typeface="Wingdings"/>
              <a:buChar char=""/>
              <a:tabLst>
                <a:tab pos="838200" algn="l"/>
                <a:tab pos="838835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on:</a:t>
            </a:r>
            <a:endParaRPr sz="1100">
              <a:latin typeface="Garamond"/>
              <a:cs typeface="Garamond"/>
            </a:endParaRPr>
          </a:p>
          <a:p>
            <a:pPr lvl="3" marL="1067435" indent="-229235">
              <a:lnSpc>
                <a:spcPts val="1240"/>
              </a:lnSpc>
              <a:buChar char="–"/>
              <a:tabLst>
                <a:tab pos="1066800" algn="l"/>
                <a:tab pos="1067435" algn="l"/>
              </a:tabLst>
            </a:pPr>
            <a:r>
              <a:rPr dirty="0" sz="1100">
                <a:latin typeface="Garamond"/>
                <a:cs typeface="Garamond"/>
              </a:rPr>
              <a:t>riskiness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operations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(business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risk)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determines</a:t>
            </a:r>
            <a:r>
              <a:rPr dirty="0" sz="1100" spc="5">
                <a:latin typeface="Garamond"/>
                <a:cs typeface="Garamond"/>
              </a:rPr>
              <a:t> R</a:t>
            </a:r>
            <a:r>
              <a:rPr dirty="0" baseline="-8547" sz="975" spc="7">
                <a:latin typeface="Garamond"/>
                <a:cs typeface="Garamond"/>
              </a:rPr>
              <a:t>A</a:t>
            </a:r>
            <a:endParaRPr baseline="-8547" sz="975">
              <a:latin typeface="Garamond"/>
              <a:cs typeface="Garamond"/>
            </a:endParaRPr>
          </a:p>
          <a:p>
            <a:pPr lvl="3" marL="1067435" indent="-229235">
              <a:lnSpc>
                <a:spcPts val="1270"/>
              </a:lnSpc>
              <a:buChar char="–"/>
              <a:tabLst>
                <a:tab pos="1066800" algn="l"/>
                <a:tab pos="1067435" algn="l"/>
              </a:tabLst>
            </a:pPr>
            <a:r>
              <a:rPr dirty="0" sz="1100" spc="5">
                <a:latin typeface="Garamond"/>
                <a:cs typeface="Garamond"/>
              </a:rPr>
              <a:t>Degree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leverage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(financial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determined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D/E</a:t>
            </a:r>
            <a:endParaRPr sz="1100">
              <a:latin typeface="Garamond"/>
              <a:cs typeface="Garamond"/>
            </a:endParaRPr>
          </a:p>
          <a:p>
            <a:pPr lvl="3">
              <a:lnSpc>
                <a:spcPct val="100000"/>
              </a:lnSpc>
              <a:spcBef>
                <a:spcPts val="15"/>
              </a:spcBef>
              <a:buFont typeface="Garamond"/>
              <a:buChar char="–"/>
            </a:pPr>
            <a:endParaRPr sz="1150">
              <a:latin typeface="Garamond"/>
              <a:cs typeface="Garamond"/>
            </a:endParaRPr>
          </a:p>
          <a:p>
            <a:pPr marL="381000" indent="-228600">
              <a:lnSpc>
                <a:spcPts val="1290"/>
              </a:lnSpc>
              <a:buFont typeface="Symbol"/>
              <a:buChar char=""/>
              <a:tabLst>
                <a:tab pos="380365" algn="l"/>
                <a:tab pos="3810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endParaRPr sz="1100">
              <a:latin typeface="Garamond"/>
              <a:cs typeface="Garamond"/>
            </a:endParaRPr>
          </a:p>
          <a:p>
            <a:pPr lvl="1" marL="838200" marR="118110" indent="-228600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838200" algn="l"/>
                <a:tab pos="838835" algn="l"/>
              </a:tabLst>
            </a:pPr>
            <a:r>
              <a:rPr dirty="0" sz="1100" spc="-5">
                <a:latin typeface="Garamond"/>
                <a:cs typeface="Garamond"/>
              </a:rPr>
              <a:t>Proposition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taxes: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(V</a:t>
            </a:r>
            <a:r>
              <a:rPr dirty="0" baseline="-8547" sz="975" spc="22">
                <a:latin typeface="Garamond"/>
                <a:cs typeface="Garamond"/>
              </a:rPr>
              <a:t>L</a:t>
            </a:r>
            <a:r>
              <a:rPr dirty="0" sz="1100" spc="15">
                <a:latin typeface="Garamond"/>
                <a:cs typeface="Garamond"/>
              </a:rPr>
              <a:t>)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equal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unlevered </a:t>
            </a:r>
            <a:r>
              <a:rPr dirty="0" sz="1100" spc="5">
                <a:latin typeface="Garamond"/>
                <a:cs typeface="Garamond"/>
              </a:rPr>
              <a:t>(V</a:t>
            </a:r>
            <a:r>
              <a:rPr dirty="0" baseline="-8547" sz="975" spc="7">
                <a:latin typeface="Garamond"/>
                <a:cs typeface="Garamond"/>
              </a:rPr>
              <a:t>U</a:t>
            </a:r>
            <a:r>
              <a:rPr dirty="0" sz="1100" spc="5">
                <a:latin typeface="Garamond"/>
                <a:cs typeface="Garamond"/>
              </a:rPr>
              <a:t>)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plus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shield.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Courier New"/>
              <a:buChar char="o"/>
            </a:pPr>
            <a:endParaRPr sz="1000">
              <a:latin typeface="Garamond"/>
              <a:cs typeface="Garamond"/>
            </a:endParaRPr>
          </a:p>
          <a:p>
            <a:pPr marL="1296035">
              <a:lnSpc>
                <a:spcPct val="100000"/>
              </a:lnSpc>
            </a:pPr>
            <a:r>
              <a:rPr dirty="0" sz="1100" spc="15">
                <a:latin typeface="Garamond"/>
                <a:cs typeface="Garamond"/>
              </a:rPr>
              <a:t>V</a:t>
            </a:r>
            <a:r>
              <a:rPr dirty="0" baseline="-8547" sz="975" spc="22">
                <a:latin typeface="Garamond"/>
                <a:cs typeface="Garamond"/>
              </a:rPr>
              <a:t>L</a:t>
            </a:r>
            <a:r>
              <a:rPr dirty="0" baseline="-8547" sz="975" spc="172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V</a:t>
            </a:r>
            <a:r>
              <a:rPr dirty="0" baseline="-8547" sz="975" spc="22">
                <a:latin typeface="Garamond"/>
                <a:cs typeface="Garamond"/>
              </a:rPr>
              <a:t>U</a:t>
            </a:r>
            <a:r>
              <a:rPr dirty="0" baseline="-8547" sz="975" spc="1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T</a:t>
            </a:r>
            <a:r>
              <a:rPr dirty="0" baseline="-8547" sz="975" spc="15">
                <a:latin typeface="Garamond"/>
                <a:cs typeface="Garamond"/>
              </a:rPr>
              <a:t>C</a:t>
            </a:r>
            <a:r>
              <a:rPr dirty="0" baseline="-8547" sz="975" spc="1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381000" indent="-228600">
              <a:lnSpc>
                <a:spcPts val="1270"/>
              </a:lnSpc>
              <a:buFont typeface="Symbol"/>
              <a:buChar char=""/>
              <a:tabLst>
                <a:tab pos="380365" algn="l"/>
                <a:tab pos="3810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</a:t>
            </a:r>
            <a:endParaRPr sz="1100">
              <a:latin typeface="Garamond"/>
              <a:cs typeface="Garamond"/>
            </a:endParaRPr>
          </a:p>
          <a:p>
            <a:pPr lvl="1" marL="838200" indent="-229235">
              <a:lnSpc>
                <a:spcPts val="1260"/>
              </a:lnSpc>
              <a:buFont typeface="Courier New"/>
              <a:buChar char="o"/>
              <a:tabLst>
                <a:tab pos="838200" algn="l"/>
                <a:tab pos="838835" algn="l"/>
              </a:tabLst>
            </a:pPr>
            <a:r>
              <a:rPr dirty="0" sz="1100">
                <a:latin typeface="Garamond"/>
                <a:cs typeface="Garamond"/>
              </a:rPr>
              <a:t>Implications</a:t>
            </a:r>
            <a:r>
              <a:rPr dirty="0" sz="1100" spc="-10">
                <a:latin typeface="Garamond"/>
                <a:cs typeface="Garamond"/>
              </a:rPr>
              <a:t> of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Proposition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taxes</a:t>
            </a:r>
            <a:endParaRPr sz="1100">
              <a:latin typeface="Garamond"/>
              <a:cs typeface="Garamond"/>
            </a:endParaRPr>
          </a:p>
          <a:p>
            <a:pPr lvl="2" marL="1067435" marR="118745" indent="-229235">
              <a:lnSpc>
                <a:spcPts val="1230"/>
              </a:lnSpc>
              <a:spcBef>
                <a:spcPts val="105"/>
              </a:spcBef>
              <a:buFont typeface="Wingdings"/>
              <a:buChar char=""/>
              <a:tabLst>
                <a:tab pos="1066800" algn="l"/>
                <a:tab pos="1067435" algn="l"/>
              </a:tabLst>
            </a:pPr>
            <a:r>
              <a:rPr dirty="0" sz="1100" spc="5">
                <a:latin typeface="Garamond"/>
                <a:cs typeface="Garamond"/>
              </a:rPr>
              <a:t>Debt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highly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advantageous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extreme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optimal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100%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  <a:p>
            <a:pPr lvl="2" marL="1067435" indent="-229235">
              <a:lnSpc>
                <a:spcPts val="1265"/>
              </a:lnSpc>
              <a:buFont typeface="Wingdings"/>
              <a:buChar char=""/>
              <a:tabLst>
                <a:tab pos="1066800" algn="l"/>
                <a:tab pos="1067435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WACC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decreases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relies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heavily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150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30595" y="714501"/>
            <a:ext cx="8166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39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883665"/>
            <a:ext cx="5668010" cy="25057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150" spc="25" b="1">
                <a:latin typeface="Garamond"/>
                <a:cs typeface="Garamond"/>
              </a:rPr>
              <a:t>BANKRUPTCY</a:t>
            </a:r>
            <a:r>
              <a:rPr dirty="0" sz="1150" spc="-10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COSTS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Direct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Bankruptcy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lvl="1" marL="927735" marR="8890" indent="-228600">
              <a:lnSpc>
                <a:spcPts val="1260"/>
              </a:lnSpc>
              <a:spcBef>
                <a:spcPts val="60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associated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bankruptcy,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such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legal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administrative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expenses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Indirect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Bankruptcy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lvl="1" marL="927735" indent="-229235">
              <a:lnSpc>
                <a:spcPts val="1290"/>
              </a:lnSpc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avoiding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bankruptcy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filing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incurred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financially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distress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Distress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lvl="1" marL="927735" marR="8255" indent="-228600">
              <a:lnSpc>
                <a:spcPts val="1230"/>
              </a:lnSpc>
              <a:spcBef>
                <a:spcPts val="85"/>
              </a:spcBef>
              <a:buFont typeface="Courier New"/>
              <a:buChar char="o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direct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indirect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associated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bankrupt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experiencing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distress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Courier New"/>
              <a:buChar char="o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Static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Theory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Capital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Structure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5080" indent="-228600">
              <a:lnSpc>
                <a:spcPts val="122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firm borrows up </a:t>
            </a:r>
            <a:r>
              <a:rPr dirty="0" sz="1100" spc="5">
                <a:latin typeface="Garamond"/>
                <a:cs typeface="Garamond"/>
              </a:rPr>
              <a:t>to the </a:t>
            </a:r>
            <a:r>
              <a:rPr dirty="0" sz="1100">
                <a:latin typeface="Garamond"/>
                <a:cs typeface="Garamond"/>
              </a:rPr>
              <a:t>point where </a:t>
            </a:r>
            <a:r>
              <a:rPr dirty="0" sz="1100" spc="-5">
                <a:latin typeface="Garamond"/>
                <a:cs typeface="Garamond"/>
              </a:rPr>
              <a:t>tax benefit from </a:t>
            </a:r>
            <a:r>
              <a:rPr dirty="0" sz="1100" spc="10">
                <a:latin typeface="Garamond"/>
                <a:cs typeface="Garamond"/>
              </a:rPr>
              <a:t>an </a:t>
            </a:r>
            <a:r>
              <a:rPr dirty="0" sz="1100">
                <a:latin typeface="Garamond"/>
                <a:cs typeface="Garamond"/>
              </a:rPr>
              <a:t>extra dollar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10">
                <a:latin typeface="Garamond"/>
                <a:cs typeface="Garamond"/>
              </a:rPr>
              <a:t>debt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exactly equal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comes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probability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distress.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3929" y="6660895"/>
            <a:ext cx="5798185" cy="21990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Optimal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Capital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Structure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482600" marR="119380" indent="-228600">
              <a:lnSpc>
                <a:spcPts val="1260"/>
              </a:lnSpc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maximum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V</a:t>
            </a:r>
            <a:r>
              <a:rPr dirty="0" baseline="-8547" sz="975" spc="22">
                <a:latin typeface="Garamond"/>
                <a:cs typeface="Garamond"/>
              </a:rPr>
              <a:t>L</a:t>
            </a:r>
            <a:r>
              <a:rPr dirty="0" sz="1100" spc="15">
                <a:latin typeface="Garamond"/>
                <a:cs typeface="Garamond"/>
              </a:rPr>
              <a:t>*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reached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level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D*,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optimal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borrowing.</a:t>
            </a:r>
            <a:endParaRPr sz="1100">
              <a:latin typeface="Garamond"/>
              <a:cs typeface="Garamond"/>
            </a:endParaRPr>
          </a:p>
          <a:p>
            <a:pPr marL="482600" marR="120014" indent="-228600">
              <a:lnSpc>
                <a:spcPts val="1220"/>
              </a:lnSpc>
              <a:spcBef>
                <a:spcPts val="17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Alternatively,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composed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D*/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V</a:t>
            </a:r>
            <a:r>
              <a:rPr dirty="0" baseline="-8547" sz="975" spc="22">
                <a:latin typeface="Garamond"/>
                <a:cs typeface="Garamond"/>
              </a:rPr>
              <a:t>L</a:t>
            </a:r>
            <a:r>
              <a:rPr dirty="0" sz="1100" spc="15">
                <a:latin typeface="Garamond"/>
                <a:cs typeface="Garamond"/>
              </a:rPr>
              <a:t>*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(1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D*/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</a:t>
            </a:r>
            <a:r>
              <a:rPr dirty="0" baseline="-8547" sz="975" spc="7">
                <a:latin typeface="Garamond"/>
                <a:cs typeface="Garamond"/>
              </a:rPr>
              <a:t>L</a:t>
            </a:r>
            <a:r>
              <a:rPr dirty="0" sz="1100" spc="5">
                <a:latin typeface="Garamond"/>
                <a:cs typeface="Garamond"/>
              </a:rPr>
              <a:t>*)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equity.</a:t>
            </a:r>
            <a:endParaRPr sz="1100">
              <a:latin typeface="Garamond"/>
              <a:cs typeface="Garamond"/>
            </a:endParaRPr>
          </a:p>
          <a:p>
            <a:pPr marL="482600" marR="123189" indent="-228600">
              <a:lnSpc>
                <a:spcPts val="1260"/>
              </a:lnSpc>
              <a:spcBef>
                <a:spcPts val="160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difference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static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theory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M&amp;M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taxes</a:t>
            </a:r>
            <a:r>
              <a:rPr dirty="0" sz="1100">
                <a:latin typeface="Garamond"/>
                <a:cs typeface="Garamond"/>
              </a:rPr>
              <a:t> 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loss 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possibility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distress</a:t>
            </a:r>
            <a:endParaRPr sz="1100">
              <a:latin typeface="Garamond"/>
              <a:cs typeface="Garamond"/>
            </a:endParaRPr>
          </a:p>
          <a:p>
            <a:pPr marL="482600" marR="123825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static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theory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M&amp;M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gain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distress </a:t>
            </a:r>
            <a:r>
              <a:rPr dirty="0" sz="1100" spc="-5">
                <a:latin typeface="Garamond"/>
                <a:cs typeface="Garamond"/>
              </a:rPr>
              <a:t>costs.</a:t>
            </a:r>
            <a:endParaRPr sz="1100">
              <a:latin typeface="Garamond"/>
              <a:cs typeface="Garamond"/>
            </a:endParaRPr>
          </a:p>
          <a:p>
            <a:pPr marL="482600" marR="126364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know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maximizes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minimizes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capital.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illustrate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discussion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focusing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cases: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3320" y="3569098"/>
            <a:ext cx="5027186" cy="294768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151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869949"/>
            <a:ext cx="5662295" cy="6673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Case</a:t>
            </a:r>
            <a:r>
              <a:rPr dirty="0" u="sng" sz="1100" spc="-1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1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12700" marR="5080">
              <a:lnSpc>
                <a:spcPts val="122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no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bankruptcy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weighted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average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(WACC)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affected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structure.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2136" y="2035675"/>
            <a:ext cx="5334000" cy="30758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9286" y="5621273"/>
            <a:ext cx="5238750" cy="28574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152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1030350"/>
            <a:ext cx="5669915" cy="6667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Case</a:t>
            </a:r>
            <a:r>
              <a:rPr dirty="0" u="sng" sz="1100" spc="-5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2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Garamond"/>
              <a:cs typeface="Garamond"/>
            </a:endParaRPr>
          </a:p>
          <a:p>
            <a:pPr marL="12700" marR="5080">
              <a:lnSpc>
                <a:spcPts val="126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bankruptcy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WACC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decreases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up.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9" y="2201774"/>
            <a:ext cx="5302261" cy="29318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6316" y="5675722"/>
            <a:ext cx="5302283" cy="280787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153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8529" y="869949"/>
            <a:ext cx="5748655" cy="6673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dirty="0" u="sng" sz="1100" spc="-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Case</a:t>
            </a:r>
            <a:r>
              <a:rPr dirty="0" u="sng" sz="1100" spc="-5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3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50800" marR="43180">
              <a:lnSpc>
                <a:spcPts val="1220"/>
              </a:lnSpc>
              <a:spcBef>
                <a:spcPts val="5"/>
              </a:spcBef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corporate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bankruptcy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value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25">
                <a:latin typeface="Garamond"/>
                <a:cs typeface="Garamond"/>
              </a:rPr>
              <a:t>V</a:t>
            </a:r>
            <a:r>
              <a:rPr dirty="0" baseline="-8547" sz="975" spc="37">
                <a:latin typeface="Garamond"/>
                <a:cs typeface="Garamond"/>
              </a:rPr>
              <a:t>L</a:t>
            </a:r>
            <a:r>
              <a:rPr dirty="0" sz="1100" spc="25">
                <a:latin typeface="Garamond"/>
                <a:cs typeface="Garamond"/>
              </a:rPr>
              <a:t>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reaches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maximum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D*,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optimal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borrowing.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same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WACC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minimized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D*/E*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9761" y="2035677"/>
            <a:ext cx="5229225" cy="29522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8244" y="5646419"/>
            <a:ext cx="5334000" cy="284671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154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73725" cy="60737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Some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Managerial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Recommendations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469900" marR="5080" indent="-228600">
              <a:lnSpc>
                <a:spcPts val="122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Tax </a:t>
            </a:r>
            <a:r>
              <a:rPr dirty="0" sz="1100" spc="-5">
                <a:latin typeface="Garamond"/>
                <a:cs typeface="Garamond"/>
              </a:rPr>
              <a:t>benefit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leveraging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the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>
                <a:latin typeface="Garamond"/>
                <a:cs typeface="Garamond"/>
              </a:rPr>
              <a:t>are in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tax-paying position.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substantial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losses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little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shield.</a:t>
            </a:r>
            <a:endParaRPr sz="1100">
              <a:latin typeface="Garamond"/>
              <a:cs typeface="Garamond"/>
            </a:endParaRPr>
          </a:p>
          <a:p>
            <a:pPr marL="469900" marR="13335" indent="-228600">
              <a:lnSpc>
                <a:spcPts val="1260"/>
              </a:lnSpc>
              <a:spcBef>
                <a:spcPts val="1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Firms </a:t>
            </a:r>
            <a:r>
              <a:rPr dirty="0" sz="1100" spc="5">
                <a:latin typeface="Garamond"/>
                <a:cs typeface="Garamond"/>
              </a:rPr>
              <a:t>that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>
                <a:latin typeface="Garamond"/>
                <a:cs typeface="Garamond"/>
              </a:rPr>
              <a:t> substantial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>
                <a:latin typeface="Garamond"/>
                <a:cs typeface="Garamond"/>
              </a:rPr>
              <a:t> shields </a:t>
            </a:r>
            <a:r>
              <a:rPr dirty="0" sz="1100" spc="5">
                <a:latin typeface="Garamond"/>
                <a:cs typeface="Garamond"/>
              </a:rPr>
              <a:t>from other </a:t>
            </a:r>
            <a:r>
              <a:rPr dirty="0" sz="1100" spc="-5">
                <a:latin typeface="Garamond"/>
                <a:cs typeface="Garamond"/>
              </a:rPr>
              <a:t>sources,</a:t>
            </a:r>
            <a:r>
              <a:rPr dirty="0" sz="1100">
                <a:latin typeface="Garamond"/>
                <a:cs typeface="Garamond"/>
              </a:rPr>
              <a:t> such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depreciation,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will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get </a:t>
            </a:r>
            <a:r>
              <a:rPr dirty="0" sz="1100">
                <a:latin typeface="Garamond"/>
                <a:cs typeface="Garamond"/>
              </a:rPr>
              <a:t>less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benefit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leverage.</a:t>
            </a:r>
            <a:endParaRPr sz="1100">
              <a:latin typeface="Garamond"/>
              <a:cs typeface="Garamond"/>
            </a:endParaRPr>
          </a:p>
          <a:p>
            <a:pPr marL="469900" marR="1143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Firms</a:t>
            </a:r>
            <a:r>
              <a:rPr dirty="0" sz="1100" spc="5">
                <a:latin typeface="Garamond"/>
                <a:cs typeface="Garamond"/>
              </a:rPr>
              <a:t> with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experiencing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distress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lower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risk.</a:t>
            </a:r>
            <a:endParaRPr sz="1100">
              <a:latin typeface="Garamond"/>
              <a:cs typeface="Garamond"/>
            </a:endParaRPr>
          </a:p>
          <a:p>
            <a:pPr marL="469900" marR="14604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distress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primarily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determined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easily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ownership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those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transferred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9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Tangible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vs.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Intangible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10" b="1">
                <a:latin typeface="Garamond"/>
                <a:cs typeface="Garamond"/>
              </a:rPr>
              <a:t>Net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Working</a:t>
            </a:r>
            <a:r>
              <a:rPr dirty="0" sz="1100" spc="-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Capital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Garamond"/>
              <a:cs typeface="Garamond"/>
            </a:endParaRPr>
          </a:p>
          <a:p>
            <a:pPr marL="469900" marR="10795" indent="-228600">
              <a:lnSpc>
                <a:spcPts val="123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(NWC)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difference  between 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Often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capital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management.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long-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flows.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questions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address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What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reasonable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keep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hand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bills?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much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term?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much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should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extended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customers?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convert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within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Presented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balance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sheet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liquidity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6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15">
                <a:latin typeface="Garamond"/>
                <a:cs typeface="Garamond"/>
              </a:rPr>
              <a:t>C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h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&amp;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>
                <a:latin typeface="Garamond"/>
                <a:cs typeface="Garamond"/>
              </a:rPr>
              <a:t>q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-40">
                <a:latin typeface="Garamond"/>
                <a:cs typeface="Garamond"/>
              </a:rPr>
              <a:t>i</a:t>
            </a:r>
            <a:r>
              <a:rPr dirty="0" sz="1100" spc="-15">
                <a:latin typeface="Garamond"/>
                <a:cs typeface="Garamond"/>
              </a:rPr>
              <a:t>v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l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ts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8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15">
                <a:latin typeface="Garamond"/>
                <a:cs typeface="Garamond"/>
              </a:rPr>
              <a:t>M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45">
                <a:latin typeface="Garamond"/>
                <a:cs typeface="Garamond"/>
              </a:rPr>
              <a:t>r</a:t>
            </a:r>
            <a:r>
              <a:rPr dirty="0" sz="1100" spc="20">
                <a:latin typeface="Garamond"/>
                <a:cs typeface="Garamond"/>
              </a:rPr>
              <a:t>k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40">
                <a:latin typeface="Garamond"/>
                <a:cs typeface="Garamond"/>
              </a:rPr>
              <a:t>t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b</a:t>
            </a:r>
            <a:r>
              <a:rPr dirty="0" sz="1100" spc="-5">
                <a:latin typeface="Garamond"/>
                <a:cs typeface="Garamond"/>
              </a:rPr>
              <a:t>l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es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95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receivables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31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Inventories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liabilities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6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Obligations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expected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within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8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payable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8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Expenses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(including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accrued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wages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taxes)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9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Notes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basic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sheet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identity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written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927735">
              <a:lnSpc>
                <a:spcPct val="100000"/>
              </a:lnSpc>
            </a:pPr>
            <a:r>
              <a:rPr dirty="0" sz="1100" spc="5">
                <a:latin typeface="Garamond"/>
                <a:cs typeface="Garamond"/>
              </a:rPr>
              <a:t>NWC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Fixed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155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91689" y="6907783"/>
            <a:ext cx="577850" cy="35115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1220"/>
              </a:lnSpc>
              <a:spcBef>
                <a:spcPts val="240"/>
              </a:spcBef>
              <a:tabLst>
                <a:tab pos="469900" algn="l"/>
              </a:tabLst>
            </a:pPr>
            <a:r>
              <a:rPr dirty="0" sz="1100">
                <a:latin typeface="Garamond"/>
                <a:cs typeface="Garamond"/>
              </a:rPr>
              <a:t>While,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10">
                <a:latin typeface="Garamond"/>
                <a:cs typeface="Garamond"/>
              </a:rPr>
              <a:t>W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>
                <a:latin typeface="Garamond"/>
                <a:cs typeface="Garamond"/>
              </a:rPr>
              <a:t>	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6598" y="7063231"/>
            <a:ext cx="1597660" cy="351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7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(Cash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assets)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5">
                <a:latin typeface="Garamond"/>
                <a:cs typeface="Garamond"/>
              </a:rPr>
              <a:t> liabilities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1689" y="7534402"/>
            <a:ext cx="577850" cy="351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7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So,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70"/>
              </a:lnSpc>
              <a:tabLst>
                <a:tab pos="469900" algn="l"/>
              </a:tabLst>
            </a:pPr>
            <a:r>
              <a:rPr dirty="0" sz="1100" spc="15">
                <a:latin typeface="Garamond"/>
                <a:cs typeface="Garamond"/>
              </a:rPr>
              <a:t>C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h</a:t>
            </a:r>
            <a:r>
              <a:rPr dirty="0" sz="1100">
                <a:latin typeface="Garamond"/>
                <a:cs typeface="Garamond"/>
              </a:rPr>
              <a:t>	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06598" y="7689850"/>
            <a:ext cx="1766570" cy="8274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45"/>
              </a:lnSpc>
            </a:pP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45"/>
              </a:lnSpc>
            </a:pP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5">
                <a:latin typeface="Garamond"/>
                <a:cs typeface="Garamond"/>
              </a:rPr>
              <a:t> liabilities</a:t>
            </a:r>
            <a:endParaRPr sz="1100">
              <a:latin typeface="Garamond"/>
              <a:cs typeface="Garamond"/>
            </a:endParaRPr>
          </a:p>
          <a:p>
            <a:pPr marL="117475" indent="-105410">
              <a:lnSpc>
                <a:spcPts val="1240"/>
              </a:lnSpc>
              <a:buChar char="–"/>
              <a:tabLst>
                <a:tab pos="118110" algn="l"/>
              </a:tabLst>
            </a:pP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endParaRPr sz="1100">
              <a:latin typeface="Garamond"/>
              <a:cs typeface="Garamond"/>
            </a:endParaRPr>
          </a:p>
          <a:p>
            <a:pPr marL="121920" indent="-109855">
              <a:lnSpc>
                <a:spcPts val="1270"/>
              </a:lnSpc>
              <a:buChar char="–"/>
              <a:tabLst>
                <a:tab pos="122555" algn="l"/>
              </a:tabLst>
            </a:pPr>
            <a:r>
              <a:rPr dirty="0" sz="1100" spc="-10">
                <a:latin typeface="Garamond"/>
                <a:cs typeface="Garamond"/>
              </a:rPr>
              <a:t>Fixed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5508" y="8654922"/>
            <a:ext cx="2740025" cy="9829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ts val="1275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-5">
                <a:latin typeface="Garamond"/>
                <a:cs typeface="Garamond"/>
              </a:rPr>
              <a:t>Activities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(sources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cash)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Increasing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Increasing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Increasing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Decreasing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7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Decreasing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76629" y="431038"/>
            <a:ext cx="2909570" cy="12846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  <a:p>
            <a:pPr marL="469900" indent="-229235">
              <a:lnSpc>
                <a:spcPts val="1290"/>
              </a:lnSpc>
              <a:spcBef>
                <a:spcPts val="9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Activities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decrease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(uses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cash)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Decreasing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Decreasing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Decreasing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liabilities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Increasing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Increasing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1853564"/>
            <a:ext cx="5440045" cy="1023619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240665" marR="5080" indent="-228600">
              <a:lnSpc>
                <a:spcPts val="1260"/>
              </a:lnSpc>
              <a:spcBef>
                <a:spcPts val="20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Sources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always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involve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liability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(or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equity)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decreasing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Uses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involve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decreasing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liability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increasing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9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source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10">
                <a:latin typeface="Garamond"/>
                <a:cs typeface="Garamond"/>
              </a:rPr>
              <a:t> use?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payable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7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 spc="-5">
                <a:latin typeface="Garamond"/>
                <a:cs typeface="Garamond"/>
              </a:rPr>
              <a:t>accounts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up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$100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156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671185" cy="8547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4853940">
              <a:lnSpc>
                <a:spcPts val="1355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1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40</a:t>
            </a:r>
            <a:endParaRPr sz="1150">
              <a:latin typeface="Garamond"/>
              <a:cs typeface="Garamond"/>
            </a:endParaRPr>
          </a:p>
          <a:p>
            <a:pPr algn="ctr" marR="3175">
              <a:lnSpc>
                <a:spcPts val="1355"/>
              </a:lnSpc>
            </a:pPr>
            <a:r>
              <a:rPr dirty="0" sz="1150" spc="25" b="1">
                <a:latin typeface="Garamond"/>
                <a:cs typeface="Garamond"/>
              </a:rPr>
              <a:t>OPERATING CYCLE</a:t>
            </a:r>
            <a:r>
              <a:rPr dirty="0" sz="1150" spc="15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AND</a:t>
            </a:r>
            <a:r>
              <a:rPr dirty="0" sz="1150" spc="35" b="1">
                <a:latin typeface="Garamond"/>
                <a:cs typeface="Garamond"/>
              </a:rPr>
              <a:t> </a:t>
            </a:r>
            <a:r>
              <a:rPr dirty="0" sz="1150" spc="20" b="1">
                <a:latin typeface="Garamond"/>
                <a:cs typeface="Garamond"/>
              </a:rPr>
              <a:t>CASH</a:t>
            </a:r>
            <a:r>
              <a:rPr dirty="0" sz="1150" spc="10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CYCLE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Garamond"/>
              <a:cs typeface="Garamond"/>
            </a:endParaRPr>
          </a:p>
          <a:p>
            <a:pPr marL="12700" marR="5080">
              <a:lnSpc>
                <a:spcPts val="1260"/>
              </a:lnSpc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typical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manufacturing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activities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might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sequence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events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157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257909" y="1719706"/>
          <a:ext cx="5506085" cy="1120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7370"/>
                <a:gridCol w="3681095"/>
              </a:tblGrid>
              <a:tr h="192278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Events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Decisions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3891">
                <a:tc>
                  <a:txBody>
                    <a:bodyPr/>
                    <a:lstStyle/>
                    <a:p>
                      <a:pPr marL="71120">
                        <a:lnSpc>
                          <a:spcPts val="1280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1.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Buying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raw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materials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1280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1.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How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much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inventory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order?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1120">
                        <a:lnSpc>
                          <a:spcPts val="127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2.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Paying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127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2.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Whether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borrow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or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draw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down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balances?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marL="71120">
                        <a:lnSpc>
                          <a:spcPts val="127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3.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Manufacturing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product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127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3.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What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choice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production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technology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use?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marL="71120">
                        <a:lnSpc>
                          <a:spcPts val="127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4.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Selling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the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product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127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4.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Whether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credit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should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be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extended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a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particular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customer?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1012">
                <a:tc>
                  <a:txBody>
                    <a:bodyPr/>
                    <a:lstStyle/>
                    <a:p>
                      <a:pPr marL="71120">
                        <a:lnSpc>
                          <a:spcPts val="127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5.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Collecting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ts val="1275"/>
                        </a:lnSpc>
                      </a:pPr>
                      <a:r>
                        <a:rPr dirty="0" sz="1100" spc="10">
                          <a:latin typeface="Garamond"/>
                          <a:cs typeface="Garamond"/>
                        </a:rPr>
                        <a:t>5.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How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collect?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5508" y="2978657"/>
            <a:ext cx="5440045" cy="11607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ts val="129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activities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endParaRPr sz="1100">
              <a:latin typeface="Garamond"/>
              <a:cs typeface="Garamond"/>
            </a:endParaRPr>
          </a:p>
          <a:p>
            <a:pPr lvl="1" marL="469900" marR="5080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Unsynchronized</a:t>
            </a:r>
            <a:r>
              <a:rPr dirty="0" sz="1100" spc="15" b="1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payment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purchases may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happen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receipts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17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Uncertain</a:t>
            </a:r>
            <a:r>
              <a:rPr dirty="0" sz="1100" spc="229" b="1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cannot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precisely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predicted.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following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chronological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events.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Consider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chronological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events: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442972" y="4294885"/>
          <a:ext cx="3136265" cy="933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595"/>
                <a:gridCol w="1718310"/>
                <a:gridCol w="968375"/>
              </a:tblGrid>
              <a:tr h="187451">
                <a:tc>
                  <a:txBody>
                    <a:bodyPr/>
                    <a:lstStyle/>
                    <a:p>
                      <a:pPr algn="r" marR="119380">
                        <a:lnSpc>
                          <a:spcPts val="128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Day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28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Activity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128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6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Effect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4272">
                <a:tc>
                  <a:txBody>
                    <a:bodyPr/>
                    <a:lstStyle/>
                    <a:p>
                      <a:pPr algn="r" marR="160020">
                        <a:lnSpc>
                          <a:spcPts val="12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2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Acquire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inventory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on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credit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53060">
                        <a:lnSpc>
                          <a:spcPts val="12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None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r" marR="12573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Pay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for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inventory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r" marR="12573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Sell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inventory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on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 credit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306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None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1012">
                <a:tc>
                  <a:txBody>
                    <a:bodyPr/>
                    <a:lstStyle/>
                    <a:p>
                      <a:pPr algn="r" marR="958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105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Collect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on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sale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44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+$1,400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405508" y="5366384"/>
            <a:ext cx="5441315" cy="42710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ts val="129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</a:t>
            </a:r>
            <a:endParaRPr sz="1100">
              <a:latin typeface="Garamond"/>
              <a:cs typeface="Garamond"/>
            </a:endParaRPr>
          </a:p>
          <a:p>
            <a:pPr lvl="1" marL="469900" marR="10795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acquisition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collection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receivables.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example,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days)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takes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acquire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inventory.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example,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60 </a:t>
            </a:r>
            <a:r>
              <a:rPr dirty="0" sz="1100">
                <a:latin typeface="Garamond"/>
                <a:cs typeface="Garamond"/>
              </a:rPr>
              <a:t>days)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receivable.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(here,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45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days)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describe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 marL="1156335" marR="686435">
              <a:lnSpc>
                <a:spcPts val="1260"/>
              </a:lnSpc>
              <a:spcBef>
                <a:spcPts val="1255"/>
              </a:spcBef>
              <a:tabLst>
                <a:tab pos="2070735" algn="l"/>
              </a:tabLst>
            </a:pP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Cycle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105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	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60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45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describes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moves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through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>
                <a:latin typeface="Garamond"/>
                <a:cs typeface="Garamond"/>
              </a:rPr>
              <a:t> begins</a:t>
            </a:r>
            <a:r>
              <a:rPr dirty="0" sz="1100" spc="-10">
                <a:latin typeface="Garamond"/>
                <a:cs typeface="Garamond"/>
              </a:rPr>
              <a:t> life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5">
                <a:latin typeface="Garamond"/>
                <a:cs typeface="Garamond"/>
              </a:rPr>
              <a:t> inventory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Converted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Converted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collect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sale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payable </a:t>
            </a:r>
            <a:r>
              <a:rPr dirty="0" sz="1100" spc="-10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lvl="1" marL="469900" marR="5080" indent="-229235">
              <a:lnSpc>
                <a:spcPts val="1220"/>
              </a:lnSpc>
              <a:spcBef>
                <a:spcPts val="9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receipt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it.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(In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example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pay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purchased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after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days.)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70"/>
              </a:lnSpc>
              <a:spcBef>
                <a:spcPts val="6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5">
                <a:latin typeface="Garamond"/>
                <a:cs typeface="Garamond"/>
              </a:rPr>
              <a:t>C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</a:t>
            </a:r>
            <a:r>
              <a:rPr dirty="0" sz="1100" spc="-30">
                <a:latin typeface="Garamond"/>
                <a:cs typeface="Garamond"/>
              </a:rPr>
              <a:t>y</a:t>
            </a:r>
            <a:r>
              <a:rPr dirty="0" sz="1100" spc="5">
                <a:latin typeface="Garamond"/>
                <a:cs typeface="Garamond"/>
              </a:rPr>
              <a:t>cle</a:t>
            </a:r>
            <a:endParaRPr sz="1100">
              <a:latin typeface="Garamond"/>
              <a:cs typeface="Garamond"/>
            </a:endParaRPr>
          </a:p>
          <a:p>
            <a:pPr lvl="1" marL="469900" marR="6350" indent="-229235">
              <a:lnSpc>
                <a:spcPts val="1260"/>
              </a:lnSpc>
              <a:spcBef>
                <a:spcPts val="40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time between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>
                <a:latin typeface="Garamond"/>
                <a:cs typeface="Garamond"/>
              </a:rPr>
              <a:t>disbursement 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 collection.</a:t>
            </a:r>
            <a:r>
              <a:rPr dirty="0" sz="1100">
                <a:latin typeface="Garamond"/>
                <a:cs typeface="Garamond"/>
              </a:rPr>
              <a:t> (We </a:t>
            </a:r>
            <a:r>
              <a:rPr dirty="0" sz="1100" spc="-10">
                <a:latin typeface="Garamond"/>
                <a:cs typeface="Garamond"/>
              </a:rPr>
              <a:t>spend</a:t>
            </a:r>
            <a:r>
              <a:rPr dirty="0" sz="1100" spc="-5">
                <a:latin typeface="Garamond"/>
                <a:cs typeface="Garamond"/>
              </a:rPr>
              <a:t> cash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 30, </a:t>
            </a:r>
            <a:r>
              <a:rPr dirty="0" sz="1100" spc="5">
                <a:latin typeface="Garamond"/>
                <a:cs typeface="Garamond"/>
              </a:rPr>
              <a:t>but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don't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collect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until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105.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arrange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105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30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75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days)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describe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 marL="1156335" marR="1188720">
              <a:lnSpc>
                <a:spcPts val="1260"/>
              </a:lnSpc>
              <a:spcBef>
                <a:spcPts val="1255"/>
              </a:spcBef>
              <a:tabLst>
                <a:tab pos="1791970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Cycle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75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	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105 </a:t>
            </a:r>
            <a:r>
              <a:rPr dirty="0" sz="1100">
                <a:latin typeface="Garamond"/>
                <a:cs typeface="Garamond"/>
              </a:rPr>
              <a:t>days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30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2987801"/>
            <a:ext cx="5668645" cy="100076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469900" marR="8255" indent="-228600">
              <a:lnSpc>
                <a:spcPts val="1230"/>
              </a:lnSpc>
              <a:spcBef>
                <a:spcPts val="229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gap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inflows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outflows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filled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either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borrowing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holding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reserve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marketable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220"/>
              </a:lnSpc>
              <a:spcBef>
                <a:spcPts val="1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Alternatively,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gap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shortened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changing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inventory,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Managing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Operating Cycle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257909" y="4144009"/>
          <a:ext cx="5506085" cy="2886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3005"/>
                <a:gridCol w="2594610"/>
                <a:gridCol w="1721485"/>
              </a:tblGrid>
              <a:tr h="320040">
                <a:tc>
                  <a:txBody>
                    <a:bodyPr/>
                    <a:lstStyle/>
                    <a:p>
                      <a:pPr marL="71120">
                        <a:lnSpc>
                          <a:spcPts val="117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Title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Manager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114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Duties</a:t>
                      </a:r>
                      <a:r>
                        <a:rPr dirty="0" sz="1100" spc="-2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Relating</a:t>
                      </a:r>
                      <a:r>
                        <a:rPr dirty="0" sz="1100" spc="1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Short-Term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Financial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1430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Management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14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Assets/Liabilities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76835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influenced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480441">
                <a:tc>
                  <a:txBody>
                    <a:bodyPr/>
                    <a:lstStyle/>
                    <a:p>
                      <a:pPr marL="71120">
                        <a:lnSpc>
                          <a:spcPts val="121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Manager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116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Collection,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concentration,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disbursement;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14300" marR="615315">
                        <a:lnSpc>
                          <a:spcPts val="1220"/>
                        </a:lnSpc>
                        <a:spcBef>
                          <a:spcPts val="7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short-term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investment; short-term </a:t>
                      </a:r>
                      <a:r>
                        <a:rPr dirty="0" sz="1100" spc="-2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borrowing;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bank</a:t>
                      </a:r>
                      <a:r>
                        <a:rPr dirty="0" sz="1100" spc="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relations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 marR="144145">
                        <a:lnSpc>
                          <a:spcPts val="123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Cash,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marketable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securities, </a:t>
                      </a:r>
                      <a:r>
                        <a:rPr dirty="0" sz="1100" spc="-2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short-term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loans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marL="71120">
                        <a:lnSpc>
                          <a:spcPts val="11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Credit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Manager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112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Monitoring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control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accounts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14300">
                        <a:lnSpc>
                          <a:spcPts val="127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receivable;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credit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policy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decisions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1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0294">
                <a:tc>
                  <a:txBody>
                    <a:bodyPr/>
                    <a:lstStyle/>
                    <a:p>
                      <a:pPr marL="7112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Marketing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7112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Manager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11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Credit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policy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decisions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1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71120">
                        <a:lnSpc>
                          <a:spcPts val="11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Purchase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Manager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Decisions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on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purchases,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supplies;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may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negotiate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payment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terms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1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Inventory,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0421">
                <a:tc>
                  <a:txBody>
                    <a:bodyPr/>
                    <a:lstStyle/>
                    <a:p>
                      <a:pPr marL="7112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Production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7112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Manager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114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Setting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production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schedules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materials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marL="11430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Requirements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1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Inventory,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marL="71120">
                        <a:lnSpc>
                          <a:spcPts val="121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Payables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Manager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408305">
                        <a:lnSpc>
                          <a:spcPts val="12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Decisions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on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payment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policies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on </a:t>
                      </a:r>
                      <a:r>
                        <a:rPr dirty="0" sz="1100" spc="-2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whether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take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discounts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21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0313">
                <a:tc>
                  <a:txBody>
                    <a:bodyPr/>
                    <a:lstStyle/>
                    <a:p>
                      <a:pPr marL="71120">
                        <a:lnSpc>
                          <a:spcPts val="121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Controller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69215">
                        <a:lnSpc>
                          <a:spcPts val="123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Accounting info.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on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flows;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reconciliation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A/C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receivable; application </a:t>
                      </a:r>
                      <a:r>
                        <a:rPr dirty="0" sz="1100" spc="-2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payments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to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A/C</a:t>
                      </a:r>
                      <a:r>
                        <a:rPr dirty="0" sz="1100" spc="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 marR="518795">
                        <a:lnSpc>
                          <a:spcPts val="123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receivable, </a:t>
                      </a:r>
                      <a:r>
                        <a:rPr dirty="0" sz="1100" spc="-26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635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5508" y="7172959"/>
            <a:ext cx="3872229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Following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balance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sheet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thousands):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182114" y="7524241"/>
          <a:ext cx="3657600" cy="750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4615"/>
                <a:gridCol w="946785"/>
                <a:gridCol w="679450"/>
                <a:gridCol w="659129"/>
              </a:tblGrid>
              <a:tr h="187451">
                <a:tc>
                  <a:txBody>
                    <a:bodyPr/>
                    <a:lstStyle/>
                    <a:p>
                      <a:pPr marL="70485">
                        <a:lnSpc>
                          <a:spcPts val="128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Item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314">
                        <a:lnSpc>
                          <a:spcPts val="128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Beginning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9220">
                        <a:lnSpc>
                          <a:spcPts val="128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Ending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8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Average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3891">
                <a:tc>
                  <a:txBody>
                    <a:bodyPr/>
                    <a:lstStyle/>
                    <a:p>
                      <a:pPr marL="70485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0489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$3,000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1,600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048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1,800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1203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0489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875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405508" y="8412606"/>
            <a:ext cx="427482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thousands):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49144" y="8728328"/>
            <a:ext cx="1110615" cy="3556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Sales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90"/>
              </a:lnSpc>
            </a:pP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Goods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Sold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21633" y="8728328"/>
            <a:ext cx="462280" cy="3556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18415">
              <a:lnSpc>
                <a:spcPts val="129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$</a:t>
            </a:r>
            <a:r>
              <a:rPr dirty="0" sz="1100" spc="-15">
                <a:latin typeface="Garamond"/>
                <a:cs typeface="Garamond"/>
              </a:rPr>
              <a:t>1</a:t>
            </a:r>
            <a:r>
              <a:rPr dirty="0" sz="1100" spc="20">
                <a:latin typeface="Garamond"/>
                <a:cs typeface="Garamond"/>
              </a:rPr>
              <a:t>1</a:t>
            </a:r>
            <a:r>
              <a:rPr dirty="0" sz="1100" spc="-30">
                <a:latin typeface="Garamond"/>
                <a:cs typeface="Garamond"/>
              </a:rPr>
              <a:t>,</a:t>
            </a:r>
            <a:r>
              <a:rPr dirty="0" sz="1100" spc="20">
                <a:latin typeface="Garamond"/>
                <a:cs typeface="Garamond"/>
              </a:rPr>
              <a:t>5</a:t>
            </a:r>
            <a:r>
              <a:rPr dirty="0" sz="1100" spc="-15">
                <a:latin typeface="Garamond"/>
                <a:cs typeface="Garamond"/>
              </a:rPr>
              <a:t>0</a:t>
            </a:r>
            <a:r>
              <a:rPr dirty="0" sz="1100" spc="5">
                <a:latin typeface="Garamond"/>
                <a:cs typeface="Garamond"/>
              </a:rPr>
              <a:t>0</a:t>
            </a:r>
            <a:endParaRPr sz="1100">
              <a:latin typeface="Garamond"/>
              <a:cs typeface="Garamond"/>
            </a:endParaRPr>
          </a:p>
          <a:p>
            <a:pPr algn="r" marR="5080">
              <a:lnSpc>
                <a:spcPts val="1290"/>
              </a:lnSpc>
            </a:pPr>
            <a:r>
              <a:rPr dirty="0" sz="1100">
                <a:latin typeface="Garamond"/>
                <a:cs typeface="Garamond"/>
              </a:rPr>
              <a:t>8,200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07078" y="9208389"/>
            <a:ext cx="10287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Cost</a:t>
            </a:r>
            <a:r>
              <a:rPr dirty="0" sz="1000" spc="-50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of</a:t>
            </a:r>
            <a:r>
              <a:rPr dirty="0" sz="1000" spc="-45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Goods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Sold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23744" y="9299854"/>
            <a:ext cx="234442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Average</a:t>
            </a:r>
            <a:r>
              <a:rPr dirty="0" baseline="-38888" sz="1500" spc="-52">
                <a:latin typeface="Cambria Math"/>
                <a:cs typeface="Cambria Math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Inventory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15207" y="9399396"/>
            <a:ext cx="1006475" cy="9525"/>
          </a:xfrm>
          <a:custGeom>
            <a:avLst/>
            <a:gdLst/>
            <a:ahLst/>
            <a:cxnLst/>
            <a:rect l="l" t="t" r="r" b="b"/>
            <a:pathLst>
              <a:path w="1006475" h="9525">
                <a:moveTo>
                  <a:pt x="1006449" y="0"/>
                </a:moveTo>
                <a:lnTo>
                  <a:pt x="0" y="0"/>
                </a:lnTo>
                <a:lnTo>
                  <a:pt x="0" y="9143"/>
                </a:lnTo>
                <a:lnTo>
                  <a:pt x="1006449" y="9143"/>
                </a:lnTo>
                <a:lnTo>
                  <a:pt x="10064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9761" y="787898"/>
            <a:ext cx="5238750" cy="1999762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158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802507" y="709929"/>
            <a:ext cx="59309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8,200,000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23744" y="801369"/>
            <a:ext cx="188912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2,500,000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15207" y="900937"/>
            <a:ext cx="567690" cy="9525"/>
          </a:xfrm>
          <a:custGeom>
            <a:avLst/>
            <a:gdLst/>
            <a:ahLst/>
            <a:cxnLst/>
            <a:rect l="l" t="t" r="r" b="b"/>
            <a:pathLst>
              <a:path w="567689" h="9525">
                <a:moveTo>
                  <a:pt x="567537" y="0"/>
                </a:moveTo>
                <a:lnTo>
                  <a:pt x="0" y="0"/>
                </a:lnTo>
                <a:lnTo>
                  <a:pt x="0" y="9143"/>
                </a:lnTo>
                <a:lnTo>
                  <a:pt x="567537" y="9143"/>
                </a:lnTo>
                <a:lnTo>
                  <a:pt x="5675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11044" y="1190370"/>
            <a:ext cx="2280285" cy="6896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Inventory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3.28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50">
              <a:latin typeface="Garamond"/>
              <a:cs typeface="Garamond"/>
            </a:endParaRPr>
          </a:p>
          <a:p>
            <a:pPr marL="1431925">
              <a:lnSpc>
                <a:spcPct val="100000"/>
              </a:lnSpc>
            </a:pPr>
            <a:r>
              <a:rPr dirty="0" sz="1000" spc="20">
                <a:latin typeface="Cambria Math"/>
                <a:cs typeface="Cambria Math"/>
              </a:rPr>
              <a:t>365</a:t>
            </a:r>
            <a:r>
              <a:rPr dirty="0" sz="1000" spc="-45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Days</a:t>
            </a:r>
            <a:endParaRPr sz="10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250"/>
              </a:spcBef>
            </a:pPr>
            <a:r>
              <a:rPr dirty="0" baseline="35353" sz="1650">
                <a:latin typeface="Garamond"/>
                <a:cs typeface="Garamond"/>
              </a:rPr>
              <a:t>Inventory </a:t>
            </a:r>
            <a:r>
              <a:rPr dirty="0" baseline="35353" sz="1650" spc="-7">
                <a:latin typeface="Garamond"/>
                <a:cs typeface="Garamond"/>
              </a:rPr>
              <a:t>Period</a:t>
            </a:r>
            <a:r>
              <a:rPr dirty="0" baseline="35353" sz="1650" spc="-37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75">
                <a:latin typeface="Garamond"/>
                <a:cs typeface="Garamond"/>
              </a:rPr>
              <a:t> </a:t>
            </a:r>
            <a:r>
              <a:rPr dirty="0" sz="1000">
                <a:latin typeface="Cambria Math"/>
                <a:cs typeface="Cambria Math"/>
              </a:rPr>
              <a:t>Inventory</a:t>
            </a:r>
            <a:r>
              <a:rPr dirty="0" sz="1000" spc="-20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Turnover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59759" y="1692274"/>
            <a:ext cx="1080135" cy="9525"/>
          </a:xfrm>
          <a:custGeom>
            <a:avLst/>
            <a:gdLst/>
            <a:ahLst/>
            <a:cxnLst/>
            <a:rect l="l" t="t" r="r" b="b"/>
            <a:pathLst>
              <a:path w="1080135" h="9525">
                <a:moveTo>
                  <a:pt x="1079601" y="0"/>
                </a:moveTo>
                <a:lnTo>
                  <a:pt x="0" y="0"/>
                </a:lnTo>
                <a:lnTo>
                  <a:pt x="0" y="9143"/>
                </a:lnTo>
                <a:lnTo>
                  <a:pt x="1079601" y="9143"/>
                </a:lnTo>
                <a:lnTo>
                  <a:pt x="10796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656203" y="1835276"/>
            <a:ext cx="24511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365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23744" y="1926716"/>
            <a:ext cx="14141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5">
                <a:latin typeface="Garamond"/>
                <a:cs typeface="Garamond"/>
              </a:rPr>
              <a:t> Period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3.28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59759" y="2026284"/>
            <a:ext cx="238125" cy="9525"/>
          </a:xfrm>
          <a:custGeom>
            <a:avLst/>
            <a:gdLst/>
            <a:ahLst/>
            <a:cxnLst/>
            <a:rect l="l" t="t" r="r" b="b"/>
            <a:pathLst>
              <a:path w="238125" h="9525">
                <a:moveTo>
                  <a:pt x="238048" y="0"/>
                </a:moveTo>
                <a:lnTo>
                  <a:pt x="0" y="0"/>
                </a:lnTo>
                <a:lnTo>
                  <a:pt x="0" y="9144"/>
                </a:lnTo>
                <a:lnTo>
                  <a:pt x="238048" y="9144"/>
                </a:lnTo>
                <a:lnTo>
                  <a:pt x="238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392808" y="2297048"/>
            <a:ext cx="4231640" cy="12071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690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Inventory </a:t>
            </a:r>
            <a:r>
              <a:rPr dirty="0" sz="1100" spc="-5">
                <a:latin typeface="Garamond"/>
                <a:cs typeface="Garamond"/>
              </a:rPr>
              <a:t>Period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111.3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Garamond"/>
              <a:cs typeface="Garamond"/>
            </a:endParaRPr>
          </a:p>
          <a:p>
            <a:pPr marL="254000" indent="-228600">
              <a:lnSpc>
                <a:spcPct val="100000"/>
              </a:lnSpc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means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111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before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was </a:t>
            </a:r>
            <a:r>
              <a:rPr dirty="0" sz="1100" spc="5">
                <a:latin typeface="Garamond"/>
                <a:cs typeface="Garamond"/>
              </a:rPr>
              <a:t>sold.</a:t>
            </a:r>
            <a:endParaRPr sz="1100">
              <a:latin typeface="Garamond"/>
              <a:cs typeface="Garamond"/>
            </a:endParaRPr>
          </a:p>
          <a:p>
            <a:pPr marL="2540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53365" algn="l"/>
                <a:tab pos="254000" algn="l"/>
              </a:tabLst>
            </a:pPr>
            <a:r>
              <a:rPr dirty="0" sz="1100">
                <a:latin typeface="Garamond"/>
                <a:cs typeface="Garamond"/>
              </a:rPr>
              <a:t>Now,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assuming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turnover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2797175">
              <a:lnSpc>
                <a:spcPct val="100000"/>
              </a:lnSpc>
              <a:spcBef>
                <a:spcPts val="1195"/>
              </a:spcBef>
            </a:pPr>
            <a:r>
              <a:rPr dirty="0" sz="1000" spc="5">
                <a:latin typeface="Cambria Math"/>
                <a:cs typeface="Cambria Math"/>
              </a:rPr>
              <a:t>C</a:t>
            </a:r>
            <a:r>
              <a:rPr dirty="0" sz="1000" spc="10">
                <a:latin typeface="Cambria Math"/>
                <a:cs typeface="Cambria Math"/>
              </a:rPr>
              <a:t>re</a:t>
            </a:r>
            <a:r>
              <a:rPr dirty="0" sz="1000" spc="-20">
                <a:latin typeface="Cambria Math"/>
                <a:cs typeface="Cambria Math"/>
              </a:rPr>
              <a:t>d</a:t>
            </a:r>
            <a:r>
              <a:rPr dirty="0" sz="1000" spc="5">
                <a:latin typeface="Cambria Math"/>
                <a:cs typeface="Cambria Math"/>
              </a:rPr>
              <a:t>i</a:t>
            </a:r>
            <a:r>
              <a:rPr dirty="0" sz="1000">
                <a:latin typeface="Cambria Math"/>
                <a:cs typeface="Cambria Math"/>
              </a:rPr>
              <a:t>t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S</a:t>
            </a:r>
            <a:r>
              <a:rPr dirty="0" sz="1000" spc="10">
                <a:latin typeface="Cambria Math"/>
                <a:cs typeface="Cambria Math"/>
              </a:rPr>
              <a:t>a</a:t>
            </a:r>
            <a:r>
              <a:rPr dirty="0" sz="1000" spc="-25">
                <a:latin typeface="Cambria Math"/>
                <a:cs typeface="Cambria Math"/>
              </a:rPr>
              <a:t>l</a:t>
            </a:r>
            <a:r>
              <a:rPr dirty="0" sz="1000" spc="10">
                <a:latin typeface="Cambria Math"/>
                <a:cs typeface="Cambria Math"/>
              </a:rPr>
              <a:t>e</a:t>
            </a:r>
            <a:r>
              <a:rPr dirty="0" sz="1000">
                <a:latin typeface="Cambria Math"/>
                <a:cs typeface="Cambria Math"/>
              </a:rPr>
              <a:t>s</a:t>
            </a:r>
            <a:endParaRPr sz="1000">
              <a:latin typeface="Cambria Math"/>
              <a:cs typeface="Cambria Math"/>
            </a:endParaRPr>
          </a:p>
          <a:p>
            <a:pPr marL="1169035">
              <a:lnSpc>
                <a:spcPct val="100000"/>
              </a:lnSpc>
              <a:spcBef>
                <a:spcPts val="250"/>
              </a:spcBef>
            </a:pPr>
            <a:r>
              <a:rPr dirty="0" baseline="35353" sz="1650">
                <a:latin typeface="Garamond"/>
                <a:cs typeface="Garamond"/>
              </a:rPr>
              <a:t>Receivable</a:t>
            </a:r>
            <a:r>
              <a:rPr dirty="0" baseline="35353" sz="1650" spc="37">
                <a:latin typeface="Garamond"/>
                <a:cs typeface="Garamond"/>
              </a:rPr>
              <a:t> </a:t>
            </a:r>
            <a:r>
              <a:rPr dirty="0" baseline="35353" sz="1650" spc="-7">
                <a:latin typeface="Garamond"/>
                <a:cs typeface="Garamond"/>
              </a:rPr>
              <a:t>Turnover</a:t>
            </a:r>
            <a:r>
              <a:rPr dirty="0" baseline="35353" sz="1650" spc="-44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104">
                <a:latin typeface="Garamond"/>
                <a:cs typeface="Garamond"/>
              </a:rPr>
              <a:t> </a:t>
            </a:r>
            <a:r>
              <a:rPr dirty="0" sz="1000">
                <a:latin typeface="Cambria Math"/>
                <a:cs typeface="Cambria Math"/>
              </a:rPr>
              <a:t>Average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A/C</a:t>
            </a:r>
            <a:r>
              <a:rPr dirty="0" sz="1000" spc="5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Receivable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61180" y="3316223"/>
            <a:ext cx="1299210" cy="9525"/>
          </a:xfrm>
          <a:custGeom>
            <a:avLst/>
            <a:gdLst/>
            <a:ahLst/>
            <a:cxnLst/>
            <a:rect l="l" t="t" r="r" b="b"/>
            <a:pathLst>
              <a:path w="1299210" h="9525">
                <a:moveTo>
                  <a:pt x="1299083" y="0"/>
                </a:moveTo>
                <a:lnTo>
                  <a:pt x="0" y="0"/>
                </a:lnTo>
                <a:lnTo>
                  <a:pt x="0" y="9144"/>
                </a:lnTo>
                <a:lnTo>
                  <a:pt x="1299083" y="9144"/>
                </a:lnTo>
                <a:lnTo>
                  <a:pt x="12990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848480" y="3463544"/>
            <a:ext cx="6445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11</a:t>
            </a:r>
            <a:r>
              <a:rPr dirty="0" sz="1000" spc="5">
                <a:latin typeface="Cambria Math"/>
                <a:cs typeface="Cambria Math"/>
              </a:rPr>
              <a:t>,</a:t>
            </a:r>
            <a:r>
              <a:rPr dirty="0" sz="1000" spc="-20">
                <a:latin typeface="Cambria Math"/>
                <a:cs typeface="Cambria Math"/>
              </a:rPr>
              <a:t>50</a:t>
            </a:r>
            <a:r>
              <a:rPr dirty="0" sz="1000" spc="15">
                <a:latin typeface="Cambria Math"/>
                <a:cs typeface="Cambria Math"/>
              </a:rPr>
              <a:t>0</a:t>
            </a:r>
            <a:r>
              <a:rPr dirty="0" sz="1000" spc="-30">
                <a:latin typeface="Cambria Math"/>
                <a:cs typeface="Cambria Math"/>
              </a:rPr>
              <a:t>,</a:t>
            </a:r>
            <a:r>
              <a:rPr dirty="0" sz="1000" spc="15">
                <a:latin typeface="Cambria Math"/>
                <a:cs typeface="Cambria Math"/>
              </a:rPr>
              <a:t>0</a:t>
            </a:r>
            <a:r>
              <a:rPr dirty="0" sz="1000" spc="-20">
                <a:latin typeface="Cambria Math"/>
                <a:cs typeface="Cambria Math"/>
              </a:rPr>
              <a:t>0</a:t>
            </a:r>
            <a:r>
              <a:rPr dirty="0" sz="1000">
                <a:latin typeface="Cambria Math"/>
                <a:cs typeface="Cambria Math"/>
              </a:rPr>
              <a:t>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23744" y="3554983"/>
            <a:ext cx="1958339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Receivable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1,800,000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61180" y="3654551"/>
            <a:ext cx="613410" cy="9525"/>
          </a:xfrm>
          <a:custGeom>
            <a:avLst/>
            <a:gdLst/>
            <a:ahLst/>
            <a:cxnLst/>
            <a:rect l="l" t="t" r="r" b="b"/>
            <a:pathLst>
              <a:path w="613410" h="9525">
                <a:moveTo>
                  <a:pt x="612952" y="0"/>
                </a:moveTo>
                <a:lnTo>
                  <a:pt x="0" y="0"/>
                </a:lnTo>
                <a:lnTo>
                  <a:pt x="0" y="9144"/>
                </a:lnTo>
                <a:lnTo>
                  <a:pt x="612952" y="9144"/>
                </a:lnTo>
                <a:lnTo>
                  <a:pt x="6129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511044" y="3939285"/>
            <a:ext cx="2376805" cy="6985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Receivable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6.4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Garamond"/>
              <a:cs typeface="Garamond"/>
            </a:endParaRPr>
          </a:p>
          <a:p>
            <a:pPr marL="1504950">
              <a:lnSpc>
                <a:spcPct val="100000"/>
              </a:lnSpc>
            </a:pPr>
            <a:r>
              <a:rPr dirty="0" sz="1000" spc="15">
                <a:latin typeface="Cambria Math"/>
                <a:cs typeface="Cambria Math"/>
              </a:rPr>
              <a:t>36</a:t>
            </a:r>
            <a:r>
              <a:rPr dirty="0" sz="1000">
                <a:latin typeface="Cambria Math"/>
                <a:cs typeface="Cambria Math"/>
              </a:rPr>
              <a:t>5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20">
                <a:latin typeface="Cambria Math"/>
                <a:cs typeface="Cambria Math"/>
              </a:rPr>
              <a:t>D</a:t>
            </a:r>
            <a:r>
              <a:rPr dirty="0" sz="1000" spc="-25">
                <a:latin typeface="Cambria Math"/>
                <a:cs typeface="Cambria Math"/>
              </a:rPr>
              <a:t>a</a:t>
            </a:r>
            <a:r>
              <a:rPr dirty="0" sz="1000" spc="-5">
                <a:latin typeface="Cambria Math"/>
                <a:cs typeface="Cambria Math"/>
              </a:rPr>
              <a:t>y</a:t>
            </a:r>
            <a:r>
              <a:rPr dirty="0" sz="1000">
                <a:latin typeface="Cambria Math"/>
                <a:cs typeface="Cambria Math"/>
              </a:rPr>
              <a:t>s</a:t>
            </a:r>
            <a:endParaRPr sz="10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250"/>
              </a:spcBef>
            </a:pPr>
            <a:r>
              <a:rPr dirty="0" baseline="35353" sz="1650">
                <a:latin typeface="Garamond"/>
                <a:cs typeface="Garamond"/>
              </a:rPr>
              <a:t>Receivable</a:t>
            </a:r>
            <a:r>
              <a:rPr dirty="0" baseline="35353" sz="1650" spc="15">
                <a:latin typeface="Garamond"/>
                <a:cs typeface="Garamond"/>
              </a:rPr>
              <a:t> </a:t>
            </a:r>
            <a:r>
              <a:rPr dirty="0" baseline="35353" sz="1650" spc="-7">
                <a:latin typeface="Garamond"/>
                <a:cs typeface="Garamond"/>
              </a:rPr>
              <a:t>Period</a:t>
            </a:r>
            <a:r>
              <a:rPr dirty="0" baseline="35353" sz="1650" spc="-22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89">
                <a:latin typeface="Garamond"/>
                <a:cs typeface="Garamond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Receivable</a:t>
            </a:r>
            <a:r>
              <a:rPr dirty="0" sz="1000" spc="5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Turnover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05478" y="4450333"/>
            <a:ext cx="1130300" cy="9525"/>
          </a:xfrm>
          <a:custGeom>
            <a:avLst/>
            <a:gdLst/>
            <a:ahLst/>
            <a:cxnLst/>
            <a:rect l="l" t="t" r="r" b="b"/>
            <a:pathLst>
              <a:path w="1130300" h="9525">
                <a:moveTo>
                  <a:pt x="1129893" y="0"/>
                </a:moveTo>
                <a:lnTo>
                  <a:pt x="0" y="0"/>
                </a:lnTo>
                <a:lnTo>
                  <a:pt x="0" y="9144"/>
                </a:lnTo>
                <a:lnTo>
                  <a:pt x="1129893" y="9144"/>
                </a:lnTo>
                <a:lnTo>
                  <a:pt x="11298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692778" y="4570602"/>
            <a:ext cx="2381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3</a:t>
            </a:r>
            <a:r>
              <a:rPr dirty="0" sz="1000" spc="-20">
                <a:latin typeface="Cambria Math"/>
                <a:cs typeface="Cambria Math"/>
              </a:rPr>
              <a:t>6</a:t>
            </a:r>
            <a:r>
              <a:rPr dirty="0" sz="1000">
                <a:latin typeface="Cambria Math"/>
                <a:cs typeface="Cambria Math"/>
              </a:rPr>
              <a:t>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23744" y="4662042"/>
            <a:ext cx="14141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Receivable</a:t>
            </a:r>
            <a:r>
              <a:rPr dirty="0" sz="1100" spc="-5">
                <a:latin typeface="Garamond"/>
                <a:cs typeface="Garamond"/>
              </a:rPr>
              <a:t> Period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baseline="-38888" sz="1500" spc="15">
                <a:latin typeface="Cambria Math"/>
                <a:cs typeface="Cambria Math"/>
              </a:rPr>
              <a:t>6.4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705478" y="4761610"/>
            <a:ext cx="210820" cy="9525"/>
          </a:xfrm>
          <a:custGeom>
            <a:avLst/>
            <a:gdLst/>
            <a:ahLst/>
            <a:cxnLst/>
            <a:rect l="l" t="t" r="r" b="b"/>
            <a:pathLst>
              <a:path w="210820" h="9525">
                <a:moveTo>
                  <a:pt x="210616" y="0"/>
                </a:moveTo>
                <a:lnTo>
                  <a:pt x="0" y="0"/>
                </a:lnTo>
                <a:lnTo>
                  <a:pt x="0" y="9144"/>
                </a:lnTo>
                <a:lnTo>
                  <a:pt x="210616" y="9144"/>
                </a:lnTo>
                <a:lnTo>
                  <a:pt x="2106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405508" y="5032374"/>
            <a:ext cx="5438140" cy="18472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563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Receivable </a:t>
            </a:r>
            <a:r>
              <a:rPr dirty="0" sz="1100" spc="-5">
                <a:latin typeface="Garamond"/>
                <a:cs typeface="Garamond"/>
              </a:rPr>
              <a:t>Period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57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days’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tells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took</a:t>
            </a:r>
            <a:r>
              <a:rPr dirty="0" sz="1100" spc="-10">
                <a:latin typeface="Garamond"/>
                <a:cs typeface="Garamond"/>
              </a:rPr>
              <a:t> 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57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days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endParaRPr sz="1100">
              <a:latin typeface="Garamond"/>
              <a:cs typeface="Garamond"/>
            </a:endParaRPr>
          </a:p>
          <a:p>
            <a:pPr marL="1156335" marR="1191260">
              <a:lnSpc>
                <a:spcPts val="1260"/>
              </a:lnSpc>
              <a:spcBef>
                <a:spcPts val="1255"/>
              </a:spcBef>
            </a:pP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Cycle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Cycle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111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57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168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average,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168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elapse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acquire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sold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collect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33927" y="7003795"/>
            <a:ext cx="10287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5">
                <a:latin typeface="Cambria Math"/>
                <a:cs typeface="Cambria Math"/>
              </a:rPr>
              <a:t>Cost</a:t>
            </a:r>
            <a:r>
              <a:rPr dirty="0" sz="1000" spc="-50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of</a:t>
            </a:r>
            <a:r>
              <a:rPr dirty="0" sz="1000" spc="-45">
                <a:latin typeface="Cambria Math"/>
                <a:cs typeface="Cambria Math"/>
              </a:rPr>
              <a:t> </a:t>
            </a:r>
            <a:r>
              <a:rPr dirty="0" sz="1000" spc="5">
                <a:latin typeface="Cambria Math"/>
                <a:cs typeface="Cambria Math"/>
              </a:rPr>
              <a:t>Goods</a:t>
            </a:r>
            <a:r>
              <a:rPr dirty="0" sz="1000" spc="-25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Sold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23744" y="7095235"/>
            <a:ext cx="223901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Payables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baseline="-38888" sz="1500">
                <a:latin typeface="Cambria Math"/>
                <a:cs typeface="Cambria Math"/>
              </a:rPr>
              <a:t>Average</a:t>
            </a:r>
            <a:r>
              <a:rPr dirty="0" baseline="-38888" sz="1500" spc="-44">
                <a:latin typeface="Cambria Math"/>
                <a:cs typeface="Cambria Math"/>
              </a:rPr>
              <a:t> </a:t>
            </a:r>
            <a:r>
              <a:rPr dirty="0" baseline="-38888" sz="1500" spc="-7">
                <a:latin typeface="Cambria Math"/>
                <a:cs typeface="Cambria Math"/>
              </a:rPr>
              <a:t>Payables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746627" y="7194803"/>
            <a:ext cx="997585" cy="9525"/>
          </a:xfrm>
          <a:custGeom>
            <a:avLst/>
            <a:gdLst/>
            <a:ahLst/>
            <a:cxnLst/>
            <a:rect l="l" t="t" r="r" b="b"/>
            <a:pathLst>
              <a:path w="997585" h="9525">
                <a:moveTo>
                  <a:pt x="997305" y="0"/>
                </a:moveTo>
                <a:lnTo>
                  <a:pt x="0" y="0"/>
                </a:lnTo>
                <a:lnTo>
                  <a:pt x="0" y="9144"/>
                </a:lnTo>
                <a:lnTo>
                  <a:pt x="997305" y="9144"/>
                </a:lnTo>
                <a:lnTo>
                  <a:pt x="9973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549144" y="7429245"/>
            <a:ext cx="116649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Payables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33927" y="7337805"/>
            <a:ext cx="57594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Cambria Math"/>
                <a:cs typeface="Cambria Math"/>
              </a:rPr>
              <a:t>8,200,000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79646" y="7534402"/>
            <a:ext cx="480059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875</a:t>
            </a:r>
            <a:r>
              <a:rPr dirty="0" sz="1000" spc="-30">
                <a:latin typeface="Cambria Math"/>
                <a:cs typeface="Cambria Math"/>
              </a:rPr>
              <a:t>,</a:t>
            </a:r>
            <a:r>
              <a:rPr dirty="0" sz="1000" spc="15">
                <a:latin typeface="Cambria Math"/>
                <a:cs typeface="Cambria Math"/>
              </a:rPr>
              <a:t>0</a:t>
            </a:r>
            <a:r>
              <a:rPr dirty="0" sz="1000" spc="-20">
                <a:latin typeface="Cambria Math"/>
                <a:cs typeface="Cambria Math"/>
              </a:rPr>
              <a:t>0</a:t>
            </a:r>
            <a:r>
              <a:rPr dirty="0" sz="1000">
                <a:latin typeface="Cambria Math"/>
                <a:cs typeface="Cambria Math"/>
              </a:rPr>
              <a:t>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746627" y="7528814"/>
            <a:ext cx="544830" cy="9525"/>
          </a:xfrm>
          <a:custGeom>
            <a:avLst/>
            <a:gdLst/>
            <a:ahLst/>
            <a:cxnLst/>
            <a:rect l="l" t="t" r="r" b="b"/>
            <a:pathLst>
              <a:path w="544829" h="9525">
                <a:moveTo>
                  <a:pt x="544372" y="0"/>
                </a:moveTo>
                <a:lnTo>
                  <a:pt x="0" y="0"/>
                </a:lnTo>
                <a:lnTo>
                  <a:pt x="0" y="9143"/>
                </a:lnTo>
                <a:lnTo>
                  <a:pt x="544372" y="9143"/>
                </a:lnTo>
                <a:lnTo>
                  <a:pt x="5443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511044" y="7813293"/>
            <a:ext cx="2157095" cy="6991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Payables</a:t>
            </a:r>
            <a:r>
              <a:rPr dirty="0" sz="1100" spc="-5">
                <a:latin typeface="Garamond"/>
                <a:cs typeface="Garamond"/>
              </a:rPr>
              <a:t> Turnover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9.4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Garamond"/>
              <a:cs typeface="Garamond"/>
            </a:endParaRPr>
          </a:p>
          <a:p>
            <a:pPr marL="134048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Cambria Math"/>
                <a:cs typeface="Cambria Math"/>
              </a:rPr>
              <a:t>365</a:t>
            </a:r>
            <a:r>
              <a:rPr dirty="0" sz="1000" spc="-30">
                <a:latin typeface="Cambria Math"/>
                <a:cs typeface="Cambria Math"/>
              </a:rPr>
              <a:t> </a:t>
            </a:r>
            <a:r>
              <a:rPr dirty="0" sz="1000">
                <a:latin typeface="Cambria Math"/>
                <a:cs typeface="Cambria Math"/>
              </a:rPr>
              <a:t>Days</a:t>
            </a:r>
            <a:endParaRPr sz="10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245"/>
              </a:spcBef>
            </a:pPr>
            <a:r>
              <a:rPr dirty="0" baseline="35353" sz="1650">
                <a:latin typeface="Garamond"/>
                <a:cs typeface="Garamond"/>
              </a:rPr>
              <a:t>Payables</a:t>
            </a:r>
            <a:r>
              <a:rPr dirty="0" baseline="35353" sz="1650" spc="-15">
                <a:latin typeface="Garamond"/>
                <a:cs typeface="Garamond"/>
              </a:rPr>
              <a:t> </a:t>
            </a:r>
            <a:r>
              <a:rPr dirty="0" baseline="35353" sz="1650" spc="-7">
                <a:latin typeface="Garamond"/>
                <a:cs typeface="Garamond"/>
              </a:rPr>
              <a:t>Period</a:t>
            </a:r>
            <a:r>
              <a:rPr dirty="0" baseline="35353" sz="1650" spc="-22">
                <a:latin typeface="Garamond"/>
                <a:cs typeface="Garamond"/>
              </a:rPr>
              <a:t> </a:t>
            </a:r>
            <a:r>
              <a:rPr dirty="0" baseline="35353" sz="1650" spc="15">
                <a:latin typeface="Garamond"/>
                <a:cs typeface="Garamond"/>
              </a:rPr>
              <a:t>=</a:t>
            </a:r>
            <a:r>
              <a:rPr dirty="0" baseline="35353" sz="1650" spc="82">
                <a:latin typeface="Garamond"/>
                <a:cs typeface="Garamond"/>
              </a:rPr>
              <a:t> </a:t>
            </a:r>
            <a:r>
              <a:rPr dirty="0" sz="1000">
                <a:latin typeface="Cambria Math"/>
                <a:cs typeface="Cambria Math"/>
              </a:rPr>
              <a:t>Payables</a:t>
            </a:r>
            <a:r>
              <a:rPr dirty="0" sz="1000" spc="-10">
                <a:latin typeface="Cambria Math"/>
                <a:cs typeface="Cambria Math"/>
              </a:rPr>
              <a:t> </a:t>
            </a:r>
            <a:r>
              <a:rPr dirty="0" sz="1000" spc="-5">
                <a:latin typeface="Cambria Math"/>
                <a:cs typeface="Cambria Math"/>
              </a:rPr>
              <a:t>Turnover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591178" y="8324722"/>
            <a:ext cx="1024890" cy="9525"/>
          </a:xfrm>
          <a:custGeom>
            <a:avLst/>
            <a:gdLst/>
            <a:ahLst/>
            <a:cxnLst/>
            <a:rect l="l" t="t" r="r" b="b"/>
            <a:pathLst>
              <a:path w="1024889" h="9525">
                <a:moveTo>
                  <a:pt x="1024737" y="0"/>
                </a:moveTo>
                <a:lnTo>
                  <a:pt x="0" y="0"/>
                </a:lnTo>
                <a:lnTo>
                  <a:pt x="0" y="9143"/>
                </a:lnTo>
                <a:lnTo>
                  <a:pt x="1024737" y="9143"/>
                </a:lnTo>
                <a:lnTo>
                  <a:pt x="10247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578478" y="8472042"/>
            <a:ext cx="23812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15">
                <a:latin typeface="Cambria Math"/>
                <a:cs typeface="Cambria Math"/>
              </a:rPr>
              <a:t>3</a:t>
            </a:r>
            <a:r>
              <a:rPr dirty="0" sz="1000" spc="-20">
                <a:latin typeface="Cambria Math"/>
                <a:cs typeface="Cambria Math"/>
              </a:rPr>
              <a:t>6</a:t>
            </a:r>
            <a:r>
              <a:rPr dirty="0" sz="1000">
                <a:latin typeface="Cambria Math"/>
                <a:cs typeface="Cambria Math"/>
              </a:rPr>
              <a:t>5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23744" y="8563482"/>
            <a:ext cx="129540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Payables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baseline="-38888" sz="1500" spc="-7">
                <a:latin typeface="Cambria Math"/>
                <a:cs typeface="Cambria Math"/>
              </a:rPr>
              <a:t>9.4</a:t>
            </a:r>
            <a:endParaRPr baseline="-38888" sz="15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91178" y="8663051"/>
            <a:ext cx="210820" cy="9525"/>
          </a:xfrm>
          <a:custGeom>
            <a:avLst/>
            <a:gdLst/>
            <a:ahLst/>
            <a:cxnLst/>
            <a:rect l="l" t="t" r="r" b="b"/>
            <a:pathLst>
              <a:path w="210820" h="9525">
                <a:moveTo>
                  <a:pt x="210312" y="0"/>
                </a:moveTo>
                <a:lnTo>
                  <a:pt x="0" y="0"/>
                </a:lnTo>
                <a:lnTo>
                  <a:pt x="0" y="9143"/>
                </a:lnTo>
                <a:lnTo>
                  <a:pt x="210312" y="9143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405508" y="8934068"/>
            <a:ext cx="4606925" cy="6851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563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Payables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39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Garamond"/>
              <a:cs typeface="Garamond"/>
            </a:endParaRPr>
          </a:p>
          <a:p>
            <a:pPr marL="240665" marR="5080" indent="-240665">
              <a:lnSpc>
                <a:spcPts val="126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difference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period: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Cycle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Cycle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A/C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Payables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159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714501"/>
            <a:ext cx="5441950" cy="1019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156335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Cycle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168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39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129 </a:t>
            </a:r>
            <a:r>
              <a:rPr dirty="0" sz="110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Garamond"/>
              <a:cs typeface="Garamond"/>
            </a:endParaRPr>
          </a:p>
          <a:p>
            <a:pPr marL="240665" marR="5080" indent="-228600">
              <a:lnSpc>
                <a:spcPts val="122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average,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129-day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delay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merchandise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collect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SP</a:t>
            </a:r>
            <a:r>
              <a:rPr dirty="0" sz="1100" spc="-5">
                <a:latin typeface="Garamond"/>
                <a:cs typeface="Garamond"/>
              </a:rPr>
              <a:t> Company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figures: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160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80132" y="1889124"/>
          <a:ext cx="2861945" cy="750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0800"/>
                <a:gridCol w="902969"/>
                <a:gridCol w="629284"/>
              </a:tblGrid>
              <a:tr h="192023">
                <a:tc>
                  <a:txBody>
                    <a:bodyPr/>
                    <a:lstStyle/>
                    <a:p>
                      <a:pPr marL="70485">
                        <a:lnSpc>
                          <a:spcPts val="128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Item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314">
                        <a:lnSpc>
                          <a:spcPts val="128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Beginning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280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Ending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3891">
                <a:tc>
                  <a:txBody>
                    <a:bodyPr/>
                    <a:lstStyle/>
                    <a:p>
                      <a:pPr marL="70485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Inventory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60960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$7,000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985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1,600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96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2,400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6631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payable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2,700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96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4,800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5508" y="2782061"/>
            <a:ext cx="5440680" cy="54057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$50,000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goods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 </a:t>
            </a:r>
            <a:r>
              <a:rPr dirty="0" sz="1100" spc="10">
                <a:latin typeface="Garamond"/>
                <a:cs typeface="Garamond"/>
              </a:rPr>
              <a:t>was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$30,000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Calculating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three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turnovers: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100">
              <a:latin typeface="Garamond"/>
              <a:cs typeface="Garamond"/>
            </a:endParaRPr>
          </a:p>
          <a:p>
            <a:pPr marL="1156335" marR="1628775">
              <a:lnSpc>
                <a:spcPts val="1220"/>
              </a:lnSpc>
            </a:pPr>
            <a:r>
              <a:rPr dirty="0" sz="1100">
                <a:latin typeface="Garamond"/>
                <a:cs typeface="Garamond"/>
              </a:rPr>
              <a:t>Inventory </a:t>
            </a:r>
            <a:r>
              <a:rPr dirty="0" sz="1100" spc="-5">
                <a:latin typeface="Garamond"/>
                <a:cs typeface="Garamond"/>
              </a:rPr>
              <a:t>turnover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$30,000/6,000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5">
                <a:latin typeface="Garamond"/>
                <a:cs typeface="Garamond"/>
              </a:rPr>
              <a:t>5 </a:t>
            </a:r>
            <a:r>
              <a:rPr dirty="0" sz="1100" spc="-5">
                <a:latin typeface="Garamond"/>
                <a:cs typeface="Garamond"/>
              </a:rPr>
              <a:t>times </a:t>
            </a:r>
            <a:r>
              <a:rPr dirty="0" sz="1100">
                <a:latin typeface="Garamond"/>
                <a:cs typeface="Garamond"/>
              </a:rPr>
              <a:t> Receivable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$50,000/2,000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25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$30,000/3,750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Now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various</a:t>
            </a:r>
            <a:r>
              <a:rPr dirty="0" sz="1100" spc="-5">
                <a:latin typeface="Garamond"/>
                <a:cs typeface="Garamond"/>
              </a:rPr>
              <a:t> periods:</a:t>
            </a:r>
            <a:endParaRPr sz="1100">
              <a:latin typeface="Garamond"/>
              <a:cs typeface="Garamond"/>
            </a:endParaRPr>
          </a:p>
          <a:p>
            <a:pPr marL="1156335" marR="2091055">
              <a:lnSpc>
                <a:spcPct val="94200"/>
              </a:lnSpc>
              <a:spcBef>
                <a:spcPts val="1240"/>
              </a:spcBef>
            </a:pPr>
            <a:r>
              <a:rPr dirty="0" sz="1100">
                <a:latin typeface="Garamond"/>
                <a:cs typeface="Garamond"/>
              </a:rPr>
              <a:t>Inventory </a:t>
            </a:r>
            <a:r>
              <a:rPr dirty="0" sz="1100" spc="-10">
                <a:latin typeface="Garamond"/>
                <a:cs typeface="Garamond"/>
              </a:rPr>
              <a:t>period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5">
                <a:latin typeface="Garamond"/>
                <a:cs typeface="Garamond"/>
              </a:rPr>
              <a:t>365/5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73 </a:t>
            </a:r>
            <a:r>
              <a:rPr dirty="0" sz="1100">
                <a:latin typeface="Garamond"/>
                <a:cs typeface="Garamond"/>
              </a:rPr>
              <a:t>days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365/25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14.6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365/8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45.6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Cycle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Cycle:</a:t>
            </a:r>
            <a:endParaRPr sz="1100">
              <a:latin typeface="Garamond"/>
              <a:cs typeface="Garamond"/>
            </a:endParaRPr>
          </a:p>
          <a:p>
            <a:pPr marL="1156335">
              <a:lnSpc>
                <a:spcPts val="1270"/>
              </a:lnSpc>
              <a:spcBef>
                <a:spcPts val="1165"/>
              </a:spcBef>
            </a:pPr>
            <a:r>
              <a:rPr dirty="0" sz="1100">
                <a:latin typeface="Garamond"/>
                <a:cs typeface="Garamond"/>
              </a:rPr>
              <a:t>Operating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73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14.6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87.6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  <a:p>
            <a:pPr marL="1156335">
              <a:lnSpc>
                <a:spcPts val="1270"/>
              </a:lnSpc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87.6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45.6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42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Interpreting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Cycle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calculations</a:t>
            </a:r>
            <a:r>
              <a:rPr dirty="0" sz="1100" spc="-5">
                <a:latin typeface="Garamond"/>
                <a:cs typeface="Garamond"/>
              </a:rPr>
              <a:t> reveal that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cycle</a:t>
            </a:r>
            <a:endParaRPr sz="1100">
              <a:latin typeface="Garamond"/>
              <a:cs typeface="Garamond"/>
            </a:endParaRPr>
          </a:p>
          <a:p>
            <a:pPr lvl="1" marL="698500" indent="-229235">
              <a:lnSpc>
                <a:spcPts val="1240"/>
              </a:lnSpc>
              <a:buFont typeface="Courier New"/>
              <a:buChar char="o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depend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payables </a:t>
            </a:r>
            <a:r>
              <a:rPr dirty="0" sz="1100" spc="-5">
                <a:latin typeface="Garamond"/>
                <a:cs typeface="Garamond"/>
              </a:rPr>
              <a:t>turnover</a:t>
            </a:r>
            <a:endParaRPr sz="1100">
              <a:latin typeface="Garamond"/>
              <a:cs typeface="Garamond"/>
            </a:endParaRPr>
          </a:p>
          <a:p>
            <a:pPr lvl="1" marL="698500" indent="-229235">
              <a:lnSpc>
                <a:spcPts val="1225"/>
              </a:lnSpc>
              <a:buFont typeface="Courier New"/>
              <a:buChar char="o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Increases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longer</a:t>
            </a:r>
            <a:endParaRPr sz="1100">
              <a:latin typeface="Garamond"/>
              <a:cs typeface="Garamond"/>
            </a:endParaRPr>
          </a:p>
          <a:p>
            <a:pPr lvl="1" marL="698500" indent="-229235">
              <a:lnSpc>
                <a:spcPts val="1270"/>
              </a:lnSpc>
              <a:buFont typeface="Courier New"/>
              <a:buChar char="o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Decreases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lengthened</a:t>
            </a:r>
            <a:endParaRPr sz="1100">
              <a:latin typeface="Garamond"/>
              <a:cs typeface="Garamond"/>
            </a:endParaRPr>
          </a:p>
          <a:p>
            <a:pPr marL="240665" marR="8890" indent="-228600">
              <a:lnSpc>
                <a:spcPts val="1260"/>
              </a:lnSpc>
              <a:spcBef>
                <a:spcPts val="17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positive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inventories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longer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cycle.</a:t>
            </a:r>
            <a:endParaRPr sz="1100">
              <a:latin typeface="Garamond"/>
              <a:cs typeface="Garamond"/>
            </a:endParaRPr>
          </a:p>
          <a:p>
            <a:pPr marL="240665" marR="1016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link between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profitability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provided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Turnover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(Sales/Total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assets).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ratio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is;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(ROA)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-5">
                <a:latin typeface="Garamond"/>
                <a:cs typeface="Garamond"/>
              </a:rPr>
              <a:t>equity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(ROE).</a:t>
            </a:r>
            <a:endParaRPr sz="1100">
              <a:latin typeface="Garamond"/>
              <a:cs typeface="Garamond"/>
            </a:endParaRPr>
          </a:p>
          <a:p>
            <a:pPr marL="240665" marR="9525" indent="-228600">
              <a:lnSpc>
                <a:spcPts val="126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So,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shorter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cycle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is,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inventories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Thus,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lower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>
                <a:latin typeface="Garamond"/>
                <a:cs typeface="Garamond"/>
              </a:rPr>
              <a:t> is </a:t>
            </a:r>
            <a:r>
              <a:rPr dirty="0" sz="1100" spc="-5">
                <a:latin typeface="Garamond"/>
                <a:cs typeface="Garamond"/>
              </a:rPr>
              <a:t>higher.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714501"/>
            <a:ext cx="5441950" cy="70110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4632325">
              <a:lnSpc>
                <a:spcPts val="1355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5" b="1">
                <a:latin typeface="Garamond"/>
                <a:cs typeface="Garamond"/>
              </a:rPr>
              <a:t> 41</a:t>
            </a:r>
            <a:endParaRPr sz="1150">
              <a:latin typeface="Garamond"/>
              <a:cs typeface="Garamond"/>
            </a:endParaRPr>
          </a:p>
          <a:p>
            <a:pPr algn="ctr" marR="233679">
              <a:lnSpc>
                <a:spcPts val="1355"/>
              </a:lnSpc>
            </a:pPr>
            <a:r>
              <a:rPr dirty="0" sz="1150" spc="30" b="1">
                <a:latin typeface="Garamond"/>
                <a:cs typeface="Garamond"/>
              </a:rPr>
              <a:t>SHORT-TERM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FINANCIAL</a:t>
            </a:r>
            <a:r>
              <a:rPr dirty="0" sz="1150" spc="15" b="1">
                <a:latin typeface="Garamond"/>
                <a:cs typeface="Garamond"/>
              </a:rPr>
              <a:t> </a:t>
            </a:r>
            <a:r>
              <a:rPr dirty="0" sz="1150" spc="20" b="1">
                <a:latin typeface="Garamond"/>
                <a:cs typeface="Garamond"/>
              </a:rPr>
              <a:t>POLICY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Garamond"/>
              <a:cs typeface="Garamond"/>
            </a:endParaRPr>
          </a:p>
          <a:p>
            <a:pPr marL="277495" indent="-265430">
              <a:lnSpc>
                <a:spcPts val="1290"/>
              </a:lnSpc>
              <a:buFont typeface="Symbol"/>
              <a:buChar char=""/>
              <a:tabLst>
                <a:tab pos="277495" algn="l"/>
                <a:tab pos="278130" algn="l"/>
              </a:tabLst>
            </a:pPr>
            <a:r>
              <a:rPr dirty="0" sz="1100">
                <a:latin typeface="Garamond"/>
                <a:cs typeface="Garamond"/>
              </a:rPr>
              <a:t>Size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investments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6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Flexible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endParaRPr sz="1100">
              <a:latin typeface="Garamond"/>
              <a:cs typeface="Garamond"/>
            </a:endParaRPr>
          </a:p>
          <a:p>
            <a:pPr lvl="2" marL="698500" indent="-229235">
              <a:lnSpc>
                <a:spcPts val="1260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 spc="-5">
                <a:latin typeface="Garamond"/>
                <a:cs typeface="Garamond"/>
              </a:rPr>
              <a:t>maintain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high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6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Restrictive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endParaRPr sz="1100">
              <a:latin typeface="Garamond"/>
              <a:cs typeface="Garamond"/>
            </a:endParaRPr>
          </a:p>
          <a:p>
            <a:pPr lvl="2" marL="698500" indent="-229235">
              <a:lnSpc>
                <a:spcPts val="1290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 spc="-5">
                <a:latin typeface="Garamond"/>
                <a:cs typeface="Garamond"/>
              </a:rPr>
              <a:t>maintain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ratio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6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Flexible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endParaRPr sz="1100">
              <a:latin typeface="Garamond"/>
              <a:cs typeface="Garamond"/>
            </a:endParaRPr>
          </a:p>
          <a:p>
            <a:pPr lvl="2" marL="698500" indent="-229235">
              <a:lnSpc>
                <a:spcPts val="1245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short-term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6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Restrictive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endParaRPr sz="1100">
              <a:latin typeface="Garamond"/>
              <a:cs typeface="Garamond"/>
            </a:endParaRPr>
          </a:p>
          <a:p>
            <a:pPr lvl="2" marL="698500" indent="-229235">
              <a:lnSpc>
                <a:spcPts val="1310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less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4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policies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flexible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regard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Keep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cash/marketable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balances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Larger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investments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liberal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thus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5">
                <a:latin typeface="Garamond"/>
                <a:cs typeface="Garamond"/>
              </a:rPr>
              <a:t> receivable</a:t>
            </a:r>
            <a:endParaRPr sz="1100">
              <a:latin typeface="Garamond"/>
              <a:cs typeface="Garamond"/>
            </a:endParaRPr>
          </a:p>
          <a:p>
            <a:pPr algn="r" marL="227965" marR="2330450" indent="-227965">
              <a:lnSpc>
                <a:spcPts val="1290"/>
              </a:lnSpc>
              <a:spcBef>
                <a:spcPts val="50"/>
              </a:spcBef>
              <a:buFont typeface="Symbol"/>
              <a:buChar char=""/>
              <a:tabLst>
                <a:tab pos="227965" algn="l"/>
                <a:tab pos="228600" algn="l"/>
              </a:tabLst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>
                <a:latin typeface="Garamond"/>
                <a:cs typeface="Garamond"/>
              </a:rPr>
              <a:t>policies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restrictive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regard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algn="r" lvl="1" marL="228600" marR="2376170" indent="-228600">
              <a:lnSpc>
                <a:spcPts val="1245"/>
              </a:lnSpc>
              <a:buFont typeface="Courier New"/>
              <a:buChar char="o"/>
              <a:tabLst>
                <a:tab pos="228600" algn="l"/>
                <a:tab pos="229235" algn="l"/>
              </a:tabLst>
            </a:pPr>
            <a:r>
              <a:rPr dirty="0" sz="1100" spc="5">
                <a:latin typeface="Garamond"/>
                <a:cs typeface="Garamond"/>
              </a:rPr>
              <a:t>Keep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cash/marketable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balances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Make </a:t>
            </a:r>
            <a:r>
              <a:rPr dirty="0" sz="1100" spc="-10">
                <a:latin typeface="Garamond"/>
                <a:cs typeface="Garamond"/>
              </a:rPr>
              <a:t>smaller </a:t>
            </a:r>
            <a:r>
              <a:rPr dirty="0" sz="1100">
                <a:latin typeface="Garamond"/>
                <a:cs typeface="Garamond"/>
              </a:rPr>
              <a:t>investments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Tight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minimal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accts.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260"/>
              </a:lnSpc>
              <a:spcBef>
                <a:spcPts val="14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optimum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 </a:t>
            </a:r>
            <a:r>
              <a:rPr dirty="0" sz="1100" spc="-5">
                <a:latin typeface="Garamond"/>
                <a:cs typeface="Garamond"/>
              </a:rPr>
              <a:t>depends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trade-off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restrictive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against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flexible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one.</a:t>
            </a:r>
            <a:endParaRPr sz="1100">
              <a:latin typeface="Garamond"/>
              <a:cs typeface="Garamond"/>
            </a:endParaRPr>
          </a:p>
          <a:p>
            <a:pPr marL="240665" marR="454025" indent="-228600">
              <a:lnSpc>
                <a:spcPts val="1190"/>
              </a:lnSpc>
              <a:spcBef>
                <a:spcPts val="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Current assets holdings are highest </a:t>
            </a:r>
            <a:r>
              <a:rPr dirty="0" sz="1100" spc="-5">
                <a:latin typeface="Garamond"/>
                <a:cs typeface="Garamond"/>
              </a:rPr>
              <a:t>with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flexible short </a:t>
            </a:r>
            <a:r>
              <a:rPr dirty="0" sz="1100">
                <a:latin typeface="Garamond"/>
                <a:cs typeface="Garamond"/>
              </a:rPr>
              <a:t>term financial policy and </a:t>
            </a:r>
            <a:r>
              <a:rPr dirty="0" sz="1100" spc="-10">
                <a:latin typeface="Garamond"/>
                <a:cs typeface="Garamond"/>
              </a:rPr>
              <a:t>lowest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restrictive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one.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90"/>
              </a:lnSpc>
              <a:spcBef>
                <a:spcPts val="3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flexible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policies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4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However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cash-flows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too.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7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restrictive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reduces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>
                <a:latin typeface="Garamond"/>
                <a:cs typeface="Garamond"/>
              </a:rPr>
              <a:t> level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flexible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Managing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short-term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involves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trade-off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carrying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shortage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310"/>
              </a:lnSpc>
              <a:spcBef>
                <a:spcPts val="1095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Carrying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lvl="2" marL="698500" indent="-229235">
              <a:lnSpc>
                <a:spcPts val="1280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lvl="2" marL="698500" indent="-229235">
              <a:lnSpc>
                <a:spcPts val="1280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assets,</a:t>
            </a:r>
            <a:endParaRPr sz="1100">
              <a:latin typeface="Garamond"/>
              <a:cs typeface="Garamond"/>
            </a:endParaRPr>
          </a:p>
          <a:p>
            <a:pPr lvl="2" marL="698500" marR="46355" indent="-228600">
              <a:lnSpc>
                <a:spcPts val="1220"/>
              </a:lnSpc>
              <a:spcBef>
                <a:spcPts val="110"/>
              </a:spcBef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opportunity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associated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1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(inventories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vs.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investments)</a:t>
            </a:r>
            <a:endParaRPr sz="1100">
              <a:latin typeface="Garamond"/>
              <a:cs typeface="Garamond"/>
            </a:endParaRPr>
          </a:p>
          <a:p>
            <a:pPr lvl="2">
              <a:lnSpc>
                <a:spcPct val="100000"/>
              </a:lnSpc>
              <a:spcBef>
                <a:spcPts val="20"/>
              </a:spcBef>
              <a:buFont typeface="Wingdings"/>
              <a:buChar char=""/>
            </a:pPr>
            <a:endParaRPr sz="1000">
              <a:latin typeface="Garamond"/>
              <a:cs typeface="Garamond"/>
            </a:endParaRPr>
          </a:p>
          <a:p>
            <a:pPr lvl="1" marL="469900" indent="-229870">
              <a:lnSpc>
                <a:spcPts val="12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Shortage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lvl="2" marL="698500" indent="-229235">
              <a:lnSpc>
                <a:spcPts val="1280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decrease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levels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lvl="2" marL="698500" indent="-229235">
              <a:lnSpc>
                <a:spcPts val="1280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replenish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lvl="2" marL="698500" marR="45720" indent="-228600">
              <a:lnSpc>
                <a:spcPts val="1260"/>
              </a:lnSpc>
              <a:spcBef>
                <a:spcPts val="60"/>
              </a:spcBef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Trading</a:t>
            </a:r>
            <a:r>
              <a:rPr dirty="0" sz="1100" spc="5">
                <a:latin typeface="Garamond"/>
                <a:cs typeface="Garamond"/>
              </a:rPr>
              <a:t> or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order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(avoiding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stock-outs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cash-outs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through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frequent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orders,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etc.)</a:t>
            </a:r>
            <a:endParaRPr sz="1100">
              <a:latin typeface="Garamond"/>
              <a:cs typeface="Garamond"/>
            </a:endParaRPr>
          </a:p>
          <a:p>
            <a:pPr lvl="2" marL="698500" marR="52705" indent="-228600">
              <a:lnSpc>
                <a:spcPts val="1260"/>
              </a:lnSpc>
              <a:spcBef>
                <a:spcPts val="5"/>
              </a:spcBef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 spc="5">
                <a:latin typeface="Garamond"/>
                <a:cs typeface="Garamond"/>
              </a:rPr>
              <a:t>Costs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related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lack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safety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reserves,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i.e.,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lost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production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stoppages.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161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3312667"/>
            <a:ext cx="5274945" cy="5067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CA* </a:t>
            </a:r>
            <a:r>
              <a:rPr dirty="0" sz="1100" spc="-5">
                <a:latin typeface="Garamond"/>
                <a:cs typeface="Garamond"/>
              </a:rPr>
              <a:t>represents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optimal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assets.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Holding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minimizes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00">
              <a:latin typeface="Garamond"/>
              <a:cs typeface="Garamond"/>
            </a:endParaRPr>
          </a:p>
          <a:p>
            <a:pPr marL="2413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A.</a:t>
            </a:r>
            <a:r>
              <a:rPr dirty="0" sz="1100" spc="204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Flexible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Policy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6363461"/>
            <a:ext cx="4921250" cy="51180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flexible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appropriate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carrying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relative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2413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B. </a:t>
            </a:r>
            <a:r>
              <a:rPr dirty="0" sz="1100" spc="17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Restrictive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policy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6629" y="9286137"/>
            <a:ext cx="51015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restrictive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appropriate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-5">
                <a:latin typeface="Garamond"/>
                <a:cs typeface="Garamond"/>
              </a:rPr>
              <a:t> carrying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high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relative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shortage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889" y="779742"/>
            <a:ext cx="4316847" cy="235734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8996" y="4010609"/>
            <a:ext cx="3650989" cy="22017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80067" y="7065040"/>
            <a:ext cx="3866597" cy="205479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162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860805"/>
            <a:ext cx="5485765" cy="26479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Alternative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Financing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Policies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Garamond"/>
              <a:cs typeface="Garamond"/>
            </a:endParaRPr>
          </a:p>
          <a:p>
            <a:pPr marL="469900" marR="5080" indent="-228600">
              <a:lnSpc>
                <a:spcPts val="115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Focusing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side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picture,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requirements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a</a:t>
            </a:r>
            <a:r>
              <a:rPr dirty="0" sz="1100" spc="-5">
                <a:latin typeface="Garamond"/>
                <a:cs typeface="Garamond"/>
              </a:rPr>
              <a:t> growing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may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exhibit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reasons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08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general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growth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trend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Seasonal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variation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around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trend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3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Unpredictable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day-to-day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month-to-month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fluctuations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35"/>
              </a:lnSpc>
              <a:spcBef>
                <a:spcPts val="11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Temporary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Sales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build-ups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often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seasonal.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carried </a:t>
            </a:r>
            <a:r>
              <a:rPr dirty="0" sz="1100" spc="5">
                <a:latin typeface="Garamond"/>
                <a:cs typeface="Garamond"/>
              </a:rPr>
              <a:t>during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“peak”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3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level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assets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decrease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occur.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55"/>
              </a:lnSpc>
              <a:spcBef>
                <a:spcPts val="116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Permanent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Firms</a:t>
            </a:r>
            <a:r>
              <a:rPr dirty="0" sz="1100">
                <a:latin typeface="Garamond"/>
                <a:cs typeface="Garamond"/>
              </a:rPr>
              <a:t> generally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carry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minimum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 </a:t>
            </a:r>
            <a:r>
              <a:rPr dirty="0" sz="1100" spc="-5">
                <a:latin typeface="Garamond"/>
                <a:cs typeface="Garamond"/>
              </a:rPr>
              <a:t>times.</a:t>
            </a:r>
            <a:endParaRPr sz="1100">
              <a:latin typeface="Garamond"/>
              <a:cs typeface="Garamond"/>
            </a:endParaRPr>
          </a:p>
          <a:p>
            <a:pPr lvl="1" marL="699135" marR="85725" indent="-229235">
              <a:lnSpc>
                <a:spcPts val="1150"/>
              </a:lnSpc>
              <a:spcBef>
                <a:spcPts val="100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“permanent”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level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constant,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aren’t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sold.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2241" y="3860453"/>
            <a:ext cx="5392386" cy="386200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163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883665"/>
            <a:ext cx="514984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Policy</a:t>
            </a:r>
            <a:r>
              <a:rPr dirty="0" u="sng" sz="1100" spc="-7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5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F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4959222"/>
            <a:ext cx="5193665" cy="66230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1190"/>
              </a:lnSpc>
              <a:spcBef>
                <a:spcPts val="265"/>
              </a:spcBef>
            </a:pPr>
            <a:r>
              <a:rPr dirty="0" sz="1100">
                <a:latin typeface="Garamond"/>
                <a:cs typeface="Garamond"/>
              </a:rPr>
              <a:t>Policy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always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implies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surplus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marketable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u="sng" sz="110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Policy</a:t>
            </a:r>
            <a:r>
              <a:rPr dirty="0" u="sng" sz="1100" spc="-5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10" b="1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R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6629" y="9295282"/>
            <a:ext cx="5612130" cy="35179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1230"/>
              </a:lnSpc>
              <a:spcBef>
                <a:spcPts val="229"/>
              </a:spcBef>
            </a:pPr>
            <a:r>
              <a:rPr dirty="0" sz="1100">
                <a:latin typeface="Garamond"/>
                <a:cs typeface="Garamond"/>
              </a:rPr>
              <a:t>Policy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permanent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requirements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seasonal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variations.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8795" y="1156451"/>
            <a:ext cx="4391025" cy="361901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92706" y="5805697"/>
            <a:ext cx="4192726" cy="332252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164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14501"/>
            <a:ext cx="5571490" cy="23501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Which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is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the</a:t>
            </a:r>
            <a:r>
              <a:rPr dirty="0" sz="1100" spc="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Best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Policy?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35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Reserves</a:t>
            </a:r>
            <a:endParaRPr sz="1100">
              <a:latin typeface="Garamond"/>
              <a:cs typeface="Garamond"/>
            </a:endParaRPr>
          </a:p>
          <a:p>
            <a:pPr lvl="1" marL="699135" marR="5080" indent="-229235">
              <a:lnSpc>
                <a:spcPts val="1150"/>
              </a:lnSpc>
              <a:spcBef>
                <a:spcPts val="9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Pros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likely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experience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distress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better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handle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emergencies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advantage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unexpected </a:t>
            </a:r>
            <a:r>
              <a:rPr dirty="0" sz="1100">
                <a:latin typeface="Garamond"/>
                <a:cs typeface="Garamond"/>
              </a:rPr>
              <a:t>opportunities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Cons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NPV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55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5">
                <a:latin typeface="Garamond"/>
                <a:cs typeface="Garamond"/>
              </a:rPr>
              <a:t>M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ty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H</a:t>
            </a:r>
            <a:r>
              <a:rPr dirty="0" sz="1100" spc="-30">
                <a:latin typeface="Garamond"/>
                <a:cs typeface="Garamond"/>
              </a:rPr>
              <a:t>e</a:t>
            </a:r>
            <a:r>
              <a:rPr dirty="0" sz="1100" spc="20">
                <a:latin typeface="Garamond"/>
                <a:cs typeface="Garamond"/>
              </a:rPr>
              <a:t>d</a:t>
            </a:r>
            <a:r>
              <a:rPr dirty="0" sz="1100" spc="5">
                <a:latin typeface="Garamond"/>
                <a:cs typeface="Garamond"/>
              </a:rPr>
              <a:t>g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-25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g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Try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match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maturities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maturities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5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Finance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temporary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endParaRPr sz="1100">
              <a:latin typeface="Garamond"/>
              <a:cs typeface="Garamond"/>
            </a:endParaRPr>
          </a:p>
          <a:p>
            <a:pPr marL="699135">
              <a:lnSpc>
                <a:spcPts val="1235"/>
              </a:lnSpc>
            </a:pPr>
            <a:r>
              <a:rPr dirty="0" sz="1100">
                <a:latin typeface="Garamond"/>
                <a:cs typeface="Garamond"/>
              </a:rPr>
              <a:t>Finance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permanent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debt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equity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35"/>
              </a:lnSpc>
              <a:spcBef>
                <a:spcPts val="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endParaRPr sz="1100">
              <a:latin typeface="Garamond"/>
              <a:cs typeface="Garamond"/>
            </a:endParaRPr>
          </a:p>
          <a:p>
            <a:pPr lvl="1" marL="699135" marR="53975" indent="-229235">
              <a:lnSpc>
                <a:spcPts val="1190"/>
              </a:lnSpc>
              <a:spcBef>
                <a:spcPts val="6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Short-term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rates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normally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long-term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cheaper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short-term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06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Firms</a:t>
            </a:r>
            <a:r>
              <a:rPr dirty="0" sz="1100">
                <a:latin typeface="Garamond"/>
                <a:cs typeface="Garamond"/>
              </a:rPr>
              <a:t> 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trouble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quickly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begins</a:t>
            </a:r>
            <a:r>
              <a:rPr dirty="0" sz="1100" spc="5">
                <a:latin typeface="Garamond"/>
                <a:cs typeface="Garamond"/>
              </a:rPr>
              <a:t> 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difficulty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making</a:t>
            </a:r>
            <a:endParaRPr sz="1100">
              <a:latin typeface="Garamond"/>
              <a:cs typeface="Garamond"/>
            </a:endParaRPr>
          </a:p>
          <a:p>
            <a:pPr marL="699135">
              <a:lnSpc>
                <a:spcPts val="1255"/>
              </a:lnSpc>
            </a:pPr>
            <a:r>
              <a:rPr dirty="0" sz="1100">
                <a:latin typeface="Garamond"/>
                <a:cs typeface="Garamond"/>
              </a:rPr>
              <a:t>payments</a:t>
            </a:r>
            <a:r>
              <a:rPr dirty="0" sz="1100" spc="5">
                <a:latin typeface="Garamond"/>
                <a:cs typeface="Garamond"/>
              </a:rPr>
              <a:t> –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refinance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loans.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7040371"/>
            <a:ext cx="5640070" cy="245999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1220"/>
              </a:lnSpc>
              <a:spcBef>
                <a:spcPts val="240"/>
              </a:spcBef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compromise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keeps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reserve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liquidity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initially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seasonal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variations 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needs.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Short-term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used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reserve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exhausted.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</a:pPr>
            <a:endParaRPr sz="10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Budget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Forecast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outflows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next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short-term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planning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Primary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tool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short-term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financial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planning</a:t>
            </a:r>
            <a:endParaRPr sz="1100">
              <a:latin typeface="Garamond"/>
              <a:cs typeface="Garamond"/>
            </a:endParaRPr>
          </a:p>
          <a:p>
            <a:pPr marL="469900" marR="319405" indent="-228600">
              <a:lnSpc>
                <a:spcPts val="1190"/>
              </a:lnSpc>
              <a:spcBef>
                <a:spcPts val="16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Helps </a:t>
            </a:r>
            <a:r>
              <a:rPr dirty="0" sz="1100" spc="-5">
                <a:latin typeface="Garamond"/>
                <a:cs typeface="Garamond"/>
              </a:rPr>
              <a:t>determine </a:t>
            </a:r>
            <a:r>
              <a:rPr dirty="0" sz="1100">
                <a:latin typeface="Garamond"/>
                <a:cs typeface="Garamond"/>
              </a:rPr>
              <a:t>when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firm </a:t>
            </a:r>
            <a:r>
              <a:rPr dirty="0" sz="1100" spc="-10">
                <a:latin typeface="Garamond"/>
                <a:cs typeface="Garamond"/>
              </a:rPr>
              <a:t>should </a:t>
            </a:r>
            <a:r>
              <a:rPr dirty="0" sz="1100" spc="-5">
                <a:latin typeface="Garamond"/>
                <a:cs typeface="Garamond"/>
              </a:rPr>
              <a:t>experience cash surpluses </a:t>
            </a:r>
            <a:r>
              <a:rPr dirty="0" sz="1100">
                <a:latin typeface="Garamond"/>
                <a:cs typeface="Garamond"/>
              </a:rPr>
              <a:t>and when it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5">
                <a:latin typeface="Garamond"/>
                <a:cs typeface="Garamond"/>
              </a:rPr>
              <a:t>need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borrow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cover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working-capital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marL="469900" marR="424180" indent="-228600">
              <a:lnSpc>
                <a:spcPts val="119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Allows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ahead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begin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search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before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actually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needed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8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Records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estimates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receipts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disbursements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(cash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out).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Inc.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specializes</a:t>
            </a:r>
            <a:r>
              <a:rPr dirty="0" sz="1100">
                <a:latin typeface="Garamond"/>
                <a:cs typeface="Garamond"/>
              </a:rPr>
              <a:t> 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toys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 </a:t>
            </a:r>
            <a:r>
              <a:rPr dirty="0" sz="1100" spc="-5">
                <a:latin typeface="Garamond"/>
                <a:cs typeface="Garamond"/>
              </a:rPr>
              <a:t>income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35"/>
              </a:lnSpc>
              <a:spcBef>
                <a:spcPts val="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Sales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estimates</a:t>
            </a:r>
            <a:r>
              <a:rPr dirty="0" sz="1100" spc="-10">
                <a:latin typeface="Garamond"/>
                <a:cs typeface="Garamond"/>
              </a:rPr>
              <a:t> (in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millions)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35"/>
              </a:lnSpc>
              <a:tabLst>
                <a:tab pos="6985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 spc="5">
                <a:latin typeface="Garamond"/>
                <a:cs typeface="Garamond"/>
              </a:rPr>
              <a:t>Q1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500;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Q2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600;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Q3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650;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Q4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800;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Q1 </a:t>
            </a:r>
            <a:r>
              <a:rPr dirty="0" sz="1100" spc="5">
                <a:latin typeface="Garamond"/>
                <a:cs typeface="Garamond"/>
              </a:rPr>
              <a:t>next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550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7646" y="3243887"/>
            <a:ext cx="4982847" cy="366061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165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29768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 indent="-229235">
              <a:lnSpc>
                <a:spcPts val="1255"/>
              </a:lnSpc>
              <a:spcBef>
                <a:spcPts val="9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Beginning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$250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4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payable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Purchases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50%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next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quarter’s sales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Beginning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125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payable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45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days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4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expenses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Wages,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expense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25%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dividend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$50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major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expenditure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$200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expected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second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quarter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initial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maintains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minimum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$50</a:t>
            </a:r>
            <a:endParaRPr sz="1100">
              <a:latin typeface="Garamond"/>
              <a:cs typeface="Garamond"/>
            </a:endParaRPr>
          </a:p>
          <a:p>
            <a:pPr marL="469900" marR="146685" indent="-228600">
              <a:lnSpc>
                <a:spcPts val="1190"/>
              </a:lnSpc>
              <a:spcBef>
                <a:spcPts val="16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30</a:t>
            </a:r>
            <a:r>
              <a:rPr dirty="0" sz="1100">
                <a:latin typeface="Garamond"/>
                <a:cs typeface="Garamond"/>
              </a:rPr>
              <a:t> days,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implies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2/3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quarter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made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remaining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1/3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quarter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Beginning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$250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quarter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Collections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01239" y="3407663"/>
          <a:ext cx="3415029" cy="933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539750"/>
                <a:gridCol w="490219"/>
                <a:gridCol w="492125"/>
                <a:gridCol w="439419"/>
              </a:tblGrid>
              <a:tr h="1920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2870">
                        <a:lnSpc>
                          <a:spcPts val="1280"/>
                        </a:lnSpc>
                      </a:pPr>
                      <a:r>
                        <a:rPr dirty="0" sz="1100" spc="20" b="1">
                          <a:latin typeface="Garamond"/>
                          <a:cs typeface="Garamond"/>
                        </a:rPr>
                        <a:t>Q1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4139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4018">
                <a:tc>
                  <a:txBody>
                    <a:bodyPr/>
                    <a:lstStyle/>
                    <a:p>
                      <a:pPr marL="70485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Beginning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Receivables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$217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Sales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600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650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800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Collections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583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633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750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6440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Ending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Receivables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217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166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629" y="4474590"/>
            <a:ext cx="5558790" cy="114681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469900" marR="339090" indent="-228600">
              <a:lnSpc>
                <a:spcPts val="1190"/>
              </a:lnSpc>
              <a:spcBef>
                <a:spcPts val="2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Payables period is </a:t>
            </a:r>
            <a:r>
              <a:rPr dirty="0" sz="1100" spc="-5">
                <a:latin typeface="Garamond"/>
                <a:cs typeface="Garamond"/>
              </a:rPr>
              <a:t>45 </a:t>
            </a:r>
            <a:r>
              <a:rPr dirty="0" sz="1100">
                <a:latin typeface="Garamond"/>
                <a:cs typeface="Garamond"/>
              </a:rPr>
              <a:t>days, </a:t>
            </a:r>
            <a:r>
              <a:rPr dirty="0" sz="1100" spc="-20">
                <a:latin typeface="Garamond"/>
                <a:cs typeface="Garamond"/>
              </a:rPr>
              <a:t>so </a:t>
            </a:r>
            <a:r>
              <a:rPr dirty="0" sz="1100" spc="-5">
                <a:latin typeface="Garamond"/>
                <a:cs typeface="Garamond"/>
              </a:rPr>
              <a:t>half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purchases </a:t>
            </a:r>
            <a:r>
              <a:rPr dirty="0" sz="1100" spc="5">
                <a:latin typeface="Garamond"/>
                <a:cs typeface="Garamond"/>
              </a:rPr>
              <a:t>will be </a:t>
            </a:r>
            <a:r>
              <a:rPr dirty="0" sz="1100">
                <a:latin typeface="Garamond"/>
                <a:cs typeface="Garamond"/>
              </a:rPr>
              <a:t>paid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10">
                <a:latin typeface="Garamond"/>
                <a:cs typeface="Garamond"/>
              </a:rPr>
              <a:t>each </a:t>
            </a:r>
            <a:r>
              <a:rPr dirty="0" sz="1100" spc="-5">
                <a:latin typeface="Garamond"/>
                <a:cs typeface="Garamond"/>
              </a:rPr>
              <a:t>quarter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remaining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-10">
                <a:latin typeface="Garamond"/>
                <a:cs typeface="Garamond"/>
              </a:rPr>
              <a:t> 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quarter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Beginning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$125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190"/>
              </a:lnSpc>
              <a:spcBef>
                <a:spcPts val="1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payment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$125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made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vendor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second </a:t>
            </a:r>
            <a:r>
              <a:rPr dirty="0" sz="1100" spc="-5">
                <a:latin typeface="Garamond"/>
                <a:cs typeface="Garamond"/>
              </a:rPr>
              <a:t>quarter,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related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previous </a:t>
            </a:r>
            <a:r>
              <a:rPr dirty="0" sz="1100" spc="-5">
                <a:latin typeface="Garamond"/>
                <a:cs typeface="Garamond"/>
              </a:rPr>
              <a:t>transaction.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6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Disbursement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017522" y="5621400"/>
          <a:ext cx="3987165" cy="1116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8664"/>
                <a:gridCol w="539750"/>
                <a:gridCol w="487680"/>
                <a:gridCol w="491490"/>
                <a:gridCol w="441325"/>
              </a:tblGrid>
              <a:tr h="1874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2870">
                        <a:lnSpc>
                          <a:spcPts val="1280"/>
                        </a:lnSpc>
                      </a:pPr>
                      <a:r>
                        <a:rPr dirty="0" sz="1100" spc="20" b="1">
                          <a:latin typeface="Garamond"/>
                          <a:cs typeface="Garamond"/>
                        </a:rPr>
                        <a:t>Q1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4139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4081">
                <a:tc>
                  <a:txBody>
                    <a:bodyPr/>
                    <a:lstStyle/>
                    <a:p>
                      <a:pPr marL="70485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Payment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accounts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$438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$362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$338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70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Wages,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taxes 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other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expenses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125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163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Capital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expenditures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239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(Interest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and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dividend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payments)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604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4139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1266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disbursements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$450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$838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85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176629" y="6857491"/>
            <a:ext cx="100838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 b="1">
                <a:latin typeface="Garamond"/>
                <a:cs typeface="Garamond"/>
              </a:rPr>
              <a:t>Net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Inflow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223261" y="7048500"/>
          <a:ext cx="3575050" cy="755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5915"/>
                <a:gridCol w="518795"/>
                <a:gridCol w="510539"/>
                <a:gridCol w="489585"/>
                <a:gridCol w="443864"/>
              </a:tblGrid>
              <a:tr h="1920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4455">
                        <a:lnSpc>
                          <a:spcPts val="1320"/>
                        </a:lnSpc>
                      </a:pPr>
                      <a:r>
                        <a:rPr dirty="0" sz="1100" spc="20" b="1">
                          <a:latin typeface="Garamond"/>
                          <a:cs typeface="Garamond"/>
                        </a:rPr>
                        <a:t>Q1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4139">
                        <a:lnSpc>
                          <a:spcPts val="132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4139">
                        <a:lnSpc>
                          <a:spcPts val="132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32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4018">
                <a:tc>
                  <a:txBody>
                    <a:bodyPr/>
                    <a:lstStyle/>
                    <a:p>
                      <a:pPr marL="70485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collections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90170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$583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4139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$567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$633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60960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$750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disbursements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9017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450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838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575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1012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017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604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-$271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58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96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$162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1176629" y="7767573"/>
            <a:ext cx="89408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C</a:t>
            </a:r>
            <a:r>
              <a:rPr dirty="0" sz="1100" spc="5" b="1">
                <a:latin typeface="Garamond"/>
                <a:cs typeface="Garamond"/>
              </a:rPr>
              <a:t>ash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B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spc="-40" b="1">
                <a:latin typeface="Garamond"/>
                <a:cs typeface="Garamond"/>
              </a:rPr>
              <a:t>l</a:t>
            </a:r>
            <a:r>
              <a:rPr dirty="0" sz="1100" spc="5" b="1">
                <a:latin typeface="Garamond"/>
                <a:cs typeface="Garamond"/>
              </a:rPr>
              <a:t>a</a:t>
            </a:r>
            <a:r>
              <a:rPr dirty="0" sz="1100" b="1">
                <a:latin typeface="Garamond"/>
                <a:cs typeface="Garamond"/>
              </a:rPr>
              <a:t>n</a:t>
            </a:r>
            <a:r>
              <a:rPr dirty="0" sz="1100" spc="-15" b="1">
                <a:latin typeface="Garamond"/>
                <a:cs typeface="Garamond"/>
              </a:rPr>
              <a:t>c</a:t>
            </a:r>
            <a:r>
              <a:rPr dirty="0" sz="1100" spc="20" b="1">
                <a:latin typeface="Garamond"/>
                <a:cs typeface="Garamond"/>
              </a:rPr>
              <a:t>e</a:t>
            </a:r>
            <a:r>
              <a:rPr dirty="0" sz="1100" spc="5" b="1">
                <a:latin typeface="Garamond"/>
                <a:cs typeface="Garamond"/>
              </a:rPr>
              <a:t>s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017522" y="7958581"/>
          <a:ext cx="3987165" cy="1116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5155"/>
                <a:gridCol w="683894"/>
                <a:gridCol w="499744"/>
                <a:gridCol w="480694"/>
                <a:gridCol w="441960"/>
              </a:tblGrid>
              <a:tr h="1878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2870">
                        <a:lnSpc>
                          <a:spcPts val="1280"/>
                        </a:lnSpc>
                      </a:pPr>
                      <a:r>
                        <a:rPr dirty="0" sz="1100" spc="20" b="1">
                          <a:latin typeface="Garamond"/>
                          <a:cs typeface="Garamond"/>
                        </a:rPr>
                        <a:t>Q1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15570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7945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8463">
                <a:tc>
                  <a:txBody>
                    <a:bodyPr/>
                    <a:lstStyle/>
                    <a:p>
                      <a:pPr marL="70485">
                        <a:lnSpc>
                          <a:spcPts val="13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Beginning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Balance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3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ts val="132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$233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32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320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$20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-271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1430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162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Ending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balance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233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0014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-38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1430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182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Minimum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balance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0489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0014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858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6567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Cumulative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surplus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(deficit)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0795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$183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-$88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-$30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$132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30595" y="714501"/>
            <a:ext cx="8166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42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167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883665"/>
            <a:ext cx="5633085" cy="69240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1270">
              <a:lnSpc>
                <a:spcPct val="100000"/>
              </a:lnSpc>
              <a:spcBef>
                <a:spcPts val="135"/>
              </a:spcBef>
            </a:pPr>
            <a:r>
              <a:rPr dirty="0" sz="1150" spc="30" b="1">
                <a:latin typeface="Garamond"/>
                <a:cs typeface="Garamond"/>
              </a:rPr>
              <a:t>SHORT-TERM</a:t>
            </a:r>
            <a:r>
              <a:rPr dirty="0" sz="1150" spc="-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BORROWING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Garamond"/>
              <a:cs typeface="Garamond"/>
            </a:endParaRPr>
          </a:p>
          <a:p>
            <a:pPr algn="r" marL="227965" marR="4203700" indent="-227965">
              <a:lnSpc>
                <a:spcPts val="1235"/>
              </a:lnSpc>
              <a:buFont typeface="Symbol"/>
              <a:buChar char=""/>
              <a:tabLst>
                <a:tab pos="227965" algn="l"/>
                <a:tab pos="228600" algn="l"/>
              </a:tabLst>
            </a:pPr>
            <a:r>
              <a:rPr dirty="0" sz="1100" spc="5">
                <a:latin typeface="Garamond"/>
                <a:cs typeface="Garamond"/>
              </a:rPr>
              <a:t>U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c</a:t>
            </a:r>
            <a:r>
              <a:rPr dirty="0" sz="1100" spc="-5">
                <a:latin typeface="Garamond"/>
                <a:cs typeface="Garamond"/>
              </a:rPr>
              <a:t>u</a:t>
            </a:r>
            <a:r>
              <a:rPr dirty="0" sz="1100" spc="-10">
                <a:latin typeface="Garamond"/>
                <a:cs typeface="Garamond"/>
              </a:rPr>
              <a:t>r</a:t>
            </a:r>
            <a:r>
              <a:rPr dirty="0" sz="1100" spc="-30">
                <a:latin typeface="Garamond"/>
                <a:cs typeface="Garamond"/>
              </a:rPr>
              <a:t>e</a:t>
            </a:r>
            <a:r>
              <a:rPr dirty="0" sz="1100" spc="5">
                <a:latin typeface="Garamond"/>
                <a:cs typeface="Garamond"/>
              </a:rPr>
              <a:t>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L</a:t>
            </a:r>
            <a:r>
              <a:rPr dirty="0" sz="1100" spc="-25">
                <a:latin typeface="Garamond"/>
                <a:cs typeface="Garamond"/>
              </a:rPr>
              <a:t>o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s</a:t>
            </a:r>
            <a:endParaRPr sz="1100">
              <a:latin typeface="Garamond"/>
              <a:cs typeface="Garamond"/>
            </a:endParaRPr>
          </a:p>
          <a:p>
            <a:pPr algn="r" lvl="1" marL="228600" marR="4189729" indent="-228600">
              <a:lnSpc>
                <a:spcPts val="1150"/>
              </a:lnSpc>
              <a:buFont typeface="Courier New"/>
              <a:buChar char="o"/>
              <a:tabLst>
                <a:tab pos="228600" algn="l"/>
                <a:tab pos="229235" algn="l"/>
              </a:tabLst>
            </a:pPr>
            <a:r>
              <a:rPr dirty="0" sz="1100" spc="5">
                <a:latin typeface="Garamond"/>
                <a:cs typeface="Garamond"/>
              </a:rPr>
              <a:t>Line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0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Committed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vs.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committed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8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Committed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formal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arrangements</a:t>
            </a:r>
            <a:r>
              <a:rPr dirty="0" sz="1100" spc="-5">
                <a:latin typeface="Garamond"/>
                <a:cs typeface="Garamond"/>
              </a:rPr>
              <a:t> involving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commitment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fee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25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10">
                <a:latin typeface="Garamond"/>
                <a:cs typeface="Garamond"/>
              </a:rPr>
              <a:t>Non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committed</a:t>
            </a:r>
            <a:r>
              <a:rPr dirty="0" sz="1100">
                <a:latin typeface="Garamond"/>
                <a:cs typeface="Garamond"/>
              </a:rPr>
              <a:t> being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channel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involving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paper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Revolving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arrangement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25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Open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two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3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Letter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55"/>
              </a:lnSpc>
              <a:spcBef>
                <a:spcPts val="11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Secured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Loans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financing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6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Assigning</a:t>
            </a:r>
            <a:endParaRPr sz="1100">
              <a:latin typeface="Garamond"/>
              <a:cs typeface="Garamond"/>
            </a:endParaRPr>
          </a:p>
          <a:p>
            <a:pPr lvl="3" marL="1156335" indent="-229235">
              <a:lnSpc>
                <a:spcPts val="1260"/>
              </a:lnSpc>
              <a:buChar char="–"/>
              <a:tabLst>
                <a:tab pos="1156335" algn="l"/>
                <a:tab pos="1156970" algn="l"/>
              </a:tabLst>
            </a:pPr>
            <a:r>
              <a:rPr dirty="0" sz="1100">
                <a:latin typeface="Garamond"/>
                <a:cs typeface="Garamond"/>
              </a:rPr>
              <a:t>Borrower is </a:t>
            </a:r>
            <a:r>
              <a:rPr dirty="0" sz="1100" spc="-5">
                <a:latin typeface="Garamond"/>
                <a:cs typeface="Garamond"/>
              </a:rPr>
              <a:t>responsible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even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collected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6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Factoring</a:t>
            </a:r>
            <a:endParaRPr sz="1100">
              <a:latin typeface="Garamond"/>
              <a:cs typeface="Garamond"/>
            </a:endParaRPr>
          </a:p>
          <a:p>
            <a:pPr lvl="3" marL="1156335" marR="8890" indent="-229235">
              <a:lnSpc>
                <a:spcPts val="1220"/>
              </a:lnSpc>
              <a:spcBef>
                <a:spcPts val="95"/>
              </a:spcBef>
              <a:buChar char="–"/>
              <a:tabLst>
                <a:tab pos="1156335" algn="l"/>
                <a:tab pos="1156970" algn="l"/>
              </a:tabLst>
            </a:pPr>
            <a:r>
              <a:rPr dirty="0" sz="1100">
                <a:latin typeface="Garamond"/>
                <a:cs typeface="Garamond"/>
              </a:rPr>
              <a:t>Receivable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lender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(factor)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bears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default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1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Maturity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Factoring</a:t>
            </a:r>
            <a:endParaRPr sz="1100">
              <a:latin typeface="Garamond"/>
              <a:cs typeface="Garamond"/>
            </a:endParaRPr>
          </a:p>
          <a:p>
            <a:pPr lvl="3" marL="1156335" indent="-229235">
              <a:lnSpc>
                <a:spcPts val="1290"/>
              </a:lnSpc>
              <a:buChar char="–"/>
              <a:tabLst>
                <a:tab pos="1156335" algn="l"/>
                <a:tab pos="1156970" algn="l"/>
              </a:tabLst>
            </a:pPr>
            <a:r>
              <a:rPr dirty="0" sz="1100" spc="5">
                <a:latin typeface="Garamond"/>
                <a:cs typeface="Garamond"/>
              </a:rPr>
              <a:t>Factor</a:t>
            </a:r>
            <a:r>
              <a:rPr dirty="0" sz="1100" spc="-5">
                <a:latin typeface="Garamond"/>
                <a:cs typeface="Garamond"/>
              </a:rPr>
              <a:t> forwards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agreed-upon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future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date</a:t>
            </a:r>
            <a:endParaRPr sz="1100">
              <a:latin typeface="Garamond"/>
              <a:cs typeface="Garamond"/>
            </a:endParaRPr>
          </a:p>
          <a:p>
            <a:pPr lvl="3">
              <a:lnSpc>
                <a:spcPct val="100000"/>
              </a:lnSpc>
              <a:spcBef>
                <a:spcPts val="15"/>
              </a:spcBef>
              <a:buFont typeface="Garamond"/>
              <a:buChar char="–"/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23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Secured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Loans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loans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6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Blanket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lien</a:t>
            </a:r>
            <a:endParaRPr sz="1100">
              <a:latin typeface="Garamond"/>
              <a:cs typeface="Garamond"/>
            </a:endParaRPr>
          </a:p>
          <a:p>
            <a:pPr lvl="3" marL="1156335" indent="-229235">
              <a:lnSpc>
                <a:spcPts val="1260"/>
              </a:lnSpc>
              <a:buChar char="–"/>
              <a:tabLst>
                <a:tab pos="1156335" algn="l"/>
                <a:tab pos="1156970" algn="l"/>
              </a:tabLst>
            </a:pPr>
            <a:r>
              <a:rPr dirty="0" sz="1100" spc="5">
                <a:latin typeface="Garamond"/>
                <a:cs typeface="Garamond"/>
              </a:rPr>
              <a:t>Gives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against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inventories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6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-5">
                <a:latin typeface="Garamond"/>
                <a:cs typeface="Garamond"/>
              </a:rPr>
              <a:t>Trust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receipt</a:t>
            </a:r>
            <a:endParaRPr sz="1100">
              <a:latin typeface="Garamond"/>
              <a:cs typeface="Garamond"/>
            </a:endParaRPr>
          </a:p>
          <a:p>
            <a:pPr lvl="3" marL="1156335" marR="7620" indent="-229235">
              <a:lnSpc>
                <a:spcPts val="1260"/>
              </a:lnSpc>
              <a:spcBef>
                <a:spcPts val="45"/>
              </a:spcBef>
              <a:buChar char="–"/>
              <a:tabLst>
                <a:tab pos="1156335" algn="l"/>
                <a:tab pos="1156970" algn="l"/>
              </a:tabLst>
            </a:pPr>
            <a:r>
              <a:rPr dirty="0" sz="1100">
                <a:latin typeface="Garamond"/>
                <a:cs typeface="Garamond"/>
              </a:rPr>
              <a:t>Borrower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holds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specific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“trust”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lender;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planning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18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Field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warehouse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endParaRPr sz="1100">
              <a:latin typeface="Garamond"/>
              <a:cs typeface="Garamond"/>
            </a:endParaRPr>
          </a:p>
          <a:p>
            <a:pPr lvl="3" marL="1156335" marR="5080" indent="-229235">
              <a:lnSpc>
                <a:spcPts val="1260"/>
              </a:lnSpc>
              <a:spcBef>
                <a:spcPts val="45"/>
              </a:spcBef>
              <a:buChar char="–"/>
              <a:tabLst>
                <a:tab pos="1156335" algn="l"/>
                <a:tab pos="1156970" algn="l"/>
              </a:tabLst>
            </a:pPr>
            <a:r>
              <a:rPr dirty="0" sz="1100" spc="5">
                <a:latin typeface="Garamond"/>
                <a:cs typeface="Garamond"/>
              </a:rPr>
              <a:t>An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independent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specialized</a:t>
            </a:r>
            <a:r>
              <a:rPr dirty="0" sz="1100" spc="2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management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acts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control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agent</a:t>
            </a:r>
            <a:endParaRPr sz="1100">
              <a:latin typeface="Garamond"/>
              <a:cs typeface="Garamond"/>
            </a:endParaRPr>
          </a:p>
          <a:p>
            <a:pPr lvl="3">
              <a:lnSpc>
                <a:spcPct val="100000"/>
              </a:lnSpc>
              <a:spcBef>
                <a:spcPts val="40"/>
              </a:spcBef>
              <a:buFont typeface="Garamond"/>
              <a:buChar char="–"/>
            </a:pP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3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Sources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3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Commercial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Paper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35"/>
              </a:lnSpc>
              <a:spcBef>
                <a:spcPts val="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Short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notes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issued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rated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3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Trade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Credit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delaying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payments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100" spc="10" b="1">
                <a:latin typeface="Garamond"/>
                <a:cs typeface="Garamond"/>
              </a:rPr>
              <a:t>A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Short-Term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Financial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Plan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arranges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basis.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APR,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calculated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quarterly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(20%/4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5%)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There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starting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debt.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223261" y="7963153"/>
          <a:ext cx="3575050" cy="1116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4020"/>
                <a:gridCol w="470534"/>
                <a:gridCol w="492760"/>
                <a:gridCol w="489585"/>
                <a:gridCol w="432435"/>
              </a:tblGrid>
              <a:tr h="187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14300">
                        <a:lnSpc>
                          <a:spcPts val="1280"/>
                        </a:lnSpc>
                      </a:pPr>
                      <a:r>
                        <a:rPr dirty="0" sz="1100" spc="20" b="1">
                          <a:latin typeface="Garamond"/>
                          <a:cs typeface="Garamond"/>
                        </a:rPr>
                        <a:t>Q1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230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15570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3891">
                <a:tc>
                  <a:txBody>
                    <a:bodyPr/>
                    <a:lstStyle/>
                    <a:p>
                      <a:pPr marL="70485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Beginning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Balance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6355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8110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747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-110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557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-15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Ending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balance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74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Minimum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balance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2192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223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0014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1139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Cumulative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surplus(deficit)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21920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$50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747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-$5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032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-$20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57501" y="905509"/>
          <a:ext cx="4307205" cy="2237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9975"/>
                <a:gridCol w="548639"/>
                <a:gridCol w="513079"/>
                <a:gridCol w="443864"/>
                <a:gridCol w="455295"/>
              </a:tblGrid>
              <a:tr h="1924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ts val="1280"/>
                        </a:lnSpc>
                      </a:pPr>
                      <a:r>
                        <a:rPr dirty="0" sz="1100" spc="20" b="1">
                          <a:latin typeface="Garamond"/>
                          <a:cs typeface="Garamond"/>
                        </a:rPr>
                        <a:t>Q1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92710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975">
                        <a:lnSpc>
                          <a:spcPts val="1280"/>
                        </a:lnSpc>
                      </a:pPr>
                      <a:r>
                        <a:rPr dirty="0" sz="1100" spc="25" b="1">
                          <a:latin typeface="Garamond"/>
                          <a:cs typeface="Garamond"/>
                        </a:rPr>
                        <a:t>Q4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3891">
                <a:tc>
                  <a:txBody>
                    <a:bodyPr/>
                    <a:lstStyle/>
                    <a:p>
                      <a:pPr marL="70485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Beginning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Balance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17475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$20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0970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94615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Net</a:t>
                      </a:r>
                      <a:r>
                        <a:rPr dirty="0" sz="1100" spc="-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inflow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4935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40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097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-110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271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-15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New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short-term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borrowing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212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842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15.4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Interest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on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short-term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borrowing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(5%)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212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47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461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0.4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6440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Short-term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borrowing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repaid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212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47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271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52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-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3891">
                <a:tc>
                  <a:txBody>
                    <a:bodyPr/>
                    <a:lstStyle/>
                    <a:p>
                      <a:pPr marL="70485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Ending</a:t>
                      </a:r>
                      <a:r>
                        <a:rPr dirty="0" sz="1100" spc="-1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balance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7475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0970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94615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6440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Minimum</a:t>
                      </a:r>
                      <a:r>
                        <a:rPr dirty="0" sz="1100" spc="-5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cash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balance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9380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287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715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-10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Cumulative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surplus</a:t>
                      </a:r>
                      <a:r>
                        <a:rPr dirty="0" sz="1100" spc="-4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(deficit)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747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$50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033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9461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ct val="1000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Beginning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short-term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033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271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6440">
                <a:tc>
                  <a:txBody>
                    <a:bodyPr/>
                    <a:lstStyle/>
                    <a:p>
                      <a:pPr marL="7048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Change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in</a:t>
                      </a:r>
                      <a:r>
                        <a:rPr dirty="0" sz="1100" spc="-3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short-term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r" marR="117475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38430">
                        <a:lnSpc>
                          <a:spcPts val="1275"/>
                        </a:lnSpc>
                      </a:pPr>
                      <a:r>
                        <a:rPr dirty="0" sz="1100" spc="20">
                          <a:latin typeface="Garamond"/>
                          <a:cs typeface="Garamond"/>
                        </a:rPr>
                        <a:t>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7155">
                        <a:lnSpc>
                          <a:spcPts val="1275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-52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15.4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marL="70485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Ending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short-term</a:t>
                      </a:r>
                      <a:r>
                        <a:rPr dirty="0" sz="1100" spc="-4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debt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6839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0970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$60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3980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$8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6515">
                        <a:lnSpc>
                          <a:spcPts val="128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$23.4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168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3285235"/>
            <a:ext cx="5633720" cy="49530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469900" marR="13970" indent="-228600">
              <a:lnSpc>
                <a:spcPts val="1150"/>
              </a:lnSpc>
              <a:spcBef>
                <a:spcPts val="29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Ending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short-term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equal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cumulative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deficit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entire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mill.,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plus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during</a:t>
            </a:r>
            <a:r>
              <a:rPr dirty="0" sz="1100" spc="-10">
                <a:latin typeface="Garamond"/>
                <a:cs typeface="Garamond"/>
              </a:rPr>
              <a:t> 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$3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.4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$3.4,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$23.4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2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>
                <a:latin typeface="Garamond"/>
                <a:cs typeface="Garamond"/>
              </a:rPr>
              <a:t> this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plan,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>
                <a:latin typeface="Garamond"/>
                <a:cs typeface="Garamond"/>
              </a:rPr>
              <a:t> ignored: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tax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deductibility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earnings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surplus</a:t>
            </a:r>
            <a:endParaRPr sz="1100">
              <a:latin typeface="Garamond"/>
              <a:cs typeface="Garamond"/>
            </a:endParaRPr>
          </a:p>
          <a:p>
            <a:pPr marL="469900" marR="12065" indent="-228600">
              <a:lnSpc>
                <a:spcPts val="1190"/>
              </a:lnSpc>
              <a:spcBef>
                <a:spcPts val="13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illustrates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needs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$3.4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million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interest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before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taxes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100" b="1">
                <a:latin typeface="Garamond"/>
                <a:cs typeface="Garamond"/>
              </a:rPr>
              <a:t>Float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Management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Garamond"/>
              <a:cs typeface="Garamond"/>
            </a:endParaRPr>
          </a:p>
          <a:p>
            <a:pPr marL="469900" marR="12700" indent="-228600">
              <a:lnSpc>
                <a:spcPts val="115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basic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objective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management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keep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investment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low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possible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while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still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activities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efficiently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effectively.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Collect</a:t>
            </a:r>
            <a:r>
              <a:rPr dirty="0" sz="1100" spc="-5">
                <a:latin typeface="Garamond"/>
                <a:cs typeface="Garamond"/>
              </a:rPr>
              <a:t> early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late.</a:t>
            </a:r>
            <a:endParaRPr sz="1100">
              <a:latin typeface="Garamond"/>
              <a:cs typeface="Garamond"/>
            </a:endParaRPr>
          </a:p>
          <a:p>
            <a:pPr marL="469900" marR="6350" indent="-228600">
              <a:lnSpc>
                <a:spcPts val="1190"/>
              </a:lnSpc>
              <a:spcBef>
                <a:spcPts val="1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Firm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temporarily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idle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marketable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default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liquid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950">
              <a:latin typeface="Garamond"/>
              <a:cs typeface="Garamond"/>
            </a:endParaRPr>
          </a:p>
          <a:p>
            <a:pPr algn="just" marL="469900" indent="-229235">
              <a:lnSpc>
                <a:spcPts val="1255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Reasons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holding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endParaRPr sz="1100">
              <a:latin typeface="Garamond"/>
              <a:cs typeface="Garamond"/>
            </a:endParaRPr>
          </a:p>
          <a:p>
            <a:pPr algn="just" lvl="1" marL="699135" marR="5080" indent="-229235">
              <a:lnSpc>
                <a:spcPct val="88600"/>
              </a:lnSpc>
              <a:spcBef>
                <a:spcPts val="90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 spc="-5" b="1">
                <a:latin typeface="Garamond"/>
                <a:cs typeface="Garamond"/>
              </a:rPr>
              <a:t>Speculative </a:t>
            </a:r>
            <a:r>
              <a:rPr dirty="0" sz="1100" spc="-10" b="1">
                <a:latin typeface="Garamond"/>
                <a:cs typeface="Garamond"/>
              </a:rPr>
              <a:t>Motive </a:t>
            </a:r>
            <a:r>
              <a:rPr dirty="0" sz="1100" spc="5">
                <a:latin typeface="Garamond"/>
                <a:cs typeface="Garamond"/>
              </a:rPr>
              <a:t>-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need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hold </a:t>
            </a:r>
            <a:r>
              <a:rPr dirty="0" sz="1100" spc="5">
                <a:latin typeface="Garamond"/>
                <a:cs typeface="Garamond"/>
              </a:rPr>
              <a:t>cash to </a:t>
            </a:r>
            <a:r>
              <a:rPr dirty="0" sz="1100" spc="-10">
                <a:latin typeface="Garamond"/>
                <a:cs typeface="Garamond"/>
              </a:rPr>
              <a:t>take </a:t>
            </a:r>
            <a:r>
              <a:rPr dirty="0" sz="1100">
                <a:latin typeface="Garamond"/>
                <a:cs typeface="Garamond"/>
              </a:rPr>
              <a:t>advantage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additional investment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opportunities, </a:t>
            </a:r>
            <a:r>
              <a:rPr dirty="0" sz="1100">
                <a:latin typeface="Garamond"/>
                <a:cs typeface="Garamond"/>
              </a:rPr>
              <a:t>such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>
                <a:latin typeface="Garamond"/>
                <a:cs typeface="Garamond"/>
              </a:rPr>
              <a:t>bargain </a:t>
            </a:r>
            <a:r>
              <a:rPr dirty="0" sz="1100" spc="-5">
                <a:latin typeface="Garamond"/>
                <a:cs typeface="Garamond"/>
              </a:rPr>
              <a:t>purchases, attractive </a:t>
            </a:r>
            <a:r>
              <a:rPr dirty="0" sz="1100">
                <a:latin typeface="Garamond"/>
                <a:cs typeface="Garamond"/>
              </a:rPr>
              <a:t>interest rates and favorable </a:t>
            </a:r>
            <a:r>
              <a:rPr dirty="0" sz="1100" spc="-5">
                <a:latin typeface="Garamond"/>
                <a:cs typeface="Garamond"/>
              </a:rPr>
              <a:t>exchange </a:t>
            </a:r>
            <a:r>
              <a:rPr dirty="0" sz="1100">
                <a:latin typeface="Garamond"/>
                <a:cs typeface="Garamond"/>
              </a:rPr>
              <a:t> rates</a:t>
            </a:r>
            <a:r>
              <a:rPr dirty="0" sz="1100" spc="-5">
                <a:latin typeface="Garamond"/>
                <a:cs typeface="Garamond"/>
              </a:rPr>
              <a:t> fluctuations.</a:t>
            </a:r>
            <a:endParaRPr sz="1100">
              <a:latin typeface="Garamond"/>
              <a:cs typeface="Garamond"/>
            </a:endParaRPr>
          </a:p>
          <a:p>
            <a:pPr algn="just" lvl="2" marL="927735" indent="-229235">
              <a:lnSpc>
                <a:spcPts val="1195"/>
              </a:lnSpc>
              <a:buFont typeface="Wingdings"/>
              <a:buChar char=""/>
              <a:tabLst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Reserve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utility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securities</a:t>
            </a:r>
            <a:endParaRPr sz="1100">
              <a:latin typeface="Garamond"/>
              <a:cs typeface="Garamond"/>
            </a:endParaRPr>
          </a:p>
          <a:p>
            <a:pPr algn="just" lvl="1" marL="699135" marR="11430" indent="-229235">
              <a:lnSpc>
                <a:spcPts val="1150"/>
              </a:lnSpc>
              <a:spcBef>
                <a:spcPts val="110"/>
              </a:spcBef>
              <a:buFont typeface="Courier New"/>
              <a:buChar char="o"/>
              <a:tabLst>
                <a:tab pos="699770" algn="l"/>
              </a:tabLst>
            </a:pPr>
            <a:r>
              <a:rPr dirty="0" sz="1100" b="1">
                <a:latin typeface="Garamond"/>
                <a:cs typeface="Garamond"/>
              </a:rPr>
              <a:t>Transaction</a:t>
            </a:r>
            <a:r>
              <a:rPr dirty="0" sz="1100" spc="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Motive</a:t>
            </a:r>
            <a:r>
              <a:rPr dirty="0" sz="1100" b="1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hold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satisfy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normal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disbursement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collection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activities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associated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ongoing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operations.</a:t>
            </a:r>
            <a:endParaRPr sz="1100">
              <a:latin typeface="Garamond"/>
              <a:cs typeface="Garamond"/>
            </a:endParaRPr>
          </a:p>
          <a:p>
            <a:pPr algn="just" lvl="1" marL="699135" indent="-229870">
              <a:lnSpc>
                <a:spcPts val="1080"/>
              </a:lnSpc>
              <a:buFont typeface="Courier New"/>
              <a:buChar char="o"/>
              <a:tabLst>
                <a:tab pos="699770" algn="l"/>
              </a:tabLst>
            </a:pPr>
            <a:r>
              <a:rPr dirty="0" sz="1100" spc="-5" b="1">
                <a:latin typeface="Garamond"/>
                <a:cs typeface="Garamond"/>
              </a:rPr>
              <a:t>Precautionary</a:t>
            </a:r>
            <a:r>
              <a:rPr dirty="0" sz="1100" spc="17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Motive</a:t>
            </a:r>
            <a:r>
              <a:rPr dirty="0" sz="1100" spc="190" b="1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hold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safety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margin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act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endParaRPr sz="1100">
              <a:latin typeface="Garamond"/>
              <a:cs typeface="Garamond"/>
            </a:endParaRPr>
          </a:p>
          <a:p>
            <a:pPr marL="699135">
              <a:lnSpc>
                <a:spcPts val="1255"/>
              </a:lnSpc>
            </a:pPr>
            <a:r>
              <a:rPr dirty="0" sz="1100">
                <a:latin typeface="Garamond"/>
                <a:cs typeface="Garamond"/>
              </a:rPr>
              <a:t>reserve.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Garamond"/>
              <a:cs typeface="Garamond"/>
            </a:endParaRPr>
          </a:p>
          <a:p>
            <a:pPr marL="469900" indent="-229235">
              <a:lnSpc>
                <a:spcPts val="125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Benefit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Holding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</a:t>
            </a:r>
            <a:endParaRPr sz="1100">
              <a:latin typeface="Garamond"/>
              <a:cs typeface="Garamond"/>
            </a:endParaRPr>
          </a:p>
          <a:p>
            <a:pPr lvl="1" marL="699135" marR="9525" indent="-229235">
              <a:lnSpc>
                <a:spcPts val="1190"/>
              </a:lnSpc>
              <a:spcBef>
                <a:spcPts val="8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opportunity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excessive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interest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income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could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earned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next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05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holds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excessive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provide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necessary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transaction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needs.</a:t>
            </a:r>
            <a:endParaRPr sz="1100">
              <a:latin typeface="Garamond"/>
              <a:cs typeface="Garamond"/>
            </a:endParaRPr>
          </a:p>
          <a:p>
            <a:pPr lvl="1" marL="699135" marR="5080" indent="-229235">
              <a:lnSpc>
                <a:spcPts val="1190"/>
              </a:lnSpc>
              <a:spcBef>
                <a:spcPts val="6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cash-out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situation,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raise </a:t>
            </a:r>
            <a:r>
              <a:rPr dirty="0" sz="1100" spc="5">
                <a:latin typeface="Garamond"/>
                <a:cs typeface="Garamond"/>
              </a:rPr>
              <a:t>cash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short-term </a:t>
            </a:r>
            <a:r>
              <a:rPr dirty="0" sz="1100" spc="-5">
                <a:latin typeface="Garamond"/>
                <a:cs typeface="Garamond"/>
              </a:rPr>
              <a:t>basis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selling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714501"/>
            <a:ext cx="5441950" cy="21628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4624705">
              <a:lnSpc>
                <a:spcPts val="1375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1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43</a:t>
            </a:r>
            <a:endParaRPr sz="1150">
              <a:latin typeface="Garamond"/>
              <a:cs typeface="Garamond"/>
            </a:endParaRPr>
          </a:p>
          <a:p>
            <a:pPr algn="ctr" marR="276225">
              <a:lnSpc>
                <a:spcPts val="1375"/>
              </a:lnSpc>
            </a:pPr>
            <a:r>
              <a:rPr dirty="0" sz="1150" spc="20" b="1">
                <a:latin typeface="Garamond"/>
                <a:cs typeface="Garamond"/>
              </a:rPr>
              <a:t>FLOAT</a:t>
            </a:r>
            <a:r>
              <a:rPr dirty="0" sz="115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AND </a:t>
            </a:r>
            <a:r>
              <a:rPr dirty="0" sz="1150" spc="20" b="1">
                <a:latin typeface="Garamond"/>
                <a:cs typeface="Garamond"/>
              </a:rPr>
              <a:t>CASH</a:t>
            </a:r>
            <a:r>
              <a:rPr dirty="0" sz="1150" spc="4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MANAGEMENT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Garamond"/>
              <a:cs typeface="Garamond"/>
            </a:endParaRPr>
          </a:p>
          <a:p>
            <a:pPr marL="240665" marR="45720" indent="-228600">
              <a:lnSpc>
                <a:spcPts val="115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cash,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representing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cheques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process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clearing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 </a:t>
            </a:r>
            <a:r>
              <a:rPr dirty="0" sz="1100" spc="-5" i="1">
                <a:latin typeface="Garamond"/>
                <a:cs typeface="Garamond"/>
              </a:rPr>
              <a:t>float</a:t>
            </a:r>
            <a:r>
              <a:rPr dirty="0" sz="1100" spc="-5">
                <a:latin typeface="Garamond"/>
                <a:cs typeface="Garamond"/>
              </a:rPr>
              <a:t>.</a:t>
            </a:r>
            <a:endParaRPr sz="1100">
              <a:latin typeface="Garamond"/>
              <a:cs typeface="Garamond"/>
            </a:endParaRPr>
          </a:p>
          <a:p>
            <a:pPr marL="240665" marR="46990" indent="-228600">
              <a:lnSpc>
                <a:spcPts val="119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Cheques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written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generate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disbursement</a:t>
            </a:r>
            <a:r>
              <a:rPr dirty="0" sz="1100" spc="6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float</a:t>
            </a:r>
            <a:r>
              <a:rPr dirty="0" sz="1100" spc="-5">
                <a:latin typeface="Garamond"/>
                <a:cs typeface="Garamond"/>
              </a:rPr>
              <a:t>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causing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decrease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its</a:t>
            </a:r>
            <a:r>
              <a:rPr dirty="0" sz="1100" spc="-5">
                <a:latin typeface="Garamond"/>
                <a:cs typeface="Garamond"/>
              </a:rPr>
              <a:t> available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8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Gm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-5">
                <a:latin typeface="Garamond"/>
                <a:cs typeface="Garamond"/>
              </a:rPr>
              <a:t> $100,000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deposit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bank.</a:t>
            </a:r>
            <a:endParaRPr sz="1100">
              <a:latin typeface="Garamond"/>
              <a:cs typeface="Garamond"/>
            </a:endParaRPr>
          </a:p>
          <a:p>
            <a:pPr marL="240665" marR="55880" indent="-228600">
              <a:lnSpc>
                <a:spcPts val="1190"/>
              </a:lnSpc>
              <a:spcBef>
                <a:spcPts val="1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On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June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8,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material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cheque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$100,000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reducing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$100,000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immediately.</a:t>
            </a:r>
            <a:endParaRPr sz="1100">
              <a:latin typeface="Garamond"/>
              <a:cs typeface="Garamond"/>
            </a:endParaRPr>
          </a:p>
          <a:p>
            <a:pPr marL="240665" marR="52705" indent="-228600">
              <a:lnSpc>
                <a:spcPts val="1190"/>
              </a:lnSpc>
              <a:spcBef>
                <a:spcPts val="1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GM’s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bank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unaware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activity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until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cheque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presented,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say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June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14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available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greater </a:t>
            </a:r>
            <a:r>
              <a:rPr dirty="0" sz="1100" spc="-10">
                <a:latin typeface="Garamond"/>
                <a:cs typeface="Garamond"/>
              </a:rPr>
              <a:t>than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$100,000.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75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Before </a:t>
            </a:r>
            <a:r>
              <a:rPr dirty="0" sz="1100" spc="-10">
                <a:latin typeface="Garamond"/>
                <a:cs typeface="Garamond"/>
              </a:rPr>
              <a:t>June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8,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GM’s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float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5">
                <a:latin typeface="Garamond"/>
                <a:cs typeface="Garamond"/>
              </a:rPr>
              <a:t> zero: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169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9144" y="2978657"/>
            <a:ext cx="3092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15">
                <a:latin typeface="Garamond"/>
                <a:cs typeface="Garamond"/>
              </a:rPr>
              <a:t>F</a:t>
            </a:r>
            <a:r>
              <a:rPr dirty="0" sz="1100" spc="-5">
                <a:latin typeface="Garamond"/>
                <a:cs typeface="Garamond"/>
              </a:rPr>
              <a:t>l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t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6598" y="2978657"/>
            <a:ext cx="2677160" cy="3467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55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available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Firm’s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balance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5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100,000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5508" y="3445255"/>
            <a:ext cx="5405120" cy="60826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Form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June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8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June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14,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position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156335">
              <a:lnSpc>
                <a:spcPts val="1235"/>
              </a:lnSpc>
              <a:spcBef>
                <a:spcPts val="1019"/>
              </a:spcBef>
            </a:pPr>
            <a:r>
              <a:rPr dirty="0" sz="1100">
                <a:latin typeface="Garamond"/>
                <a:cs typeface="Garamond"/>
              </a:rPr>
              <a:t>Disbursement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available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endParaRPr sz="1100">
              <a:latin typeface="Garamond"/>
              <a:cs typeface="Garamond"/>
            </a:endParaRPr>
          </a:p>
          <a:p>
            <a:pPr marL="2281555">
              <a:lnSpc>
                <a:spcPts val="123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100,000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Garamond"/>
              <a:cs typeface="Garamond"/>
            </a:endParaRPr>
          </a:p>
          <a:p>
            <a:pPr marL="240665" marR="6985" indent="-228600">
              <a:lnSpc>
                <a:spcPts val="119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Cheques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create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collection</a:t>
            </a:r>
            <a:r>
              <a:rPr dirty="0" sz="1100" spc="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float</a:t>
            </a:r>
            <a:r>
              <a:rPr dirty="0" sz="1100" spc="-5">
                <a:latin typeface="Garamond"/>
                <a:cs typeface="Garamond"/>
              </a:rPr>
              <a:t>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which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balances</a:t>
            </a:r>
            <a:r>
              <a:rPr dirty="0" sz="1100" spc="5">
                <a:latin typeface="Garamond"/>
                <a:cs typeface="Garamond"/>
              </a:rPr>
              <a:t> but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does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 </a:t>
            </a:r>
            <a:r>
              <a:rPr dirty="0" sz="1100" spc="-5">
                <a:latin typeface="Garamond"/>
                <a:cs typeface="Garamond"/>
              </a:rPr>
              <a:t>immediately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available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balance.</a:t>
            </a:r>
            <a:endParaRPr sz="1100">
              <a:latin typeface="Garamond"/>
              <a:cs typeface="Garamond"/>
            </a:endParaRPr>
          </a:p>
          <a:p>
            <a:pPr marL="240665" marR="7620" indent="-228600">
              <a:lnSpc>
                <a:spcPts val="119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general,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activities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generate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disbursement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activities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generate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float.</a:t>
            </a:r>
            <a:endParaRPr sz="1100">
              <a:latin typeface="Garamond"/>
              <a:cs typeface="Garamond"/>
            </a:endParaRPr>
          </a:p>
          <a:p>
            <a:pPr marL="240665" marR="13335" indent="-228600">
              <a:lnSpc>
                <a:spcPts val="119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both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floats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float,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equal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between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available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 </a:t>
            </a:r>
            <a:r>
              <a:rPr dirty="0" sz="1100">
                <a:latin typeface="Garamond"/>
                <a:cs typeface="Garamond"/>
              </a:rPr>
              <a:t>balance.</a:t>
            </a:r>
            <a:endParaRPr sz="1100">
              <a:latin typeface="Garamond"/>
              <a:cs typeface="Garamond"/>
            </a:endParaRPr>
          </a:p>
          <a:p>
            <a:pPr marL="240665" marR="12700" indent="-228600">
              <a:lnSpc>
                <a:spcPts val="119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positive,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disbursement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exceeds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float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available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exceeds </a:t>
            </a:r>
            <a:r>
              <a:rPr dirty="0" sz="1100" spc="-10">
                <a:latin typeface="Garamond"/>
                <a:cs typeface="Garamond"/>
              </a:rPr>
              <a:t>its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balance,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versa.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8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$5,000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deposit.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One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write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cheque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deposit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$2,000.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disbursement,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collection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floats?</a:t>
            </a:r>
            <a:endParaRPr sz="1100">
              <a:latin typeface="Garamond"/>
              <a:cs typeface="Garamond"/>
            </a:endParaRPr>
          </a:p>
          <a:p>
            <a:pPr marL="240665" marR="15240" indent="-228600">
              <a:lnSpc>
                <a:spcPts val="1150"/>
              </a:lnSpc>
              <a:spcBef>
                <a:spcPts val="1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After </a:t>
            </a:r>
            <a:r>
              <a:rPr dirty="0" sz="1100" spc="-5">
                <a:latin typeface="Garamond"/>
                <a:cs typeface="Garamond"/>
              </a:rPr>
              <a:t>writing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cheque,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$4,000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shows </a:t>
            </a:r>
            <a:r>
              <a:rPr dirty="0" sz="1100" spc="-5">
                <a:latin typeface="Garamond"/>
                <a:cs typeface="Garamond"/>
              </a:rPr>
              <a:t>$5,000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while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cheque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clearing.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disbursement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</a:t>
            </a:r>
            <a:endParaRPr sz="1100">
              <a:latin typeface="Garamond"/>
              <a:cs typeface="Garamond"/>
            </a:endParaRPr>
          </a:p>
          <a:p>
            <a:pPr marL="240665" marR="7620" indent="-228600">
              <a:lnSpc>
                <a:spcPts val="1150"/>
              </a:lnSpc>
              <a:spcBef>
                <a:spcPts val="18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Depositing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$2,000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book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$6,000,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available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remains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same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until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cheque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clears.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-$2,000.</a:t>
            </a:r>
            <a:endParaRPr sz="1100">
              <a:latin typeface="Garamond"/>
              <a:cs typeface="Garamond"/>
            </a:endParaRPr>
          </a:p>
          <a:p>
            <a:pPr marL="1156335">
              <a:lnSpc>
                <a:spcPct val="100000"/>
              </a:lnSpc>
              <a:spcBef>
                <a:spcPts val="1010"/>
              </a:spcBef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>
                <a:latin typeface="Garamond"/>
                <a:cs typeface="Garamond"/>
              </a:rPr>
              <a:t> float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 </a:t>
            </a:r>
            <a:r>
              <a:rPr dirty="0" sz="1100" spc="-5">
                <a:latin typeface="Garamond"/>
                <a:cs typeface="Garamond"/>
              </a:rPr>
              <a:t>(-2,000)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-$1,000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241300" indent="-228600">
              <a:lnSpc>
                <a:spcPts val="1255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17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Speed </a:t>
            </a:r>
            <a:r>
              <a:rPr dirty="0" sz="1100" spc="-15">
                <a:latin typeface="Garamond"/>
                <a:cs typeface="Garamond"/>
              </a:rPr>
              <a:t>up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collection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2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Reduce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bills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becomes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available.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4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Disbursement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1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Control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4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Minimize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 associated 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45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disbursement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broken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parts:</a:t>
            </a:r>
            <a:endParaRPr sz="1100">
              <a:latin typeface="Garamond"/>
              <a:cs typeface="Garamond"/>
            </a:endParaRPr>
          </a:p>
          <a:p>
            <a:pPr lvl="1" marL="469900" marR="5080" indent="-229235">
              <a:lnSpc>
                <a:spcPts val="1150"/>
              </a:lnSpc>
              <a:spcBef>
                <a:spcPts val="114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Mailing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disbursement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process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during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cheques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trapped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system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08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Processing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delay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receiver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cheque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process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170"/>
              </a:lnSpc>
            </a:pPr>
            <a:r>
              <a:rPr dirty="0" sz="1100">
                <a:latin typeface="Garamond"/>
                <a:cs typeface="Garamond"/>
              </a:rPr>
              <a:t>deposit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collection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3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Availability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delay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clear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cheque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through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banking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system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35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Electronic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Data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Interchange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(EDI)</a:t>
            </a:r>
            <a:endParaRPr sz="1100">
              <a:latin typeface="Garamond"/>
              <a:cs typeface="Garamond"/>
            </a:endParaRPr>
          </a:p>
          <a:p>
            <a:pPr lvl="1" marL="469900" marR="5715" indent="-229235">
              <a:lnSpc>
                <a:spcPts val="1190"/>
              </a:lnSpc>
              <a:spcBef>
                <a:spcPts val="60"/>
              </a:spcBef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Electronically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transfer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funds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parties, </a:t>
            </a:r>
            <a:r>
              <a:rPr dirty="0" sz="1100">
                <a:latin typeface="Garamond"/>
                <a:cs typeface="Garamond"/>
              </a:rPr>
              <a:t>thereby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eliminating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paper </a:t>
            </a:r>
            <a:r>
              <a:rPr dirty="0" sz="1100" spc="-5">
                <a:latin typeface="Garamond"/>
                <a:cs typeface="Garamond"/>
              </a:rPr>
              <a:t>invoices,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paper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cheques,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mailing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handling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13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Length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29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initiate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2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complete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transaction</a:t>
            </a:r>
            <a:r>
              <a:rPr dirty="0" sz="1100" spc="2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shortened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05357"/>
            <a:ext cx="3713479" cy="51180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699135">
              <a:lnSpc>
                <a:spcPct val="100000"/>
              </a:lnSpc>
              <a:spcBef>
                <a:spcPts val="114"/>
              </a:spcBef>
            </a:pPr>
            <a:r>
              <a:rPr dirty="0" sz="1100">
                <a:latin typeface="Garamond"/>
                <a:cs typeface="Garamond"/>
              </a:rPr>
              <a:t>considerably,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sharply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reduced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eliminated.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Collection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4662042"/>
            <a:ext cx="3447415" cy="13754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Collection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Collection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r>
              <a:rPr dirty="0" sz="1100" spc="-10">
                <a:latin typeface="Garamond"/>
                <a:cs typeface="Garamond"/>
              </a:rPr>
              <a:t> through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cheques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mailed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cheques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location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spcBef>
                <a:spcPts val="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different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points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reduce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mailing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Outsource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process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Preauthorized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system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Lockboxes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69" y="1403857"/>
            <a:ext cx="5381625" cy="31051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3363" y="6218401"/>
            <a:ext cx="4903042" cy="330225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170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05357"/>
            <a:ext cx="5624195" cy="10147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Concentration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Garamond"/>
              <a:cs typeface="Garamond"/>
            </a:endParaRPr>
          </a:p>
          <a:p>
            <a:pPr marL="469900" marR="5080" indent="-228600">
              <a:lnSpc>
                <a:spcPts val="115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Cash </a:t>
            </a:r>
            <a:r>
              <a:rPr dirty="0" sz="1100" spc="-5">
                <a:latin typeface="Garamond"/>
                <a:cs typeface="Garamond"/>
              </a:rPr>
              <a:t>collections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firm having many </a:t>
            </a:r>
            <a:r>
              <a:rPr dirty="0" sz="1100" spc="-5">
                <a:latin typeface="Garamond"/>
                <a:cs typeface="Garamond"/>
              </a:rPr>
              <a:t>collection </a:t>
            </a:r>
            <a:r>
              <a:rPr dirty="0" sz="1100">
                <a:latin typeface="Garamond"/>
                <a:cs typeface="Garamond"/>
              </a:rPr>
              <a:t>points may </a:t>
            </a:r>
            <a:r>
              <a:rPr dirty="0" sz="1100" spc="-5">
                <a:latin typeface="Garamond"/>
                <a:cs typeface="Garamond"/>
              </a:rPr>
              <a:t>end </a:t>
            </a:r>
            <a:r>
              <a:rPr dirty="0" sz="1100">
                <a:latin typeface="Garamond"/>
                <a:cs typeface="Garamond"/>
              </a:rPr>
              <a:t>up in different banks and </a:t>
            </a:r>
            <a:r>
              <a:rPr dirty="0" sz="1100" spc="-5">
                <a:latin typeface="Garamond"/>
                <a:cs typeface="Garamond"/>
              </a:rPr>
              <a:t>bank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accounts.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process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moving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amounts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-5">
                <a:latin typeface="Garamond"/>
                <a:cs typeface="Garamond"/>
              </a:rPr>
              <a:t> 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concentration.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routinely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pooling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10">
                <a:latin typeface="Garamond"/>
                <a:cs typeface="Garamond"/>
              </a:rPr>
              <a:t>cash,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reduces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tracked.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Normally,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concentration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banks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purpose.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5453252"/>
            <a:ext cx="5626735" cy="19062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6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Disbursement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Garamond"/>
              <a:cs typeface="Garamond"/>
            </a:endParaRPr>
          </a:p>
          <a:p>
            <a:pPr marL="469900" marR="8890" indent="-228600">
              <a:lnSpc>
                <a:spcPts val="119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goal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managing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disbursement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float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slow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down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disbursements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much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possible.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19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firm may </a:t>
            </a:r>
            <a:r>
              <a:rPr dirty="0" sz="1100" spc="5">
                <a:latin typeface="Garamond"/>
                <a:cs typeface="Garamond"/>
              </a:rPr>
              <a:t>adopt </a:t>
            </a:r>
            <a:r>
              <a:rPr dirty="0" sz="1100" spc="-5">
                <a:latin typeface="Garamond"/>
                <a:cs typeface="Garamond"/>
              </a:rPr>
              <a:t>some strategies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increase </a:t>
            </a:r>
            <a:r>
              <a:rPr dirty="0" sz="1100" spc="5">
                <a:latin typeface="Garamond"/>
                <a:cs typeface="Garamond"/>
              </a:rPr>
              <a:t>mail </a:t>
            </a:r>
            <a:r>
              <a:rPr dirty="0" sz="1100">
                <a:latin typeface="Garamond"/>
                <a:cs typeface="Garamond"/>
              </a:rPr>
              <a:t>float, processing float and </a:t>
            </a:r>
            <a:r>
              <a:rPr dirty="0" sz="1100" spc="-5">
                <a:latin typeface="Garamond"/>
                <a:cs typeface="Garamond"/>
              </a:rPr>
              <a:t>availability </a:t>
            </a:r>
            <a:r>
              <a:rPr dirty="0" sz="1100">
                <a:latin typeface="Garamond"/>
                <a:cs typeface="Garamond"/>
              </a:rPr>
              <a:t>float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cheques 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writes.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-5">
                <a:latin typeface="Garamond"/>
                <a:cs typeface="Garamond"/>
              </a:rPr>
              <a:t> strategies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include: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Write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check</a:t>
            </a:r>
            <a:r>
              <a:rPr dirty="0" sz="1100" spc="-10">
                <a:latin typeface="Garamond"/>
                <a:cs typeface="Garamond"/>
              </a:rPr>
              <a:t> 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distant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Hold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several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after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postmarked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office.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supplier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verify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accuracy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amounts.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5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Mail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distant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post</a:t>
            </a:r>
            <a:r>
              <a:rPr dirty="0" sz="1100">
                <a:latin typeface="Garamond"/>
                <a:cs typeface="Garamond"/>
              </a:rPr>
              <a:t> office.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3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Mail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great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deal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handling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294" y="1917572"/>
            <a:ext cx="5524500" cy="33718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28750" y="7639303"/>
            <a:ext cx="1362075" cy="5715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algn="ctr">
              <a:lnSpc>
                <a:spcPts val="1315"/>
              </a:lnSpc>
              <a:spcBef>
                <a:spcPts val="785"/>
              </a:spcBef>
            </a:pPr>
            <a:r>
              <a:rPr dirty="0" sz="1150" spc="5" b="1">
                <a:latin typeface="Garamond"/>
                <a:cs typeface="Garamond"/>
              </a:rPr>
              <a:t>Firm</a:t>
            </a:r>
            <a:r>
              <a:rPr dirty="0" sz="1150" spc="20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prepares</a:t>
            </a:r>
            <a:endParaRPr sz="1150">
              <a:latin typeface="Garamond"/>
              <a:cs typeface="Garamond"/>
            </a:endParaRPr>
          </a:p>
          <a:p>
            <a:pPr algn="ctr">
              <a:lnSpc>
                <a:spcPts val="1375"/>
              </a:lnSpc>
            </a:pPr>
            <a:r>
              <a:rPr dirty="0" sz="1200" spc="-15" b="1">
                <a:latin typeface="Garamond"/>
                <a:cs typeface="Garamond"/>
              </a:rPr>
              <a:t>check</a:t>
            </a:r>
            <a:r>
              <a:rPr dirty="0" sz="1200" spc="15" b="1">
                <a:latin typeface="Garamond"/>
                <a:cs typeface="Garamond"/>
              </a:rPr>
              <a:t> </a:t>
            </a:r>
            <a:r>
              <a:rPr dirty="0" sz="1200" spc="-15" b="1">
                <a:latin typeface="Garamond"/>
                <a:cs typeface="Garamond"/>
              </a:rPr>
              <a:t>to</a:t>
            </a:r>
            <a:r>
              <a:rPr dirty="0" sz="1200" spc="-40" b="1">
                <a:latin typeface="Garamond"/>
                <a:cs typeface="Garamond"/>
              </a:rPr>
              <a:t> </a:t>
            </a:r>
            <a:r>
              <a:rPr dirty="0" sz="1200" b="1">
                <a:latin typeface="Garamond"/>
                <a:cs typeface="Garamond"/>
              </a:rPr>
              <a:t>supplier</a:t>
            </a:r>
            <a:endParaRPr sz="12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95650" y="7639303"/>
            <a:ext cx="1381125" cy="5715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marL="331470">
              <a:lnSpc>
                <a:spcPts val="1315"/>
              </a:lnSpc>
              <a:spcBef>
                <a:spcPts val="785"/>
              </a:spcBef>
            </a:pPr>
            <a:r>
              <a:rPr dirty="0" sz="1150" spc="10" b="1">
                <a:latin typeface="Garamond"/>
                <a:cs typeface="Garamond"/>
              </a:rPr>
              <a:t>Post</a:t>
            </a:r>
            <a:r>
              <a:rPr dirty="0" sz="1150" spc="-65" b="1">
                <a:latin typeface="Garamond"/>
                <a:cs typeface="Garamond"/>
              </a:rPr>
              <a:t> </a:t>
            </a:r>
            <a:r>
              <a:rPr dirty="0" sz="1150" spc="20" b="1">
                <a:latin typeface="Garamond"/>
                <a:cs typeface="Garamond"/>
              </a:rPr>
              <a:t>Office</a:t>
            </a:r>
            <a:endParaRPr sz="1150">
              <a:latin typeface="Garamond"/>
              <a:cs typeface="Garamond"/>
            </a:endParaRPr>
          </a:p>
          <a:p>
            <a:pPr marL="336550">
              <a:lnSpc>
                <a:spcPts val="1375"/>
              </a:lnSpc>
            </a:pPr>
            <a:r>
              <a:rPr dirty="0" sz="1200" spc="-10" b="1">
                <a:latin typeface="Garamond"/>
                <a:cs typeface="Garamond"/>
              </a:rPr>
              <a:t>Processing</a:t>
            </a:r>
            <a:endParaRPr sz="12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91125" y="7639303"/>
            <a:ext cx="1381125" cy="5715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99695" rIns="0" bIns="0" rtlCol="0" vert="horz">
            <a:spAutoFit/>
          </a:bodyPr>
          <a:lstStyle/>
          <a:p>
            <a:pPr algn="ctr" marL="6350">
              <a:lnSpc>
                <a:spcPts val="1315"/>
              </a:lnSpc>
              <a:spcBef>
                <a:spcPts val="785"/>
              </a:spcBef>
            </a:pPr>
            <a:r>
              <a:rPr dirty="0" sz="1150" spc="15" b="1">
                <a:latin typeface="Garamond"/>
                <a:cs typeface="Garamond"/>
              </a:rPr>
              <a:t>Delivery</a:t>
            </a:r>
            <a:r>
              <a:rPr dirty="0" sz="1150" spc="-30" b="1">
                <a:latin typeface="Garamond"/>
                <a:cs typeface="Garamond"/>
              </a:rPr>
              <a:t> </a:t>
            </a:r>
            <a:r>
              <a:rPr dirty="0" sz="1150" spc="10" b="1">
                <a:latin typeface="Garamond"/>
                <a:cs typeface="Garamond"/>
              </a:rPr>
              <a:t>of</a:t>
            </a:r>
            <a:r>
              <a:rPr dirty="0" sz="1150" spc="25" b="1">
                <a:latin typeface="Garamond"/>
                <a:cs typeface="Garamond"/>
              </a:rPr>
              <a:t> </a:t>
            </a:r>
            <a:r>
              <a:rPr dirty="0" sz="1150" spc="20" b="1">
                <a:latin typeface="Garamond"/>
                <a:cs typeface="Garamond"/>
              </a:rPr>
              <a:t>Check</a:t>
            </a:r>
            <a:endParaRPr sz="1150">
              <a:latin typeface="Garamond"/>
              <a:cs typeface="Garamond"/>
            </a:endParaRPr>
          </a:p>
          <a:p>
            <a:pPr algn="ctr">
              <a:lnSpc>
                <a:spcPts val="1375"/>
              </a:lnSpc>
            </a:pPr>
            <a:r>
              <a:rPr dirty="0" sz="1200" spc="-15" b="1">
                <a:latin typeface="Garamond"/>
                <a:cs typeface="Garamond"/>
              </a:rPr>
              <a:t>to</a:t>
            </a:r>
            <a:r>
              <a:rPr dirty="0" sz="1200" spc="-55" b="1">
                <a:latin typeface="Garamond"/>
                <a:cs typeface="Garamond"/>
              </a:rPr>
              <a:t> </a:t>
            </a:r>
            <a:r>
              <a:rPr dirty="0" sz="1200" spc="-5" b="1">
                <a:latin typeface="Garamond"/>
                <a:cs typeface="Garamond"/>
              </a:rPr>
              <a:t>supplier</a:t>
            </a:r>
            <a:endParaRPr sz="1200">
              <a:latin typeface="Garamond"/>
              <a:cs typeface="Garamon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81600" y="8639428"/>
            <a:ext cx="1381125" cy="5715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15570" rIns="0" bIns="0" rtlCol="0" vert="horz">
            <a:spAutoFit/>
          </a:bodyPr>
          <a:lstStyle/>
          <a:p>
            <a:pPr marL="202565" marR="182245" indent="-13970">
              <a:lnSpc>
                <a:spcPts val="1300"/>
              </a:lnSpc>
              <a:spcBef>
                <a:spcPts val="910"/>
              </a:spcBef>
            </a:pPr>
            <a:r>
              <a:rPr dirty="0" sz="1150" spc="15" b="1">
                <a:latin typeface="Garamond"/>
                <a:cs typeface="Garamond"/>
              </a:rPr>
              <a:t>Deposit</a:t>
            </a:r>
            <a:r>
              <a:rPr dirty="0" sz="1150" spc="-40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goes</a:t>
            </a:r>
            <a:r>
              <a:rPr dirty="0" sz="1150" spc="10" b="1">
                <a:latin typeface="Garamond"/>
                <a:cs typeface="Garamond"/>
              </a:rPr>
              <a:t> </a:t>
            </a:r>
            <a:r>
              <a:rPr dirty="0" sz="1150" spc="5" b="1">
                <a:latin typeface="Garamond"/>
                <a:cs typeface="Garamond"/>
              </a:rPr>
              <a:t>to </a:t>
            </a:r>
            <a:r>
              <a:rPr dirty="0" sz="1150" spc="-275" b="1">
                <a:latin typeface="Garamond"/>
                <a:cs typeface="Garamond"/>
              </a:rPr>
              <a:t> </a:t>
            </a:r>
            <a:r>
              <a:rPr dirty="0" sz="1150" spc="15" b="1">
                <a:latin typeface="Garamond"/>
                <a:cs typeface="Garamond"/>
              </a:rPr>
              <a:t>supplier’s</a:t>
            </a:r>
            <a:r>
              <a:rPr dirty="0" sz="1150" spc="-70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bank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71850" y="8639428"/>
            <a:ext cx="1304925" cy="5715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15570" rIns="0" bIns="0" rtlCol="0" vert="horz">
            <a:spAutoFit/>
          </a:bodyPr>
          <a:lstStyle/>
          <a:p>
            <a:pPr marL="474980" marR="215265" indent="-252095">
              <a:lnSpc>
                <a:spcPts val="1300"/>
              </a:lnSpc>
              <a:spcBef>
                <a:spcPts val="910"/>
              </a:spcBef>
            </a:pPr>
            <a:r>
              <a:rPr dirty="0" sz="1150" spc="15" b="1">
                <a:latin typeface="Garamond"/>
                <a:cs typeface="Garamond"/>
              </a:rPr>
              <a:t>Bank</a:t>
            </a:r>
            <a:r>
              <a:rPr dirty="0" sz="1150" spc="-25" b="1">
                <a:latin typeface="Garamond"/>
                <a:cs typeface="Garamond"/>
              </a:rPr>
              <a:t> </a:t>
            </a:r>
            <a:r>
              <a:rPr dirty="0" sz="1150" spc="10" b="1">
                <a:latin typeface="Garamond"/>
                <a:cs typeface="Garamond"/>
              </a:rPr>
              <a:t>collects </a:t>
            </a:r>
            <a:r>
              <a:rPr dirty="0" sz="1150" spc="-275" b="1">
                <a:latin typeface="Garamond"/>
                <a:cs typeface="Garamond"/>
              </a:rPr>
              <a:t> </a:t>
            </a:r>
            <a:r>
              <a:rPr dirty="0" sz="1150" spc="10" b="1">
                <a:latin typeface="Garamond"/>
                <a:cs typeface="Garamond"/>
              </a:rPr>
              <a:t>funds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90825" y="7856473"/>
            <a:ext cx="504825" cy="118110"/>
          </a:xfrm>
          <a:custGeom>
            <a:avLst/>
            <a:gdLst/>
            <a:ahLst/>
            <a:cxnLst/>
            <a:rect l="l" t="t" r="r" b="b"/>
            <a:pathLst>
              <a:path w="504825" h="118109">
                <a:moveTo>
                  <a:pt x="454496" y="58991"/>
                </a:moveTo>
                <a:lnTo>
                  <a:pt x="391032" y="96011"/>
                </a:lnTo>
                <a:lnTo>
                  <a:pt x="389000" y="103758"/>
                </a:lnTo>
                <a:lnTo>
                  <a:pt x="392556" y="109854"/>
                </a:lnTo>
                <a:lnTo>
                  <a:pt x="395986" y="115950"/>
                </a:lnTo>
                <a:lnTo>
                  <a:pt x="403860" y="117982"/>
                </a:lnTo>
                <a:lnTo>
                  <a:pt x="409829" y="114426"/>
                </a:lnTo>
                <a:lnTo>
                  <a:pt x="483036" y="71754"/>
                </a:lnTo>
                <a:lnTo>
                  <a:pt x="479678" y="71754"/>
                </a:lnTo>
                <a:lnTo>
                  <a:pt x="479678" y="69976"/>
                </a:lnTo>
                <a:lnTo>
                  <a:pt x="473328" y="69976"/>
                </a:lnTo>
                <a:lnTo>
                  <a:pt x="454496" y="58991"/>
                </a:lnTo>
                <a:close/>
              </a:path>
              <a:path w="504825" h="118109">
                <a:moveTo>
                  <a:pt x="432834" y="46354"/>
                </a:moveTo>
                <a:lnTo>
                  <a:pt x="0" y="46354"/>
                </a:lnTo>
                <a:lnTo>
                  <a:pt x="0" y="71754"/>
                </a:lnTo>
                <a:lnTo>
                  <a:pt x="432616" y="71754"/>
                </a:lnTo>
                <a:lnTo>
                  <a:pt x="454496" y="58991"/>
                </a:lnTo>
                <a:lnTo>
                  <a:pt x="432834" y="46354"/>
                </a:lnTo>
                <a:close/>
              </a:path>
              <a:path w="504825" h="118109">
                <a:moveTo>
                  <a:pt x="483086" y="46354"/>
                </a:moveTo>
                <a:lnTo>
                  <a:pt x="479678" y="46354"/>
                </a:lnTo>
                <a:lnTo>
                  <a:pt x="479678" y="71754"/>
                </a:lnTo>
                <a:lnTo>
                  <a:pt x="483036" y="71754"/>
                </a:lnTo>
                <a:lnTo>
                  <a:pt x="504825" y="59054"/>
                </a:lnTo>
                <a:lnTo>
                  <a:pt x="483086" y="46354"/>
                </a:lnTo>
                <a:close/>
              </a:path>
              <a:path w="504825" h="118109">
                <a:moveTo>
                  <a:pt x="473328" y="48005"/>
                </a:moveTo>
                <a:lnTo>
                  <a:pt x="454496" y="58991"/>
                </a:lnTo>
                <a:lnTo>
                  <a:pt x="473328" y="69976"/>
                </a:lnTo>
                <a:lnTo>
                  <a:pt x="473328" y="48005"/>
                </a:lnTo>
                <a:close/>
              </a:path>
              <a:path w="504825" h="118109">
                <a:moveTo>
                  <a:pt x="479678" y="48005"/>
                </a:moveTo>
                <a:lnTo>
                  <a:pt x="473328" y="48005"/>
                </a:lnTo>
                <a:lnTo>
                  <a:pt x="473328" y="69976"/>
                </a:lnTo>
                <a:lnTo>
                  <a:pt x="479678" y="69976"/>
                </a:lnTo>
                <a:lnTo>
                  <a:pt x="479678" y="48005"/>
                </a:lnTo>
                <a:close/>
              </a:path>
              <a:path w="504825" h="118109">
                <a:moveTo>
                  <a:pt x="403860" y="0"/>
                </a:moveTo>
                <a:lnTo>
                  <a:pt x="395986" y="2158"/>
                </a:lnTo>
                <a:lnTo>
                  <a:pt x="392556" y="8127"/>
                </a:lnTo>
                <a:lnTo>
                  <a:pt x="389000" y="14223"/>
                </a:lnTo>
                <a:lnTo>
                  <a:pt x="391032" y="21970"/>
                </a:lnTo>
                <a:lnTo>
                  <a:pt x="454496" y="58991"/>
                </a:lnTo>
                <a:lnTo>
                  <a:pt x="473328" y="48005"/>
                </a:lnTo>
                <a:lnTo>
                  <a:pt x="479678" y="48005"/>
                </a:lnTo>
                <a:lnTo>
                  <a:pt x="479678" y="46354"/>
                </a:lnTo>
                <a:lnTo>
                  <a:pt x="483086" y="46354"/>
                </a:lnTo>
                <a:lnTo>
                  <a:pt x="409829" y="3555"/>
                </a:lnTo>
                <a:lnTo>
                  <a:pt x="4038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686300" y="7856473"/>
            <a:ext cx="504825" cy="118110"/>
          </a:xfrm>
          <a:custGeom>
            <a:avLst/>
            <a:gdLst/>
            <a:ahLst/>
            <a:cxnLst/>
            <a:rect l="l" t="t" r="r" b="b"/>
            <a:pathLst>
              <a:path w="504825" h="118109">
                <a:moveTo>
                  <a:pt x="454496" y="58991"/>
                </a:moveTo>
                <a:lnTo>
                  <a:pt x="391033" y="96011"/>
                </a:lnTo>
                <a:lnTo>
                  <a:pt x="389000" y="103758"/>
                </a:lnTo>
                <a:lnTo>
                  <a:pt x="392557" y="109854"/>
                </a:lnTo>
                <a:lnTo>
                  <a:pt x="395986" y="115950"/>
                </a:lnTo>
                <a:lnTo>
                  <a:pt x="403860" y="117982"/>
                </a:lnTo>
                <a:lnTo>
                  <a:pt x="409828" y="114426"/>
                </a:lnTo>
                <a:lnTo>
                  <a:pt x="483036" y="71754"/>
                </a:lnTo>
                <a:lnTo>
                  <a:pt x="479678" y="71754"/>
                </a:lnTo>
                <a:lnTo>
                  <a:pt x="479678" y="69976"/>
                </a:lnTo>
                <a:lnTo>
                  <a:pt x="473328" y="69976"/>
                </a:lnTo>
                <a:lnTo>
                  <a:pt x="454496" y="58991"/>
                </a:lnTo>
                <a:close/>
              </a:path>
              <a:path w="504825" h="118109">
                <a:moveTo>
                  <a:pt x="432834" y="46354"/>
                </a:moveTo>
                <a:lnTo>
                  <a:pt x="0" y="46354"/>
                </a:lnTo>
                <a:lnTo>
                  <a:pt x="0" y="71754"/>
                </a:lnTo>
                <a:lnTo>
                  <a:pt x="432616" y="71754"/>
                </a:lnTo>
                <a:lnTo>
                  <a:pt x="454496" y="58991"/>
                </a:lnTo>
                <a:lnTo>
                  <a:pt x="432834" y="46354"/>
                </a:lnTo>
                <a:close/>
              </a:path>
              <a:path w="504825" h="118109">
                <a:moveTo>
                  <a:pt x="483086" y="46354"/>
                </a:moveTo>
                <a:lnTo>
                  <a:pt x="479678" y="46354"/>
                </a:lnTo>
                <a:lnTo>
                  <a:pt x="479678" y="71754"/>
                </a:lnTo>
                <a:lnTo>
                  <a:pt x="483036" y="71754"/>
                </a:lnTo>
                <a:lnTo>
                  <a:pt x="504825" y="59054"/>
                </a:lnTo>
                <a:lnTo>
                  <a:pt x="483086" y="46354"/>
                </a:lnTo>
                <a:close/>
              </a:path>
              <a:path w="504825" h="118109">
                <a:moveTo>
                  <a:pt x="473328" y="48005"/>
                </a:moveTo>
                <a:lnTo>
                  <a:pt x="454496" y="58991"/>
                </a:lnTo>
                <a:lnTo>
                  <a:pt x="473328" y="69976"/>
                </a:lnTo>
                <a:lnTo>
                  <a:pt x="473328" y="48005"/>
                </a:lnTo>
                <a:close/>
              </a:path>
              <a:path w="504825" h="118109">
                <a:moveTo>
                  <a:pt x="479678" y="48005"/>
                </a:moveTo>
                <a:lnTo>
                  <a:pt x="473328" y="48005"/>
                </a:lnTo>
                <a:lnTo>
                  <a:pt x="473328" y="69976"/>
                </a:lnTo>
                <a:lnTo>
                  <a:pt x="479678" y="69976"/>
                </a:lnTo>
                <a:lnTo>
                  <a:pt x="479678" y="48005"/>
                </a:lnTo>
                <a:close/>
              </a:path>
              <a:path w="504825" h="118109">
                <a:moveTo>
                  <a:pt x="403860" y="0"/>
                </a:moveTo>
                <a:lnTo>
                  <a:pt x="395986" y="2158"/>
                </a:lnTo>
                <a:lnTo>
                  <a:pt x="392557" y="8127"/>
                </a:lnTo>
                <a:lnTo>
                  <a:pt x="389000" y="14223"/>
                </a:lnTo>
                <a:lnTo>
                  <a:pt x="391033" y="21970"/>
                </a:lnTo>
                <a:lnTo>
                  <a:pt x="454496" y="58991"/>
                </a:lnTo>
                <a:lnTo>
                  <a:pt x="473328" y="48005"/>
                </a:lnTo>
                <a:lnTo>
                  <a:pt x="479678" y="48005"/>
                </a:lnTo>
                <a:lnTo>
                  <a:pt x="479678" y="46354"/>
                </a:lnTo>
                <a:lnTo>
                  <a:pt x="483086" y="46354"/>
                </a:lnTo>
                <a:lnTo>
                  <a:pt x="409828" y="3555"/>
                </a:lnTo>
                <a:lnTo>
                  <a:pt x="4038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08471" y="8210803"/>
            <a:ext cx="118110" cy="419100"/>
          </a:xfrm>
          <a:custGeom>
            <a:avLst/>
            <a:gdLst/>
            <a:ahLst/>
            <a:cxnLst/>
            <a:rect l="l" t="t" r="r" b="b"/>
            <a:pathLst>
              <a:path w="118110" h="419100">
                <a:moveTo>
                  <a:pt x="14097" y="303148"/>
                </a:moveTo>
                <a:lnTo>
                  <a:pt x="8127" y="306704"/>
                </a:lnTo>
                <a:lnTo>
                  <a:pt x="2031" y="310260"/>
                </a:lnTo>
                <a:lnTo>
                  <a:pt x="0" y="318007"/>
                </a:lnTo>
                <a:lnTo>
                  <a:pt x="58927" y="419099"/>
                </a:lnTo>
                <a:lnTo>
                  <a:pt x="73585" y="393953"/>
                </a:lnTo>
                <a:lnTo>
                  <a:pt x="46227" y="393953"/>
                </a:lnTo>
                <a:lnTo>
                  <a:pt x="46227" y="346982"/>
                </a:lnTo>
                <a:lnTo>
                  <a:pt x="25400" y="311276"/>
                </a:lnTo>
                <a:lnTo>
                  <a:pt x="21970" y="305307"/>
                </a:lnTo>
                <a:lnTo>
                  <a:pt x="14097" y="303148"/>
                </a:lnTo>
                <a:close/>
              </a:path>
              <a:path w="118110" h="419100">
                <a:moveTo>
                  <a:pt x="46227" y="346982"/>
                </a:moveTo>
                <a:lnTo>
                  <a:pt x="46227" y="393953"/>
                </a:lnTo>
                <a:lnTo>
                  <a:pt x="71627" y="393953"/>
                </a:lnTo>
                <a:lnTo>
                  <a:pt x="71627" y="387476"/>
                </a:lnTo>
                <a:lnTo>
                  <a:pt x="48005" y="387476"/>
                </a:lnTo>
                <a:lnTo>
                  <a:pt x="58927" y="368753"/>
                </a:lnTo>
                <a:lnTo>
                  <a:pt x="46227" y="346982"/>
                </a:lnTo>
                <a:close/>
              </a:path>
              <a:path w="118110" h="419100">
                <a:moveTo>
                  <a:pt x="103758" y="303148"/>
                </a:moveTo>
                <a:lnTo>
                  <a:pt x="95885" y="305307"/>
                </a:lnTo>
                <a:lnTo>
                  <a:pt x="92455" y="311276"/>
                </a:lnTo>
                <a:lnTo>
                  <a:pt x="71627" y="346982"/>
                </a:lnTo>
                <a:lnTo>
                  <a:pt x="71627" y="393953"/>
                </a:lnTo>
                <a:lnTo>
                  <a:pt x="73585" y="393953"/>
                </a:lnTo>
                <a:lnTo>
                  <a:pt x="117855" y="318007"/>
                </a:lnTo>
                <a:lnTo>
                  <a:pt x="115824" y="310260"/>
                </a:lnTo>
                <a:lnTo>
                  <a:pt x="109727" y="306704"/>
                </a:lnTo>
                <a:lnTo>
                  <a:pt x="103758" y="303148"/>
                </a:lnTo>
                <a:close/>
              </a:path>
              <a:path w="118110" h="419100">
                <a:moveTo>
                  <a:pt x="58927" y="368753"/>
                </a:moveTo>
                <a:lnTo>
                  <a:pt x="48005" y="387476"/>
                </a:lnTo>
                <a:lnTo>
                  <a:pt x="69850" y="387476"/>
                </a:lnTo>
                <a:lnTo>
                  <a:pt x="58927" y="368753"/>
                </a:lnTo>
                <a:close/>
              </a:path>
              <a:path w="118110" h="419100">
                <a:moveTo>
                  <a:pt x="71627" y="346982"/>
                </a:moveTo>
                <a:lnTo>
                  <a:pt x="58927" y="368753"/>
                </a:lnTo>
                <a:lnTo>
                  <a:pt x="69850" y="387476"/>
                </a:lnTo>
                <a:lnTo>
                  <a:pt x="71627" y="387476"/>
                </a:lnTo>
                <a:lnTo>
                  <a:pt x="71627" y="346982"/>
                </a:lnTo>
                <a:close/>
              </a:path>
              <a:path w="118110" h="419100">
                <a:moveTo>
                  <a:pt x="71627" y="0"/>
                </a:moveTo>
                <a:lnTo>
                  <a:pt x="46227" y="0"/>
                </a:lnTo>
                <a:lnTo>
                  <a:pt x="46227" y="346982"/>
                </a:lnTo>
                <a:lnTo>
                  <a:pt x="58927" y="368753"/>
                </a:lnTo>
                <a:lnTo>
                  <a:pt x="71627" y="346982"/>
                </a:lnTo>
                <a:lnTo>
                  <a:pt x="716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676775" y="8866123"/>
            <a:ext cx="514350" cy="118110"/>
          </a:xfrm>
          <a:custGeom>
            <a:avLst/>
            <a:gdLst/>
            <a:ahLst/>
            <a:cxnLst/>
            <a:rect l="l" t="t" r="r" b="b"/>
            <a:pathLst>
              <a:path w="514350" h="118109">
                <a:moveTo>
                  <a:pt x="100964" y="0"/>
                </a:moveTo>
                <a:lnTo>
                  <a:pt x="94996" y="3555"/>
                </a:lnTo>
                <a:lnTo>
                  <a:pt x="0" y="59054"/>
                </a:lnTo>
                <a:lnTo>
                  <a:pt x="94996" y="114426"/>
                </a:lnTo>
                <a:lnTo>
                  <a:pt x="100964" y="117982"/>
                </a:lnTo>
                <a:lnTo>
                  <a:pt x="108838" y="115950"/>
                </a:lnTo>
                <a:lnTo>
                  <a:pt x="112267" y="109854"/>
                </a:lnTo>
                <a:lnTo>
                  <a:pt x="115824" y="103758"/>
                </a:lnTo>
                <a:lnTo>
                  <a:pt x="113791" y="96011"/>
                </a:lnTo>
                <a:lnTo>
                  <a:pt x="72208" y="71754"/>
                </a:lnTo>
                <a:lnTo>
                  <a:pt x="25146" y="71754"/>
                </a:lnTo>
                <a:lnTo>
                  <a:pt x="25146" y="46354"/>
                </a:lnTo>
                <a:lnTo>
                  <a:pt x="71990" y="46354"/>
                </a:lnTo>
                <a:lnTo>
                  <a:pt x="113791" y="21970"/>
                </a:lnTo>
                <a:lnTo>
                  <a:pt x="115824" y="14223"/>
                </a:lnTo>
                <a:lnTo>
                  <a:pt x="112267" y="8127"/>
                </a:lnTo>
                <a:lnTo>
                  <a:pt x="108838" y="2158"/>
                </a:lnTo>
                <a:lnTo>
                  <a:pt x="100964" y="0"/>
                </a:lnTo>
                <a:close/>
              </a:path>
              <a:path w="514350" h="118109">
                <a:moveTo>
                  <a:pt x="71990" y="46354"/>
                </a:moveTo>
                <a:lnTo>
                  <a:pt x="25146" y="46354"/>
                </a:lnTo>
                <a:lnTo>
                  <a:pt x="25146" y="71754"/>
                </a:lnTo>
                <a:lnTo>
                  <a:pt x="72208" y="71754"/>
                </a:lnTo>
                <a:lnTo>
                  <a:pt x="69160" y="69976"/>
                </a:lnTo>
                <a:lnTo>
                  <a:pt x="31496" y="69976"/>
                </a:lnTo>
                <a:lnTo>
                  <a:pt x="31496" y="48005"/>
                </a:lnTo>
                <a:lnTo>
                  <a:pt x="69160" y="48005"/>
                </a:lnTo>
                <a:lnTo>
                  <a:pt x="71990" y="46354"/>
                </a:lnTo>
                <a:close/>
              </a:path>
              <a:path w="514350" h="118109">
                <a:moveTo>
                  <a:pt x="514350" y="46354"/>
                </a:moveTo>
                <a:lnTo>
                  <a:pt x="71990" y="46354"/>
                </a:lnTo>
                <a:lnTo>
                  <a:pt x="50328" y="58991"/>
                </a:lnTo>
                <a:lnTo>
                  <a:pt x="72208" y="71754"/>
                </a:lnTo>
                <a:lnTo>
                  <a:pt x="514350" y="71754"/>
                </a:lnTo>
                <a:lnTo>
                  <a:pt x="514350" y="46354"/>
                </a:lnTo>
                <a:close/>
              </a:path>
              <a:path w="514350" h="118109">
                <a:moveTo>
                  <a:pt x="31496" y="48005"/>
                </a:moveTo>
                <a:lnTo>
                  <a:pt x="31496" y="69976"/>
                </a:lnTo>
                <a:lnTo>
                  <a:pt x="50328" y="58991"/>
                </a:lnTo>
                <a:lnTo>
                  <a:pt x="31496" y="48005"/>
                </a:lnTo>
                <a:close/>
              </a:path>
              <a:path w="514350" h="118109">
                <a:moveTo>
                  <a:pt x="50328" y="58991"/>
                </a:moveTo>
                <a:lnTo>
                  <a:pt x="31496" y="69976"/>
                </a:lnTo>
                <a:lnTo>
                  <a:pt x="69160" y="69976"/>
                </a:lnTo>
                <a:lnTo>
                  <a:pt x="50328" y="58991"/>
                </a:lnTo>
                <a:close/>
              </a:path>
              <a:path w="514350" h="118109">
                <a:moveTo>
                  <a:pt x="69160" y="48005"/>
                </a:moveTo>
                <a:lnTo>
                  <a:pt x="31496" y="48005"/>
                </a:lnTo>
                <a:lnTo>
                  <a:pt x="50328" y="58991"/>
                </a:lnTo>
                <a:lnTo>
                  <a:pt x="69160" y="48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171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705357"/>
            <a:ext cx="5628640" cy="180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Ethical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5" b="1">
                <a:latin typeface="Garamond"/>
                <a:cs typeface="Garamond"/>
              </a:rPr>
              <a:t>and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Legal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Questions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Garamond"/>
              <a:cs typeface="Garamond"/>
            </a:endParaRPr>
          </a:p>
          <a:p>
            <a:pPr marL="469900" marR="5080" indent="-228600">
              <a:lnSpc>
                <a:spcPts val="115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managers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always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work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collected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balances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company’s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book </a:t>
            </a:r>
            <a:r>
              <a:rPr dirty="0" sz="1100" spc="-5">
                <a:latin typeface="Garamond"/>
                <a:cs typeface="Garamond"/>
              </a:rPr>
              <a:t>balance,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reflects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checks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been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deposited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but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collected.</a:t>
            </a:r>
            <a:endParaRPr sz="1100">
              <a:latin typeface="Garamond"/>
              <a:cs typeface="Garamond"/>
            </a:endParaRPr>
          </a:p>
          <a:p>
            <a:pPr marL="469900" marR="6350" indent="-228600">
              <a:lnSpc>
                <a:spcPts val="1190"/>
              </a:lnSpc>
              <a:spcBef>
                <a:spcPts val="11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borrowing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bank’s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without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knowledge,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you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raising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serious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ethical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legal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questions.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Zero-balance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account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Garamond"/>
              <a:cs typeface="Garamond"/>
            </a:endParaRPr>
          </a:p>
          <a:p>
            <a:pPr marL="469900" marR="5080" indent="-228600">
              <a:lnSpc>
                <a:spcPts val="115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disbursement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maintains</a:t>
            </a:r>
            <a:r>
              <a:rPr dirty="0" sz="1100" spc="5">
                <a:latin typeface="Garamond"/>
                <a:cs typeface="Garamond"/>
              </a:rPr>
              <a:t> 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balance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transferring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funds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master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needed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cover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cheques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presented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4643754"/>
            <a:ext cx="5629275" cy="22726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9900" indent="-229235">
              <a:lnSpc>
                <a:spcPts val="1235"/>
              </a:lnSpc>
              <a:spcBef>
                <a:spcPts val="11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Controlled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disbursement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accounts</a:t>
            </a:r>
            <a:endParaRPr sz="1100">
              <a:latin typeface="Garamond"/>
              <a:cs typeface="Garamond"/>
            </a:endParaRPr>
          </a:p>
          <a:p>
            <a:pPr marL="699135" marR="5080" indent="-229235">
              <a:lnSpc>
                <a:spcPts val="1150"/>
              </a:lnSpc>
              <a:spcBef>
                <a:spcPts val="95"/>
              </a:spcBef>
              <a:tabLst>
                <a:tab pos="6985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disbursement </a:t>
            </a:r>
            <a:r>
              <a:rPr dirty="0" sz="1100">
                <a:latin typeface="Garamond"/>
                <a:cs typeface="Garamond"/>
              </a:rPr>
              <a:t>account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 spc="-5">
                <a:latin typeface="Garamond"/>
                <a:cs typeface="Garamond"/>
              </a:rPr>
              <a:t>which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-5">
                <a:latin typeface="Garamond"/>
                <a:cs typeface="Garamond"/>
              </a:rPr>
              <a:t> transfers </a:t>
            </a:r>
            <a:r>
              <a:rPr dirty="0" sz="1100" spc="10">
                <a:latin typeface="Garamond"/>
                <a:cs typeface="Garamond"/>
              </a:rPr>
              <a:t>an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sufficient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cover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demands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Investing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Idle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Cash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surplus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money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150"/>
              </a:lnSpc>
              <a:spcBef>
                <a:spcPts val="2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Most </a:t>
            </a:r>
            <a:r>
              <a:rPr dirty="0" sz="1100" spc="-5">
                <a:latin typeface="Garamond"/>
                <a:cs typeface="Garamond"/>
              </a:rPr>
              <a:t>large </a:t>
            </a:r>
            <a:r>
              <a:rPr dirty="0" sz="1100">
                <a:latin typeface="Garamond"/>
                <a:cs typeface="Garamond"/>
              </a:rPr>
              <a:t>firms manage </a:t>
            </a:r>
            <a:r>
              <a:rPr dirty="0" sz="1100" spc="5">
                <a:latin typeface="Garamond"/>
                <a:cs typeface="Garamond"/>
              </a:rPr>
              <a:t>their </a:t>
            </a:r>
            <a:r>
              <a:rPr dirty="0" sz="1100">
                <a:latin typeface="Garamond"/>
                <a:cs typeface="Garamond"/>
              </a:rPr>
              <a:t>own short-term financial </a:t>
            </a:r>
            <a:r>
              <a:rPr dirty="0" sz="1100" spc="-5">
                <a:latin typeface="Garamond"/>
                <a:cs typeface="Garamond"/>
              </a:rPr>
              <a:t>assets,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transacting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through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banks 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dealers.</a:t>
            </a:r>
            <a:endParaRPr sz="1100">
              <a:latin typeface="Garamond"/>
              <a:cs typeface="Garamond"/>
            </a:endParaRPr>
          </a:p>
          <a:p>
            <a:pPr marL="469900" marR="12700" indent="-228600">
              <a:lnSpc>
                <a:spcPts val="1190"/>
              </a:lnSpc>
              <a:spcBef>
                <a:spcPts val="1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Some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small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ones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money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mutual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funds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(funds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invest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term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fee).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05"/>
              </a:lnSpc>
            </a:pPr>
            <a:r>
              <a:rPr dirty="0" sz="1100" spc="-5">
                <a:latin typeface="Garamond"/>
                <a:cs typeface="Garamond"/>
              </a:rPr>
              <a:t>Firms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surplus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mostly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reasons: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spcBef>
                <a:spcPts val="12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Seasonal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Cyclical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Activities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Planned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Expenditures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992" y="2678861"/>
            <a:ext cx="5052164" cy="196499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7453" y="7105308"/>
            <a:ext cx="4534772" cy="23704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172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431038"/>
            <a:ext cx="5688965" cy="25469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469900" marR="68580" indent="-228600">
              <a:lnSpc>
                <a:spcPts val="1150"/>
              </a:lnSpc>
              <a:spcBef>
                <a:spcPts val="8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Time</a:t>
            </a:r>
            <a:r>
              <a:rPr dirty="0" sz="1100" spc="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1:</a:t>
            </a:r>
            <a:r>
              <a:rPr dirty="0" sz="1100" spc="25" b="1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surplus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position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exists.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Seasonal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demand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>
                <a:latin typeface="Garamond"/>
                <a:cs typeface="Garamond"/>
              </a:rPr>
              <a:t>current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surplus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invested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short-term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securities.</a:t>
            </a:r>
            <a:endParaRPr sz="1100">
              <a:latin typeface="Garamond"/>
              <a:cs typeface="Garamond"/>
            </a:endParaRPr>
          </a:p>
          <a:p>
            <a:pPr marL="469900" marR="69215" indent="-228600">
              <a:lnSpc>
                <a:spcPts val="1150"/>
              </a:lnSpc>
              <a:spcBef>
                <a:spcPts val="1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b="1">
                <a:latin typeface="Garamond"/>
                <a:cs typeface="Garamond"/>
              </a:rPr>
              <a:t>Time</a:t>
            </a:r>
            <a:r>
              <a:rPr dirty="0" sz="1100" spc="105" b="1">
                <a:latin typeface="Garamond"/>
                <a:cs typeface="Garamond"/>
              </a:rPr>
              <a:t> </a:t>
            </a:r>
            <a:r>
              <a:rPr dirty="0" sz="1100" spc="10" b="1">
                <a:latin typeface="Garamond"/>
                <a:cs typeface="Garamond"/>
              </a:rPr>
              <a:t>2:</a:t>
            </a:r>
            <a:r>
              <a:rPr dirty="0" sz="1100" spc="135" b="1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deficit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flow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exists.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Seasonal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demand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high.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deficit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selling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marketable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securities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borrowing.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Credits</a:t>
            </a:r>
            <a:r>
              <a:rPr dirty="0" sz="1100" spc="-5" b="1">
                <a:latin typeface="Garamond"/>
                <a:cs typeface="Garamond"/>
              </a:rPr>
              <a:t> and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Receivables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obvious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reason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granting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customers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stimulate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4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associated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granting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trivial.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Chance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customer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5">
                <a:latin typeface="Garamond"/>
                <a:cs typeface="Garamond"/>
              </a:rPr>
              <a:t> not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Cost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carrying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receivables</a:t>
            </a:r>
            <a:endParaRPr sz="1100">
              <a:latin typeface="Garamond"/>
              <a:cs typeface="Garamond"/>
            </a:endParaRPr>
          </a:p>
          <a:p>
            <a:pPr marL="469900" marR="68580" indent="-228600">
              <a:lnSpc>
                <a:spcPts val="1150"/>
              </a:lnSpc>
              <a:spcBef>
                <a:spcPts val="19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decisions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involve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trade-off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benefits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increased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granting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76629" y="5622416"/>
            <a:ext cx="5630545" cy="37680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Components</a:t>
            </a:r>
            <a:r>
              <a:rPr dirty="0" sz="1100" spc="-3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of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10" b="1">
                <a:latin typeface="Garamond"/>
                <a:cs typeface="Garamond"/>
              </a:rPr>
              <a:t>Credit</a:t>
            </a:r>
            <a:r>
              <a:rPr dirty="0" sz="1100" spc="1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Policy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Garamond"/>
              <a:cs typeface="Garamond"/>
            </a:endParaRPr>
          </a:p>
          <a:p>
            <a:pPr marL="469900" indent="-229235">
              <a:lnSpc>
                <a:spcPts val="123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u="sng" sz="1100" spc="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Terms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of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sale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25"/>
              </a:lnSpc>
            </a:pPr>
            <a:r>
              <a:rPr dirty="0" sz="1100">
                <a:latin typeface="Garamond"/>
                <a:cs typeface="Garamond"/>
              </a:rPr>
              <a:t>Conditions </a:t>
            </a:r>
            <a:r>
              <a:rPr dirty="0" sz="1100" spc="-5">
                <a:latin typeface="Garamond"/>
                <a:cs typeface="Garamond"/>
              </a:rPr>
              <a:t>under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sells its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goods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services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credit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4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Credit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45"/>
              </a:lnSpc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process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determining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probability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4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u="sng" sz="110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Collection</a:t>
            </a:r>
            <a:r>
              <a:rPr dirty="0" u="sng" sz="1100" spc="-50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Garamond"/>
                <a:cs typeface="Garamond"/>
              </a:rPr>
              <a:t>Policy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255"/>
              </a:lnSpc>
            </a:pPr>
            <a:r>
              <a:rPr dirty="0" sz="1100">
                <a:latin typeface="Garamond"/>
                <a:cs typeface="Garamond"/>
              </a:rPr>
              <a:t>Procedures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followed</a:t>
            </a:r>
            <a:r>
              <a:rPr dirty="0" sz="1100" spc="5">
                <a:latin typeface="Garamond"/>
                <a:cs typeface="Garamond"/>
              </a:rPr>
              <a:t> 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469900" indent="-229235">
              <a:lnSpc>
                <a:spcPts val="125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composed </a:t>
            </a:r>
            <a:r>
              <a:rPr dirty="0" sz="1100" spc="5">
                <a:latin typeface="Garamond"/>
                <a:cs typeface="Garamond"/>
              </a:rPr>
              <a:t>of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5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Discounts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3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Instruments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55"/>
              </a:lnSpc>
              <a:spcBef>
                <a:spcPts val="11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example,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2/10,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quoted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certain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This </a:t>
            </a:r>
            <a:r>
              <a:rPr dirty="0" sz="1100" spc="-5">
                <a:latin typeface="Garamond"/>
                <a:cs typeface="Garamond"/>
              </a:rPr>
              <a:t>means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customer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 </a:t>
            </a:r>
            <a:r>
              <a:rPr dirty="0" sz="1100">
                <a:latin typeface="Garamond"/>
                <a:cs typeface="Garamond"/>
              </a:rPr>
              <a:t>days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invoice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If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made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within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10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2%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taken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35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 spc="-5">
                <a:latin typeface="Garamond"/>
                <a:cs typeface="Garamond"/>
              </a:rPr>
              <a:t>buyer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places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$1,000 </a:t>
            </a:r>
            <a:r>
              <a:rPr dirty="0" sz="1100">
                <a:latin typeface="Garamond"/>
                <a:cs typeface="Garamond"/>
              </a:rPr>
              <a:t>under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2/10,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60.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option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endParaRPr sz="1100">
              <a:latin typeface="Garamond"/>
              <a:cs typeface="Garamond"/>
            </a:endParaRPr>
          </a:p>
          <a:p>
            <a:pPr marL="469900">
              <a:lnSpc>
                <a:spcPts val="1170"/>
              </a:lnSpc>
              <a:tabLst>
                <a:tab pos="6985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>
                <a:latin typeface="Garamond"/>
                <a:cs typeface="Garamond"/>
              </a:rPr>
              <a:t>paying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(1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.02)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$980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10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days,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5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paying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full </a:t>
            </a:r>
            <a:r>
              <a:rPr dirty="0" sz="1100" spc="-5">
                <a:latin typeface="Garamond"/>
                <a:cs typeface="Garamond"/>
              </a:rPr>
              <a:t>$1,000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60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55"/>
              </a:lnSpc>
              <a:spcBef>
                <a:spcPts val="113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general,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interpreted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as:</a:t>
            </a:r>
            <a:endParaRPr sz="1100">
              <a:latin typeface="Garamond"/>
              <a:cs typeface="Garamond"/>
            </a:endParaRPr>
          </a:p>
          <a:p>
            <a:pPr marL="469900" marR="5080">
              <a:lnSpc>
                <a:spcPts val="1190"/>
              </a:lnSpc>
              <a:spcBef>
                <a:spcPts val="80"/>
              </a:spcBef>
            </a:pPr>
            <a:r>
              <a:rPr dirty="0" sz="1100">
                <a:latin typeface="Garamond"/>
                <a:cs typeface="Garamond"/>
              </a:rPr>
              <a:t>(take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 </a:t>
            </a:r>
            <a:r>
              <a:rPr dirty="0" sz="1100">
                <a:latin typeface="Garamond"/>
                <a:cs typeface="Garamond"/>
              </a:rPr>
              <a:t>discount </a:t>
            </a:r>
            <a:r>
              <a:rPr dirty="0" sz="1100" spc="5">
                <a:latin typeface="Garamond"/>
                <a:cs typeface="Garamond"/>
              </a:rPr>
              <a:t>off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invoice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price)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 </a:t>
            </a:r>
            <a:r>
              <a:rPr dirty="0" sz="1100">
                <a:latin typeface="Garamond"/>
                <a:cs typeface="Garamond"/>
              </a:rPr>
              <a:t>(if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you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 this many days),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(else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pay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full </a:t>
            </a:r>
            <a:r>
              <a:rPr dirty="0" sz="1100" spc="-2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amount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many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days)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069" y="3174483"/>
            <a:ext cx="5334000" cy="22759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173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30595" y="714501"/>
            <a:ext cx="8166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0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44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174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7726" y="888238"/>
            <a:ext cx="219710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5" b="1">
                <a:latin typeface="Garamond"/>
                <a:cs typeface="Garamond"/>
              </a:rPr>
              <a:t>CREDITS</a:t>
            </a:r>
            <a:r>
              <a:rPr dirty="0" sz="1150" spc="-25" b="1">
                <a:latin typeface="Garamond"/>
                <a:cs typeface="Garamond"/>
              </a:rPr>
              <a:t> </a:t>
            </a:r>
            <a:r>
              <a:rPr dirty="0" sz="1150" spc="30" b="1">
                <a:latin typeface="Garamond"/>
                <a:cs typeface="Garamond"/>
              </a:rPr>
              <a:t>AND </a:t>
            </a:r>
            <a:r>
              <a:rPr dirty="0" sz="1150" spc="25" b="1">
                <a:latin typeface="Garamond"/>
                <a:cs typeface="Garamond"/>
              </a:rPr>
              <a:t>RECEIVABLES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6629" y="1217802"/>
            <a:ext cx="5633720" cy="836040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b="1">
                <a:latin typeface="Garamond"/>
                <a:cs typeface="Garamond"/>
              </a:rPr>
              <a:t>Credit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basic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length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granted.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offered,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ct val="100000"/>
              </a:lnSpc>
              <a:spcBef>
                <a:spcPts val="50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</a:t>
            </a:r>
            <a:r>
              <a:rPr dirty="0" sz="1100" spc="-40">
                <a:latin typeface="Garamond"/>
                <a:cs typeface="Garamond"/>
              </a:rPr>
              <a:t>r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20">
                <a:latin typeface="Garamond"/>
                <a:cs typeface="Garamond"/>
              </a:rPr>
              <a:t>d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5">
                <a:latin typeface="Garamond"/>
                <a:cs typeface="Garamond"/>
              </a:rPr>
              <a:t>e</a:t>
            </a:r>
            <a:r>
              <a:rPr dirty="0" sz="1100" spc="-5">
                <a:latin typeface="Garamond"/>
                <a:cs typeface="Garamond"/>
              </a:rPr>
              <a:t>r</a:t>
            </a:r>
            <a:r>
              <a:rPr dirty="0" sz="1100" spc="-40">
                <a:latin typeface="Garamond"/>
                <a:cs typeface="Garamond"/>
              </a:rPr>
              <a:t>i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MS Gothic"/>
                <a:cs typeface="MS Gothic"/>
              </a:rPr>
              <a:t>–</a:t>
            </a:r>
            <a:r>
              <a:rPr dirty="0" sz="1100" spc="-280">
                <a:latin typeface="MS Gothic"/>
                <a:cs typeface="MS Gothic"/>
              </a:rPr>
              <a:t> </a:t>
            </a:r>
            <a:r>
              <a:rPr dirty="0" sz="1100" spc="-5">
                <a:latin typeface="Garamond"/>
                <a:cs typeface="Garamond"/>
              </a:rPr>
              <a:t>l</a:t>
            </a:r>
            <a:r>
              <a:rPr dirty="0" sz="1100" spc="-30">
                <a:latin typeface="Garamond"/>
                <a:cs typeface="Garamond"/>
              </a:rPr>
              <a:t>e</a:t>
            </a:r>
            <a:r>
              <a:rPr dirty="0" sz="1100" spc="10">
                <a:latin typeface="Garamond"/>
                <a:cs typeface="Garamond"/>
              </a:rPr>
              <a:t>n</a:t>
            </a:r>
            <a:r>
              <a:rPr dirty="0" sz="1100" spc="5">
                <a:latin typeface="Garamond"/>
                <a:cs typeface="Garamond"/>
              </a:rPr>
              <a:t>gth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5">
                <a:latin typeface="Garamond"/>
                <a:cs typeface="Garamond"/>
              </a:rPr>
              <a:t>i</a:t>
            </a:r>
            <a:r>
              <a:rPr dirty="0" sz="1100" spc="5">
                <a:latin typeface="Garamond"/>
                <a:cs typeface="Garamond"/>
              </a:rPr>
              <a:t>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</a:t>
            </a:r>
            <a:r>
              <a:rPr dirty="0" sz="1100">
                <a:latin typeface="Garamond"/>
                <a:cs typeface="Garamond"/>
              </a:rPr>
              <a:t>u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>
                <a:latin typeface="Garamond"/>
                <a:cs typeface="Garamond"/>
              </a:rPr>
              <a:t>t</a:t>
            </a:r>
            <a:r>
              <a:rPr dirty="0" sz="1100" spc="-30">
                <a:latin typeface="Garamond"/>
                <a:cs typeface="Garamond"/>
              </a:rPr>
              <a:t>o</a:t>
            </a:r>
            <a:r>
              <a:rPr dirty="0" sz="1100" spc="5">
                <a:latin typeface="Garamond"/>
                <a:cs typeface="Garamond"/>
              </a:rPr>
              <a:t>mer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p</a:t>
            </a:r>
            <a:r>
              <a:rPr dirty="0" sz="1100" spc="-20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ct val="100000"/>
              </a:lnSpc>
              <a:spcBef>
                <a:spcPts val="10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5">
                <a:latin typeface="MS Gothic"/>
                <a:cs typeface="MS Gothic"/>
              </a:rPr>
              <a:t>–</a:t>
            </a:r>
            <a:r>
              <a:rPr dirty="0" sz="1100" spc="-245">
                <a:latin typeface="MS Gothic"/>
                <a:cs typeface="MS Gothic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during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available</a:t>
            </a:r>
            <a:endParaRPr sz="1100">
              <a:latin typeface="Garamond"/>
              <a:cs typeface="Garamond"/>
            </a:endParaRPr>
          </a:p>
          <a:p>
            <a:pPr marL="469900" marR="17145" indent="-228600">
              <a:lnSpc>
                <a:spcPts val="1190"/>
              </a:lnSpc>
              <a:spcBef>
                <a:spcPts val="16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Invoice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date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shipping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date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billing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date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invoice,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written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merchandise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shipped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buyer.</a:t>
            </a:r>
            <a:endParaRPr sz="1100">
              <a:latin typeface="Garamond"/>
              <a:cs typeface="Garamond"/>
            </a:endParaRPr>
          </a:p>
          <a:p>
            <a:pPr marL="469900" marR="12065" indent="-228600">
              <a:lnSpc>
                <a:spcPts val="1190"/>
              </a:lnSpc>
              <a:spcBef>
                <a:spcPts val="1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Two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important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factors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influencing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length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buyer’s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cycle.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shorter</a:t>
            </a:r>
            <a:r>
              <a:rPr dirty="0" sz="1100" spc="5">
                <a:latin typeface="Garamond"/>
                <a:cs typeface="Garamond"/>
              </a:rPr>
              <a:t> 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know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cycle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3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Receivables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marL="469900" marR="14604" indent="-228600">
              <a:lnSpc>
                <a:spcPts val="1150"/>
              </a:lnSpc>
              <a:spcBef>
                <a:spcPts val="19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extending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finance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portion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 </a:t>
            </a:r>
            <a:r>
              <a:rPr dirty="0" sz="1100" spc="-5">
                <a:latin typeface="Garamond"/>
                <a:cs typeface="Garamond"/>
              </a:rPr>
              <a:t>buyer’s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shorten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buyer’s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cycle.</a:t>
            </a:r>
            <a:endParaRPr sz="1100">
              <a:latin typeface="Garamond"/>
              <a:cs typeface="Garamond"/>
            </a:endParaRPr>
          </a:p>
          <a:p>
            <a:pPr marL="469900" marR="8890" indent="-228600">
              <a:lnSpc>
                <a:spcPts val="1150"/>
              </a:lnSpc>
              <a:spcBef>
                <a:spcPts val="1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 our credit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exceeds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buyer’s inventory</a:t>
            </a:r>
            <a:r>
              <a:rPr dirty="0" sz="1100">
                <a:latin typeface="Garamond"/>
                <a:cs typeface="Garamond"/>
              </a:rPr>
              <a:t> period,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>
                <a:latin typeface="Garamond"/>
                <a:cs typeface="Garamond"/>
              </a:rPr>
              <a:t> are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only </a:t>
            </a:r>
            <a:r>
              <a:rPr dirty="0" sz="1100" spc="-5">
                <a:latin typeface="Garamond"/>
                <a:cs typeface="Garamond"/>
              </a:rPr>
              <a:t>financing</a:t>
            </a:r>
            <a:r>
              <a:rPr dirty="0" sz="1100">
                <a:latin typeface="Garamond"/>
                <a:cs typeface="Garamond"/>
              </a:rPr>
              <a:t> buyer’s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purchases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buyer’s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well.</a:t>
            </a:r>
            <a:endParaRPr sz="1100">
              <a:latin typeface="Garamond"/>
              <a:cs typeface="Garamond"/>
            </a:endParaRPr>
          </a:p>
          <a:p>
            <a:pPr marL="469900" marR="13335" indent="-228600">
              <a:lnSpc>
                <a:spcPts val="1190"/>
              </a:lnSpc>
              <a:spcBef>
                <a:spcPts val="1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2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credit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2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exceeds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buyer’s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cycle,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then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providing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financing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customer’s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business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beyond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immediate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purchase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>
                <a:latin typeface="Garamond"/>
                <a:cs typeface="Garamond"/>
              </a:rPr>
              <a:t> merchandise.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3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Buyer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merchandise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resold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Courier New"/>
              <a:buChar char="o"/>
            </a:pPr>
            <a:endParaRPr sz="1000">
              <a:latin typeface="Garamond"/>
              <a:cs typeface="Garamond"/>
            </a:endParaRPr>
          </a:p>
          <a:p>
            <a:pPr marL="469900" indent="-229235">
              <a:lnSpc>
                <a:spcPts val="123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 factors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influence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Perish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ability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collateral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endParaRPr sz="1100">
              <a:latin typeface="Garamond"/>
              <a:cs typeface="Garamond"/>
            </a:endParaRPr>
          </a:p>
          <a:p>
            <a:pPr lvl="2" marL="927735" marR="11430" indent="-228600">
              <a:lnSpc>
                <a:spcPts val="1150"/>
              </a:lnSpc>
              <a:spcBef>
                <a:spcPts val="130"/>
              </a:spcBef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Perishable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rapid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turnover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low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collateral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value;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thus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credit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these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goods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shorter.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1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Consumer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demand</a:t>
            </a:r>
            <a:endParaRPr sz="1100">
              <a:latin typeface="Garamond"/>
              <a:cs typeface="Garamond"/>
            </a:endParaRPr>
          </a:p>
          <a:p>
            <a:pPr lvl="2" marL="927735" marR="13970" indent="-228600">
              <a:lnSpc>
                <a:spcPts val="1150"/>
              </a:lnSpc>
              <a:spcBef>
                <a:spcPts val="114"/>
              </a:spcBef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Well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established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rapid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turnover.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While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newer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slow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moving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require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longer 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periods.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1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Cost,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profitability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standardization</a:t>
            </a:r>
            <a:endParaRPr sz="1100">
              <a:latin typeface="Garamond"/>
              <a:cs typeface="Garamond"/>
            </a:endParaRPr>
          </a:p>
          <a:p>
            <a:pPr lvl="2" marL="927735" marR="15875" indent="-228600">
              <a:lnSpc>
                <a:spcPts val="1190"/>
              </a:lnSpc>
              <a:spcBef>
                <a:spcPts val="80"/>
              </a:spcBef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Inexpensive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standardized </a:t>
            </a:r>
            <a:r>
              <a:rPr dirty="0" sz="1100">
                <a:latin typeface="Garamond"/>
                <a:cs typeface="Garamond"/>
              </a:rPr>
              <a:t>products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markups</a:t>
            </a:r>
            <a:r>
              <a:rPr dirty="0" sz="1100">
                <a:latin typeface="Garamond"/>
                <a:cs typeface="Garamond"/>
              </a:rPr>
              <a:t> 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 turnover </a:t>
            </a:r>
            <a:r>
              <a:rPr dirty="0" sz="1100" spc="-10">
                <a:latin typeface="Garamond"/>
                <a:cs typeface="Garamond"/>
              </a:rPr>
              <a:t>rates,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leading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0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19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Higher 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risk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buyer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 </a:t>
            </a:r>
            <a:r>
              <a:rPr dirty="0" sz="1100" spc="-10">
                <a:latin typeface="Garamond"/>
                <a:cs typeface="Garamond"/>
              </a:rPr>
              <a:t>lead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size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19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smaller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accounts,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periods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 </a:t>
            </a:r>
            <a:r>
              <a:rPr dirty="0" sz="1100" spc="-5">
                <a:latin typeface="Garamond"/>
                <a:cs typeface="Garamond"/>
              </a:rPr>
              <a:t>they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costly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manage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Product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competition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19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competitive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market,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longer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offered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Customer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type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55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 spc="5">
                <a:latin typeface="Garamond"/>
                <a:cs typeface="Garamond"/>
              </a:rPr>
              <a:t>On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case-to-case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basis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100" spc="5" b="1">
                <a:latin typeface="Garamond"/>
                <a:cs typeface="Garamond"/>
              </a:rPr>
              <a:t>Cash</a:t>
            </a:r>
            <a:r>
              <a:rPr dirty="0" sz="1100" spc="-5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discounts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given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induce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prompt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payment.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also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endParaRPr sz="1100">
              <a:latin typeface="Garamond"/>
              <a:cs typeface="Garamond"/>
            </a:endParaRPr>
          </a:p>
          <a:p>
            <a:pPr marL="469900" marR="11430" indent="-228600">
              <a:lnSpc>
                <a:spcPts val="1190"/>
              </a:lnSpc>
              <a:spcBef>
                <a:spcPts val="13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effect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reducing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offered,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trade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 </a:t>
            </a:r>
            <a:r>
              <a:rPr dirty="0" sz="1100" spc="5">
                <a:latin typeface="Garamond"/>
                <a:cs typeface="Garamond"/>
              </a:rPr>
              <a:t>off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against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discount.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8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Buyer</a:t>
            </a:r>
            <a:r>
              <a:rPr dirty="0" sz="1100" spc="-5">
                <a:latin typeface="Garamond"/>
                <a:cs typeface="Garamond"/>
              </a:rPr>
              <a:t> only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expires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way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charging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higher </a:t>
            </a:r>
            <a:r>
              <a:rPr dirty="0" sz="1100" spc="-5">
                <a:latin typeface="Garamond"/>
                <a:cs typeface="Garamond"/>
              </a:rPr>
              <a:t>prices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35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An </a:t>
            </a:r>
            <a:r>
              <a:rPr dirty="0" sz="1100" spc="-5">
                <a:latin typeface="Garamond"/>
                <a:cs typeface="Garamond"/>
              </a:rPr>
              <a:t>example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“3/10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30”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customer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3%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within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event,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within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190"/>
              </a:lnSpc>
              <a:spcBef>
                <a:spcPts val="13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offering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3/10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net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1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essentially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offering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their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20-day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loan.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consider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makes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$1,000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sale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76629" y="431038"/>
            <a:ext cx="3607435" cy="4883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1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  <a:p>
            <a:pPr marL="469900" indent="-229235">
              <a:lnSpc>
                <a:spcPct val="100000"/>
              </a:lnSpc>
              <a:spcBef>
                <a:spcPts val="90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Some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10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take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1871852"/>
            <a:ext cx="3478529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5">
                <a:latin typeface="Garamond"/>
                <a:cs typeface="Garamond"/>
              </a:rPr>
              <a:t> customers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forgo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508" y="3001517"/>
            <a:ext cx="5394960" cy="34226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40665" marR="5080" indent="-228600">
              <a:lnSpc>
                <a:spcPts val="1150"/>
              </a:lnSpc>
              <a:spcBef>
                <a:spcPts val="2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customer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forgoes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3%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discount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30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borrowing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$970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$30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interest: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9144" y="4364481"/>
            <a:ext cx="514984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Garamond"/>
                <a:cs typeface="Garamond"/>
              </a:rPr>
              <a:t>$970</a:t>
            </a:r>
            <a:r>
              <a:rPr dirty="0" sz="1400" spc="-75">
                <a:latin typeface="Garamond"/>
                <a:cs typeface="Garamond"/>
              </a:rPr>
              <a:t> </a:t>
            </a:r>
            <a:r>
              <a:rPr dirty="0" sz="1400">
                <a:latin typeface="Garamond"/>
                <a:cs typeface="Garamond"/>
              </a:rPr>
              <a:t>+</a:t>
            </a:r>
            <a:endParaRPr sz="14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43757" y="4295652"/>
            <a:ext cx="478790" cy="32512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000" spc="15">
                <a:latin typeface="Cambria Math"/>
                <a:cs typeface="Cambria Math"/>
              </a:rPr>
              <a:t>$1,000</a:t>
            </a:r>
            <a:endParaRPr sz="1000">
              <a:latin typeface="Cambria Math"/>
              <a:cs typeface="Cambria Math"/>
            </a:endParaRPr>
          </a:p>
          <a:p>
            <a:pPr marL="282575">
              <a:lnSpc>
                <a:spcPct val="100000"/>
              </a:lnSpc>
              <a:spcBef>
                <a:spcPts val="80"/>
              </a:spcBef>
            </a:pPr>
            <a:r>
              <a:rPr dirty="0" u="sng" sz="8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00" spc="2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20</a:t>
            </a:r>
            <a:r>
              <a:rPr dirty="0" u="sng" sz="800" spc="7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58922" y="4570602"/>
            <a:ext cx="58420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10">
                <a:latin typeface="Cambria Math"/>
                <a:cs typeface="Cambria Math"/>
              </a:rPr>
              <a:t>(1+r)</a:t>
            </a:r>
            <a:r>
              <a:rPr dirty="0" baseline="6944" sz="1200" spc="15">
                <a:latin typeface="Cambria Math"/>
                <a:cs typeface="Cambria Math"/>
              </a:rPr>
              <a:t>365</a:t>
            </a:r>
            <a:endParaRPr baseline="6944" sz="12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097022" y="4500626"/>
            <a:ext cx="508000" cy="9525"/>
          </a:xfrm>
          <a:custGeom>
            <a:avLst/>
            <a:gdLst/>
            <a:ahLst/>
            <a:cxnLst/>
            <a:rect l="l" t="t" r="r" b="b"/>
            <a:pathLst>
              <a:path w="508000" h="9525">
                <a:moveTo>
                  <a:pt x="507796" y="0"/>
                </a:moveTo>
                <a:lnTo>
                  <a:pt x="0" y="0"/>
                </a:lnTo>
                <a:lnTo>
                  <a:pt x="0" y="9143"/>
                </a:lnTo>
                <a:lnTo>
                  <a:pt x="507796" y="9143"/>
                </a:lnTo>
                <a:lnTo>
                  <a:pt x="5077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523744" y="4904358"/>
            <a:ext cx="731520" cy="264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99415">
              <a:lnSpc>
                <a:spcPts val="670"/>
              </a:lnSpc>
              <a:spcBef>
                <a:spcPts val="95"/>
              </a:spcBef>
            </a:pPr>
            <a:r>
              <a:rPr dirty="0" u="sng" sz="65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65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20</a:t>
            </a:r>
            <a:r>
              <a:rPr dirty="0" u="sng" sz="650" spc="4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650">
              <a:latin typeface="Cambria Math"/>
              <a:cs typeface="Cambria Math"/>
            </a:endParaRPr>
          </a:p>
          <a:p>
            <a:pPr marL="38100">
              <a:lnSpc>
                <a:spcPts val="1210"/>
              </a:lnSpc>
            </a:pPr>
            <a:r>
              <a:rPr dirty="0" sz="1100" spc="10">
                <a:latin typeface="Cambria Math"/>
                <a:cs typeface="Cambria Math"/>
              </a:rPr>
              <a:t>(1+r)</a:t>
            </a:r>
            <a:r>
              <a:rPr dirty="0" baseline="8547" sz="975" spc="15">
                <a:latin typeface="Cambria Math"/>
                <a:cs typeface="Cambria Math"/>
              </a:rPr>
              <a:t>365</a:t>
            </a:r>
            <a:r>
              <a:rPr dirty="0" baseline="8547" sz="975" spc="209">
                <a:latin typeface="Cambria Math"/>
                <a:cs typeface="Cambria Math"/>
              </a:rPr>
              <a:t> </a:t>
            </a:r>
            <a:r>
              <a:rPr dirty="0" sz="1100" spc="10">
                <a:latin typeface="Cambria Math"/>
                <a:cs typeface="Cambria Math"/>
              </a:rPr>
              <a:t>=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39770" y="4931790"/>
            <a:ext cx="33718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>
                <a:latin typeface="Cambria Math"/>
                <a:cs typeface="Cambria Math"/>
              </a:rPr>
              <a:t>$</a:t>
            </a:r>
            <a:r>
              <a:rPr dirty="0" sz="800" spc="15">
                <a:latin typeface="Cambria Math"/>
                <a:cs typeface="Cambria Math"/>
              </a:rPr>
              <a:t>1</a:t>
            </a:r>
            <a:r>
              <a:rPr dirty="0" sz="800" spc="10">
                <a:latin typeface="Cambria Math"/>
                <a:cs typeface="Cambria Math"/>
              </a:rPr>
              <a:t>,</a:t>
            </a:r>
            <a:r>
              <a:rPr dirty="0" sz="800" spc="20">
                <a:latin typeface="Cambria Math"/>
                <a:cs typeface="Cambria Math"/>
              </a:rPr>
              <a:t>000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80917" y="5087238"/>
            <a:ext cx="24828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latin typeface="Cambria Math"/>
                <a:cs typeface="Cambria Math"/>
              </a:rPr>
              <a:t>$</a:t>
            </a:r>
            <a:r>
              <a:rPr dirty="0" sz="800" spc="-15">
                <a:latin typeface="Cambria Math"/>
                <a:cs typeface="Cambria Math"/>
              </a:rPr>
              <a:t>9</a:t>
            </a:r>
            <a:r>
              <a:rPr dirty="0" sz="800" spc="20">
                <a:latin typeface="Cambria Math"/>
                <a:cs typeface="Cambria Math"/>
              </a:rPr>
              <a:t>7</a:t>
            </a:r>
            <a:r>
              <a:rPr dirty="0" sz="800" spc="15">
                <a:latin typeface="Cambria Math"/>
                <a:cs typeface="Cambria Math"/>
              </a:rPr>
              <a:t>0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52470" y="5081650"/>
            <a:ext cx="306705" cy="9525"/>
          </a:xfrm>
          <a:custGeom>
            <a:avLst/>
            <a:gdLst/>
            <a:ahLst/>
            <a:cxnLst/>
            <a:rect l="l" t="t" r="r" b="b"/>
            <a:pathLst>
              <a:path w="306704" h="9525">
                <a:moveTo>
                  <a:pt x="306628" y="0"/>
                </a:moveTo>
                <a:lnTo>
                  <a:pt x="0" y="0"/>
                </a:lnTo>
                <a:lnTo>
                  <a:pt x="0" y="9144"/>
                </a:lnTo>
                <a:lnTo>
                  <a:pt x="306628" y="9144"/>
                </a:lnTo>
                <a:lnTo>
                  <a:pt x="3066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207766" y="5380100"/>
            <a:ext cx="17653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35">
                <a:latin typeface="Cambria Math"/>
                <a:cs typeface="Cambria Math"/>
              </a:rPr>
              <a:t>365</a:t>
            </a:r>
            <a:endParaRPr sz="65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20466" y="5502528"/>
            <a:ext cx="146685" cy="5080"/>
          </a:xfrm>
          <a:custGeom>
            <a:avLst/>
            <a:gdLst/>
            <a:ahLst/>
            <a:cxnLst/>
            <a:rect l="l" t="t" r="r" b="b"/>
            <a:pathLst>
              <a:path w="146685" h="5079">
                <a:moveTo>
                  <a:pt x="146608" y="0"/>
                </a:moveTo>
                <a:lnTo>
                  <a:pt x="0" y="0"/>
                </a:lnTo>
                <a:lnTo>
                  <a:pt x="0" y="4571"/>
                </a:lnTo>
                <a:lnTo>
                  <a:pt x="146608" y="4571"/>
                </a:lnTo>
                <a:lnTo>
                  <a:pt x="1466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511044" y="5410484"/>
            <a:ext cx="1155065" cy="3581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305"/>
              </a:spcBef>
            </a:pPr>
            <a:r>
              <a:rPr dirty="0" baseline="-30303" sz="1650" spc="7">
                <a:latin typeface="Cambria Math"/>
                <a:cs typeface="Cambria Math"/>
              </a:rPr>
              <a:t>r</a:t>
            </a:r>
            <a:r>
              <a:rPr dirty="0" baseline="-30303" sz="1650" spc="15">
                <a:latin typeface="Cambria Math"/>
                <a:cs typeface="Cambria Math"/>
              </a:rPr>
              <a:t> </a:t>
            </a:r>
            <a:r>
              <a:rPr dirty="0" baseline="-30303" sz="1650" spc="15">
                <a:latin typeface="Cambria Math"/>
                <a:cs typeface="Cambria Math"/>
              </a:rPr>
              <a:t>=</a:t>
            </a:r>
            <a:r>
              <a:rPr dirty="0" baseline="-30303" sz="1650">
                <a:latin typeface="Cambria Math"/>
                <a:cs typeface="Cambria Math"/>
              </a:rPr>
              <a:t> </a:t>
            </a:r>
            <a:r>
              <a:rPr dirty="0" baseline="-30303" sz="1650" spc="-142">
                <a:latin typeface="Cambria Math"/>
                <a:cs typeface="Cambria Math"/>
              </a:rPr>
              <a:t> </a:t>
            </a:r>
            <a:r>
              <a:rPr dirty="0" baseline="-30303" sz="1650" spc="15">
                <a:latin typeface="Cambria Math"/>
                <a:cs typeface="Cambria Math"/>
              </a:rPr>
              <a:t>[</a:t>
            </a:r>
            <a:r>
              <a:rPr dirty="0" u="sng" baseline="3472" sz="12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$</a:t>
            </a:r>
            <a:r>
              <a:rPr dirty="0" u="sng" baseline="3472" sz="1200" spc="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u="sng" baseline="3472" sz="1200" spc="1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,</a:t>
            </a:r>
            <a:r>
              <a:rPr dirty="0" u="sng" baseline="3472" sz="120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000</a:t>
            </a:r>
            <a:r>
              <a:rPr dirty="0" baseline="-30303" sz="1650" spc="30">
                <a:latin typeface="Cambria Math"/>
                <a:cs typeface="Cambria Math"/>
              </a:rPr>
              <a:t>]</a:t>
            </a:r>
            <a:r>
              <a:rPr dirty="0" baseline="-30303" sz="1650" spc="-112">
                <a:latin typeface="Cambria Math"/>
                <a:cs typeface="Cambria Math"/>
              </a:rPr>
              <a:t> </a:t>
            </a:r>
            <a:r>
              <a:rPr dirty="0" sz="650" spc="35">
                <a:latin typeface="Cambria Math"/>
                <a:cs typeface="Cambria Math"/>
              </a:rPr>
              <a:t>2</a:t>
            </a:r>
            <a:r>
              <a:rPr dirty="0" sz="650" spc="25">
                <a:latin typeface="Cambria Math"/>
                <a:cs typeface="Cambria Math"/>
              </a:rPr>
              <a:t>0</a:t>
            </a:r>
            <a:r>
              <a:rPr dirty="0" sz="650">
                <a:latin typeface="Cambria Math"/>
                <a:cs typeface="Cambria Math"/>
              </a:rPr>
              <a:t>  </a:t>
            </a:r>
            <a:r>
              <a:rPr dirty="0" sz="650" spc="50">
                <a:latin typeface="Cambria Math"/>
                <a:cs typeface="Cambria Math"/>
              </a:rPr>
              <a:t> </a:t>
            </a:r>
            <a:r>
              <a:rPr dirty="0" baseline="-30303" sz="1650" spc="15">
                <a:latin typeface="Cambria Math"/>
                <a:cs typeface="Cambria Math"/>
              </a:rPr>
              <a:t>−</a:t>
            </a:r>
            <a:r>
              <a:rPr dirty="0" baseline="-30303" sz="1650" spc="-52">
                <a:latin typeface="Cambria Math"/>
                <a:cs typeface="Cambria Math"/>
              </a:rPr>
              <a:t> </a:t>
            </a:r>
            <a:r>
              <a:rPr dirty="0" baseline="-30303" sz="1650" spc="7">
                <a:latin typeface="Cambria Math"/>
                <a:cs typeface="Cambria Math"/>
              </a:rPr>
              <a:t>1</a:t>
            </a:r>
            <a:endParaRPr baseline="-30303" sz="1650">
              <a:latin typeface="Cambria Math"/>
              <a:cs typeface="Cambria Math"/>
            </a:endParaRPr>
          </a:p>
          <a:p>
            <a:pPr algn="ctr" marR="145415">
              <a:lnSpc>
                <a:spcPct val="100000"/>
              </a:lnSpc>
              <a:spcBef>
                <a:spcPts val="135"/>
              </a:spcBef>
            </a:pPr>
            <a:r>
              <a:rPr dirty="0" sz="800">
                <a:latin typeface="Cambria Math"/>
                <a:cs typeface="Cambria Math"/>
              </a:rPr>
              <a:t>$970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76629" y="5924549"/>
            <a:ext cx="5630545" cy="3612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384935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Cambria Math"/>
                <a:cs typeface="Cambria Math"/>
              </a:rPr>
              <a:t>r</a:t>
            </a:r>
            <a:r>
              <a:rPr dirty="0" sz="1100" spc="-5">
                <a:latin typeface="Cambria Math"/>
                <a:cs typeface="Cambria Math"/>
              </a:rPr>
              <a:t> </a:t>
            </a:r>
            <a:r>
              <a:rPr dirty="0" sz="1100" spc="10">
                <a:latin typeface="Cambria Math"/>
                <a:cs typeface="Cambria Math"/>
              </a:rPr>
              <a:t>=</a:t>
            </a:r>
            <a:r>
              <a:rPr dirty="0" sz="1100" spc="-5">
                <a:latin typeface="Cambria Math"/>
                <a:cs typeface="Cambria Math"/>
              </a:rPr>
              <a:t> 1.7435</a:t>
            </a:r>
            <a:r>
              <a:rPr dirty="0" sz="1100" spc="-45">
                <a:latin typeface="Cambria Math"/>
                <a:cs typeface="Cambria Math"/>
              </a:rPr>
              <a:t> </a:t>
            </a:r>
            <a:r>
              <a:rPr dirty="0" sz="1100" spc="10">
                <a:latin typeface="Cambria Math"/>
                <a:cs typeface="Cambria Math"/>
              </a:rPr>
              <a:t>−</a:t>
            </a:r>
            <a:r>
              <a:rPr dirty="0" sz="1100" spc="-40">
                <a:latin typeface="Cambria Math"/>
                <a:cs typeface="Cambria Math"/>
              </a:rPr>
              <a:t> </a:t>
            </a:r>
            <a:r>
              <a:rPr dirty="0" sz="1100" spc="5">
                <a:latin typeface="Cambria Math"/>
                <a:cs typeface="Cambria Math"/>
              </a:rPr>
              <a:t>1</a:t>
            </a:r>
            <a:endParaRPr sz="11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300">
              <a:latin typeface="Cambria Math"/>
              <a:cs typeface="Cambria Math"/>
            </a:endParaRPr>
          </a:p>
          <a:p>
            <a:pPr marL="1384935">
              <a:lnSpc>
                <a:spcPct val="100000"/>
              </a:lnSpc>
            </a:pPr>
            <a:r>
              <a:rPr dirty="0" sz="1100" spc="5">
                <a:latin typeface="Cambria Math"/>
                <a:cs typeface="Cambria Math"/>
              </a:rPr>
              <a:t>r</a:t>
            </a:r>
            <a:r>
              <a:rPr dirty="0" sz="1100">
                <a:latin typeface="Cambria Math"/>
                <a:cs typeface="Cambria Math"/>
              </a:rPr>
              <a:t> </a:t>
            </a:r>
            <a:r>
              <a:rPr dirty="0" sz="1100" spc="10">
                <a:latin typeface="Cambria Math"/>
                <a:cs typeface="Cambria Math"/>
              </a:rPr>
              <a:t>=</a:t>
            </a:r>
            <a:r>
              <a:rPr dirty="0" sz="1100" spc="-5">
                <a:latin typeface="Cambria Math"/>
                <a:cs typeface="Cambria Math"/>
              </a:rPr>
              <a:t> 0.7435 </a:t>
            </a:r>
            <a:r>
              <a:rPr dirty="0" sz="1100">
                <a:latin typeface="Cambria Math"/>
                <a:cs typeface="Cambria Math"/>
              </a:rPr>
              <a:t>𝑜𝑟</a:t>
            </a:r>
            <a:r>
              <a:rPr dirty="0" sz="1100" spc="-15">
                <a:latin typeface="Cambria Math"/>
                <a:cs typeface="Cambria Math"/>
              </a:rPr>
              <a:t> </a:t>
            </a:r>
            <a:r>
              <a:rPr dirty="0" sz="1100" spc="-5">
                <a:latin typeface="Cambria Math"/>
                <a:cs typeface="Cambria Math"/>
              </a:rPr>
              <a:t>74.35%</a:t>
            </a:r>
            <a:endParaRPr sz="11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100" b="1">
                <a:latin typeface="Garamond"/>
                <a:cs typeface="Garamond"/>
              </a:rPr>
              <a:t>Credit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Instrument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It</a:t>
            </a:r>
            <a:r>
              <a:rPr dirty="0" sz="1100">
                <a:latin typeface="Garamond"/>
                <a:cs typeface="Garamond"/>
              </a:rPr>
              <a:t> is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basic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evidence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indebtness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offered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—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invoice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only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instrument.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310"/>
              </a:lnSpc>
              <a:spcBef>
                <a:spcPts val="1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Promissory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notes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IOUs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signed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after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delivery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goods</a:t>
            </a:r>
            <a:endParaRPr sz="1100">
              <a:latin typeface="Garamond"/>
              <a:cs typeface="Garamond"/>
            </a:endParaRPr>
          </a:p>
          <a:p>
            <a:pPr marL="469900" marR="6350" indent="-228600">
              <a:lnSpc>
                <a:spcPts val="1190"/>
              </a:lnSpc>
              <a:spcBef>
                <a:spcPts val="1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Commercial</a:t>
            </a:r>
            <a:r>
              <a:rPr dirty="0" sz="1100" spc="5">
                <a:latin typeface="Garamond"/>
                <a:cs typeface="Garamond"/>
              </a:rPr>
              <a:t> drafts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call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customer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specific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specific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date.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draft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customer’s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bank,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customer </a:t>
            </a:r>
            <a:r>
              <a:rPr dirty="0" sz="1100" spc="-5">
                <a:latin typeface="Garamond"/>
                <a:cs typeface="Garamond"/>
              </a:rPr>
              <a:t>signs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draft,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goods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sent.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Banker’s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acceptances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bank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substitute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5">
                <a:latin typeface="Garamond"/>
                <a:cs typeface="Garamond"/>
              </a:rPr>
              <a:t>creditworthiness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a</a:t>
            </a:r>
            <a:r>
              <a:rPr dirty="0" sz="1100" spc="-5">
                <a:latin typeface="Garamond"/>
                <a:cs typeface="Garamond"/>
              </a:rPr>
              <a:t> fee.</a:t>
            </a:r>
            <a:endParaRPr sz="1100">
              <a:latin typeface="Garamond"/>
              <a:cs typeface="Garamond"/>
            </a:endParaRPr>
          </a:p>
          <a:p>
            <a:pPr marL="469900" marR="6350" indent="-228600">
              <a:lnSpc>
                <a:spcPts val="1190"/>
              </a:lnSpc>
              <a:spcBef>
                <a:spcPts val="16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Conditional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contracts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retain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legal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ownership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goods </a:t>
            </a:r>
            <a:r>
              <a:rPr dirty="0" sz="1100">
                <a:latin typeface="Garamond"/>
                <a:cs typeface="Garamond"/>
              </a:rPr>
              <a:t>until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customer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completed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Optimal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Credit</a:t>
            </a:r>
            <a:r>
              <a:rPr dirty="0" sz="1100" spc="-15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Policy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Garamond"/>
              <a:cs typeface="Garamond"/>
            </a:endParaRPr>
          </a:p>
          <a:p>
            <a:pPr algn="just" marL="469900" marR="5080" indent="-228600">
              <a:lnSpc>
                <a:spcPct val="8860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optimal amount is determined </a:t>
            </a:r>
            <a:r>
              <a:rPr dirty="0" sz="1100" spc="-10">
                <a:latin typeface="Garamond"/>
                <a:cs typeface="Garamond"/>
              </a:rPr>
              <a:t>by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point </a:t>
            </a:r>
            <a:r>
              <a:rPr dirty="0" sz="1100" spc="10">
                <a:latin typeface="Garamond"/>
                <a:cs typeface="Garamond"/>
              </a:rPr>
              <a:t>at </a:t>
            </a:r>
            <a:r>
              <a:rPr dirty="0" sz="1100">
                <a:latin typeface="Garamond"/>
                <a:cs typeface="Garamond"/>
              </a:rPr>
              <a:t>which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incremental </a:t>
            </a:r>
            <a:r>
              <a:rPr dirty="0" sz="1100" spc="-5">
                <a:latin typeface="Garamond"/>
                <a:cs typeface="Garamond"/>
              </a:rPr>
              <a:t>cash </a:t>
            </a:r>
            <a:r>
              <a:rPr dirty="0" sz="1100">
                <a:latin typeface="Garamond"/>
                <a:cs typeface="Garamond"/>
              </a:rPr>
              <a:t>flows </a:t>
            </a:r>
            <a:r>
              <a:rPr dirty="0" sz="1100" spc="5">
                <a:latin typeface="Garamond"/>
                <a:cs typeface="Garamond"/>
              </a:rPr>
              <a:t>from 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increased sales are exactly </a:t>
            </a:r>
            <a:r>
              <a:rPr dirty="0" sz="1100" spc="5">
                <a:latin typeface="Garamond"/>
                <a:cs typeface="Garamond"/>
              </a:rPr>
              <a:t>equal 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>
                <a:latin typeface="Garamond"/>
                <a:cs typeface="Garamond"/>
              </a:rPr>
              <a:t>incremental costs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5">
                <a:latin typeface="Garamond"/>
                <a:cs typeface="Garamond"/>
              </a:rPr>
              <a:t>carrying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increased </a:t>
            </a:r>
            <a:r>
              <a:rPr dirty="0" sz="1100">
                <a:latin typeface="Garamond"/>
                <a:cs typeface="Garamond"/>
              </a:rPr>
              <a:t>investment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accounts receivable.</a:t>
            </a:r>
            <a:endParaRPr sz="1100">
              <a:latin typeface="Garamond"/>
              <a:cs typeface="Garamond"/>
            </a:endParaRPr>
          </a:p>
          <a:p>
            <a:pPr algn="just" marL="469900" indent="-229235">
              <a:lnSpc>
                <a:spcPts val="123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carrying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associated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>
                <a:latin typeface="Garamond"/>
                <a:cs typeface="Garamond"/>
              </a:rPr>
              <a:t> granting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three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types</a:t>
            </a:r>
            <a:endParaRPr sz="1100">
              <a:latin typeface="Garamond"/>
              <a:cs typeface="Garamond"/>
            </a:endParaRPr>
          </a:p>
          <a:p>
            <a:pPr algn="just" marL="469900">
              <a:lnSpc>
                <a:spcPts val="1255"/>
              </a:lnSpc>
            </a:pPr>
            <a:r>
              <a:rPr dirty="0" sz="1100" spc="5">
                <a:latin typeface="Courier New"/>
                <a:cs typeface="Courier New"/>
              </a:rPr>
              <a:t>o</a:t>
            </a:r>
            <a:r>
              <a:rPr dirty="0" sz="1100" spc="440">
                <a:latin typeface="Courier New"/>
                <a:cs typeface="Courier New"/>
              </a:rPr>
              <a:t> </a:t>
            </a:r>
            <a:r>
              <a:rPr dirty="0" sz="1100" spc="5">
                <a:latin typeface="Garamond"/>
                <a:cs typeface="Garamond"/>
              </a:rPr>
              <a:t>The </a:t>
            </a:r>
            <a:r>
              <a:rPr dirty="0" sz="1100" spc="-5">
                <a:latin typeface="Garamond"/>
                <a:cs typeface="Garamond"/>
              </a:rPr>
              <a:t>required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return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receivables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6520" y="1106218"/>
            <a:ext cx="2705100" cy="56993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4595" y="2261615"/>
            <a:ext cx="3028950" cy="54292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9845" y="3536314"/>
            <a:ext cx="2828925" cy="581025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175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331752"/>
            <a:ext cx="5688965" cy="2581910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699135" indent="-229870">
              <a:lnSpc>
                <a:spcPts val="1235"/>
              </a:lnSpc>
              <a:spcBef>
                <a:spcPts val="75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losses from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bad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debts</a:t>
            </a:r>
            <a:endParaRPr sz="1100">
              <a:latin typeface="Garamond"/>
              <a:cs typeface="Garamond"/>
            </a:endParaRPr>
          </a:p>
          <a:p>
            <a:pPr marL="699135" marR="66675" indent="-229235">
              <a:lnSpc>
                <a:spcPts val="1190"/>
              </a:lnSpc>
              <a:spcBef>
                <a:spcPts val="6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managing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collection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expense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associated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running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credit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department.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1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restrictive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above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low.</a:t>
            </a:r>
            <a:endParaRPr sz="1100">
              <a:latin typeface="Garamond"/>
              <a:cs typeface="Garamond"/>
            </a:endParaRPr>
          </a:p>
          <a:p>
            <a:pPr lvl="1" marL="699135" marR="69850" indent="-229235">
              <a:lnSpc>
                <a:spcPts val="1150"/>
              </a:lnSpc>
              <a:spcBef>
                <a:spcPts val="114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Shortage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opportunity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extra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potential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profit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that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low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because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refused.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09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forgone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benefit</a:t>
            </a:r>
            <a:r>
              <a:rPr dirty="0" sz="1100">
                <a:latin typeface="Garamond"/>
                <a:cs typeface="Garamond"/>
              </a:rPr>
              <a:t> comes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05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quantity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35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Higher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prices</a:t>
            </a:r>
            <a:endParaRPr sz="1100">
              <a:latin typeface="Garamond"/>
              <a:cs typeface="Garamond"/>
            </a:endParaRPr>
          </a:p>
          <a:p>
            <a:pPr marL="469900" marR="66675" indent="-228600">
              <a:lnSpc>
                <a:spcPts val="1190"/>
              </a:lnSpc>
              <a:spcBef>
                <a:spcPts val="180"/>
              </a:spcBef>
              <a:buSzPct val="95652"/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25" b="1" i="1">
                <a:latin typeface="Garamond"/>
                <a:cs typeface="Garamond"/>
              </a:rPr>
              <a:t>Carrying</a:t>
            </a:r>
            <a:r>
              <a:rPr dirty="0" sz="1150" spc="114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costs</a:t>
            </a:r>
            <a:r>
              <a:rPr dirty="0" sz="1150" spc="165" b="1" i="1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flows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must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incurred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granted.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They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positively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related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extended.</a:t>
            </a:r>
            <a:endParaRPr sz="1100">
              <a:latin typeface="Garamond"/>
              <a:cs typeface="Garamond"/>
            </a:endParaRPr>
          </a:p>
          <a:p>
            <a:pPr marL="469900" marR="68580" indent="-228600">
              <a:lnSpc>
                <a:spcPts val="1190"/>
              </a:lnSpc>
              <a:spcBef>
                <a:spcPts val="105"/>
              </a:spcBef>
              <a:buSzPct val="95652"/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25" b="1" i="1">
                <a:latin typeface="Garamond"/>
                <a:cs typeface="Garamond"/>
              </a:rPr>
              <a:t>Opportunity</a:t>
            </a:r>
            <a:r>
              <a:rPr dirty="0" sz="1150" spc="15" b="1" i="1">
                <a:latin typeface="Garamond"/>
                <a:cs typeface="Garamond"/>
              </a:rPr>
              <a:t> </a:t>
            </a:r>
            <a:r>
              <a:rPr dirty="0" sz="1150" spc="-20" b="1" i="1">
                <a:latin typeface="Garamond"/>
                <a:cs typeface="Garamond"/>
              </a:rPr>
              <a:t>costs</a:t>
            </a:r>
            <a:r>
              <a:rPr dirty="0" sz="1150" spc="20" b="1" i="1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sales</a:t>
            </a:r>
            <a:r>
              <a:rPr dirty="0" sz="1100" spc="5">
                <a:latin typeface="Garamond"/>
                <a:cs typeface="Garamond"/>
              </a:rPr>
              <a:t> from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refusing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go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down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granted.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7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sum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carrying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5">
                <a:latin typeface="Garamond"/>
                <a:cs typeface="Garamond"/>
              </a:rPr>
              <a:t>opportunity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called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curve.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76629" y="5887973"/>
            <a:ext cx="5623560" cy="37223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469900" indent="-229235">
              <a:lnSpc>
                <a:spcPts val="1235"/>
              </a:lnSpc>
              <a:spcBef>
                <a:spcPts val="114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Trade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Credit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likely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granted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if: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selling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advantage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lenders.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selling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engage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 </a:t>
            </a:r>
            <a:r>
              <a:rPr dirty="0" sz="1100">
                <a:latin typeface="Garamond"/>
                <a:cs typeface="Garamond"/>
              </a:rPr>
              <a:t>price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discrimination.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5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selling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obtain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favorable</a:t>
            </a:r>
            <a:r>
              <a:rPr dirty="0" sz="1100" spc="5">
                <a:latin typeface="Garamond"/>
                <a:cs typeface="Garamond"/>
              </a:rPr>
              <a:t> tax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treatment.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selling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no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established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reputation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quality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products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services.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selling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perceives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long-term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strategic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relationship.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4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optimal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policy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characteristics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particular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Excess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capacity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5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Low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variable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operating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3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Repeat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customers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Courier New"/>
              <a:buChar char="o"/>
            </a:pPr>
            <a:endParaRPr sz="105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Credit</a:t>
            </a:r>
            <a:r>
              <a:rPr dirty="0" sz="1100" spc="-4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Analysis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Garamond"/>
              <a:cs typeface="Garamond"/>
            </a:endParaRPr>
          </a:p>
          <a:p>
            <a:pPr marL="469900" marR="5080" indent="-228600">
              <a:lnSpc>
                <a:spcPts val="115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analysis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refers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process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deciding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whether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10">
                <a:latin typeface="Garamond"/>
                <a:cs typeface="Garamond"/>
              </a:rPr>
              <a:t>not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extend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particular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customer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0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Gather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relevant information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2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Determine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creditworthiness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4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Information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Financial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statements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reports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customer’s</a:t>
            </a:r>
            <a:r>
              <a:rPr dirty="0" sz="1100">
                <a:latin typeface="Garamond"/>
                <a:cs typeface="Garamond"/>
              </a:rPr>
              <a:t> payment</a:t>
            </a:r>
            <a:r>
              <a:rPr dirty="0" sz="1100" spc="-5">
                <a:latin typeface="Garamond"/>
                <a:cs typeface="Garamond"/>
              </a:rPr>
              <a:t> history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other firms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Banks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3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Customer’s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payment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history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35"/>
              </a:lnSpc>
              <a:spcBef>
                <a:spcPts val="1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Evaluation: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3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traditional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5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C’s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credit: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7819" y="3100942"/>
            <a:ext cx="4752975" cy="260835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176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05508" y="709929"/>
            <a:ext cx="5401945" cy="33610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698500" indent="-229235">
              <a:lnSpc>
                <a:spcPts val="1255"/>
              </a:lnSpc>
              <a:spcBef>
                <a:spcPts val="114"/>
              </a:spcBef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Character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Willingness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endParaRPr sz="1100">
              <a:latin typeface="Garamond"/>
              <a:cs typeface="Garamond"/>
            </a:endParaRPr>
          </a:p>
          <a:p>
            <a:pPr marL="698500" indent="-229235">
              <a:lnSpc>
                <a:spcPts val="1205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Capacity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Ability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</a:t>
            </a:r>
            <a:endParaRPr sz="1100">
              <a:latin typeface="Garamond"/>
              <a:cs typeface="Garamond"/>
            </a:endParaRPr>
          </a:p>
          <a:p>
            <a:pPr marL="698500" indent="-229235">
              <a:lnSpc>
                <a:spcPts val="1205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Financial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reserves</a:t>
            </a:r>
            <a:endParaRPr sz="1100">
              <a:latin typeface="Garamond"/>
              <a:cs typeface="Garamond"/>
            </a:endParaRPr>
          </a:p>
          <a:p>
            <a:pPr marL="698500" indent="-229235">
              <a:lnSpc>
                <a:spcPts val="1205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Collateral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Pledged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assets</a:t>
            </a:r>
            <a:endParaRPr sz="1100">
              <a:latin typeface="Garamond"/>
              <a:cs typeface="Garamond"/>
            </a:endParaRPr>
          </a:p>
          <a:p>
            <a:pPr marL="698500" indent="-229235">
              <a:lnSpc>
                <a:spcPts val="1260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Conditions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-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Relevant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economic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conditions</a:t>
            </a:r>
            <a:endParaRPr sz="1100">
              <a:latin typeface="Garamond"/>
              <a:cs typeface="Garamond"/>
            </a:endParaRPr>
          </a:p>
          <a:p>
            <a:pPr marL="240665" marR="8255" indent="-228600">
              <a:lnSpc>
                <a:spcPts val="1190"/>
              </a:lnSpc>
              <a:spcBef>
                <a:spcPts val="13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scoring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refers </a:t>
            </a:r>
            <a:r>
              <a:rPr dirty="0" sz="1100" spc="5">
                <a:latin typeface="Garamond"/>
                <a:cs typeface="Garamond"/>
              </a:rPr>
              <a:t>to the </a:t>
            </a:r>
            <a:r>
              <a:rPr dirty="0" sz="1100" spc="-5">
                <a:latin typeface="Garamond"/>
                <a:cs typeface="Garamond"/>
              </a:rPr>
              <a:t>process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calculating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numerical </a:t>
            </a:r>
            <a:r>
              <a:rPr dirty="0" sz="1100" spc="-5">
                <a:latin typeface="Garamond"/>
                <a:cs typeface="Garamond"/>
              </a:rPr>
              <a:t>rating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>
                <a:latin typeface="Garamond"/>
                <a:cs typeface="Garamond"/>
              </a:rPr>
              <a:t>customer based </a:t>
            </a:r>
            <a:r>
              <a:rPr dirty="0" sz="1100" spc="10">
                <a:latin typeface="Garamond"/>
                <a:cs typeface="Garamond"/>
              </a:rPr>
              <a:t>on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information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collected;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granted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refused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based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result.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latin typeface="Garamond"/>
                <a:cs typeface="Garamond"/>
              </a:rPr>
              <a:t>Collection</a:t>
            </a:r>
            <a:r>
              <a:rPr dirty="0" sz="1100" spc="-6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Policy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Garamond"/>
              <a:cs typeface="Garamond"/>
            </a:endParaRPr>
          </a:p>
          <a:p>
            <a:pPr marL="241300" indent="-228600">
              <a:lnSpc>
                <a:spcPts val="131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Collection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refers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obtaining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past-due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45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Collection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Policy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-10">
                <a:latin typeface="Garamond"/>
                <a:cs typeface="Garamond"/>
              </a:rPr>
              <a:t>composed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of: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17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willingness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extend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reflected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investment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receivables.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2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Collection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Effort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190"/>
              </a:lnSpc>
              <a:spcBef>
                <a:spcPts val="14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keep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track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payments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customers,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focuses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Collection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(ACP)</a:t>
            </a:r>
            <a:endParaRPr sz="1100">
              <a:latin typeface="Garamond"/>
              <a:cs typeface="Garamond"/>
            </a:endParaRPr>
          </a:p>
          <a:p>
            <a:pPr marL="240665" marR="6985" indent="-228600">
              <a:lnSpc>
                <a:spcPts val="119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Alternatively,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Aging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Schedule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1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also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used</a:t>
            </a:r>
            <a:r>
              <a:rPr dirty="0" sz="1100" spc="2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monitor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receivables,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classifies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credit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accounts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age.</a:t>
            </a:r>
            <a:endParaRPr sz="1100">
              <a:latin typeface="Garamond"/>
              <a:cs typeface="Garamond"/>
            </a:endParaRPr>
          </a:p>
          <a:p>
            <a:pPr marL="240665" marR="6985" indent="-228600">
              <a:lnSpc>
                <a:spcPts val="1150"/>
              </a:lnSpc>
              <a:spcBef>
                <a:spcPts val="17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$100,000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receivables.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Some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 are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few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days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old,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but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others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have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outstanding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quite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Its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aging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schedule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look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like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177</a:t>
            </a:r>
            <a:endParaRPr sz="1100">
              <a:latin typeface="Garamond"/>
              <a:cs typeface="Garamond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113533" y="4226305"/>
          <a:ext cx="3795395" cy="1253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6810"/>
                <a:gridCol w="707390"/>
                <a:gridCol w="1934210"/>
              </a:tblGrid>
              <a:tr h="320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Age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Account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9055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Amount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905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145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%</a:t>
                      </a:r>
                      <a:r>
                        <a:rPr dirty="0" sz="1100" spc="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Value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of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Accounts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1430">
                        <a:lnSpc>
                          <a:spcPts val="1275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Rec.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4272">
                <a:tc>
                  <a:txBody>
                    <a:bodyPr/>
                    <a:lstStyle/>
                    <a:p>
                      <a:pPr algn="ctr" marL="1270">
                        <a:lnSpc>
                          <a:spcPts val="12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0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2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5">
                          <a:latin typeface="Garamond"/>
                          <a:cs typeface="Garamond"/>
                        </a:rPr>
                        <a:t>10</a:t>
                      </a:r>
                      <a:r>
                        <a:rPr dirty="0" sz="1100" spc="-6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>
                          <a:latin typeface="Garamond"/>
                          <a:cs typeface="Garamond"/>
                        </a:rPr>
                        <a:t>days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28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$50,000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8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 marL="190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11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60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days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marL="1905">
                        <a:lnSpc>
                          <a:spcPts val="1275"/>
                        </a:lnSpc>
                      </a:pPr>
                      <a:r>
                        <a:rPr dirty="0" sz="1100" spc="15">
                          <a:latin typeface="Garamond"/>
                          <a:cs typeface="Garamond"/>
                        </a:rPr>
                        <a:t>61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5">
                          <a:latin typeface="Garamond"/>
                          <a:cs typeface="Garamond"/>
                        </a:rPr>
                        <a:t>–</a:t>
                      </a:r>
                      <a:r>
                        <a:rPr dirty="0" sz="1100" spc="-2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80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days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20%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644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Over</a:t>
                      </a:r>
                      <a:r>
                        <a:rPr dirty="0" sz="1100" spc="-55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80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>
                          <a:latin typeface="Garamond"/>
                          <a:cs typeface="Garamond"/>
                        </a:rPr>
                        <a:t>days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Garamond"/>
                          <a:cs typeface="Garamond"/>
                        </a:rPr>
                        <a:t>5%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2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1100" spc="-5">
                          <a:latin typeface="Garamond"/>
                          <a:cs typeface="Garamond"/>
                        </a:rPr>
                        <a:t>$100,000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100%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405508" y="5626988"/>
            <a:ext cx="5144135" cy="17735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ts val="131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has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credit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period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60 </a:t>
            </a:r>
            <a:r>
              <a:rPr dirty="0" sz="1100">
                <a:latin typeface="Garamond"/>
                <a:cs typeface="Garamond"/>
              </a:rPr>
              <a:t>days,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25%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late.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30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seriousness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5">
                <a:latin typeface="Garamond"/>
                <a:cs typeface="Garamond"/>
              </a:rPr>
              <a:t>case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depends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nature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31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longer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account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been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unpaid,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less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likely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paid.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Percentages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aging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schedule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keep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changing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seasonal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55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Collection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Effort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190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Most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follow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5">
                <a:latin typeface="Garamond"/>
                <a:cs typeface="Garamond"/>
              </a:rPr>
              <a:t> protocol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due:</a:t>
            </a:r>
            <a:endParaRPr sz="1100">
              <a:latin typeface="Garamond"/>
              <a:cs typeface="Garamond"/>
            </a:endParaRPr>
          </a:p>
          <a:p>
            <a:pPr lvl="2" marL="698500" indent="-229235">
              <a:lnSpc>
                <a:spcPts val="1205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>
                <a:latin typeface="Garamond"/>
                <a:cs typeface="Garamond"/>
              </a:rPr>
              <a:t>Send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delinquency </a:t>
            </a:r>
            <a:r>
              <a:rPr dirty="0" sz="1100" spc="-5">
                <a:latin typeface="Garamond"/>
                <a:cs typeface="Garamond"/>
              </a:rPr>
              <a:t>letter.</a:t>
            </a:r>
            <a:endParaRPr sz="1100">
              <a:latin typeface="Garamond"/>
              <a:cs typeface="Garamond"/>
            </a:endParaRPr>
          </a:p>
          <a:p>
            <a:pPr lvl="2" marL="698500" indent="-229235">
              <a:lnSpc>
                <a:spcPts val="1205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 spc="5">
                <a:latin typeface="Garamond"/>
                <a:cs typeface="Garamond"/>
              </a:rPr>
              <a:t>Make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telephone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customer.</a:t>
            </a:r>
            <a:endParaRPr sz="1100">
              <a:latin typeface="Garamond"/>
              <a:cs typeface="Garamond"/>
            </a:endParaRPr>
          </a:p>
          <a:p>
            <a:pPr lvl="2" marL="698500" indent="-229235">
              <a:lnSpc>
                <a:spcPts val="1205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 spc="5">
                <a:latin typeface="Garamond"/>
                <a:cs typeface="Garamond"/>
              </a:rPr>
              <a:t>Employ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agency.</a:t>
            </a:r>
            <a:endParaRPr sz="1100">
              <a:latin typeface="Garamond"/>
              <a:cs typeface="Garamond"/>
            </a:endParaRPr>
          </a:p>
          <a:p>
            <a:pPr lvl="2" marL="698500" indent="-229235">
              <a:lnSpc>
                <a:spcPts val="1190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dirty="0" sz="1100" spc="5">
                <a:latin typeface="Garamond"/>
                <a:cs typeface="Garamond"/>
              </a:rPr>
              <a:t>Take </a:t>
            </a:r>
            <a:r>
              <a:rPr dirty="0" sz="1100" spc="-5">
                <a:latin typeface="Garamond"/>
                <a:cs typeface="Garamond"/>
              </a:rPr>
              <a:t>legal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action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against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customer.</a:t>
            </a:r>
            <a:endParaRPr sz="1100">
              <a:latin typeface="Garamond"/>
              <a:cs typeface="Garamond"/>
            </a:endParaRPr>
          </a:p>
          <a:p>
            <a:pPr lvl="1" marL="469900" indent="-229870">
              <a:lnSpc>
                <a:spcPts val="1235"/>
              </a:lnSpc>
              <a:buFont typeface="Courier New"/>
              <a:buChar char="o"/>
              <a:tabLst>
                <a:tab pos="469900" algn="l"/>
                <a:tab pos="470534" algn="l"/>
              </a:tabLst>
            </a:pPr>
            <a:r>
              <a:rPr dirty="0" sz="1100" spc="-5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refuse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grant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additional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credit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customers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until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arrearages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cleared up.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030595" y="714501"/>
            <a:ext cx="81470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 b="1">
                <a:latin typeface="Garamond"/>
                <a:cs typeface="Garamond"/>
              </a:rPr>
              <a:t>LESSON</a:t>
            </a:r>
            <a:r>
              <a:rPr dirty="0" sz="1150" spc="-25" b="1">
                <a:latin typeface="Garamond"/>
                <a:cs typeface="Garamond"/>
              </a:rPr>
              <a:t> </a:t>
            </a:r>
            <a:r>
              <a:rPr dirty="0" sz="1150" spc="25" b="1">
                <a:latin typeface="Garamond"/>
                <a:cs typeface="Garamond"/>
              </a:rPr>
              <a:t>45</a:t>
            </a:r>
            <a:endParaRPr sz="1150">
              <a:latin typeface="Garamond"/>
              <a:cs typeface="Garamond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178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629" y="888238"/>
            <a:ext cx="5631815" cy="73774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6985">
              <a:lnSpc>
                <a:spcPct val="100000"/>
              </a:lnSpc>
              <a:spcBef>
                <a:spcPts val="135"/>
              </a:spcBef>
            </a:pPr>
            <a:r>
              <a:rPr dirty="0" sz="1150" spc="25" b="1">
                <a:latin typeface="Garamond"/>
                <a:cs typeface="Garamond"/>
              </a:rPr>
              <a:t>INVENTORY</a:t>
            </a:r>
            <a:r>
              <a:rPr dirty="0" sz="1150" spc="30" b="1">
                <a:latin typeface="Garamond"/>
                <a:cs typeface="Garamond"/>
              </a:rPr>
              <a:t> MANAGEMENT</a:t>
            </a:r>
            <a:endParaRPr sz="115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Garamond"/>
              <a:cs typeface="Garamond"/>
            </a:endParaRPr>
          </a:p>
          <a:p>
            <a:pPr algn="just" marL="469900" marR="5715" indent="-228600">
              <a:lnSpc>
                <a:spcPts val="115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We </a:t>
            </a:r>
            <a:r>
              <a:rPr dirty="0" sz="1100" spc="5">
                <a:latin typeface="Garamond"/>
                <a:cs typeface="Garamond"/>
              </a:rPr>
              <a:t>know </a:t>
            </a:r>
            <a:r>
              <a:rPr dirty="0" sz="1100" spc="-5">
                <a:latin typeface="Garamond"/>
                <a:cs typeface="Garamond"/>
              </a:rPr>
              <a:t>that firm’s operating cycle </a:t>
            </a:r>
            <a:r>
              <a:rPr dirty="0" sz="1100">
                <a:latin typeface="Garamond"/>
                <a:cs typeface="Garamond"/>
              </a:rPr>
              <a:t>is </a:t>
            </a:r>
            <a:r>
              <a:rPr dirty="0" sz="1100" spc="5">
                <a:latin typeface="Garamond"/>
                <a:cs typeface="Garamond"/>
              </a:rPr>
              <a:t>made </a:t>
            </a:r>
            <a:r>
              <a:rPr dirty="0" sz="1100" spc="-15">
                <a:latin typeface="Garamond"/>
                <a:cs typeface="Garamond"/>
              </a:rPr>
              <a:t>up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5">
                <a:latin typeface="Garamond"/>
                <a:cs typeface="Garamond"/>
              </a:rPr>
              <a:t>inventory </a:t>
            </a:r>
            <a:r>
              <a:rPr dirty="0" sz="1100" spc="-10">
                <a:latin typeface="Garamond"/>
                <a:cs typeface="Garamond"/>
              </a:rPr>
              <a:t>period </a:t>
            </a:r>
            <a:r>
              <a:rPr dirty="0" sz="1100">
                <a:latin typeface="Garamond"/>
                <a:cs typeface="Garamond"/>
              </a:rPr>
              <a:t>and its </a:t>
            </a:r>
            <a:r>
              <a:rPr dirty="0" sz="1100" spc="-5">
                <a:latin typeface="Garamond"/>
                <a:cs typeface="Garamond"/>
              </a:rPr>
              <a:t>receivables </a:t>
            </a:r>
            <a:r>
              <a:rPr dirty="0" sz="1100">
                <a:latin typeface="Garamond"/>
                <a:cs typeface="Garamond"/>
              </a:rPr>
              <a:t> period.</a:t>
            </a:r>
            <a:endParaRPr sz="1100">
              <a:latin typeface="Garamond"/>
              <a:cs typeface="Garamond"/>
            </a:endParaRPr>
          </a:p>
          <a:p>
            <a:pPr algn="just" marL="469900" marR="6350" indent="-228600">
              <a:lnSpc>
                <a:spcPct val="88700"/>
              </a:lnSpc>
              <a:spcBef>
                <a:spcPts val="120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Both credit </a:t>
            </a:r>
            <a:r>
              <a:rPr dirty="0" sz="1100">
                <a:latin typeface="Garamond"/>
                <a:cs typeface="Garamond"/>
              </a:rPr>
              <a:t>policy and </a:t>
            </a:r>
            <a:r>
              <a:rPr dirty="0" sz="1100" spc="-5">
                <a:latin typeface="Garamond"/>
                <a:cs typeface="Garamond"/>
              </a:rPr>
              <a:t>inventory </a:t>
            </a:r>
            <a:r>
              <a:rPr dirty="0" sz="1100">
                <a:latin typeface="Garamond"/>
                <a:cs typeface="Garamond"/>
              </a:rPr>
              <a:t>policy are </a:t>
            </a:r>
            <a:r>
              <a:rPr dirty="0" sz="1100" spc="-10">
                <a:latin typeface="Garamond"/>
                <a:cs typeface="Garamond"/>
              </a:rPr>
              <a:t>used </a:t>
            </a:r>
            <a:r>
              <a:rPr dirty="0" sz="1100" spc="5">
                <a:latin typeface="Garamond"/>
                <a:cs typeface="Garamond"/>
              </a:rPr>
              <a:t>to </a:t>
            </a:r>
            <a:r>
              <a:rPr dirty="0" sz="1100">
                <a:latin typeface="Garamond"/>
                <a:cs typeface="Garamond"/>
              </a:rPr>
              <a:t>derive sales, and thus </a:t>
            </a:r>
            <a:r>
              <a:rPr dirty="0" sz="1100" spc="-10">
                <a:latin typeface="Garamond"/>
                <a:cs typeface="Garamond"/>
              </a:rPr>
              <a:t>must </a:t>
            </a:r>
            <a:r>
              <a:rPr dirty="0" sz="1100" spc="5">
                <a:latin typeface="Garamond"/>
                <a:cs typeface="Garamond"/>
              </a:rPr>
              <a:t>be </a:t>
            </a:r>
            <a:r>
              <a:rPr dirty="0" sz="1100" spc="-5">
                <a:latin typeface="Garamond"/>
                <a:cs typeface="Garamond"/>
              </a:rPr>
              <a:t>coordinated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ensure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5">
                <a:latin typeface="Garamond"/>
                <a:cs typeface="Garamond"/>
              </a:rPr>
              <a:t> process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-5">
                <a:latin typeface="Garamond"/>
                <a:cs typeface="Garamond"/>
              </a:rPr>
              <a:t> acquiring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&amp;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selling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>
                <a:latin typeface="Garamond"/>
                <a:cs typeface="Garamond"/>
              </a:rPr>
              <a:t> and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collecting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sale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proceeds 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smoothly.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469900" indent="-229235">
              <a:lnSpc>
                <a:spcPts val="125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Types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Raw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Material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starting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point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production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process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Work-in-Progress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size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-10">
                <a:latin typeface="Garamond"/>
                <a:cs typeface="Garamond"/>
              </a:rPr>
              <a:t> the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length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production</a:t>
            </a:r>
            <a:r>
              <a:rPr dirty="0" sz="1100" spc="-10">
                <a:latin typeface="Garamond"/>
                <a:cs typeface="Garamond"/>
              </a:rPr>
              <a:t> process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-5">
                <a:latin typeface="Garamond"/>
                <a:cs typeface="Garamond"/>
              </a:rPr>
              <a:t>Finished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Goods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4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One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company’s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material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another’s </a:t>
            </a:r>
            <a:r>
              <a:rPr dirty="0" sz="1100" spc="-5">
                <a:latin typeface="Garamond"/>
                <a:cs typeface="Garamond"/>
              </a:rPr>
              <a:t>finished good.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4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 spc="5">
                <a:latin typeface="Garamond"/>
                <a:cs typeface="Garamond"/>
              </a:rPr>
              <a:t>Steel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Sheets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Automobile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Manufacturing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4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Various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types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quite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their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liquidity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Commodity-like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standardized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raw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materials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easily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converted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cash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235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Work-in-progress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can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>
                <a:latin typeface="Garamond"/>
                <a:cs typeface="Garamond"/>
              </a:rPr>
              <a:t> quite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illiquid</a:t>
            </a:r>
            <a:endParaRPr sz="1100">
              <a:latin typeface="Garamond"/>
              <a:cs typeface="Garamond"/>
            </a:endParaRPr>
          </a:p>
          <a:p>
            <a:pPr marL="469900" marR="8890" indent="-228600">
              <a:lnSpc>
                <a:spcPts val="1150"/>
              </a:lnSpc>
              <a:spcBef>
                <a:spcPts val="19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Demand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becomes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part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another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Derived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Dependent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Demand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demand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finished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goods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derived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from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demand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other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items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55"/>
              </a:lnSpc>
              <a:spcBef>
                <a:spcPts val="116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9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Carrying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include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direct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5">
                <a:latin typeface="Garamond"/>
                <a:cs typeface="Garamond"/>
              </a:rPr>
              <a:t> opportunity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keeping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hand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05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Storage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tracking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05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Insurance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5">
                <a:latin typeface="Garamond"/>
                <a:cs typeface="Garamond"/>
              </a:rPr>
              <a:t>taxes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205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Losses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due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obsolescence,</a:t>
            </a:r>
            <a:r>
              <a:rPr dirty="0" sz="1100" spc="-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deterioration,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theft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19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Opportunity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capital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invested </a:t>
            </a:r>
            <a:r>
              <a:rPr dirty="0" sz="1100">
                <a:latin typeface="Garamond"/>
                <a:cs typeface="Garamond"/>
              </a:rPr>
              <a:t>amount</a:t>
            </a:r>
            <a:endParaRPr sz="1100">
              <a:latin typeface="Garamond"/>
              <a:cs typeface="Garamond"/>
            </a:endParaRPr>
          </a:p>
          <a:p>
            <a:pPr lvl="1" marL="699135" indent="-229870">
              <a:lnSpc>
                <a:spcPts val="1170"/>
              </a:lnSpc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Shortage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associated 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inadequate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hand</a:t>
            </a:r>
            <a:endParaRPr sz="1100">
              <a:latin typeface="Garamond"/>
              <a:cs typeface="Garamond"/>
            </a:endParaRPr>
          </a:p>
          <a:p>
            <a:pPr lvl="2" marL="927735" marR="13970" indent="-228600">
              <a:lnSpc>
                <a:spcPts val="1190"/>
              </a:lnSpc>
              <a:spcBef>
                <a:spcPts val="80"/>
              </a:spcBef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Restocking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placing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suppliers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setting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up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production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run</a:t>
            </a:r>
            <a:endParaRPr sz="1100">
              <a:latin typeface="Garamond"/>
              <a:cs typeface="Garamond"/>
            </a:endParaRPr>
          </a:p>
          <a:p>
            <a:pPr lvl="2" marL="927735" indent="-229235">
              <a:lnSpc>
                <a:spcPts val="1100"/>
              </a:lnSpc>
              <a:buFont typeface="Wingdings"/>
              <a:buChar char=""/>
              <a:tabLst>
                <a:tab pos="927100" algn="l"/>
                <a:tab pos="928369" algn="l"/>
              </a:tabLst>
            </a:pPr>
            <a:r>
              <a:rPr dirty="0" sz="1100">
                <a:latin typeface="Garamond"/>
                <a:cs typeface="Garamond"/>
              </a:rPr>
              <a:t>Safety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reserve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–</a:t>
            </a:r>
            <a:r>
              <a:rPr dirty="0" sz="1100" spc="1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opportunity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losses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from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having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inadequate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e.g.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lost</a:t>
            </a:r>
            <a:endParaRPr sz="1100">
              <a:latin typeface="Garamond"/>
              <a:cs typeface="Garamond"/>
            </a:endParaRPr>
          </a:p>
          <a:p>
            <a:pPr marL="927735">
              <a:lnSpc>
                <a:spcPts val="1255"/>
              </a:lnSpc>
            </a:pPr>
            <a:r>
              <a:rPr dirty="0" sz="1100">
                <a:latin typeface="Garamond"/>
                <a:cs typeface="Garamond"/>
              </a:rPr>
              <a:t>sales</a:t>
            </a:r>
            <a:r>
              <a:rPr dirty="0" sz="1100" spc="-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goodwill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Garamond"/>
              <a:cs typeface="Garamond"/>
            </a:endParaRPr>
          </a:p>
          <a:p>
            <a:pPr marL="469900" indent="-229235">
              <a:lnSpc>
                <a:spcPts val="1235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trade-off</a:t>
            </a:r>
            <a:endParaRPr sz="1100">
              <a:latin typeface="Garamond"/>
              <a:cs typeface="Garamond"/>
            </a:endParaRPr>
          </a:p>
          <a:p>
            <a:pPr lvl="1" marL="699135" marR="9525" indent="-229235">
              <a:lnSpc>
                <a:spcPts val="1190"/>
              </a:lnSpc>
              <a:spcBef>
                <a:spcPts val="65"/>
              </a:spcBef>
              <a:buFont typeface="Courier New"/>
              <a:buChar char="o"/>
              <a:tabLst>
                <a:tab pos="698500" algn="l"/>
                <a:tab pos="699770" algn="l"/>
              </a:tabLst>
            </a:pPr>
            <a:r>
              <a:rPr dirty="0" sz="1100">
                <a:latin typeface="Garamond"/>
                <a:cs typeface="Garamond"/>
              </a:rPr>
              <a:t>Carrying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increase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shortage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>
                <a:latin typeface="Garamond"/>
                <a:cs typeface="Garamond"/>
              </a:rPr>
              <a:t> decline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with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levels</a:t>
            </a:r>
            <a:endParaRPr sz="1100">
              <a:latin typeface="Garamond"/>
              <a:cs typeface="Garamond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Courier New"/>
              <a:buChar char="o"/>
            </a:pPr>
            <a:endParaRPr sz="950">
              <a:latin typeface="Garamond"/>
              <a:cs typeface="Garamond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goal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management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minimize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sum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these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costs.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100" b="1">
                <a:latin typeface="Garamond"/>
                <a:cs typeface="Garamond"/>
              </a:rPr>
              <a:t>ABC</a:t>
            </a:r>
            <a:r>
              <a:rPr dirty="0" sz="1100" spc="-20" b="1">
                <a:latin typeface="Garamond"/>
                <a:cs typeface="Garamond"/>
              </a:rPr>
              <a:t> </a:t>
            </a:r>
            <a:r>
              <a:rPr dirty="0" sz="1100" spc="-5" b="1">
                <a:latin typeface="Garamond"/>
                <a:cs typeface="Garamond"/>
              </a:rPr>
              <a:t>Approach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Garamond"/>
              <a:cs typeface="Garamond"/>
            </a:endParaRPr>
          </a:p>
          <a:p>
            <a:pPr marL="469900" marR="12700" indent="-228600">
              <a:lnSpc>
                <a:spcPts val="115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Basic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idea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approach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management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divide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three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(or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more)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groups.</a:t>
            </a:r>
            <a:endParaRPr sz="1100">
              <a:latin typeface="Garamond"/>
              <a:cs typeface="Garamond"/>
            </a:endParaRPr>
          </a:p>
          <a:p>
            <a:pPr marL="469900" marR="10160" indent="-228600">
              <a:lnSpc>
                <a:spcPts val="1190"/>
              </a:lnSpc>
              <a:spcBef>
                <a:spcPts val="15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small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portion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terms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quantity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might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represent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large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portion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terms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inventory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value.</a:t>
            </a:r>
            <a:endParaRPr sz="1100">
              <a:latin typeface="Garamond"/>
              <a:cs typeface="Garamond"/>
            </a:endParaRPr>
          </a:p>
          <a:p>
            <a:pPr marL="469900" marR="5080" indent="-228600">
              <a:lnSpc>
                <a:spcPts val="1190"/>
              </a:lnSpc>
              <a:spcBef>
                <a:spcPts val="10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10">
                <a:latin typeface="Garamond"/>
                <a:cs typeface="Garamond"/>
              </a:rPr>
              <a:t>A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production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process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involving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expensive,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high-tech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components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well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relatively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inexpensive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basic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materials.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76629" y="4511166"/>
            <a:ext cx="5627370" cy="6807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-5" b="1">
                <a:latin typeface="Garamond"/>
                <a:cs typeface="Garamond"/>
              </a:rPr>
              <a:t>Economic</a:t>
            </a:r>
            <a:r>
              <a:rPr dirty="0" sz="1100" spc="-2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Order</a:t>
            </a:r>
            <a:r>
              <a:rPr dirty="0" sz="1100" spc="-30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Quantity </a:t>
            </a:r>
            <a:r>
              <a:rPr dirty="0" sz="1100" spc="-5" b="1">
                <a:latin typeface="Garamond"/>
                <a:cs typeface="Garamond"/>
              </a:rPr>
              <a:t>Model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Garamond"/>
              <a:cs typeface="Garamond"/>
            </a:endParaRPr>
          </a:p>
          <a:p>
            <a:pPr marL="469900" marR="5080" indent="-228600">
              <a:lnSpc>
                <a:spcPts val="115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Economic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order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quantity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(EOQ)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model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best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known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approach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explicitly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establish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an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optimal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level.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5508" y="8376030"/>
            <a:ext cx="5401310" cy="114236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40665" marR="10795" indent="-228600">
              <a:lnSpc>
                <a:spcPts val="1150"/>
              </a:lnSpc>
              <a:spcBef>
                <a:spcPts val="2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Actual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not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included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total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amount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needs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given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 is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dictated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19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Here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trying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determine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order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size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should</a:t>
            </a:r>
            <a:r>
              <a:rPr dirty="0" sz="1100" spc="25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use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when</a:t>
            </a:r>
            <a:r>
              <a:rPr dirty="0" sz="1100" spc="2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restocks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inventory</a:t>
            </a:r>
            <a:endParaRPr sz="1100">
              <a:latin typeface="Garamond"/>
              <a:cs typeface="Garamond"/>
            </a:endParaRPr>
          </a:p>
          <a:p>
            <a:pPr marL="240665" marR="8890" indent="-228600">
              <a:lnSpc>
                <a:spcPts val="119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Assuming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firm’s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steady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rate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until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hits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zero.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At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point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restocks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back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optimal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31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starts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off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today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3,600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units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particular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4" y="787782"/>
            <a:ext cx="5467350" cy="34082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8537" y="5388499"/>
            <a:ext cx="5694145" cy="280708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179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76629" y="331752"/>
            <a:ext cx="5688965" cy="1049655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  <a:tabLst>
                <a:tab pos="5456555" algn="l"/>
              </a:tabLst>
            </a:pPr>
            <a:r>
              <a:rPr dirty="0" sz="1150" spc="25">
                <a:latin typeface="Times New Roman"/>
                <a:cs typeface="Times New Roman"/>
              </a:rPr>
              <a:t>B</a:t>
            </a:r>
            <a:r>
              <a:rPr dirty="0" sz="1150" spc="30">
                <a:latin typeface="Times New Roman"/>
                <a:cs typeface="Times New Roman"/>
              </a:rPr>
              <a:t>u</a:t>
            </a:r>
            <a:r>
              <a:rPr dirty="0" sz="1150" spc="-20">
                <a:latin typeface="Times New Roman"/>
                <a:cs typeface="Times New Roman"/>
              </a:rPr>
              <a:t>s</a:t>
            </a:r>
            <a:r>
              <a:rPr dirty="0" sz="1150" spc="35">
                <a:latin typeface="Times New Roman"/>
                <a:cs typeface="Times New Roman"/>
              </a:rPr>
              <a:t>i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25">
                <a:latin typeface="Times New Roman"/>
                <a:cs typeface="Times New Roman"/>
              </a:rPr>
              <a:t>e</a:t>
            </a:r>
            <a:r>
              <a:rPr dirty="0" sz="1150" spc="10">
                <a:latin typeface="Times New Roman"/>
                <a:cs typeface="Times New Roman"/>
              </a:rPr>
              <a:t>ss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40">
                <a:latin typeface="Times New Roman"/>
                <a:cs typeface="Times New Roman"/>
              </a:rPr>
              <a:t>F</a:t>
            </a:r>
            <a:r>
              <a:rPr dirty="0" sz="1150">
                <a:latin typeface="Times New Roman"/>
                <a:cs typeface="Times New Roman"/>
              </a:rPr>
              <a:t>i</a:t>
            </a:r>
            <a:r>
              <a:rPr dirty="0" sz="1150" spc="-5">
                <a:latin typeface="Times New Roman"/>
                <a:cs typeface="Times New Roman"/>
              </a:rPr>
              <a:t>n</a:t>
            </a:r>
            <a:r>
              <a:rPr dirty="0" sz="1150" spc="60">
                <a:latin typeface="Times New Roman"/>
                <a:cs typeface="Times New Roman"/>
              </a:rPr>
              <a:t>a</a:t>
            </a:r>
            <a:r>
              <a:rPr dirty="0" sz="1150" spc="30">
                <a:latin typeface="Times New Roman"/>
                <a:cs typeface="Times New Roman"/>
              </a:rPr>
              <a:t>n</a:t>
            </a:r>
            <a:r>
              <a:rPr dirty="0" sz="1150" spc="-10">
                <a:latin typeface="Times New Roman"/>
                <a:cs typeface="Times New Roman"/>
              </a:rPr>
              <a:t>c</a:t>
            </a:r>
            <a:r>
              <a:rPr dirty="0" sz="1150" spc="15">
                <a:latin typeface="Times New Roman"/>
                <a:cs typeface="Times New Roman"/>
              </a:rPr>
              <a:t>e</a:t>
            </a:r>
            <a:r>
              <a:rPr dirty="0" sz="1150" spc="25">
                <a:latin typeface="Times New Roman"/>
                <a:cs typeface="Times New Roman"/>
              </a:rPr>
              <a:t> </a:t>
            </a:r>
            <a:r>
              <a:rPr dirty="0" sz="1150" spc="35">
                <a:latin typeface="Times New Roman"/>
                <a:cs typeface="Times New Roman"/>
              </a:rPr>
              <a:t>–</a:t>
            </a:r>
            <a:r>
              <a:rPr dirty="0" sz="1150" spc="25">
                <a:latin typeface="Times New Roman"/>
                <a:cs typeface="Times New Roman"/>
              </a:rPr>
              <a:t>A</a:t>
            </a:r>
            <a:r>
              <a:rPr dirty="0" sz="1150" spc="25">
                <a:latin typeface="Times New Roman"/>
                <a:cs typeface="Times New Roman"/>
              </a:rPr>
              <a:t>CC</a:t>
            </a:r>
            <a:r>
              <a:rPr dirty="0" sz="1150" spc="30">
                <a:latin typeface="Times New Roman"/>
                <a:cs typeface="Times New Roman"/>
              </a:rPr>
              <a:t>50</a:t>
            </a:r>
            <a:r>
              <a:rPr dirty="0" sz="1150" spc="15">
                <a:latin typeface="Times New Roman"/>
                <a:cs typeface="Times New Roman"/>
              </a:rPr>
              <a:t>1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69900">
              <a:lnSpc>
                <a:spcPts val="1310"/>
              </a:lnSpc>
              <a:spcBef>
                <a:spcPts val="755"/>
              </a:spcBef>
            </a:pP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item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46,800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units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(about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900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week).</a:t>
            </a:r>
            <a:endParaRPr sz="1100">
              <a:latin typeface="Garamond"/>
              <a:cs typeface="Garamond"/>
            </a:endParaRPr>
          </a:p>
          <a:p>
            <a:pPr marL="469900" marR="68580" indent="-228600">
              <a:lnSpc>
                <a:spcPts val="1190"/>
              </a:lnSpc>
              <a:spcBef>
                <a:spcPts val="13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>
                <a:latin typeface="Garamond"/>
                <a:cs typeface="Garamond"/>
              </a:rPr>
              <a:t>With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weekly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available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sold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after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four </a:t>
            </a:r>
            <a:r>
              <a:rPr dirty="0" sz="1100" spc="-5">
                <a:latin typeface="Garamond"/>
                <a:cs typeface="Garamond"/>
              </a:rPr>
              <a:t>weeks,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 </a:t>
            </a:r>
            <a:r>
              <a:rPr dirty="0" sz="1100" spc="5">
                <a:latin typeface="Garamond"/>
                <a:cs typeface="Garamond"/>
              </a:rPr>
              <a:t>by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ordering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(or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manufacturing)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another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3,600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units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start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over.</a:t>
            </a:r>
            <a:endParaRPr sz="1100">
              <a:latin typeface="Garamond"/>
              <a:cs typeface="Garamond"/>
            </a:endParaRPr>
          </a:p>
          <a:p>
            <a:pPr marL="469900" indent="-229235">
              <a:lnSpc>
                <a:spcPts val="128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selling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process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produces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saw-tooth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pattern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holdings: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5508" y="4355337"/>
            <a:ext cx="5403215" cy="24098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ts val="1310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have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seen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carrying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assumed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directly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proportional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levels.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31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CC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carrying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10">
                <a:latin typeface="Garamond"/>
                <a:cs typeface="Garamond"/>
              </a:rPr>
              <a:t>unit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carrying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be:</a:t>
            </a:r>
            <a:endParaRPr sz="1100">
              <a:latin typeface="Garamond"/>
              <a:cs typeface="Garamond"/>
            </a:endParaRPr>
          </a:p>
          <a:p>
            <a:pPr marL="1156335">
              <a:lnSpc>
                <a:spcPts val="1235"/>
              </a:lnSpc>
              <a:spcBef>
                <a:spcPts val="1055"/>
              </a:spcBef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carrying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3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Avg.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5">
                <a:latin typeface="Garamond"/>
                <a:cs typeface="Garamond"/>
              </a:rPr>
              <a:t> carrying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unit</a:t>
            </a:r>
            <a:endParaRPr sz="1100">
              <a:latin typeface="Garamond"/>
              <a:cs typeface="Garamond"/>
            </a:endParaRPr>
          </a:p>
          <a:p>
            <a:pPr algn="ctr" marR="3810">
              <a:lnSpc>
                <a:spcPts val="123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(Q/2)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CC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Garamond"/>
              <a:cs typeface="Garamond"/>
            </a:endParaRPr>
          </a:p>
          <a:p>
            <a:pPr marL="240665" marR="5080" indent="-228600">
              <a:lnSpc>
                <a:spcPts val="115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carrying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$0.75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unit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carrying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1,800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X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0.75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$1,350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5">
                <a:latin typeface="Garamond"/>
                <a:cs typeface="Garamond"/>
              </a:rPr>
              <a:t> year.</a:t>
            </a:r>
            <a:endParaRPr sz="1100">
              <a:latin typeface="Garamond"/>
              <a:cs typeface="Garamond"/>
            </a:endParaRPr>
          </a:p>
          <a:p>
            <a:pPr marL="240665" marR="9525" indent="-228600">
              <a:lnSpc>
                <a:spcPts val="1190"/>
              </a:lnSpc>
              <a:spcBef>
                <a:spcPts val="15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case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shortage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focus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only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on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assuming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never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runs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short</a:t>
            </a:r>
            <a:r>
              <a:rPr dirty="0" sz="1100" spc="5">
                <a:latin typeface="Garamond"/>
                <a:cs typeface="Garamond"/>
              </a:rPr>
              <a:t> of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ts val="1280"/>
              </a:lnSpc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Restocking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normally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assumed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fixed.</a:t>
            </a:r>
            <a:endParaRPr sz="1100">
              <a:latin typeface="Garamond"/>
              <a:cs typeface="Garamond"/>
            </a:endParaRPr>
          </a:p>
          <a:p>
            <a:pPr marL="240665" marR="6985" indent="-228600">
              <a:lnSpc>
                <a:spcPts val="1150"/>
              </a:lnSpc>
              <a:spcBef>
                <a:spcPts val="19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Now,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let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‘T’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firm’s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unit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firm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orders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q</a:t>
            </a:r>
            <a:r>
              <a:rPr dirty="0" sz="1100" spc="10">
                <a:latin typeface="Garamond"/>
                <a:cs typeface="Garamond"/>
              </a:rPr>
              <a:t> units</a:t>
            </a:r>
            <a:r>
              <a:rPr dirty="0" sz="1100">
                <a:latin typeface="Garamond"/>
                <a:cs typeface="Garamond"/>
              </a:rPr>
              <a:t> each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need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T/Q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orders.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example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this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would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46,800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5">
                <a:latin typeface="Garamond"/>
                <a:cs typeface="Garamond"/>
              </a:rPr>
              <a:t> 3,600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13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orders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>
                <a:latin typeface="Garamond"/>
                <a:cs typeface="Garamond"/>
              </a:rPr>
              <a:t>year</a:t>
            </a:r>
            <a:endParaRPr sz="11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>
                <a:latin typeface="Garamond"/>
                <a:cs typeface="Garamond"/>
              </a:rPr>
              <a:t>order 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be: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9144" y="6866635"/>
            <a:ext cx="121539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1633" y="6866635"/>
            <a:ext cx="2460625" cy="3422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35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Fixed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>
                <a:latin typeface="Garamond"/>
                <a:cs typeface="Garamond"/>
              </a:rPr>
              <a:t> order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Number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orders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35"/>
              </a:lnSpc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(T/Q)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508" y="7328661"/>
            <a:ext cx="5393055" cy="34671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240665" marR="5080" indent="-228600">
              <a:lnSpc>
                <a:spcPts val="1190"/>
              </a:lnSpc>
              <a:spcBef>
                <a:spcPts val="26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 </a:t>
            </a:r>
            <a:r>
              <a:rPr dirty="0" sz="1100" spc="-5">
                <a:latin typeface="Garamond"/>
                <a:cs typeface="Garamond"/>
              </a:rPr>
              <a:t>example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order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 might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$50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5">
                <a:latin typeface="Garamond"/>
                <a:cs typeface="Garamond"/>
              </a:rPr>
              <a:t>order,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5">
                <a:latin typeface="Garamond"/>
                <a:cs typeface="Garamond"/>
              </a:rPr>
              <a:t> for </a:t>
            </a:r>
            <a:r>
              <a:rPr dirty="0" sz="1100" spc="-5">
                <a:latin typeface="Garamond"/>
                <a:cs typeface="Garamond"/>
              </a:rPr>
              <a:t>13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orders</a:t>
            </a:r>
            <a:r>
              <a:rPr dirty="0" sz="1100" spc="5">
                <a:latin typeface="Garamond"/>
                <a:cs typeface="Garamond"/>
              </a:rPr>
              <a:t> will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$50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13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$650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9144" y="7772145"/>
            <a:ext cx="626110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5">
                <a:latin typeface="Garamond"/>
                <a:cs typeface="Garamond"/>
              </a:rPr>
              <a:t>Tot</a:t>
            </a:r>
            <a:r>
              <a:rPr dirty="0" sz="1100" spc="15">
                <a:latin typeface="Garamond"/>
                <a:cs typeface="Garamond"/>
              </a:rPr>
              <a:t>a</a:t>
            </a:r>
            <a:r>
              <a:rPr dirty="0" sz="1100">
                <a:latin typeface="Garamond"/>
                <a:cs typeface="Garamond"/>
              </a:rPr>
              <a:t>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c</a:t>
            </a:r>
            <a:r>
              <a:rPr dirty="0" sz="1100" spc="10">
                <a:latin typeface="Garamond"/>
                <a:cs typeface="Garamond"/>
              </a:rPr>
              <a:t>o</a:t>
            </a:r>
            <a:r>
              <a:rPr dirty="0" sz="1100" spc="-10">
                <a:latin typeface="Garamond"/>
                <a:cs typeface="Garamond"/>
              </a:rPr>
              <a:t>s</a:t>
            </a:r>
            <a:r>
              <a:rPr dirty="0" sz="1100" spc="5">
                <a:latin typeface="Garamond"/>
                <a:cs typeface="Garamond"/>
              </a:rPr>
              <a:t>ts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64178" y="7772145"/>
            <a:ext cx="1922780" cy="3467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1255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carrying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marL="12700">
              <a:lnSpc>
                <a:spcPts val="1255"/>
              </a:lnSpc>
            </a:pP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(Q/2)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CC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+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(T/Q)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5508" y="8234298"/>
            <a:ext cx="5396230" cy="66230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240665" marR="8890" indent="-228600">
              <a:lnSpc>
                <a:spcPts val="1190"/>
              </a:lnSpc>
              <a:spcBef>
                <a:spcPts val="260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Q,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quantity,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minimizes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this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calculate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total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some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different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values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Q.</a:t>
            </a:r>
            <a:endParaRPr sz="1100">
              <a:latin typeface="Garamond"/>
              <a:cs typeface="Garamond"/>
            </a:endParaRPr>
          </a:p>
          <a:p>
            <a:pPr marL="240665" marR="5080" indent="-228600">
              <a:lnSpc>
                <a:spcPts val="119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We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had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carrying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(CC)</a:t>
            </a:r>
            <a:r>
              <a:rPr dirty="0" sz="1100" spc="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$0.75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unit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fixed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(F)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$50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order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unit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sales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(T)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46,800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units.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428" y="1568992"/>
            <a:ext cx="5512539" cy="2558021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180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14221" y="750061"/>
          <a:ext cx="4993640" cy="1614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355"/>
                <a:gridCol w="1384934"/>
                <a:gridCol w="1250950"/>
                <a:gridCol w="906780"/>
              </a:tblGrid>
              <a:tr h="320421">
                <a:tc>
                  <a:txBody>
                    <a:bodyPr/>
                    <a:lstStyle/>
                    <a:p>
                      <a:pPr algn="ctr" marL="1905">
                        <a:lnSpc>
                          <a:spcPts val="114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Restocking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Quantity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 marL="1270">
                        <a:lnSpc>
                          <a:spcPts val="1280"/>
                        </a:lnSpc>
                      </a:pPr>
                      <a:r>
                        <a:rPr dirty="0" sz="1100" spc="10" b="1">
                          <a:latin typeface="Garamond"/>
                          <a:cs typeface="Garamond"/>
                        </a:rPr>
                        <a:t>(Q)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5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carrying</a:t>
                      </a:r>
                      <a:r>
                        <a:rPr dirty="0" sz="1100" spc="-4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costs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ts val="1280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(Q/2</a:t>
                      </a:r>
                      <a:r>
                        <a:rPr dirty="0" sz="1100" spc="-3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10" b="1">
                          <a:latin typeface="Garamond"/>
                          <a:cs typeface="Garamond"/>
                        </a:rPr>
                        <a:t>CC)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Restocking Costs</a:t>
                      </a:r>
                      <a:endParaRPr sz="11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ts val="1280"/>
                        </a:lnSpc>
                      </a:pPr>
                      <a:r>
                        <a:rPr dirty="0" sz="1100" spc="5" b="1">
                          <a:latin typeface="Garamond"/>
                          <a:cs typeface="Garamond"/>
                        </a:rPr>
                        <a:t>(F</a:t>
                      </a:r>
                      <a:r>
                        <a:rPr dirty="0" sz="1100" spc="-2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10" b="1">
                          <a:latin typeface="Garamond"/>
                          <a:cs typeface="Garamond"/>
                        </a:rPr>
                        <a:t>×</a:t>
                      </a:r>
                      <a:r>
                        <a:rPr dirty="0" sz="1100" spc="-30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 b="1">
                          <a:latin typeface="Garamond"/>
                          <a:cs typeface="Garamond"/>
                        </a:rPr>
                        <a:t>T/Q)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Total</a:t>
                      </a:r>
                      <a:r>
                        <a:rPr dirty="0" sz="1100" spc="-65" b="1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b="1">
                          <a:latin typeface="Garamond"/>
                          <a:cs typeface="Garamond"/>
                        </a:rPr>
                        <a:t>Costs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59055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</a:tr>
              <a:tr h="183891">
                <a:tc>
                  <a:txBody>
                    <a:bodyPr/>
                    <a:lstStyle/>
                    <a:p>
                      <a:pPr algn="ctr" marL="3810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80"/>
                        </a:lnSpc>
                      </a:pPr>
                      <a:r>
                        <a:rPr dirty="0" sz="1100" spc="5">
                          <a:latin typeface="Garamond"/>
                          <a:cs typeface="Garamond"/>
                        </a:rPr>
                        <a:t>$</a:t>
                      </a:r>
                      <a:r>
                        <a:rPr dirty="0" sz="1100" spc="-30">
                          <a:latin typeface="Garamond"/>
                          <a:cs typeface="Garamond"/>
                        </a:rPr>
                        <a:t> </a:t>
                      </a:r>
                      <a:r>
                        <a:rPr dirty="0" sz="1100" spc="-5">
                          <a:latin typeface="Garamond"/>
                          <a:cs typeface="Garamond"/>
                        </a:rPr>
                        <a:t>187.5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$4,680.0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$4,867.5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375.0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2,340.0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2,715.0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562.5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1,560.0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2,122.5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6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2,000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750.0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1,170.0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1,920.0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3007">
                <a:tc>
                  <a:txBody>
                    <a:bodyPr/>
                    <a:lstStyle/>
                    <a:p>
                      <a:pPr algn="ctr" marL="3810">
                        <a:lnSpc>
                          <a:spcPts val="127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2,500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937.5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b="1">
                          <a:latin typeface="Garamond"/>
                          <a:cs typeface="Garamond"/>
                        </a:rPr>
                        <a:t>936.0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 spc="-5" b="1">
                          <a:latin typeface="Garamond"/>
                          <a:cs typeface="Garamond"/>
                        </a:rPr>
                        <a:t>1,873.5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3,000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1,125.0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780.0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1,905.0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1012"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3,500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1,312.5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668.6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dirty="0" sz="1100">
                          <a:latin typeface="Garamond"/>
                          <a:cs typeface="Garamond"/>
                        </a:rPr>
                        <a:t>1,981.1</a:t>
                      </a:r>
                      <a:endParaRPr sz="1100">
                        <a:latin typeface="Garamond"/>
                        <a:cs typeface="Garamond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405508" y="2512313"/>
            <a:ext cx="5395595" cy="34226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40665" marR="5080" indent="-228600">
              <a:lnSpc>
                <a:spcPts val="1150"/>
              </a:lnSpc>
              <a:spcBef>
                <a:spcPts val="2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find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precise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cost-minimization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quantity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we</a:t>
            </a:r>
            <a:r>
              <a:rPr dirty="0" sz="1100" spc="229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take</a:t>
            </a:r>
            <a:r>
              <a:rPr dirty="0" sz="1100" spc="2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7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look</a:t>
            </a:r>
            <a:r>
              <a:rPr dirty="0" sz="1100" spc="2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26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basic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20">
                <a:latin typeface="Garamond"/>
                <a:cs typeface="Garamond"/>
              </a:rPr>
              <a:t>EOQ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Model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diagram.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5508" y="5938265"/>
            <a:ext cx="5407025" cy="110109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40665" marR="5080" indent="-228600">
              <a:lnSpc>
                <a:spcPts val="1150"/>
              </a:lnSpc>
              <a:spcBef>
                <a:spcPts val="29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We </a:t>
            </a:r>
            <a:r>
              <a:rPr dirty="0" sz="1100" spc="-5">
                <a:latin typeface="Garamond"/>
                <a:cs typeface="Garamond"/>
              </a:rPr>
              <a:t>can </a:t>
            </a:r>
            <a:r>
              <a:rPr dirty="0" sz="1100" spc="-15">
                <a:latin typeface="Garamond"/>
                <a:cs typeface="Garamond"/>
              </a:rPr>
              <a:t>find</a:t>
            </a:r>
            <a:r>
              <a:rPr dirty="0" sz="1100" spc="-10">
                <a:latin typeface="Garamond"/>
                <a:cs typeface="Garamond"/>
              </a:rPr>
              <a:t> the </a:t>
            </a:r>
            <a:r>
              <a:rPr dirty="0" sz="1100">
                <a:latin typeface="Garamond"/>
                <a:cs typeface="Garamond"/>
              </a:rPr>
              <a:t>minimum point </a:t>
            </a:r>
            <a:r>
              <a:rPr dirty="0" sz="1100" spc="-5">
                <a:latin typeface="Garamond"/>
                <a:cs typeface="Garamond"/>
              </a:rPr>
              <a:t>just </a:t>
            </a:r>
            <a:r>
              <a:rPr dirty="0" sz="1100" spc="5">
                <a:latin typeface="Garamond"/>
                <a:cs typeface="Garamond"/>
              </a:rPr>
              <a:t>by </a:t>
            </a:r>
            <a:r>
              <a:rPr dirty="0" sz="1100" spc="-5">
                <a:latin typeface="Garamond"/>
                <a:cs typeface="Garamond"/>
              </a:rPr>
              <a:t>equating carrying </a:t>
            </a:r>
            <a:r>
              <a:rPr dirty="0" sz="1100" spc="-15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 </a:t>
            </a:r>
            <a:r>
              <a:rPr dirty="0" sz="1100">
                <a:latin typeface="Garamond"/>
                <a:cs typeface="Garamond"/>
              </a:rPr>
              <a:t>costs and solving</a:t>
            </a:r>
            <a:r>
              <a:rPr dirty="0" sz="1100" spc="5">
                <a:latin typeface="Garamond"/>
                <a:cs typeface="Garamond"/>
              </a:rPr>
              <a:t> for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Q*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050">
              <a:latin typeface="Garamond"/>
              <a:cs typeface="Garamond"/>
            </a:endParaRPr>
          </a:p>
          <a:p>
            <a:pPr marL="1156335" marR="2372360">
              <a:lnSpc>
                <a:spcPts val="1150"/>
              </a:lnSpc>
            </a:pPr>
            <a:r>
              <a:rPr dirty="0" sz="1100">
                <a:latin typeface="Garamond"/>
                <a:cs typeface="Garamond"/>
              </a:rPr>
              <a:t>Carrying </a:t>
            </a:r>
            <a:r>
              <a:rPr dirty="0" sz="1100" spc="-5">
                <a:latin typeface="Garamond"/>
                <a:cs typeface="Garamond"/>
              </a:rPr>
              <a:t>costs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Restocking Costs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(Q*/2)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×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(T/Q*)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Garamond"/>
              <a:cs typeface="Garamond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>
                <a:latin typeface="Garamond"/>
                <a:cs typeface="Garamond"/>
              </a:rPr>
              <a:t>Rearranging,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23744" y="7140955"/>
            <a:ext cx="1301750" cy="34671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8100" marR="30480">
              <a:lnSpc>
                <a:spcPts val="1190"/>
              </a:lnSpc>
              <a:spcBef>
                <a:spcPts val="265"/>
              </a:spcBef>
            </a:pPr>
            <a:r>
              <a:rPr dirty="0" sz="1100" spc="5">
                <a:latin typeface="Garamond"/>
                <a:cs typeface="Garamond"/>
              </a:rPr>
              <a:t>(Q*)</a:t>
            </a:r>
            <a:r>
              <a:rPr dirty="0" baseline="21367" sz="975" spc="7">
                <a:latin typeface="Garamond"/>
                <a:cs typeface="Garamond"/>
              </a:rPr>
              <a:t>2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15">
                <a:latin typeface="Garamond"/>
                <a:cs typeface="Garamond"/>
              </a:rPr>
              <a:t>2T </a:t>
            </a:r>
            <a:r>
              <a:rPr dirty="0" sz="1100" spc="5">
                <a:latin typeface="Garamond"/>
                <a:cs typeface="Garamond"/>
              </a:rPr>
              <a:t>x F / </a:t>
            </a:r>
            <a:r>
              <a:rPr dirty="0" sz="1100" spc="-5">
                <a:latin typeface="Garamond"/>
                <a:cs typeface="Garamond"/>
              </a:rPr>
              <a:t>CC 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Q*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(2T</a:t>
            </a:r>
            <a:r>
              <a:rPr dirty="0" sz="1100" spc="5">
                <a:latin typeface="Garamond"/>
                <a:cs typeface="Garamond"/>
              </a:rPr>
              <a:t> x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5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CC)</a:t>
            </a:r>
            <a:r>
              <a:rPr dirty="0" baseline="21367" sz="975" spc="15">
                <a:latin typeface="Garamond"/>
                <a:cs typeface="Garamond"/>
              </a:rPr>
              <a:t>1/2</a:t>
            </a:r>
            <a:endParaRPr baseline="21367" sz="975">
              <a:latin typeface="Garamond"/>
              <a:cs typeface="Garamon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91689" y="7292085"/>
            <a:ext cx="14668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">
                <a:latin typeface="Garamond"/>
                <a:cs typeface="Garamond"/>
              </a:rPr>
              <a:t>or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3929" y="7602981"/>
            <a:ext cx="5666740" cy="1910714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482600" marR="30480" indent="-228600">
              <a:lnSpc>
                <a:spcPts val="1190"/>
              </a:lnSpc>
              <a:spcBef>
                <a:spcPts val="260"/>
              </a:spcBef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5">
                <a:latin typeface="Garamond"/>
                <a:cs typeface="Garamond"/>
              </a:rPr>
              <a:t>This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reorder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quantity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minimizes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called</a:t>
            </a:r>
            <a:r>
              <a:rPr dirty="0" sz="1100" spc="1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Economic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order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quantity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(EOQ).</a:t>
            </a:r>
            <a:endParaRPr sz="1100">
              <a:latin typeface="Garamond"/>
              <a:cs typeface="Garamond"/>
            </a:endParaRPr>
          </a:p>
          <a:p>
            <a:pPr marL="482600" indent="-229235">
              <a:lnSpc>
                <a:spcPts val="1275"/>
              </a:lnSpc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>
                <a:latin typeface="Garamond"/>
                <a:cs typeface="Garamond"/>
              </a:rPr>
              <a:t>For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our</a:t>
            </a:r>
            <a:r>
              <a:rPr dirty="0" sz="1100" spc="-5">
                <a:latin typeface="Garamond"/>
                <a:cs typeface="Garamond"/>
              </a:rPr>
              <a:t> example,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EOQ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is:</a:t>
            </a:r>
            <a:endParaRPr sz="1100">
              <a:latin typeface="Garamond"/>
              <a:cs typeface="Garamond"/>
            </a:endParaRPr>
          </a:p>
          <a:p>
            <a:pPr marL="1397635">
              <a:lnSpc>
                <a:spcPts val="1235"/>
              </a:lnSpc>
              <a:spcBef>
                <a:spcPts val="1060"/>
              </a:spcBef>
            </a:pPr>
            <a:r>
              <a:rPr dirty="0" sz="1100" spc="5">
                <a:latin typeface="Garamond"/>
                <a:cs typeface="Garamond"/>
              </a:rPr>
              <a:t>Q*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(2T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CC)</a:t>
            </a:r>
            <a:r>
              <a:rPr dirty="0" baseline="21367" sz="975" spc="15">
                <a:latin typeface="Garamond"/>
                <a:cs typeface="Garamond"/>
              </a:rPr>
              <a:t>1/2</a:t>
            </a:r>
            <a:endParaRPr baseline="21367" sz="975">
              <a:latin typeface="Garamond"/>
              <a:cs typeface="Garamond"/>
            </a:endParaRPr>
          </a:p>
          <a:p>
            <a:pPr marL="1397635">
              <a:lnSpc>
                <a:spcPts val="1150"/>
              </a:lnSpc>
            </a:pPr>
            <a:r>
              <a:rPr dirty="0" sz="1100" spc="5">
                <a:latin typeface="Garamond"/>
                <a:cs typeface="Garamond"/>
              </a:rPr>
              <a:t>Q*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[(2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46,800)</a:t>
            </a:r>
            <a:r>
              <a:rPr dirty="0" sz="1100" spc="5">
                <a:latin typeface="Garamond"/>
                <a:cs typeface="Garamond"/>
              </a:rPr>
              <a:t> 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$50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0.75]</a:t>
            </a:r>
            <a:r>
              <a:rPr dirty="0" baseline="21367" sz="975" spc="7">
                <a:latin typeface="Garamond"/>
                <a:cs typeface="Garamond"/>
              </a:rPr>
              <a:t>1/2</a:t>
            </a:r>
            <a:endParaRPr baseline="21367" sz="975">
              <a:latin typeface="Garamond"/>
              <a:cs typeface="Garamond"/>
            </a:endParaRPr>
          </a:p>
          <a:p>
            <a:pPr marL="1397635">
              <a:lnSpc>
                <a:spcPts val="1235"/>
              </a:lnSpc>
            </a:pPr>
            <a:r>
              <a:rPr dirty="0" sz="1100" spc="5">
                <a:latin typeface="Garamond"/>
                <a:cs typeface="Garamond"/>
              </a:rPr>
              <a:t>Q*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2,498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units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Garamond"/>
              <a:cs typeface="Garamond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latin typeface="Garamond"/>
                <a:cs typeface="Garamond"/>
              </a:rPr>
              <a:t>Carrying</a:t>
            </a:r>
            <a:r>
              <a:rPr dirty="0" sz="1100" spc="-5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Garamond"/>
              <a:cs typeface="Garamond"/>
            </a:endParaRPr>
          </a:p>
          <a:p>
            <a:pPr marL="482600" marR="29845" indent="-228600">
              <a:lnSpc>
                <a:spcPts val="1150"/>
              </a:lnSpc>
              <a:buFont typeface="Symbol"/>
              <a:buChar char=""/>
              <a:tabLst>
                <a:tab pos="482600" algn="l"/>
                <a:tab pos="483234" algn="l"/>
              </a:tabLst>
            </a:pP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Shoes</a:t>
            </a:r>
            <a:r>
              <a:rPr dirty="0" sz="1100" spc="11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begins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each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1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with</a:t>
            </a:r>
            <a:r>
              <a:rPr dirty="0" sz="1100" spc="1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100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pairs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hiking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boots</a:t>
            </a:r>
            <a:r>
              <a:rPr dirty="0" sz="1100" spc="1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in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stock,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which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depleted</a:t>
            </a:r>
            <a:r>
              <a:rPr dirty="0" sz="1100" spc="1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each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period</a:t>
            </a:r>
            <a:r>
              <a:rPr dirty="0" sz="1100" spc="204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reordered.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carrying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pair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boots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1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8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$3,</a:t>
            </a:r>
            <a:r>
              <a:rPr dirty="0" sz="1100" spc="16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9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6819" y="3037458"/>
            <a:ext cx="5524500" cy="272415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181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51229" y="331752"/>
            <a:ext cx="5739765" cy="5733415"/>
          </a:xfrm>
          <a:prstGeom prst="rect">
            <a:avLst/>
          </a:prstGeom>
        </p:spPr>
        <p:txBody>
          <a:bodyPr wrap="square" lIns="0" tIns="1168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20"/>
              </a:spcBef>
              <a:tabLst>
                <a:tab pos="5481955" algn="l"/>
              </a:tabLst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 spc="4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	</a:t>
            </a: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  <a:p>
            <a:pPr marL="495300">
              <a:lnSpc>
                <a:spcPts val="1310"/>
              </a:lnSpc>
              <a:spcBef>
                <a:spcPts val="755"/>
              </a:spcBef>
            </a:pPr>
            <a:r>
              <a:rPr dirty="0" sz="1100">
                <a:latin typeface="Garamond"/>
                <a:cs typeface="Garamond"/>
              </a:rPr>
              <a:t>carrying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hiking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boots?</a:t>
            </a:r>
            <a:endParaRPr sz="1100">
              <a:latin typeface="Garamond"/>
              <a:cs typeface="Garamond"/>
            </a:endParaRPr>
          </a:p>
          <a:p>
            <a:pPr marL="495300" marR="97155" indent="-228600">
              <a:lnSpc>
                <a:spcPts val="1190"/>
              </a:lnSpc>
              <a:spcBef>
                <a:spcPts val="13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100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15">
                <a:latin typeface="Garamond"/>
                <a:cs typeface="Garamond"/>
              </a:rPr>
              <a:t>50</a:t>
            </a:r>
            <a:r>
              <a:rPr dirty="0" sz="1100" spc="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items.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At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an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annual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$3</a:t>
            </a:r>
            <a:r>
              <a:rPr dirty="0" sz="1100" spc="7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per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item,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carrying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$150.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0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</a:pPr>
            <a:r>
              <a:rPr dirty="0" sz="1100" spc="-5" b="1">
                <a:latin typeface="Garamond"/>
                <a:cs typeface="Garamond"/>
              </a:rPr>
              <a:t>Restocking Costs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Garamond"/>
              <a:cs typeface="Garamond"/>
            </a:endParaRPr>
          </a:p>
          <a:p>
            <a:pPr marL="495300" marR="92710" indent="-228600">
              <a:lnSpc>
                <a:spcPts val="1150"/>
              </a:lnSpc>
              <a:spcBef>
                <a:spcPts val="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Suppose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 Shoes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sells</a:t>
            </a:r>
            <a:r>
              <a:rPr dirty="0" sz="1100" spc="5">
                <a:latin typeface="Garamond"/>
                <a:cs typeface="Garamond"/>
              </a:rPr>
              <a:t> a</a:t>
            </a:r>
            <a:r>
              <a:rPr dirty="0" sz="1100" spc="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600</a:t>
            </a:r>
            <a:r>
              <a:rPr dirty="0" sz="1100" spc="6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pairs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year.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many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times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>
                <a:latin typeface="Garamond"/>
                <a:cs typeface="Garamond"/>
              </a:rPr>
              <a:t>year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does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company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restock?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ts val="129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If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order,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costs?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spcBef>
                <a:spcPts val="10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Shoes restocks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600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100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6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times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year </a:t>
            </a:r>
            <a:r>
              <a:rPr dirty="0" sz="1100" spc="5">
                <a:latin typeface="Garamond"/>
                <a:cs typeface="Garamond"/>
              </a:rPr>
              <a:t>or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about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every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two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months.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6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orders</a:t>
            </a:r>
            <a:r>
              <a:rPr dirty="0" sz="1100" spc="5">
                <a:latin typeface="Garamond"/>
                <a:cs typeface="Garamond"/>
              </a:rPr>
              <a:t> 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order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$120.</a:t>
            </a:r>
            <a:endParaRPr sz="1100">
              <a:latin typeface="Garamond"/>
              <a:cs typeface="Garamond"/>
            </a:endParaRPr>
          </a:p>
          <a:p>
            <a:pPr marL="38100">
              <a:lnSpc>
                <a:spcPct val="100000"/>
              </a:lnSpc>
              <a:spcBef>
                <a:spcPts val="1165"/>
              </a:spcBef>
            </a:pPr>
            <a:r>
              <a:rPr dirty="0" sz="1100" b="1">
                <a:latin typeface="Garamond"/>
                <a:cs typeface="Garamond"/>
              </a:rPr>
              <a:t>The</a:t>
            </a:r>
            <a:r>
              <a:rPr dirty="0" sz="1100" spc="-45" b="1">
                <a:latin typeface="Garamond"/>
                <a:cs typeface="Garamond"/>
              </a:rPr>
              <a:t> </a:t>
            </a:r>
            <a:r>
              <a:rPr dirty="0" sz="1100" b="1">
                <a:latin typeface="Garamond"/>
                <a:cs typeface="Garamond"/>
              </a:rPr>
              <a:t>EOQ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Garamond"/>
              <a:cs typeface="Garamond"/>
            </a:endParaRPr>
          </a:p>
          <a:p>
            <a:pPr marL="495300" marR="95885" indent="-228600">
              <a:lnSpc>
                <a:spcPts val="115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size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shout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 Shoes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place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minimize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costs?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How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often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company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restock?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What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total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carrying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costs?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What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costs?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ts val="129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Here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600,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$20,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CC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$3,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so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EOQ</a:t>
            </a:r>
            <a:r>
              <a:rPr dirty="0" sz="1100" spc="4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for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 spc="-5">
                <a:latin typeface="Garamond"/>
                <a:cs typeface="Garamond"/>
              </a:rPr>
              <a:t> shoes</a:t>
            </a:r>
            <a:r>
              <a:rPr dirty="0" sz="1100">
                <a:latin typeface="Garamond"/>
                <a:cs typeface="Garamond"/>
              </a:rPr>
              <a:t> is</a:t>
            </a:r>
            <a:endParaRPr sz="1100">
              <a:latin typeface="Garamond"/>
              <a:cs typeface="Garamond"/>
            </a:endParaRPr>
          </a:p>
          <a:p>
            <a:pPr marL="1410335" marR="2667635">
              <a:lnSpc>
                <a:spcPts val="1190"/>
              </a:lnSpc>
              <a:spcBef>
                <a:spcPts val="1170"/>
              </a:spcBef>
            </a:pPr>
            <a:r>
              <a:rPr dirty="0" sz="1100">
                <a:latin typeface="Garamond"/>
                <a:cs typeface="Garamond"/>
              </a:rPr>
              <a:t>EOQ </a:t>
            </a:r>
            <a:r>
              <a:rPr dirty="0" sz="1100" spc="10">
                <a:latin typeface="Garamond"/>
                <a:cs typeface="Garamond"/>
              </a:rPr>
              <a:t>= </a:t>
            </a:r>
            <a:r>
              <a:rPr dirty="0" sz="1100" spc="-5">
                <a:latin typeface="Garamond"/>
                <a:cs typeface="Garamond"/>
              </a:rPr>
              <a:t>(2T </a:t>
            </a:r>
            <a:r>
              <a:rPr dirty="0" sz="1100" spc="5">
                <a:latin typeface="Garamond"/>
                <a:cs typeface="Garamond"/>
              </a:rPr>
              <a:t>x F / </a:t>
            </a:r>
            <a:r>
              <a:rPr dirty="0" sz="1100" spc="10">
                <a:latin typeface="Garamond"/>
                <a:cs typeface="Garamond"/>
              </a:rPr>
              <a:t>CC)</a:t>
            </a:r>
            <a:r>
              <a:rPr dirty="0" baseline="21367" sz="975" spc="15">
                <a:latin typeface="Garamond"/>
                <a:cs typeface="Garamond"/>
              </a:rPr>
              <a:t>1/2 </a:t>
            </a:r>
            <a:r>
              <a:rPr dirty="0" baseline="21367" sz="975" spc="22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E</a:t>
            </a:r>
            <a:r>
              <a:rPr dirty="0" sz="1100">
                <a:latin typeface="Garamond"/>
                <a:cs typeface="Garamond"/>
              </a:rPr>
              <a:t>O</a:t>
            </a:r>
            <a:r>
              <a:rPr dirty="0" sz="1100" spc="10">
                <a:latin typeface="Garamond"/>
                <a:cs typeface="Garamond"/>
              </a:rPr>
              <a:t>Q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[</a:t>
            </a:r>
            <a:r>
              <a:rPr dirty="0" sz="1100" spc="5">
                <a:latin typeface="Garamond"/>
                <a:cs typeface="Garamond"/>
              </a:rPr>
              <a:t>(2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6</a:t>
            </a:r>
            <a:r>
              <a:rPr dirty="0" sz="1100" spc="-15">
                <a:latin typeface="Garamond"/>
                <a:cs typeface="Garamond"/>
              </a:rPr>
              <a:t>0</a:t>
            </a:r>
            <a:r>
              <a:rPr dirty="0" sz="1100" spc="20">
                <a:latin typeface="Garamond"/>
                <a:cs typeface="Garamond"/>
              </a:rPr>
              <a:t>0</a:t>
            </a:r>
            <a:r>
              <a:rPr dirty="0" sz="1100">
                <a:latin typeface="Garamond"/>
                <a:cs typeface="Garamond"/>
              </a:rPr>
              <a:t>)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30">
                <a:latin typeface="Garamond"/>
                <a:cs typeface="Garamond"/>
              </a:rPr>
              <a:t>$</a:t>
            </a:r>
            <a:r>
              <a:rPr dirty="0" sz="1100" spc="-15">
                <a:latin typeface="Garamond"/>
                <a:cs typeface="Garamond"/>
              </a:rPr>
              <a:t>2</a:t>
            </a:r>
            <a:r>
              <a:rPr dirty="0" sz="1100" spc="5">
                <a:latin typeface="Garamond"/>
                <a:cs typeface="Garamond"/>
              </a:rPr>
              <a:t>0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20">
                <a:latin typeface="Garamond"/>
                <a:cs typeface="Garamond"/>
              </a:rPr>
              <a:t>3</a:t>
            </a:r>
            <a:r>
              <a:rPr dirty="0" sz="1100">
                <a:latin typeface="Garamond"/>
                <a:cs typeface="Garamond"/>
              </a:rPr>
              <a:t>]</a:t>
            </a:r>
            <a:r>
              <a:rPr dirty="0" sz="1100" spc="-100">
                <a:latin typeface="Garamond"/>
                <a:cs typeface="Garamond"/>
              </a:rPr>
              <a:t> </a:t>
            </a:r>
            <a:r>
              <a:rPr dirty="0" baseline="21367" sz="975" spc="37">
                <a:latin typeface="Garamond"/>
                <a:cs typeface="Garamond"/>
              </a:rPr>
              <a:t>½</a:t>
            </a:r>
            <a:endParaRPr baseline="21367" sz="975">
              <a:latin typeface="Garamond"/>
              <a:cs typeface="Garamond"/>
            </a:endParaRPr>
          </a:p>
          <a:p>
            <a:pPr marL="1410335">
              <a:lnSpc>
                <a:spcPts val="1135"/>
              </a:lnSpc>
            </a:pPr>
            <a:r>
              <a:rPr dirty="0" sz="1100">
                <a:latin typeface="Garamond"/>
                <a:cs typeface="Garamond"/>
              </a:rPr>
              <a:t>EOQ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89.44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units</a:t>
            </a:r>
            <a:endParaRPr sz="1100">
              <a:latin typeface="Garamond"/>
              <a:cs typeface="Garamond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Garamond"/>
              <a:cs typeface="Garamond"/>
            </a:endParaRPr>
          </a:p>
          <a:p>
            <a:pPr marL="495300" indent="-229235">
              <a:lnSpc>
                <a:spcPts val="131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Since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R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shoes,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sells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600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pairs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per </a:t>
            </a:r>
            <a:r>
              <a:rPr dirty="0" sz="1100" spc="-5">
                <a:latin typeface="Garamond"/>
                <a:cs typeface="Garamond"/>
              </a:rPr>
              <a:t>year,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89.44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6.71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ts val="131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total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$20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6.71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$134.16.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Average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be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89.44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/</a:t>
            </a:r>
            <a:r>
              <a:rPr dirty="0" sz="1100" spc="-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2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=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44.72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carrying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be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$3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x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44.72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$134.16,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same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restocking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costs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ts val="1310"/>
              </a:lnSpc>
              <a:spcBef>
                <a:spcPts val="10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Total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costs</a:t>
            </a:r>
            <a:r>
              <a:rPr dirty="0" sz="1100" spc="-4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thus</a:t>
            </a:r>
            <a:r>
              <a:rPr dirty="0" sz="1100" spc="-4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$268.33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ts val="1310"/>
              </a:lnSpc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In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reality,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wish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reorder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before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runs</a:t>
            </a:r>
            <a:r>
              <a:rPr dirty="0" sz="1100" spc="-3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down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zero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spcBef>
                <a:spcPts val="1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-5">
                <a:latin typeface="Garamond"/>
                <a:cs typeface="Garamond"/>
              </a:rPr>
              <a:t>Firms </a:t>
            </a:r>
            <a:r>
              <a:rPr dirty="0" sz="1100">
                <a:latin typeface="Garamond"/>
                <a:cs typeface="Garamond"/>
              </a:rPr>
              <a:t>minimize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risk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of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stock-out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ct val="100000"/>
              </a:lnSpc>
              <a:spcBef>
                <a:spcPts val="10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-5">
                <a:latin typeface="Garamond"/>
                <a:cs typeface="Garamond"/>
              </a:rPr>
              <a:t>Firm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covers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lead</a:t>
            </a:r>
            <a:r>
              <a:rPr dirty="0" sz="1100" spc="3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between</a:t>
            </a:r>
            <a:r>
              <a:rPr dirty="0" sz="1100" spc="-1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order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and</a:t>
            </a:r>
            <a:r>
              <a:rPr dirty="0" sz="1100" spc="-1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delivery</a:t>
            </a:r>
            <a:endParaRPr sz="1100">
              <a:latin typeface="Garamond"/>
              <a:cs typeface="Garamond"/>
            </a:endParaRPr>
          </a:p>
          <a:p>
            <a:pPr marL="495300" indent="-229235">
              <a:lnSpc>
                <a:spcPts val="1310"/>
              </a:lnSpc>
              <a:spcBef>
                <a:spcPts val="1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>
                <a:latin typeface="Garamond"/>
                <a:cs typeface="Garamond"/>
              </a:rPr>
              <a:t>Safety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stock</a:t>
            </a:r>
            <a:endParaRPr sz="1100">
              <a:latin typeface="Garamond"/>
              <a:cs typeface="Garamond"/>
            </a:endParaRPr>
          </a:p>
          <a:p>
            <a:pPr marL="495300" marR="92710" indent="-228600">
              <a:lnSpc>
                <a:spcPts val="1190"/>
              </a:lnSpc>
              <a:spcBef>
                <a:spcPts val="135"/>
              </a:spcBef>
              <a:buFont typeface="Symbol"/>
              <a:buChar char=""/>
              <a:tabLst>
                <a:tab pos="495300" algn="l"/>
                <a:tab pos="495934" algn="l"/>
              </a:tabLst>
            </a:pP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minimum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that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a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keeps</a:t>
            </a:r>
            <a:r>
              <a:rPr dirty="0" sz="1100" spc="10">
                <a:latin typeface="Garamond"/>
                <a:cs typeface="Garamond"/>
              </a:rPr>
              <a:t> on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hand,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inventories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2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reordered</a:t>
            </a:r>
            <a:r>
              <a:rPr dirty="0" sz="110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level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of</a:t>
            </a:r>
            <a:r>
              <a:rPr dirty="0" sz="1100" spc="1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falls</a:t>
            </a:r>
            <a:r>
              <a:rPr dirty="0" sz="1100" spc="-35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to</a:t>
            </a:r>
            <a:r>
              <a:rPr dirty="0" sz="1100" spc="-2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safety</a:t>
            </a:r>
            <a:r>
              <a:rPr dirty="0" sz="1100" spc="10">
                <a:latin typeface="Garamond"/>
                <a:cs typeface="Garamond"/>
              </a:rPr>
              <a:t> </a:t>
            </a:r>
            <a:r>
              <a:rPr dirty="0" sz="1100" spc="-15">
                <a:latin typeface="Garamond"/>
                <a:cs typeface="Garamond"/>
              </a:rPr>
              <a:t>stock</a:t>
            </a:r>
            <a:r>
              <a:rPr dirty="0" sz="1100" spc="2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level.</a:t>
            </a:r>
            <a:endParaRPr sz="1100">
              <a:latin typeface="Garamond"/>
              <a:cs typeface="Garamon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05508" y="8966072"/>
            <a:ext cx="5403215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41300" indent="-228600">
              <a:lnSpc>
                <a:spcPts val="1235"/>
              </a:lnSpc>
              <a:spcBef>
                <a:spcPts val="114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100" spc="5">
                <a:latin typeface="Garamond"/>
                <a:cs typeface="Garamond"/>
              </a:rPr>
              <a:t>Reorder</a:t>
            </a:r>
            <a:r>
              <a:rPr dirty="0" sz="1100" spc="-7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points</a:t>
            </a:r>
            <a:endParaRPr sz="1100">
              <a:latin typeface="Garamond"/>
              <a:cs typeface="Garamond"/>
            </a:endParaRPr>
          </a:p>
          <a:p>
            <a:pPr marL="469900" marR="5080" indent="-229235">
              <a:lnSpc>
                <a:spcPts val="1190"/>
              </a:lnSpc>
              <a:spcBef>
                <a:spcPts val="65"/>
              </a:spcBef>
              <a:tabLst>
                <a:tab pos="469900" algn="l"/>
              </a:tabLst>
            </a:pPr>
            <a:r>
              <a:rPr dirty="0" sz="1100" spc="5">
                <a:latin typeface="Courier New"/>
                <a:cs typeface="Courier New"/>
              </a:rPr>
              <a:t>o	</a:t>
            </a:r>
            <a:r>
              <a:rPr dirty="0" sz="1100" spc="5">
                <a:latin typeface="Garamond"/>
                <a:cs typeface="Garamond"/>
              </a:rPr>
              <a:t>These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are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times</a:t>
            </a:r>
            <a:r>
              <a:rPr dirty="0" sz="1100" spc="40">
                <a:latin typeface="Garamond"/>
                <a:cs typeface="Garamond"/>
              </a:rPr>
              <a:t> </a:t>
            </a:r>
            <a:r>
              <a:rPr dirty="0" sz="1100" spc="10">
                <a:latin typeface="Garamond"/>
                <a:cs typeface="Garamond"/>
              </a:rPr>
              <a:t>at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which</a:t>
            </a:r>
            <a:r>
              <a:rPr dirty="0" sz="1100" spc="95">
                <a:latin typeface="Garamond"/>
                <a:cs typeface="Garamond"/>
              </a:rPr>
              <a:t> </a:t>
            </a:r>
            <a:r>
              <a:rPr dirty="0" sz="1100" spc="-10">
                <a:latin typeface="Garamond"/>
                <a:cs typeface="Garamond"/>
              </a:rPr>
              <a:t>the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firm</a:t>
            </a:r>
            <a:r>
              <a:rPr dirty="0" sz="1100" spc="50">
                <a:latin typeface="Garamond"/>
                <a:cs typeface="Garamond"/>
              </a:rPr>
              <a:t> </a:t>
            </a:r>
            <a:r>
              <a:rPr dirty="0" sz="1100" spc="5">
                <a:latin typeface="Garamond"/>
                <a:cs typeface="Garamond"/>
              </a:rPr>
              <a:t>will</a:t>
            </a:r>
            <a:r>
              <a:rPr dirty="0" sz="1100" spc="8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actually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place</a:t>
            </a:r>
            <a:r>
              <a:rPr dirty="0" sz="1100" spc="13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its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inventory</a:t>
            </a:r>
            <a:r>
              <a:rPr dirty="0" sz="1100" spc="5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orders</a:t>
            </a:r>
            <a:r>
              <a:rPr dirty="0" sz="1100" spc="7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even</a:t>
            </a:r>
            <a:r>
              <a:rPr dirty="0" sz="1100" spc="9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before </a:t>
            </a:r>
            <a:r>
              <a:rPr dirty="0" sz="1100" spc="-260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reaching</a:t>
            </a:r>
            <a:r>
              <a:rPr dirty="0" sz="1100" spc="-25">
                <a:latin typeface="Garamond"/>
                <a:cs typeface="Garamond"/>
              </a:rPr>
              <a:t> </a:t>
            </a:r>
            <a:r>
              <a:rPr dirty="0" sz="1100" spc="-5">
                <a:latin typeface="Garamond"/>
                <a:cs typeface="Garamond"/>
              </a:rPr>
              <a:t>critical</a:t>
            </a:r>
            <a:r>
              <a:rPr dirty="0" sz="1100" spc="5">
                <a:latin typeface="Garamond"/>
                <a:cs typeface="Garamond"/>
              </a:rPr>
              <a:t> </a:t>
            </a:r>
            <a:r>
              <a:rPr dirty="0" sz="1100">
                <a:latin typeface="Garamond"/>
                <a:cs typeface="Garamond"/>
              </a:rPr>
              <a:t>level.</a:t>
            </a:r>
            <a:endParaRPr sz="1100">
              <a:latin typeface="Garamond"/>
              <a:cs typeface="Garamond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9221" y="6245569"/>
            <a:ext cx="5195401" cy="257178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182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629" y="431038"/>
            <a:ext cx="174307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20">
                <a:latin typeface="Times New Roman"/>
                <a:cs typeface="Times New Roman"/>
              </a:rPr>
              <a:t>Business</a:t>
            </a:r>
            <a:r>
              <a:rPr dirty="0" sz="1150" spc="-55">
                <a:latin typeface="Times New Roman"/>
                <a:cs typeface="Times New Roman"/>
              </a:rPr>
              <a:t> </a:t>
            </a:r>
            <a:r>
              <a:rPr dirty="0" sz="1150" spc="20">
                <a:latin typeface="Times New Roman"/>
                <a:cs typeface="Times New Roman"/>
              </a:rPr>
              <a:t>Finance</a:t>
            </a:r>
            <a:r>
              <a:rPr dirty="0" sz="1150">
                <a:latin typeface="Times New Roman"/>
                <a:cs typeface="Times New Roman"/>
              </a:rPr>
              <a:t> </a:t>
            </a:r>
            <a:r>
              <a:rPr dirty="0" sz="1150" spc="25">
                <a:latin typeface="Times New Roman"/>
                <a:cs typeface="Times New Roman"/>
              </a:rPr>
              <a:t>–ACC501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0636" y="431038"/>
            <a:ext cx="245110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30">
                <a:latin typeface="Times New Roman"/>
                <a:cs typeface="Times New Roman"/>
              </a:rPr>
              <a:t>VU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9329" y="612901"/>
            <a:ext cx="5663565" cy="9525"/>
          </a:xfrm>
          <a:custGeom>
            <a:avLst/>
            <a:gdLst/>
            <a:ahLst/>
            <a:cxnLst/>
            <a:rect l="l" t="t" r="r" b="b"/>
            <a:pathLst>
              <a:path w="5663565" h="9525">
                <a:moveTo>
                  <a:pt x="5663437" y="0"/>
                </a:moveTo>
                <a:lnTo>
                  <a:pt x="0" y="0"/>
                </a:lnTo>
                <a:lnTo>
                  <a:pt x="0" y="9144"/>
                </a:lnTo>
                <a:lnTo>
                  <a:pt x="5663437" y="9144"/>
                </a:lnTo>
                <a:lnTo>
                  <a:pt x="5663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00150" y="9753383"/>
            <a:ext cx="5648325" cy="0"/>
          </a:xfrm>
          <a:custGeom>
            <a:avLst/>
            <a:gdLst/>
            <a:ahLst/>
            <a:cxnLst/>
            <a:rect l="l" t="t" r="r" b="b"/>
            <a:pathLst>
              <a:path w="5648325" h="0">
                <a:moveTo>
                  <a:pt x="0" y="0"/>
                </a:moveTo>
                <a:lnTo>
                  <a:pt x="5648325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6137" y="768009"/>
            <a:ext cx="5583965" cy="30396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5817" y="4005330"/>
            <a:ext cx="5583153" cy="314362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80"/>
              </a:lnSpc>
            </a:pPr>
            <a:r>
              <a:rPr dirty="0" spc="10"/>
              <a:t>©</a:t>
            </a:r>
            <a:r>
              <a:rPr dirty="0" spc="-15"/>
              <a:t> </a:t>
            </a:r>
            <a:r>
              <a:rPr dirty="0"/>
              <a:t>Copyright</a:t>
            </a:r>
            <a:r>
              <a:rPr dirty="0" spc="-30"/>
              <a:t> </a:t>
            </a:r>
            <a:r>
              <a:rPr dirty="0" spc="-5"/>
              <a:t>Virtual</a:t>
            </a:r>
            <a:r>
              <a:rPr dirty="0" spc="5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 spc="5"/>
              <a:t>of</a:t>
            </a:r>
            <a:r>
              <a:rPr dirty="0" spc="10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99808" y="9744940"/>
            <a:ext cx="275590" cy="185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80"/>
              </a:lnSpc>
            </a:pPr>
            <a:r>
              <a:rPr dirty="0" sz="1100" spc="5">
                <a:latin typeface="Garamond"/>
                <a:cs typeface="Garamond"/>
              </a:rPr>
              <a:t>183</a:t>
            </a:r>
            <a:endParaRPr sz="1100">
              <a:latin typeface="Garamond"/>
              <a:cs typeface="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nawaz</dc:creator>
  <dcterms:created xsi:type="dcterms:W3CDTF">2021-04-06T07:06:51Z</dcterms:created>
  <dcterms:modified xsi:type="dcterms:W3CDTF">2021-04-06T07:06:51Z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2014-10-18T00:00:00Z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2021-04-06T00:00:00Z</vt:filetime>
  </property>
</Properties>
</file>